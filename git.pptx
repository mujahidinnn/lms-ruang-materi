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pembuka. Perkenalkan topik: Git sebagai sistem kontrol versi terdistribusi yang menjadi standar industri.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materi dari fondasi sampai praktik terbaik.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Transisi ke bagian fondasi.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ke peserta: siapa yang pernah punya file bernama 'final_fix_v2'? Ini masalah nyata yang dipecahkan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perbedaan centralized vs distributed — ini kunci memahami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lahir dari kebutuhan nyata: mengelola kernel Linux dengan ribuan kontributor.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alasan utama Git mengalahkan pendahulunya.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Pastikan semua peserta berhasil menjalankan git --version sebelum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Konfigurasi identitas adalah langkah wajib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inti Git. Minta peserta menghafal urutan: kerja → add → commit →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 snapshot vs delta adalah pembeda utama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Demonstrasikan siklus ini secara langsung di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referensi — sarankan peserta memotret atau mencetak halaman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Ajarkan alias log grafis agar peserta terbiasa membaca riwayat.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perbedaan reset (menulis ulang riwayat) vs revert (menambah riwayat).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Gambarkan ulang diagram ini di papan tulis bila memungkinkan.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peserta membuat cabang, commit, lalu merge kembali.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untuk cabang bersama, rebase untuk cabang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 itu normal, bukan tanda kesalahan. Tenang dan ikuti empat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fetch (hanya unduh) dan pull (unduh + gabung).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Kesalahpahaman paling umum pemula: mengira Git =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ini adalah cara standar berkontribusi ke proyek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Diskusikan model mana yang paling cocok untuk konteks peserta.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reflog sering menyelamatkan pekerjaan yang dikira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.gitignore hanya berlaku untuk berkas yang belum pernah dilacak.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commit dibaca berkali-kali oleh orang lain — termasuk diri Anda enam bulan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Bahas kesalahan umum: commit file .env adalah insiden keamanan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peserta menempel cheat sheet ini di dekat meja 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sesi dengan mendorong peserta langsung praktik membuat repositori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7589520" y="548640"/>
            <a:ext cx="5669280" cy="5669280"/>
          </a:xfrm>
          <a:prstGeom prst="ellipse">
            <a:avLst/>
          </a:prstGeom>
          <a:solidFill>
            <a:srgbClr val="F05032">
              <a:alpha val="12000"/>
            </a:srgbClr>
          </a:solidFill>
          <a:ln w="12700">
            <a:solidFill>
              <a:srgbClr val="F05032"/>
            </a:solidFill>
            <a:prstDash val="solid"/>
          </a:ln>
        </p:spPr>
      </p:sp>
      <p:pic>
        <p:nvPicPr>
          <p:cNvPr id="3" name="Image 0" descr="preencoded.png">    </p:cNvPr>
          <p:cNvPicPr>
            <a:picLocks noChangeAspect="1"/>
          </p:cNvPicPr>
          <p:nvPr/>
        </p:nvPicPr>
        <p:blipFill>
          <a:blip r:embed="rId1"/>
          <a:stretch>
            <a:fillRect/>
          </a:stretch>
        </p:blipFill>
        <p:spPr>
          <a:xfrm>
            <a:off x="8549640" y="2057400"/>
            <a:ext cx="2651760" cy="2651760"/>
          </a:xfrm>
          <a:prstGeom prst="rect">
            <a:avLst/>
          </a:prstGeom>
        </p:spPr>
      </p:pic>
      <p:sp>
        <p:nvSpPr>
          <p:cNvPr id="4" name="Text 1"/>
          <p:cNvSpPr txBox="1"/>
          <p:nvPr/>
        </p:nvSpPr>
        <p:spPr>
          <a:xfrm>
            <a:off x="640080" y="1600200"/>
            <a:ext cx="6949440" cy="274320"/>
          </a:xfrm>
          <a:prstGeom prst="rect">
            <a:avLst/>
          </a:prstGeom>
          <a:noFill/>
          <a:ln/>
        </p:spPr>
        <p:txBody>
          <a:bodyPr wrap="square" lIns="0" tIns="0" rIns="0" bIns="0" rtlCol="0" anchor="ctr"/>
          <a:lstStyle/>
          <a:p>
            <a:pPr indent="0" marL="0">
              <a:buNone/>
            </a:pPr>
            <a:r>
              <a:rPr lang="en-US" sz="1200" b="1" spc="260" kern="0" dirty="0">
                <a:solidFill>
                  <a:srgbClr val="F05032"/>
                </a:solidFill>
                <a:latin typeface="Calibri" pitchFamily="34" charset="0"/>
                <a:ea typeface="Calibri" pitchFamily="34" charset="-122"/>
                <a:cs typeface="Calibri" pitchFamily="34" charset="-120"/>
              </a:rPr>
              <a:t>MATERI PEMBELAJARAN · VERSION CONTROL SYSTEM</a:t>
            </a:r>
            <a:endParaRPr lang="en-US" sz="1200" dirty="0"/>
          </a:p>
        </p:txBody>
      </p:sp>
      <p:sp>
        <p:nvSpPr>
          <p:cNvPr id="5" name="Text 2"/>
          <p:cNvSpPr txBox="1"/>
          <p:nvPr/>
        </p:nvSpPr>
        <p:spPr>
          <a:xfrm>
            <a:off x="640080" y="1938528"/>
            <a:ext cx="6949440" cy="109728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Git</a:t>
            </a:r>
            <a:endParaRPr lang="en-US" sz="7200" dirty="0"/>
          </a:p>
        </p:txBody>
      </p:sp>
      <p:sp>
        <p:nvSpPr>
          <p:cNvPr id="6" name="Text 3"/>
          <p:cNvSpPr txBox="1"/>
          <p:nvPr/>
        </p:nvSpPr>
        <p:spPr>
          <a:xfrm>
            <a:off x="640080" y="3035808"/>
            <a:ext cx="7223760" cy="868680"/>
          </a:xfrm>
          <a:prstGeom prst="rect">
            <a:avLst/>
          </a:prstGeom>
          <a:noFill/>
          <a:ln/>
        </p:spPr>
        <p:txBody>
          <a:bodyPr wrap="square" lIns="0" tIns="0" rIns="0" bIns="0" rtlCol="0" anchor="ctr"/>
          <a:lstStyle/>
          <a:p>
            <a:pPr indent="0" marL="0">
              <a:lnSpc>
                <a:spcPts val="3000"/>
              </a:lnSpc>
              <a:buNone/>
            </a:pPr>
            <a:r>
              <a:rPr lang="en-US" sz="2400" b="1" dirty="0">
                <a:solidFill>
                  <a:srgbClr val="E7E4E1"/>
                </a:solidFill>
                <a:latin typeface="Arial" pitchFamily="34" charset="0"/>
                <a:ea typeface="Arial" pitchFamily="34" charset="-122"/>
                <a:cs typeface="Arial" pitchFamily="34" charset="-120"/>
              </a:rPr>
              <a:t>Panduan Komprehensif Sistem Kontrol Versi</a:t>
            </a:r>
            <a:endParaRPr lang="en-US" sz="2400" dirty="0"/>
          </a:p>
        </p:txBody>
      </p:sp>
      <p:sp>
        <p:nvSpPr>
          <p:cNvPr id="7" name="Text 4"/>
          <p:cNvSpPr txBox="1"/>
          <p:nvPr/>
        </p:nvSpPr>
        <p:spPr>
          <a:xfrm>
            <a:off x="640080" y="3950208"/>
            <a:ext cx="6492240" cy="822960"/>
          </a:xfrm>
          <a:prstGeom prst="rect">
            <a:avLst/>
          </a:prstGeom>
          <a:noFill/>
          <a:ln/>
        </p:spPr>
        <p:txBody>
          <a:bodyPr wrap="square" lIns="0" tIns="0" rIns="0" bIns="0" rtlCol="0" anchor="ctr"/>
          <a:lstStyle/>
          <a:p>
            <a:pPr indent="0" marL="0">
              <a:lnSpc>
                <a:spcPts val="2400"/>
              </a:lnSpc>
              <a:buNone/>
            </a:pPr>
            <a:r>
              <a:rPr lang="en-US" sz="1500" dirty="0">
                <a:solidFill>
                  <a:srgbClr val="A9A9B4"/>
                </a:solidFill>
                <a:latin typeface="Calibri" pitchFamily="34" charset="0"/>
                <a:ea typeface="Calibri" pitchFamily="34" charset="-122"/>
                <a:cs typeface="Calibri" pitchFamily="34" charset="-120"/>
              </a:rPr>
              <a:t>Dari konsep dasar, alur kerja harian, branching &amp; merging, hingga kolaborasi tim profesional menggunakan repositori remote.</a:t>
            </a:r>
            <a:endParaRPr lang="en-US" sz="1500" dirty="0"/>
          </a:p>
        </p:txBody>
      </p:sp>
      <p:sp>
        <p:nvSpPr>
          <p:cNvPr id="8" name="Shape 5"/>
          <p:cNvSpPr/>
          <p:nvPr/>
        </p:nvSpPr>
        <p:spPr>
          <a:xfrm>
            <a:off x="640080" y="4800600"/>
            <a:ext cx="2286000" cy="457200"/>
          </a:xfrm>
          <a:prstGeom prst="roundRect">
            <a:avLst>
              <a:gd name="adj" fmla="val 50000"/>
            </a:avLst>
          </a:prstGeom>
          <a:solidFill>
            <a:srgbClr val="F05032"/>
          </a:solidFill>
          <a:ln w="12700">
            <a:solidFill>
              <a:srgbClr val="F05032"/>
            </a:solidFill>
            <a:prstDash val="solid"/>
          </a:ln>
        </p:spPr>
      </p:sp>
      <p:sp>
        <p:nvSpPr>
          <p:cNvPr id="9" name="Text 6"/>
          <p:cNvSpPr txBox="1"/>
          <p:nvPr/>
        </p:nvSpPr>
        <p:spPr>
          <a:xfrm>
            <a:off x="640080" y="4800600"/>
            <a:ext cx="22860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33 Slide · 5 Bagian</a:t>
            </a:r>
            <a:endParaRPr lang="en-US" sz="1250" dirty="0"/>
          </a:p>
        </p:txBody>
      </p:sp>
      <p:sp>
        <p:nvSpPr>
          <p:cNvPr id="10" name="Text 7"/>
          <p:cNvSpPr txBox="1"/>
          <p:nvPr/>
        </p:nvSpPr>
        <p:spPr>
          <a:xfrm>
            <a:off x="3154680" y="4800600"/>
            <a:ext cx="3200400" cy="457200"/>
          </a:xfrm>
          <a:prstGeom prst="rect">
            <a:avLst/>
          </a:prstGeom>
          <a:noFill/>
          <a:ln/>
        </p:spPr>
        <p:txBody>
          <a:bodyPr wrap="square" lIns="0" tIns="0" rIns="0" bIns="0" rtlCol="0" anchor="ctr"/>
          <a:lstStyle/>
          <a:p>
            <a:pPr indent="0" marL="0">
              <a:buNone/>
            </a:pPr>
            <a:r>
              <a:rPr lang="en-US" sz="1250" dirty="0">
                <a:solidFill>
                  <a:srgbClr val="9A9AA6"/>
                </a:solidFill>
                <a:latin typeface="Calibri" pitchFamily="34" charset="0"/>
                <a:ea typeface="Calibri" pitchFamily="34" charset="-122"/>
                <a:cs typeface="Calibri" pitchFamily="34" charset="-120"/>
              </a:rPr>
              <a:t>Level: Pemula → Menengah</a:t>
            </a:r>
            <a:endParaRPr lang="en-US" sz="1250" dirty="0"/>
          </a:p>
        </p:txBody>
      </p:sp>
      <p:sp>
        <p:nvSpPr>
          <p:cNvPr id="12" name="Text 8"/>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13" name="Text 9"/>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DAFTAR ISI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Peta Materi Pembelajaran</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02</a:t>
            </a:r>
            <a:endParaRPr lang="en-US" sz="1000" dirty="0"/>
          </a:p>
        </p:txBody>
      </p:sp>
      <p:sp>
        <p:nvSpPr>
          <p:cNvPr id="6" name="Shape 4"/>
          <p:cNvSpPr/>
          <p:nvPr/>
        </p:nvSpPr>
        <p:spPr>
          <a:xfrm>
            <a:off x="640080" y="157276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32688" y="1865376"/>
            <a:ext cx="566928" cy="566928"/>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1012058" y="1944746"/>
            <a:ext cx="408188" cy="408188"/>
          </a:xfrm>
          <a:prstGeom prst="rect">
            <a:avLst/>
          </a:prstGeom>
        </p:spPr>
      </p:pic>
      <p:sp>
        <p:nvSpPr>
          <p:cNvPr id="9" name="Text 6"/>
          <p:cNvSpPr txBox="1"/>
          <p:nvPr/>
        </p:nvSpPr>
        <p:spPr>
          <a:xfrm>
            <a:off x="1600200" y="190195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01</a:t>
            </a:r>
            <a:endParaRPr lang="en-US" sz="2000" dirty="0"/>
          </a:p>
        </p:txBody>
      </p:sp>
      <p:sp>
        <p:nvSpPr>
          <p:cNvPr id="10" name="Text 7"/>
          <p:cNvSpPr txBox="1"/>
          <p:nvPr/>
        </p:nvSpPr>
        <p:spPr>
          <a:xfrm>
            <a:off x="932688" y="256032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Fondasi Git</a:t>
            </a:r>
            <a:endParaRPr lang="en-US" sz="1650" dirty="0"/>
          </a:p>
        </p:txBody>
      </p:sp>
      <p:sp>
        <p:nvSpPr>
          <p:cNvPr id="11" name="Text 8"/>
          <p:cNvSpPr txBox="1"/>
          <p:nvPr/>
        </p:nvSpPr>
        <p:spPr>
          <a:xfrm>
            <a:off x="932688" y="290779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Konsep version control, sejarah Git, instalasi, dan konfigurasi awal.</a:t>
            </a:r>
            <a:endParaRPr lang="en-US" sz="1250" dirty="0"/>
          </a:p>
        </p:txBody>
      </p:sp>
      <p:sp>
        <p:nvSpPr>
          <p:cNvPr id="12" name="Shape 9"/>
          <p:cNvSpPr/>
          <p:nvPr/>
        </p:nvSpPr>
        <p:spPr>
          <a:xfrm>
            <a:off x="4370832" y="157276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13" name="Shape 10"/>
          <p:cNvSpPr/>
          <p:nvPr/>
        </p:nvSpPr>
        <p:spPr>
          <a:xfrm>
            <a:off x="4663440" y="1865376"/>
            <a:ext cx="566928" cy="566928"/>
          </a:xfrm>
          <a:prstGeom prst="ellipse">
            <a:avLst/>
          </a:prstGeom>
          <a:solidFill>
            <a:srgbClr val="F05032"/>
          </a:solidFill>
          <a:ln w="12700">
            <a:solidFill>
              <a:srgbClr val="F05032"/>
            </a:solidFill>
            <a:prstDash val="solid"/>
          </a:ln>
        </p:spPr>
      </p:sp>
      <p:pic>
        <p:nvPicPr>
          <p:cNvPr id="14" name="Image 1" descr="preencoded.png">    </p:cNvPr>
          <p:cNvPicPr>
            <a:picLocks noChangeAspect="1"/>
          </p:cNvPicPr>
          <p:nvPr/>
        </p:nvPicPr>
        <p:blipFill>
          <a:blip r:embed="rId2"/>
          <a:stretch>
            <a:fillRect/>
          </a:stretch>
        </p:blipFill>
        <p:spPr>
          <a:xfrm>
            <a:off x="4742810" y="1944746"/>
            <a:ext cx="408188" cy="408188"/>
          </a:xfrm>
          <a:prstGeom prst="rect">
            <a:avLst/>
          </a:prstGeom>
        </p:spPr>
      </p:pic>
      <p:sp>
        <p:nvSpPr>
          <p:cNvPr id="15" name="Text 11"/>
          <p:cNvSpPr txBox="1"/>
          <p:nvPr/>
        </p:nvSpPr>
        <p:spPr>
          <a:xfrm>
            <a:off x="5330952" y="190195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02</a:t>
            </a:r>
            <a:endParaRPr lang="en-US" sz="2000" dirty="0"/>
          </a:p>
        </p:txBody>
      </p:sp>
      <p:sp>
        <p:nvSpPr>
          <p:cNvPr id="16" name="Text 12"/>
          <p:cNvSpPr txBox="1"/>
          <p:nvPr/>
        </p:nvSpPr>
        <p:spPr>
          <a:xfrm>
            <a:off x="4663440" y="256032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Alur Kerja Dasar</a:t>
            </a:r>
            <a:endParaRPr lang="en-US" sz="1650" dirty="0"/>
          </a:p>
        </p:txBody>
      </p:sp>
      <p:sp>
        <p:nvSpPr>
          <p:cNvPr id="17" name="Text 13"/>
          <p:cNvSpPr txBox="1"/>
          <p:nvPr/>
        </p:nvSpPr>
        <p:spPr>
          <a:xfrm>
            <a:off x="4663440" y="290779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Tiga area kerja Git, objek internal, add–commit–push, dan perintah inti.</a:t>
            </a:r>
            <a:endParaRPr lang="en-US" sz="1250" dirty="0"/>
          </a:p>
        </p:txBody>
      </p:sp>
      <p:sp>
        <p:nvSpPr>
          <p:cNvPr id="18" name="Shape 14"/>
          <p:cNvSpPr/>
          <p:nvPr/>
        </p:nvSpPr>
        <p:spPr>
          <a:xfrm>
            <a:off x="8101584" y="157276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19" name="Shape 15"/>
          <p:cNvSpPr/>
          <p:nvPr/>
        </p:nvSpPr>
        <p:spPr>
          <a:xfrm>
            <a:off x="8394192" y="1865376"/>
            <a:ext cx="566928" cy="566928"/>
          </a:xfrm>
          <a:prstGeom prst="ellipse">
            <a:avLst/>
          </a:prstGeom>
          <a:solidFill>
            <a:srgbClr val="F05032"/>
          </a:solidFill>
          <a:ln w="12700">
            <a:solidFill>
              <a:srgbClr val="F05032"/>
            </a:solidFill>
            <a:prstDash val="solid"/>
          </a:ln>
        </p:spPr>
      </p:sp>
      <p:pic>
        <p:nvPicPr>
          <p:cNvPr id="20" name="Image 2" descr="preencoded.png">    </p:cNvPr>
          <p:cNvPicPr>
            <a:picLocks noChangeAspect="1"/>
          </p:cNvPicPr>
          <p:nvPr/>
        </p:nvPicPr>
        <p:blipFill>
          <a:blip r:embed="rId3"/>
          <a:stretch>
            <a:fillRect/>
          </a:stretch>
        </p:blipFill>
        <p:spPr>
          <a:xfrm>
            <a:off x="8473562" y="1944746"/>
            <a:ext cx="408188" cy="408188"/>
          </a:xfrm>
          <a:prstGeom prst="rect">
            <a:avLst/>
          </a:prstGeom>
        </p:spPr>
      </p:pic>
      <p:sp>
        <p:nvSpPr>
          <p:cNvPr id="21" name="Text 16"/>
          <p:cNvSpPr txBox="1"/>
          <p:nvPr/>
        </p:nvSpPr>
        <p:spPr>
          <a:xfrm>
            <a:off x="9061704" y="190195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03</a:t>
            </a:r>
            <a:endParaRPr lang="en-US" sz="2000" dirty="0"/>
          </a:p>
        </p:txBody>
      </p:sp>
      <p:sp>
        <p:nvSpPr>
          <p:cNvPr id="22" name="Text 17"/>
          <p:cNvSpPr txBox="1"/>
          <p:nvPr/>
        </p:nvSpPr>
        <p:spPr>
          <a:xfrm>
            <a:off x="8394192" y="256032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Branching &amp; Merging</a:t>
            </a:r>
            <a:endParaRPr lang="en-US" sz="1650" dirty="0"/>
          </a:p>
        </p:txBody>
      </p:sp>
      <p:sp>
        <p:nvSpPr>
          <p:cNvPr id="23" name="Text 18"/>
          <p:cNvSpPr txBox="1"/>
          <p:nvPr/>
        </p:nvSpPr>
        <p:spPr>
          <a:xfrm>
            <a:off x="8394192" y="290779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Membuat cabang, menggabungkan, rebase, serta menangani conflict.</a:t>
            </a:r>
            <a:endParaRPr lang="en-US" sz="1250" dirty="0"/>
          </a:p>
        </p:txBody>
      </p:sp>
      <p:sp>
        <p:nvSpPr>
          <p:cNvPr id="24" name="Shape 19"/>
          <p:cNvSpPr/>
          <p:nvPr/>
        </p:nvSpPr>
        <p:spPr>
          <a:xfrm>
            <a:off x="640080" y="399592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25" name="Shape 20"/>
          <p:cNvSpPr/>
          <p:nvPr/>
        </p:nvSpPr>
        <p:spPr>
          <a:xfrm>
            <a:off x="932688" y="4288536"/>
            <a:ext cx="566928" cy="566928"/>
          </a:xfrm>
          <a:prstGeom prst="ellipse">
            <a:avLst/>
          </a:prstGeom>
          <a:solidFill>
            <a:srgbClr val="F05032"/>
          </a:solidFill>
          <a:ln w="12700">
            <a:solidFill>
              <a:srgbClr val="F05032"/>
            </a:solidFill>
            <a:prstDash val="solid"/>
          </a:ln>
        </p:spPr>
      </p:sp>
      <p:pic>
        <p:nvPicPr>
          <p:cNvPr id="26" name="Image 3" descr="preencoded.png">    </p:cNvPr>
          <p:cNvPicPr>
            <a:picLocks noChangeAspect="1"/>
          </p:cNvPicPr>
          <p:nvPr/>
        </p:nvPicPr>
        <p:blipFill>
          <a:blip r:embed="rId4"/>
          <a:stretch>
            <a:fillRect/>
          </a:stretch>
        </p:blipFill>
        <p:spPr>
          <a:xfrm>
            <a:off x="1012058" y="4367906"/>
            <a:ext cx="408188" cy="408188"/>
          </a:xfrm>
          <a:prstGeom prst="rect">
            <a:avLst/>
          </a:prstGeom>
        </p:spPr>
      </p:pic>
      <p:sp>
        <p:nvSpPr>
          <p:cNvPr id="27" name="Text 21"/>
          <p:cNvSpPr txBox="1"/>
          <p:nvPr/>
        </p:nvSpPr>
        <p:spPr>
          <a:xfrm>
            <a:off x="1600200" y="432511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04</a:t>
            </a:r>
            <a:endParaRPr lang="en-US" sz="2000" dirty="0"/>
          </a:p>
        </p:txBody>
      </p:sp>
      <p:sp>
        <p:nvSpPr>
          <p:cNvPr id="28" name="Text 22"/>
          <p:cNvSpPr txBox="1"/>
          <p:nvPr/>
        </p:nvSpPr>
        <p:spPr>
          <a:xfrm>
            <a:off x="932688" y="498348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Kolaborasi &amp; Remote</a:t>
            </a:r>
            <a:endParaRPr lang="en-US" sz="1650" dirty="0"/>
          </a:p>
        </p:txBody>
      </p:sp>
      <p:sp>
        <p:nvSpPr>
          <p:cNvPr id="29" name="Text 23"/>
          <p:cNvSpPr txBox="1"/>
          <p:nvPr/>
        </p:nvSpPr>
        <p:spPr>
          <a:xfrm>
            <a:off x="932688" y="533095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Repositori remote, GitHub/GitLab, fork, pull request, dan workflow tim.</a:t>
            </a:r>
            <a:endParaRPr lang="en-US" sz="1250" dirty="0"/>
          </a:p>
        </p:txBody>
      </p:sp>
      <p:sp>
        <p:nvSpPr>
          <p:cNvPr id="30" name="Shape 24"/>
          <p:cNvSpPr/>
          <p:nvPr/>
        </p:nvSpPr>
        <p:spPr>
          <a:xfrm>
            <a:off x="4370832" y="399592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31" name="Shape 25"/>
          <p:cNvSpPr/>
          <p:nvPr/>
        </p:nvSpPr>
        <p:spPr>
          <a:xfrm>
            <a:off x="4663440" y="4288536"/>
            <a:ext cx="566928" cy="566928"/>
          </a:xfrm>
          <a:prstGeom prst="ellipse">
            <a:avLst/>
          </a:prstGeom>
          <a:solidFill>
            <a:srgbClr val="F05032"/>
          </a:solidFill>
          <a:ln w="12700">
            <a:solidFill>
              <a:srgbClr val="F05032"/>
            </a:solidFill>
            <a:prstDash val="solid"/>
          </a:ln>
        </p:spPr>
      </p:sp>
      <p:pic>
        <p:nvPicPr>
          <p:cNvPr id="32" name="Image 4" descr="preencoded.png">    </p:cNvPr>
          <p:cNvPicPr>
            <a:picLocks noChangeAspect="1"/>
          </p:cNvPicPr>
          <p:nvPr/>
        </p:nvPicPr>
        <p:blipFill>
          <a:blip r:embed="rId5"/>
          <a:stretch>
            <a:fillRect/>
          </a:stretch>
        </p:blipFill>
        <p:spPr>
          <a:xfrm>
            <a:off x="4742810" y="4367906"/>
            <a:ext cx="408188" cy="408188"/>
          </a:xfrm>
          <a:prstGeom prst="rect">
            <a:avLst/>
          </a:prstGeom>
        </p:spPr>
      </p:pic>
      <p:sp>
        <p:nvSpPr>
          <p:cNvPr id="33" name="Text 26"/>
          <p:cNvSpPr txBox="1"/>
          <p:nvPr/>
        </p:nvSpPr>
        <p:spPr>
          <a:xfrm>
            <a:off x="5330952" y="432511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05</a:t>
            </a:r>
            <a:endParaRPr lang="en-US" sz="2000" dirty="0"/>
          </a:p>
        </p:txBody>
      </p:sp>
      <p:sp>
        <p:nvSpPr>
          <p:cNvPr id="34" name="Text 27"/>
          <p:cNvSpPr txBox="1"/>
          <p:nvPr/>
        </p:nvSpPr>
        <p:spPr>
          <a:xfrm>
            <a:off x="4663440" y="498348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Fitur Lanjutan</a:t>
            </a:r>
            <a:endParaRPr lang="en-US" sz="1650" dirty="0"/>
          </a:p>
        </p:txBody>
      </p:sp>
      <p:sp>
        <p:nvSpPr>
          <p:cNvPr id="35" name="Text 28"/>
          <p:cNvSpPr txBox="1"/>
          <p:nvPr/>
        </p:nvSpPr>
        <p:spPr>
          <a:xfrm>
            <a:off x="4663440" y="533095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Stash, tag, cherry-pick, bisect, reflog, dan submodule.</a:t>
            </a:r>
            <a:endParaRPr lang="en-US" sz="1250" dirty="0"/>
          </a:p>
        </p:txBody>
      </p:sp>
      <p:sp>
        <p:nvSpPr>
          <p:cNvPr id="36" name="Shape 29"/>
          <p:cNvSpPr/>
          <p:nvPr/>
        </p:nvSpPr>
        <p:spPr>
          <a:xfrm>
            <a:off x="8101584" y="3995928"/>
            <a:ext cx="3456432" cy="2148840"/>
          </a:xfrm>
          <a:prstGeom prst="roundRect">
            <a:avLst>
              <a:gd name="adj" fmla="val 42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37" name="Shape 30"/>
          <p:cNvSpPr/>
          <p:nvPr/>
        </p:nvSpPr>
        <p:spPr>
          <a:xfrm>
            <a:off x="8394192" y="4288536"/>
            <a:ext cx="566928" cy="566928"/>
          </a:xfrm>
          <a:prstGeom prst="ellipse">
            <a:avLst/>
          </a:prstGeom>
          <a:solidFill>
            <a:srgbClr val="F05032"/>
          </a:solidFill>
          <a:ln w="12700">
            <a:solidFill>
              <a:srgbClr val="F05032"/>
            </a:solidFill>
            <a:prstDash val="solid"/>
          </a:ln>
        </p:spPr>
      </p:sp>
      <p:pic>
        <p:nvPicPr>
          <p:cNvPr id="38" name="Image 5" descr="preencoded.png">    </p:cNvPr>
          <p:cNvPicPr>
            <a:picLocks noChangeAspect="1"/>
          </p:cNvPicPr>
          <p:nvPr/>
        </p:nvPicPr>
        <p:blipFill>
          <a:blip r:embed="rId6"/>
          <a:stretch>
            <a:fillRect/>
          </a:stretch>
        </p:blipFill>
        <p:spPr>
          <a:xfrm>
            <a:off x="8473562" y="4367906"/>
            <a:ext cx="408188" cy="408188"/>
          </a:xfrm>
          <a:prstGeom prst="rect">
            <a:avLst/>
          </a:prstGeom>
        </p:spPr>
      </p:pic>
      <p:sp>
        <p:nvSpPr>
          <p:cNvPr id="39" name="Text 31"/>
          <p:cNvSpPr txBox="1"/>
          <p:nvPr/>
        </p:nvSpPr>
        <p:spPr>
          <a:xfrm>
            <a:off x="9061704" y="4325112"/>
            <a:ext cx="914400" cy="365760"/>
          </a:xfrm>
          <a:prstGeom prst="rect">
            <a:avLst/>
          </a:prstGeom>
          <a:noFill/>
          <a:ln/>
        </p:spPr>
        <p:txBody>
          <a:bodyPr wrap="square" lIns="0" tIns="0" rIns="0" bIns="0" rtlCol="0" anchor="ctr"/>
          <a:lstStyle/>
          <a:p>
            <a:pPr indent="0" marL="0">
              <a:buNone/>
            </a:pPr>
            <a:r>
              <a:rPr lang="en-US" sz="2000" b="1" dirty="0">
                <a:solidFill>
                  <a:srgbClr val="D8D2CE"/>
                </a:solidFill>
                <a:latin typeface="Arial" pitchFamily="34" charset="0"/>
                <a:ea typeface="Arial" pitchFamily="34" charset="-122"/>
                <a:cs typeface="Arial" pitchFamily="34" charset="-120"/>
              </a:rPr>
              <a:t>06</a:t>
            </a:r>
            <a:endParaRPr lang="en-US" sz="2000" dirty="0"/>
          </a:p>
        </p:txBody>
      </p:sp>
      <p:sp>
        <p:nvSpPr>
          <p:cNvPr id="40" name="Text 32"/>
          <p:cNvSpPr txBox="1"/>
          <p:nvPr/>
        </p:nvSpPr>
        <p:spPr>
          <a:xfrm>
            <a:off x="8394192" y="4983480"/>
            <a:ext cx="2871216" cy="329184"/>
          </a:xfrm>
          <a:prstGeom prst="rect">
            <a:avLst/>
          </a:prstGeom>
          <a:noFill/>
          <a:ln/>
        </p:spPr>
        <p:txBody>
          <a:bodyPr wrap="square" lIns="0" tIns="0" rIns="0" bIns="0" rtlCol="0" anchor="ctr"/>
          <a:lstStyle/>
          <a:p>
            <a:pPr indent="0" marL="0">
              <a:buNone/>
            </a:pPr>
            <a:r>
              <a:rPr lang="en-US" sz="1650" b="1" dirty="0">
                <a:solidFill>
                  <a:srgbClr val="17171C"/>
                </a:solidFill>
                <a:latin typeface="Arial" pitchFamily="34" charset="0"/>
                <a:ea typeface="Arial" pitchFamily="34" charset="-122"/>
                <a:cs typeface="Arial" pitchFamily="34" charset="-120"/>
              </a:rPr>
              <a:t>Praktik Terbaik</a:t>
            </a:r>
            <a:endParaRPr lang="en-US" sz="1650" dirty="0"/>
          </a:p>
        </p:txBody>
      </p:sp>
      <p:sp>
        <p:nvSpPr>
          <p:cNvPr id="41" name="Text 33"/>
          <p:cNvSpPr txBox="1"/>
          <p:nvPr/>
        </p:nvSpPr>
        <p:spPr>
          <a:xfrm>
            <a:off x="8394192" y="5330952"/>
            <a:ext cx="2871216"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Pesan commit, .gitignore, kesalahan umum, dan ringkasan perintah.</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8778240" y="1417320"/>
            <a:ext cx="4023360" cy="4023360"/>
          </a:xfrm>
          <a:prstGeom prst="ellipse">
            <a:avLst/>
          </a:prstGeom>
          <a:solidFill>
            <a:srgbClr val="F05032">
              <a:alpha val="14000"/>
            </a:srgbClr>
          </a:solidFill>
          <a:ln w="12700">
            <a:solidFill>
              <a:srgbClr val="F05032"/>
            </a:solidFill>
            <a:prstDash val="solid"/>
          </a:ln>
        </p:spPr>
      </p:sp>
      <p:sp>
        <p:nvSpPr>
          <p:cNvPr id="3" name="Shape 1"/>
          <p:cNvSpPr/>
          <p:nvPr/>
        </p:nvSpPr>
        <p:spPr>
          <a:xfrm>
            <a:off x="9601200" y="2240280"/>
            <a:ext cx="2377440" cy="2377440"/>
          </a:xfrm>
          <a:prstGeom prst="ellipse">
            <a:avLst/>
          </a:prstGeom>
          <a:solidFill>
            <a:srgbClr val="F05032"/>
          </a:solidFill>
          <a:ln w="12700">
            <a:solidFill>
              <a:srgbClr val="F05032"/>
            </a:solidFill>
            <a:prstDash val="solid"/>
          </a:ln>
        </p:spPr>
      </p:sp>
      <p:pic>
        <p:nvPicPr>
          <p:cNvPr id="4" name="Image 0" descr="preencoded.png">    </p:cNvPr>
          <p:cNvPicPr>
            <a:picLocks noChangeAspect="1"/>
          </p:cNvPicPr>
          <p:nvPr/>
        </p:nvPicPr>
        <p:blipFill>
          <a:blip r:embed="rId1"/>
          <a:stretch>
            <a:fillRect/>
          </a:stretch>
        </p:blipFill>
        <p:spPr>
          <a:xfrm>
            <a:off x="9934042" y="2573122"/>
            <a:ext cx="1711757" cy="1711757"/>
          </a:xfrm>
          <a:prstGeom prst="rect">
            <a:avLst/>
          </a:prstGeom>
        </p:spPr>
      </p:pic>
      <p:sp>
        <p:nvSpPr>
          <p:cNvPr id="5" name="Text 2"/>
          <p:cNvSpPr txBox="1"/>
          <p:nvPr/>
        </p:nvSpPr>
        <p:spPr>
          <a:xfrm>
            <a:off x="640080" y="2148840"/>
            <a:ext cx="5486400" cy="292608"/>
          </a:xfrm>
          <a:prstGeom prst="rect">
            <a:avLst/>
          </a:prstGeom>
          <a:noFill/>
          <a:ln/>
        </p:spPr>
        <p:txBody>
          <a:bodyPr wrap="square" lIns="0" tIns="0" rIns="0" bIns="0" rtlCol="0" anchor="ctr"/>
          <a:lstStyle/>
          <a:p>
            <a:pPr indent="0" marL="0">
              <a:buNone/>
            </a:pPr>
            <a:r>
              <a:rPr lang="en-US" sz="1250" b="1" spc="260" kern="0" dirty="0">
                <a:solidFill>
                  <a:srgbClr val="F05032"/>
                </a:solidFill>
                <a:latin typeface="Calibri" pitchFamily="34" charset="0"/>
                <a:ea typeface="Calibri" pitchFamily="34" charset="-122"/>
                <a:cs typeface="Calibri" pitchFamily="34" charset="-120"/>
              </a:rPr>
              <a:t>BAGIAN 01</a:t>
            </a:r>
            <a:endParaRPr lang="en-US" sz="1250" dirty="0"/>
          </a:p>
        </p:txBody>
      </p:sp>
      <p:sp>
        <p:nvSpPr>
          <p:cNvPr id="6" name="Text 3"/>
          <p:cNvSpPr txBox="1"/>
          <p:nvPr/>
        </p:nvSpPr>
        <p:spPr>
          <a:xfrm>
            <a:off x="640080" y="2514600"/>
            <a:ext cx="749808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Fondasi Git</a:t>
            </a:r>
            <a:endParaRPr lang="en-US" sz="4200" dirty="0"/>
          </a:p>
        </p:txBody>
      </p:sp>
      <p:sp>
        <p:nvSpPr>
          <p:cNvPr id="7" name="Text 4"/>
          <p:cNvSpPr txBox="1"/>
          <p:nvPr/>
        </p:nvSpPr>
        <p:spPr>
          <a:xfrm>
            <a:off x="640080" y="3474720"/>
            <a:ext cx="6949440" cy="822960"/>
          </a:xfrm>
          <a:prstGeom prst="rect">
            <a:avLst/>
          </a:prstGeom>
          <a:noFill/>
          <a:ln/>
        </p:spPr>
        <p:txBody>
          <a:bodyPr wrap="square" lIns="0" tIns="0" rIns="0" bIns="0" rtlCol="0" anchor="ctr"/>
          <a:lstStyle/>
          <a:p>
            <a:pPr indent="0" marL="0">
              <a:lnSpc>
                <a:spcPts val="2400"/>
              </a:lnSpc>
              <a:buNone/>
            </a:pPr>
            <a:r>
              <a:rPr lang="en-US" sz="1500" dirty="0">
                <a:solidFill>
                  <a:srgbClr val="A6A6B2"/>
                </a:solidFill>
                <a:latin typeface="Calibri" pitchFamily="34" charset="0"/>
                <a:ea typeface="Calibri" pitchFamily="34" charset="-122"/>
                <a:cs typeface="Calibri" pitchFamily="34" charset="-120"/>
              </a:rPr>
              <a:t>Memahami mengapa version control dibutuhkan, apa itu Git, dan bagaimana menyiapkannya di komputer Anda.</a:t>
            </a:r>
            <a:endParaRPr lang="en-US" sz="1500" dirty="0"/>
          </a:p>
        </p:txBody>
      </p:sp>
      <p:sp>
        <p:nvSpPr>
          <p:cNvPr id="8" name="Text 5"/>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9" name="Text 6"/>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LATAR BELAKANG</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Masalah yang Muncul Tanpa Version Control</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04</a:t>
            </a:r>
            <a:endParaRPr lang="en-US" sz="1000" dirty="0"/>
          </a:p>
        </p:txBody>
      </p:sp>
      <p:sp>
        <p:nvSpPr>
          <p:cNvPr id="6" name="Shape 4"/>
          <p:cNvSpPr/>
          <p:nvPr/>
        </p:nvSpPr>
        <p:spPr>
          <a:xfrm>
            <a:off x="640080" y="1536192"/>
            <a:ext cx="10908792" cy="1481328"/>
          </a:xfrm>
          <a:prstGeom prst="roundRect">
            <a:avLst>
              <a:gd name="adj" fmla="val 4938"/>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7" name="Text 5"/>
          <p:cNvSpPr txBox="1"/>
          <p:nvPr/>
        </p:nvSpPr>
        <p:spPr>
          <a:xfrm>
            <a:off x="896112" y="1719072"/>
            <a:ext cx="10451592" cy="1115568"/>
          </a:xfrm>
          <a:prstGeom prst="rect">
            <a:avLst/>
          </a:prstGeom>
          <a:noFill/>
          <a:ln/>
        </p:spPr>
        <p:txBody>
          <a:bodyPr wrap="square" lIns="0" tIns="0" rIns="0" bIns="0" rtlCol="0" anchor="t"/>
          <a:lstStyle/>
          <a:p>
            <a:pPr indent="0" marL="0">
              <a:lnSpc>
                <a:spcPts val="2200"/>
              </a:lnSpc>
              <a:buNone/>
            </a:pPr>
            <a:r>
              <a:rPr lang="en-US" sz="1300" dirty="0">
                <a:solidFill>
                  <a:srgbClr val="9AA0A6"/>
                </a:solidFill>
                <a:latin typeface="Courier New" pitchFamily="34" charset="0"/>
                <a:ea typeface="Courier New" pitchFamily="34" charset="-122"/>
                <a:cs typeface="Courier New" pitchFamily="34" charset="-120"/>
              </a:rPr>
              <a:t>proyek/  </a:t>
            </a:r>
            <a:pPr indent="0" marL="0">
              <a:lnSpc>
                <a:spcPts val="2200"/>
              </a:lnSpc>
              <a:buNone/>
            </a:pPr>
            <a:r>
              <a:rPr lang="en-US" sz="1300" dirty="0">
                <a:solidFill>
                  <a:srgbClr val="E9E7E4"/>
                </a:solidFill>
                <a:latin typeface="Courier New" pitchFamily="34" charset="0"/>
                <a:ea typeface="Courier New" pitchFamily="34" charset="-122"/>
                <a:cs typeface="Courier New" pitchFamily="34" charset="-120"/>
              </a:rPr>
              <a:t>laporan.docx   laporan_revisi.docx   laporan_revisi_FIX.docx</a:t>
            </a:r>
            <a:pPr indent="0" marL="0">
              <a:lnSpc>
                <a:spcPts val="2200"/>
              </a:lnSpc>
              <a:buNone/>
            </a:pPr>
            <a:r>
              <a:rPr lang="en-US" sz="1300" dirty="0">
                <a:solidFill>
                  <a:srgbClr val="9AA0A6"/>
                </a:solidFill>
                <a:latin typeface="Courier New" pitchFamily="34" charset="0"/>
                <a:ea typeface="Courier New" pitchFamily="34" charset="-122"/>
                <a:cs typeface="Courier New" pitchFamily="34" charset="-120"/>
              </a:rPr>
              <a:t>         </a:t>
            </a:r>
            <a:pPr indent="0" marL="0">
              <a:lnSpc>
                <a:spcPts val="2200"/>
              </a:lnSpc>
              <a:buNone/>
            </a:pPr>
            <a:r>
              <a:rPr lang="en-US" sz="1300" dirty="0">
                <a:solidFill>
                  <a:srgbClr val="E9E7E4"/>
                </a:solidFill>
                <a:latin typeface="Courier New" pitchFamily="34" charset="0"/>
                <a:ea typeface="Courier New" pitchFamily="34" charset="-122"/>
                <a:cs typeface="Courier New" pitchFamily="34" charset="-120"/>
              </a:rPr>
              <a:t>laporan_FIX_FINAL.docx   laporan_FINAL_beneran_v2.docx</a:t>
            </a:r>
            <a:pPr indent="0" marL="0">
              <a:lnSpc>
                <a:spcPts val="2200"/>
              </a:lnSpc>
              <a:buNone/>
            </a:pPr>
            <a:r>
              <a:rPr lang="en-US" sz="1300" i="1" dirty="0">
                <a:solidFill>
                  <a:srgbClr val="F05032"/>
                </a:solidFill>
                <a:latin typeface="Courier New" pitchFamily="34" charset="0"/>
                <a:ea typeface="Courier New" pitchFamily="34" charset="-122"/>
                <a:cs typeface="Courier New" pitchFamily="34" charset="-120"/>
              </a:rPr>
              <a:t>  # siapa yang mengubah? kapan? bagaimana kembali ke versi kemarin?</a:t>
            </a:r>
            <a:endParaRPr lang="en-US" sz="1300" dirty="0"/>
          </a:p>
        </p:txBody>
      </p:sp>
      <p:sp>
        <p:nvSpPr>
          <p:cNvPr id="8" name="Shape 6"/>
          <p:cNvSpPr/>
          <p:nvPr/>
        </p:nvSpPr>
        <p:spPr>
          <a:xfrm>
            <a:off x="640080" y="3310128"/>
            <a:ext cx="2587752" cy="2286000"/>
          </a:xfrm>
          <a:prstGeom prst="roundRect">
            <a:avLst>
              <a:gd name="adj" fmla="val 4000"/>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9" name="Shape 7"/>
          <p:cNvSpPr/>
          <p:nvPr/>
        </p:nvSpPr>
        <p:spPr>
          <a:xfrm>
            <a:off x="914400" y="3584448"/>
            <a:ext cx="548640" cy="548640"/>
          </a:xfrm>
          <a:prstGeom prst="ellipse">
            <a:avLst/>
          </a:prstGeom>
          <a:solidFill>
            <a:srgbClr val="17171C"/>
          </a:solidFill>
          <a:ln w="12700">
            <a:solidFill>
              <a:srgbClr val="17171C"/>
            </a:solidFill>
            <a:prstDash val="solid"/>
          </a:ln>
        </p:spPr>
      </p:sp>
      <p:pic>
        <p:nvPicPr>
          <p:cNvPr id="10" name="Image 0" descr="preencoded.png">    </p:cNvPr>
          <p:cNvPicPr>
            <a:picLocks noChangeAspect="1"/>
          </p:cNvPicPr>
          <p:nvPr/>
        </p:nvPicPr>
        <p:blipFill>
          <a:blip r:embed="rId1"/>
          <a:stretch>
            <a:fillRect/>
          </a:stretch>
        </p:blipFill>
        <p:spPr>
          <a:xfrm>
            <a:off x="991210" y="3661258"/>
            <a:ext cx="395021" cy="395021"/>
          </a:xfrm>
          <a:prstGeom prst="rect">
            <a:avLst/>
          </a:prstGeom>
        </p:spPr>
      </p:pic>
      <p:sp>
        <p:nvSpPr>
          <p:cNvPr id="11" name="Text 8"/>
          <p:cNvSpPr txBox="1"/>
          <p:nvPr/>
        </p:nvSpPr>
        <p:spPr>
          <a:xfrm>
            <a:off x="914400" y="4242816"/>
            <a:ext cx="2039112"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Riwayat Hilang</a:t>
            </a:r>
            <a:endParaRPr lang="en-US" sz="1500" dirty="0"/>
          </a:p>
        </p:txBody>
      </p:sp>
      <p:sp>
        <p:nvSpPr>
          <p:cNvPr id="12" name="Text 9"/>
          <p:cNvSpPr txBox="1"/>
          <p:nvPr/>
        </p:nvSpPr>
        <p:spPr>
          <a:xfrm>
            <a:off x="914400" y="4590288"/>
            <a:ext cx="2039112"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Tidak ada catatan siapa mengubah apa dan kapan perubahan terjadi.</a:t>
            </a:r>
            <a:endParaRPr lang="en-US" sz="1250" dirty="0"/>
          </a:p>
        </p:txBody>
      </p:sp>
      <p:sp>
        <p:nvSpPr>
          <p:cNvPr id="13" name="Shape 10"/>
          <p:cNvSpPr/>
          <p:nvPr/>
        </p:nvSpPr>
        <p:spPr>
          <a:xfrm>
            <a:off x="3502152" y="3310128"/>
            <a:ext cx="2587752" cy="2286000"/>
          </a:xfrm>
          <a:prstGeom prst="roundRect">
            <a:avLst>
              <a:gd name="adj" fmla="val 4000"/>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3776472" y="3584448"/>
            <a:ext cx="548640" cy="548640"/>
          </a:xfrm>
          <a:prstGeom prst="ellipse">
            <a:avLst/>
          </a:prstGeom>
          <a:solidFill>
            <a:srgbClr val="17171C"/>
          </a:solidFill>
          <a:ln w="12700">
            <a:solidFill>
              <a:srgbClr val="17171C"/>
            </a:solidFill>
            <a:prstDash val="solid"/>
          </a:ln>
        </p:spPr>
      </p:sp>
      <p:pic>
        <p:nvPicPr>
          <p:cNvPr id="15" name="Image 1" descr="preencoded.png">    </p:cNvPr>
          <p:cNvPicPr>
            <a:picLocks noChangeAspect="1"/>
          </p:cNvPicPr>
          <p:nvPr/>
        </p:nvPicPr>
        <p:blipFill>
          <a:blip r:embed="rId2"/>
          <a:stretch>
            <a:fillRect/>
          </a:stretch>
        </p:blipFill>
        <p:spPr>
          <a:xfrm>
            <a:off x="3853282" y="3661258"/>
            <a:ext cx="395021" cy="395021"/>
          </a:xfrm>
          <a:prstGeom prst="rect">
            <a:avLst/>
          </a:prstGeom>
        </p:spPr>
      </p:pic>
      <p:sp>
        <p:nvSpPr>
          <p:cNvPr id="16" name="Text 12"/>
          <p:cNvSpPr txBox="1"/>
          <p:nvPr/>
        </p:nvSpPr>
        <p:spPr>
          <a:xfrm>
            <a:off x="3776472" y="4242816"/>
            <a:ext cx="2039112"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Sulit Kembali</a:t>
            </a:r>
            <a:endParaRPr lang="en-US" sz="1500" dirty="0"/>
          </a:p>
        </p:txBody>
      </p:sp>
      <p:sp>
        <p:nvSpPr>
          <p:cNvPr id="17" name="Text 13"/>
          <p:cNvSpPr txBox="1"/>
          <p:nvPr/>
        </p:nvSpPr>
        <p:spPr>
          <a:xfrm>
            <a:off x="3776472" y="4590288"/>
            <a:ext cx="2039112"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Ketika versi baru rusak, tidak ada cara aman kembali ke versi stabil.</a:t>
            </a:r>
            <a:endParaRPr lang="en-US" sz="1250" dirty="0"/>
          </a:p>
        </p:txBody>
      </p:sp>
      <p:sp>
        <p:nvSpPr>
          <p:cNvPr id="18" name="Shape 14"/>
          <p:cNvSpPr/>
          <p:nvPr/>
        </p:nvSpPr>
        <p:spPr>
          <a:xfrm>
            <a:off x="6364224" y="3310128"/>
            <a:ext cx="2587752" cy="2286000"/>
          </a:xfrm>
          <a:prstGeom prst="roundRect">
            <a:avLst>
              <a:gd name="adj" fmla="val 4000"/>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9" name="Shape 15"/>
          <p:cNvSpPr/>
          <p:nvPr/>
        </p:nvSpPr>
        <p:spPr>
          <a:xfrm>
            <a:off x="6638544" y="3584448"/>
            <a:ext cx="548640" cy="548640"/>
          </a:xfrm>
          <a:prstGeom prst="ellipse">
            <a:avLst/>
          </a:prstGeom>
          <a:solidFill>
            <a:srgbClr val="17171C"/>
          </a:solidFill>
          <a:ln w="12700">
            <a:solidFill>
              <a:srgbClr val="17171C"/>
            </a:solidFill>
            <a:prstDash val="solid"/>
          </a:ln>
        </p:spPr>
      </p:sp>
      <p:pic>
        <p:nvPicPr>
          <p:cNvPr id="20" name="Image 2" descr="preencoded.png">    </p:cNvPr>
          <p:cNvPicPr>
            <a:picLocks noChangeAspect="1"/>
          </p:cNvPicPr>
          <p:nvPr/>
        </p:nvPicPr>
        <p:blipFill>
          <a:blip r:embed="rId3"/>
          <a:stretch>
            <a:fillRect/>
          </a:stretch>
        </p:blipFill>
        <p:spPr>
          <a:xfrm>
            <a:off x="6715354" y="3661258"/>
            <a:ext cx="395021" cy="395021"/>
          </a:xfrm>
          <a:prstGeom prst="rect">
            <a:avLst/>
          </a:prstGeom>
        </p:spPr>
      </p:pic>
      <p:sp>
        <p:nvSpPr>
          <p:cNvPr id="21" name="Text 16"/>
          <p:cNvSpPr txBox="1"/>
          <p:nvPr/>
        </p:nvSpPr>
        <p:spPr>
          <a:xfrm>
            <a:off x="6638544" y="4242816"/>
            <a:ext cx="2039112"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Kolaborasi Kacau</a:t>
            </a:r>
            <a:endParaRPr lang="en-US" sz="1500" dirty="0"/>
          </a:p>
        </p:txBody>
      </p:sp>
      <p:sp>
        <p:nvSpPr>
          <p:cNvPr id="22" name="Text 17"/>
          <p:cNvSpPr txBox="1"/>
          <p:nvPr/>
        </p:nvSpPr>
        <p:spPr>
          <a:xfrm>
            <a:off x="6638544" y="4590288"/>
            <a:ext cx="2039112"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Pekerjaan tim saling menimpa karena file dikirim manual lewat chat.</a:t>
            </a:r>
            <a:endParaRPr lang="en-US" sz="1250" dirty="0"/>
          </a:p>
        </p:txBody>
      </p:sp>
      <p:sp>
        <p:nvSpPr>
          <p:cNvPr id="23" name="Shape 18"/>
          <p:cNvSpPr/>
          <p:nvPr/>
        </p:nvSpPr>
        <p:spPr>
          <a:xfrm>
            <a:off x="9226296" y="3310128"/>
            <a:ext cx="2587752" cy="2286000"/>
          </a:xfrm>
          <a:prstGeom prst="roundRect">
            <a:avLst>
              <a:gd name="adj" fmla="val 4000"/>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4" name="Shape 19"/>
          <p:cNvSpPr/>
          <p:nvPr/>
        </p:nvSpPr>
        <p:spPr>
          <a:xfrm>
            <a:off x="9500616" y="3584448"/>
            <a:ext cx="548640" cy="548640"/>
          </a:xfrm>
          <a:prstGeom prst="ellipse">
            <a:avLst/>
          </a:prstGeom>
          <a:solidFill>
            <a:srgbClr val="17171C"/>
          </a:solidFill>
          <a:ln w="12700">
            <a:solidFill>
              <a:srgbClr val="17171C"/>
            </a:solidFill>
            <a:prstDash val="solid"/>
          </a:ln>
        </p:spPr>
      </p:sp>
      <p:pic>
        <p:nvPicPr>
          <p:cNvPr id="25" name="Image 3" descr="preencoded.png">    </p:cNvPr>
          <p:cNvPicPr>
            <a:picLocks noChangeAspect="1"/>
          </p:cNvPicPr>
          <p:nvPr/>
        </p:nvPicPr>
        <p:blipFill>
          <a:blip r:embed="rId4"/>
          <a:stretch>
            <a:fillRect/>
          </a:stretch>
        </p:blipFill>
        <p:spPr>
          <a:xfrm>
            <a:off x="9577426" y="3661258"/>
            <a:ext cx="395021" cy="395021"/>
          </a:xfrm>
          <a:prstGeom prst="rect">
            <a:avLst/>
          </a:prstGeom>
        </p:spPr>
      </p:pic>
      <p:sp>
        <p:nvSpPr>
          <p:cNvPr id="26" name="Text 20"/>
          <p:cNvSpPr txBox="1"/>
          <p:nvPr/>
        </p:nvSpPr>
        <p:spPr>
          <a:xfrm>
            <a:off x="9500616" y="4242816"/>
            <a:ext cx="2039112"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Rawan Kehilangan</a:t>
            </a:r>
            <a:endParaRPr lang="en-US" sz="1500" dirty="0"/>
          </a:p>
        </p:txBody>
      </p:sp>
      <p:sp>
        <p:nvSpPr>
          <p:cNvPr id="27" name="Text 21"/>
          <p:cNvSpPr txBox="1"/>
          <p:nvPr/>
        </p:nvSpPr>
        <p:spPr>
          <a:xfrm>
            <a:off x="9500616" y="4590288"/>
            <a:ext cx="2039112"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Satu laptop rusak, seluruh riwayat dan salinan proyek ikut lenyap.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KONSEP</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Tiga Generasi Sistem Kontrol Versi</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05</a:t>
            </a:r>
            <a:endParaRPr lang="en-US" sz="1000" dirty="0"/>
          </a:p>
        </p:txBody>
      </p:sp>
      <p:sp>
        <p:nvSpPr>
          <p:cNvPr id="6" name="Shape 4"/>
          <p:cNvSpPr/>
          <p:nvPr/>
        </p:nvSpPr>
        <p:spPr>
          <a:xfrm>
            <a:off x="640080" y="1572768"/>
            <a:ext cx="3456432" cy="3246120"/>
          </a:xfrm>
          <a:prstGeom prst="roundRect">
            <a:avLst>
              <a:gd name="adj" fmla="val 281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50976" y="1883664"/>
            <a:ext cx="603504" cy="603504"/>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035467" y="1968155"/>
            <a:ext cx="434523" cy="434523"/>
          </a:xfrm>
          <a:prstGeom prst="rect">
            <a:avLst/>
          </a:prstGeom>
        </p:spPr>
      </p:pic>
      <p:sp>
        <p:nvSpPr>
          <p:cNvPr id="9" name="Text 6"/>
          <p:cNvSpPr txBox="1"/>
          <p:nvPr/>
        </p:nvSpPr>
        <p:spPr>
          <a:xfrm>
            <a:off x="950976" y="2596896"/>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Local VCS</a:t>
            </a:r>
            <a:endParaRPr lang="en-US" sz="1800" dirty="0"/>
          </a:p>
        </p:txBody>
      </p:sp>
      <p:sp>
        <p:nvSpPr>
          <p:cNvPr id="10" name="Text 7"/>
          <p:cNvSpPr txBox="1"/>
          <p:nvPr/>
        </p:nvSpPr>
        <p:spPr>
          <a:xfrm>
            <a:off x="950976" y="2980944"/>
            <a:ext cx="2834640"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Riwayat versi disimpan hanya di satu komputer, dalam basis data lokal sederhana.</a:t>
            </a:r>
            <a:endParaRPr lang="en-US" sz="1250" dirty="0"/>
          </a:p>
        </p:txBody>
      </p:sp>
      <p:sp>
        <p:nvSpPr>
          <p:cNvPr id="11" name="Text 8"/>
          <p:cNvSpPr txBox="1"/>
          <p:nvPr/>
        </p:nvSpPr>
        <p:spPr>
          <a:xfrm>
            <a:off x="950976" y="3822192"/>
            <a:ext cx="2834640" cy="274320"/>
          </a:xfrm>
          <a:prstGeom prst="rect">
            <a:avLst/>
          </a:prstGeom>
          <a:noFill/>
          <a:ln/>
        </p:spPr>
        <p:txBody>
          <a:bodyPr wrap="square" lIns="0" tIns="0" rIns="0" bIns="0" rtlCol="0" anchor="ctr"/>
          <a:lstStyle/>
          <a:p>
            <a:pPr indent="0" marL="0">
              <a:buNone/>
            </a:pPr>
            <a:r>
              <a:rPr lang="en-US" sz="1250" b="1" dirty="0">
                <a:solidFill>
                  <a:srgbClr val="17171C"/>
                </a:solidFill>
                <a:latin typeface="Calibri" pitchFamily="34" charset="0"/>
                <a:ea typeface="Calibri" pitchFamily="34" charset="-122"/>
                <a:cs typeface="Calibri" pitchFamily="34" charset="-120"/>
              </a:rPr>
              <a:t>Contoh: RCS, SCCS</a:t>
            </a:r>
            <a:endParaRPr lang="en-US" sz="1250" dirty="0"/>
          </a:p>
        </p:txBody>
      </p:sp>
      <p:sp>
        <p:nvSpPr>
          <p:cNvPr id="12" name="Text 9"/>
          <p:cNvSpPr txBox="1"/>
          <p:nvPr/>
        </p:nvSpPr>
        <p:spPr>
          <a:xfrm>
            <a:off x="950976" y="4114800"/>
            <a:ext cx="2834640" cy="566928"/>
          </a:xfrm>
          <a:prstGeom prst="rect">
            <a:avLst/>
          </a:prstGeom>
          <a:noFill/>
          <a:ln/>
        </p:spPr>
        <p:txBody>
          <a:bodyPr wrap="square" lIns="0" tIns="0" rIns="0" bIns="0" rtlCol="0" anchor="ctr"/>
          <a:lstStyle/>
          <a:p>
            <a:pPr indent="0" marL="0">
              <a:lnSpc>
                <a:spcPts val="1600"/>
              </a:lnSpc>
              <a:buNone/>
            </a:pPr>
            <a:r>
              <a:rPr lang="en-US" sz="1200" i="1" dirty="0">
                <a:solidFill>
                  <a:srgbClr val="6E6E78"/>
                </a:solidFill>
                <a:latin typeface="Calibri" pitchFamily="34" charset="0"/>
                <a:ea typeface="Calibri" pitchFamily="34" charset="-122"/>
                <a:cs typeface="Calibri" pitchFamily="34" charset="-120"/>
              </a:rPr>
              <a:t>Risiko: satu titik kegagalan, tidak bisa kolaborasi.</a:t>
            </a:r>
            <a:endParaRPr lang="en-US" sz="1200" dirty="0"/>
          </a:p>
        </p:txBody>
      </p:sp>
      <p:sp>
        <p:nvSpPr>
          <p:cNvPr id="13" name="Shape 10"/>
          <p:cNvSpPr/>
          <p:nvPr/>
        </p:nvSpPr>
        <p:spPr>
          <a:xfrm>
            <a:off x="4370832" y="1572768"/>
            <a:ext cx="3456432" cy="3246120"/>
          </a:xfrm>
          <a:prstGeom prst="roundRect">
            <a:avLst>
              <a:gd name="adj" fmla="val 281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4681728" y="1883664"/>
            <a:ext cx="603504" cy="603504"/>
          </a:xfrm>
          <a:prstGeom prst="ellipse">
            <a:avLst/>
          </a:prstGeom>
          <a:solidFill>
            <a:srgbClr val="17171C"/>
          </a:solidFill>
          <a:ln w="12700">
            <a:solidFill>
              <a:srgbClr val="17171C"/>
            </a:solidFill>
            <a:prstDash val="solid"/>
          </a:ln>
        </p:spPr>
      </p:sp>
      <p:pic>
        <p:nvPicPr>
          <p:cNvPr id="15" name="Image 1" descr="preencoded.png">    </p:cNvPr>
          <p:cNvPicPr>
            <a:picLocks noChangeAspect="1"/>
          </p:cNvPicPr>
          <p:nvPr/>
        </p:nvPicPr>
        <p:blipFill>
          <a:blip r:embed="rId2"/>
          <a:stretch>
            <a:fillRect/>
          </a:stretch>
        </p:blipFill>
        <p:spPr>
          <a:xfrm>
            <a:off x="4766219" y="1968155"/>
            <a:ext cx="434523" cy="434523"/>
          </a:xfrm>
          <a:prstGeom prst="rect">
            <a:avLst/>
          </a:prstGeom>
        </p:spPr>
      </p:pic>
      <p:sp>
        <p:nvSpPr>
          <p:cNvPr id="16" name="Text 12"/>
          <p:cNvSpPr txBox="1"/>
          <p:nvPr/>
        </p:nvSpPr>
        <p:spPr>
          <a:xfrm>
            <a:off x="4681728" y="2596896"/>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Centralized VCS</a:t>
            </a:r>
            <a:endParaRPr lang="en-US" sz="1800" dirty="0"/>
          </a:p>
        </p:txBody>
      </p:sp>
      <p:sp>
        <p:nvSpPr>
          <p:cNvPr id="17" name="Text 13"/>
          <p:cNvSpPr txBox="1"/>
          <p:nvPr/>
        </p:nvSpPr>
        <p:spPr>
          <a:xfrm>
            <a:off x="4681728" y="2980944"/>
            <a:ext cx="2834640"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Satu server pusat menyimpan seluruh riwayat; klien hanya mengambil snapshot terbaru.</a:t>
            </a:r>
            <a:endParaRPr lang="en-US" sz="1250" dirty="0"/>
          </a:p>
        </p:txBody>
      </p:sp>
      <p:sp>
        <p:nvSpPr>
          <p:cNvPr id="18" name="Text 14"/>
          <p:cNvSpPr txBox="1"/>
          <p:nvPr/>
        </p:nvSpPr>
        <p:spPr>
          <a:xfrm>
            <a:off x="4681728" y="3822192"/>
            <a:ext cx="2834640" cy="274320"/>
          </a:xfrm>
          <a:prstGeom prst="rect">
            <a:avLst/>
          </a:prstGeom>
          <a:noFill/>
          <a:ln/>
        </p:spPr>
        <p:txBody>
          <a:bodyPr wrap="square" lIns="0" tIns="0" rIns="0" bIns="0" rtlCol="0" anchor="ctr"/>
          <a:lstStyle/>
          <a:p>
            <a:pPr indent="0" marL="0">
              <a:buNone/>
            </a:pPr>
            <a:r>
              <a:rPr lang="en-US" sz="1250" b="1" dirty="0">
                <a:solidFill>
                  <a:srgbClr val="17171C"/>
                </a:solidFill>
                <a:latin typeface="Calibri" pitchFamily="34" charset="0"/>
                <a:ea typeface="Calibri" pitchFamily="34" charset="-122"/>
                <a:cs typeface="Calibri" pitchFamily="34" charset="-120"/>
              </a:rPr>
              <a:t>Contoh: CVS, Subversion (SVN)</a:t>
            </a:r>
            <a:endParaRPr lang="en-US" sz="1250" dirty="0"/>
          </a:p>
        </p:txBody>
      </p:sp>
      <p:sp>
        <p:nvSpPr>
          <p:cNvPr id="19" name="Text 15"/>
          <p:cNvSpPr txBox="1"/>
          <p:nvPr/>
        </p:nvSpPr>
        <p:spPr>
          <a:xfrm>
            <a:off x="4681728" y="4114800"/>
            <a:ext cx="2834640" cy="566928"/>
          </a:xfrm>
          <a:prstGeom prst="rect">
            <a:avLst/>
          </a:prstGeom>
          <a:noFill/>
          <a:ln/>
        </p:spPr>
        <p:txBody>
          <a:bodyPr wrap="square" lIns="0" tIns="0" rIns="0" bIns="0" rtlCol="0" anchor="ctr"/>
          <a:lstStyle/>
          <a:p>
            <a:pPr indent="0" marL="0">
              <a:lnSpc>
                <a:spcPts val="1600"/>
              </a:lnSpc>
              <a:buNone/>
            </a:pPr>
            <a:r>
              <a:rPr lang="en-US" sz="1200" i="1" dirty="0">
                <a:solidFill>
                  <a:srgbClr val="6E6E78"/>
                </a:solidFill>
                <a:latin typeface="Calibri" pitchFamily="34" charset="0"/>
                <a:ea typeface="Calibri" pitchFamily="34" charset="-122"/>
                <a:cs typeface="Calibri" pitchFamily="34" charset="-120"/>
              </a:rPr>
              <a:t>Risiko: server mati = tim berhenti bekerja.</a:t>
            </a:r>
            <a:endParaRPr lang="en-US" sz="1200" dirty="0"/>
          </a:p>
        </p:txBody>
      </p:sp>
      <p:sp>
        <p:nvSpPr>
          <p:cNvPr id="20" name="Shape 16"/>
          <p:cNvSpPr/>
          <p:nvPr/>
        </p:nvSpPr>
        <p:spPr>
          <a:xfrm>
            <a:off x="8101584" y="1572768"/>
            <a:ext cx="3456432" cy="3246120"/>
          </a:xfrm>
          <a:prstGeom prst="roundRect">
            <a:avLst>
              <a:gd name="adj" fmla="val 2817"/>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21" name="Shape 17"/>
          <p:cNvSpPr/>
          <p:nvPr/>
        </p:nvSpPr>
        <p:spPr>
          <a:xfrm>
            <a:off x="8412480" y="1883664"/>
            <a:ext cx="603504" cy="603504"/>
          </a:xfrm>
          <a:prstGeom prst="ellipse">
            <a:avLst/>
          </a:prstGeom>
          <a:solidFill>
            <a:srgbClr val="F05032"/>
          </a:solidFill>
          <a:ln w="12700">
            <a:solidFill>
              <a:srgbClr val="F05032"/>
            </a:solidFill>
            <a:prstDash val="solid"/>
          </a:ln>
        </p:spPr>
      </p:sp>
      <p:pic>
        <p:nvPicPr>
          <p:cNvPr id="22" name="Image 2" descr="preencoded.png">    </p:cNvPr>
          <p:cNvPicPr>
            <a:picLocks noChangeAspect="1"/>
          </p:cNvPicPr>
          <p:nvPr/>
        </p:nvPicPr>
        <p:blipFill>
          <a:blip r:embed="rId3"/>
          <a:stretch>
            <a:fillRect/>
          </a:stretch>
        </p:blipFill>
        <p:spPr>
          <a:xfrm>
            <a:off x="8496971" y="1968155"/>
            <a:ext cx="434523" cy="434523"/>
          </a:xfrm>
          <a:prstGeom prst="rect">
            <a:avLst/>
          </a:prstGeom>
        </p:spPr>
      </p:pic>
      <p:sp>
        <p:nvSpPr>
          <p:cNvPr id="23" name="Text 18"/>
          <p:cNvSpPr txBox="1"/>
          <p:nvPr/>
        </p:nvSpPr>
        <p:spPr>
          <a:xfrm>
            <a:off x="8412480" y="2596896"/>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Distributed VCS</a:t>
            </a:r>
            <a:endParaRPr lang="en-US" sz="1800" dirty="0"/>
          </a:p>
        </p:txBody>
      </p:sp>
      <p:sp>
        <p:nvSpPr>
          <p:cNvPr id="24" name="Text 19"/>
          <p:cNvSpPr txBox="1"/>
          <p:nvPr/>
        </p:nvSpPr>
        <p:spPr>
          <a:xfrm>
            <a:off x="8412480" y="2980944"/>
            <a:ext cx="2834640" cy="86868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Setiap klien meng-clone repositori lengkap beserta seluruh riwayatnya secara utuh.</a:t>
            </a:r>
            <a:endParaRPr lang="en-US" sz="1250" dirty="0"/>
          </a:p>
        </p:txBody>
      </p:sp>
      <p:sp>
        <p:nvSpPr>
          <p:cNvPr id="25" name="Text 20"/>
          <p:cNvSpPr txBox="1"/>
          <p:nvPr/>
        </p:nvSpPr>
        <p:spPr>
          <a:xfrm>
            <a:off x="8412480" y="3822192"/>
            <a:ext cx="2834640" cy="274320"/>
          </a:xfrm>
          <a:prstGeom prst="rect">
            <a:avLst/>
          </a:prstGeom>
          <a:noFill/>
          <a:ln/>
        </p:spPr>
        <p:txBody>
          <a:bodyPr wrap="square" lIns="0" tIns="0" rIns="0" bIns="0" rtlCol="0" anchor="ctr"/>
          <a:lstStyle/>
          <a:p>
            <a:pPr indent="0" marL="0">
              <a:buNone/>
            </a:pPr>
            <a:r>
              <a:rPr lang="en-US" sz="1250" b="1" dirty="0">
                <a:solidFill>
                  <a:srgbClr val="C63C22"/>
                </a:solidFill>
                <a:latin typeface="Calibri" pitchFamily="34" charset="0"/>
                <a:ea typeface="Calibri" pitchFamily="34" charset="-122"/>
                <a:cs typeface="Calibri" pitchFamily="34" charset="-120"/>
              </a:rPr>
              <a:t>Contoh: Git, Mercurial</a:t>
            </a:r>
            <a:endParaRPr lang="en-US" sz="1250" dirty="0"/>
          </a:p>
        </p:txBody>
      </p:sp>
      <p:sp>
        <p:nvSpPr>
          <p:cNvPr id="26" name="Text 21"/>
          <p:cNvSpPr txBox="1"/>
          <p:nvPr/>
        </p:nvSpPr>
        <p:spPr>
          <a:xfrm>
            <a:off x="8412480" y="4114800"/>
            <a:ext cx="2834640" cy="566928"/>
          </a:xfrm>
          <a:prstGeom prst="rect">
            <a:avLst/>
          </a:prstGeom>
          <a:noFill/>
          <a:ln/>
        </p:spPr>
        <p:txBody>
          <a:bodyPr wrap="square" lIns="0" tIns="0" rIns="0" bIns="0" rtlCol="0" anchor="ctr"/>
          <a:lstStyle/>
          <a:p>
            <a:pPr indent="0" marL="0">
              <a:lnSpc>
                <a:spcPts val="1600"/>
              </a:lnSpc>
              <a:buNone/>
            </a:pPr>
            <a:r>
              <a:rPr lang="en-US" sz="1200" i="1" dirty="0">
                <a:solidFill>
                  <a:srgbClr val="6E6E78"/>
                </a:solidFill>
                <a:latin typeface="Calibri" pitchFamily="34" charset="0"/>
                <a:ea typeface="Calibri" pitchFamily="34" charset="-122"/>
                <a:cs typeface="Calibri" pitchFamily="34" charset="-120"/>
              </a:rPr>
              <a:t>Keunggulan: bisa offline, cadangan otomatis di tiap anggota.</a:t>
            </a:r>
            <a:endParaRPr lang="en-US" sz="1200" dirty="0"/>
          </a:p>
        </p:txBody>
      </p:sp>
      <p:sp>
        <p:nvSpPr>
          <p:cNvPr id="27" name="Shape 22"/>
          <p:cNvSpPr/>
          <p:nvPr/>
        </p:nvSpPr>
        <p:spPr>
          <a:xfrm>
            <a:off x="640080" y="5029200"/>
            <a:ext cx="10908792" cy="914400"/>
          </a:xfrm>
          <a:prstGeom prst="roundRect">
            <a:avLst>
              <a:gd name="adj" fmla="val 10000"/>
            </a:avLst>
          </a:prstGeom>
          <a:solidFill>
            <a:srgbClr val="17171C"/>
          </a:solidFill>
          <a:ln w="12700">
            <a:solidFill>
              <a:srgbClr val="17171C"/>
            </a:solidFill>
            <a:prstDash val="solid"/>
          </a:ln>
          <a:effectLst>
            <a:outerShdw sx="100000" sy="100000" kx="0" ky="0" algn="bl" rotWithShape="0" blurRad="127000" dist="25400" dir="5400000">
              <a:srgbClr val="9A9086">
                <a:alpha val="18000"/>
              </a:srgbClr>
            </a:outerShdw>
          </a:effectLst>
        </p:spPr>
      </p:sp>
      <p:sp>
        <p:nvSpPr>
          <p:cNvPr id="28" name="Shape 23"/>
          <p:cNvSpPr/>
          <p:nvPr/>
        </p:nvSpPr>
        <p:spPr>
          <a:xfrm>
            <a:off x="932688" y="5230368"/>
            <a:ext cx="512064" cy="512064"/>
          </a:xfrm>
          <a:prstGeom prst="ellipse">
            <a:avLst/>
          </a:prstGeom>
          <a:solidFill>
            <a:srgbClr val="F05032"/>
          </a:solidFill>
          <a:ln w="12700">
            <a:solidFill>
              <a:srgbClr val="F05032"/>
            </a:solidFill>
            <a:prstDash val="solid"/>
          </a:ln>
        </p:spPr>
      </p:sp>
      <p:pic>
        <p:nvPicPr>
          <p:cNvPr id="29" name="Image 3" descr="preencoded.png">    </p:cNvPr>
          <p:cNvPicPr>
            <a:picLocks noChangeAspect="1"/>
          </p:cNvPicPr>
          <p:nvPr/>
        </p:nvPicPr>
        <p:blipFill>
          <a:blip r:embed="rId4"/>
          <a:stretch>
            <a:fillRect/>
          </a:stretch>
        </p:blipFill>
        <p:spPr>
          <a:xfrm>
            <a:off x="1004377" y="5302057"/>
            <a:ext cx="368686" cy="368686"/>
          </a:xfrm>
          <a:prstGeom prst="rect">
            <a:avLst/>
          </a:prstGeom>
        </p:spPr>
      </p:pic>
      <p:sp>
        <p:nvSpPr>
          <p:cNvPr id="30" name="Text 24"/>
          <p:cNvSpPr txBox="1"/>
          <p:nvPr/>
        </p:nvSpPr>
        <p:spPr>
          <a:xfrm>
            <a:off x="1600200" y="5138928"/>
            <a:ext cx="9601200" cy="694944"/>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Git termasuk Distributed VCS. </a:t>
            </a:r>
            <a:pPr indent="0" marL="0">
              <a:lnSpc>
                <a:spcPts val="1800"/>
              </a:lnSpc>
              <a:buNone/>
            </a:pPr>
            <a:r>
              <a:rPr lang="en-US" sz="1350" dirty="0">
                <a:solidFill>
                  <a:srgbClr val="B6B6C2"/>
                </a:solidFill>
                <a:latin typeface="Calibri" pitchFamily="34" charset="0"/>
                <a:ea typeface="Calibri" pitchFamily="34" charset="-122"/>
                <a:cs typeface="Calibri" pitchFamily="34" charset="-120"/>
              </a:rPr>
              <a:t>Artinya salinan repositori di laptop Anda sama lengkapnya dengan yang ada di server — termasuk seluruh riwayat commit sejak hari pertama.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PENGENALAN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Apa Itu Git dan Dari Mana Asalnya?</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06</a:t>
            </a:r>
            <a:endParaRPr lang="en-US" sz="1000" dirty="0"/>
          </a:p>
        </p:txBody>
      </p:sp>
      <p:sp>
        <p:nvSpPr>
          <p:cNvPr id="6" name="Shape 4"/>
          <p:cNvSpPr/>
          <p:nvPr/>
        </p:nvSpPr>
        <p:spPr>
          <a:xfrm>
            <a:off x="640080" y="1572768"/>
            <a:ext cx="5760720" cy="2286000"/>
          </a:xfrm>
          <a:prstGeom prst="roundRect">
            <a:avLst>
              <a:gd name="adj" fmla="val 4000"/>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pic>
        <p:nvPicPr>
          <p:cNvPr id="7" name="Image 0" descr="preencoded.png">    </p:cNvPr>
          <p:cNvPicPr>
            <a:picLocks noChangeAspect="1"/>
          </p:cNvPicPr>
          <p:nvPr/>
        </p:nvPicPr>
        <p:blipFill>
          <a:blip r:embed="rId1"/>
          <a:stretch>
            <a:fillRect/>
          </a:stretch>
        </p:blipFill>
        <p:spPr>
          <a:xfrm>
            <a:off x="950976" y="1810512"/>
            <a:ext cx="566928" cy="566928"/>
          </a:xfrm>
          <a:prstGeom prst="rect">
            <a:avLst/>
          </a:prstGeom>
        </p:spPr>
      </p:pic>
      <p:sp>
        <p:nvSpPr>
          <p:cNvPr id="8" name="Text 5"/>
          <p:cNvSpPr txBox="1"/>
          <p:nvPr/>
        </p:nvSpPr>
        <p:spPr>
          <a:xfrm>
            <a:off x="1645920" y="1883664"/>
            <a:ext cx="3657600" cy="274320"/>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Definisi</a:t>
            </a:r>
            <a:endParaRPr lang="en-US" sz="1600" dirty="0"/>
          </a:p>
        </p:txBody>
      </p:sp>
      <p:sp>
        <p:nvSpPr>
          <p:cNvPr id="9" name="Text 6"/>
          <p:cNvSpPr txBox="1"/>
          <p:nvPr/>
        </p:nvSpPr>
        <p:spPr>
          <a:xfrm>
            <a:off x="950976" y="2542032"/>
            <a:ext cx="5138928" cy="1188720"/>
          </a:xfrm>
          <a:prstGeom prst="rect">
            <a:avLst/>
          </a:prstGeom>
          <a:noFill/>
          <a:ln/>
        </p:spPr>
        <p:txBody>
          <a:bodyPr wrap="square" lIns="0" tIns="0" rIns="0" bIns="0" rtlCol="0" anchor="ctr"/>
          <a:lstStyle/>
          <a:p>
            <a:pPr indent="0" marL="0">
              <a:lnSpc>
                <a:spcPts val="2000"/>
              </a:lnSpc>
              <a:buNone/>
            </a:pPr>
            <a:r>
              <a:rPr lang="en-US" sz="1350" dirty="0">
                <a:solidFill>
                  <a:srgbClr val="4A4A55"/>
                </a:solidFill>
                <a:latin typeface="Calibri" pitchFamily="34" charset="0"/>
                <a:ea typeface="Calibri" pitchFamily="34" charset="-122"/>
                <a:cs typeface="Calibri" pitchFamily="34" charset="-120"/>
              </a:rPr>
              <a:t>Git adalah sistem kontrol versi terdistribusi (DVCS) yang mencatat setiap perubahan pada kumpulan berkas, sehingga Anda dapat menelusuri riwayat, membandingkan versi, kembali ke kondisi sebelumnya, dan bekerja paralel bersama tim tanpa saling menimpa pekerjaan.</a:t>
            </a:r>
            <a:endParaRPr lang="en-US" sz="1350" dirty="0"/>
          </a:p>
        </p:txBody>
      </p:sp>
      <p:sp>
        <p:nvSpPr>
          <p:cNvPr id="10" name="Shape 7"/>
          <p:cNvSpPr/>
          <p:nvPr/>
        </p:nvSpPr>
        <p:spPr>
          <a:xfrm>
            <a:off x="640080" y="4041648"/>
            <a:ext cx="1801368" cy="1234440"/>
          </a:xfrm>
          <a:prstGeom prst="roundRect">
            <a:avLst>
              <a:gd name="adj" fmla="val 740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1" name="Text 8"/>
          <p:cNvSpPr txBox="1"/>
          <p:nvPr/>
        </p:nvSpPr>
        <p:spPr>
          <a:xfrm>
            <a:off x="777240" y="4206240"/>
            <a:ext cx="1527048" cy="502920"/>
          </a:xfrm>
          <a:prstGeom prst="rect">
            <a:avLst/>
          </a:prstGeom>
          <a:noFill/>
          <a:ln/>
        </p:spPr>
        <p:txBody>
          <a:bodyPr wrap="square" lIns="0" tIns="0" rIns="0" bIns="0" rtlCol="0" anchor="ctr"/>
          <a:lstStyle/>
          <a:p>
            <a:pPr algn="ctr" indent="0" marL="0">
              <a:buNone/>
            </a:pPr>
            <a:r>
              <a:rPr lang="en-US" sz="2500" b="1" dirty="0">
                <a:solidFill>
                  <a:srgbClr val="F05032"/>
                </a:solidFill>
                <a:latin typeface="Arial" pitchFamily="34" charset="0"/>
                <a:ea typeface="Arial" pitchFamily="34" charset="-122"/>
                <a:cs typeface="Arial" pitchFamily="34" charset="-120"/>
              </a:rPr>
              <a:t>2005</a:t>
            </a:r>
            <a:endParaRPr lang="en-US" sz="2500" dirty="0"/>
          </a:p>
        </p:txBody>
      </p:sp>
      <p:sp>
        <p:nvSpPr>
          <p:cNvPr id="12" name="Text 9"/>
          <p:cNvSpPr txBox="1"/>
          <p:nvPr/>
        </p:nvSpPr>
        <p:spPr>
          <a:xfrm>
            <a:off x="749808" y="4736592"/>
            <a:ext cx="1581912" cy="411480"/>
          </a:xfrm>
          <a:prstGeom prst="rect">
            <a:avLst/>
          </a:prstGeom>
          <a:noFill/>
          <a:ln/>
        </p:spPr>
        <p:txBody>
          <a:bodyPr wrap="square" lIns="0" tIns="0" rIns="0" bIns="0" rtlCol="0" anchor="ctr"/>
          <a:lstStyle/>
          <a:p>
            <a:pPr algn="ctr" indent="0" marL="0">
              <a:lnSpc>
                <a:spcPts val="1400"/>
              </a:lnSpc>
              <a:buNone/>
            </a:pPr>
            <a:r>
              <a:rPr lang="en-US" sz="1150" dirty="0">
                <a:solidFill>
                  <a:srgbClr val="6E6E78"/>
                </a:solidFill>
                <a:latin typeface="Calibri" pitchFamily="34" charset="0"/>
                <a:ea typeface="Calibri" pitchFamily="34" charset="-122"/>
                <a:cs typeface="Calibri" pitchFamily="34" charset="-120"/>
              </a:rPr>
              <a:t>Tahun rilis pertama</a:t>
            </a:r>
            <a:endParaRPr lang="en-US" sz="1150" dirty="0"/>
          </a:p>
        </p:txBody>
      </p:sp>
      <p:sp>
        <p:nvSpPr>
          <p:cNvPr id="13" name="Shape 10"/>
          <p:cNvSpPr/>
          <p:nvPr/>
        </p:nvSpPr>
        <p:spPr>
          <a:xfrm>
            <a:off x="2624328" y="4041648"/>
            <a:ext cx="1801368" cy="1234440"/>
          </a:xfrm>
          <a:prstGeom prst="roundRect">
            <a:avLst>
              <a:gd name="adj" fmla="val 740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Text 11"/>
          <p:cNvSpPr txBox="1"/>
          <p:nvPr/>
        </p:nvSpPr>
        <p:spPr>
          <a:xfrm>
            <a:off x="2761488" y="4206240"/>
            <a:ext cx="1527048" cy="502920"/>
          </a:xfrm>
          <a:prstGeom prst="rect">
            <a:avLst/>
          </a:prstGeom>
          <a:noFill/>
          <a:ln/>
        </p:spPr>
        <p:txBody>
          <a:bodyPr wrap="square" lIns="0" tIns="0" rIns="0" bIns="0" rtlCol="0" anchor="ctr"/>
          <a:lstStyle/>
          <a:p>
            <a:pPr algn="ctr" indent="0" marL="0">
              <a:buNone/>
            </a:pPr>
            <a:r>
              <a:rPr lang="en-US" sz="2500" b="1" dirty="0">
                <a:solidFill>
                  <a:srgbClr val="F05032"/>
                </a:solidFill>
                <a:latin typeface="Arial" pitchFamily="34" charset="0"/>
                <a:ea typeface="Arial" pitchFamily="34" charset="-122"/>
                <a:cs typeface="Arial" pitchFamily="34" charset="-120"/>
              </a:rPr>
              <a:t>GPL-2.0</a:t>
            </a:r>
            <a:endParaRPr lang="en-US" sz="2500" dirty="0"/>
          </a:p>
        </p:txBody>
      </p:sp>
      <p:sp>
        <p:nvSpPr>
          <p:cNvPr id="15" name="Text 12"/>
          <p:cNvSpPr txBox="1"/>
          <p:nvPr/>
        </p:nvSpPr>
        <p:spPr>
          <a:xfrm>
            <a:off x="2734056" y="4736592"/>
            <a:ext cx="1581912" cy="411480"/>
          </a:xfrm>
          <a:prstGeom prst="rect">
            <a:avLst/>
          </a:prstGeom>
          <a:noFill/>
          <a:ln/>
        </p:spPr>
        <p:txBody>
          <a:bodyPr wrap="square" lIns="0" tIns="0" rIns="0" bIns="0" rtlCol="0" anchor="ctr"/>
          <a:lstStyle/>
          <a:p>
            <a:pPr algn="ctr" indent="0" marL="0">
              <a:lnSpc>
                <a:spcPts val="1400"/>
              </a:lnSpc>
              <a:buNone/>
            </a:pPr>
            <a:r>
              <a:rPr lang="en-US" sz="1150" dirty="0">
                <a:solidFill>
                  <a:srgbClr val="6E6E78"/>
                </a:solidFill>
                <a:latin typeface="Calibri" pitchFamily="34" charset="0"/>
                <a:ea typeface="Calibri" pitchFamily="34" charset="-122"/>
                <a:cs typeface="Calibri" pitchFamily="34" charset="-120"/>
              </a:rPr>
              <a:t>Lisensi open source</a:t>
            </a:r>
            <a:endParaRPr lang="en-US" sz="1150" dirty="0"/>
          </a:p>
        </p:txBody>
      </p:sp>
      <p:sp>
        <p:nvSpPr>
          <p:cNvPr id="16" name="Shape 13"/>
          <p:cNvSpPr/>
          <p:nvPr/>
        </p:nvSpPr>
        <p:spPr>
          <a:xfrm>
            <a:off x="4608576" y="4041648"/>
            <a:ext cx="1801368" cy="1234440"/>
          </a:xfrm>
          <a:prstGeom prst="roundRect">
            <a:avLst>
              <a:gd name="adj" fmla="val 740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7" name="Text 14"/>
          <p:cNvSpPr txBox="1"/>
          <p:nvPr/>
        </p:nvSpPr>
        <p:spPr>
          <a:xfrm>
            <a:off x="4745736" y="4206240"/>
            <a:ext cx="1527048" cy="502920"/>
          </a:xfrm>
          <a:prstGeom prst="rect">
            <a:avLst/>
          </a:prstGeom>
          <a:noFill/>
          <a:ln/>
        </p:spPr>
        <p:txBody>
          <a:bodyPr wrap="square" lIns="0" tIns="0" rIns="0" bIns="0" rtlCol="0" anchor="ctr"/>
          <a:lstStyle/>
          <a:p>
            <a:pPr algn="ctr" indent="0" marL="0">
              <a:buNone/>
            </a:pPr>
            <a:r>
              <a:rPr lang="en-US" sz="2500" b="1" dirty="0">
                <a:solidFill>
                  <a:srgbClr val="F05032"/>
                </a:solidFill>
                <a:latin typeface="Arial" pitchFamily="34" charset="0"/>
                <a:ea typeface="Arial" pitchFamily="34" charset="-122"/>
                <a:cs typeface="Arial" pitchFamily="34" charset="-120"/>
              </a:rPr>
              <a:t>±95%</a:t>
            </a:r>
            <a:endParaRPr lang="en-US" sz="2500" dirty="0"/>
          </a:p>
        </p:txBody>
      </p:sp>
      <p:sp>
        <p:nvSpPr>
          <p:cNvPr id="18" name="Text 15"/>
          <p:cNvSpPr txBox="1"/>
          <p:nvPr/>
        </p:nvSpPr>
        <p:spPr>
          <a:xfrm>
            <a:off x="4718304" y="4736592"/>
            <a:ext cx="1581912" cy="411480"/>
          </a:xfrm>
          <a:prstGeom prst="rect">
            <a:avLst/>
          </a:prstGeom>
          <a:noFill/>
          <a:ln/>
        </p:spPr>
        <p:txBody>
          <a:bodyPr wrap="square" lIns="0" tIns="0" rIns="0" bIns="0" rtlCol="0" anchor="ctr"/>
          <a:lstStyle/>
          <a:p>
            <a:pPr algn="ctr" indent="0" marL="0">
              <a:lnSpc>
                <a:spcPts val="1400"/>
              </a:lnSpc>
              <a:buNone/>
            </a:pPr>
            <a:r>
              <a:rPr lang="en-US" sz="1150" dirty="0">
                <a:solidFill>
                  <a:srgbClr val="6E6E78"/>
                </a:solidFill>
                <a:latin typeface="Calibri" pitchFamily="34" charset="0"/>
                <a:ea typeface="Calibri" pitchFamily="34" charset="-122"/>
                <a:cs typeface="Calibri" pitchFamily="34" charset="-120"/>
              </a:rPr>
              <a:t>Pangsa pakai VCS global</a:t>
            </a:r>
            <a:endParaRPr lang="en-US" sz="1150" dirty="0"/>
          </a:p>
        </p:txBody>
      </p:sp>
      <p:sp>
        <p:nvSpPr>
          <p:cNvPr id="19" name="Shape 16"/>
          <p:cNvSpPr/>
          <p:nvPr/>
        </p:nvSpPr>
        <p:spPr>
          <a:xfrm>
            <a:off x="6858000" y="1572768"/>
            <a:ext cx="4690872" cy="3703320"/>
          </a:xfrm>
          <a:prstGeom prst="roundRect">
            <a:avLst>
              <a:gd name="adj" fmla="val 2469"/>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0" name="Text 17"/>
          <p:cNvSpPr txBox="1"/>
          <p:nvPr/>
        </p:nvSpPr>
        <p:spPr>
          <a:xfrm>
            <a:off x="7168896" y="1773936"/>
            <a:ext cx="4023360"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Garis Waktu Singkat</a:t>
            </a:r>
            <a:endParaRPr lang="en-US" sz="1600" dirty="0"/>
          </a:p>
        </p:txBody>
      </p:sp>
      <p:sp>
        <p:nvSpPr>
          <p:cNvPr id="21" name="Shape 18"/>
          <p:cNvSpPr/>
          <p:nvPr/>
        </p:nvSpPr>
        <p:spPr>
          <a:xfrm>
            <a:off x="7333488" y="2331720"/>
            <a:ext cx="0" cy="2606040"/>
          </a:xfrm>
          <a:prstGeom prst="line">
            <a:avLst/>
          </a:prstGeom>
          <a:noFill/>
          <a:ln w="25400">
            <a:solidFill>
              <a:srgbClr val="E4E0DD"/>
            </a:solidFill>
            <a:prstDash val="solid"/>
          </a:ln>
        </p:spPr>
      </p:sp>
      <p:sp>
        <p:nvSpPr>
          <p:cNvPr id="22" name="Shape 19"/>
          <p:cNvSpPr/>
          <p:nvPr/>
        </p:nvSpPr>
        <p:spPr>
          <a:xfrm>
            <a:off x="7205472" y="2295144"/>
            <a:ext cx="256032" cy="256032"/>
          </a:xfrm>
          <a:prstGeom prst="ellipse">
            <a:avLst/>
          </a:prstGeom>
          <a:solidFill>
            <a:srgbClr val="17171C"/>
          </a:solidFill>
          <a:ln w="25400">
            <a:solidFill>
              <a:srgbClr val="FFFFFF"/>
            </a:solidFill>
            <a:prstDash val="solid"/>
          </a:ln>
        </p:spPr>
      </p:sp>
      <p:sp>
        <p:nvSpPr>
          <p:cNvPr id="23" name="Text 20"/>
          <p:cNvSpPr txBox="1"/>
          <p:nvPr/>
        </p:nvSpPr>
        <p:spPr>
          <a:xfrm>
            <a:off x="7644384" y="2240280"/>
            <a:ext cx="3749040" cy="237744"/>
          </a:xfrm>
          <a:prstGeom prst="rect">
            <a:avLst/>
          </a:prstGeom>
          <a:noFill/>
          <a:ln/>
        </p:spPr>
        <p:txBody>
          <a:bodyPr wrap="square" lIns="0" tIns="0" rIns="0" bIns="0" rtlCol="0" anchor="ctr"/>
          <a:lstStyle/>
          <a:p>
            <a:pPr indent="0" marL="0">
              <a:buNone/>
            </a:pPr>
            <a:r>
              <a:rPr lang="en-US" sz="1250" b="1" dirty="0">
                <a:solidFill>
                  <a:srgbClr val="17171C"/>
                </a:solidFill>
                <a:latin typeface="Calibri" pitchFamily="34" charset="0"/>
                <a:ea typeface="Calibri" pitchFamily="34" charset="-122"/>
                <a:cs typeface="Calibri" pitchFamily="34" charset="-120"/>
              </a:rPr>
              <a:t>April 2005</a:t>
            </a:r>
            <a:endParaRPr lang="en-US" sz="1250" dirty="0"/>
          </a:p>
        </p:txBody>
      </p:sp>
      <p:sp>
        <p:nvSpPr>
          <p:cNvPr id="24" name="Text 21"/>
          <p:cNvSpPr txBox="1"/>
          <p:nvPr/>
        </p:nvSpPr>
        <p:spPr>
          <a:xfrm>
            <a:off x="7644384" y="2478024"/>
            <a:ext cx="3703320" cy="50292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Linus Torvalds membuat Git setelah komunitas Linux kehilangan akses gratis ke BitKeeper.</a:t>
            </a:r>
            <a:endParaRPr lang="en-US" sz="1150" dirty="0"/>
          </a:p>
        </p:txBody>
      </p:sp>
      <p:sp>
        <p:nvSpPr>
          <p:cNvPr id="25" name="Shape 22"/>
          <p:cNvSpPr/>
          <p:nvPr/>
        </p:nvSpPr>
        <p:spPr>
          <a:xfrm>
            <a:off x="7205472" y="3044952"/>
            <a:ext cx="256032" cy="256032"/>
          </a:xfrm>
          <a:prstGeom prst="ellipse">
            <a:avLst/>
          </a:prstGeom>
          <a:solidFill>
            <a:srgbClr val="17171C"/>
          </a:solidFill>
          <a:ln w="25400">
            <a:solidFill>
              <a:srgbClr val="FFFFFF"/>
            </a:solidFill>
            <a:prstDash val="solid"/>
          </a:ln>
        </p:spPr>
      </p:sp>
      <p:sp>
        <p:nvSpPr>
          <p:cNvPr id="26" name="Text 23"/>
          <p:cNvSpPr txBox="1"/>
          <p:nvPr/>
        </p:nvSpPr>
        <p:spPr>
          <a:xfrm>
            <a:off x="7644384" y="2990088"/>
            <a:ext cx="3749040" cy="237744"/>
          </a:xfrm>
          <a:prstGeom prst="rect">
            <a:avLst/>
          </a:prstGeom>
          <a:noFill/>
          <a:ln/>
        </p:spPr>
        <p:txBody>
          <a:bodyPr wrap="square" lIns="0" tIns="0" rIns="0" bIns="0" rtlCol="0" anchor="ctr"/>
          <a:lstStyle/>
          <a:p>
            <a:pPr indent="0" marL="0">
              <a:buNone/>
            </a:pPr>
            <a:r>
              <a:rPr lang="en-US" sz="1250" b="1" dirty="0">
                <a:solidFill>
                  <a:srgbClr val="17171C"/>
                </a:solidFill>
                <a:latin typeface="Calibri" pitchFamily="34" charset="0"/>
                <a:ea typeface="Calibri" pitchFamily="34" charset="-122"/>
                <a:cs typeface="Calibri" pitchFamily="34" charset="-120"/>
              </a:rPr>
              <a:t>Juni 2005</a:t>
            </a:r>
            <a:endParaRPr lang="en-US" sz="1250" dirty="0"/>
          </a:p>
        </p:txBody>
      </p:sp>
      <p:sp>
        <p:nvSpPr>
          <p:cNvPr id="27" name="Text 24"/>
          <p:cNvSpPr txBox="1"/>
          <p:nvPr/>
        </p:nvSpPr>
        <p:spPr>
          <a:xfrm>
            <a:off x="7644384" y="3227832"/>
            <a:ext cx="3703320" cy="50292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Git dipakai untuk mengelola source code kernel Linux itu sendiri.</a:t>
            </a:r>
            <a:endParaRPr lang="en-US" sz="1150" dirty="0"/>
          </a:p>
        </p:txBody>
      </p:sp>
      <p:sp>
        <p:nvSpPr>
          <p:cNvPr id="28" name="Shape 25"/>
          <p:cNvSpPr/>
          <p:nvPr/>
        </p:nvSpPr>
        <p:spPr>
          <a:xfrm>
            <a:off x="7205472" y="3794760"/>
            <a:ext cx="256032" cy="256032"/>
          </a:xfrm>
          <a:prstGeom prst="ellipse">
            <a:avLst/>
          </a:prstGeom>
          <a:solidFill>
            <a:srgbClr val="17171C"/>
          </a:solidFill>
          <a:ln w="25400">
            <a:solidFill>
              <a:srgbClr val="FFFFFF"/>
            </a:solidFill>
            <a:prstDash val="solid"/>
          </a:ln>
        </p:spPr>
      </p:sp>
      <p:sp>
        <p:nvSpPr>
          <p:cNvPr id="29" name="Text 26"/>
          <p:cNvSpPr txBox="1"/>
          <p:nvPr/>
        </p:nvSpPr>
        <p:spPr>
          <a:xfrm>
            <a:off x="7644384" y="3739896"/>
            <a:ext cx="3749040" cy="237744"/>
          </a:xfrm>
          <a:prstGeom prst="rect">
            <a:avLst/>
          </a:prstGeom>
          <a:noFill/>
          <a:ln/>
        </p:spPr>
        <p:txBody>
          <a:bodyPr wrap="square" lIns="0" tIns="0" rIns="0" bIns="0" rtlCol="0" anchor="ctr"/>
          <a:lstStyle/>
          <a:p>
            <a:pPr indent="0" marL="0">
              <a:buNone/>
            </a:pPr>
            <a:r>
              <a:rPr lang="en-US" sz="1250" b="1" dirty="0">
                <a:solidFill>
                  <a:srgbClr val="17171C"/>
                </a:solidFill>
                <a:latin typeface="Calibri" pitchFamily="34" charset="0"/>
                <a:ea typeface="Calibri" pitchFamily="34" charset="-122"/>
                <a:cs typeface="Calibri" pitchFamily="34" charset="-120"/>
              </a:rPr>
              <a:t>Juli 2005</a:t>
            </a:r>
            <a:endParaRPr lang="en-US" sz="1250" dirty="0"/>
          </a:p>
        </p:txBody>
      </p:sp>
      <p:sp>
        <p:nvSpPr>
          <p:cNvPr id="30" name="Text 27"/>
          <p:cNvSpPr txBox="1"/>
          <p:nvPr/>
        </p:nvSpPr>
        <p:spPr>
          <a:xfrm>
            <a:off x="7644384" y="3977640"/>
            <a:ext cx="3703320" cy="50292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Junio C. Hamano ditunjuk sebagai pemelihara utama proyek Git.</a:t>
            </a:r>
            <a:endParaRPr lang="en-US" sz="1150" dirty="0"/>
          </a:p>
        </p:txBody>
      </p:sp>
      <p:sp>
        <p:nvSpPr>
          <p:cNvPr id="31" name="Shape 28"/>
          <p:cNvSpPr/>
          <p:nvPr/>
        </p:nvSpPr>
        <p:spPr>
          <a:xfrm>
            <a:off x="7205472" y="4544568"/>
            <a:ext cx="256032" cy="256032"/>
          </a:xfrm>
          <a:prstGeom prst="ellipse">
            <a:avLst/>
          </a:prstGeom>
          <a:solidFill>
            <a:srgbClr val="F05032"/>
          </a:solidFill>
          <a:ln w="25400">
            <a:solidFill>
              <a:srgbClr val="FFFFFF"/>
            </a:solidFill>
            <a:prstDash val="solid"/>
          </a:ln>
        </p:spPr>
      </p:sp>
      <p:sp>
        <p:nvSpPr>
          <p:cNvPr id="32" name="Text 29"/>
          <p:cNvSpPr txBox="1"/>
          <p:nvPr/>
        </p:nvSpPr>
        <p:spPr>
          <a:xfrm>
            <a:off x="7644384" y="4489704"/>
            <a:ext cx="3749040" cy="237744"/>
          </a:xfrm>
          <a:prstGeom prst="rect">
            <a:avLst/>
          </a:prstGeom>
          <a:noFill/>
          <a:ln/>
        </p:spPr>
        <p:txBody>
          <a:bodyPr wrap="square" lIns="0" tIns="0" rIns="0" bIns="0" rtlCol="0" anchor="ctr"/>
          <a:lstStyle/>
          <a:p>
            <a:pPr indent="0" marL="0">
              <a:buNone/>
            </a:pPr>
            <a:r>
              <a:rPr lang="en-US" sz="1250" b="1" dirty="0">
                <a:solidFill>
                  <a:srgbClr val="F05032"/>
                </a:solidFill>
                <a:latin typeface="Calibri" pitchFamily="34" charset="0"/>
                <a:ea typeface="Calibri" pitchFamily="34" charset="-122"/>
                <a:cs typeface="Calibri" pitchFamily="34" charset="-120"/>
              </a:rPr>
              <a:t>Kini</a:t>
            </a:r>
            <a:endParaRPr lang="en-US" sz="1250" dirty="0"/>
          </a:p>
        </p:txBody>
      </p:sp>
      <p:sp>
        <p:nvSpPr>
          <p:cNvPr id="33" name="Text 30"/>
          <p:cNvSpPr txBox="1"/>
          <p:nvPr/>
        </p:nvSpPr>
        <p:spPr>
          <a:xfrm>
            <a:off x="7644384" y="4727448"/>
            <a:ext cx="3703320" cy="50292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Menjadi standar de facto industri perangkat lunak dan tulang punggung GitHub, GitLab, serta Bitbucket.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KEUNGGULAN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Mengapa Git Menjadi Standar Industri</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07</a:t>
            </a:r>
            <a:endParaRPr lang="en-US" sz="1000" dirty="0"/>
          </a:p>
        </p:txBody>
      </p:sp>
      <p:sp>
        <p:nvSpPr>
          <p:cNvPr id="6" name="Shape 4"/>
          <p:cNvSpPr/>
          <p:nvPr/>
        </p:nvSpPr>
        <p:spPr>
          <a:xfrm>
            <a:off x="640080" y="1600200"/>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32688" y="1892808"/>
            <a:ext cx="566928" cy="566928"/>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1012058" y="1972178"/>
            <a:ext cx="408188" cy="408188"/>
          </a:xfrm>
          <a:prstGeom prst="rect">
            <a:avLst/>
          </a:prstGeom>
        </p:spPr>
      </p:pic>
      <p:sp>
        <p:nvSpPr>
          <p:cNvPr id="9" name="Text 6"/>
          <p:cNvSpPr txBox="1"/>
          <p:nvPr/>
        </p:nvSpPr>
        <p:spPr>
          <a:xfrm>
            <a:off x="932688" y="2569464"/>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Sangat Cepat</a:t>
            </a:r>
            <a:endParaRPr lang="en-US" sz="1600" dirty="0"/>
          </a:p>
        </p:txBody>
      </p:sp>
      <p:sp>
        <p:nvSpPr>
          <p:cNvPr id="10" name="Text 7"/>
          <p:cNvSpPr txBox="1"/>
          <p:nvPr/>
        </p:nvSpPr>
        <p:spPr>
          <a:xfrm>
            <a:off x="932688" y="2916936"/>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Hampir semua operasi dijalankan lokal, tanpa menunggu jaringan.</a:t>
            </a:r>
            <a:endParaRPr lang="en-US" sz="1250" dirty="0"/>
          </a:p>
        </p:txBody>
      </p:sp>
      <p:sp>
        <p:nvSpPr>
          <p:cNvPr id="11" name="Shape 8"/>
          <p:cNvSpPr/>
          <p:nvPr/>
        </p:nvSpPr>
        <p:spPr>
          <a:xfrm>
            <a:off x="4370832" y="1600200"/>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2" name="Shape 9"/>
          <p:cNvSpPr/>
          <p:nvPr/>
        </p:nvSpPr>
        <p:spPr>
          <a:xfrm>
            <a:off x="4663440" y="1892808"/>
            <a:ext cx="566928" cy="566928"/>
          </a:xfrm>
          <a:prstGeom prst="ellipse">
            <a:avLst/>
          </a:prstGeom>
          <a:solidFill>
            <a:srgbClr val="F05032"/>
          </a:solidFill>
          <a:ln w="12700">
            <a:solidFill>
              <a:srgbClr val="F05032"/>
            </a:solidFill>
            <a:prstDash val="solid"/>
          </a:ln>
        </p:spPr>
      </p:sp>
      <p:pic>
        <p:nvPicPr>
          <p:cNvPr id="13" name="Image 1" descr="preencoded.png">    </p:cNvPr>
          <p:cNvPicPr>
            <a:picLocks noChangeAspect="1"/>
          </p:cNvPicPr>
          <p:nvPr/>
        </p:nvPicPr>
        <p:blipFill>
          <a:blip r:embed="rId2"/>
          <a:stretch>
            <a:fillRect/>
          </a:stretch>
        </p:blipFill>
        <p:spPr>
          <a:xfrm>
            <a:off x="4742810" y="1972178"/>
            <a:ext cx="408188" cy="408188"/>
          </a:xfrm>
          <a:prstGeom prst="rect">
            <a:avLst/>
          </a:prstGeom>
        </p:spPr>
      </p:pic>
      <p:sp>
        <p:nvSpPr>
          <p:cNvPr id="14" name="Text 10"/>
          <p:cNvSpPr txBox="1"/>
          <p:nvPr/>
        </p:nvSpPr>
        <p:spPr>
          <a:xfrm>
            <a:off x="4663440" y="2569464"/>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Terdistribusi</a:t>
            </a:r>
            <a:endParaRPr lang="en-US" sz="1600" dirty="0"/>
          </a:p>
        </p:txBody>
      </p:sp>
      <p:sp>
        <p:nvSpPr>
          <p:cNvPr id="15" name="Text 11"/>
          <p:cNvSpPr txBox="1"/>
          <p:nvPr/>
        </p:nvSpPr>
        <p:spPr>
          <a:xfrm>
            <a:off x="4663440" y="2916936"/>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Setiap clone adalah cadangan penuh dengan riwayat lengkap.</a:t>
            </a:r>
            <a:endParaRPr lang="en-US" sz="1250" dirty="0"/>
          </a:p>
        </p:txBody>
      </p:sp>
      <p:sp>
        <p:nvSpPr>
          <p:cNvPr id="16" name="Shape 12"/>
          <p:cNvSpPr/>
          <p:nvPr/>
        </p:nvSpPr>
        <p:spPr>
          <a:xfrm>
            <a:off x="8101584" y="1600200"/>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7" name="Shape 13"/>
          <p:cNvSpPr/>
          <p:nvPr/>
        </p:nvSpPr>
        <p:spPr>
          <a:xfrm>
            <a:off x="8394192" y="1892808"/>
            <a:ext cx="566928" cy="566928"/>
          </a:xfrm>
          <a:prstGeom prst="ellipse">
            <a:avLst/>
          </a:prstGeom>
          <a:solidFill>
            <a:srgbClr val="F05032"/>
          </a:solidFill>
          <a:ln w="12700">
            <a:solidFill>
              <a:srgbClr val="F05032"/>
            </a:solidFill>
            <a:prstDash val="solid"/>
          </a:ln>
        </p:spPr>
      </p:sp>
      <p:pic>
        <p:nvPicPr>
          <p:cNvPr id="18" name="Image 2" descr="preencoded.png">    </p:cNvPr>
          <p:cNvPicPr>
            <a:picLocks noChangeAspect="1"/>
          </p:cNvPicPr>
          <p:nvPr/>
        </p:nvPicPr>
        <p:blipFill>
          <a:blip r:embed="rId3"/>
          <a:stretch>
            <a:fillRect/>
          </a:stretch>
        </p:blipFill>
        <p:spPr>
          <a:xfrm>
            <a:off x="8473562" y="1972178"/>
            <a:ext cx="408188" cy="408188"/>
          </a:xfrm>
          <a:prstGeom prst="rect">
            <a:avLst/>
          </a:prstGeom>
        </p:spPr>
      </p:pic>
      <p:sp>
        <p:nvSpPr>
          <p:cNvPr id="19" name="Text 14"/>
          <p:cNvSpPr txBox="1"/>
          <p:nvPr/>
        </p:nvSpPr>
        <p:spPr>
          <a:xfrm>
            <a:off x="8394192" y="2569464"/>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Branching Ringan</a:t>
            </a:r>
            <a:endParaRPr lang="en-US" sz="1600" dirty="0"/>
          </a:p>
        </p:txBody>
      </p:sp>
      <p:sp>
        <p:nvSpPr>
          <p:cNvPr id="20" name="Text 15"/>
          <p:cNvSpPr txBox="1"/>
          <p:nvPr/>
        </p:nvSpPr>
        <p:spPr>
          <a:xfrm>
            <a:off x="8394192" y="2916936"/>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Membuat cabang hanya butuh hitungan milidetik dan sangat murah.</a:t>
            </a:r>
            <a:endParaRPr lang="en-US" sz="1250" dirty="0"/>
          </a:p>
        </p:txBody>
      </p:sp>
      <p:sp>
        <p:nvSpPr>
          <p:cNvPr id="21" name="Shape 16"/>
          <p:cNvSpPr/>
          <p:nvPr/>
        </p:nvSpPr>
        <p:spPr>
          <a:xfrm>
            <a:off x="640080" y="3959352"/>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2" name="Shape 17"/>
          <p:cNvSpPr/>
          <p:nvPr/>
        </p:nvSpPr>
        <p:spPr>
          <a:xfrm>
            <a:off x="932688" y="4251960"/>
            <a:ext cx="566928" cy="566928"/>
          </a:xfrm>
          <a:prstGeom prst="ellipse">
            <a:avLst/>
          </a:prstGeom>
          <a:solidFill>
            <a:srgbClr val="17171C"/>
          </a:solidFill>
          <a:ln w="12700">
            <a:solidFill>
              <a:srgbClr val="17171C"/>
            </a:solidFill>
            <a:prstDash val="solid"/>
          </a:ln>
        </p:spPr>
      </p:sp>
      <p:pic>
        <p:nvPicPr>
          <p:cNvPr id="23" name="Image 3" descr="preencoded.png">    </p:cNvPr>
          <p:cNvPicPr>
            <a:picLocks noChangeAspect="1"/>
          </p:cNvPicPr>
          <p:nvPr/>
        </p:nvPicPr>
        <p:blipFill>
          <a:blip r:embed="rId4"/>
          <a:stretch>
            <a:fillRect/>
          </a:stretch>
        </p:blipFill>
        <p:spPr>
          <a:xfrm>
            <a:off x="1012058" y="4331330"/>
            <a:ext cx="408188" cy="408188"/>
          </a:xfrm>
          <a:prstGeom prst="rect">
            <a:avLst/>
          </a:prstGeom>
        </p:spPr>
      </p:pic>
      <p:sp>
        <p:nvSpPr>
          <p:cNvPr id="24" name="Text 18"/>
          <p:cNvSpPr txBox="1"/>
          <p:nvPr/>
        </p:nvSpPr>
        <p:spPr>
          <a:xfrm>
            <a:off x="932688" y="4928616"/>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Integritas Data</a:t>
            </a:r>
            <a:endParaRPr lang="en-US" sz="1600" dirty="0"/>
          </a:p>
        </p:txBody>
      </p:sp>
      <p:sp>
        <p:nvSpPr>
          <p:cNvPr id="25" name="Text 19"/>
          <p:cNvSpPr txBox="1"/>
          <p:nvPr/>
        </p:nvSpPr>
        <p:spPr>
          <a:xfrm>
            <a:off x="932688" y="5276088"/>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Setiap objek diberi checksum SHA-1; perubahan diam-diam mustahil.</a:t>
            </a:r>
            <a:endParaRPr lang="en-US" sz="1250" dirty="0"/>
          </a:p>
        </p:txBody>
      </p:sp>
      <p:sp>
        <p:nvSpPr>
          <p:cNvPr id="26" name="Shape 20"/>
          <p:cNvSpPr/>
          <p:nvPr/>
        </p:nvSpPr>
        <p:spPr>
          <a:xfrm>
            <a:off x="4370832" y="3959352"/>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7" name="Shape 21"/>
          <p:cNvSpPr/>
          <p:nvPr/>
        </p:nvSpPr>
        <p:spPr>
          <a:xfrm>
            <a:off x="4663440" y="4251960"/>
            <a:ext cx="566928" cy="566928"/>
          </a:xfrm>
          <a:prstGeom prst="ellipse">
            <a:avLst/>
          </a:prstGeom>
          <a:solidFill>
            <a:srgbClr val="17171C"/>
          </a:solidFill>
          <a:ln w="12700">
            <a:solidFill>
              <a:srgbClr val="17171C"/>
            </a:solidFill>
            <a:prstDash val="solid"/>
          </a:ln>
        </p:spPr>
      </p:sp>
      <p:pic>
        <p:nvPicPr>
          <p:cNvPr id="28" name="Image 4" descr="preencoded.png">    </p:cNvPr>
          <p:cNvPicPr>
            <a:picLocks noChangeAspect="1"/>
          </p:cNvPicPr>
          <p:nvPr/>
        </p:nvPicPr>
        <p:blipFill>
          <a:blip r:embed="rId5"/>
          <a:stretch>
            <a:fillRect/>
          </a:stretch>
        </p:blipFill>
        <p:spPr>
          <a:xfrm>
            <a:off x="4742810" y="4331330"/>
            <a:ext cx="408188" cy="408188"/>
          </a:xfrm>
          <a:prstGeom prst="rect">
            <a:avLst/>
          </a:prstGeom>
        </p:spPr>
      </p:pic>
      <p:sp>
        <p:nvSpPr>
          <p:cNvPr id="29" name="Text 22"/>
          <p:cNvSpPr txBox="1"/>
          <p:nvPr/>
        </p:nvSpPr>
        <p:spPr>
          <a:xfrm>
            <a:off x="4663440" y="4928616"/>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Bisa Offline</a:t>
            </a:r>
            <a:endParaRPr lang="en-US" sz="1600" dirty="0"/>
          </a:p>
        </p:txBody>
      </p:sp>
      <p:sp>
        <p:nvSpPr>
          <p:cNvPr id="30" name="Text 23"/>
          <p:cNvSpPr txBox="1"/>
          <p:nvPr/>
        </p:nvSpPr>
        <p:spPr>
          <a:xfrm>
            <a:off x="4663440" y="5276088"/>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Commit, lihat riwayat, dan berpindah cabang tanpa koneksi internet.</a:t>
            </a:r>
            <a:endParaRPr lang="en-US" sz="1250" dirty="0"/>
          </a:p>
        </p:txBody>
      </p:sp>
      <p:sp>
        <p:nvSpPr>
          <p:cNvPr id="31" name="Shape 24"/>
          <p:cNvSpPr/>
          <p:nvPr/>
        </p:nvSpPr>
        <p:spPr>
          <a:xfrm>
            <a:off x="8101584" y="3959352"/>
            <a:ext cx="3456432" cy="2084832"/>
          </a:xfrm>
          <a:prstGeom prst="roundRect">
            <a:avLst>
              <a:gd name="adj" fmla="val 438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32" name="Shape 25"/>
          <p:cNvSpPr/>
          <p:nvPr/>
        </p:nvSpPr>
        <p:spPr>
          <a:xfrm>
            <a:off x="8394192" y="4251960"/>
            <a:ext cx="566928" cy="566928"/>
          </a:xfrm>
          <a:prstGeom prst="ellipse">
            <a:avLst/>
          </a:prstGeom>
          <a:solidFill>
            <a:srgbClr val="17171C"/>
          </a:solidFill>
          <a:ln w="12700">
            <a:solidFill>
              <a:srgbClr val="17171C"/>
            </a:solidFill>
            <a:prstDash val="solid"/>
          </a:ln>
        </p:spPr>
      </p:sp>
      <p:pic>
        <p:nvPicPr>
          <p:cNvPr id="33" name="Image 5" descr="preencoded.png">    </p:cNvPr>
          <p:cNvPicPr>
            <a:picLocks noChangeAspect="1"/>
          </p:cNvPicPr>
          <p:nvPr/>
        </p:nvPicPr>
        <p:blipFill>
          <a:blip r:embed="rId6"/>
          <a:stretch>
            <a:fillRect/>
          </a:stretch>
        </p:blipFill>
        <p:spPr>
          <a:xfrm>
            <a:off x="8473562" y="4331330"/>
            <a:ext cx="408188" cy="408188"/>
          </a:xfrm>
          <a:prstGeom prst="rect">
            <a:avLst/>
          </a:prstGeom>
        </p:spPr>
      </p:pic>
      <p:sp>
        <p:nvSpPr>
          <p:cNvPr id="34" name="Text 26"/>
          <p:cNvSpPr txBox="1"/>
          <p:nvPr/>
        </p:nvSpPr>
        <p:spPr>
          <a:xfrm>
            <a:off x="8394192" y="4928616"/>
            <a:ext cx="2871216"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Ekosistem Luas</a:t>
            </a:r>
            <a:endParaRPr lang="en-US" sz="1600" dirty="0"/>
          </a:p>
        </p:txBody>
      </p:sp>
      <p:sp>
        <p:nvSpPr>
          <p:cNvPr id="35" name="Text 27"/>
          <p:cNvSpPr txBox="1"/>
          <p:nvPr/>
        </p:nvSpPr>
        <p:spPr>
          <a:xfrm>
            <a:off x="8394192" y="5276088"/>
            <a:ext cx="2871216" cy="658368"/>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Didukung penuh oleh CI/CD, IDE, serta platform hosting populer.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PERSIAPAN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Instalasi Git di Berbagai Sistem Operasi</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08</a:t>
            </a:r>
            <a:endParaRPr lang="en-US" sz="1000" dirty="0"/>
          </a:p>
        </p:txBody>
      </p:sp>
      <p:sp>
        <p:nvSpPr>
          <p:cNvPr id="6" name="Shape 4"/>
          <p:cNvSpPr/>
          <p:nvPr/>
        </p:nvSpPr>
        <p:spPr>
          <a:xfrm>
            <a:off x="640080" y="1572768"/>
            <a:ext cx="3456432" cy="2834640"/>
          </a:xfrm>
          <a:prstGeom prst="roundRect">
            <a:avLst>
              <a:gd name="adj" fmla="val 322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50976" y="1865376"/>
            <a:ext cx="585216" cy="585216"/>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032906" y="1947306"/>
            <a:ext cx="421356" cy="421356"/>
          </a:xfrm>
          <a:prstGeom prst="rect">
            <a:avLst/>
          </a:prstGeom>
        </p:spPr>
      </p:pic>
      <p:sp>
        <p:nvSpPr>
          <p:cNvPr id="9" name="Text 6"/>
          <p:cNvSpPr txBox="1"/>
          <p:nvPr/>
        </p:nvSpPr>
        <p:spPr>
          <a:xfrm>
            <a:off x="1645920" y="1938528"/>
            <a:ext cx="2286000" cy="411480"/>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Windows</a:t>
            </a:r>
            <a:endParaRPr lang="en-US" sz="1800" dirty="0"/>
          </a:p>
        </p:txBody>
      </p:sp>
      <p:sp>
        <p:nvSpPr>
          <p:cNvPr id="10" name="Text 7"/>
          <p:cNvSpPr txBox="1"/>
          <p:nvPr/>
        </p:nvSpPr>
        <p:spPr>
          <a:xfrm>
            <a:off x="950976" y="2633472"/>
            <a:ext cx="2834640" cy="96012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Unduh Git for Windows dari git-scm.com, lalu jalankan installer. Paket ini menyertakan Git Bash sebagai terminal.</a:t>
            </a:r>
            <a:endParaRPr lang="en-US" sz="1250" dirty="0"/>
          </a:p>
        </p:txBody>
      </p:sp>
      <p:sp>
        <p:nvSpPr>
          <p:cNvPr id="11" name="Shape 8"/>
          <p:cNvSpPr/>
          <p:nvPr/>
        </p:nvSpPr>
        <p:spPr>
          <a:xfrm>
            <a:off x="950976" y="3621024"/>
            <a:ext cx="2834640" cy="603504"/>
          </a:xfrm>
          <a:prstGeom prst="roundRect">
            <a:avLst>
              <a:gd name="adj" fmla="val 12121"/>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2" name="Text 9"/>
          <p:cNvSpPr txBox="1"/>
          <p:nvPr/>
        </p:nvSpPr>
        <p:spPr>
          <a:xfrm>
            <a:off x="1207008" y="3803904"/>
            <a:ext cx="2377440" cy="237744"/>
          </a:xfrm>
          <a:prstGeom prst="rect">
            <a:avLst/>
          </a:prstGeom>
          <a:noFill/>
          <a:ln/>
        </p:spPr>
        <p:txBody>
          <a:bodyPr wrap="square" lIns="0" tIns="0" rIns="0" bIns="0" rtlCol="0" anchor="t"/>
          <a:lstStyle/>
          <a:p>
            <a:pPr indent="0" marL="0">
              <a:lnSpc>
                <a:spcPts val="20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E9E7E4"/>
                </a:solidFill>
                <a:latin typeface="Courier New" pitchFamily="34" charset="0"/>
                <a:ea typeface="Courier New" pitchFamily="34" charset="-122"/>
                <a:cs typeface="Courier New" pitchFamily="34" charset="-120"/>
              </a:rPr>
              <a:t>winget install Git.Git</a:t>
            </a:r>
            <a:endParaRPr lang="en-US" sz="1150" dirty="0"/>
          </a:p>
        </p:txBody>
      </p:sp>
      <p:sp>
        <p:nvSpPr>
          <p:cNvPr id="13" name="Shape 10"/>
          <p:cNvSpPr/>
          <p:nvPr/>
        </p:nvSpPr>
        <p:spPr>
          <a:xfrm>
            <a:off x="4370832" y="1572768"/>
            <a:ext cx="3456432" cy="2834640"/>
          </a:xfrm>
          <a:prstGeom prst="roundRect">
            <a:avLst>
              <a:gd name="adj" fmla="val 322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4681728" y="1865376"/>
            <a:ext cx="585216" cy="585216"/>
          </a:xfrm>
          <a:prstGeom prst="ellipse">
            <a:avLst/>
          </a:prstGeom>
          <a:solidFill>
            <a:srgbClr val="17171C"/>
          </a:solidFill>
          <a:ln w="12700">
            <a:solidFill>
              <a:srgbClr val="17171C"/>
            </a:solidFill>
            <a:prstDash val="solid"/>
          </a:ln>
        </p:spPr>
      </p:sp>
      <p:pic>
        <p:nvPicPr>
          <p:cNvPr id="15" name="Image 1" descr="preencoded.png">    </p:cNvPr>
          <p:cNvPicPr>
            <a:picLocks noChangeAspect="1"/>
          </p:cNvPicPr>
          <p:nvPr/>
        </p:nvPicPr>
        <p:blipFill>
          <a:blip r:embed="rId2"/>
          <a:stretch>
            <a:fillRect/>
          </a:stretch>
        </p:blipFill>
        <p:spPr>
          <a:xfrm>
            <a:off x="4763658" y="1947306"/>
            <a:ext cx="421356" cy="421356"/>
          </a:xfrm>
          <a:prstGeom prst="rect">
            <a:avLst/>
          </a:prstGeom>
        </p:spPr>
      </p:pic>
      <p:sp>
        <p:nvSpPr>
          <p:cNvPr id="16" name="Text 12"/>
          <p:cNvSpPr txBox="1"/>
          <p:nvPr/>
        </p:nvSpPr>
        <p:spPr>
          <a:xfrm>
            <a:off x="5376672" y="1938528"/>
            <a:ext cx="2286000" cy="411480"/>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macOS</a:t>
            </a:r>
            <a:endParaRPr lang="en-US" sz="1800" dirty="0"/>
          </a:p>
        </p:txBody>
      </p:sp>
      <p:sp>
        <p:nvSpPr>
          <p:cNvPr id="17" name="Text 13"/>
          <p:cNvSpPr txBox="1"/>
          <p:nvPr/>
        </p:nvSpPr>
        <p:spPr>
          <a:xfrm>
            <a:off x="4681728" y="2633472"/>
            <a:ext cx="2834640" cy="96012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Cara tercepat melalui Homebrew. Alternatif lain: Xcode Command Line Tools atau installer resmi.</a:t>
            </a:r>
            <a:endParaRPr lang="en-US" sz="1250" dirty="0"/>
          </a:p>
        </p:txBody>
      </p:sp>
      <p:sp>
        <p:nvSpPr>
          <p:cNvPr id="18" name="Shape 14"/>
          <p:cNvSpPr/>
          <p:nvPr/>
        </p:nvSpPr>
        <p:spPr>
          <a:xfrm>
            <a:off x="4681728" y="3621024"/>
            <a:ext cx="2834640" cy="603504"/>
          </a:xfrm>
          <a:prstGeom prst="roundRect">
            <a:avLst>
              <a:gd name="adj" fmla="val 12121"/>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9" name="Text 15"/>
          <p:cNvSpPr txBox="1"/>
          <p:nvPr/>
        </p:nvSpPr>
        <p:spPr>
          <a:xfrm>
            <a:off x="4937760" y="3803904"/>
            <a:ext cx="2377440" cy="237744"/>
          </a:xfrm>
          <a:prstGeom prst="rect">
            <a:avLst/>
          </a:prstGeom>
          <a:noFill/>
          <a:ln/>
        </p:spPr>
        <p:txBody>
          <a:bodyPr wrap="square" lIns="0" tIns="0" rIns="0" bIns="0" rtlCol="0" anchor="t"/>
          <a:lstStyle/>
          <a:p>
            <a:pPr indent="0" marL="0">
              <a:lnSpc>
                <a:spcPts val="20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E9E7E4"/>
                </a:solidFill>
                <a:latin typeface="Courier New" pitchFamily="34" charset="0"/>
                <a:ea typeface="Courier New" pitchFamily="34" charset="-122"/>
                <a:cs typeface="Courier New" pitchFamily="34" charset="-120"/>
              </a:rPr>
              <a:t>brew install git</a:t>
            </a:r>
            <a:endParaRPr lang="en-US" sz="1150" dirty="0"/>
          </a:p>
        </p:txBody>
      </p:sp>
      <p:sp>
        <p:nvSpPr>
          <p:cNvPr id="20" name="Shape 16"/>
          <p:cNvSpPr/>
          <p:nvPr/>
        </p:nvSpPr>
        <p:spPr>
          <a:xfrm>
            <a:off x="8101584" y="1572768"/>
            <a:ext cx="3456432" cy="2834640"/>
          </a:xfrm>
          <a:prstGeom prst="roundRect">
            <a:avLst>
              <a:gd name="adj" fmla="val 322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1" name="Shape 17"/>
          <p:cNvSpPr/>
          <p:nvPr/>
        </p:nvSpPr>
        <p:spPr>
          <a:xfrm>
            <a:off x="8412480" y="1865376"/>
            <a:ext cx="585216" cy="585216"/>
          </a:xfrm>
          <a:prstGeom prst="ellipse">
            <a:avLst/>
          </a:prstGeom>
          <a:solidFill>
            <a:srgbClr val="17171C"/>
          </a:solidFill>
          <a:ln w="12700">
            <a:solidFill>
              <a:srgbClr val="17171C"/>
            </a:solidFill>
            <a:prstDash val="solid"/>
          </a:ln>
        </p:spPr>
      </p:sp>
      <p:pic>
        <p:nvPicPr>
          <p:cNvPr id="22" name="Image 2" descr="preencoded.png">    </p:cNvPr>
          <p:cNvPicPr>
            <a:picLocks noChangeAspect="1"/>
          </p:cNvPicPr>
          <p:nvPr/>
        </p:nvPicPr>
        <p:blipFill>
          <a:blip r:embed="rId3"/>
          <a:stretch>
            <a:fillRect/>
          </a:stretch>
        </p:blipFill>
        <p:spPr>
          <a:xfrm>
            <a:off x="8494410" y="1947306"/>
            <a:ext cx="421356" cy="421356"/>
          </a:xfrm>
          <a:prstGeom prst="rect">
            <a:avLst/>
          </a:prstGeom>
        </p:spPr>
      </p:pic>
      <p:sp>
        <p:nvSpPr>
          <p:cNvPr id="23" name="Text 18"/>
          <p:cNvSpPr txBox="1"/>
          <p:nvPr/>
        </p:nvSpPr>
        <p:spPr>
          <a:xfrm>
            <a:off x="9107424" y="1938528"/>
            <a:ext cx="2286000" cy="411480"/>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Linux</a:t>
            </a:r>
            <a:endParaRPr lang="en-US" sz="1800" dirty="0"/>
          </a:p>
        </p:txBody>
      </p:sp>
      <p:sp>
        <p:nvSpPr>
          <p:cNvPr id="24" name="Text 19"/>
          <p:cNvSpPr txBox="1"/>
          <p:nvPr/>
        </p:nvSpPr>
        <p:spPr>
          <a:xfrm>
            <a:off x="8412480" y="2633472"/>
            <a:ext cx="2834640" cy="96012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Gunakan package manager bawaan distribusi. Contoh berikut untuk Debian/Ubuntu.</a:t>
            </a:r>
            <a:endParaRPr lang="en-US" sz="1250" dirty="0"/>
          </a:p>
        </p:txBody>
      </p:sp>
      <p:sp>
        <p:nvSpPr>
          <p:cNvPr id="25" name="Shape 20"/>
          <p:cNvSpPr/>
          <p:nvPr/>
        </p:nvSpPr>
        <p:spPr>
          <a:xfrm>
            <a:off x="8412480" y="3621024"/>
            <a:ext cx="2834640" cy="603504"/>
          </a:xfrm>
          <a:prstGeom prst="roundRect">
            <a:avLst>
              <a:gd name="adj" fmla="val 12121"/>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6" name="Text 21"/>
          <p:cNvSpPr txBox="1"/>
          <p:nvPr/>
        </p:nvSpPr>
        <p:spPr>
          <a:xfrm>
            <a:off x="8668512" y="3803904"/>
            <a:ext cx="2377440" cy="237744"/>
          </a:xfrm>
          <a:prstGeom prst="rect">
            <a:avLst/>
          </a:prstGeom>
          <a:noFill/>
          <a:ln/>
        </p:spPr>
        <p:txBody>
          <a:bodyPr wrap="square" lIns="0" tIns="0" rIns="0" bIns="0" rtlCol="0" anchor="t"/>
          <a:lstStyle/>
          <a:p>
            <a:pPr indent="0" marL="0">
              <a:lnSpc>
                <a:spcPts val="20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E9E7E4"/>
                </a:solidFill>
                <a:latin typeface="Courier New" pitchFamily="34" charset="0"/>
                <a:ea typeface="Courier New" pitchFamily="34" charset="-122"/>
                <a:cs typeface="Courier New" pitchFamily="34" charset="-120"/>
              </a:rPr>
              <a:t>sudo apt install git</a:t>
            </a:r>
            <a:endParaRPr lang="en-US" sz="1150" dirty="0"/>
          </a:p>
        </p:txBody>
      </p:sp>
      <p:sp>
        <p:nvSpPr>
          <p:cNvPr id="27" name="Shape 22"/>
          <p:cNvSpPr/>
          <p:nvPr/>
        </p:nvSpPr>
        <p:spPr>
          <a:xfrm>
            <a:off x="640080" y="4617720"/>
            <a:ext cx="10908792" cy="1325880"/>
          </a:xfrm>
          <a:prstGeom prst="roundRect">
            <a:avLst>
              <a:gd name="adj" fmla="val 6897"/>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28" name="Text 23"/>
          <p:cNvSpPr txBox="1"/>
          <p:nvPr/>
        </p:nvSpPr>
        <p:spPr>
          <a:xfrm>
            <a:off x="950976" y="4773168"/>
            <a:ext cx="3657600" cy="274320"/>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Verifikasi Instalasi</a:t>
            </a:r>
            <a:endParaRPr lang="en-US" sz="1500" dirty="0"/>
          </a:p>
        </p:txBody>
      </p:sp>
      <p:sp>
        <p:nvSpPr>
          <p:cNvPr id="29" name="Text 24"/>
          <p:cNvSpPr txBox="1"/>
          <p:nvPr/>
        </p:nvSpPr>
        <p:spPr>
          <a:xfrm>
            <a:off x="950976" y="5074920"/>
            <a:ext cx="4937760"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Buka terminal (atau Git Bash) lalu jalankan perintah di samping. Bila muncul nomor versi, Git siap digunakan.</a:t>
            </a:r>
            <a:endParaRPr lang="en-US" sz="1250" dirty="0"/>
          </a:p>
        </p:txBody>
      </p:sp>
      <p:sp>
        <p:nvSpPr>
          <p:cNvPr id="30" name="Shape 25"/>
          <p:cNvSpPr/>
          <p:nvPr/>
        </p:nvSpPr>
        <p:spPr>
          <a:xfrm>
            <a:off x="5989320" y="4828032"/>
            <a:ext cx="5394960" cy="896112"/>
          </a:xfrm>
          <a:prstGeom prst="roundRect">
            <a:avLst>
              <a:gd name="adj" fmla="val 8163"/>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31" name="Text 26"/>
          <p:cNvSpPr txBox="1"/>
          <p:nvPr/>
        </p:nvSpPr>
        <p:spPr>
          <a:xfrm>
            <a:off x="6245352" y="5010912"/>
            <a:ext cx="4937760" cy="530352"/>
          </a:xfrm>
          <a:prstGeom prst="rect">
            <a:avLst/>
          </a:prstGeom>
          <a:noFill/>
          <a:ln/>
        </p:spPr>
        <p:txBody>
          <a:bodyPr wrap="square" lIns="0" tIns="0" rIns="0" bIns="0" rtlCol="0" anchor="t"/>
          <a:lstStyle/>
          <a:p>
            <a:pPr indent="0" marL="0">
              <a:lnSpc>
                <a:spcPts val="2000"/>
              </a:lnSpc>
              <a:buNone/>
            </a:pPr>
            <a:r>
              <a:rPr lang="en-US" sz="1250" dirty="0">
                <a:solidFill>
                  <a:srgbClr val="E9E7E4"/>
                </a:solidFill>
                <a:latin typeface="Courier New" pitchFamily="34" charset="0"/>
                <a:ea typeface="Courier New" pitchFamily="34" charset="-122"/>
                <a:cs typeface="Courier New" pitchFamily="34" charset="-120"/>
              </a:rPr>
              <a:t>$ git --version
</a:t>
            </a:r>
            <a:pPr indent="0" marL="0">
              <a:lnSpc>
                <a:spcPts val="2000"/>
              </a:lnSpc>
              <a:buNone/>
            </a:pPr>
            <a:r>
              <a:rPr lang="en-US" sz="1250" dirty="0">
                <a:solidFill>
                  <a:srgbClr val="7FBF8F"/>
                </a:solidFill>
                <a:latin typeface="Courier New" pitchFamily="34" charset="0"/>
                <a:ea typeface="Courier New" pitchFamily="34" charset="-122"/>
                <a:cs typeface="Courier New" pitchFamily="34" charset="-120"/>
              </a:rPr>
              <a:t>git version 2.45.2</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01 · PERSIAPAN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Konfigurasi Awal Sebelum Commit Pertama</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09</a:t>
            </a:r>
            <a:endParaRPr lang="en-US" sz="1000" dirty="0"/>
          </a:p>
        </p:txBody>
      </p:sp>
      <p:sp>
        <p:nvSpPr>
          <p:cNvPr id="6" name="Shape 4"/>
          <p:cNvSpPr/>
          <p:nvPr/>
        </p:nvSpPr>
        <p:spPr>
          <a:xfrm>
            <a:off x="640080" y="1572768"/>
            <a:ext cx="5943600" cy="4160520"/>
          </a:xfrm>
          <a:prstGeom prst="roundRect">
            <a:avLst>
              <a:gd name="adj" fmla="val 1758"/>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7" name="Text 5"/>
          <p:cNvSpPr txBox="1"/>
          <p:nvPr/>
        </p:nvSpPr>
        <p:spPr>
          <a:xfrm>
            <a:off x="896112" y="1755648"/>
            <a:ext cx="5486400" cy="3794760"/>
          </a:xfrm>
          <a:prstGeom prst="rect">
            <a:avLst/>
          </a:prstGeom>
          <a:noFill/>
          <a:ln/>
        </p:spPr>
        <p:txBody>
          <a:bodyPr wrap="square" lIns="0" tIns="0" rIns="0" bIns="0" rtlCol="0" anchor="t"/>
          <a:lstStyle/>
          <a:p>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Identitas — wajib, melekat pada setiap commit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user.name "Nama Lengkap"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user.email "email@contoh.com"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Editor default untuk menulis pesan commit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core.editor "code --wait"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Nama branch utama saat git init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init.defaultBranch main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Penanganan akhir baris (CRLF vs LF)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core.autocrlf true    # Windows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core.autocrlf input   # macOS/Linux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Alias agar perintah panjang jadi singkat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--global alias.st status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config --list                        # cek hasil</a:t>
            </a:r>
            <a:endParaRPr lang="en-US" sz="1250" dirty="0"/>
          </a:p>
        </p:txBody>
      </p:sp>
      <p:sp>
        <p:nvSpPr>
          <p:cNvPr id="8" name="Shape 6"/>
          <p:cNvSpPr/>
          <p:nvPr/>
        </p:nvSpPr>
        <p:spPr>
          <a:xfrm>
            <a:off x="6858000" y="1572768"/>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9" name="Shape 7"/>
          <p:cNvSpPr/>
          <p:nvPr/>
        </p:nvSpPr>
        <p:spPr>
          <a:xfrm>
            <a:off x="7114032" y="1865376"/>
            <a:ext cx="475488" cy="475488"/>
          </a:xfrm>
          <a:prstGeom prst="ellipse">
            <a:avLst/>
          </a:prstGeom>
          <a:solidFill>
            <a:srgbClr val="F05032"/>
          </a:solidFill>
          <a:ln w="12700">
            <a:solidFill>
              <a:srgbClr val="F05032"/>
            </a:solidFill>
            <a:prstDash val="solid"/>
          </a:ln>
        </p:spPr>
      </p:sp>
      <p:pic>
        <p:nvPicPr>
          <p:cNvPr id="10" name="Image 0" descr="preencoded.png">    </p:cNvPr>
          <p:cNvPicPr>
            <a:picLocks noChangeAspect="1"/>
          </p:cNvPicPr>
          <p:nvPr/>
        </p:nvPicPr>
        <p:blipFill>
          <a:blip r:embed="rId1"/>
          <a:stretch>
            <a:fillRect/>
          </a:stretch>
        </p:blipFill>
        <p:spPr>
          <a:xfrm>
            <a:off x="7180600" y="1931944"/>
            <a:ext cx="342351" cy="342351"/>
          </a:xfrm>
          <a:prstGeom prst="rect">
            <a:avLst/>
          </a:prstGeom>
        </p:spPr>
      </p:pic>
      <p:sp>
        <p:nvSpPr>
          <p:cNvPr id="11" name="Text 8"/>
          <p:cNvSpPr txBox="1"/>
          <p:nvPr/>
        </p:nvSpPr>
        <p:spPr>
          <a:xfrm>
            <a:off x="7717536" y="1792224"/>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Tiga Tingkat Konfigurasi</a:t>
            </a:r>
            <a:endParaRPr lang="en-US" sz="1400" dirty="0"/>
          </a:p>
        </p:txBody>
      </p:sp>
      <p:sp>
        <p:nvSpPr>
          <p:cNvPr id="12" name="Text 9"/>
          <p:cNvSpPr txBox="1"/>
          <p:nvPr/>
        </p:nvSpPr>
        <p:spPr>
          <a:xfrm>
            <a:off x="7717536" y="2075688"/>
            <a:ext cx="3657600" cy="68580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--system berlaku untuk semua pengguna, --global untuk satu pengguna, dan --local hanya untuk repositori tertentu. Yang lebih spesifik menimpa yang umum.</a:t>
            </a:r>
            <a:endParaRPr lang="en-US" sz="1150" dirty="0"/>
          </a:p>
        </p:txBody>
      </p:sp>
      <p:sp>
        <p:nvSpPr>
          <p:cNvPr id="13" name="Shape 10"/>
          <p:cNvSpPr/>
          <p:nvPr/>
        </p:nvSpPr>
        <p:spPr>
          <a:xfrm>
            <a:off x="6858000" y="3017520"/>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7114032" y="3310128"/>
            <a:ext cx="475488" cy="475488"/>
          </a:xfrm>
          <a:prstGeom prst="ellipse">
            <a:avLst/>
          </a:prstGeom>
          <a:solidFill>
            <a:srgbClr val="F05032"/>
          </a:solidFill>
          <a:ln w="12700">
            <a:solidFill>
              <a:srgbClr val="F05032"/>
            </a:solidFill>
            <a:prstDash val="solid"/>
          </a:ln>
        </p:spPr>
      </p:sp>
      <p:pic>
        <p:nvPicPr>
          <p:cNvPr id="15" name="Image 1" descr="preencoded.png">    </p:cNvPr>
          <p:cNvPicPr>
            <a:picLocks noChangeAspect="1"/>
          </p:cNvPicPr>
          <p:nvPr/>
        </p:nvPicPr>
        <p:blipFill>
          <a:blip r:embed="rId2"/>
          <a:stretch>
            <a:fillRect/>
          </a:stretch>
        </p:blipFill>
        <p:spPr>
          <a:xfrm>
            <a:off x="7180600" y="3376696"/>
            <a:ext cx="342351" cy="342351"/>
          </a:xfrm>
          <a:prstGeom prst="rect">
            <a:avLst/>
          </a:prstGeom>
        </p:spPr>
      </p:pic>
      <p:sp>
        <p:nvSpPr>
          <p:cNvPr id="16" name="Text 12"/>
          <p:cNvSpPr txBox="1"/>
          <p:nvPr/>
        </p:nvSpPr>
        <p:spPr>
          <a:xfrm>
            <a:off x="7717536" y="3236976"/>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Identitas Itu Permanen</a:t>
            </a:r>
            <a:endParaRPr lang="en-US" sz="1400" dirty="0"/>
          </a:p>
        </p:txBody>
      </p:sp>
      <p:sp>
        <p:nvSpPr>
          <p:cNvPr id="17" name="Text 13"/>
          <p:cNvSpPr txBox="1"/>
          <p:nvPr/>
        </p:nvSpPr>
        <p:spPr>
          <a:xfrm>
            <a:off x="7717536" y="3520440"/>
            <a:ext cx="3657600" cy="68580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Nama dan email tersimpan di dalam setiap commit dan ikut terkirim ke server. Gunakan data yang memang ingin Anda publikasikan.</a:t>
            </a:r>
            <a:endParaRPr lang="en-US" sz="1150" dirty="0"/>
          </a:p>
        </p:txBody>
      </p:sp>
      <p:sp>
        <p:nvSpPr>
          <p:cNvPr id="18" name="Shape 14"/>
          <p:cNvSpPr/>
          <p:nvPr/>
        </p:nvSpPr>
        <p:spPr>
          <a:xfrm>
            <a:off x="6858000" y="4462272"/>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9" name="Shape 15"/>
          <p:cNvSpPr/>
          <p:nvPr/>
        </p:nvSpPr>
        <p:spPr>
          <a:xfrm>
            <a:off x="7114032" y="4754880"/>
            <a:ext cx="475488" cy="475488"/>
          </a:xfrm>
          <a:prstGeom prst="ellipse">
            <a:avLst/>
          </a:prstGeom>
          <a:solidFill>
            <a:srgbClr val="F05032"/>
          </a:solidFill>
          <a:ln w="12700">
            <a:solidFill>
              <a:srgbClr val="F05032"/>
            </a:solidFill>
            <a:prstDash val="solid"/>
          </a:ln>
        </p:spPr>
      </p:sp>
      <p:pic>
        <p:nvPicPr>
          <p:cNvPr id="20" name="Image 2" descr="preencoded.png">    </p:cNvPr>
          <p:cNvPicPr>
            <a:picLocks noChangeAspect="1"/>
          </p:cNvPicPr>
          <p:nvPr/>
        </p:nvPicPr>
        <p:blipFill>
          <a:blip r:embed="rId3"/>
          <a:stretch>
            <a:fillRect/>
          </a:stretch>
        </p:blipFill>
        <p:spPr>
          <a:xfrm>
            <a:off x="7180600" y="4821448"/>
            <a:ext cx="342351" cy="342351"/>
          </a:xfrm>
          <a:prstGeom prst="rect">
            <a:avLst/>
          </a:prstGeom>
        </p:spPr>
      </p:pic>
      <p:sp>
        <p:nvSpPr>
          <p:cNvPr id="21" name="Text 16"/>
          <p:cNvSpPr txBox="1"/>
          <p:nvPr/>
        </p:nvSpPr>
        <p:spPr>
          <a:xfrm>
            <a:off x="7717536" y="4681728"/>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Berkas Penyimpan</a:t>
            </a:r>
            <a:endParaRPr lang="en-US" sz="1400" dirty="0"/>
          </a:p>
        </p:txBody>
      </p:sp>
      <p:sp>
        <p:nvSpPr>
          <p:cNvPr id="22" name="Text 17"/>
          <p:cNvSpPr txBox="1"/>
          <p:nvPr/>
        </p:nvSpPr>
        <p:spPr>
          <a:xfrm>
            <a:off x="7717536" y="4965192"/>
            <a:ext cx="3657600" cy="685800"/>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Konfigurasi global tersimpan di ~/.gitconfig, sedangkan konfigurasi lokal berada di .git/config pada folder proyek.</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8778240" y="1417320"/>
            <a:ext cx="4023360" cy="4023360"/>
          </a:xfrm>
          <a:prstGeom prst="ellipse">
            <a:avLst/>
          </a:prstGeom>
          <a:solidFill>
            <a:srgbClr val="F05032">
              <a:alpha val="14000"/>
            </a:srgbClr>
          </a:solidFill>
          <a:ln w="12700">
            <a:solidFill>
              <a:srgbClr val="F05032"/>
            </a:solidFill>
            <a:prstDash val="solid"/>
          </a:ln>
        </p:spPr>
      </p:sp>
      <p:sp>
        <p:nvSpPr>
          <p:cNvPr id="3" name="Shape 1"/>
          <p:cNvSpPr/>
          <p:nvPr/>
        </p:nvSpPr>
        <p:spPr>
          <a:xfrm>
            <a:off x="9601200" y="2240280"/>
            <a:ext cx="2377440" cy="2377440"/>
          </a:xfrm>
          <a:prstGeom prst="ellipse">
            <a:avLst/>
          </a:prstGeom>
          <a:solidFill>
            <a:srgbClr val="F05032"/>
          </a:solidFill>
          <a:ln w="12700">
            <a:solidFill>
              <a:srgbClr val="F05032"/>
            </a:solidFill>
            <a:prstDash val="solid"/>
          </a:ln>
        </p:spPr>
      </p:sp>
      <p:pic>
        <p:nvPicPr>
          <p:cNvPr id="4" name="Image 0" descr="preencoded.png">    </p:cNvPr>
          <p:cNvPicPr>
            <a:picLocks noChangeAspect="1"/>
          </p:cNvPicPr>
          <p:nvPr/>
        </p:nvPicPr>
        <p:blipFill>
          <a:blip r:embed="rId1"/>
          <a:stretch>
            <a:fillRect/>
          </a:stretch>
        </p:blipFill>
        <p:spPr>
          <a:xfrm>
            <a:off x="9934042" y="2573122"/>
            <a:ext cx="1711757" cy="1711757"/>
          </a:xfrm>
          <a:prstGeom prst="rect">
            <a:avLst/>
          </a:prstGeom>
        </p:spPr>
      </p:pic>
      <p:sp>
        <p:nvSpPr>
          <p:cNvPr id="5" name="Text 2"/>
          <p:cNvSpPr txBox="1"/>
          <p:nvPr/>
        </p:nvSpPr>
        <p:spPr>
          <a:xfrm>
            <a:off x="640080" y="2148840"/>
            <a:ext cx="5486400" cy="292608"/>
          </a:xfrm>
          <a:prstGeom prst="rect">
            <a:avLst/>
          </a:prstGeom>
          <a:noFill/>
          <a:ln/>
        </p:spPr>
        <p:txBody>
          <a:bodyPr wrap="square" lIns="0" tIns="0" rIns="0" bIns="0" rtlCol="0" anchor="ctr"/>
          <a:lstStyle/>
          <a:p>
            <a:pPr indent="0" marL="0">
              <a:buNone/>
            </a:pPr>
            <a:r>
              <a:rPr lang="en-US" sz="1250" b="1" spc="260" kern="0" dirty="0">
                <a:solidFill>
                  <a:srgbClr val="F05032"/>
                </a:solidFill>
                <a:latin typeface="Calibri" pitchFamily="34" charset="0"/>
                <a:ea typeface="Calibri" pitchFamily="34" charset="-122"/>
                <a:cs typeface="Calibri" pitchFamily="34" charset="-120"/>
              </a:rPr>
              <a:t>BAGIAN 02</a:t>
            </a:r>
            <a:endParaRPr lang="en-US" sz="1250" dirty="0"/>
          </a:p>
        </p:txBody>
      </p:sp>
      <p:sp>
        <p:nvSpPr>
          <p:cNvPr id="6" name="Text 3"/>
          <p:cNvSpPr txBox="1"/>
          <p:nvPr/>
        </p:nvSpPr>
        <p:spPr>
          <a:xfrm>
            <a:off x="640080" y="2514600"/>
            <a:ext cx="749808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Alur Kerja Dasar</a:t>
            </a:r>
            <a:endParaRPr lang="en-US" sz="4200" dirty="0"/>
          </a:p>
        </p:txBody>
      </p:sp>
      <p:sp>
        <p:nvSpPr>
          <p:cNvPr id="7" name="Text 4"/>
          <p:cNvSpPr txBox="1"/>
          <p:nvPr/>
        </p:nvSpPr>
        <p:spPr>
          <a:xfrm>
            <a:off x="640080" y="3474720"/>
            <a:ext cx="6949440" cy="822960"/>
          </a:xfrm>
          <a:prstGeom prst="rect">
            <a:avLst/>
          </a:prstGeom>
          <a:noFill/>
          <a:ln/>
        </p:spPr>
        <p:txBody>
          <a:bodyPr wrap="square" lIns="0" tIns="0" rIns="0" bIns="0" rtlCol="0" anchor="ctr"/>
          <a:lstStyle/>
          <a:p>
            <a:pPr indent="0" marL="0">
              <a:lnSpc>
                <a:spcPts val="2400"/>
              </a:lnSpc>
              <a:buNone/>
            </a:pPr>
            <a:r>
              <a:rPr lang="en-US" sz="1500" dirty="0">
                <a:solidFill>
                  <a:srgbClr val="A6A6B2"/>
                </a:solidFill>
                <a:latin typeface="Calibri" pitchFamily="34" charset="0"/>
                <a:ea typeface="Calibri" pitchFamily="34" charset="-122"/>
                <a:cs typeface="Calibri" pitchFamily="34" charset="-120"/>
              </a:rPr>
              <a:t>Tiga area kerja Git, objek internal, serta siklus add–commit–push yang dipakai setiap hari.</a:t>
            </a:r>
            <a:endParaRPr lang="en-US" sz="1500" dirty="0"/>
          </a:p>
        </p:txBody>
      </p:sp>
      <p:sp>
        <p:nvSpPr>
          <p:cNvPr id="8" name="Text 5"/>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9" name="Text 6"/>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ARSITEKTUR</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Empat Area Kerja dalam Git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640080" y="1664208"/>
            <a:ext cx="2468880" cy="2103120"/>
          </a:xfrm>
          <a:prstGeom prst="roundRect">
            <a:avLst>
              <a:gd name="adj" fmla="val 4348"/>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1591056" y="1883664"/>
            <a:ext cx="566928" cy="566928"/>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670426" y="1963034"/>
            <a:ext cx="408188" cy="408188"/>
          </a:xfrm>
          <a:prstGeom prst="rect">
            <a:avLst/>
          </a:prstGeom>
        </p:spPr>
      </p:pic>
      <p:sp>
        <p:nvSpPr>
          <p:cNvPr id="9" name="Text 6"/>
          <p:cNvSpPr txBox="1"/>
          <p:nvPr/>
        </p:nvSpPr>
        <p:spPr>
          <a:xfrm>
            <a:off x="804672" y="2542032"/>
            <a:ext cx="2139696" cy="566928"/>
          </a:xfrm>
          <a:prstGeom prst="rect">
            <a:avLst/>
          </a:prstGeom>
          <a:noFill/>
          <a:ln/>
        </p:spPr>
        <p:txBody>
          <a:bodyPr wrap="square" lIns="0" tIns="0" rIns="0" bIns="0" rtlCol="0" anchor="ctr"/>
          <a:lstStyle/>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Working</a:t>
            </a:r>
            <a:endParaRPr lang="en-US" sz="1500" dirty="0"/>
          </a:p>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Directory</a:t>
            </a:r>
            <a:endParaRPr lang="en-US" sz="1500" dirty="0"/>
          </a:p>
        </p:txBody>
      </p:sp>
      <p:sp>
        <p:nvSpPr>
          <p:cNvPr id="10" name="Text 7"/>
          <p:cNvSpPr txBox="1"/>
          <p:nvPr/>
        </p:nvSpPr>
        <p:spPr>
          <a:xfrm>
            <a:off x="841248" y="3127248"/>
            <a:ext cx="2066544" cy="566928"/>
          </a:xfrm>
          <a:prstGeom prst="rect">
            <a:avLst/>
          </a:prstGeom>
          <a:noFill/>
          <a:ln/>
        </p:spPr>
        <p:txBody>
          <a:bodyPr wrap="square" lIns="0" tIns="0" rIns="0" bIns="0" rtlCol="0" anchor="ctr"/>
          <a:lstStyle/>
          <a:p>
            <a:pPr algn="ctr" indent="0" marL="0">
              <a:lnSpc>
                <a:spcPts val="1500"/>
              </a:lnSpc>
              <a:buNone/>
            </a:pPr>
            <a:r>
              <a:rPr lang="en-US" sz="1150" dirty="0">
                <a:solidFill>
                  <a:srgbClr val="6E6E78"/>
                </a:solidFill>
                <a:latin typeface="Calibri" pitchFamily="34" charset="0"/>
                <a:ea typeface="Calibri" pitchFamily="34" charset="-122"/>
                <a:cs typeface="Calibri" pitchFamily="34" charset="-120"/>
              </a:rPr>
              <a:t>Folder proyek tempat Anda benar-benar mengedit berkas.</a:t>
            </a:r>
            <a:endParaRPr lang="en-US" sz="1150" dirty="0"/>
          </a:p>
        </p:txBody>
      </p:sp>
      <p:sp>
        <p:nvSpPr>
          <p:cNvPr id="11" name="Shape 8"/>
          <p:cNvSpPr/>
          <p:nvPr/>
        </p:nvSpPr>
        <p:spPr>
          <a:xfrm>
            <a:off x="3456432" y="1664208"/>
            <a:ext cx="2468880" cy="2103120"/>
          </a:xfrm>
          <a:prstGeom prst="roundRect">
            <a:avLst>
              <a:gd name="adj" fmla="val 4348"/>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2" name="Shape 9"/>
          <p:cNvSpPr/>
          <p:nvPr/>
        </p:nvSpPr>
        <p:spPr>
          <a:xfrm>
            <a:off x="4407408" y="1883664"/>
            <a:ext cx="566928" cy="566928"/>
          </a:xfrm>
          <a:prstGeom prst="ellipse">
            <a:avLst/>
          </a:prstGeom>
          <a:solidFill>
            <a:srgbClr val="17171C"/>
          </a:solidFill>
          <a:ln w="12700">
            <a:solidFill>
              <a:srgbClr val="17171C"/>
            </a:solidFill>
            <a:prstDash val="solid"/>
          </a:ln>
        </p:spPr>
      </p:sp>
      <p:pic>
        <p:nvPicPr>
          <p:cNvPr id="13" name="Image 1" descr="preencoded.png">    </p:cNvPr>
          <p:cNvPicPr>
            <a:picLocks noChangeAspect="1"/>
          </p:cNvPicPr>
          <p:nvPr/>
        </p:nvPicPr>
        <p:blipFill>
          <a:blip r:embed="rId2"/>
          <a:stretch>
            <a:fillRect/>
          </a:stretch>
        </p:blipFill>
        <p:spPr>
          <a:xfrm>
            <a:off x="4486778" y="1963034"/>
            <a:ext cx="408188" cy="408188"/>
          </a:xfrm>
          <a:prstGeom prst="rect">
            <a:avLst/>
          </a:prstGeom>
        </p:spPr>
      </p:pic>
      <p:sp>
        <p:nvSpPr>
          <p:cNvPr id="14" name="Text 10"/>
          <p:cNvSpPr txBox="1"/>
          <p:nvPr/>
        </p:nvSpPr>
        <p:spPr>
          <a:xfrm>
            <a:off x="3621024" y="2542032"/>
            <a:ext cx="2139696" cy="566928"/>
          </a:xfrm>
          <a:prstGeom prst="rect">
            <a:avLst/>
          </a:prstGeom>
          <a:noFill/>
          <a:ln/>
        </p:spPr>
        <p:txBody>
          <a:bodyPr wrap="square" lIns="0" tIns="0" rIns="0" bIns="0" rtlCol="0" anchor="ctr"/>
          <a:lstStyle/>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Staging Area</a:t>
            </a:r>
            <a:endParaRPr lang="en-US" sz="1500" dirty="0"/>
          </a:p>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(Index)</a:t>
            </a:r>
            <a:endParaRPr lang="en-US" sz="1500" dirty="0"/>
          </a:p>
        </p:txBody>
      </p:sp>
      <p:sp>
        <p:nvSpPr>
          <p:cNvPr id="15" name="Text 11"/>
          <p:cNvSpPr txBox="1"/>
          <p:nvPr/>
        </p:nvSpPr>
        <p:spPr>
          <a:xfrm>
            <a:off x="3657600" y="3127248"/>
            <a:ext cx="2066544" cy="566928"/>
          </a:xfrm>
          <a:prstGeom prst="rect">
            <a:avLst/>
          </a:prstGeom>
          <a:noFill/>
          <a:ln/>
        </p:spPr>
        <p:txBody>
          <a:bodyPr wrap="square" lIns="0" tIns="0" rIns="0" bIns="0" rtlCol="0" anchor="ctr"/>
          <a:lstStyle/>
          <a:p>
            <a:pPr algn="ctr" indent="0" marL="0">
              <a:lnSpc>
                <a:spcPts val="1500"/>
              </a:lnSpc>
              <a:buNone/>
            </a:pPr>
            <a:r>
              <a:rPr lang="en-US" sz="1150" dirty="0">
                <a:solidFill>
                  <a:srgbClr val="6E6E78"/>
                </a:solidFill>
                <a:latin typeface="Calibri" pitchFamily="34" charset="0"/>
                <a:ea typeface="Calibri" pitchFamily="34" charset="-122"/>
                <a:cs typeface="Calibri" pitchFamily="34" charset="-120"/>
              </a:rPr>
              <a:t>Ruang persiapan berisi perubahan yang dipilih untuk commit.</a:t>
            </a:r>
            <a:endParaRPr lang="en-US" sz="1150" dirty="0"/>
          </a:p>
        </p:txBody>
      </p:sp>
      <p:sp>
        <p:nvSpPr>
          <p:cNvPr id="16" name="Shape 12"/>
          <p:cNvSpPr/>
          <p:nvPr/>
        </p:nvSpPr>
        <p:spPr>
          <a:xfrm>
            <a:off x="6272784" y="1664208"/>
            <a:ext cx="2468880" cy="2103120"/>
          </a:xfrm>
          <a:prstGeom prst="roundRect">
            <a:avLst>
              <a:gd name="adj" fmla="val 4348"/>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17" name="Shape 13"/>
          <p:cNvSpPr/>
          <p:nvPr/>
        </p:nvSpPr>
        <p:spPr>
          <a:xfrm>
            <a:off x="7223760" y="1883664"/>
            <a:ext cx="566928" cy="566928"/>
          </a:xfrm>
          <a:prstGeom prst="ellipse">
            <a:avLst/>
          </a:prstGeom>
          <a:solidFill>
            <a:srgbClr val="F05032"/>
          </a:solidFill>
          <a:ln w="12700">
            <a:solidFill>
              <a:srgbClr val="F05032"/>
            </a:solidFill>
            <a:prstDash val="solid"/>
          </a:ln>
        </p:spPr>
      </p:sp>
      <p:pic>
        <p:nvPicPr>
          <p:cNvPr id="18" name="Image 2" descr="preencoded.png">    </p:cNvPr>
          <p:cNvPicPr>
            <a:picLocks noChangeAspect="1"/>
          </p:cNvPicPr>
          <p:nvPr/>
        </p:nvPicPr>
        <p:blipFill>
          <a:blip r:embed="rId3"/>
          <a:stretch>
            <a:fillRect/>
          </a:stretch>
        </p:blipFill>
        <p:spPr>
          <a:xfrm>
            <a:off x="7303130" y="1963034"/>
            <a:ext cx="408188" cy="408188"/>
          </a:xfrm>
          <a:prstGeom prst="rect">
            <a:avLst/>
          </a:prstGeom>
        </p:spPr>
      </p:pic>
      <p:sp>
        <p:nvSpPr>
          <p:cNvPr id="19" name="Text 14"/>
          <p:cNvSpPr txBox="1"/>
          <p:nvPr/>
        </p:nvSpPr>
        <p:spPr>
          <a:xfrm>
            <a:off x="6437376" y="2542032"/>
            <a:ext cx="2139696" cy="566928"/>
          </a:xfrm>
          <a:prstGeom prst="rect">
            <a:avLst/>
          </a:prstGeom>
          <a:noFill/>
          <a:ln/>
        </p:spPr>
        <p:txBody>
          <a:bodyPr wrap="square" lIns="0" tIns="0" rIns="0" bIns="0" rtlCol="0" anchor="ctr"/>
          <a:lstStyle/>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Local</a:t>
            </a:r>
            <a:endParaRPr lang="en-US" sz="1500" dirty="0"/>
          </a:p>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Repository</a:t>
            </a:r>
            <a:endParaRPr lang="en-US" sz="1500" dirty="0"/>
          </a:p>
        </p:txBody>
      </p:sp>
      <p:sp>
        <p:nvSpPr>
          <p:cNvPr id="20" name="Text 15"/>
          <p:cNvSpPr txBox="1"/>
          <p:nvPr/>
        </p:nvSpPr>
        <p:spPr>
          <a:xfrm>
            <a:off x="6473952" y="3127248"/>
            <a:ext cx="2066544" cy="566928"/>
          </a:xfrm>
          <a:prstGeom prst="rect">
            <a:avLst/>
          </a:prstGeom>
          <a:noFill/>
          <a:ln/>
        </p:spPr>
        <p:txBody>
          <a:bodyPr wrap="square" lIns="0" tIns="0" rIns="0" bIns="0" rtlCol="0" anchor="ctr"/>
          <a:lstStyle/>
          <a:p>
            <a:pPr algn="ctr" indent="0" marL="0">
              <a:lnSpc>
                <a:spcPts val="1500"/>
              </a:lnSpc>
              <a:buNone/>
            </a:pPr>
            <a:r>
              <a:rPr lang="en-US" sz="1150" dirty="0">
                <a:solidFill>
                  <a:srgbClr val="6E6E78"/>
                </a:solidFill>
                <a:latin typeface="Calibri" pitchFamily="34" charset="0"/>
                <a:ea typeface="Calibri" pitchFamily="34" charset="-122"/>
                <a:cs typeface="Calibri" pitchFamily="34" charset="-120"/>
              </a:rPr>
              <a:t>Basis data .git berisi seluruh riwayat commit di komputer Anda.</a:t>
            </a:r>
            <a:endParaRPr lang="en-US" sz="1150" dirty="0"/>
          </a:p>
        </p:txBody>
      </p:sp>
      <p:sp>
        <p:nvSpPr>
          <p:cNvPr id="21" name="Shape 16"/>
          <p:cNvSpPr/>
          <p:nvPr/>
        </p:nvSpPr>
        <p:spPr>
          <a:xfrm>
            <a:off x="9089136" y="1664208"/>
            <a:ext cx="2468880" cy="2103120"/>
          </a:xfrm>
          <a:prstGeom prst="roundRect">
            <a:avLst>
              <a:gd name="adj" fmla="val 4348"/>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2" name="Shape 17"/>
          <p:cNvSpPr/>
          <p:nvPr/>
        </p:nvSpPr>
        <p:spPr>
          <a:xfrm>
            <a:off x="10040112" y="1883664"/>
            <a:ext cx="566928" cy="566928"/>
          </a:xfrm>
          <a:prstGeom prst="ellipse">
            <a:avLst/>
          </a:prstGeom>
          <a:solidFill>
            <a:srgbClr val="17171C"/>
          </a:solidFill>
          <a:ln w="12700">
            <a:solidFill>
              <a:srgbClr val="17171C"/>
            </a:solidFill>
            <a:prstDash val="solid"/>
          </a:ln>
        </p:spPr>
      </p:sp>
      <p:pic>
        <p:nvPicPr>
          <p:cNvPr id="23" name="Image 3" descr="preencoded.png">    </p:cNvPr>
          <p:cNvPicPr>
            <a:picLocks noChangeAspect="1"/>
          </p:cNvPicPr>
          <p:nvPr/>
        </p:nvPicPr>
        <p:blipFill>
          <a:blip r:embed="rId4"/>
          <a:stretch>
            <a:fillRect/>
          </a:stretch>
        </p:blipFill>
        <p:spPr>
          <a:xfrm>
            <a:off x="10119482" y="1963034"/>
            <a:ext cx="408188" cy="408188"/>
          </a:xfrm>
          <a:prstGeom prst="rect">
            <a:avLst/>
          </a:prstGeom>
        </p:spPr>
      </p:pic>
      <p:sp>
        <p:nvSpPr>
          <p:cNvPr id="24" name="Text 18"/>
          <p:cNvSpPr txBox="1"/>
          <p:nvPr/>
        </p:nvSpPr>
        <p:spPr>
          <a:xfrm>
            <a:off x="9253728" y="2542032"/>
            <a:ext cx="2139696" cy="566928"/>
          </a:xfrm>
          <a:prstGeom prst="rect">
            <a:avLst/>
          </a:prstGeom>
          <a:noFill/>
          <a:ln/>
        </p:spPr>
        <p:txBody>
          <a:bodyPr wrap="square" lIns="0" tIns="0" rIns="0" bIns="0" rtlCol="0" anchor="ctr"/>
          <a:lstStyle/>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Remote</a:t>
            </a:r>
            <a:endParaRPr lang="en-US" sz="1500" dirty="0"/>
          </a:p>
          <a:p>
            <a:pPr algn="ctr" indent="0" marL="0">
              <a:lnSpc>
                <a:spcPts val="1900"/>
              </a:lnSpc>
              <a:buNone/>
            </a:pPr>
            <a:r>
              <a:rPr lang="en-US" sz="1500" b="1" dirty="0">
                <a:solidFill>
                  <a:srgbClr val="17171C"/>
                </a:solidFill>
                <a:latin typeface="Arial" pitchFamily="34" charset="0"/>
                <a:ea typeface="Arial" pitchFamily="34" charset="-122"/>
                <a:cs typeface="Arial" pitchFamily="34" charset="-120"/>
              </a:rPr>
              <a:t>Repository</a:t>
            </a:r>
            <a:endParaRPr lang="en-US" sz="1500" dirty="0"/>
          </a:p>
        </p:txBody>
      </p:sp>
      <p:sp>
        <p:nvSpPr>
          <p:cNvPr id="25" name="Text 19"/>
          <p:cNvSpPr txBox="1"/>
          <p:nvPr/>
        </p:nvSpPr>
        <p:spPr>
          <a:xfrm>
            <a:off x="9290304" y="3127248"/>
            <a:ext cx="2066544" cy="566928"/>
          </a:xfrm>
          <a:prstGeom prst="rect">
            <a:avLst/>
          </a:prstGeom>
          <a:noFill/>
          <a:ln/>
        </p:spPr>
        <p:txBody>
          <a:bodyPr wrap="square" lIns="0" tIns="0" rIns="0" bIns="0" rtlCol="0" anchor="ctr"/>
          <a:lstStyle/>
          <a:p>
            <a:pPr algn="ctr" indent="0" marL="0">
              <a:lnSpc>
                <a:spcPts val="1500"/>
              </a:lnSpc>
              <a:buNone/>
            </a:pPr>
            <a:r>
              <a:rPr lang="en-US" sz="1150" dirty="0">
                <a:solidFill>
                  <a:srgbClr val="6E6E78"/>
                </a:solidFill>
                <a:latin typeface="Calibri" pitchFamily="34" charset="0"/>
                <a:ea typeface="Calibri" pitchFamily="34" charset="-122"/>
                <a:cs typeface="Calibri" pitchFamily="34" charset="-120"/>
              </a:rPr>
              <a:t>Salinan repositori di server, misalnya GitHub atau GitLab.</a:t>
            </a:r>
            <a:endParaRPr lang="en-US" sz="1150" dirty="0"/>
          </a:p>
        </p:txBody>
      </p:sp>
      <p:sp>
        <p:nvSpPr>
          <p:cNvPr id="26" name="Text 20"/>
          <p:cNvSpPr txBox="1"/>
          <p:nvPr/>
        </p:nvSpPr>
        <p:spPr>
          <a:xfrm>
            <a:off x="1874520" y="3840480"/>
            <a:ext cx="2816352" cy="256032"/>
          </a:xfrm>
          <a:prstGeom prst="rect">
            <a:avLst/>
          </a:prstGeom>
          <a:noFill/>
          <a:ln/>
        </p:spPr>
        <p:txBody>
          <a:bodyPr wrap="square" lIns="0" tIns="0" rIns="0" bIns="0" rtlCol="0" anchor="ctr"/>
          <a:lstStyle/>
          <a:p>
            <a:pPr algn="ctr" indent="0" marL="0">
              <a:buNone/>
            </a:pPr>
            <a:r>
              <a:rPr lang="en-US" sz="1150" b="1" dirty="0">
                <a:solidFill>
                  <a:srgbClr val="C63C22"/>
                </a:solidFill>
                <a:latin typeface="Courier New" pitchFamily="34" charset="0"/>
                <a:ea typeface="Courier New" pitchFamily="34" charset="-122"/>
                <a:cs typeface="Courier New" pitchFamily="34" charset="-120"/>
              </a:rPr>
              <a:t>git add</a:t>
            </a:r>
            <a:endParaRPr lang="en-US" sz="1150" dirty="0"/>
          </a:p>
        </p:txBody>
      </p:sp>
      <p:sp>
        <p:nvSpPr>
          <p:cNvPr id="27" name="Shape 21"/>
          <p:cNvSpPr/>
          <p:nvPr/>
        </p:nvSpPr>
        <p:spPr>
          <a:xfrm>
            <a:off x="2103120" y="4187952"/>
            <a:ext cx="2359152" cy="0"/>
          </a:xfrm>
          <a:prstGeom prst="line">
            <a:avLst/>
          </a:prstGeom>
          <a:noFill/>
          <a:ln w="28575">
            <a:solidFill>
              <a:srgbClr val="F05032"/>
            </a:solidFill>
            <a:prstDash val="solid"/>
            <a:tailEnd type="triangle"/>
          </a:ln>
        </p:spPr>
      </p:sp>
      <p:sp>
        <p:nvSpPr>
          <p:cNvPr id="28" name="Text 22"/>
          <p:cNvSpPr txBox="1"/>
          <p:nvPr/>
        </p:nvSpPr>
        <p:spPr>
          <a:xfrm>
            <a:off x="4690872" y="3840480"/>
            <a:ext cx="2816352" cy="256032"/>
          </a:xfrm>
          <a:prstGeom prst="rect">
            <a:avLst/>
          </a:prstGeom>
          <a:noFill/>
          <a:ln/>
        </p:spPr>
        <p:txBody>
          <a:bodyPr wrap="square" lIns="0" tIns="0" rIns="0" bIns="0" rtlCol="0" anchor="ctr"/>
          <a:lstStyle/>
          <a:p>
            <a:pPr algn="ctr" indent="0" marL="0">
              <a:buNone/>
            </a:pPr>
            <a:r>
              <a:rPr lang="en-US" sz="1150" b="1" dirty="0">
                <a:solidFill>
                  <a:srgbClr val="C63C22"/>
                </a:solidFill>
                <a:latin typeface="Courier New" pitchFamily="34" charset="0"/>
                <a:ea typeface="Courier New" pitchFamily="34" charset="-122"/>
                <a:cs typeface="Courier New" pitchFamily="34" charset="-120"/>
              </a:rPr>
              <a:t>git commit</a:t>
            </a:r>
            <a:endParaRPr lang="en-US" sz="1150" dirty="0"/>
          </a:p>
        </p:txBody>
      </p:sp>
      <p:sp>
        <p:nvSpPr>
          <p:cNvPr id="29" name="Shape 23"/>
          <p:cNvSpPr/>
          <p:nvPr/>
        </p:nvSpPr>
        <p:spPr>
          <a:xfrm>
            <a:off x="4919472" y="4187952"/>
            <a:ext cx="2359152" cy="0"/>
          </a:xfrm>
          <a:prstGeom prst="line">
            <a:avLst/>
          </a:prstGeom>
          <a:noFill/>
          <a:ln w="28575">
            <a:solidFill>
              <a:srgbClr val="F05032"/>
            </a:solidFill>
            <a:prstDash val="solid"/>
            <a:tailEnd type="triangle"/>
          </a:ln>
        </p:spPr>
      </p:sp>
      <p:sp>
        <p:nvSpPr>
          <p:cNvPr id="30" name="Text 24"/>
          <p:cNvSpPr txBox="1"/>
          <p:nvPr/>
        </p:nvSpPr>
        <p:spPr>
          <a:xfrm>
            <a:off x="7507224" y="3840480"/>
            <a:ext cx="2816352" cy="256032"/>
          </a:xfrm>
          <a:prstGeom prst="rect">
            <a:avLst/>
          </a:prstGeom>
          <a:noFill/>
          <a:ln/>
        </p:spPr>
        <p:txBody>
          <a:bodyPr wrap="square" lIns="0" tIns="0" rIns="0" bIns="0" rtlCol="0" anchor="ctr"/>
          <a:lstStyle/>
          <a:p>
            <a:pPr algn="ctr" indent="0" marL="0">
              <a:buNone/>
            </a:pPr>
            <a:r>
              <a:rPr lang="en-US" sz="1150" b="1" dirty="0">
                <a:solidFill>
                  <a:srgbClr val="C63C22"/>
                </a:solidFill>
                <a:latin typeface="Courier New" pitchFamily="34" charset="0"/>
                <a:ea typeface="Courier New" pitchFamily="34" charset="-122"/>
                <a:cs typeface="Courier New" pitchFamily="34" charset="-120"/>
              </a:rPr>
              <a:t>git push</a:t>
            </a:r>
            <a:endParaRPr lang="en-US" sz="1150" dirty="0"/>
          </a:p>
        </p:txBody>
      </p:sp>
      <p:sp>
        <p:nvSpPr>
          <p:cNvPr id="31" name="Shape 25"/>
          <p:cNvSpPr/>
          <p:nvPr/>
        </p:nvSpPr>
        <p:spPr>
          <a:xfrm>
            <a:off x="7735824" y="4187952"/>
            <a:ext cx="2359152" cy="0"/>
          </a:xfrm>
          <a:prstGeom prst="line">
            <a:avLst/>
          </a:prstGeom>
          <a:noFill/>
          <a:ln w="28575">
            <a:solidFill>
              <a:srgbClr val="F05032"/>
            </a:solidFill>
            <a:prstDash val="solid"/>
            <a:tailEnd type="triangle"/>
          </a:ln>
        </p:spPr>
      </p:sp>
      <p:sp>
        <p:nvSpPr>
          <p:cNvPr id="32" name="Shape 26"/>
          <p:cNvSpPr/>
          <p:nvPr/>
        </p:nvSpPr>
        <p:spPr>
          <a:xfrm>
            <a:off x="640080" y="4526280"/>
            <a:ext cx="10908792" cy="1463040"/>
          </a:xfrm>
          <a:prstGeom prst="roundRect">
            <a:avLst>
              <a:gd name="adj" fmla="val 6250"/>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33" name="Text 27"/>
          <p:cNvSpPr txBox="1"/>
          <p:nvPr/>
        </p:nvSpPr>
        <p:spPr>
          <a:xfrm>
            <a:off x="950976" y="4681728"/>
            <a:ext cx="5486400"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Arah Sebaliknya — Mengambil dan Membatalkan</a:t>
            </a:r>
            <a:endParaRPr lang="en-US" sz="1500" dirty="0"/>
          </a:p>
        </p:txBody>
      </p:sp>
      <p:sp>
        <p:nvSpPr>
          <p:cNvPr id="34" name="Text 28"/>
          <p:cNvSpPr txBox="1"/>
          <p:nvPr/>
        </p:nvSpPr>
        <p:spPr>
          <a:xfrm>
            <a:off x="950976" y="5056632"/>
            <a:ext cx="3291840"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restore &lt;file&gt;</a:t>
            </a:r>
            <a:endParaRPr lang="en-US" sz="1200" dirty="0"/>
          </a:p>
        </p:txBody>
      </p:sp>
      <p:sp>
        <p:nvSpPr>
          <p:cNvPr id="35" name="Text 29"/>
          <p:cNvSpPr txBox="1"/>
          <p:nvPr/>
        </p:nvSpPr>
        <p:spPr>
          <a:xfrm>
            <a:off x="950976" y="532180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Remote/Repo → Working: mengembalikan berkas ke versi terakhir.</a:t>
            </a:r>
            <a:endParaRPr lang="en-US" sz="1150" dirty="0"/>
          </a:p>
        </p:txBody>
      </p:sp>
      <p:sp>
        <p:nvSpPr>
          <p:cNvPr id="36" name="Text 30"/>
          <p:cNvSpPr txBox="1"/>
          <p:nvPr/>
        </p:nvSpPr>
        <p:spPr>
          <a:xfrm>
            <a:off x="4443984" y="5056632"/>
            <a:ext cx="3291840"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reset HEAD &lt;file&gt;</a:t>
            </a:r>
            <a:endParaRPr lang="en-US" sz="1200" dirty="0"/>
          </a:p>
        </p:txBody>
      </p:sp>
      <p:sp>
        <p:nvSpPr>
          <p:cNvPr id="37" name="Text 31"/>
          <p:cNvSpPr txBox="1"/>
          <p:nvPr/>
        </p:nvSpPr>
        <p:spPr>
          <a:xfrm>
            <a:off x="4443984" y="532180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Staging → Working: mengeluarkan berkas dari staging area.</a:t>
            </a:r>
            <a:endParaRPr lang="en-US" sz="1150" dirty="0"/>
          </a:p>
        </p:txBody>
      </p:sp>
      <p:sp>
        <p:nvSpPr>
          <p:cNvPr id="38" name="Text 32"/>
          <p:cNvSpPr txBox="1"/>
          <p:nvPr/>
        </p:nvSpPr>
        <p:spPr>
          <a:xfrm>
            <a:off x="7936992" y="5056632"/>
            <a:ext cx="3291840"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pull / git fetch</a:t>
            </a:r>
            <a:endParaRPr lang="en-US" sz="1200" dirty="0"/>
          </a:p>
        </p:txBody>
      </p:sp>
      <p:sp>
        <p:nvSpPr>
          <p:cNvPr id="39" name="Text 33"/>
          <p:cNvSpPr txBox="1"/>
          <p:nvPr/>
        </p:nvSpPr>
        <p:spPr>
          <a:xfrm>
            <a:off x="7936992" y="532180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Remote → Local: menarik commit terbaru dari server.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INTERNAL</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Bagaimana Git Menyimpan Data</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640080" y="1572768"/>
            <a:ext cx="2587752" cy="2148840"/>
          </a:xfrm>
          <a:prstGeom prst="roundRect">
            <a:avLst>
              <a:gd name="adj" fmla="val 42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14400" y="1847088"/>
            <a:ext cx="548640" cy="548640"/>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991210" y="1923898"/>
            <a:ext cx="395021" cy="395021"/>
          </a:xfrm>
          <a:prstGeom prst="rect">
            <a:avLst/>
          </a:prstGeom>
        </p:spPr>
      </p:pic>
      <p:sp>
        <p:nvSpPr>
          <p:cNvPr id="9" name="Text 6"/>
          <p:cNvSpPr txBox="1"/>
          <p:nvPr/>
        </p:nvSpPr>
        <p:spPr>
          <a:xfrm>
            <a:off x="914400" y="2487168"/>
            <a:ext cx="2039112" cy="310896"/>
          </a:xfrm>
          <a:prstGeom prst="rect">
            <a:avLst/>
          </a:prstGeom>
          <a:noFill/>
          <a:ln/>
        </p:spPr>
        <p:txBody>
          <a:bodyPr wrap="square" lIns="0" tIns="0" rIns="0" bIns="0" rtlCol="0" anchor="ctr"/>
          <a:lstStyle/>
          <a:p>
            <a:pPr indent="0" marL="0">
              <a:buNone/>
            </a:pPr>
            <a:r>
              <a:rPr lang="en-US" sz="1700" b="1" dirty="0">
                <a:solidFill>
                  <a:srgbClr val="17171C"/>
                </a:solidFill>
                <a:latin typeface="Arial" pitchFamily="34" charset="0"/>
                <a:ea typeface="Arial" pitchFamily="34" charset="-122"/>
                <a:cs typeface="Arial" pitchFamily="34" charset="-120"/>
              </a:rPr>
              <a:t>Blob</a:t>
            </a:r>
            <a:endParaRPr lang="en-US" sz="1700" dirty="0"/>
          </a:p>
        </p:txBody>
      </p:sp>
      <p:sp>
        <p:nvSpPr>
          <p:cNvPr id="10" name="Text 7"/>
          <p:cNvSpPr txBox="1"/>
          <p:nvPr/>
        </p:nvSpPr>
        <p:spPr>
          <a:xfrm>
            <a:off x="914400" y="2834640"/>
            <a:ext cx="2039112" cy="7772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Menyimpan isi sebuah berkas — hanya kontennya, tanpa nama berkas.</a:t>
            </a:r>
            <a:endParaRPr lang="en-US" sz="1250" dirty="0"/>
          </a:p>
        </p:txBody>
      </p:sp>
      <p:sp>
        <p:nvSpPr>
          <p:cNvPr id="11" name="Shape 8"/>
          <p:cNvSpPr/>
          <p:nvPr/>
        </p:nvSpPr>
        <p:spPr>
          <a:xfrm>
            <a:off x="3502152" y="1572768"/>
            <a:ext cx="2587752" cy="2148840"/>
          </a:xfrm>
          <a:prstGeom prst="roundRect">
            <a:avLst>
              <a:gd name="adj" fmla="val 42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2" name="Shape 9"/>
          <p:cNvSpPr/>
          <p:nvPr/>
        </p:nvSpPr>
        <p:spPr>
          <a:xfrm>
            <a:off x="3776472" y="1847088"/>
            <a:ext cx="548640" cy="548640"/>
          </a:xfrm>
          <a:prstGeom prst="ellipse">
            <a:avLst/>
          </a:prstGeom>
          <a:solidFill>
            <a:srgbClr val="17171C"/>
          </a:solidFill>
          <a:ln w="12700">
            <a:solidFill>
              <a:srgbClr val="17171C"/>
            </a:solidFill>
            <a:prstDash val="solid"/>
          </a:ln>
        </p:spPr>
      </p:sp>
      <p:pic>
        <p:nvPicPr>
          <p:cNvPr id="13" name="Image 1" descr="preencoded.png">    </p:cNvPr>
          <p:cNvPicPr>
            <a:picLocks noChangeAspect="1"/>
          </p:cNvPicPr>
          <p:nvPr/>
        </p:nvPicPr>
        <p:blipFill>
          <a:blip r:embed="rId2"/>
          <a:stretch>
            <a:fillRect/>
          </a:stretch>
        </p:blipFill>
        <p:spPr>
          <a:xfrm>
            <a:off x="3853282" y="1923898"/>
            <a:ext cx="395021" cy="395021"/>
          </a:xfrm>
          <a:prstGeom prst="rect">
            <a:avLst/>
          </a:prstGeom>
        </p:spPr>
      </p:pic>
      <p:sp>
        <p:nvSpPr>
          <p:cNvPr id="14" name="Text 10"/>
          <p:cNvSpPr txBox="1"/>
          <p:nvPr/>
        </p:nvSpPr>
        <p:spPr>
          <a:xfrm>
            <a:off x="3776472" y="2487168"/>
            <a:ext cx="2039112" cy="310896"/>
          </a:xfrm>
          <a:prstGeom prst="rect">
            <a:avLst/>
          </a:prstGeom>
          <a:noFill/>
          <a:ln/>
        </p:spPr>
        <p:txBody>
          <a:bodyPr wrap="square" lIns="0" tIns="0" rIns="0" bIns="0" rtlCol="0" anchor="ctr"/>
          <a:lstStyle/>
          <a:p>
            <a:pPr indent="0" marL="0">
              <a:buNone/>
            </a:pPr>
            <a:r>
              <a:rPr lang="en-US" sz="1700" b="1" dirty="0">
                <a:solidFill>
                  <a:srgbClr val="17171C"/>
                </a:solidFill>
                <a:latin typeface="Arial" pitchFamily="34" charset="0"/>
                <a:ea typeface="Arial" pitchFamily="34" charset="-122"/>
                <a:cs typeface="Arial" pitchFamily="34" charset="-120"/>
              </a:rPr>
              <a:t>Tree</a:t>
            </a:r>
            <a:endParaRPr lang="en-US" sz="1700" dirty="0"/>
          </a:p>
        </p:txBody>
      </p:sp>
      <p:sp>
        <p:nvSpPr>
          <p:cNvPr id="15" name="Text 11"/>
          <p:cNvSpPr txBox="1"/>
          <p:nvPr/>
        </p:nvSpPr>
        <p:spPr>
          <a:xfrm>
            <a:off x="3776472" y="2834640"/>
            <a:ext cx="2039112" cy="7772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Menyimpan struktur direktori: daftar nama berkas beserta blob-nya.</a:t>
            </a:r>
            <a:endParaRPr lang="en-US" sz="1250" dirty="0"/>
          </a:p>
        </p:txBody>
      </p:sp>
      <p:sp>
        <p:nvSpPr>
          <p:cNvPr id="16" name="Shape 12"/>
          <p:cNvSpPr/>
          <p:nvPr/>
        </p:nvSpPr>
        <p:spPr>
          <a:xfrm>
            <a:off x="6364224" y="1572768"/>
            <a:ext cx="2587752" cy="2148840"/>
          </a:xfrm>
          <a:prstGeom prst="roundRect">
            <a:avLst>
              <a:gd name="adj" fmla="val 42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7" name="Shape 13"/>
          <p:cNvSpPr/>
          <p:nvPr/>
        </p:nvSpPr>
        <p:spPr>
          <a:xfrm>
            <a:off x="6638544" y="1847088"/>
            <a:ext cx="548640" cy="548640"/>
          </a:xfrm>
          <a:prstGeom prst="ellipse">
            <a:avLst/>
          </a:prstGeom>
          <a:solidFill>
            <a:srgbClr val="F05032"/>
          </a:solidFill>
          <a:ln w="12700">
            <a:solidFill>
              <a:srgbClr val="F05032"/>
            </a:solidFill>
            <a:prstDash val="solid"/>
          </a:ln>
        </p:spPr>
      </p:sp>
      <p:pic>
        <p:nvPicPr>
          <p:cNvPr id="18" name="Image 2" descr="preencoded.png">    </p:cNvPr>
          <p:cNvPicPr>
            <a:picLocks noChangeAspect="1"/>
          </p:cNvPicPr>
          <p:nvPr/>
        </p:nvPicPr>
        <p:blipFill>
          <a:blip r:embed="rId3"/>
          <a:stretch>
            <a:fillRect/>
          </a:stretch>
        </p:blipFill>
        <p:spPr>
          <a:xfrm>
            <a:off x="6715354" y="1923898"/>
            <a:ext cx="395021" cy="395021"/>
          </a:xfrm>
          <a:prstGeom prst="rect">
            <a:avLst/>
          </a:prstGeom>
        </p:spPr>
      </p:pic>
      <p:sp>
        <p:nvSpPr>
          <p:cNvPr id="19" name="Text 14"/>
          <p:cNvSpPr txBox="1"/>
          <p:nvPr/>
        </p:nvSpPr>
        <p:spPr>
          <a:xfrm>
            <a:off x="6638544" y="2487168"/>
            <a:ext cx="2039112" cy="310896"/>
          </a:xfrm>
          <a:prstGeom prst="rect">
            <a:avLst/>
          </a:prstGeom>
          <a:noFill/>
          <a:ln/>
        </p:spPr>
        <p:txBody>
          <a:bodyPr wrap="square" lIns="0" tIns="0" rIns="0" bIns="0" rtlCol="0" anchor="ctr"/>
          <a:lstStyle/>
          <a:p>
            <a:pPr indent="0" marL="0">
              <a:buNone/>
            </a:pPr>
            <a:r>
              <a:rPr lang="en-US" sz="1700" b="1" dirty="0">
                <a:solidFill>
                  <a:srgbClr val="17171C"/>
                </a:solidFill>
                <a:latin typeface="Arial" pitchFamily="34" charset="0"/>
                <a:ea typeface="Arial" pitchFamily="34" charset="-122"/>
                <a:cs typeface="Arial" pitchFamily="34" charset="-120"/>
              </a:rPr>
              <a:t>Commit</a:t>
            </a:r>
            <a:endParaRPr lang="en-US" sz="1700" dirty="0"/>
          </a:p>
        </p:txBody>
      </p:sp>
      <p:sp>
        <p:nvSpPr>
          <p:cNvPr id="20" name="Text 15"/>
          <p:cNvSpPr txBox="1"/>
          <p:nvPr/>
        </p:nvSpPr>
        <p:spPr>
          <a:xfrm>
            <a:off x="6638544" y="2834640"/>
            <a:ext cx="2039112" cy="7772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Snapshot lengkap proyek: tree, penulis, waktu, pesan, dan commit induk.</a:t>
            </a:r>
            <a:endParaRPr lang="en-US" sz="1250" dirty="0"/>
          </a:p>
        </p:txBody>
      </p:sp>
      <p:sp>
        <p:nvSpPr>
          <p:cNvPr id="21" name="Shape 16"/>
          <p:cNvSpPr/>
          <p:nvPr/>
        </p:nvSpPr>
        <p:spPr>
          <a:xfrm>
            <a:off x="9226296" y="1572768"/>
            <a:ext cx="2587752" cy="2148840"/>
          </a:xfrm>
          <a:prstGeom prst="roundRect">
            <a:avLst>
              <a:gd name="adj" fmla="val 42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2" name="Shape 17"/>
          <p:cNvSpPr/>
          <p:nvPr/>
        </p:nvSpPr>
        <p:spPr>
          <a:xfrm>
            <a:off x="9500616" y="1847088"/>
            <a:ext cx="548640" cy="548640"/>
          </a:xfrm>
          <a:prstGeom prst="ellipse">
            <a:avLst/>
          </a:prstGeom>
          <a:solidFill>
            <a:srgbClr val="17171C"/>
          </a:solidFill>
          <a:ln w="12700">
            <a:solidFill>
              <a:srgbClr val="17171C"/>
            </a:solidFill>
            <a:prstDash val="solid"/>
          </a:ln>
        </p:spPr>
      </p:sp>
      <p:pic>
        <p:nvPicPr>
          <p:cNvPr id="23" name="Image 3" descr="preencoded.png">    </p:cNvPr>
          <p:cNvPicPr>
            <a:picLocks noChangeAspect="1"/>
          </p:cNvPicPr>
          <p:nvPr/>
        </p:nvPicPr>
        <p:blipFill>
          <a:blip r:embed="rId4"/>
          <a:stretch>
            <a:fillRect/>
          </a:stretch>
        </p:blipFill>
        <p:spPr>
          <a:xfrm>
            <a:off x="9577426" y="1923898"/>
            <a:ext cx="395021" cy="395021"/>
          </a:xfrm>
          <a:prstGeom prst="rect">
            <a:avLst/>
          </a:prstGeom>
        </p:spPr>
      </p:pic>
      <p:sp>
        <p:nvSpPr>
          <p:cNvPr id="24" name="Text 18"/>
          <p:cNvSpPr txBox="1"/>
          <p:nvPr/>
        </p:nvSpPr>
        <p:spPr>
          <a:xfrm>
            <a:off x="9500616" y="2487168"/>
            <a:ext cx="2039112" cy="310896"/>
          </a:xfrm>
          <a:prstGeom prst="rect">
            <a:avLst/>
          </a:prstGeom>
          <a:noFill/>
          <a:ln/>
        </p:spPr>
        <p:txBody>
          <a:bodyPr wrap="square" lIns="0" tIns="0" rIns="0" bIns="0" rtlCol="0" anchor="ctr"/>
          <a:lstStyle/>
          <a:p>
            <a:pPr indent="0" marL="0">
              <a:buNone/>
            </a:pPr>
            <a:r>
              <a:rPr lang="en-US" sz="1700" b="1" dirty="0">
                <a:solidFill>
                  <a:srgbClr val="17171C"/>
                </a:solidFill>
                <a:latin typeface="Arial" pitchFamily="34" charset="0"/>
                <a:ea typeface="Arial" pitchFamily="34" charset="-122"/>
                <a:cs typeface="Arial" pitchFamily="34" charset="-120"/>
              </a:rPr>
              <a:t>Tag</a:t>
            </a:r>
            <a:endParaRPr lang="en-US" sz="1700" dirty="0"/>
          </a:p>
        </p:txBody>
      </p:sp>
      <p:sp>
        <p:nvSpPr>
          <p:cNvPr id="25" name="Text 19"/>
          <p:cNvSpPr txBox="1"/>
          <p:nvPr/>
        </p:nvSpPr>
        <p:spPr>
          <a:xfrm>
            <a:off x="9500616" y="2834640"/>
            <a:ext cx="2039112" cy="7772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Penanda permanen ke sebuah commit, umumnya untuk menandai rilis versi.</a:t>
            </a:r>
            <a:endParaRPr lang="en-US" sz="1250" dirty="0"/>
          </a:p>
        </p:txBody>
      </p:sp>
      <p:sp>
        <p:nvSpPr>
          <p:cNvPr id="26" name="Shape 20"/>
          <p:cNvSpPr/>
          <p:nvPr/>
        </p:nvSpPr>
        <p:spPr>
          <a:xfrm>
            <a:off x="640080" y="3977640"/>
            <a:ext cx="6675120" cy="1874520"/>
          </a:xfrm>
          <a:prstGeom prst="roundRect">
            <a:avLst>
              <a:gd name="adj" fmla="val 3902"/>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7" name="Text 21"/>
          <p:cNvSpPr txBox="1"/>
          <p:nvPr/>
        </p:nvSpPr>
        <p:spPr>
          <a:xfrm>
            <a:off x="896112" y="4160520"/>
            <a:ext cx="6217920" cy="1508760"/>
          </a:xfrm>
          <a:prstGeom prst="rect">
            <a:avLst/>
          </a:prstGeom>
          <a:noFill/>
          <a:ln/>
        </p:spPr>
        <p:txBody>
          <a:bodyPr wrap="square" lIns="0" tIns="0" rIns="0" bIns="0" rtlCol="0" anchor="t"/>
          <a:lstStyle/>
          <a:p>
            <a:pPr indent="0" marL="0">
              <a:lnSpc>
                <a:spcPts val="2000"/>
              </a:lnSpc>
              <a:buNone/>
            </a:pPr>
            <a:r>
              <a:rPr lang="en-US" sz="1200" dirty="0">
                <a:solidFill>
                  <a:srgbClr val="E9E7E4"/>
                </a:solidFill>
                <a:latin typeface="Courier New" pitchFamily="34" charset="0"/>
                <a:ea typeface="Courier New" pitchFamily="34" charset="-122"/>
                <a:cs typeface="Courier New" pitchFamily="34" charset="-120"/>
              </a:rPr>
              <a:t>$ git log --oneline
</a:t>
            </a:r>
            <a:pPr indent="0" marL="0">
              <a:lnSpc>
                <a:spcPts val="2000"/>
              </a:lnSpc>
              <a:buNone/>
            </a:pPr>
            <a:r>
              <a:rPr lang="en-US" sz="1200" dirty="0">
                <a:solidFill>
                  <a:srgbClr val="F05032"/>
                </a:solidFill>
                <a:latin typeface="Courier New" pitchFamily="34" charset="0"/>
                <a:ea typeface="Courier New" pitchFamily="34" charset="-122"/>
                <a:cs typeface="Courier New" pitchFamily="34" charset="-120"/>
              </a:rPr>
              <a:t>a3f9c21</a:t>
            </a:r>
            <a:pPr indent="0" marL="0">
              <a:lnSpc>
                <a:spcPts val="2000"/>
              </a:lnSpc>
              <a:buNone/>
            </a:pPr>
            <a:r>
              <a:rPr lang="en-US" sz="1200" dirty="0">
                <a:solidFill>
                  <a:srgbClr val="E9E7E4"/>
                </a:solidFill>
                <a:latin typeface="Courier New" pitchFamily="34" charset="0"/>
                <a:ea typeface="Courier New" pitchFamily="34" charset="-122"/>
                <a:cs typeface="Courier New" pitchFamily="34" charset="-120"/>
              </a:rPr>
              <a:t>  feat: tambah halaman login
</a:t>
            </a:r>
            <a:pPr indent="0" marL="0">
              <a:lnSpc>
                <a:spcPts val="2000"/>
              </a:lnSpc>
              <a:buNone/>
            </a:pPr>
            <a:r>
              <a:rPr lang="en-US" sz="1200" dirty="0">
                <a:solidFill>
                  <a:srgbClr val="F05032"/>
                </a:solidFill>
                <a:latin typeface="Courier New" pitchFamily="34" charset="0"/>
                <a:ea typeface="Courier New" pitchFamily="34" charset="-122"/>
                <a:cs typeface="Courier New" pitchFamily="34" charset="-120"/>
              </a:rPr>
              <a:t>7d1b40e</a:t>
            </a:r>
            <a:pPr indent="0" marL="0">
              <a:lnSpc>
                <a:spcPts val="2000"/>
              </a:lnSpc>
              <a:buNone/>
            </a:pPr>
            <a:r>
              <a:rPr lang="en-US" sz="1200" dirty="0">
                <a:solidFill>
                  <a:srgbClr val="E9E7E4"/>
                </a:solidFill>
                <a:latin typeface="Courier New" pitchFamily="34" charset="0"/>
                <a:ea typeface="Courier New" pitchFamily="34" charset="-122"/>
                <a:cs typeface="Courier New" pitchFamily="34" charset="-120"/>
              </a:rPr>
              <a:t>  fix: perbaiki validasi email
</a:t>
            </a:r>
            <a:pPr indent="0" marL="0">
              <a:lnSpc>
                <a:spcPts val="2000"/>
              </a:lnSpc>
              <a:buNone/>
            </a:pPr>
            <a:r>
              <a:rPr lang="en-US" sz="1200" dirty="0">
                <a:solidFill>
                  <a:srgbClr val="7F8C99"/>
                </a:solidFill>
                <a:latin typeface="Courier New" pitchFamily="34" charset="0"/>
                <a:ea typeface="Courier New" pitchFamily="34" charset="-122"/>
                <a:cs typeface="Courier New" pitchFamily="34" charset="-120"/>
              </a:rPr>
              <a:t># a3f9c21 = 7 karakter awal dari hash SHA-1 sepanjang 40 karakter</a:t>
            </a:r>
            <a:endParaRPr lang="en-US" sz="1200" dirty="0"/>
          </a:p>
        </p:txBody>
      </p:sp>
      <p:sp>
        <p:nvSpPr>
          <p:cNvPr id="28" name="Shape 22"/>
          <p:cNvSpPr/>
          <p:nvPr/>
        </p:nvSpPr>
        <p:spPr>
          <a:xfrm>
            <a:off x="7589520" y="3977640"/>
            <a:ext cx="3959352" cy="1874520"/>
          </a:xfrm>
          <a:prstGeom prst="roundRect">
            <a:avLst>
              <a:gd name="adj" fmla="val 4878"/>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29" name="Shape 23"/>
          <p:cNvSpPr/>
          <p:nvPr/>
        </p:nvSpPr>
        <p:spPr>
          <a:xfrm>
            <a:off x="7863840" y="4206240"/>
            <a:ext cx="493776" cy="493776"/>
          </a:xfrm>
          <a:prstGeom prst="ellipse">
            <a:avLst/>
          </a:prstGeom>
          <a:solidFill>
            <a:srgbClr val="F05032"/>
          </a:solidFill>
          <a:ln w="12700">
            <a:solidFill>
              <a:srgbClr val="F05032"/>
            </a:solidFill>
            <a:prstDash val="solid"/>
          </a:ln>
        </p:spPr>
      </p:sp>
      <p:pic>
        <p:nvPicPr>
          <p:cNvPr id="30" name="Image 4" descr="preencoded.png">    </p:cNvPr>
          <p:cNvPicPr>
            <a:picLocks noChangeAspect="1"/>
          </p:cNvPicPr>
          <p:nvPr/>
        </p:nvPicPr>
        <p:blipFill>
          <a:blip r:embed="rId5"/>
          <a:stretch>
            <a:fillRect/>
          </a:stretch>
        </p:blipFill>
        <p:spPr>
          <a:xfrm>
            <a:off x="7932969" y="4275369"/>
            <a:ext cx="355519" cy="355519"/>
          </a:xfrm>
          <a:prstGeom prst="rect">
            <a:avLst/>
          </a:prstGeom>
        </p:spPr>
      </p:pic>
      <p:sp>
        <p:nvSpPr>
          <p:cNvPr id="31" name="Text 24"/>
          <p:cNvSpPr txBox="1"/>
          <p:nvPr/>
        </p:nvSpPr>
        <p:spPr>
          <a:xfrm>
            <a:off x="7863840" y="4791456"/>
            <a:ext cx="3429000" cy="274320"/>
          </a:xfrm>
          <a:prstGeom prst="rect">
            <a:avLst/>
          </a:prstGeom>
          <a:noFill/>
          <a:ln/>
        </p:spPr>
        <p:txBody>
          <a:bodyPr wrap="square" lIns="0" tIns="0" rIns="0" bIns="0" rtlCol="0" anchor="ctr"/>
          <a:lstStyle/>
          <a:p>
            <a:pPr indent="0" marL="0">
              <a:buNone/>
            </a:pPr>
            <a:r>
              <a:rPr lang="en-US" sz="1450" b="1" dirty="0">
                <a:solidFill>
                  <a:srgbClr val="17171C"/>
                </a:solidFill>
                <a:latin typeface="Arial" pitchFamily="34" charset="0"/>
                <a:ea typeface="Arial" pitchFamily="34" charset="-122"/>
                <a:cs typeface="Arial" pitchFamily="34" charset="-120"/>
              </a:rPr>
              <a:t>Snapshot, Bukan Selisih</a:t>
            </a:r>
            <a:endParaRPr lang="en-US" sz="1450" dirty="0"/>
          </a:p>
        </p:txBody>
      </p:sp>
      <p:sp>
        <p:nvSpPr>
          <p:cNvPr id="32" name="Text 25"/>
          <p:cNvSpPr txBox="1"/>
          <p:nvPr/>
        </p:nvSpPr>
        <p:spPr>
          <a:xfrm>
            <a:off x="7863840" y="5084064"/>
            <a:ext cx="3429000" cy="713232"/>
          </a:xfrm>
          <a:prstGeom prst="rect">
            <a:avLst/>
          </a:prstGeom>
          <a:noFill/>
          <a:ln/>
        </p:spPr>
        <p:txBody>
          <a:bodyPr wrap="square" lIns="0" tIns="0" rIns="0" bIns="0" rtlCol="0" anchor="ctr"/>
          <a:lstStyle/>
          <a:p>
            <a:pPr indent="0" marL="0">
              <a:lnSpc>
                <a:spcPts val="1500"/>
              </a:lnSpc>
              <a:buNone/>
            </a:pPr>
            <a:r>
              <a:rPr lang="en-US" sz="1150" dirty="0">
                <a:solidFill>
                  <a:srgbClr val="4A4A55"/>
                </a:solidFill>
                <a:latin typeface="Calibri" pitchFamily="34" charset="0"/>
                <a:ea typeface="Calibri" pitchFamily="34" charset="-122"/>
                <a:cs typeface="Calibri" pitchFamily="34" charset="-120"/>
              </a:rPr>
              <a:t>Berbeda dari VCS lama yang menyimpan daftar perubahan per berkas, Git menyimpan potret utuh proyek pada setiap commit. Berkas yang tidak berubah cukup ditautkan ke objek sebelumnya.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PRAKTIK</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Siklus Kerja Harian dengan Git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640080" y="1691640"/>
            <a:ext cx="2011680" cy="274320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1362456" y="1965960"/>
            <a:ext cx="566928" cy="566928"/>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1441826" y="2045330"/>
            <a:ext cx="408188" cy="408188"/>
          </a:xfrm>
          <a:prstGeom prst="rect">
            <a:avLst/>
          </a:prstGeom>
        </p:spPr>
      </p:pic>
      <p:sp>
        <p:nvSpPr>
          <p:cNvPr id="9" name="Text 6"/>
          <p:cNvSpPr txBox="1"/>
          <p:nvPr/>
        </p:nvSpPr>
        <p:spPr>
          <a:xfrm>
            <a:off x="777240" y="2624328"/>
            <a:ext cx="1737360" cy="292608"/>
          </a:xfrm>
          <a:prstGeom prst="rect">
            <a:avLst/>
          </a:prstGeom>
          <a:noFill/>
          <a:ln/>
        </p:spPr>
        <p:txBody>
          <a:bodyPr wrap="square" lIns="0" tIns="0" rIns="0" bIns="0" rtlCol="0" anchor="ctr"/>
          <a:lstStyle/>
          <a:p>
            <a:pPr algn="ctr" indent="0" marL="0">
              <a:buNone/>
            </a:pPr>
            <a:r>
              <a:rPr lang="en-US" sz="1300" b="1" dirty="0">
                <a:solidFill>
                  <a:srgbClr val="C9C3BF"/>
                </a:solidFill>
                <a:latin typeface="Arial" pitchFamily="34" charset="0"/>
                <a:ea typeface="Arial" pitchFamily="34" charset="-122"/>
                <a:cs typeface="Arial" pitchFamily="34" charset="-120"/>
              </a:rPr>
              <a:t>1</a:t>
            </a:r>
            <a:endParaRPr lang="en-US" sz="1300" dirty="0"/>
          </a:p>
        </p:txBody>
      </p:sp>
      <p:sp>
        <p:nvSpPr>
          <p:cNvPr id="10" name="Text 7"/>
          <p:cNvSpPr txBox="1"/>
          <p:nvPr/>
        </p:nvSpPr>
        <p:spPr>
          <a:xfrm>
            <a:off x="777240" y="2935224"/>
            <a:ext cx="1737360" cy="566928"/>
          </a:xfrm>
          <a:prstGeom prst="rect">
            <a:avLst/>
          </a:prstGeom>
          <a:noFill/>
          <a:ln/>
        </p:spPr>
        <p:txBody>
          <a:bodyPr wrap="square" lIns="0" tIns="0" rIns="0" bIns="0" rtlCol="0" anchor="ctr"/>
          <a:lstStyle/>
          <a:p>
            <a:pPr algn="ctr" indent="0" marL="0">
              <a:lnSpc>
                <a:spcPts val="1800"/>
              </a:lnSpc>
              <a:buNone/>
            </a:pPr>
            <a:r>
              <a:rPr lang="en-US" sz="1400" b="1" dirty="0">
                <a:solidFill>
                  <a:srgbClr val="17171C"/>
                </a:solidFill>
                <a:latin typeface="Arial" pitchFamily="34" charset="0"/>
                <a:ea typeface="Arial" pitchFamily="34" charset="-122"/>
                <a:cs typeface="Arial" pitchFamily="34" charset="-120"/>
              </a:rPr>
              <a:t>Siapkan Repositori</a:t>
            </a:r>
            <a:endParaRPr lang="en-US" sz="1400" dirty="0"/>
          </a:p>
        </p:txBody>
      </p:sp>
      <p:sp>
        <p:nvSpPr>
          <p:cNvPr id="11" name="Text 8"/>
          <p:cNvSpPr txBox="1"/>
          <p:nvPr/>
        </p:nvSpPr>
        <p:spPr>
          <a:xfrm>
            <a:off x="758952" y="3538728"/>
            <a:ext cx="1773936" cy="749808"/>
          </a:xfrm>
          <a:prstGeom prst="rect">
            <a:avLst/>
          </a:prstGeom>
          <a:noFill/>
          <a:ln/>
        </p:spPr>
        <p:txBody>
          <a:bodyPr wrap="square" lIns="0" tIns="0" rIns="0" bIns="0" rtlCol="0" anchor="ctr"/>
          <a:lstStyle/>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init  atau</a:t>
            </a:r>
            <a:endParaRPr lang="en-US" sz="1050" dirty="0"/>
          </a:p>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clone &lt;url&gt;</a:t>
            </a:r>
            <a:endParaRPr lang="en-US" sz="1050" dirty="0"/>
          </a:p>
        </p:txBody>
      </p:sp>
      <p:sp>
        <p:nvSpPr>
          <p:cNvPr id="12" name="Shape 9"/>
          <p:cNvSpPr/>
          <p:nvPr/>
        </p:nvSpPr>
        <p:spPr>
          <a:xfrm>
            <a:off x="2679192" y="3063240"/>
            <a:ext cx="201168" cy="0"/>
          </a:xfrm>
          <a:prstGeom prst="line">
            <a:avLst/>
          </a:prstGeom>
          <a:noFill/>
          <a:ln w="25400">
            <a:solidFill>
              <a:srgbClr val="C9C3BF"/>
            </a:solidFill>
            <a:prstDash val="solid"/>
            <a:tailEnd type="triangle"/>
          </a:ln>
        </p:spPr>
      </p:sp>
      <p:sp>
        <p:nvSpPr>
          <p:cNvPr id="13" name="Shape 10"/>
          <p:cNvSpPr/>
          <p:nvPr/>
        </p:nvSpPr>
        <p:spPr>
          <a:xfrm>
            <a:off x="2907792" y="1691640"/>
            <a:ext cx="2011680" cy="274320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3630168" y="1965960"/>
            <a:ext cx="566928" cy="566928"/>
          </a:xfrm>
          <a:prstGeom prst="ellipse">
            <a:avLst/>
          </a:prstGeom>
          <a:solidFill>
            <a:srgbClr val="F05032"/>
          </a:solidFill>
          <a:ln w="12700">
            <a:solidFill>
              <a:srgbClr val="F05032"/>
            </a:solidFill>
            <a:prstDash val="solid"/>
          </a:ln>
        </p:spPr>
      </p:sp>
      <p:pic>
        <p:nvPicPr>
          <p:cNvPr id="15" name="Image 1" descr="preencoded.png">    </p:cNvPr>
          <p:cNvPicPr>
            <a:picLocks noChangeAspect="1"/>
          </p:cNvPicPr>
          <p:nvPr/>
        </p:nvPicPr>
        <p:blipFill>
          <a:blip r:embed="rId2"/>
          <a:stretch>
            <a:fillRect/>
          </a:stretch>
        </p:blipFill>
        <p:spPr>
          <a:xfrm>
            <a:off x="3709538" y="2045330"/>
            <a:ext cx="408188" cy="408188"/>
          </a:xfrm>
          <a:prstGeom prst="rect">
            <a:avLst/>
          </a:prstGeom>
        </p:spPr>
      </p:pic>
      <p:sp>
        <p:nvSpPr>
          <p:cNvPr id="16" name="Text 12"/>
          <p:cNvSpPr txBox="1"/>
          <p:nvPr/>
        </p:nvSpPr>
        <p:spPr>
          <a:xfrm>
            <a:off x="3044952" y="2624328"/>
            <a:ext cx="1737360" cy="292608"/>
          </a:xfrm>
          <a:prstGeom prst="rect">
            <a:avLst/>
          </a:prstGeom>
          <a:noFill/>
          <a:ln/>
        </p:spPr>
        <p:txBody>
          <a:bodyPr wrap="square" lIns="0" tIns="0" rIns="0" bIns="0" rtlCol="0" anchor="ctr"/>
          <a:lstStyle/>
          <a:p>
            <a:pPr algn="ctr" indent="0" marL="0">
              <a:buNone/>
            </a:pPr>
            <a:r>
              <a:rPr lang="en-US" sz="1300" b="1" dirty="0">
                <a:solidFill>
                  <a:srgbClr val="C9C3BF"/>
                </a:solidFill>
                <a:latin typeface="Arial" pitchFamily="34" charset="0"/>
                <a:ea typeface="Arial" pitchFamily="34" charset="-122"/>
                <a:cs typeface="Arial" pitchFamily="34" charset="-120"/>
              </a:rPr>
              <a:t>2</a:t>
            </a:r>
            <a:endParaRPr lang="en-US" sz="1300" dirty="0"/>
          </a:p>
        </p:txBody>
      </p:sp>
      <p:sp>
        <p:nvSpPr>
          <p:cNvPr id="17" name="Text 13"/>
          <p:cNvSpPr txBox="1"/>
          <p:nvPr/>
        </p:nvSpPr>
        <p:spPr>
          <a:xfrm>
            <a:off x="3044952" y="2935224"/>
            <a:ext cx="1737360" cy="566928"/>
          </a:xfrm>
          <a:prstGeom prst="rect">
            <a:avLst/>
          </a:prstGeom>
          <a:noFill/>
          <a:ln/>
        </p:spPr>
        <p:txBody>
          <a:bodyPr wrap="square" lIns="0" tIns="0" rIns="0" bIns="0" rtlCol="0" anchor="ctr"/>
          <a:lstStyle/>
          <a:p>
            <a:pPr algn="ctr" indent="0" marL="0">
              <a:lnSpc>
                <a:spcPts val="1800"/>
              </a:lnSpc>
              <a:buNone/>
            </a:pPr>
            <a:r>
              <a:rPr lang="en-US" sz="1400" b="1" dirty="0">
                <a:solidFill>
                  <a:srgbClr val="17171C"/>
                </a:solidFill>
                <a:latin typeface="Arial" pitchFamily="34" charset="0"/>
                <a:ea typeface="Arial" pitchFamily="34" charset="-122"/>
                <a:cs typeface="Arial" pitchFamily="34" charset="-120"/>
              </a:rPr>
              <a:t>Ubah Berkas</a:t>
            </a:r>
            <a:endParaRPr lang="en-US" sz="1400" dirty="0"/>
          </a:p>
        </p:txBody>
      </p:sp>
      <p:sp>
        <p:nvSpPr>
          <p:cNvPr id="18" name="Text 14"/>
          <p:cNvSpPr txBox="1"/>
          <p:nvPr/>
        </p:nvSpPr>
        <p:spPr>
          <a:xfrm>
            <a:off x="3026664" y="3538728"/>
            <a:ext cx="1773936" cy="749808"/>
          </a:xfrm>
          <a:prstGeom prst="rect">
            <a:avLst/>
          </a:prstGeom>
          <a:noFill/>
          <a:ln/>
        </p:spPr>
        <p:txBody>
          <a:bodyPr wrap="square" lIns="0" tIns="0" rIns="0" bIns="0" rtlCol="0" anchor="ctr"/>
          <a:lstStyle/>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Edit kode seperti biasa</a:t>
            </a:r>
            <a:endParaRPr lang="en-US" sz="1050" dirty="0"/>
          </a:p>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di editor favorit Anda</a:t>
            </a:r>
            <a:endParaRPr lang="en-US" sz="1050" dirty="0"/>
          </a:p>
        </p:txBody>
      </p:sp>
      <p:sp>
        <p:nvSpPr>
          <p:cNvPr id="19" name="Shape 15"/>
          <p:cNvSpPr/>
          <p:nvPr/>
        </p:nvSpPr>
        <p:spPr>
          <a:xfrm>
            <a:off x="4946904" y="3063240"/>
            <a:ext cx="201168" cy="0"/>
          </a:xfrm>
          <a:prstGeom prst="line">
            <a:avLst/>
          </a:prstGeom>
          <a:noFill/>
          <a:ln w="25400">
            <a:solidFill>
              <a:srgbClr val="C9C3BF"/>
            </a:solidFill>
            <a:prstDash val="solid"/>
            <a:tailEnd type="triangle"/>
          </a:ln>
        </p:spPr>
      </p:sp>
      <p:sp>
        <p:nvSpPr>
          <p:cNvPr id="20" name="Shape 16"/>
          <p:cNvSpPr/>
          <p:nvPr/>
        </p:nvSpPr>
        <p:spPr>
          <a:xfrm>
            <a:off x="5175504" y="1691640"/>
            <a:ext cx="2011680" cy="274320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1" name="Shape 17"/>
          <p:cNvSpPr/>
          <p:nvPr/>
        </p:nvSpPr>
        <p:spPr>
          <a:xfrm>
            <a:off x="5897880" y="1965960"/>
            <a:ext cx="566928" cy="566928"/>
          </a:xfrm>
          <a:prstGeom prst="ellipse">
            <a:avLst/>
          </a:prstGeom>
          <a:solidFill>
            <a:srgbClr val="F05032"/>
          </a:solidFill>
          <a:ln w="12700">
            <a:solidFill>
              <a:srgbClr val="F05032"/>
            </a:solidFill>
            <a:prstDash val="solid"/>
          </a:ln>
        </p:spPr>
      </p:sp>
      <p:pic>
        <p:nvPicPr>
          <p:cNvPr id="22" name="Image 2" descr="preencoded.png">    </p:cNvPr>
          <p:cNvPicPr>
            <a:picLocks noChangeAspect="1"/>
          </p:cNvPicPr>
          <p:nvPr/>
        </p:nvPicPr>
        <p:blipFill>
          <a:blip r:embed="rId3"/>
          <a:stretch>
            <a:fillRect/>
          </a:stretch>
        </p:blipFill>
        <p:spPr>
          <a:xfrm>
            <a:off x="5977250" y="2045330"/>
            <a:ext cx="408188" cy="408188"/>
          </a:xfrm>
          <a:prstGeom prst="rect">
            <a:avLst/>
          </a:prstGeom>
        </p:spPr>
      </p:pic>
      <p:sp>
        <p:nvSpPr>
          <p:cNvPr id="23" name="Text 18"/>
          <p:cNvSpPr txBox="1"/>
          <p:nvPr/>
        </p:nvSpPr>
        <p:spPr>
          <a:xfrm>
            <a:off x="5312664" y="2624328"/>
            <a:ext cx="1737360" cy="292608"/>
          </a:xfrm>
          <a:prstGeom prst="rect">
            <a:avLst/>
          </a:prstGeom>
          <a:noFill/>
          <a:ln/>
        </p:spPr>
        <p:txBody>
          <a:bodyPr wrap="square" lIns="0" tIns="0" rIns="0" bIns="0" rtlCol="0" anchor="ctr"/>
          <a:lstStyle/>
          <a:p>
            <a:pPr algn="ctr" indent="0" marL="0">
              <a:buNone/>
            </a:pPr>
            <a:r>
              <a:rPr lang="en-US" sz="1300" b="1" dirty="0">
                <a:solidFill>
                  <a:srgbClr val="C9C3BF"/>
                </a:solidFill>
                <a:latin typeface="Arial" pitchFamily="34" charset="0"/>
                <a:ea typeface="Arial" pitchFamily="34" charset="-122"/>
                <a:cs typeface="Arial" pitchFamily="34" charset="-120"/>
              </a:rPr>
              <a:t>3</a:t>
            </a:r>
            <a:endParaRPr lang="en-US" sz="1300" dirty="0"/>
          </a:p>
        </p:txBody>
      </p:sp>
      <p:sp>
        <p:nvSpPr>
          <p:cNvPr id="24" name="Text 19"/>
          <p:cNvSpPr txBox="1"/>
          <p:nvPr/>
        </p:nvSpPr>
        <p:spPr>
          <a:xfrm>
            <a:off x="5312664" y="2935224"/>
            <a:ext cx="1737360" cy="566928"/>
          </a:xfrm>
          <a:prstGeom prst="rect">
            <a:avLst/>
          </a:prstGeom>
          <a:noFill/>
          <a:ln/>
        </p:spPr>
        <p:txBody>
          <a:bodyPr wrap="square" lIns="0" tIns="0" rIns="0" bIns="0" rtlCol="0" anchor="ctr"/>
          <a:lstStyle/>
          <a:p>
            <a:pPr algn="ctr" indent="0" marL="0">
              <a:lnSpc>
                <a:spcPts val="1800"/>
              </a:lnSpc>
              <a:buNone/>
            </a:pPr>
            <a:r>
              <a:rPr lang="en-US" sz="1400" b="1" dirty="0">
                <a:solidFill>
                  <a:srgbClr val="17171C"/>
                </a:solidFill>
                <a:latin typeface="Arial" pitchFamily="34" charset="0"/>
                <a:ea typeface="Arial" pitchFamily="34" charset="-122"/>
                <a:cs typeface="Arial" pitchFamily="34" charset="-120"/>
              </a:rPr>
              <a:t>Periksa &amp; Pilih</a:t>
            </a:r>
            <a:endParaRPr lang="en-US" sz="1400" dirty="0"/>
          </a:p>
        </p:txBody>
      </p:sp>
      <p:sp>
        <p:nvSpPr>
          <p:cNvPr id="25" name="Text 20"/>
          <p:cNvSpPr txBox="1"/>
          <p:nvPr/>
        </p:nvSpPr>
        <p:spPr>
          <a:xfrm>
            <a:off x="5294376" y="3538728"/>
            <a:ext cx="1773936" cy="749808"/>
          </a:xfrm>
          <a:prstGeom prst="rect">
            <a:avLst/>
          </a:prstGeom>
          <a:noFill/>
          <a:ln/>
        </p:spPr>
        <p:txBody>
          <a:bodyPr wrap="square" lIns="0" tIns="0" rIns="0" bIns="0" rtlCol="0" anchor="ctr"/>
          <a:lstStyle/>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status</a:t>
            </a:r>
            <a:endParaRPr lang="en-US" sz="1050" dirty="0"/>
          </a:p>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add &lt;file&gt;</a:t>
            </a:r>
            <a:endParaRPr lang="en-US" sz="1050" dirty="0"/>
          </a:p>
        </p:txBody>
      </p:sp>
      <p:sp>
        <p:nvSpPr>
          <p:cNvPr id="26" name="Shape 21"/>
          <p:cNvSpPr/>
          <p:nvPr/>
        </p:nvSpPr>
        <p:spPr>
          <a:xfrm>
            <a:off x="7214616" y="3063240"/>
            <a:ext cx="201168" cy="0"/>
          </a:xfrm>
          <a:prstGeom prst="line">
            <a:avLst/>
          </a:prstGeom>
          <a:noFill/>
          <a:ln w="25400">
            <a:solidFill>
              <a:srgbClr val="C9C3BF"/>
            </a:solidFill>
            <a:prstDash val="solid"/>
            <a:tailEnd type="triangle"/>
          </a:ln>
        </p:spPr>
      </p:sp>
      <p:sp>
        <p:nvSpPr>
          <p:cNvPr id="27" name="Shape 22"/>
          <p:cNvSpPr/>
          <p:nvPr/>
        </p:nvSpPr>
        <p:spPr>
          <a:xfrm>
            <a:off x="7443216" y="1691640"/>
            <a:ext cx="2011680" cy="274320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8" name="Shape 23"/>
          <p:cNvSpPr/>
          <p:nvPr/>
        </p:nvSpPr>
        <p:spPr>
          <a:xfrm>
            <a:off x="8165592" y="1965960"/>
            <a:ext cx="566928" cy="566928"/>
          </a:xfrm>
          <a:prstGeom prst="ellipse">
            <a:avLst/>
          </a:prstGeom>
          <a:solidFill>
            <a:srgbClr val="F05032"/>
          </a:solidFill>
          <a:ln w="12700">
            <a:solidFill>
              <a:srgbClr val="F05032"/>
            </a:solidFill>
            <a:prstDash val="solid"/>
          </a:ln>
        </p:spPr>
      </p:sp>
      <p:pic>
        <p:nvPicPr>
          <p:cNvPr id="29" name="Image 3" descr="preencoded.png">    </p:cNvPr>
          <p:cNvPicPr>
            <a:picLocks noChangeAspect="1"/>
          </p:cNvPicPr>
          <p:nvPr/>
        </p:nvPicPr>
        <p:blipFill>
          <a:blip r:embed="rId4"/>
          <a:stretch>
            <a:fillRect/>
          </a:stretch>
        </p:blipFill>
        <p:spPr>
          <a:xfrm>
            <a:off x="8244962" y="2045330"/>
            <a:ext cx="408188" cy="408188"/>
          </a:xfrm>
          <a:prstGeom prst="rect">
            <a:avLst/>
          </a:prstGeom>
        </p:spPr>
      </p:pic>
      <p:sp>
        <p:nvSpPr>
          <p:cNvPr id="30" name="Text 24"/>
          <p:cNvSpPr txBox="1"/>
          <p:nvPr/>
        </p:nvSpPr>
        <p:spPr>
          <a:xfrm>
            <a:off x="7580376" y="2624328"/>
            <a:ext cx="1737360" cy="292608"/>
          </a:xfrm>
          <a:prstGeom prst="rect">
            <a:avLst/>
          </a:prstGeom>
          <a:noFill/>
          <a:ln/>
        </p:spPr>
        <p:txBody>
          <a:bodyPr wrap="square" lIns="0" tIns="0" rIns="0" bIns="0" rtlCol="0" anchor="ctr"/>
          <a:lstStyle/>
          <a:p>
            <a:pPr algn="ctr" indent="0" marL="0">
              <a:buNone/>
            </a:pPr>
            <a:r>
              <a:rPr lang="en-US" sz="1300" b="1" dirty="0">
                <a:solidFill>
                  <a:srgbClr val="C9C3BF"/>
                </a:solidFill>
                <a:latin typeface="Arial" pitchFamily="34" charset="0"/>
                <a:ea typeface="Arial" pitchFamily="34" charset="-122"/>
                <a:cs typeface="Arial" pitchFamily="34" charset="-120"/>
              </a:rPr>
              <a:t>4</a:t>
            </a:r>
            <a:endParaRPr lang="en-US" sz="1300" dirty="0"/>
          </a:p>
        </p:txBody>
      </p:sp>
      <p:sp>
        <p:nvSpPr>
          <p:cNvPr id="31" name="Text 25"/>
          <p:cNvSpPr txBox="1"/>
          <p:nvPr/>
        </p:nvSpPr>
        <p:spPr>
          <a:xfrm>
            <a:off x="7580376" y="2935224"/>
            <a:ext cx="1737360" cy="566928"/>
          </a:xfrm>
          <a:prstGeom prst="rect">
            <a:avLst/>
          </a:prstGeom>
          <a:noFill/>
          <a:ln/>
        </p:spPr>
        <p:txBody>
          <a:bodyPr wrap="square" lIns="0" tIns="0" rIns="0" bIns="0" rtlCol="0" anchor="ctr"/>
          <a:lstStyle/>
          <a:p>
            <a:pPr algn="ctr" indent="0" marL="0">
              <a:lnSpc>
                <a:spcPts val="1800"/>
              </a:lnSpc>
              <a:buNone/>
            </a:pPr>
            <a:r>
              <a:rPr lang="en-US" sz="1400" b="1" dirty="0">
                <a:solidFill>
                  <a:srgbClr val="17171C"/>
                </a:solidFill>
                <a:latin typeface="Arial" pitchFamily="34" charset="0"/>
                <a:ea typeface="Arial" pitchFamily="34" charset="-122"/>
                <a:cs typeface="Arial" pitchFamily="34" charset="-120"/>
              </a:rPr>
              <a:t>Simpan Snapshot</a:t>
            </a:r>
            <a:endParaRPr lang="en-US" sz="1400" dirty="0"/>
          </a:p>
        </p:txBody>
      </p:sp>
      <p:sp>
        <p:nvSpPr>
          <p:cNvPr id="32" name="Text 26"/>
          <p:cNvSpPr txBox="1"/>
          <p:nvPr/>
        </p:nvSpPr>
        <p:spPr>
          <a:xfrm>
            <a:off x="7562088" y="3538728"/>
            <a:ext cx="1773936" cy="749808"/>
          </a:xfrm>
          <a:prstGeom prst="rect">
            <a:avLst/>
          </a:prstGeom>
          <a:noFill/>
          <a:ln/>
        </p:spPr>
        <p:txBody>
          <a:bodyPr wrap="square" lIns="0" tIns="0" rIns="0" bIns="0" rtlCol="0" anchor="ctr"/>
          <a:lstStyle/>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commit -m "pesan"</a:t>
            </a:r>
            <a:endParaRPr lang="en-US" sz="1050" dirty="0"/>
          </a:p>
        </p:txBody>
      </p:sp>
      <p:sp>
        <p:nvSpPr>
          <p:cNvPr id="33" name="Shape 27"/>
          <p:cNvSpPr/>
          <p:nvPr/>
        </p:nvSpPr>
        <p:spPr>
          <a:xfrm>
            <a:off x="9482328" y="3063240"/>
            <a:ext cx="201168" cy="0"/>
          </a:xfrm>
          <a:prstGeom prst="line">
            <a:avLst/>
          </a:prstGeom>
          <a:noFill/>
          <a:ln w="25400">
            <a:solidFill>
              <a:srgbClr val="C9C3BF"/>
            </a:solidFill>
            <a:prstDash val="solid"/>
            <a:tailEnd type="triangle"/>
          </a:ln>
        </p:spPr>
      </p:sp>
      <p:sp>
        <p:nvSpPr>
          <p:cNvPr id="34" name="Shape 28"/>
          <p:cNvSpPr/>
          <p:nvPr/>
        </p:nvSpPr>
        <p:spPr>
          <a:xfrm>
            <a:off x="9710928" y="1691640"/>
            <a:ext cx="2011680" cy="274320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35" name="Shape 29"/>
          <p:cNvSpPr/>
          <p:nvPr/>
        </p:nvSpPr>
        <p:spPr>
          <a:xfrm>
            <a:off x="10433304" y="1965960"/>
            <a:ext cx="566928" cy="566928"/>
          </a:xfrm>
          <a:prstGeom prst="ellipse">
            <a:avLst/>
          </a:prstGeom>
          <a:solidFill>
            <a:srgbClr val="F05032"/>
          </a:solidFill>
          <a:ln w="12700">
            <a:solidFill>
              <a:srgbClr val="F05032"/>
            </a:solidFill>
            <a:prstDash val="solid"/>
          </a:ln>
        </p:spPr>
      </p:sp>
      <p:pic>
        <p:nvPicPr>
          <p:cNvPr id="36" name="Image 4" descr="preencoded.png">    </p:cNvPr>
          <p:cNvPicPr>
            <a:picLocks noChangeAspect="1"/>
          </p:cNvPicPr>
          <p:nvPr/>
        </p:nvPicPr>
        <p:blipFill>
          <a:blip r:embed="rId5"/>
          <a:stretch>
            <a:fillRect/>
          </a:stretch>
        </p:blipFill>
        <p:spPr>
          <a:xfrm>
            <a:off x="10512674" y="2045330"/>
            <a:ext cx="408188" cy="408188"/>
          </a:xfrm>
          <a:prstGeom prst="rect">
            <a:avLst/>
          </a:prstGeom>
        </p:spPr>
      </p:pic>
      <p:sp>
        <p:nvSpPr>
          <p:cNvPr id="37" name="Text 30"/>
          <p:cNvSpPr txBox="1"/>
          <p:nvPr/>
        </p:nvSpPr>
        <p:spPr>
          <a:xfrm>
            <a:off x="9848088" y="2624328"/>
            <a:ext cx="1737360" cy="292608"/>
          </a:xfrm>
          <a:prstGeom prst="rect">
            <a:avLst/>
          </a:prstGeom>
          <a:noFill/>
          <a:ln/>
        </p:spPr>
        <p:txBody>
          <a:bodyPr wrap="square" lIns="0" tIns="0" rIns="0" bIns="0" rtlCol="0" anchor="ctr"/>
          <a:lstStyle/>
          <a:p>
            <a:pPr algn="ctr" indent="0" marL="0">
              <a:buNone/>
            </a:pPr>
            <a:r>
              <a:rPr lang="en-US" sz="1300" b="1" dirty="0">
                <a:solidFill>
                  <a:srgbClr val="C9C3BF"/>
                </a:solidFill>
                <a:latin typeface="Arial" pitchFamily="34" charset="0"/>
                <a:ea typeface="Arial" pitchFamily="34" charset="-122"/>
                <a:cs typeface="Arial" pitchFamily="34" charset="-120"/>
              </a:rPr>
              <a:t>5</a:t>
            </a:r>
            <a:endParaRPr lang="en-US" sz="1300" dirty="0"/>
          </a:p>
        </p:txBody>
      </p:sp>
      <p:sp>
        <p:nvSpPr>
          <p:cNvPr id="38" name="Text 31"/>
          <p:cNvSpPr txBox="1"/>
          <p:nvPr/>
        </p:nvSpPr>
        <p:spPr>
          <a:xfrm>
            <a:off x="9848088" y="2935224"/>
            <a:ext cx="1737360" cy="566928"/>
          </a:xfrm>
          <a:prstGeom prst="rect">
            <a:avLst/>
          </a:prstGeom>
          <a:noFill/>
          <a:ln/>
        </p:spPr>
        <p:txBody>
          <a:bodyPr wrap="square" lIns="0" tIns="0" rIns="0" bIns="0" rtlCol="0" anchor="ctr"/>
          <a:lstStyle/>
          <a:p>
            <a:pPr algn="ctr" indent="0" marL="0">
              <a:lnSpc>
                <a:spcPts val="1800"/>
              </a:lnSpc>
              <a:buNone/>
            </a:pPr>
            <a:r>
              <a:rPr lang="en-US" sz="1400" b="1" dirty="0">
                <a:solidFill>
                  <a:srgbClr val="17171C"/>
                </a:solidFill>
                <a:latin typeface="Arial" pitchFamily="34" charset="0"/>
                <a:ea typeface="Arial" pitchFamily="34" charset="-122"/>
                <a:cs typeface="Arial" pitchFamily="34" charset="-120"/>
              </a:rPr>
              <a:t>Bagikan ke Tim</a:t>
            </a:r>
            <a:endParaRPr lang="en-US" sz="1400" dirty="0"/>
          </a:p>
        </p:txBody>
      </p:sp>
      <p:sp>
        <p:nvSpPr>
          <p:cNvPr id="39" name="Text 32"/>
          <p:cNvSpPr txBox="1"/>
          <p:nvPr/>
        </p:nvSpPr>
        <p:spPr>
          <a:xfrm>
            <a:off x="9829800" y="3538728"/>
            <a:ext cx="1773936" cy="749808"/>
          </a:xfrm>
          <a:prstGeom prst="rect">
            <a:avLst/>
          </a:prstGeom>
          <a:noFill/>
          <a:ln/>
        </p:spPr>
        <p:txBody>
          <a:bodyPr wrap="square" lIns="0" tIns="0" rIns="0" bIns="0" rtlCol="0" anchor="ctr"/>
          <a:lstStyle/>
          <a:p>
            <a:pPr algn="ctr" indent="0" marL="0">
              <a:lnSpc>
                <a:spcPts val="1500"/>
              </a:lnSpc>
              <a:buNone/>
            </a:pPr>
            <a:r>
              <a:rPr lang="en-US" sz="1050" dirty="0">
                <a:solidFill>
                  <a:srgbClr val="C63C22"/>
                </a:solidFill>
                <a:latin typeface="Courier New" pitchFamily="34" charset="0"/>
                <a:ea typeface="Courier New" pitchFamily="34" charset="-122"/>
                <a:cs typeface="Courier New" pitchFamily="34" charset="-120"/>
              </a:rPr>
              <a:t>git push origin main</a:t>
            </a:r>
            <a:endParaRPr lang="en-US" sz="1050" dirty="0"/>
          </a:p>
        </p:txBody>
      </p:sp>
      <p:sp>
        <p:nvSpPr>
          <p:cNvPr id="40" name="Shape 33"/>
          <p:cNvSpPr/>
          <p:nvPr/>
        </p:nvSpPr>
        <p:spPr>
          <a:xfrm>
            <a:off x="640080" y="4681728"/>
            <a:ext cx="10908792" cy="1188720"/>
          </a:xfrm>
          <a:prstGeom prst="roundRect">
            <a:avLst>
              <a:gd name="adj" fmla="val 7692"/>
            </a:avLst>
          </a:prstGeom>
          <a:solidFill>
            <a:srgbClr val="17171C"/>
          </a:solidFill>
          <a:ln w="12700">
            <a:solidFill>
              <a:srgbClr val="17171C"/>
            </a:solidFill>
            <a:prstDash val="solid"/>
          </a:ln>
          <a:effectLst>
            <a:outerShdw sx="100000" sy="100000" kx="0" ky="0" algn="bl" rotWithShape="0" blurRad="127000" dist="25400" dir="5400000">
              <a:srgbClr val="9A9086">
                <a:alpha val="18000"/>
              </a:srgbClr>
            </a:outerShdw>
          </a:effectLst>
        </p:spPr>
      </p:sp>
      <p:sp>
        <p:nvSpPr>
          <p:cNvPr id="41" name="Shape 34"/>
          <p:cNvSpPr/>
          <p:nvPr/>
        </p:nvSpPr>
        <p:spPr>
          <a:xfrm>
            <a:off x="932688" y="5010912"/>
            <a:ext cx="530352" cy="530352"/>
          </a:xfrm>
          <a:prstGeom prst="ellipse">
            <a:avLst/>
          </a:prstGeom>
          <a:solidFill>
            <a:srgbClr val="F05032"/>
          </a:solidFill>
          <a:ln w="12700">
            <a:solidFill>
              <a:srgbClr val="F05032"/>
            </a:solidFill>
            <a:prstDash val="solid"/>
          </a:ln>
        </p:spPr>
      </p:sp>
      <p:pic>
        <p:nvPicPr>
          <p:cNvPr id="42" name="Image 5" descr="preencoded.png">    </p:cNvPr>
          <p:cNvPicPr>
            <a:picLocks noChangeAspect="1"/>
          </p:cNvPicPr>
          <p:nvPr/>
        </p:nvPicPr>
        <p:blipFill>
          <a:blip r:embed="rId6"/>
          <a:stretch>
            <a:fillRect/>
          </a:stretch>
        </p:blipFill>
        <p:spPr>
          <a:xfrm>
            <a:off x="1006937" y="5085161"/>
            <a:ext cx="381853" cy="381853"/>
          </a:xfrm>
          <a:prstGeom prst="rect">
            <a:avLst/>
          </a:prstGeom>
        </p:spPr>
      </p:pic>
      <p:sp>
        <p:nvSpPr>
          <p:cNvPr id="43" name="Text 35"/>
          <p:cNvSpPr txBox="1"/>
          <p:nvPr/>
        </p:nvSpPr>
        <p:spPr>
          <a:xfrm>
            <a:off x="1609344" y="4864608"/>
            <a:ext cx="9601200" cy="822960"/>
          </a:xfrm>
          <a:prstGeom prst="rect">
            <a:avLst/>
          </a:prstGeom>
          <a:noFill/>
          <a:ln/>
        </p:spPr>
        <p:txBody>
          <a:bodyPr wrap="square" lIns="0" tIns="0" rIns="0" bIns="0" rtlCol="0" anchor="ctr"/>
          <a:lstStyle/>
          <a:p>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Siklus ini berulang terus-menerus. </a:t>
            </a:r>
            <a:pPr indent="0" marL="0">
              <a:lnSpc>
                <a:spcPts val="1900"/>
              </a:lnSpc>
              <a:buNone/>
            </a:pPr>
            <a:r>
              <a:rPr lang="en-US" sz="1350" dirty="0">
                <a:solidFill>
                  <a:srgbClr val="B6B6C2"/>
                </a:solidFill>
                <a:latin typeface="Calibri" pitchFamily="34" charset="0"/>
                <a:ea typeface="Calibri" pitchFamily="34" charset="-122"/>
                <a:cs typeface="Calibri" pitchFamily="34" charset="-120"/>
              </a:rPr>
              <a:t>Commit sebaiknya kecil dan fokus pada satu perubahan logis, sehingga riwayat mudah dibaca dan mudah dibatalkan bila terjadi kesalahan. Jalankan </a:t>
            </a:r>
            <a:pPr indent="0" marL="0">
              <a:lnSpc>
                <a:spcPts val="1900"/>
              </a:lnSpc>
              <a:buNone/>
            </a:pPr>
            <a:r>
              <a:rPr lang="en-US" sz="1350" dirty="0">
                <a:solidFill>
                  <a:srgbClr val="F05032"/>
                </a:solidFill>
                <a:latin typeface="Courier New" pitchFamily="34" charset="0"/>
                <a:ea typeface="Courier New" pitchFamily="34" charset="-122"/>
                <a:cs typeface="Courier New" pitchFamily="34" charset="-120"/>
              </a:rPr>
              <a:t>git status</a:t>
            </a:r>
            <a:pPr indent="0" marL="0">
              <a:lnSpc>
                <a:spcPts val="1900"/>
              </a:lnSpc>
              <a:buNone/>
            </a:pPr>
            <a:r>
              <a:rPr lang="en-US" sz="1350" dirty="0">
                <a:solidFill>
                  <a:srgbClr val="B6B6C2"/>
                </a:solidFill>
                <a:latin typeface="Calibri" pitchFamily="34" charset="0"/>
                <a:ea typeface="Calibri" pitchFamily="34" charset="-122"/>
                <a:cs typeface="Calibri" pitchFamily="34" charset="-120"/>
              </a:rPr>
              <a:t> sesering mungkin — perintah ini adalah kompas Anda.</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REFERENSI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Perintah Dasar yang Wajib Dikuasai</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640080" y="1572768"/>
            <a:ext cx="5330952" cy="685800"/>
          </a:xfrm>
          <a:prstGeom prst="roundRect">
            <a:avLst>
              <a:gd name="adj" fmla="val 8000"/>
            </a:avLst>
          </a:prstGeom>
          <a:solidFill>
            <a:srgbClr val="F4F2F1"/>
          </a:solidFill>
          <a:ln w="12700">
            <a:solidFill>
              <a:srgbClr val="EAE7E5"/>
            </a:solidFill>
            <a:prstDash val="solid"/>
          </a:ln>
        </p:spPr>
      </p:sp>
      <p:sp>
        <p:nvSpPr>
          <p:cNvPr id="7" name="Text 5"/>
          <p:cNvSpPr txBox="1"/>
          <p:nvPr/>
        </p:nvSpPr>
        <p:spPr>
          <a:xfrm>
            <a:off x="841248" y="1655064"/>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init</a:t>
            </a:r>
            <a:endParaRPr lang="en-US" sz="1250" dirty="0"/>
          </a:p>
        </p:txBody>
      </p:sp>
      <p:sp>
        <p:nvSpPr>
          <p:cNvPr id="8" name="Text 6"/>
          <p:cNvSpPr txBox="1"/>
          <p:nvPr/>
        </p:nvSpPr>
        <p:spPr>
          <a:xfrm>
            <a:off x="841248" y="1920240"/>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Membuat repositori Git baru di folder saat ini.</a:t>
            </a:r>
            <a:endParaRPr lang="en-US" sz="1200" dirty="0"/>
          </a:p>
        </p:txBody>
      </p:sp>
      <p:sp>
        <p:nvSpPr>
          <p:cNvPr id="9" name="Shape 7"/>
          <p:cNvSpPr/>
          <p:nvPr/>
        </p:nvSpPr>
        <p:spPr>
          <a:xfrm>
            <a:off x="6217920" y="1572768"/>
            <a:ext cx="5330952" cy="685800"/>
          </a:xfrm>
          <a:prstGeom prst="roundRect">
            <a:avLst>
              <a:gd name="adj" fmla="val 8000"/>
            </a:avLst>
          </a:prstGeom>
          <a:solidFill>
            <a:srgbClr val="F4F2F1"/>
          </a:solidFill>
          <a:ln w="12700">
            <a:solidFill>
              <a:srgbClr val="EAE7E5"/>
            </a:solidFill>
            <a:prstDash val="solid"/>
          </a:ln>
        </p:spPr>
      </p:sp>
      <p:sp>
        <p:nvSpPr>
          <p:cNvPr id="10" name="Text 8"/>
          <p:cNvSpPr txBox="1"/>
          <p:nvPr/>
        </p:nvSpPr>
        <p:spPr>
          <a:xfrm>
            <a:off x="6419088" y="1655064"/>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clone &lt;url&gt;</a:t>
            </a:r>
            <a:endParaRPr lang="en-US" sz="1250" dirty="0"/>
          </a:p>
        </p:txBody>
      </p:sp>
      <p:sp>
        <p:nvSpPr>
          <p:cNvPr id="11" name="Text 9"/>
          <p:cNvSpPr txBox="1"/>
          <p:nvPr/>
        </p:nvSpPr>
        <p:spPr>
          <a:xfrm>
            <a:off x="6419088" y="1920240"/>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Menyalin repositori remote beserta seluruh riwayatnya.</a:t>
            </a:r>
            <a:endParaRPr lang="en-US" sz="1200" dirty="0"/>
          </a:p>
        </p:txBody>
      </p:sp>
      <p:sp>
        <p:nvSpPr>
          <p:cNvPr id="12" name="Shape 10"/>
          <p:cNvSpPr/>
          <p:nvPr/>
        </p:nvSpPr>
        <p:spPr>
          <a:xfrm>
            <a:off x="640080" y="2377440"/>
            <a:ext cx="5330952" cy="685800"/>
          </a:xfrm>
          <a:prstGeom prst="roundRect">
            <a:avLst>
              <a:gd name="adj" fmla="val 8000"/>
            </a:avLst>
          </a:prstGeom>
          <a:solidFill>
            <a:srgbClr val="F4F2F1"/>
          </a:solidFill>
          <a:ln w="12700">
            <a:solidFill>
              <a:srgbClr val="EAE7E5"/>
            </a:solidFill>
            <a:prstDash val="solid"/>
          </a:ln>
        </p:spPr>
      </p:sp>
      <p:sp>
        <p:nvSpPr>
          <p:cNvPr id="13" name="Text 11"/>
          <p:cNvSpPr txBox="1"/>
          <p:nvPr/>
        </p:nvSpPr>
        <p:spPr>
          <a:xfrm>
            <a:off x="841248" y="2459736"/>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status</a:t>
            </a:r>
            <a:endParaRPr lang="en-US" sz="1250" dirty="0"/>
          </a:p>
        </p:txBody>
      </p:sp>
      <p:sp>
        <p:nvSpPr>
          <p:cNvPr id="14" name="Text 12"/>
          <p:cNvSpPr txBox="1"/>
          <p:nvPr/>
        </p:nvSpPr>
        <p:spPr>
          <a:xfrm>
            <a:off x="841248" y="2724912"/>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Menampilkan berkas yang berubah, ter-stage, atau belum terlacak.</a:t>
            </a:r>
            <a:endParaRPr lang="en-US" sz="1200" dirty="0"/>
          </a:p>
        </p:txBody>
      </p:sp>
      <p:sp>
        <p:nvSpPr>
          <p:cNvPr id="15" name="Shape 13"/>
          <p:cNvSpPr/>
          <p:nvPr/>
        </p:nvSpPr>
        <p:spPr>
          <a:xfrm>
            <a:off x="6217920" y="2377440"/>
            <a:ext cx="5330952" cy="685800"/>
          </a:xfrm>
          <a:prstGeom prst="roundRect">
            <a:avLst>
              <a:gd name="adj" fmla="val 8000"/>
            </a:avLst>
          </a:prstGeom>
          <a:solidFill>
            <a:srgbClr val="F4F2F1"/>
          </a:solidFill>
          <a:ln w="12700">
            <a:solidFill>
              <a:srgbClr val="EAE7E5"/>
            </a:solidFill>
            <a:prstDash val="solid"/>
          </a:ln>
        </p:spPr>
      </p:sp>
      <p:sp>
        <p:nvSpPr>
          <p:cNvPr id="16" name="Text 14"/>
          <p:cNvSpPr txBox="1"/>
          <p:nvPr/>
        </p:nvSpPr>
        <p:spPr>
          <a:xfrm>
            <a:off x="6419088" y="2459736"/>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add &lt;file&gt; / .</a:t>
            </a:r>
            <a:endParaRPr lang="en-US" sz="1250" dirty="0"/>
          </a:p>
        </p:txBody>
      </p:sp>
      <p:sp>
        <p:nvSpPr>
          <p:cNvPr id="17" name="Text 15"/>
          <p:cNvSpPr txBox="1"/>
          <p:nvPr/>
        </p:nvSpPr>
        <p:spPr>
          <a:xfrm>
            <a:off x="6419088" y="2724912"/>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Memindahkan perubahan ke staging area.</a:t>
            </a:r>
            <a:endParaRPr lang="en-US" sz="1200" dirty="0"/>
          </a:p>
        </p:txBody>
      </p:sp>
      <p:sp>
        <p:nvSpPr>
          <p:cNvPr id="18" name="Shape 16"/>
          <p:cNvSpPr/>
          <p:nvPr/>
        </p:nvSpPr>
        <p:spPr>
          <a:xfrm>
            <a:off x="640080" y="3182112"/>
            <a:ext cx="5330952" cy="685800"/>
          </a:xfrm>
          <a:prstGeom prst="roundRect">
            <a:avLst>
              <a:gd name="adj" fmla="val 8000"/>
            </a:avLst>
          </a:prstGeom>
          <a:solidFill>
            <a:srgbClr val="F4F2F1"/>
          </a:solidFill>
          <a:ln w="12700">
            <a:solidFill>
              <a:srgbClr val="EAE7E5"/>
            </a:solidFill>
            <a:prstDash val="solid"/>
          </a:ln>
        </p:spPr>
      </p:sp>
      <p:sp>
        <p:nvSpPr>
          <p:cNvPr id="19" name="Text 17"/>
          <p:cNvSpPr txBox="1"/>
          <p:nvPr/>
        </p:nvSpPr>
        <p:spPr>
          <a:xfrm>
            <a:off x="841248" y="3264408"/>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commit -m "pesan"</a:t>
            </a:r>
            <a:endParaRPr lang="en-US" sz="1250" dirty="0"/>
          </a:p>
        </p:txBody>
      </p:sp>
      <p:sp>
        <p:nvSpPr>
          <p:cNvPr id="20" name="Text 18"/>
          <p:cNvSpPr txBox="1"/>
          <p:nvPr/>
        </p:nvSpPr>
        <p:spPr>
          <a:xfrm>
            <a:off x="841248" y="3529584"/>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Menyimpan snapshot perubahan yang ada di staging area.</a:t>
            </a:r>
            <a:endParaRPr lang="en-US" sz="1200" dirty="0"/>
          </a:p>
        </p:txBody>
      </p:sp>
      <p:sp>
        <p:nvSpPr>
          <p:cNvPr id="21" name="Shape 19"/>
          <p:cNvSpPr/>
          <p:nvPr/>
        </p:nvSpPr>
        <p:spPr>
          <a:xfrm>
            <a:off x="6217920" y="3182112"/>
            <a:ext cx="5330952" cy="685800"/>
          </a:xfrm>
          <a:prstGeom prst="roundRect">
            <a:avLst>
              <a:gd name="adj" fmla="val 8000"/>
            </a:avLst>
          </a:prstGeom>
          <a:solidFill>
            <a:srgbClr val="F4F2F1"/>
          </a:solidFill>
          <a:ln w="12700">
            <a:solidFill>
              <a:srgbClr val="EAE7E5"/>
            </a:solidFill>
            <a:prstDash val="solid"/>
          </a:ln>
        </p:spPr>
      </p:sp>
      <p:sp>
        <p:nvSpPr>
          <p:cNvPr id="22" name="Text 20"/>
          <p:cNvSpPr txBox="1"/>
          <p:nvPr/>
        </p:nvSpPr>
        <p:spPr>
          <a:xfrm>
            <a:off x="6419088" y="3264408"/>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log --oneline</a:t>
            </a:r>
            <a:endParaRPr lang="en-US" sz="1250" dirty="0"/>
          </a:p>
        </p:txBody>
      </p:sp>
      <p:sp>
        <p:nvSpPr>
          <p:cNvPr id="23" name="Text 21"/>
          <p:cNvSpPr txBox="1"/>
          <p:nvPr/>
        </p:nvSpPr>
        <p:spPr>
          <a:xfrm>
            <a:off x="6419088" y="3529584"/>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Menampilkan riwayat commit secara ringkas satu baris.</a:t>
            </a:r>
            <a:endParaRPr lang="en-US" sz="1200" dirty="0"/>
          </a:p>
        </p:txBody>
      </p:sp>
      <p:sp>
        <p:nvSpPr>
          <p:cNvPr id="24" name="Shape 22"/>
          <p:cNvSpPr/>
          <p:nvPr/>
        </p:nvSpPr>
        <p:spPr>
          <a:xfrm>
            <a:off x="640080" y="3986784"/>
            <a:ext cx="5330952" cy="685800"/>
          </a:xfrm>
          <a:prstGeom prst="roundRect">
            <a:avLst>
              <a:gd name="adj" fmla="val 8000"/>
            </a:avLst>
          </a:prstGeom>
          <a:solidFill>
            <a:srgbClr val="F4F2F1"/>
          </a:solidFill>
          <a:ln w="12700">
            <a:solidFill>
              <a:srgbClr val="EAE7E5"/>
            </a:solidFill>
            <a:prstDash val="solid"/>
          </a:ln>
        </p:spPr>
      </p:sp>
      <p:sp>
        <p:nvSpPr>
          <p:cNvPr id="25" name="Text 23"/>
          <p:cNvSpPr txBox="1"/>
          <p:nvPr/>
        </p:nvSpPr>
        <p:spPr>
          <a:xfrm>
            <a:off x="841248" y="4069080"/>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diff</a:t>
            </a:r>
            <a:endParaRPr lang="en-US" sz="1250" dirty="0"/>
          </a:p>
        </p:txBody>
      </p:sp>
      <p:sp>
        <p:nvSpPr>
          <p:cNvPr id="26" name="Text 24"/>
          <p:cNvSpPr txBox="1"/>
          <p:nvPr/>
        </p:nvSpPr>
        <p:spPr>
          <a:xfrm>
            <a:off x="841248" y="4334256"/>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Membandingkan perubahan yang belum masuk staging area.</a:t>
            </a:r>
            <a:endParaRPr lang="en-US" sz="1200" dirty="0"/>
          </a:p>
        </p:txBody>
      </p:sp>
      <p:sp>
        <p:nvSpPr>
          <p:cNvPr id="27" name="Shape 25"/>
          <p:cNvSpPr/>
          <p:nvPr/>
        </p:nvSpPr>
        <p:spPr>
          <a:xfrm>
            <a:off x="6217920" y="3986784"/>
            <a:ext cx="5330952" cy="685800"/>
          </a:xfrm>
          <a:prstGeom prst="roundRect">
            <a:avLst>
              <a:gd name="adj" fmla="val 8000"/>
            </a:avLst>
          </a:prstGeom>
          <a:solidFill>
            <a:srgbClr val="F4F2F1"/>
          </a:solidFill>
          <a:ln w="12700">
            <a:solidFill>
              <a:srgbClr val="EAE7E5"/>
            </a:solidFill>
            <a:prstDash val="solid"/>
          </a:ln>
        </p:spPr>
      </p:sp>
      <p:sp>
        <p:nvSpPr>
          <p:cNvPr id="28" name="Text 26"/>
          <p:cNvSpPr txBox="1"/>
          <p:nvPr/>
        </p:nvSpPr>
        <p:spPr>
          <a:xfrm>
            <a:off x="6419088" y="4069080"/>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branch</a:t>
            </a:r>
            <a:endParaRPr lang="en-US" sz="1250" dirty="0"/>
          </a:p>
        </p:txBody>
      </p:sp>
      <p:sp>
        <p:nvSpPr>
          <p:cNvPr id="29" name="Text 27"/>
          <p:cNvSpPr txBox="1"/>
          <p:nvPr/>
        </p:nvSpPr>
        <p:spPr>
          <a:xfrm>
            <a:off x="6419088" y="4334256"/>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Melihat, membuat, atau menghapus cabang.</a:t>
            </a:r>
            <a:endParaRPr lang="en-US" sz="1200" dirty="0"/>
          </a:p>
        </p:txBody>
      </p:sp>
      <p:sp>
        <p:nvSpPr>
          <p:cNvPr id="30" name="Shape 28"/>
          <p:cNvSpPr/>
          <p:nvPr/>
        </p:nvSpPr>
        <p:spPr>
          <a:xfrm>
            <a:off x="640080" y="4791456"/>
            <a:ext cx="5330952" cy="685800"/>
          </a:xfrm>
          <a:prstGeom prst="roundRect">
            <a:avLst>
              <a:gd name="adj" fmla="val 8000"/>
            </a:avLst>
          </a:prstGeom>
          <a:solidFill>
            <a:srgbClr val="F4F2F1"/>
          </a:solidFill>
          <a:ln w="12700">
            <a:solidFill>
              <a:srgbClr val="EAE7E5"/>
            </a:solidFill>
            <a:prstDash val="solid"/>
          </a:ln>
        </p:spPr>
      </p:sp>
      <p:sp>
        <p:nvSpPr>
          <p:cNvPr id="31" name="Text 29"/>
          <p:cNvSpPr txBox="1"/>
          <p:nvPr/>
        </p:nvSpPr>
        <p:spPr>
          <a:xfrm>
            <a:off x="841248" y="4873752"/>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switch &lt;branch&gt;</a:t>
            </a:r>
            <a:endParaRPr lang="en-US" sz="1250" dirty="0"/>
          </a:p>
        </p:txBody>
      </p:sp>
      <p:sp>
        <p:nvSpPr>
          <p:cNvPr id="32" name="Text 30"/>
          <p:cNvSpPr txBox="1"/>
          <p:nvPr/>
        </p:nvSpPr>
        <p:spPr>
          <a:xfrm>
            <a:off x="841248" y="5138928"/>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Berpindah ke cabang lain (pengganti checkout).</a:t>
            </a:r>
            <a:endParaRPr lang="en-US" sz="1200" dirty="0"/>
          </a:p>
        </p:txBody>
      </p:sp>
      <p:sp>
        <p:nvSpPr>
          <p:cNvPr id="33" name="Shape 31"/>
          <p:cNvSpPr/>
          <p:nvPr/>
        </p:nvSpPr>
        <p:spPr>
          <a:xfrm>
            <a:off x="6217920" y="4791456"/>
            <a:ext cx="5330952" cy="685800"/>
          </a:xfrm>
          <a:prstGeom prst="roundRect">
            <a:avLst>
              <a:gd name="adj" fmla="val 8000"/>
            </a:avLst>
          </a:prstGeom>
          <a:solidFill>
            <a:srgbClr val="F4F2F1"/>
          </a:solidFill>
          <a:ln w="12700">
            <a:solidFill>
              <a:srgbClr val="EAE7E5"/>
            </a:solidFill>
            <a:prstDash val="solid"/>
          </a:ln>
        </p:spPr>
      </p:sp>
      <p:sp>
        <p:nvSpPr>
          <p:cNvPr id="34" name="Text 32"/>
          <p:cNvSpPr txBox="1"/>
          <p:nvPr/>
        </p:nvSpPr>
        <p:spPr>
          <a:xfrm>
            <a:off x="6419088" y="4873752"/>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merge &lt;branch&gt;</a:t>
            </a:r>
            <a:endParaRPr lang="en-US" sz="1250" dirty="0"/>
          </a:p>
        </p:txBody>
      </p:sp>
      <p:sp>
        <p:nvSpPr>
          <p:cNvPr id="35" name="Text 33"/>
          <p:cNvSpPr txBox="1"/>
          <p:nvPr/>
        </p:nvSpPr>
        <p:spPr>
          <a:xfrm>
            <a:off x="6419088" y="5138928"/>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Menggabungkan cabang lain ke cabang aktif.</a:t>
            </a:r>
            <a:endParaRPr lang="en-US" sz="1200" dirty="0"/>
          </a:p>
        </p:txBody>
      </p:sp>
      <p:sp>
        <p:nvSpPr>
          <p:cNvPr id="36" name="Shape 34"/>
          <p:cNvSpPr/>
          <p:nvPr/>
        </p:nvSpPr>
        <p:spPr>
          <a:xfrm>
            <a:off x="640080" y="5596128"/>
            <a:ext cx="5330952" cy="685800"/>
          </a:xfrm>
          <a:prstGeom prst="roundRect">
            <a:avLst>
              <a:gd name="adj" fmla="val 8000"/>
            </a:avLst>
          </a:prstGeom>
          <a:solidFill>
            <a:srgbClr val="F4F2F1"/>
          </a:solidFill>
          <a:ln w="12700">
            <a:solidFill>
              <a:srgbClr val="EAE7E5"/>
            </a:solidFill>
            <a:prstDash val="solid"/>
          </a:ln>
        </p:spPr>
      </p:sp>
      <p:sp>
        <p:nvSpPr>
          <p:cNvPr id="37" name="Text 35"/>
          <p:cNvSpPr txBox="1"/>
          <p:nvPr/>
        </p:nvSpPr>
        <p:spPr>
          <a:xfrm>
            <a:off x="841248" y="5678424"/>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pull</a:t>
            </a:r>
            <a:endParaRPr lang="en-US" sz="1250" dirty="0"/>
          </a:p>
        </p:txBody>
      </p:sp>
      <p:sp>
        <p:nvSpPr>
          <p:cNvPr id="38" name="Text 36"/>
          <p:cNvSpPr txBox="1"/>
          <p:nvPr/>
        </p:nvSpPr>
        <p:spPr>
          <a:xfrm>
            <a:off x="841248" y="5943600"/>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Mengambil dan langsung menggabungkan perubahan dari remote.</a:t>
            </a:r>
            <a:endParaRPr lang="en-US" sz="1200" dirty="0"/>
          </a:p>
        </p:txBody>
      </p:sp>
      <p:sp>
        <p:nvSpPr>
          <p:cNvPr id="39" name="Shape 37"/>
          <p:cNvSpPr/>
          <p:nvPr/>
        </p:nvSpPr>
        <p:spPr>
          <a:xfrm>
            <a:off x="6217920" y="5596128"/>
            <a:ext cx="5330952" cy="685800"/>
          </a:xfrm>
          <a:prstGeom prst="roundRect">
            <a:avLst>
              <a:gd name="adj" fmla="val 8000"/>
            </a:avLst>
          </a:prstGeom>
          <a:solidFill>
            <a:srgbClr val="F4F2F1"/>
          </a:solidFill>
          <a:ln w="12700">
            <a:solidFill>
              <a:srgbClr val="EAE7E5"/>
            </a:solidFill>
            <a:prstDash val="solid"/>
          </a:ln>
        </p:spPr>
      </p:sp>
      <p:sp>
        <p:nvSpPr>
          <p:cNvPr id="40" name="Text 38"/>
          <p:cNvSpPr txBox="1"/>
          <p:nvPr/>
        </p:nvSpPr>
        <p:spPr>
          <a:xfrm>
            <a:off x="6419088" y="5678424"/>
            <a:ext cx="4928616" cy="256032"/>
          </a:xfrm>
          <a:prstGeom prst="rect">
            <a:avLst/>
          </a:prstGeom>
          <a:noFill/>
          <a:ln/>
        </p:spPr>
        <p:txBody>
          <a:bodyPr wrap="square" lIns="0" tIns="0" rIns="0" bIns="0" rtlCol="0" anchor="ctr"/>
          <a:lstStyle/>
          <a:p>
            <a:pPr indent="0" marL="0">
              <a:buNone/>
            </a:pPr>
            <a:r>
              <a:rPr lang="en-US" sz="1250" b="1" dirty="0">
                <a:solidFill>
                  <a:srgbClr val="C63C22"/>
                </a:solidFill>
                <a:latin typeface="Courier New" pitchFamily="34" charset="0"/>
                <a:ea typeface="Courier New" pitchFamily="34" charset="-122"/>
                <a:cs typeface="Courier New" pitchFamily="34" charset="-120"/>
              </a:rPr>
              <a:t>git push</a:t>
            </a:r>
            <a:endParaRPr lang="en-US" sz="1250" dirty="0"/>
          </a:p>
        </p:txBody>
      </p:sp>
      <p:sp>
        <p:nvSpPr>
          <p:cNvPr id="41" name="Text 39"/>
          <p:cNvSpPr txBox="1"/>
          <p:nvPr/>
        </p:nvSpPr>
        <p:spPr>
          <a:xfrm>
            <a:off x="6419088" y="5943600"/>
            <a:ext cx="4928616" cy="27432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Mengirim commit lokal ke repositori remote.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INSPEKSI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Menelusuri Riwayat dan Perbedaan</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640080" y="1572768"/>
            <a:ext cx="5943600" cy="960120"/>
          </a:xfrm>
          <a:prstGeom prst="roundRect">
            <a:avLst>
              <a:gd name="adj" fmla="val 952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877824" y="1792224"/>
            <a:ext cx="512064" cy="512064"/>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949513" y="1863913"/>
            <a:ext cx="368686" cy="368686"/>
          </a:xfrm>
          <a:prstGeom prst="rect">
            <a:avLst/>
          </a:prstGeom>
        </p:spPr>
      </p:pic>
      <p:sp>
        <p:nvSpPr>
          <p:cNvPr id="9" name="Text 6"/>
          <p:cNvSpPr txBox="1"/>
          <p:nvPr/>
        </p:nvSpPr>
        <p:spPr>
          <a:xfrm>
            <a:off x="1554480" y="1700784"/>
            <a:ext cx="4754880" cy="274320"/>
          </a:xfrm>
          <a:prstGeom prst="rect">
            <a:avLst/>
          </a:prstGeom>
          <a:noFill/>
          <a:ln/>
        </p:spPr>
        <p:txBody>
          <a:bodyPr wrap="square" lIns="0" tIns="0" rIns="0" bIns="0" rtlCol="0" anchor="ctr"/>
          <a:lstStyle/>
          <a:p>
            <a:pPr indent="0" marL="0">
              <a:buNone/>
            </a:pPr>
            <a:r>
              <a:rPr lang="en-US" sz="1300" b="1" dirty="0">
                <a:solidFill>
                  <a:srgbClr val="C63C22"/>
                </a:solidFill>
                <a:latin typeface="Courier New" pitchFamily="34" charset="0"/>
                <a:ea typeface="Courier New" pitchFamily="34" charset="-122"/>
                <a:cs typeface="Courier New" pitchFamily="34" charset="-120"/>
              </a:rPr>
              <a:t>git log</a:t>
            </a:r>
            <a:endParaRPr lang="en-US" sz="1300" dirty="0"/>
          </a:p>
        </p:txBody>
      </p:sp>
      <p:sp>
        <p:nvSpPr>
          <p:cNvPr id="10" name="Text 7"/>
          <p:cNvSpPr txBox="1"/>
          <p:nvPr/>
        </p:nvSpPr>
        <p:spPr>
          <a:xfrm>
            <a:off x="1554480" y="1975104"/>
            <a:ext cx="4800600" cy="47548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Riwayat commit. Opsi berguna: --oneline, --graph, --all, -n 5, --author, --since.</a:t>
            </a:r>
            <a:endParaRPr lang="en-US" sz="1150" dirty="0"/>
          </a:p>
        </p:txBody>
      </p:sp>
      <p:sp>
        <p:nvSpPr>
          <p:cNvPr id="11" name="Shape 8"/>
          <p:cNvSpPr/>
          <p:nvPr/>
        </p:nvSpPr>
        <p:spPr>
          <a:xfrm>
            <a:off x="640080" y="2670048"/>
            <a:ext cx="5943600" cy="960120"/>
          </a:xfrm>
          <a:prstGeom prst="roundRect">
            <a:avLst>
              <a:gd name="adj" fmla="val 952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2" name="Shape 9"/>
          <p:cNvSpPr/>
          <p:nvPr/>
        </p:nvSpPr>
        <p:spPr>
          <a:xfrm>
            <a:off x="877824" y="2889504"/>
            <a:ext cx="512064" cy="512064"/>
          </a:xfrm>
          <a:prstGeom prst="ellipse">
            <a:avLst/>
          </a:prstGeom>
          <a:solidFill>
            <a:srgbClr val="17171C"/>
          </a:solidFill>
          <a:ln w="12700">
            <a:solidFill>
              <a:srgbClr val="17171C"/>
            </a:solidFill>
            <a:prstDash val="solid"/>
          </a:ln>
        </p:spPr>
      </p:sp>
      <p:pic>
        <p:nvPicPr>
          <p:cNvPr id="13" name="Image 1" descr="preencoded.png">    </p:cNvPr>
          <p:cNvPicPr>
            <a:picLocks noChangeAspect="1"/>
          </p:cNvPicPr>
          <p:nvPr/>
        </p:nvPicPr>
        <p:blipFill>
          <a:blip r:embed="rId2"/>
          <a:stretch>
            <a:fillRect/>
          </a:stretch>
        </p:blipFill>
        <p:spPr>
          <a:xfrm>
            <a:off x="949513" y="2961193"/>
            <a:ext cx="368686" cy="368686"/>
          </a:xfrm>
          <a:prstGeom prst="rect">
            <a:avLst/>
          </a:prstGeom>
        </p:spPr>
      </p:pic>
      <p:sp>
        <p:nvSpPr>
          <p:cNvPr id="14" name="Text 10"/>
          <p:cNvSpPr txBox="1"/>
          <p:nvPr/>
        </p:nvSpPr>
        <p:spPr>
          <a:xfrm>
            <a:off x="1554480" y="2798064"/>
            <a:ext cx="4754880" cy="274320"/>
          </a:xfrm>
          <a:prstGeom prst="rect">
            <a:avLst/>
          </a:prstGeom>
          <a:noFill/>
          <a:ln/>
        </p:spPr>
        <p:txBody>
          <a:bodyPr wrap="square" lIns="0" tIns="0" rIns="0" bIns="0" rtlCol="0" anchor="ctr"/>
          <a:lstStyle/>
          <a:p>
            <a:pPr indent="0" marL="0">
              <a:buNone/>
            </a:pPr>
            <a:r>
              <a:rPr lang="en-US" sz="1300" b="1" dirty="0">
                <a:solidFill>
                  <a:srgbClr val="C63C22"/>
                </a:solidFill>
                <a:latin typeface="Courier New" pitchFamily="34" charset="0"/>
                <a:ea typeface="Courier New" pitchFamily="34" charset="-122"/>
                <a:cs typeface="Courier New" pitchFamily="34" charset="-120"/>
              </a:rPr>
              <a:t>git diff</a:t>
            </a:r>
            <a:endParaRPr lang="en-US" sz="1300" dirty="0"/>
          </a:p>
        </p:txBody>
      </p:sp>
      <p:sp>
        <p:nvSpPr>
          <p:cNvPr id="15" name="Text 11"/>
          <p:cNvSpPr txBox="1"/>
          <p:nvPr/>
        </p:nvSpPr>
        <p:spPr>
          <a:xfrm>
            <a:off x="1554480" y="3072384"/>
            <a:ext cx="4800600" cy="47548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Perbedaan baris demi baris. Tambahkan --staged untuk melihat isi staging area.</a:t>
            </a:r>
            <a:endParaRPr lang="en-US" sz="1150" dirty="0"/>
          </a:p>
        </p:txBody>
      </p:sp>
      <p:sp>
        <p:nvSpPr>
          <p:cNvPr id="16" name="Shape 12"/>
          <p:cNvSpPr/>
          <p:nvPr/>
        </p:nvSpPr>
        <p:spPr>
          <a:xfrm>
            <a:off x="640080" y="3767328"/>
            <a:ext cx="5943600" cy="960120"/>
          </a:xfrm>
          <a:prstGeom prst="roundRect">
            <a:avLst>
              <a:gd name="adj" fmla="val 952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7" name="Shape 13"/>
          <p:cNvSpPr/>
          <p:nvPr/>
        </p:nvSpPr>
        <p:spPr>
          <a:xfrm>
            <a:off x="877824" y="3986784"/>
            <a:ext cx="512064" cy="512064"/>
          </a:xfrm>
          <a:prstGeom prst="ellipse">
            <a:avLst/>
          </a:prstGeom>
          <a:solidFill>
            <a:srgbClr val="17171C"/>
          </a:solidFill>
          <a:ln w="12700">
            <a:solidFill>
              <a:srgbClr val="17171C"/>
            </a:solidFill>
            <a:prstDash val="solid"/>
          </a:ln>
        </p:spPr>
      </p:sp>
      <p:pic>
        <p:nvPicPr>
          <p:cNvPr id="18" name="Image 2" descr="preencoded.png">    </p:cNvPr>
          <p:cNvPicPr>
            <a:picLocks noChangeAspect="1"/>
          </p:cNvPicPr>
          <p:nvPr/>
        </p:nvPicPr>
        <p:blipFill>
          <a:blip r:embed="rId3"/>
          <a:stretch>
            <a:fillRect/>
          </a:stretch>
        </p:blipFill>
        <p:spPr>
          <a:xfrm>
            <a:off x="949513" y="4058473"/>
            <a:ext cx="368686" cy="368686"/>
          </a:xfrm>
          <a:prstGeom prst="rect">
            <a:avLst/>
          </a:prstGeom>
        </p:spPr>
      </p:pic>
      <p:sp>
        <p:nvSpPr>
          <p:cNvPr id="19" name="Text 14"/>
          <p:cNvSpPr txBox="1"/>
          <p:nvPr/>
        </p:nvSpPr>
        <p:spPr>
          <a:xfrm>
            <a:off x="1554480" y="3895344"/>
            <a:ext cx="4754880" cy="274320"/>
          </a:xfrm>
          <a:prstGeom prst="rect">
            <a:avLst/>
          </a:prstGeom>
          <a:noFill/>
          <a:ln/>
        </p:spPr>
        <p:txBody>
          <a:bodyPr wrap="square" lIns="0" tIns="0" rIns="0" bIns="0" rtlCol="0" anchor="ctr"/>
          <a:lstStyle/>
          <a:p>
            <a:pPr indent="0" marL="0">
              <a:buNone/>
            </a:pPr>
            <a:r>
              <a:rPr lang="en-US" sz="1300" b="1" dirty="0">
                <a:solidFill>
                  <a:srgbClr val="C63C22"/>
                </a:solidFill>
                <a:latin typeface="Courier New" pitchFamily="34" charset="0"/>
                <a:ea typeface="Courier New" pitchFamily="34" charset="-122"/>
                <a:cs typeface="Courier New" pitchFamily="34" charset="-120"/>
              </a:rPr>
              <a:t>git show &lt;hash&gt;</a:t>
            </a:r>
            <a:endParaRPr lang="en-US" sz="1300" dirty="0"/>
          </a:p>
        </p:txBody>
      </p:sp>
      <p:sp>
        <p:nvSpPr>
          <p:cNvPr id="20" name="Text 15"/>
          <p:cNvSpPr txBox="1"/>
          <p:nvPr/>
        </p:nvSpPr>
        <p:spPr>
          <a:xfrm>
            <a:off x="1554480" y="4169664"/>
            <a:ext cx="4800600" cy="47548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Menampilkan detail satu commit lengkap dengan perubahan berkasnya.</a:t>
            </a:r>
            <a:endParaRPr lang="en-US" sz="1150" dirty="0"/>
          </a:p>
        </p:txBody>
      </p:sp>
      <p:sp>
        <p:nvSpPr>
          <p:cNvPr id="21" name="Shape 16"/>
          <p:cNvSpPr/>
          <p:nvPr/>
        </p:nvSpPr>
        <p:spPr>
          <a:xfrm>
            <a:off x="640080" y="4864608"/>
            <a:ext cx="5943600" cy="960120"/>
          </a:xfrm>
          <a:prstGeom prst="roundRect">
            <a:avLst>
              <a:gd name="adj" fmla="val 952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2" name="Shape 17"/>
          <p:cNvSpPr/>
          <p:nvPr/>
        </p:nvSpPr>
        <p:spPr>
          <a:xfrm>
            <a:off x="877824" y="5084064"/>
            <a:ext cx="512064" cy="512064"/>
          </a:xfrm>
          <a:prstGeom prst="ellipse">
            <a:avLst/>
          </a:prstGeom>
          <a:solidFill>
            <a:srgbClr val="17171C"/>
          </a:solidFill>
          <a:ln w="12700">
            <a:solidFill>
              <a:srgbClr val="17171C"/>
            </a:solidFill>
            <a:prstDash val="solid"/>
          </a:ln>
        </p:spPr>
      </p:sp>
      <p:pic>
        <p:nvPicPr>
          <p:cNvPr id="23" name="Image 3" descr="preencoded.png">    </p:cNvPr>
          <p:cNvPicPr>
            <a:picLocks noChangeAspect="1"/>
          </p:cNvPicPr>
          <p:nvPr/>
        </p:nvPicPr>
        <p:blipFill>
          <a:blip r:embed="rId4"/>
          <a:stretch>
            <a:fillRect/>
          </a:stretch>
        </p:blipFill>
        <p:spPr>
          <a:xfrm>
            <a:off x="949513" y="5155753"/>
            <a:ext cx="368686" cy="368686"/>
          </a:xfrm>
          <a:prstGeom prst="rect">
            <a:avLst/>
          </a:prstGeom>
        </p:spPr>
      </p:pic>
      <p:sp>
        <p:nvSpPr>
          <p:cNvPr id="24" name="Text 18"/>
          <p:cNvSpPr txBox="1"/>
          <p:nvPr/>
        </p:nvSpPr>
        <p:spPr>
          <a:xfrm>
            <a:off x="1554480" y="4992624"/>
            <a:ext cx="4754880" cy="274320"/>
          </a:xfrm>
          <a:prstGeom prst="rect">
            <a:avLst/>
          </a:prstGeom>
          <a:noFill/>
          <a:ln/>
        </p:spPr>
        <p:txBody>
          <a:bodyPr wrap="square" lIns="0" tIns="0" rIns="0" bIns="0" rtlCol="0" anchor="ctr"/>
          <a:lstStyle/>
          <a:p>
            <a:pPr indent="0" marL="0">
              <a:buNone/>
            </a:pPr>
            <a:r>
              <a:rPr lang="en-US" sz="1300" b="1" dirty="0">
                <a:solidFill>
                  <a:srgbClr val="C63C22"/>
                </a:solidFill>
                <a:latin typeface="Courier New" pitchFamily="34" charset="0"/>
                <a:ea typeface="Courier New" pitchFamily="34" charset="-122"/>
                <a:cs typeface="Courier New" pitchFamily="34" charset="-120"/>
              </a:rPr>
              <a:t>git blame &lt;file&gt;</a:t>
            </a:r>
            <a:endParaRPr lang="en-US" sz="1300" dirty="0"/>
          </a:p>
        </p:txBody>
      </p:sp>
      <p:sp>
        <p:nvSpPr>
          <p:cNvPr id="25" name="Text 19"/>
          <p:cNvSpPr txBox="1"/>
          <p:nvPr/>
        </p:nvSpPr>
        <p:spPr>
          <a:xfrm>
            <a:off x="1554480" y="5266944"/>
            <a:ext cx="4800600" cy="47548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Menunjukkan siapa yang terakhir mengubah setiap baris pada berkas.</a:t>
            </a:r>
            <a:endParaRPr lang="en-US" sz="1150" dirty="0"/>
          </a:p>
        </p:txBody>
      </p:sp>
      <p:sp>
        <p:nvSpPr>
          <p:cNvPr id="26" name="Shape 20"/>
          <p:cNvSpPr/>
          <p:nvPr/>
        </p:nvSpPr>
        <p:spPr>
          <a:xfrm>
            <a:off x="6858000" y="1572768"/>
            <a:ext cx="4690872" cy="2880360"/>
          </a:xfrm>
          <a:prstGeom prst="roundRect">
            <a:avLst>
              <a:gd name="adj" fmla="val 2540"/>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7" name="Text 21"/>
          <p:cNvSpPr txBox="1"/>
          <p:nvPr/>
        </p:nvSpPr>
        <p:spPr>
          <a:xfrm>
            <a:off x="7114032" y="1755648"/>
            <a:ext cx="4233672" cy="2514600"/>
          </a:xfrm>
          <a:prstGeom prst="rect">
            <a:avLst/>
          </a:prstGeom>
          <a:noFill/>
          <a:ln/>
        </p:spPr>
        <p:txBody>
          <a:bodyPr wrap="square" lIns="0" tIns="0" rIns="0" bIns="0" rtlCol="0" anchor="t"/>
          <a:lstStyle/>
          <a:p>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git log --oneline --graph --all
</a:t>
            </a:r>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a3f9c21 (HEAD -&gt; main) feat: login
</a:t>
            </a:r>
            <a:pPr indent="0" marL="0">
              <a:lnSpc>
                <a:spcPts val="1700"/>
              </a:lnSpc>
              <a:buNone/>
            </a:pPr>
            <a:r>
              <a:rPr lang="en-US" sz="1100" dirty="0">
                <a:solidFill>
                  <a:srgbClr val="9AA0A6"/>
                </a:solidFill>
                <a:latin typeface="Courier New" pitchFamily="34" charset="0"/>
                <a:ea typeface="Courier New" pitchFamily="34" charset="-122"/>
                <a:cs typeface="Courier New" pitchFamily="34" charset="-120"/>
              </a:rPr>
              <a:t>|\
</a:t>
            </a:r>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 8c2d19f fitur: form pendaftaran
</a:t>
            </a:r>
            <a:pPr indent="0" marL="0">
              <a:lnSpc>
                <a:spcPts val="1700"/>
              </a:lnSpc>
              <a:buNone/>
            </a:pPr>
            <a:r>
              <a:rPr lang="en-US" sz="1100" dirty="0">
                <a:solidFill>
                  <a:srgbClr val="9AA0A6"/>
                </a:solidFill>
                <a:latin typeface="Courier New" pitchFamily="34" charset="0"/>
                <a:ea typeface="Courier New" pitchFamily="34" charset="-122"/>
                <a:cs typeface="Courier New" pitchFamily="34" charset="-120"/>
              </a:rPr>
              <a:t>|/
</a:t>
            </a:r>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7d1b40e fix: validasi email
</a:t>
            </a:r>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1a0b8e3 chore: setup proyek
</a:t>
            </a:r>
            <a:pPr indent="0" marL="0">
              <a:lnSpc>
                <a:spcPts val="1700"/>
              </a:lnSpc>
              <a:buNone/>
            </a:pPr>
            <a:r>
              <a:rPr lang="en-US" sz="1100" dirty="0">
                <a:solidFill>
                  <a:srgbClr val="E9E7E4"/>
                </a:solidFill>
                <a:latin typeface="Courier New" pitchFamily="34" charset="0"/>
                <a:ea typeface="Courier New" pitchFamily="34" charset="-122"/>
                <a:cs typeface="Courier New" pitchFamily="34" charset="-120"/>
              </a:rPr>
              <a:t>$ git diff
</a:t>
            </a:r>
            <a:pPr indent="0" marL="0">
              <a:lnSpc>
                <a:spcPts val="1700"/>
              </a:lnSpc>
              <a:buNone/>
            </a:pPr>
            <a:r>
              <a:rPr lang="en-US" sz="1100" dirty="0">
                <a:solidFill>
                  <a:srgbClr val="E08A7C"/>
                </a:solidFill>
                <a:latin typeface="Courier New" pitchFamily="34" charset="0"/>
                <a:ea typeface="Courier New" pitchFamily="34" charset="-122"/>
                <a:cs typeface="Courier New" pitchFamily="34" charset="-120"/>
              </a:rPr>
              <a:t>- const nama = "lama";
</a:t>
            </a:r>
            <a:pPr indent="0" marL="0">
              <a:lnSpc>
                <a:spcPts val="1700"/>
              </a:lnSpc>
              <a:buNone/>
            </a:pPr>
            <a:r>
              <a:rPr lang="en-US" sz="1100" dirty="0">
                <a:solidFill>
                  <a:srgbClr val="7FBF8F"/>
                </a:solidFill>
                <a:latin typeface="Courier New" pitchFamily="34" charset="0"/>
                <a:ea typeface="Courier New" pitchFamily="34" charset="-122"/>
                <a:cs typeface="Courier New" pitchFamily="34" charset="-120"/>
              </a:rPr>
              <a:t>+ const nama = "baru";</a:t>
            </a:r>
            <a:endParaRPr lang="en-US" sz="1100" dirty="0"/>
          </a:p>
        </p:txBody>
      </p:sp>
      <p:sp>
        <p:nvSpPr>
          <p:cNvPr id="28" name="Shape 22"/>
          <p:cNvSpPr/>
          <p:nvPr/>
        </p:nvSpPr>
        <p:spPr>
          <a:xfrm>
            <a:off x="6858000" y="4663440"/>
            <a:ext cx="4690872" cy="1188720"/>
          </a:xfrm>
          <a:prstGeom prst="roundRect">
            <a:avLst>
              <a:gd name="adj" fmla="val 7692"/>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29" name="Shape 23"/>
          <p:cNvSpPr/>
          <p:nvPr/>
        </p:nvSpPr>
        <p:spPr>
          <a:xfrm>
            <a:off x="7114032" y="4882896"/>
            <a:ext cx="457200" cy="457200"/>
          </a:xfrm>
          <a:prstGeom prst="ellipse">
            <a:avLst/>
          </a:prstGeom>
          <a:solidFill>
            <a:srgbClr val="F05032"/>
          </a:solidFill>
          <a:ln w="12700">
            <a:solidFill>
              <a:srgbClr val="F05032"/>
            </a:solidFill>
            <a:prstDash val="solid"/>
          </a:ln>
        </p:spPr>
      </p:sp>
      <p:pic>
        <p:nvPicPr>
          <p:cNvPr id="30" name="Image 4" descr="preencoded.png">    </p:cNvPr>
          <p:cNvPicPr>
            <a:picLocks noChangeAspect="1"/>
          </p:cNvPicPr>
          <p:nvPr/>
        </p:nvPicPr>
        <p:blipFill>
          <a:blip r:embed="rId5"/>
          <a:stretch>
            <a:fillRect/>
          </a:stretch>
        </p:blipFill>
        <p:spPr>
          <a:xfrm>
            <a:off x="7178040" y="4946904"/>
            <a:ext cx="329184" cy="329184"/>
          </a:xfrm>
          <a:prstGeom prst="rect">
            <a:avLst/>
          </a:prstGeom>
        </p:spPr>
      </p:pic>
      <p:sp>
        <p:nvSpPr>
          <p:cNvPr id="31" name="Text 24"/>
          <p:cNvSpPr txBox="1"/>
          <p:nvPr/>
        </p:nvSpPr>
        <p:spPr>
          <a:xfrm>
            <a:off x="7680960" y="4846320"/>
            <a:ext cx="3657600" cy="868680"/>
          </a:xfrm>
          <a:prstGeom prst="rect">
            <a:avLst/>
          </a:prstGeom>
          <a:noFill/>
          <a:ln/>
        </p:spPr>
        <p:txBody>
          <a:bodyPr wrap="square" lIns="0" tIns="0" rIns="0" bIns="0" rtlCol="0" anchor="ctr"/>
          <a:lstStyle/>
          <a:p>
            <a:pPr indent="0" marL="0">
              <a:lnSpc>
                <a:spcPts val="1500"/>
              </a:lnSpc>
              <a:buNone/>
            </a:pPr>
            <a:r>
              <a:rPr lang="en-US" sz="1150" dirty="0">
                <a:solidFill>
                  <a:srgbClr val="4A4A55"/>
                </a:solidFill>
                <a:latin typeface="Calibri" pitchFamily="34" charset="0"/>
                <a:ea typeface="Calibri" pitchFamily="34" charset="-122"/>
                <a:cs typeface="Calibri" pitchFamily="34" charset="-120"/>
              </a:rPr>
              <a:t>Tanda + berarti baris ditambahkan, tanda − berarti baris dihapus. Gabungan --graph --oneline --all adalah cara tercepat memahami struktur cabang sebuah proyek.</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02 · PERBAIKAN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Membatalkan Perubahan dengan Aman</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640080" y="1572768"/>
            <a:ext cx="3456432" cy="3200400"/>
          </a:xfrm>
          <a:prstGeom prst="roundRect">
            <a:avLst>
              <a:gd name="adj" fmla="val 285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Text 5"/>
          <p:cNvSpPr txBox="1"/>
          <p:nvPr/>
        </p:nvSpPr>
        <p:spPr>
          <a:xfrm>
            <a:off x="932688" y="1828800"/>
            <a:ext cx="2871216" cy="329184"/>
          </a:xfrm>
          <a:prstGeom prst="rect">
            <a:avLst/>
          </a:prstGeom>
          <a:noFill/>
          <a:ln/>
        </p:spPr>
        <p:txBody>
          <a:bodyPr wrap="square" lIns="0" tIns="0" rIns="0" bIns="0" rtlCol="0" anchor="ctr"/>
          <a:lstStyle/>
          <a:p>
            <a:pPr indent="0" marL="0">
              <a:buNone/>
            </a:pPr>
            <a:r>
              <a:rPr lang="en-US" sz="1700" b="1" dirty="0">
                <a:solidFill>
                  <a:srgbClr val="17171C"/>
                </a:solidFill>
                <a:latin typeface="Courier New" pitchFamily="34" charset="0"/>
                <a:ea typeface="Courier New" pitchFamily="34" charset="-122"/>
                <a:cs typeface="Courier New" pitchFamily="34" charset="-120"/>
              </a:rPr>
              <a:t>git restore</a:t>
            </a:r>
            <a:endParaRPr lang="en-US" sz="1700" dirty="0"/>
          </a:p>
        </p:txBody>
      </p:sp>
      <p:sp>
        <p:nvSpPr>
          <p:cNvPr id="8" name="Shape 6"/>
          <p:cNvSpPr/>
          <p:nvPr/>
        </p:nvSpPr>
        <p:spPr>
          <a:xfrm>
            <a:off x="932688" y="2231136"/>
            <a:ext cx="1481328" cy="292608"/>
          </a:xfrm>
          <a:prstGeom prst="roundRect">
            <a:avLst>
              <a:gd name="adj" fmla="val 50000"/>
            </a:avLst>
          </a:prstGeom>
          <a:solidFill>
            <a:srgbClr val="2E7D5B"/>
          </a:solidFill>
          <a:ln w="12700">
            <a:solidFill>
              <a:srgbClr val="2E7D5B"/>
            </a:solidFill>
            <a:prstDash val="solid"/>
          </a:ln>
        </p:spPr>
      </p:sp>
      <p:sp>
        <p:nvSpPr>
          <p:cNvPr id="9" name="Text 7"/>
          <p:cNvSpPr txBox="1"/>
          <p:nvPr/>
        </p:nvSpPr>
        <p:spPr>
          <a:xfrm>
            <a:off x="932688" y="2231136"/>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Aman</a:t>
            </a:r>
            <a:endParaRPr lang="en-US" sz="1050" dirty="0"/>
          </a:p>
        </p:txBody>
      </p:sp>
      <p:sp>
        <p:nvSpPr>
          <p:cNvPr id="10" name="Text 8"/>
          <p:cNvSpPr txBox="1"/>
          <p:nvPr/>
        </p:nvSpPr>
        <p:spPr>
          <a:xfrm>
            <a:off x="932688" y="2670048"/>
            <a:ext cx="2871216"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Mengembalikan isi berkas di working directory ke versi commit terakhir.</a:t>
            </a:r>
            <a:endParaRPr lang="en-US" sz="1250" dirty="0"/>
          </a:p>
        </p:txBody>
      </p:sp>
      <p:sp>
        <p:nvSpPr>
          <p:cNvPr id="11" name="Shape 9"/>
          <p:cNvSpPr/>
          <p:nvPr/>
        </p:nvSpPr>
        <p:spPr>
          <a:xfrm>
            <a:off x="932688" y="3730752"/>
            <a:ext cx="2871216" cy="822960"/>
          </a:xfrm>
          <a:prstGeom prst="roundRect">
            <a:avLst>
              <a:gd name="adj" fmla="val 8889"/>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2" name="Text 10"/>
          <p:cNvSpPr txBox="1"/>
          <p:nvPr/>
        </p:nvSpPr>
        <p:spPr>
          <a:xfrm>
            <a:off x="1188720" y="3913632"/>
            <a:ext cx="2414016" cy="457200"/>
          </a:xfrm>
          <a:prstGeom prst="rect">
            <a:avLst/>
          </a:prstGeom>
          <a:noFill/>
          <a:ln/>
        </p:spPr>
        <p:txBody>
          <a:bodyPr wrap="square" lIns="0" tIns="0" rIns="0" bIns="0" rtlCol="0" anchor="t"/>
          <a:lstStyle/>
          <a:p>
            <a:pPr indent="0" marL="0">
              <a:lnSpc>
                <a:spcPts val="1600"/>
              </a:lnSpc>
              <a:buNone/>
            </a:pPr>
            <a:r>
              <a:rPr lang="en-US" sz="1050" dirty="0">
                <a:solidFill>
                  <a:srgbClr val="E9E7E4"/>
                </a:solidFill>
                <a:latin typeface="Courier New" pitchFamily="34" charset="0"/>
                <a:ea typeface="Courier New" pitchFamily="34" charset="-122"/>
                <a:cs typeface="Courier New" pitchFamily="34" charset="-120"/>
              </a:rPr>
              <a:t>git restore index.html</a:t>
            </a:r>
            <a:endParaRPr lang="en-US" sz="1050" dirty="0"/>
          </a:p>
          <a:p>
            <a:pPr indent="0" marL="0">
              <a:lnSpc>
                <a:spcPts val="1600"/>
              </a:lnSpc>
              <a:buNone/>
            </a:pPr>
            <a:r>
              <a:rPr lang="en-US" sz="1050" dirty="0">
                <a:solidFill>
                  <a:srgbClr val="E9E7E4"/>
                </a:solidFill>
                <a:latin typeface="Courier New" pitchFamily="34" charset="0"/>
                <a:ea typeface="Courier New" pitchFamily="34" charset="-122"/>
                <a:cs typeface="Courier New" pitchFamily="34" charset="-120"/>
              </a:rPr>
              <a:t>git restore --staged file</a:t>
            </a:r>
            <a:endParaRPr lang="en-US" sz="1050" dirty="0"/>
          </a:p>
        </p:txBody>
      </p:sp>
      <p:sp>
        <p:nvSpPr>
          <p:cNvPr id="13" name="Shape 11"/>
          <p:cNvSpPr/>
          <p:nvPr/>
        </p:nvSpPr>
        <p:spPr>
          <a:xfrm>
            <a:off x="4370832" y="1572768"/>
            <a:ext cx="3456432" cy="3200400"/>
          </a:xfrm>
          <a:prstGeom prst="roundRect">
            <a:avLst>
              <a:gd name="adj" fmla="val 285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Text 12"/>
          <p:cNvSpPr txBox="1"/>
          <p:nvPr/>
        </p:nvSpPr>
        <p:spPr>
          <a:xfrm>
            <a:off x="4663440" y="1828800"/>
            <a:ext cx="2871216" cy="329184"/>
          </a:xfrm>
          <a:prstGeom prst="rect">
            <a:avLst/>
          </a:prstGeom>
          <a:noFill/>
          <a:ln/>
        </p:spPr>
        <p:txBody>
          <a:bodyPr wrap="square" lIns="0" tIns="0" rIns="0" bIns="0" rtlCol="0" anchor="ctr"/>
          <a:lstStyle/>
          <a:p>
            <a:pPr indent="0" marL="0">
              <a:buNone/>
            </a:pPr>
            <a:r>
              <a:rPr lang="en-US" sz="1700" b="1" dirty="0">
                <a:solidFill>
                  <a:srgbClr val="17171C"/>
                </a:solidFill>
                <a:latin typeface="Courier New" pitchFamily="34" charset="0"/>
                <a:ea typeface="Courier New" pitchFamily="34" charset="-122"/>
                <a:cs typeface="Courier New" pitchFamily="34" charset="-120"/>
              </a:rPr>
              <a:t>git reset</a:t>
            </a:r>
            <a:endParaRPr lang="en-US" sz="1700" dirty="0"/>
          </a:p>
        </p:txBody>
      </p:sp>
      <p:sp>
        <p:nvSpPr>
          <p:cNvPr id="15" name="Shape 13"/>
          <p:cNvSpPr/>
          <p:nvPr/>
        </p:nvSpPr>
        <p:spPr>
          <a:xfrm>
            <a:off x="4663440" y="2231136"/>
            <a:ext cx="1481328" cy="292608"/>
          </a:xfrm>
          <a:prstGeom prst="roundRect">
            <a:avLst>
              <a:gd name="adj" fmla="val 50000"/>
            </a:avLst>
          </a:prstGeom>
          <a:solidFill>
            <a:srgbClr val="B07A22"/>
          </a:solidFill>
          <a:ln w="12700">
            <a:solidFill>
              <a:srgbClr val="B07A22"/>
            </a:solidFill>
            <a:prstDash val="solid"/>
          </a:ln>
        </p:spPr>
      </p:sp>
      <p:sp>
        <p:nvSpPr>
          <p:cNvPr id="16" name="Text 14"/>
          <p:cNvSpPr txBox="1"/>
          <p:nvPr/>
        </p:nvSpPr>
        <p:spPr>
          <a:xfrm>
            <a:off x="4663440" y="2231136"/>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Hati-hati</a:t>
            </a:r>
            <a:endParaRPr lang="en-US" sz="1050" dirty="0"/>
          </a:p>
        </p:txBody>
      </p:sp>
      <p:sp>
        <p:nvSpPr>
          <p:cNvPr id="17" name="Text 15"/>
          <p:cNvSpPr txBox="1"/>
          <p:nvPr/>
        </p:nvSpPr>
        <p:spPr>
          <a:xfrm>
            <a:off x="4663440" y="2670048"/>
            <a:ext cx="2871216"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Memindahkan penunjuk HEAD ke commit sebelumnya. Mode --soft menyimpan perubahan, --hard menghapusnya.</a:t>
            </a:r>
            <a:endParaRPr lang="en-US" sz="1250" dirty="0"/>
          </a:p>
        </p:txBody>
      </p:sp>
      <p:sp>
        <p:nvSpPr>
          <p:cNvPr id="18" name="Shape 16"/>
          <p:cNvSpPr/>
          <p:nvPr/>
        </p:nvSpPr>
        <p:spPr>
          <a:xfrm>
            <a:off x="4663440" y="3730752"/>
            <a:ext cx="2871216" cy="822960"/>
          </a:xfrm>
          <a:prstGeom prst="roundRect">
            <a:avLst>
              <a:gd name="adj" fmla="val 8889"/>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9" name="Text 17"/>
          <p:cNvSpPr txBox="1"/>
          <p:nvPr/>
        </p:nvSpPr>
        <p:spPr>
          <a:xfrm>
            <a:off x="4919472" y="3913632"/>
            <a:ext cx="2414016" cy="457200"/>
          </a:xfrm>
          <a:prstGeom prst="rect">
            <a:avLst/>
          </a:prstGeom>
          <a:noFill/>
          <a:ln/>
        </p:spPr>
        <p:txBody>
          <a:bodyPr wrap="square" lIns="0" tIns="0" rIns="0" bIns="0" rtlCol="0" anchor="t"/>
          <a:lstStyle/>
          <a:p>
            <a:pPr indent="0" marL="0">
              <a:lnSpc>
                <a:spcPts val="1600"/>
              </a:lnSpc>
              <a:buNone/>
            </a:pPr>
            <a:r>
              <a:rPr lang="en-US" sz="1050" dirty="0">
                <a:solidFill>
                  <a:srgbClr val="E9E7E4"/>
                </a:solidFill>
                <a:latin typeface="Courier New" pitchFamily="34" charset="0"/>
                <a:ea typeface="Courier New" pitchFamily="34" charset="-122"/>
                <a:cs typeface="Courier New" pitchFamily="34" charset="-120"/>
              </a:rPr>
              <a:t>git reset --soft HEAD~1</a:t>
            </a:r>
            <a:endParaRPr lang="en-US" sz="1050" dirty="0"/>
          </a:p>
          <a:p>
            <a:pPr indent="0" marL="0">
              <a:lnSpc>
                <a:spcPts val="1600"/>
              </a:lnSpc>
              <a:buNone/>
            </a:pPr>
            <a:r>
              <a:rPr lang="en-US" sz="1050" dirty="0">
                <a:solidFill>
                  <a:srgbClr val="E9E7E4"/>
                </a:solidFill>
                <a:latin typeface="Courier New" pitchFamily="34" charset="0"/>
                <a:ea typeface="Courier New" pitchFamily="34" charset="-122"/>
                <a:cs typeface="Courier New" pitchFamily="34" charset="-120"/>
              </a:rPr>
              <a:t>git reset --hard HEAD~1</a:t>
            </a:r>
            <a:endParaRPr lang="en-US" sz="1050" dirty="0"/>
          </a:p>
        </p:txBody>
      </p:sp>
      <p:sp>
        <p:nvSpPr>
          <p:cNvPr id="20" name="Shape 18"/>
          <p:cNvSpPr/>
          <p:nvPr/>
        </p:nvSpPr>
        <p:spPr>
          <a:xfrm>
            <a:off x="8101584" y="1572768"/>
            <a:ext cx="3456432" cy="3200400"/>
          </a:xfrm>
          <a:prstGeom prst="roundRect">
            <a:avLst>
              <a:gd name="adj" fmla="val 285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1" name="Text 19"/>
          <p:cNvSpPr txBox="1"/>
          <p:nvPr/>
        </p:nvSpPr>
        <p:spPr>
          <a:xfrm>
            <a:off x="8394192" y="1828800"/>
            <a:ext cx="2871216" cy="329184"/>
          </a:xfrm>
          <a:prstGeom prst="rect">
            <a:avLst/>
          </a:prstGeom>
          <a:noFill/>
          <a:ln/>
        </p:spPr>
        <p:txBody>
          <a:bodyPr wrap="square" lIns="0" tIns="0" rIns="0" bIns="0" rtlCol="0" anchor="ctr"/>
          <a:lstStyle/>
          <a:p>
            <a:pPr indent="0" marL="0">
              <a:buNone/>
            </a:pPr>
            <a:r>
              <a:rPr lang="en-US" sz="1700" b="1" dirty="0">
                <a:solidFill>
                  <a:srgbClr val="17171C"/>
                </a:solidFill>
                <a:latin typeface="Courier New" pitchFamily="34" charset="0"/>
                <a:ea typeface="Courier New" pitchFamily="34" charset="-122"/>
                <a:cs typeface="Courier New" pitchFamily="34" charset="-120"/>
              </a:rPr>
              <a:t>git revert</a:t>
            </a:r>
            <a:endParaRPr lang="en-US" sz="1700" dirty="0"/>
          </a:p>
        </p:txBody>
      </p:sp>
      <p:sp>
        <p:nvSpPr>
          <p:cNvPr id="22" name="Shape 20"/>
          <p:cNvSpPr/>
          <p:nvPr/>
        </p:nvSpPr>
        <p:spPr>
          <a:xfrm>
            <a:off x="8394192" y="2231136"/>
            <a:ext cx="1481328" cy="292608"/>
          </a:xfrm>
          <a:prstGeom prst="roundRect">
            <a:avLst>
              <a:gd name="adj" fmla="val 50000"/>
            </a:avLst>
          </a:prstGeom>
          <a:solidFill>
            <a:srgbClr val="2E7D5B"/>
          </a:solidFill>
          <a:ln w="12700">
            <a:solidFill>
              <a:srgbClr val="2E7D5B"/>
            </a:solidFill>
            <a:prstDash val="solid"/>
          </a:ln>
        </p:spPr>
      </p:sp>
      <p:sp>
        <p:nvSpPr>
          <p:cNvPr id="23" name="Text 21"/>
          <p:cNvSpPr txBox="1"/>
          <p:nvPr/>
        </p:nvSpPr>
        <p:spPr>
          <a:xfrm>
            <a:off x="8394192" y="2231136"/>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Aman untuk publik</a:t>
            </a:r>
            <a:endParaRPr lang="en-US" sz="1050" dirty="0"/>
          </a:p>
        </p:txBody>
      </p:sp>
      <p:sp>
        <p:nvSpPr>
          <p:cNvPr id="24" name="Text 22"/>
          <p:cNvSpPr txBox="1"/>
          <p:nvPr/>
        </p:nvSpPr>
        <p:spPr>
          <a:xfrm>
            <a:off x="8394192" y="2670048"/>
            <a:ext cx="2871216"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Membuat commit baru yang membatalkan efek commit lama tanpa mengubah riwayat.</a:t>
            </a:r>
            <a:endParaRPr lang="en-US" sz="1250" dirty="0"/>
          </a:p>
        </p:txBody>
      </p:sp>
      <p:sp>
        <p:nvSpPr>
          <p:cNvPr id="25" name="Shape 23"/>
          <p:cNvSpPr/>
          <p:nvPr/>
        </p:nvSpPr>
        <p:spPr>
          <a:xfrm>
            <a:off x="8394192" y="3730752"/>
            <a:ext cx="2871216" cy="822960"/>
          </a:xfrm>
          <a:prstGeom prst="roundRect">
            <a:avLst>
              <a:gd name="adj" fmla="val 8889"/>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6" name="Text 24"/>
          <p:cNvSpPr txBox="1"/>
          <p:nvPr/>
        </p:nvSpPr>
        <p:spPr>
          <a:xfrm>
            <a:off x="8650224" y="3913632"/>
            <a:ext cx="2414016" cy="457200"/>
          </a:xfrm>
          <a:prstGeom prst="rect">
            <a:avLst/>
          </a:prstGeom>
          <a:noFill/>
          <a:ln/>
        </p:spPr>
        <p:txBody>
          <a:bodyPr wrap="square" lIns="0" tIns="0" rIns="0" bIns="0" rtlCol="0" anchor="t"/>
          <a:lstStyle/>
          <a:p>
            <a:pPr indent="0" marL="0">
              <a:lnSpc>
                <a:spcPts val="1600"/>
              </a:lnSpc>
              <a:buNone/>
            </a:pPr>
            <a:r>
              <a:rPr lang="en-US" sz="1050" dirty="0">
                <a:solidFill>
                  <a:srgbClr val="E9E7E4"/>
                </a:solidFill>
                <a:latin typeface="Courier New" pitchFamily="34" charset="0"/>
                <a:ea typeface="Courier New" pitchFamily="34" charset="-122"/>
                <a:cs typeface="Courier New" pitchFamily="34" charset="-120"/>
              </a:rPr>
              <a:t>git revert a3f9c21</a:t>
            </a:r>
            <a:endParaRPr lang="en-US" sz="1050" dirty="0"/>
          </a:p>
        </p:txBody>
      </p:sp>
      <p:sp>
        <p:nvSpPr>
          <p:cNvPr id="27" name="Shape 25"/>
          <p:cNvSpPr/>
          <p:nvPr/>
        </p:nvSpPr>
        <p:spPr>
          <a:xfrm>
            <a:off x="640080" y="5010912"/>
            <a:ext cx="10908792" cy="914400"/>
          </a:xfrm>
          <a:prstGeom prst="roundRect">
            <a:avLst>
              <a:gd name="adj" fmla="val 10000"/>
            </a:avLst>
          </a:prstGeom>
          <a:solidFill>
            <a:srgbClr val="FBEFE9"/>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28" name="Shape 26"/>
          <p:cNvSpPr/>
          <p:nvPr/>
        </p:nvSpPr>
        <p:spPr>
          <a:xfrm>
            <a:off x="932688" y="5212080"/>
            <a:ext cx="512064" cy="512064"/>
          </a:xfrm>
          <a:prstGeom prst="ellipse">
            <a:avLst/>
          </a:prstGeom>
          <a:solidFill>
            <a:srgbClr val="F05032"/>
          </a:solidFill>
          <a:ln w="12700">
            <a:solidFill>
              <a:srgbClr val="F05032"/>
            </a:solidFill>
            <a:prstDash val="solid"/>
          </a:ln>
        </p:spPr>
      </p:sp>
      <p:pic>
        <p:nvPicPr>
          <p:cNvPr id="29" name="Image 0" descr="preencoded.png">    </p:cNvPr>
          <p:cNvPicPr>
            <a:picLocks noChangeAspect="1"/>
          </p:cNvPicPr>
          <p:nvPr/>
        </p:nvPicPr>
        <p:blipFill>
          <a:blip r:embed="rId1"/>
          <a:stretch>
            <a:fillRect/>
          </a:stretch>
        </p:blipFill>
        <p:spPr>
          <a:xfrm>
            <a:off x="1004377" y="5283769"/>
            <a:ext cx="368686" cy="368686"/>
          </a:xfrm>
          <a:prstGeom prst="rect">
            <a:avLst/>
          </a:prstGeom>
        </p:spPr>
      </p:pic>
      <p:sp>
        <p:nvSpPr>
          <p:cNvPr id="30" name="Text 27"/>
          <p:cNvSpPr txBox="1"/>
          <p:nvPr/>
        </p:nvSpPr>
        <p:spPr>
          <a:xfrm>
            <a:off x="1600200" y="5120640"/>
            <a:ext cx="9601200" cy="694944"/>
          </a:xfrm>
          <a:prstGeom prst="rect">
            <a:avLst/>
          </a:prstGeom>
          <a:noFill/>
          <a:ln/>
        </p:spPr>
        <p:txBody>
          <a:bodyPr wrap="square" lIns="0" tIns="0" rIns="0" bIns="0" rtlCol="0" anchor="ctr"/>
          <a:lstStyle/>
          <a:p>
            <a:pPr indent="0" marL="0">
              <a:lnSpc>
                <a:spcPts val="1800"/>
              </a:lnSpc>
              <a:buNone/>
            </a:pPr>
            <a:r>
              <a:rPr lang="en-US" sz="1300" b="1" dirty="0">
                <a:solidFill>
                  <a:srgbClr val="C63C22"/>
                </a:solidFill>
                <a:latin typeface="Calibri" pitchFamily="34" charset="0"/>
                <a:ea typeface="Calibri" pitchFamily="34" charset="-122"/>
                <a:cs typeface="Calibri" pitchFamily="34" charset="-120"/>
              </a:rPr>
              <a:t>Peringatan: </a:t>
            </a:r>
            <a:pPr indent="0" marL="0">
              <a:lnSpc>
                <a:spcPts val="1800"/>
              </a:lnSpc>
              <a:buNone/>
            </a:pPr>
            <a:r>
              <a:rPr lang="en-US" sz="1300" b="1" dirty="0">
                <a:solidFill>
                  <a:srgbClr val="17171C"/>
                </a:solidFill>
                <a:latin typeface="Courier New" pitchFamily="34" charset="0"/>
                <a:ea typeface="Courier New" pitchFamily="34" charset="-122"/>
                <a:cs typeface="Courier New" pitchFamily="34" charset="-120"/>
              </a:rPr>
              <a:t>git reset --hard</a:t>
            </a:r>
            <a:pPr indent="0" marL="0">
              <a:lnSpc>
                <a:spcPts val="1800"/>
              </a:lnSpc>
              <a:buNone/>
            </a:pPr>
            <a:r>
              <a:rPr lang="en-US" sz="1300" dirty="0">
                <a:solidFill>
                  <a:srgbClr val="4A4A55"/>
                </a:solidFill>
                <a:latin typeface="Calibri" pitchFamily="34" charset="0"/>
                <a:ea typeface="Calibri" pitchFamily="34" charset="-122"/>
                <a:cs typeface="Calibri" pitchFamily="34" charset="-120"/>
              </a:rPr>
              <a:t> menghapus perubahan yang belum di-commit secara permanen. Jangan pernah menulis ulang riwayat commit yang sudah dipush ke repositori bersama — gunakan </a:t>
            </a:r>
            <a:pPr indent="0" marL="0">
              <a:lnSpc>
                <a:spcPts val="1800"/>
              </a:lnSpc>
              <a:buNone/>
            </a:pPr>
            <a:r>
              <a:rPr lang="en-US" sz="1300" b="1" dirty="0">
                <a:solidFill>
                  <a:srgbClr val="17171C"/>
                </a:solidFill>
                <a:latin typeface="Courier New" pitchFamily="34" charset="0"/>
                <a:ea typeface="Courier New" pitchFamily="34" charset="-122"/>
                <a:cs typeface="Courier New" pitchFamily="34" charset="-120"/>
              </a:rPr>
              <a:t>git revert</a:t>
            </a:r>
            <a:pPr indent="0" marL="0">
              <a:lnSpc>
                <a:spcPts val="1800"/>
              </a:lnSpc>
              <a:buNone/>
            </a:pPr>
            <a:r>
              <a:rPr lang="en-US" sz="1300" dirty="0">
                <a:solidFill>
                  <a:srgbClr val="4A4A55"/>
                </a:solidFill>
                <a:latin typeface="Calibri" pitchFamily="34" charset="0"/>
                <a:ea typeface="Calibri" pitchFamily="34" charset="-122"/>
                <a:cs typeface="Calibri" pitchFamily="34" charset="-120"/>
              </a:rPr>
              <a:t> sebagai gantinya.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8778240" y="1417320"/>
            <a:ext cx="4023360" cy="4023360"/>
          </a:xfrm>
          <a:prstGeom prst="ellipse">
            <a:avLst/>
          </a:prstGeom>
          <a:solidFill>
            <a:srgbClr val="F05032">
              <a:alpha val="14000"/>
            </a:srgbClr>
          </a:solidFill>
          <a:ln w="12700">
            <a:solidFill>
              <a:srgbClr val="F05032"/>
            </a:solidFill>
            <a:prstDash val="solid"/>
          </a:ln>
        </p:spPr>
      </p:sp>
      <p:sp>
        <p:nvSpPr>
          <p:cNvPr id="3" name="Shape 1"/>
          <p:cNvSpPr/>
          <p:nvPr/>
        </p:nvSpPr>
        <p:spPr>
          <a:xfrm>
            <a:off x="9601200" y="2240280"/>
            <a:ext cx="2377440" cy="2377440"/>
          </a:xfrm>
          <a:prstGeom prst="ellipse">
            <a:avLst/>
          </a:prstGeom>
          <a:solidFill>
            <a:srgbClr val="F05032"/>
          </a:solidFill>
          <a:ln w="12700">
            <a:solidFill>
              <a:srgbClr val="F05032"/>
            </a:solidFill>
            <a:prstDash val="solid"/>
          </a:ln>
        </p:spPr>
      </p:sp>
      <p:pic>
        <p:nvPicPr>
          <p:cNvPr id="4" name="Image 0" descr="preencoded.png">    </p:cNvPr>
          <p:cNvPicPr>
            <a:picLocks noChangeAspect="1"/>
          </p:cNvPicPr>
          <p:nvPr/>
        </p:nvPicPr>
        <p:blipFill>
          <a:blip r:embed="rId1"/>
          <a:stretch>
            <a:fillRect/>
          </a:stretch>
        </p:blipFill>
        <p:spPr>
          <a:xfrm>
            <a:off x="9934042" y="2573122"/>
            <a:ext cx="1711757" cy="1711757"/>
          </a:xfrm>
          <a:prstGeom prst="rect">
            <a:avLst/>
          </a:prstGeom>
        </p:spPr>
      </p:pic>
      <p:sp>
        <p:nvSpPr>
          <p:cNvPr id="5" name="Text 2"/>
          <p:cNvSpPr txBox="1"/>
          <p:nvPr/>
        </p:nvSpPr>
        <p:spPr>
          <a:xfrm>
            <a:off x="640080" y="2148840"/>
            <a:ext cx="5486400" cy="292608"/>
          </a:xfrm>
          <a:prstGeom prst="rect">
            <a:avLst/>
          </a:prstGeom>
          <a:noFill/>
          <a:ln/>
        </p:spPr>
        <p:txBody>
          <a:bodyPr wrap="square" lIns="0" tIns="0" rIns="0" bIns="0" rtlCol="0" anchor="ctr"/>
          <a:lstStyle/>
          <a:p>
            <a:pPr indent="0" marL="0">
              <a:buNone/>
            </a:pPr>
            <a:r>
              <a:rPr lang="en-US" sz="1250" b="1" spc="260" kern="0" dirty="0">
                <a:solidFill>
                  <a:srgbClr val="F05032"/>
                </a:solidFill>
                <a:latin typeface="Calibri" pitchFamily="34" charset="0"/>
                <a:ea typeface="Calibri" pitchFamily="34" charset="-122"/>
                <a:cs typeface="Calibri" pitchFamily="34" charset="-120"/>
              </a:rPr>
              <a:t>BAGIAN 03</a:t>
            </a:r>
            <a:endParaRPr lang="en-US" sz="1250" dirty="0"/>
          </a:p>
        </p:txBody>
      </p:sp>
      <p:sp>
        <p:nvSpPr>
          <p:cNvPr id="6" name="Text 3"/>
          <p:cNvSpPr txBox="1"/>
          <p:nvPr/>
        </p:nvSpPr>
        <p:spPr>
          <a:xfrm>
            <a:off x="640080" y="2514600"/>
            <a:ext cx="749808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Branching &amp; Merging</a:t>
            </a:r>
            <a:endParaRPr lang="en-US" sz="4200" dirty="0"/>
          </a:p>
        </p:txBody>
      </p:sp>
      <p:sp>
        <p:nvSpPr>
          <p:cNvPr id="7" name="Text 4"/>
          <p:cNvSpPr txBox="1"/>
          <p:nvPr/>
        </p:nvSpPr>
        <p:spPr>
          <a:xfrm>
            <a:off x="640080" y="3474720"/>
            <a:ext cx="6949440" cy="822960"/>
          </a:xfrm>
          <a:prstGeom prst="rect">
            <a:avLst/>
          </a:prstGeom>
          <a:noFill/>
          <a:ln/>
        </p:spPr>
        <p:txBody>
          <a:bodyPr wrap="square" lIns="0" tIns="0" rIns="0" bIns="0" rtlCol="0" anchor="ctr"/>
          <a:lstStyle/>
          <a:p>
            <a:pPr indent="0" marL="0">
              <a:lnSpc>
                <a:spcPts val="2400"/>
              </a:lnSpc>
              <a:buNone/>
            </a:pPr>
            <a:r>
              <a:rPr lang="en-US" sz="1500" dirty="0">
                <a:solidFill>
                  <a:srgbClr val="A6A6B2"/>
                </a:solidFill>
                <a:latin typeface="Calibri" pitchFamily="34" charset="0"/>
                <a:ea typeface="Calibri" pitchFamily="34" charset="-122"/>
                <a:cs typeface="Calibri" pitchFamily="34" charset="-120"/>
              </a:rPr>
              <a:t>Kekuatan utama Git: bekerja paralel pada banyak cabang lalu menyatukannya kembali dengan rapi.</a:t>
            </a:r>
            <a:endParaRPr lang="en-US" sz="1500" dirty="0"/>
          </a:p>
        </p:txBody>
      </p:sp>
      <p:sp>
        <p:nvSpPr>
          <p:cNvPr id="8" name="Text 5"/>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9" name="Text 6"/>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03 · KONSEP</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Memahami Cabang (Branch)</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640080" y="1572768"/>
            <a:ext cx="4160520" cy="4297680"/>
          </a:xfrm>
          <a:prstGeom prst="roundRect">
            <a:avLst>
              <a:gd name="adj" fmla="val 2198"/>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50976" y="1810512"/>
            <a:ext cx="548640" cy="548640"/>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1027786" y="1887322"/>
            <a:ext cx="395021" cy="395021"/>
          </a:xfrm>
          <a:prstGeom prst="rect">
            <a:avLst/>
          </a:prstGeom>
        </p:spPr>
      </p:pic>
      <p:sp>
        <p:nvSpPr>
          <p:cNvPr id="9" name="Text 6"/>
          <p:cNvSpPr txBox="1"/>
          <p:nvPr/>
        </p:nvSpPr>
        <p:spPr>
          <a:xfrm>
            <a:off x="950976" y="2450592"/>
            <a:ext cx="3566160" cy="310896"/>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Apa Itu Branch?</a:t>
            </a:r>
            <a:endParaRPr lang="en-US" sz="1800" dirty="0"/>
          </a:p>
        </p:txBody>
      </p:sp>
      <p:sp>
        <p:nvSpPr>
          <p:cNvPr id="10" name="Text 7"/>
          <p:cNvSpPr txBox="1"/>
          <p:nvPr/>
        </p:nvSpPr>
        <p:spPr>
          <a:xfrm>
            <a:off x="950976" y="2798064"/>
            <a:ext cx="3566160" cy="1234440"/>
          </a:xfrm>
          <a:prstGeom prst="rect">
            <a:avLst/>
          </a:prstGeom>
          <a:noFill/>
          <a:ln/>
        </p:spPr>
        <p:txBody>
          <a:bodyPr wrap="square" lIns="0" tIns="0" rIns="0" bIns="0" rtlCol="0" anchor="ctr"/>
          <a:lstStyle/>
          <a:p>
            <a:pPr indent="0" marL="0">
              <a:lnSpc>
                <a:spcPts val="1900"/>
              </a:lnSpc>
              <a:buNone/>
            </a:pPr>
            <a:r>
              <a:rPr lang="en-US" sz="1300" dirty="0">
                <a:solidFill>
                  <a:srgbClr val="4A4A55"/>
                </a:solidFill>
                <a:latin typeface="Calibri" pitchFamily="34" charset="0"/>
                <a:ea typeface="Calibri" pitchFamily="34" charset="-122"/>
                <a:cs typeface="Calibri" pitchFamily="34" charset="-120"/>
              </a:rPr>
              <a:t>Branch adalah penunjuk ringan yang bergerak ke commit terbaru. Membuat cabang berarti membuka jalur kerja terpisah, sehingga fitur baru atau perbaikan bisa dikerjakan tanpa mengganggu kode utama yang sudah stabil.</a:t>
            </a:r>
            <a:endParaRPr lang="en-US" sz="1300" dirty="0"/>
          </a:p>
        </p:txBody>
      </p:sp>
      <p:sp>
        <p:nvSpPr>
          <p:cNvPr id="11" name="Text 8"/>
          <p:cNvSpPr txBox="1"/>
          <p:nvPr/>
        </p:nvSpPr>
        <p:spPr>
          <a:xfrm>
            <a:off x="950976" y="4041648"/>
            <a:ext cx="356616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Istilah Penting</a:t>
            </a:r>
            <a:endParaRPr lang="en-US" sz="1400" dirty="0"/>
          </a:p>
        </p:txBody>
      </p:sp>
      <p:sp>
        <p:nvSpPr>
          <p:cNvPr id="12" name="Text 9"/>
          <p:cNvSpPr txBox="1"/>
          <p:nvPr/>
        </p:nvSpPr>
        <p:spPr>
          <a:xfrm>
            <a:off x="969264" y="4352544"/>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A4A55"/>
                </a:solidFill>
                <a:latin typeface="Calibri" pitchFamily="34" charset="0"/>
                <a:ea typeface="Calibri" pitchFamily="34" charset="-122"/>
                <a:cs typeface="Calibri" pitchFamily="34" charset="-120"/>
              </a:rPr>
              <a:t>main / master — cabang utama berisi kode stabil</a:t>
            </a:r>
            <a:endParaRPr lang="en-US" sz="1250" dirty="0"/>
          </a:p>
          <a:p>
            <a:pPr marL="342900" indent="-342900">
              <a:spcAft>
                <a:spcPts val="600"/>
              </a:spcAft>
              <a:buSzPct val="100000"/>
              <a:buChar char="•"/>
            </a:pPr>
            <a:r>
              <a:rPr lang="en-US" sz="1250" dirty="0">
                <a:solidFill>
                  <a:srgbClr val="4A4A55"/>
                </a:solidFill>
                <a:latin typeface="Calibri" pitchFamily="34" charset="0"/>
                <a:ea typeface="Calibri" pitchFamily="34" charset="-122"/>
                <a:cs typeface="Calibri" pitchFamily="34" charset="-120"/>
              </a:rPr>
              <a:t>HEAD — penunjuk ke cabang yang sedang aktif</a:t>
            </a:r>
            <a:endParaRPr lang="en-US" sz="1250" dirty="0"/>
          </a:p>
          <a:p>
            <a:pPr marL="342900" indent="-342900">
              <a:spcAft>
                <a:spcPts val="600"/>
              </a:spcAft>
              <a:buSzPct val="100000"/>
              <a:buChar char="•"/>
            </a:pPr>
            <a:r>
              <a:rPr lang="en-US" sz="1250" dirty="0">
                <a:solidFill>
                  <a:srgbClr val="4A4A55"/>
                </a:solidFill>
                <a:latin typeface="Calibri" pitchFamily="34" charset="0"/>
                <a:ea typeface="Calibri" pitchFamily="34" charset="-122"/>
                <a:cs typeface="Calibri" pitchFamily="34" charset="-120"/>
              </a:rPr>
              <a:t>feature branch — cabang untuk satu fitur tertentu</a:t>
            </a:r>
            <a:endParaRPr lang="en-US" sz="1250" dirty="0"/>
          </a:p>
          <a:p>
            <a:pPr marL="342900" indent="-342900">
              <a:spcAft>
                <a:spcPts val="600"/>
              </a:spcAft>
              <a:buSzPct val="100000"/>
              <a:buChar char="•"/>
            </a:pPr>
            <a:r>
              <a:rPr lang="en-US" sz="1250" dirty="0">
                <a:solidFill>
                  <a:srgbClr val="4A4A55"/>
                </a:solidFill>
                <a:latin typeface="Calibri" pitchFamily="34" charset="0"/>
                <a:ea typeface="Calibri" pitchFamily="34" charset="-122"/>
                <a:cs typeface="Calibri" pitchFamily="34" charset="-120"/>
              </a:rPr>
              <a:t>merge — proses menyatukan dua cabang</a:t>
            </a:r>
            <a:endParaRPr lang="en-US" sz="1250" dirty="0"/>
          </a:p>
        </p:txBody>
      </p:sp>
      <p:sp>
        <p:nvSpPr>
          <p:cNvPr id="13" name="Shape 10"/>
          <p:cNvSpPr/>
          <p:nvPr/>
        </p:nvSpPr>
        <p:spPr>
          <a:xfrm>
            <a:off x="5257800" y="1572768"/>
            <a:ext cx="6291072" cy="4297680"/>
          </a:xfrm>
          <a:prstGeom prst="roundRect">
            <a:avLst>
              <a:gd name="adj" fmla="val 2128"/>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Text 11"/>
          <p:cNvSpPr txBox="1"/>
          <p:nvPr/>
        </p:nvSpPr>
        <p:spPr>
          <a:xfrm>
            <a:off x="5532120" y="1773936"/>
            <a:ext cx="4572000"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Ilustrasi Alur Percabangan</a:t>
            </a:r>
            <a:endParaRPr lang="en-US" sz="1500" dirty="0"/>
          </a:p>
        </p:txBody>
      </p:sp>
      <p:sp>
        <p:nvSpPr>
          <p:cNvPr id="15" name="Shape 12"/>
          <p:cNvSpPr/>
          <p:nvPr/>
        </p:nvSpPr>
        <p:spPr>
          <a:xfrm>
            <a:off x="5623560" y="4160520"/>
            <a:ext cx="5577840" cy="0"/>
          </a:xfrm>
          <a:prstGeom prst="line">
            <a:avLst/>
          </a:prstGeom>
          <a:noFill/>
          <a:ln w="38100">
            <a:solidFill>
              <a:srgbClr val="D6D1CD"/>
            </a:solidFill>
            <a:prstDash val="solid"/>
          </a:ln>
        </p:spPr>
      </p:sp>
      <p:sp>
        <p:nvSpPr>
          <p:cNvPr id="16" name="Shape 13"/>
          <p:cNvSpPr/>
          <p:nvPr/>
        </p:nvSpPr>
        <p:spPr>
          <a:xfrm>
            <a:off x="5495544" y="4032504"/>
            <a:ext cx="256032" cy="256032"/>
          </a:xfrm>
          <a:prstGeom prst="ellipse">
            <a:avLst/>
          </a:prstGeom>
          <a:solidFill>
            <a:srgbClr val="17171C"/>
          </a:solidFill>
          <a:ln w="25400">
            <a:solidFill>
              <a:srgbClr val="FFFFFF"/>
            </a:solidFill>
            <a:prstDash val="solid"/>
          </a:ln>
        </p:spPr>
      </p:sp>
      <p:sp>
        <p:nvSpPr>
          <p:cNvPr id="17" name="Shape 14"/>
          <p:cNvSpPr/>
          <p:nvPr/>
        </p:nvSpPr>
        <p:spPr>
          <a:xfrm>
            <a:off x="6364224" y="4032504"/>
            <a:ext cx="256032" cy="256032"/>
          </a:xfrm>
          <a:prstGeom prst="ellipse">
            <a:avLst/>
          </a:prstGeom>
          <a:solidFill>
            <a:srgbClr val="17171C"/>
          </a:solidFill>
          <a:ln w="25400">
            <a:solidFill>
              <a:srgbClr val="FFFFFF"/>
            </a:solidFill>
            <a:prstDash val="solid"/>
          </a:ln>
        </p:spPr>
      </p:sp>
      <p:sp>
        <p:nvSpPr>
          <p:cNvPr id="18" name="Shape 15"/>
          <p:cNvSpPr/>
          <p:nvPr/>
        </p:nvSpPr>
        <p:spPr>
          <a:xfrm>
            <a:off x="7232904" y="4032504"/>
            <a:ext cx="256032" cy="256032"/>
          </a:xfrm>
          <a:prstGeom prst="ellipse">
            <a:avLst/>
          </a:prstGeom>
          <a:solidFill>
            <a:srgbClr val="17171C"/>
          </a:solidFill>
          <a:ln w="25400">
            <a:solidFill>
              <a:srgbClr val="FFFFFF"/>
            </a:solidFill>
            <a:prstDash val="solid"/>
          </a:ln>
        </p:spPr>
      </p:sp>
      <p:sp>
        <p:nvSpPr>
          <p:cNvPr id="19" name="Shape 16"/>
          <p:cNvSpPr/>
          <p:nvPr/>
        </p:nvSpPr>
        <p:spPr>
          <a:xfrm>
            <a:off x="9838944" y="4032504"/>
            <a:ext cx="256032" cy="256032"/>
          </a:xfrm>
          <a:prstGeom prst="ellipse">
            <a:avLst/>
          </a:prstGeom>
          <a:solidFill>
            <a:srgbClr val="17171C"/>
          </a:solidFill>
          <a:ln w="25400">
            <a:solidFill>
              <a:srgbClr val="FFFFFF"/>
            </a:solidFill>
            <a:prstDash val="solid"/>
          </a:ln>
        </p:spPr>
      </p:sp>
      <p:sp>
        <p:nvSpPr>
          <p:cNvPr id="20" name="Shape 17"/>
          <p:cNvSpPr/>
          <p:nvPr/>
        </p:nvSpPr>
        <p:spPr>
          <a:xfrm>
            <a:off x="10707624" y="4032504"/>
            <a:ext cx="256032" cy="256032"/>
          </a:xfrm>
          <a:prstGeom prst="ellipse">
            <a:avLst/>
          </a:prstGeom>
          <a:solidFill>
            <a:srgbClr val="17171C"/>
          </a:solidFill>
          <a:ln w="25400">
            <a:solidFill>
              <a:srgbClr val="FFFFFF"/>
            </a:solidFill>
            <a:prstDash val="solid"/>
          </a:ln>
        </p:spPr>
      </p:sp>
      <p:sp>
        <p:nvSpPr>
          <p:cNvPr id="21" name="Shape 18"/>
          <p:cNvSpPr/>
          <p:nvPr/>
        </p:nvSpPr>
        <p:spPr>
          <a:xfrm>
            <a:off x="7360920" y="4160520"/>
            <a:ext cx="685800" cy="-1280160"/>
          </a:xfrm>
          <a:prstGeom prst="line">
            <a:avLst/>
          </a:prstGeom>
          <a:noFill/>
          <a:ln w="38100">
            <a:solidFill>
              <a:srgbClr val="F05032"/>
            </a:solidFill>
            <a:prstDash val="solid"/>
          </a:ln>
        </p:spPr>
      </p:sp>
      <p:sp>
        <p:nvSpPr>
          <p:cNvPr id="22" name="Shape 19"/>
          <p:cNvSpPr/>
          <p:nvPr/>
        </p:nvSpPr>
        <p:spPr>
          <a:xfrm>
            <a:off x="8046720" y="2880360"/>
            <a:ext cx="1280160" cy="0"/>
          </a:xfrm>
          <a:prstGeom prst="line">
            <a:avLst/>
          </a:prstGeom>
          <a:noFill/>
          <a:ln w="38100">
            <a:solidFill>
              <a:srgbClr val="F05032"/>
            </a:solidFill>
            <a:prstDash val="solid"/>
          </a:ln>
        </p:spPr>
      </p:sp>
      <p:sp>
        <p:nvSpPr>
          <p:cNvPr id="23" name="Shape 20"/>
          <p:cNvSpPr/>
          <p:nvPr/>
        </p:nvSpPr>
        <p:spPr>
          <a:xfrm>
            <a:off x="9326880" y="2880360"/>
            <a:ext cx="640080" cy="1280160"/>
          </a:xfrm>
          <a:prstGeom prst="line">
            <a:avLst/>
          </a:prstGeom>
          <a:noFill/>
          <a:ln w="38100">
            <a:solidFill>
              <a:srgbClr val="F05032"/>
            </a:solidFill>
            <a:prstDash val="solid"/>
          </a:ln>
        </p:spPr>
      </p:sp>
      <p:sp>
        <p:nvSpPr>
          <p:cNvPr id="24" name="Shape 21"/>
          <p:cNvSpPr/>
          <p:nvPr/>
        </p:nvSpPr>
        <p:spPr>
          <a:xfrm>
            <a:off x="7918704" y="2752344"/>
            <a:ext cx="256032" cy="256032"/>
          </a:xfrm>
          <a:prstGeom prst="ellipse">
            <a:avLst/>
          </a:prstGeom>
          <a:solidFill>
            <a:srgbClr val="F05032"/>
          </a:solidFill>
          <a:ln w="25400">
            <a:solidFill>
              <a:srgbClr val="FFFFFF"/>
            </a:solidFill>
            <a:prstDash val="solid"/>
          </a:ln>
        </p:spPr>
      </p:sp>
      <p:sp>
        <p:nvSpPr>
          <p:cNvPr id="25" name="Shape 22"/>
          <p:cNvSpPr/>
          <p:nvPr/>
        </p:nvSpPr>
        <p:spPr>
          <a:xfrm>
            <a:off x="8558784" y="2752344"/>
            <a:ext cx="256032" cy="256032"/>
          </a:xfrm>
          <a:prstGeom prst="ellipse">
            <a:avLst/>
          </a:prstGeom>
          <a:solidFill>
            <a:srgbClr val="F05032"/>
          </a:solidFill>
          <a:ln w="25400">
            <a:solidFill>
              <a:srgbClr val="FFFFFF"/>
            </a:solidFill>
            <a:prstDash val="solid"/>
          </a:ln>
        </p:spPr>
      </p:sp>
      <p:sp>
        <p:nvSpPr>
          <p:cNvPr id="26" name="Shape 23"/>
          <p:cNvSpPr/>
          <p:nvPr/>
        </p:nvSpPr>
        <p:spPr>
          <a:xfrm>
            <a:off x="9198864" y="2752344"/>
            <a:ext cx="256032" cy="256032"/>
          </a:xfrm>
          <a:prstGeom prst="ellipse">
            <a:avLst/>
          </a:prstGeom>
          <a:solidFill>
            <a:srgbClr val="F05032"/>
          </a:solidFill>
          <a:ln w="25400">
            <a:solidFill>
              <a:srgbClr val="FFFFFF"/>
            </a:solidFill>
            <a:prstDash val="solid"/>
          </a:ln>
        </p:spPr>
      </p:sp>
      <p:sp>
        <p:nvSpPr>
          <p:cNvPr id="27" name="Text 24"/>
          <p:cNvSpPr txBox="1"/>
          <p:nvPr/>
        </p:nvSpPr>
        <p:spPr>
          <a:xfrm>
            <a:off x="5605272" y="4361688"/>
            <a:ext cx="1097280" cy="237744"/>
          </a:xfrm>
          <a:prstGeom prst="rect">
            <a:avLst/>
          </a:prstGeom>
          <a:noFill/>
          <a:ln/>
        </p:spPr>
        <p:txBody>
          <a:bodyPr wrap="square" lIns="0" tIns="0" rIns="0" bIns="0" rtlCol="0" anchor="ctr"/>
          <a:lstStyle/>
          <a:p>
            <a:pPr indent="0" marL="0">
              <a:buNone/>
            </a:pPr>
            <a:r>
              <a:rPr lang="en-US" sz="1200" b="1" dirty="0">
                <a:solidFill>
                  <a:srgbClr val="17171C"/>
                </a:solidFill>
                <a:latin typeface="Courier New" pitchFamily="34" charset="0"/>
                <a:ea typeface="Courier New" pitchFamily="34" charset="-122"/>
                <a:cs typeface="Courier New" pitchFamily="34" charset="-120"/>
              </a:rPr>
              <a:t>main</a:t>
            </a:r>
            <a:endParaRPr lang="en-US" sz="1200" dirty="0"/>
          </a:p>
        </p:txBody>
      </p:sp>
      <p:sp>
        <p:nvSpPr>
          <p:cNvPr id="28" name="Text 25"/>
          <p:cNvSpPr txBox="1"/>
          <p:nvPr/>
        </p:nvSpPr>
        <p:spPr>
          <a:xfrm>
            <a:off x="7863840" y="2423160"/>
            <a:ext cx="1828800" cy="237744"/>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feature/login</a:t>
            </a:r>
            <a:endParaRPr lang="en-US" sz="1200" dirty="0"/>
          </a:p>
        </p:txBody>
      </p:sp>
      <p:sp>
        <p:nvSpPr>
          <p:cNvPr id="29" name="Text 26"/>
          <p:cNvSpPr txBox="1"/>
          <p:nvPr/>
        </p:nvSpPr>
        <p:spPr>
          <a:xfrm>
            <a:off x="6995160" y="3337560"/>
            <a:ext cx="1371600" cy="219456"/>
          </a:xfrm>
          <a:prstGeom prst="rect">
            <a:avLst/>
          </a:prstGeom>
          <a:noFill/>
          <a:ln/>
        </p:spPr>
        <p:txBody>
          <a:bodyPr wrap="square" lIns="0" tIns="0" rIns="0" bIns="0" rtlCol="0" anchor="ctr"/>
          <a:lstStyle/>
          <a:p>
            <a:pPr algn="ctr" indent="0" marL="0">
              <a:buNone/>
            </a:pPr>
            <a:r>
              <a:rPr lang="en-US" sz="1000" dirty="0">
                <a:solidFill>
                  <a:srgbClr val="6E6E78"/>
                </a:solidFill>
                <a:latin typeface="Courier New" pitchFamily="34" charset="0"/>
                <a:ea typeface="Courier New" pitchFamily="34" charset="-122"/>
                <a:cs typeface="Courier New" pitchFamily="34" charset="-120"/>
              </a:rPr>
              <a:t>git branch</a:t>
            </a:r>
            <a:endParaRPr lang="en-US" sz="1000" dirty="0"/>
          </a:p>
        </p:txBody>
      </p:sp>
      <p:sp>
        <p:nvSpPr>
          <p:cNvPr id="30" name="Text 27"/>
          <p:cNvSpPr txBox="1"/>
          <p:nvPr/>
        </p:nvSpPr>
        <p:spPr>
          <a:xfrm>
            <a:off x="9144000" y="3337560"/>
            <a:ext cx="1371600" cy="219456"/>
          </a:xfrm>
          <a:prstGeom prst="rect">
            <a:avLst/>
          </a:prstGeom>
          <a:noFill/>
          <a:ln/>
        </p:spPr>
        <p:txBody>
          <a:bodyPr wrap="square" lIns="0" tIns="0" rIns="0" bIns="0" rtlCol="0" anchor="ctr"/>
          <a:lstStyle/>
          <a:p>
            <a:pPr algn="ctr" indent="0" marL="0">
              <a:buNone/>
            </a:pPr>
            <a:r>
              <a:rPr lang="en-US" sz="1000" dirty="0">
                <a:solidFill>
                  <a:srgbClr val="6E6E78"/>
                </a:solidFill>
                <a:latin typeface="Courier New" pitchFamily="34" charset="0"/>
                <a:ea typeface="Courier New" pitchFamily="34" charset="-122"/>
                <a:cs typeface="Courier New" pitchFamily="34" charset="-120"/>
              </a:rPr>
              <a:t>git merge</a:t>
            </a:r>
            <a:endParaRPr lang="en-US" sz="1000" dirty="0"/>
          </a:p>
        </p:txBody>
      </p:sp>
      <p:sp>
        <p:nvSpPr>
          <p:cNvPr id="31" name="Text 28"/>
          <p:cNvSpPr txBox="1"/>
          <p:nvPr/>
        </p:nvSpPr>
        <p:spPr>
          <a:xfrm>
            <a:off x="5532120" y="4892040"/>
            <a:ext cx="5742432" cy="777240"/>
          </a:xfrm>
          <a:prstGeom prst="rect">
            <a:avLst/>
          </a:prstGeom>
          <a:noFill/>
          <a:ln/>
        </p:spPr>
        <p:txBody>
          <a:bodyPr wrap="square" lIns="0" tIns="0" rIns="0" bIns="0" rtlCol="0" anchor="ctr"/>
          <a:lstStyle/>
          <a:p>
            <a:pPr indent="0" marL="0">
              <a:lnSpc>
                <a:spcPts val="1800"/>
              </a:lnSpc>
              <a:buNone/>
            </a:pPr>
            <a:r>
              <a:rPr lang="en-US" sz="1250" dirty="0">
                <a:solidFill>
                  <a:srgbClr val="6E6E78"/>
                </a:solidFill>
                <a:latin typeface="Calibri" pitchFamily="34" charset="0"/>
                <a:ea typeface="Calibri" pitchFamily="34" charset="-122"/>
                <a:cs typeface="Calibri" pitchFamily="34" charset="-120"/>
              </a:rPr>
              <a:t>Cabang feature/login dibuat dari main, dikerjakan terpisah dalam tiga commit, lalu digabungkan kembali ke main setelah selesai diuji.</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03 · PRAKTIK</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Perintah Percabangan dan Penggabungan</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640080" y="1572768"/>
            <a:ext cx="5943600" cy="4160520"/>
          </a:xfrm>
          <a:prstGeom prst="roundRect">
            <a:avLst>
              <a:gd name="adj" fmla="val 1758"/>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7" name="Text 5"/>
          <p:cNvSpPr txBox="1"/>
          <p:nvPr/>
        </p:nvSpPr>
        <p:spPr>
          <a:xfrm>
            <a:off x="896112" y="1755648"/>
            <a:ext cx="5486400" cy="3794760"/>
          </a:xfrm>
          <a:prstGeom prst="rect">
            <a:avLst/>
          </a:prstGeom>
          <a:noFill/>
          <a:ln/>
        </p:spPr>
        <p:txBody>
          <a:bodyPr wrap="square" lIns="0" tIns="0" rIns="0" bIns="0" rtlCol="0" anchor="t"/>
          <a:lstStyle/>
          <a:p>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Melihat dan membuat cabang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branch                       # daftar cabang lokal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branch -a                    # termasuk cabang remote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branch feature/login         # buat cabang baru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Berpindah cabang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switch feature/login         # cara modern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switch -c feature/login      # buat + pindah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checkout -b feature/login    # cara lama, setara
</a:t>
            </a:r>
            <a:pPr indent="0" marL="0">
              <a:lnSpc>
                <a:spcPts val="2100"/>
              </a:lnSpc>
              <a:buNone/>
            </a:pPr>
            <a:r>
              <a:rPr lang="en-US" sz="1250" dirty="0">
                <a:solidFill>
                  <a:srgbClr val="7F8C99"/>
                </a:solidFill>
                <a:latin typeface="Courier New" pitchFamily="34" charset="0"/>
                <a:ea typeface="Courier New" pitchFamily="34" charset="-122"/>
                <a:cs typeface="Courier New" pitchFamily="34" charset="-120"/>
              </a:rPr>
              <a:t># Menggabungkan dan merapikan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switch main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merge feature/login          # gabung ke main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branch -d feature/login      # hapus setelah merge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git branch -m nama-baru          # ganti nama cabang</a:t>
            </a:r>
            <a:endParaRPr lang="en-US" sz="1250" dirty="0"/>
          </a:p>
        </p:txBody>
      </p:sp>
      <p:sp>
        <p:nvSpPr>
          <p:cNvPr id="8" name="Shape 6"/>
          <p:cNvSpPr/>
          <p:nvPr/>
        </p:nvSpPr>
        <p:spPr>
          <a:xfrm>
            <a:off x="6858000" y="1572768"/>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9" name="Shape 7"/>
          <p:cNvSpPr/>
          <p:nvPr/>
        </p:nvSpPr>
        <p:spPr>
          <a:xfrm>
            <a:off x="7114032" y="1865376"/>
            <a:ext cx="475488" cy="475488"/>
          </a:xfrm>
          <a:prstGeom prst="ellipse">
            <a:avLst/>
          </a:prstGeom>
          <a:solidFill>
            <a:srgbClr val="F05032"/>
          </a:solidFill>
          <a:ln w="12700">
            <a:solidFill>
              <a:srgbClr val="F05032"/>
            </a:solidFill>
            <a:prstDash val="solid"/>
          </a:ln>
        </p:spPr>
      </p:sp>
      <p:pic>
        <p:nvPicPr>
          <p:cNvPr id="10" name="Image 0" descr="preencoded.png">    </p:cNvPr>
          <p:cNvPicPr>
            <a:picLocks noChangeAspect="1"/>
          </p:cNvPicPr>
          <p:nvPr/>
        </p:nvPicPr>
        <p:blipFill>
          <a:blip r:embed="rId1"/>
          <a:stretch>
            <a:fillRect/>
          </a:stretch>
        </p:blipFill>
        <p:spPr>
          <a:xfrm>
            <a:off x="7180600" y="1931944"/>
            <a:ext cx="342351" cy="342351"/>
          </a:xfrm>
          <a:prstGeom prst="rect">
            <a:avLst/>
          </a:prstGeom>
        </p:spPr>
      </p:pic>
      <p:sp>
        <p:nvSpPr>
          <p:cNvPr id="11" name="Text 8"/>
          <p:cNvSpPr txBox="1"/>
          <p:nvPr/>
        </p:nvSpPr>
        <p:spPr>
          <a:xfrm>
            <a:off x="7717536" y="1792224"/>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switch vs checkout</a:t>
            </a:r>
            <a:endParaRPr lang="en-US" sz="1400" dirty="0"/>
          </a:p>
        </p:txBody>
      </p:sp>
      <p:sp>
        <p:nvSpPr>
          <p:cNvPr id="12" name="Text 9"/>
          <p:cNvSpPr txBox="1"/>
          <p:nvPr/>
        </p:nvSpPr>
        <p:spPr>
          <a:xfrm>
            <a:off x="7717536" y="2075688"/>
            <a:ext cx="3657600" cy="713232"/>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Sejak Git 2.23, git switch khusus untuk berpindah cabang dan git restore untuk memulihkan berkas. Keduanya memecah fungsi checkout yang dulu terlalu banyak peran.</a:t>
            </a:r>
            <a:endParaRPr lang="en-US" sz="1150" dirty="0"/>
          </a:p>
        </p:txBody>
      </p:sp>
      <p:sp>
        <p:nvSpPr>
          <p:cNvPr id="13" name="Shape 10"/>
          <p:cNvSpPr/>
          <p:nvPr/>
        </p:nvSpPr>
        <p:spPr>
          <a:xfrm>
            <a:off x="6858000" y="3017520"/>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7114032" y="3310128"/>
            <a:ext cx="475488" cy="475488"/>
          </a:xfrm>
          <a:prstGeom prst="ellipse">
            <a:avLst/>
          </a:prstGeom>
          <a:solidFill>
            <a:srgbClr val="F05032"/>
          </a:solidFill>
          <a:ln w="12700">
            <a:solidFill>
              <a:srgbClr val="F05032"/>
            </a:solidFill>
            <a:prstDash val="solid"/>
          </a:ln>
        </p:spPr>
      </p:sp>
      <p:pic>
        <p:nvPicPr>
          <p:cNvPr id="15" name="Image 1" descr="preencoded.png">    </p:cNvPr>
          <p:cNvPicPr>
            <a:picLocks noChangeAspect="1"/>
          </p:cNvPicPr>
          <p:nvPr/>
        </p:nvPicPr>
        <p:blipFill>
          <a:blip r:embed="rId2"/>
          <a:stretch>
            <a:fillRect/>
          </a:stretch>
        </p:blipFill>
        <p:spPr>
          <a:xfrm>
            <a:off x="7180600" y="3376696"/>
            <a:ext cx="342351" cy="342351"/>
          </a:xfrm>
          <a:prstGeom prst="rect">
            <a:avLst/>
          </a:prstGeom>
        </p:spPr>
      </p:pic>
      <p:sp>
        <p:nvSpPr>
          <p:cNvPr id="16" name="Text 12"/>
          <p:cNvSpPr txBox="1"/>
          <p:nvPr/>
        </p:nvSpPr>
        <p:spPr>
          <a:xfrm>
            <a:off x="7717536" y="3236976"/>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Fast-Forward Merge</a:t>
            </a:r>
            <a:endParaRPr lang="en-US" sz="1400" dirty="0"/>
          </a:p>
        </p:txBody>
      </p:sp>
      <p:sp>
        <p:nvSpPr>
          <p:cNvPr id="17" name="Text 13"/>
          <p:cNvSpPr txBox="1"/>
          <p:nvPr/>
        </p:nvSpPr>
        <p:spPr>
          <a:xfrm>
            <a:off x="7717536" y="3520440"/>
            <a:ext cx="3657600" cy="713232"/>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Bila cabang utama tidak berubah sejak percabangan dibuat, Git cukup menggeser penunjuk ke depan tanpa membuat commit gabungan.</a:t>
            </a:r>
            <a:endParaRPr lang="en-US" sz="1150" dirty="0"/>
          </a:p>
        </p:txBody>
      </p:sp>
      <p:sp>
        <p:nvSpPr>
          <p:cNvPr id="18" name="Shape 14"/>
          <p:cNvSpPr/>
          <p:nvPr/>
        </p:nvSpPr>
        <p:spPr>
          <a:xfrm>
            <a:off x="6858000" y="4462272"/>
            <a:ext cx="4690872" cy="1261872"/>
          </a:xfrm>
          <a:prstGeom prst="roundRect">
            <a:avLst>
              <a:gd name="adj" fmla="val 72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9" name="Shape 15"/>
          <p:cNvSpPr/>
          <p:nvPr/>
        </p:nvSpPr>
        <p:spPr>
          <a:xfrm>
            <a:off x="7114032" y="4754880"/>
            <a:ext cx="475488" cy="475488"/>
          </a:xfrm>
          <a:prstGeom prst="ellipse">
            <a:avLst/>
          </a:prstGeom>
          <a:solidFill>
            <a:srgbClr val="F05032"/>
          </a:solidFill>
          <a:ln w="12700">
            <a:solidFill>
              <a:srgbClr val="F05032"/>
            </a:solidFill>
            <a:prstDash val="solid"/>
          </a:ln>
        </p:spPr>
      </p:sp>
      <p:pic>
        <p:nvPicPr>
          <p:cNvPr id="20" name="Image 2" descr="preencoded.png">    </p:cNvPr>
          <p:cNvPicPr>
            <a:picLocks noChangeAspect="1"/>
          </p:cNvPicPr>
          <p:nvPr/>
        </p:nvPicPr>
        <p:blipFill>
          <a:blip r:embed="rId3"/>
          <a:stretch>
            <a:fillRect/>
          </a:stretch>
        </p:blipFill>
        <p:spPr>
          <a:xfrm>
            <a:off x="7180600" y="4821448"/>
            <a:ext cx="342351" cy="342351"/>
          </a:xfrm>
          <a:prstGeom prst="rect">
            <a:avLst/>
          </a:prstGeom>
        </p:spPr>
      </p:pic>
      <p:sp>
        <p:nvSpPr>
          <p:cNvPr id="21" name="Text 16"/>
          <p:cNvSpPr txBox="1"/>
          <p:nvPr/>
        </p:nvSpPr>
        <p:spPr>
          <a:xfrm>
            <a:off x="7717536" y="4681728"/>
            <a:ext cx="3703320" cy="274320"/>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Konvensi Penamaan</a:t>
            </a:r>
            <a:endParaRPr lang="en-US" sz="1400" dirty="0"/>
          </a:p>
        </p:txBody>
      </p:sp>
      <p:sp>
        <p:nvSpPr>
          <p:cNvPr id="22" name="Text 17"/>
          <p:cNvSpPr txBox="1"/>
          <p:nvPr/>
        </p:nvSpPr>
        <p:spPr>
          <a:xfrm>
            <a:off x="7717536" y="4965192"/>
            <a:ext cx="3657600" cy="713232"/>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Gunakan awalan yang konsisten seperti feature/, bugfix/, hotfix/, atau release/ agar cabang mudah dikenali oleh seluruh anggota tim.</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03 · PERBANDINGAN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Merge atau Rebase?</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640080" y="1572768"/>
            <a:ext cx="5330952" cy="3429000"/>
          </a:xfrm>
          <a:prstGeom prst="roundRect">
            <a:avLst>
              <a:gd name="adj" fmla="val 2667"/>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50976" y="1847088"/>
            <a:ext cx="566928" cy="566928"/>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030346" y="1926458"/>
            <a:ext cx="408188" cy="408188"/>
          </a:xfrm>
          <a:prstGeom prst="rect">
            <a:avLst/>
          </a:prstGeom>
        </p:spPr>
      </p:pic>
      <p:sp>
        <p:nvSpPr>
          <p:cNvPr id="9" name="Text 6"/>
          <p:cNvSpPr txBox="1"/>
          <p:nvPr/>
        </p:nvSpPr>
        <p:spPr>
          <a:xfrm>
            <a:off x="1645920" y="1920240"/>
            <a:ext cx="3200400" cy="384048"/>
          </a:xfrm>
          <a:prstGeom prst="rect">
            <a:avLst/>
          </a:prstGeom>
          <a:noFill/>
          <a:ln/>
        </p:spPr>
        <p:txBody>
          <a:bodyPr wrap="square" lIns="0" tIns="0" rIns="0" bIns="0" rtlCol="0" anchor="ctr"/>
          <a:lstStyle/>
          <a:p>
            <a:pPr indent="0" marL="0">
              <a:buNone/>
            </a:pPr>
            <a:r>
              <a:rPr lang="en-US" sz="1800" b="1" dirty="0">
                <a:solidFill>
                  <a:srgbClr val="17171C"/>
                </a:solidFill>
                <a:latin typeface="Courier New" pitchFamily="34" charset="0"/>
                <a:ea typeface="Courier New" pitchFamily="34" charset="-122"/>
                <a:cs typeface="Courier New" pitchFamily="34" charset="-120"/>
              </a:rPr>
              <a:t>git merge</a:t>
            </a:r>
            <a:endParaRPr lang="en-US" sz="1800" dirty="0"/>
          </a:p>
        </p:txBody>
      </p:sp>
      <p:sp>
        <p:nvSpPr>
          <p:cNvPr id="10" name="Text 7"/>
          <p:cNvSpPr txBox="1"/>
          <p:nvPr/>
        </p:nvSpPr>
        <p:spPr>
          <a:xfrm>
            <a:off x="950976" y="2578608"/>
            <a:ext cx="4709160" cy="713232"/>
          </a:xfrm>
          <a:prstGeom prst="rect">
            <a:avLst/>
          </a:prstGeom>
          <a:noFill/>
          <a:ln/>
        </p:spPr>
        <p:txBody>
          <a:bodyPr wrap="square" lIns="0" tIns="0" rIns="0" bIns="0" rtlCol="0" anchor="ctr"/>
          <a:lstStyle/>
          <a:p>
            <a:pPr indent="0" marL="0">
              <a:lnSpc>
                <a:spcPts val="1900"/>
              </a:lnSpc>
              <a:buNone/>
            </a:pPr>
            <a:r>
              <a:rPr lang="en-US" sz="1300" dirty="0">
                <a:solidFill>
                  <a:srgbClr val="4A4A55"/>
                </a:solidFill>
                <a:latin typeface="Calibri" pitchFamily="34" charset="0"/>
                <a:ea typeface="Calibri" pitchFamily="34" charset="-122"/>
                <a:cs typeface="Calibri" pitchFamily="34" charset="-120"/>
              </a:rPr>
              <a:t>Menggabungkan dua cabang dengan membuat satu commit gabungan (merge commit) yang memiliki dua induk.</a:t>
            </a:r>
            <a:endParaRPr lang="en-US" sz="1300" dirty="0"/>
          </a:p>
        </p:txBody>
      </p:sp>
      <p:sp>
        <p:nvSpPr>
          <p:cNvPr id="11" name="Text 8"/>
          <p:cNvSpPr txBox="1"/>
          <p:nvPr/>
        </p:nvSpPr>
        <p:spPr>
          <a:xfrm>
            <a:off x="969264" y="3383280"/>
            <a:ext cx="4672584"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Riwayat asli tetap utuh dan jujur</a:t>
            </a:r>
            <a:endParaRPr lang="en-US" sz="1250" dirty="0"/>
          </a:p>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Aman dipakai pada cabang bersama</a:t>
            </a:r>
            <a:endParaRPr lang="en-US" sz="1250" dirty="0"/>
          </a:p>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Grafik riwayat bisa terlihat bercabang-cabang</a:t>
            </a:r>
            <a:endParaRPr lang="en-US" sz="1250" dirty="0"/>
          </a:p>
        </p:txBody>
      </p:sp>
      <p:sp>
        <p:nvSpPr>
          <p:cNvPr id="12" name="Shape 9"/>
          <p:cNvSpPr/>
          <p:nvPr/>
        </p:nvSpPr>
        <p:spPr>
          <a:xfrm>
            <a:off x="950976" y="4334256"/>
            <a:ext cx="4709160" cy="502920"/>
          </a:xfrm>
          <a:prstGeom prst="roundRect">
            <a:avLst>
              <a:gd name="adj" fmla="val 1454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3" name="Text 10"/>
          <p:cNvSpPr txBox="1"/>
          <p:nvPr/>
        </p:nvSpPr>
        <p:spPr>
          <a:xfrm>
            <a:off x="1207008" y="4517136"/>
            <a:ext cx="4251960" cy="137160"/>
          </a:xfrm>
          <a:prstGeom prst="rect">
            <a:avLst/>
          </a:prstGeom>
          <a:noFill/>
          <a:ln/>
        </p:spPr>
        <p:txBody>
          <a:bodyPr wrap="square" lIns="0" tIns="0" rIns="0" bIns="0" rtlCol="0" anchor="t"/>
          <a:lstStyle/>
          <a:p>
            <a:pPr indent="0" marL="0">
              <a:lnSpc>
                <a:spcPts val="20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E9E7E4"/>
                </a:solidFill>
                <a:latin typeface="Courier New" pitchFamily="34" charset="0"/>
                <a:ea typeface="Courier New" pitchFamily="34" charset="-122"/>
                <a:cs typeface="Courier New" pitchFamily="34" charset="-120"/>
              </a:rPr>
              <a:t>git switch main &amp;&amp; git merge feature/login</a:t>
            </a:r>
            <a:endParaRPr lang="en-US" sz="1150" dirty="0"/>
          </a:p>
        </p:txBody>
      </p:sp>
      <p:sp>
        <p:nvSpPr>
          <p:cNvPr id="14" name="Shape 11"/>
          <p:cNvSpPr/>
          <p:nvPr/>
        </p:nvSpPr>
        <p:spPr>
          <a:xfrm>
            <a:off x="6217920" y="1572768"/>
            <a:ext cx="5330952" cy="3429000"/>
          </a:xfrm>
          <a:prstGeom prst="roundRect">
            <a:avLst>
              <a:gd name="adj" fmla="val 2667"/>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15" name="Shape 12"/>
          <p:cNvSpPr/>
          <p:nvPr/>
        </p:nvSpPr>
        <p:spPr>
          <a:xfrm>
            <a:off x="6528816" y="1847088"/>
            <a:ext cx="566928" cy="566928"/>
          </a:xfrm>
          <a:prstGeom prst="ellipse">
            <a:avLst/>
          </a:prstGeom>
          <a:solidFill>
            <a:srgbClr val="F05032"/>
          </a:solidFill>
          <a:ln w="12700">
            <a:solidFill>
              <a:srgbClr val="F05032"/>
            </a:solidFill>
            <a:prstDash val="solid"/>
          </a:ln>
        </p:spPr>
      </p:sp>
      <p:pic>
        <p:nvPicPr>
          <p:cNvPr id="16" name="Image 1" descr="preencoded.png">    </p:cNvPr>
          <p:cNvPicPr>
            <a:picLocks noChangeAspect="1"/>
          </p:cNvPicPr>
          <p:nvPr/>
        </p:nvPicPr>
        <p:blipFill>
          <a:blip r:embed="rId2"/>
          <a:stretch>
            <a:fillRect/>
          </a:stretch>
        </p:blipFill>
        <p:spPr>
          <a:xfrm>
            <a:off x="6608186" y="1926458"/>
            <a:ext cx="408188" cy="408188"/>
          </a:xfrm>
          <a:prstGeom prst="rect">
            <a:avLst/>
          </a:prstGeom>
        </p:spPr>
      </p:pic>
      <p:sp>
        <p:nvSpPr>
          <p:cNvPr id="17" name="Text 13"/>
          <p:cNvSpPr txBox="1"/>
          <p:nvPr/>
        </p:nvSpPr>
        <p:spPr>
          <a:xfrm>
            <a:off x="7223760" y="1920240"/>
            <a:ext cx="3200400" cy="384048"/>
          </a:xfrm>
          <a:prstGeom prst="rect">
            <a:avLst/>
          </a:prstGeom>
          <a:noFill/>
          <a:ln/>
        </p:spPr>
        <p:txBody>
          <a:bodyPr wrap="square" lIns="0" tIns="0" rIns="0" bIns="0" rtlCol="0" anchor="ctr"/>
          <a:lstStyle/>
          <a:p>
            <a:pPr indent="0" marL="0">
              <a:buNone/>
            </a:pPr>
            <a:r>
              <a:rPr lang="en-US" sz="1800" b="1" dirty="0">
                <a:solidFill>
                  <a:srgbClr val="17171C"/>
                </a:solidFill>
                <a:latin typeface="Courier New" pitchFamily="34" charset="0"/>
                <a:ea typeface="Courier New" pitchFamily="34" charset="-122"/>
                <a:cs typeface="Courier New" pitchFamily="34" charset="-120"/>
              </a:rPr>
              <a:t>git rebase</a:t>
            </a:r>
            <a:endParaRPr lang="en-US" sz="1800" dirty="0"/>
          </a:p>
        </p:txBody>
      </p:sp>
      <p:sp>
        <p:nvSpPr>
          <p:cNvPr id="18" name="Text 14"/>
          <p:cNvSpPr txBox="1"/>
          <p:nvPr/>
        </p:nvSpPr>
        <p:spPr>
          <a:xfrm>
            <a:off x="6528816" y="2578608"/>
            <a:ext cx="4709160" cy="713232"/>
          </a:xfrm>
          <a:prstGeom prst="rect">
            <a:avLst/>
          </a:prstGeom>
          <a:noFill/>
          <a:ln/>
        </p:spPr>
        <p:txBody>
          <a:bodyPr wrap="square" lIns="0" tIns="0" rIns="0" bIns="0" rtlCol="0" anchor="ctr"/>
          <a:lstStyle/>
          <a:p>
            <a:pPr indent="0" marL="0">
              <a:lnSpc>
                <a:spcPts val="1900"/>
              </a:lnSpc>
              <a:buNone/>
            </a:pPr>
            <a:r>
              <a:rPr lang="en-US" sz="1300" dirty="0">
                <a:solidFill>
                  <a:srgbClr val="4A4A55"/>
                </a:solidFill>
                <a:latin typeface="Calibri" pitchFamily="34" charset="0"/>
                <a:ea typeface="Calibri" pitchFamily="34" charset="-122"/>
                <a:cs typeface="Calibri" pitchFamily="34" charset="-120"/>
              </a:rPr>
              <a:t>Memindahkan rangkaian commit cabang Anda agar seolah dibuat di atas commit terbaru cabang tujuan.</a:t>
            </a:r>
            <a:endParaRPr lang="en-US" sz="1300" dirty="0"/>
          </a:p>
        </p:txBody>
      </p:sp>
      <p:sp>
        <p:nvSpPr>
          <p:cNvPr id="19" name="Text 15"/>
          <p:cNvSpPr txBox="1"/>
          <p:nvPr/>
        </p:nvSpPr>
        <p:spPr>
          <a:xfrm>
            <a:off x="6547104" y="3383280"/>
            <a:ext cx="4672584"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Riwayat menjadi lurus dan mudah dibaca</a:t>
            </a:r>
            <a:endParaRPr lang="en-US" sz="1250" dirty="0"/>
          </a:p>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Tidak ada merge commit tambahan</a:t>
            </a:r>
            <a:endParaRPr lang="en-US" sz="1250" dirty="0"/>
          </a:p>
          <a:p>
            <a:pPr marL="342900" indent="-342900">
              <a:spcAft>
                <a:spcPts val="800"/>
              </a:spcAft>
              <a:buSzPct val="100000"/>
              <a:buChar char="•"/>
            </a:pPr>
            <a:r>
              <a:rPr lang="en-US" sz="1250" dirty="0">
                <a:solidFill>
                  <a:srgbClr val="4A4A55"/>
                </a:solidFill>
                <a:latin typeface="Calibri" pitchFamily="34" charset="0"/>
                <a:ea typeface="Calibri" pitchFamily="34" charset="-122"/>
                <a:cs typeface="Calibri" pitchFamily="34" charset="-120"/>
              </a:rPr>
              <a:t>Menulis ulang hash commit — berbahaya bila sudah dipush</a:t>
            </a:r>
            <a:endParaRPr lang="en-US" sz="1250" dirty="0"/>
          </a:p>
        </p:txBody>
      </p:sp>
      <p:sp>
        <p:nvSpPr>
          <p:cNvPr id="20" name="Shape 16"/>
          <p:cNvSpPr/>
          <p:nvPr/>
        </p:nvSpPr>
        <p:spPr>
          <a:xfrm>
            <a:off x="6528816" y="4334256"/>
            <a:ext cx="4709160" cy="502920"/>
          </a:xfrm>
          <a:prstGeom prst="roundRect">
            <a:avLst>
              <a:gd name="adj" fmla="val 1454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1" name="Text 17"/>
          <p:cNvSpPr txBox="1"/>
          <p:nvPr/>
        </p:nvSpPr>
        <p:spPr>
          <a:xfrm>
            <a:off x="6784848" y="4517136"/>
            <a:ext cx="4251960" cy="137160"/>
          </a:xfrm>
          <a:prstGeom prst="rect">
            <a:avLst/>
          </a:prstGeom>
          <a:noFill/>
          <a:ln/>
        </p:spPr>
        <p:txBody>
          <a:bodyPr wrap="square" lIns="0" tIns="0" rIns="0" bIns="0" rtlCol="0" anchor="t"/>
          <a:lstStyle/>
          <a:p>
            <a:pPr indent="0" marL="0">
              <a:lnSpc>
                <a:spcPts val="20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E9E7E4"/>
                </a:solidFill>
                <a:latin typeface="Courier New" pitchFamily="34" charset="0"/>
                <a:ea typeface="Courier New" pitchFamily="34" charset="-122"/>
                <a:cs typeface="Courier New" pitchFamily="34" charset="-120"/>
              </a:rPr>
              <a:t>git switch feature/login &amp;&amp; git rebase main</a:t>
            </a:r>
            <a:endParaRPr lang="en-US" sz="1150" dirty="0"/>
          </a:p>
        </p:txBody>
      </p:sp>
      <p:sp>
        <p:nvSpPr>
          <p:cNvPr id="22" name="Shape 18"/>
          <p:cNvSpPr/>
          <p:nvPr/>
        </p:nvSpPr>
        <p:spPr>
          <a:xfrm>
            <a:off x="640080" y="5230368"/>
            <a:ext cx="10908792" cy="713232"/>
          </a:xfrm>
          <a:prstGeom prst="roundRect">
            <a:avLst>
              <a:gd name="adj" fmla="val 12821"/>
            </a:avLst>
          </a:prstGeom>
          <a:solidFill>
            <a:srgbClr val="17171C"/>
          </a:solidFill>
          <a:ln w="12700">
            <a:solidFill>
              <a:srgbClr val="17171C"/>
            </a:solidFill>
            <a:prstDash val="solid"/>
          </a:ln>
          <a:effectLst>
            <a:outerShdw sx="100000" sy="100000" kx="0" ky="0" algn="bl" rotWithShape="0" blurRad="127000" dist="25400" dir="5400000">
              <a:srgbClr val="9A9086">
                <a:alpha val="18000"/>
              </a:srgbClr>
            </a:outerShdw>
          </a:effectLst>
        </p:spPr>
      </p:sp>
      <p:sp>
        <p:nvSpPr>
          <p:cNvPr id="23" name="Shape 19"/>
          <p:cNvSpPr/>
          <p:nvPr/>
        </p:nvSpPr>
        <p:spPr>
          <a:xfrm>
            <a:off x="896112" y="5349240"/>
            <a:ext cx="475488" cy="475488"/>
          </a:xfrm>
          <a:prstGeom prst="ellipse">
            <a:avLst/>
          </a:prstGeom>
          <a:solidFill>
            <a:srgbClr val="F05032"/>
          </a:solidFill>
          <a:ln w="12700">
            <a:solidFill>
              <a:srgbClr val="F05032"/>
            </a:solidFill>
            <a:prstDash val="solid"/>
          </a:ln>
        </p:spPr>
      </p:sp>
      <p:pic>
        <p:nvPicPr>
          <p:cNvPr id="24" name="Image 2" descr="preencoded.png">    </p:cNvPr>
          <p:cNvPicPr>
            <a:picLocks noChangeAspect="1"/>
          </p:cNvPicPr>
          <p:nvPr/>
        </p:nvPicPr>
        <p:blipFill>
          <a:blip r:embed="rId3"/>
          <a:stretch>
            <a:fillRect/>
          </a:stretch>
        </p:blipFill>
        <p:spPr>
          <a:xfrm>
            <a:off x="962680" y="5415808"/>
            <a:ext cx="342351" cy="342351"/>
          </a:xfrm>
          <a:prstGeom prst="rect">
            <a:avLst/>
          </a:prstGeom>
        </p:spPr>
      </p:pic>
      <p:sp>
        <p:nvSpPr>
          <p:cNvPr id="25" name="Text 20"/>
          <p:cNvSpPr txBox="1"/>
          <p:nvPr/>
        </p:nvSpPr>
        <p:spPr>
          <a:xfrm>
            <a:off x="1536192" y="5285232"/>
            <a:ext cx="9692640" cy="594360"/>
          </a:xfrm>
          <a:prstGeom prst="rect">
            <a:avLst/>
          </a:prstGeom>
          <a:noFill/>
          <a:ln/>
        </p:spPr>
        <p:txBody>
          <a:bodyPr wrap="square" lIns="0" tIns="0" rIns="0" bIns="0" rtlCol="0" anchor="ctr"/>
          <a:lstStyle/>
          <a:p>
            <a:pPr indent="0" marL="0">
              <a:lnSpc>
                <a:spcPts val="1800"/>
              </a:lnSpc>
              <a:buNone/>
            </a:pPr>
            <a:r>
              <a:rPr lang="en-US" sz="1300" b="1" dirty="0">
                <a:solidFill>
                  <a:srgbClr val="F05032"/>
                </a:solidFill>
                <a:latin typeface="Calibri" pitchFamily="34" charset="0"/>
                <a:ea typeface="Calibri" pitchFamily="34" charset="-122"/>
                <a:cs typeface="Calibri" pitchFamily="34" charset="-120"/>
              </a:rPr>
              <a:t>Aturan Emas Rebase: </a:t>
            </a:r>
            <a:pPr indent="0" marL="0">
              <a:lnSpc>
                <a:spcPts val="1800"/>
              </a:lnSpc>
              <a:buNone/>
            </a:pPr>
            <a:r>
              <a:rPr lang="en-US" sz="1300" dirty="0">
                <a:solidFill>
                  <a:srgbClr val="B6B6C2"/>
                </a:solidFill>
                <a:latin typeface="Calibri" pitchFamily="34" charset="0"/>
                <a:ea typeface="Calibri" pitchFamily="34" charset="-122"/>
                <a:cs typeface="Calibri" pitchFamily="34" charset="-120"/>
              </a:rPr>
              <a:t>jangan pernah melakukan rebase pada commit yang sudah dibagikan ke repositori publik. Rebase hanya untuk merapikan cabang lokal Anda sendiri sebelum dibagikan.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03 · PENYELESAIAN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Menangani Merge Conflict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640080" y="1572768"/>
            <a:ext cx="5577840" cy="1234440"/>
          </a:xfrm>
          <a:prstGeom prst="roundRect">
            <a:avLst>
              <a:gd name="adj" fmla="val 7407"/>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14400" y="1828800"/>
            <a:ext cx="512064" cy="512064"/>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986089" y="1900489"/>
            <a:ext cx="368686" cy="368686"/>
          </a:xfrm>
          <a:prstGeom prst="rect">
            <a:avLst/>
          </a:prstGeom>
        </p:spPr>
      </p:pic>
      <p:sp>
        <p:nvSpPr>
          <p:cNvPr id="9" name="Text 6"/>
          <p:cNvSpPr txBox="1"/>
          <p:nvPr/>
        </p:nvSpPr>
        <p:spPr>
          <a:xfrm>
            <a:off x="1554480" y="1737360"/>
            <a:ext cx="4389120" cy="274320"/>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Kapan Conflict Terjadi?</a:t>
            </a:r>
            <a:endParaRPr lang="en-US" sz="1500" dirty="0"/>
          </a:p>
        </p:txBody>
      </p:sp>
      <p:sp>
        <p:nvSpPr>
          <p:cNvPr id="10" name="Text 7"/>
          <p:cNvSpPr txBox="1"/>
          <p:nvPr/>
        </p:nvSpPr>
        <p:spPr>
          <a:xfrm>
            <a:off x="1554480" y="2029968"/>
            <a:ext cx="4434840" cy="68580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Ketika dua cabang mengubah baris yang sama pada berkas yang sama. Git tidak dapat menebak versi mana yang benar, sehingga keputusan diserahkan kepada Anda.</a:t>
            </a:r>
            <a:endParaRPr lang="en-US" sz="1250" dirty="0"/>
          </a:p>
        </p:txBody>
      </p:sp>
      <p:sp>
        <p:nvSpPr>
          <p:cNvPr id="11" name="Shape 8"/>
          <p:cNvSpPr/>
          <p:nvPr/>
        </p:nvSpPr>
        <p:spPr>
          <a:xfrm>
            <a:off x="640080" y="3044952"/>
            <a:ext cx="402336" cy="402336"/>
          </a:xfrm>
          <a:prstGeom prst="ellipse">
            <a:avLst/>
          </a:prstGeom>
          <a:solidFill>
            <a:srgbClr val="17171C"/>
          </a:solidFill>
          <a:ln w="12700">
            <a:solidFill>
              <a:srgbClr val="17171C"/>
            </a:solidFill>
            <a:prstDash val="solid"/>
          </a:ln>
        </p:spPr>
      </p:sp>
      <p:sp>
        <p:nvSpPr>
          <p:cNvPr id="12" name="Text 9"/>
          <p:cNvSpPr txBox="1"/>
          <p:nvPr/>
        </p:nvSpPr>
        <p:spPr>
          <a:xfrm>
            <a:off x="640080" y="3044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207008" y="3008376"/>
            <a:ext cx="4937760" cy="256032"/>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Identifikasi</a:t>
            </a:r>
            <a:endParaRPr lang="en-US" sz="1400" dirty="0"/>
          </a:p>
        </p:txBody>
      </p:sp>
      <p:sp>
        <p:nvSpPr>
          <p:cNvPr id="14" name="Text 11"/>
          <p:cNvSpPr txBox="1"/>
          <p:nvPr/>
        </p:nvSpPr>
        <p:spPr>
          <a:xfrm>
            <a:off x="1207008" y="3273552"/>
            <a:ext cx="4983480" cy="38404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Jalankan git status untuk melihat daftar berkas yang berkonflik.</a:t>
            </a:r>
            <a:endParaRPr lang="en-US" sz="1200" dirty="0"/>
          </a:p>
        </p:txBody>
      </p:sp>
      <p:sp>
        <p:nvSpPr>
          <p:cNvPr id="15" name="Shape 12"/>
          <p:cNvSpPr/>
          <p:nvPr/>
        </p:nvSpPr>
        <p:spPr>
          <a:xfrm>
            <a:off x="640080" y="3776472"/>
            <a:ext cx="402336" cy="402336"/>
          </a:xfrm>
          <a:prstGeom prst="ellipse">
            <a:avLst/>
          </a:prstGeom>
          <a:solidFill>
            <a:srgbClr val="17171C"/>
          </a:solidFill>
          <a:ln w="12700">
            <a:solidFill>
              <a:srgbClr val="17171C"/>
            </a:solidFill>
            <a:prstDash val="solid"/>
          </a:ln>
        </p:spPr>
      </p:sp>
      <p:sp>
        <p:nvSpPr>
          <p:cNvPr id="16" name="Text 13"/>
          <p:cNvSpPr txBox="1"/>
          <p:nvPr/>
        </p:nvSpPr>
        <p:spPr>
          <a:xfrm>
            <a:off x="640080" y="37764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4"/>
          <p:cNvSpPr txBox="1"/>
          <p:nvPr/>
        </p:nvSpPr>
        <p:spPr>
          <a:xfrm>
            <a:off x="1207008" y="3739896"/>
            <a:ext cx="4937760" cy="256032"/>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Buka &amp; Perbaiki</a:t>
            </a:r>
            <a:endParaRPr lang="en-US" sz="1400" dirty="0"/>
          </a:p>
        </p:txBody>
      </p:sp>
      <p:sp>
        <p:nvSpPr>
          <p:cNvPr id="18" name="Text 15"/>
          <p:cNvSpPr txBox="1"/>
          <p:nvPr/>
        </p:nvSpPr>
        <p:spPr>
          <a:xfrm>
            <a:off x="1207008" y="4005072"/>
            <a:ext cx="4983480" cy="38404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Edit berkas, pilih kode yang benar, lalu hapus seluruh penanda konflik.</a:t>
            </a:r>
            <a:endParaRPr lang="en-US" sz="1200" dirty="0"/>
          </a:p>
        </p:txBody>
      </p:sp>
      <p:sp>
        <p:nvSpPr>
          <p:cNvPr id="19" name="Shape 16"/>
          <p:cNvSpPr/>
          <p:nvPr/>
        </p:nvSpPr>
        <p:spPr>
          <a:xfrm>
            <a:off x="640080" y="4507992"/>
            <a:ext cx="402336" cy="402336"/>
          </a:xfrm>
          <a:prstGeom prst="ellipse">
            <a:avLst/>
          </a:prstGeom>
          <a:solidFill>
            <a:srgbClr val="17171C"/>
          </a:solidFill>
          <a:ln w="12700">
            <a:solidFill>
              <a:srgbClr val="17171C"/>
            </a:solidFill>
            <a:prstDash val="solid"/>
          </a:ln>
        </p:spPr>
      </p:sp>
      <p:sp>
        <p:nvSpPr>
          <p:cNvPr id="20" name="Text 17"/>
          <p:cNvSpPr txBox="1"/>
          <p:nvPr/>
        </p:nvSpPr>
        <p:spPr>
          <a:xfrm>
            <a:off x="640080" y="45079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8"/>
          <p:cNvSpPr txBox="1"/>
          <p:nvPr/>
        </p:nvSpPr>
        <p:spPr>
          <a:xfrm>
            <a:off x="1207008" y="4471416"/>
            <a:ext cx="4937760" cy="256032"/>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Tandai Selesai</a:t>
            </a:r>
            <a:endParaRPr lang="en-US" sz="1400" dirty="0"/>
          </a:p>
        </p:txBody>
      </p:sp>
      <p:sp>
        <p:nvSpPr>
          <p:cNvPr id="22" name="Text 19"/>
          <p:cNvSpPr txBox="1"/>
          <p:nvPr/>
        </p:nvSpPr>
        <p:spPr>
          <a:xfrm>
            <a:off x="1207008" y="4736592"/>
            <a:ext cx="4983480" cy="38404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Jalankan git add &lt;file&gt; untuk menandai konflik telah diselesaikan.</a:t>
            </a:r>
            <a:endParaRPr lang="en-US" sz="1200" dirty="0"/>
          </a:p>
        </p:txBody>
      </p:sp>
      <p:sp>
        <p:nvSpPr>
          <p:cNvPr id="23" name="Shape 20"/>
          <p:cNvSpPr/>
          <p:nvPr/>
        </p:nvSpPr>
        <p:spPr>
          <a:xfrm>
            <a:off x="640080" y="5239512"/>
            <a:ext cx="402336" cy="402336"/>
          </a:xfrm>
          <a:prstGeom prst="ellipse">
            <a:avLst/>
          </a:prstGeom>
          <a:solidFill>
            <a:srgbClr val="17171C"/>
          </a:solidFill>
          <a:ln w="12700">
            <a:solidFill>
              <a:srgbClr val="17171C"/>
            </a:solidFill>
            <a:prstDash val="solid"/>
          </a:ln>
        </p:spPr>
      </p:sp>
      <p:sp>
        <p:nvSpPr>
          <p:cNvPr id="24" name="Text 21"/>
          <p:cNvSpPr txBox="1"/>
          <p:nvPr/>
        </p:nvSpPr>
        <p:spPr>
          <a:xfrm>
            <a:off x="640080" y="5239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2"/>
          <p:cNvSpPr txBox="1"/>
          <p:nvPr/>
        </p:nvSpPr>
        <p:spPr>
          <a:xfrm>
            <a:off x="1207008" y="5202936"/>
            <a:ext cx="4937760" cy="256032"/>
          </a:xfrm>
          <a:prstGeom prst="rect">
            <a:avLst/>
          </a:prstGeom>
          <a:noFill/>
          <a:ln/>
        </p:spPr>
        <p:txBody>
          <a:bodyPr wrap="square" lIns="0" tIns="0" rIns="0" bIns="0" rtlCol="0" anchor="ctr"/>
          <a:lstStyle/>
          <a:p>
            <a:pPr indent="0" marL="0">
              <a:buNone/>
            </a:pPr>
            <a:r>
              <a:rPr lang="en-US" sz="1400" b="1" dirty="0">
                <a:solidFill>
                  <a:srgbClr val="17171C"/>
                </a:solidFill>
                <a:latin typeface="Arial" pitchFamily="34" charset="0"/>
                <a:ea typeface="Arial" pitchFamily="34" charset="-122"/>
                <a:cs typeface="Arial" pitchFamily="34" charset="-120"/>
              </a:rPr>
              <a:t>Selesaikan Merge</a:t>
            </a:r>
            <a:endParaRPr lang="en-US" sz="1400" dirty="0"/>
          </a:p>
        </p:txBody>
      </p:sp>
      <p:sp>
        <p:nvSpPr>
          <p:cNvPr id="26" name="Text 23"/>
          <p:cNvSpPr txBox="1"/>
          <p:nvPr/>
        </p:nvSpPr>
        <p:spPr>
          <a:xfrm>
            <a:off x="1207008" y="5468112"/>
            <a:ext cx="4983480" cy="38404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Jalankan git commit (atau git rebase --continue) untuk menutup proses.</a:t>
            </a:r>
            <a:endParaRPr lang="en-US" sz="1200" dirty="0"/>
          </a:p>
        </p:txBody>
      </p:sp>
      <p:sp>
        <p:nvSpPr>
          <p:cNvPr id="27" name="Shape 24"/>
          <p:cNvSpPr/>
          <p:nvPr/>
        </p:nvSpPr>
        <p:spPr>
          <a:xfrm>
            <a:off x="6675120" y="1572768"/>
            <a:ext cx="4873752" cy="3017520"/>
          </a:xfrm>
          <a:prstGeom prst="roundRect">
            <a:avLst>
              <a:gd name="adj" fmla="val 2424"/>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8" name="Text 25"/>
          <p:cNvSpPr txBox="1"/>
          <p:nvPr/>
        </p:nvSpPr>
        <p:spPr>
          <a:xfrm>
            <a:off x="6931152" y="1755648"/>
            <a:ext cx="4416552" cy="2651760"/>
          </a:xfrm>
          <a:prstGeom prst="rect">
            <a:avLst/>
          </a:prstGeom>
          <a:noFill/>
          <a:ln/>
        </p:spPr>
        <p:txBody>
          <a:bodyPr wrap="square" lIns="0" tIns="0" rIns="0" bIns="0" rtlCol="0" anchor="t"/>
          <a:lstStyle/>
          <a:p>
            <a:pPr indent="0" marL="0">
              <a:lnSpc>
                <a:spcPts val="1900"/>
              </a:lnSpc>
              <a:buNone/>
            </a:pPr>
            <a:r>
              <a:rPr lang="en-US" sz="1150" dirty="0">
                <a:solidFill>
                  <a:srgbClr val="E9E7E4"/>
                </a:solidFill>
                <a:latin typeface="Courier New" pitchFamily="34" charset="0"/>
                <a:ea typeface="Courier New" pitchFamily="34" charset="-122"/>
                <a:cs typeface="Courier New" pitchFamily="34" charset="-120"/>
              </a:rPr>
              <a:t>Auto-merging index.html
</a:t>
            </a:r>
            <a:pPr indent="0" marL="0">
              <a:lnSpc>
                <a:spcPts val="1900"/>
              </a:lnSpc>
              <a:buNone/>
            </a:pPr>
            <a:r>
              <a:rPr lang="en-US" sz="1150" dirty="0">
                <a:solidFill>
                  <a:srgbClr val="E08A7C"/>
                </a:solidFill>
                <a:latin typeface="Courier New" pitchFamily="34" charset="0"/>
                <a:ea typeface="Courier New" pitchFamily="34" charset="-122"/>
                <a:cs typeface="Courier New" pitchFamily="34" charset="-120"/>
              </a:rPr>
              <a:t>CONFLICT (content): Merge conflict in index.html
</a:t>
            </a:r>
            <a:pPr indent="0" marL="0">
              <a:lnSpc>
                <a:spcPts val="1900"/>
              </a:lnSpc>
              <a:buNone/>
            </a:pPr>
            <a:r>
              <a:rPr lang="en-US" sz="1150" dirty="0">
                <a:solidFill>
                  <a:srgbClr val="F05032"/>
                </a:solidFill>
                <a:latin typeface="Courier New" pitchFamily="34" charset="0"/>
                <a:ea typeface="Courier New" pitchFamily="34" charset="-122"/>
                <a:cs typeface="Courier New" pitchFamily="34" charset="-120"/>
              </a:rPr>
              <a:t>&lt;&lt;&lt;&lt;&lt;&lt;&lt; HEAD
</a:t>
            </a:r>
            <a:pPr indent="0" marL="0">
              <a:lnSpc>
                <a:spcPts val="1900"/>
              </a:lnSpc>
              <a:buNone/>
            </a:pPr>
            <a:r>
              <a:rPr lang="en-US" sz="1150" dirty="0">
                <a:solidFill>
                  <a:srgbClr val="E9E7E4"/>
                </a:solidFill>
                <a:latin typeface="Courier New" pitchFamily="34" charset="0"/>
                <a:ea typeface="Courier New" pitchFamily="34" charset="-122"/>
                <a:cs typeface="Courier New" pitchFamily="34" charset="-120"/>
              </a:rPr>
              <a:t>  &lt;h1&gt;Selamat Datang&lt;/h1&gt;
</a:t>
            </a:r>
            <a:pPr indent="0" marL="0">
              <a:lnSpc>
                <a:spcPts val="1900"/>
              </a:lnSpc>
              <a:buNone/>
            </a:pPr>
            <a:r>
              <a:rPr lang="en-US" sz="1150" dirty="0">
                <a:solidFill>
                  <a:srgbClr val="F05032"/>
                </a:solidFill>
                <a:latin typeface="Courier New" pitchFamily="34" charset="0"/>
                <a:ea typeface="Courier New" pitchFamily="34" charset="-122"/>
                <a:cs typeface="Courier New" pitchFamily="34" charset="-120"/>
              </a:rPr>
              <a:t>=======
</a:t>
            </a:r>
            <a:pPr indent="0" marL="0">
              <a:lnSpc>
                <a:spcPts val="1900"/>
              </a:lnSpc>
              <a:buNone/>
            </a:pPr>
            <a:r>
              <a:rPr lang="en-US" sz="1150" dirty="0">
                <a:solidFill>
                  <a:srgbClr val="E9E7E4"/>
                </a:solidFill>
                <a:latin typeface="Courier New" pitchFamily="34" charset="0"/>
                <a:ea typeface="Courier New" pitchFamily="34" charset="-122"/>
                <a:cs typeface="Courier New" pitchFamily="34" charset="-120"/>
              </a:rPr>
              <a:t>  &lt;h1&gt;Halo Dunia&lt;/h1&gt;
</a:t>
            </a:r>
            <a:pPr indent="0" marL="0">
              <a:lnSpc>
                <a:spcPts val="1900"/>
              </a:lnSpc>
              <a:buNone/>
            </a:pPr>
            <a:r>
              <a:rPr lang="en-US" sz="1150" dirty="0">
                <a:solidFill>
                  <a:srgbClr val="F05032"/>
                </a:solidFill>
                <a:latin typeface="Courier New" pitchFamily="34" charset="0"/>
                <a:ea typeface="Courier New" pitchFamily="34" charset="-122"/>
                <a:cs typeface="Courier New" pitchFamily="34" charset="-120"/>
              </a:rPr>
              <a:t>&gt;&gt;&gt;&gt;&gt;&gt;&gt; feature/login
</a:t>
            </a:r>
            <a:pPr indent="0" marL="0">
              <a:lnSpc>
                <a:spcPts val="1900"/>
              </a:lnSpc>
              <a:buNone/>
            </a:pPr>
            <a:r>
              <a:rPr lang="en-US" sz="1150" dirty="0">
                <a:solidFill>
                  <a:srgbClr val="7F8C99"/>
                </a:solidFill>
                <a:latin typeface="Courier New" pitchFamily="34" charset="0"/>
                <a:ea typeface="Courier New" pitchFamily="34" charset="-122"/>
                <a:cs typeface="Courier New" pitchFamily="34" charset="-120"/>
              </a:rPr>
              <a:t># HEAD  = versi cabang aktif
</a:t>
            </a:r>
            <a:pPr indent="0" marL="0">
              <a:lnSpc>
                <a:spcPts val="1900"/>
              </a:lnSpc>
              <a:buNone/>
            </a:pPr>
            <a:r>
              <a:rPr lang="en-US" sz="1150" dirty="0">
                <a:solidFill>
                  <a:srgbClr val="7F8C99"/>
                </a:solidFill>
                <a:latin typeface="Courier New" pitchFamily="34" charset="0"/>
                <a:ea typeface="Courier New" pitchFamily="34" charset="-122"/>
                <a:cs typeface="Courier New" pitchFamily="34" charset="-120"/>
              </a:rPr>
              <a:t># bawah = versi cabang yang digabung</a:t>
            </a:r>
            <a:endParaRPr lang="en-US" sz="1150" dirty="0"/>
          </a:p>
        </p:txBody>
      </p:sp>
      <p:sp>
        <p:nvSpPr>
          <p:cNvPr id="29" name="Shape 26"/>
          <p:cNvSpPr/>
          <p:nvPr/>
        </p:nvSpPr>
        <p:spPr>
          <a:xfrm>
            <a:off x="6675120" y="4800600"/>
            <a:ext cx="4873752" cy="1051560"/>
          </a:xfrm>
          <a:prstGeom prst="roundRect">
            <a:avLst>
              <a:gd name="adj" fmla="val 8696"/>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30" name="Text 27"/>
          <p:cNvSpPr txBox="1"/>
          <p:nvPr/>
        </p:nvSpPr>
        <p:spPr>
          <a:xfrm>
            <a:off x="6949440" y="4956048"/>
            <a:ext cx="4297680" cy="256032"/>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Perintah Penolong</a:t>
            </a:r>
            <a:endParaRPr lang="en-US" sz="1350" dirty="0"/>
          </a:p>
        </p:txBody>
      </p:sp>
      <p:sp>
        <p:nvSpPr>
          <p:cNvPr id="31" name="Text 28"/>
          <p:cNvSpPr txBox="1"/>
          <p:nvPr/>
        </p:nvSpPr>
        <p:spPr>
          <a:xfrm>
            <a:off x="6949440" y="5212080"/>
            <a:ext cx="4343400" cy="566928"/>
          </a:xfrm>
          <a:prstGeom prst="rect">
            <a:avLst/>
          </a:prstGeom>
          <a:noFill/>
          <a:ln/>
        </p:spPr>
        <p:txBody>
          <a:bodyPr wrap="square" lIns="0" tIns="0" rIns="0" bIns="0" rtlCol="0" anchor="ctr"/>
          <a:lstStyle/>
          <a:p>
            <a:pPr indent="0" marL="0">
              <a:lnSpc>
                <a:spcPts val="1500"/>
              </a:lnSpc>
              <a:buNone/>
            </a:pPr>
            <a:r>
              <a:rPr lang="en-US" sz="1150" b="1" dirty="0">
                <a:solidFill>
                  <a:srgbClr val="C63C22"/>
                </a:solidFill>
                <a:latin typeface="Courier New" pitchFamily="34" charset="0"/>
                <a:ea typeface="Courier New" pitchFamily="34" charset="-122"/>
                <a:cs typeface="Courier New" pitchFamily="34" charset="-120"/>
              </a:rPr>
              <a:t>git merge --abort</a:t>
            </a:r>
            <a:pPr indent="0" marL="0">
              <a:lnSpc>
                <a:spcPts val="1500"/>
              </a:lnSpc>
              <a:buNone/>
            </a:pPr>
            <a:r>
              <a:rPr lang="en-US" sz="1150" dirty="0">
                <a:solidFill>
                  <a:srgbClr val="4A4A55"/>
                </a:solidFill>
                <a:latin typeface="Calibri" pitchFamily="34" charset="0"/>
                <a:ea typeface="Calibri" pitchFamily="34" charset="-122"/>
                <a:cs typeface="Calibri" pitchFamily="34" charset="-120"/>
              </a:rPr>
              <a:t>  membatalkan merge dan kembali ke kondisi sebelumnya.
</a:t>
            </a:r>
            <a:pPr indent="0" marL="0">
              <a:lnSpc>
                <a:spcPts val="1500"/>
              </a:lnSpc>
              <a:buNone/>
            </a:pPr>
            <a:r>
              <a:rPr lang="en-US" sz="1150" b="1" dirty="0">
                <a:solidFill>
                  <a:srgbClr val="C63C22"/>
                </a:solidFill>
                <a:latin typeface="Courier New" pitchFamily="34" charset="0"/>
                <a:ea typeface="Courier New" pitchFamily="34" charset="-122"/>
                <a:cs typeface="Courier New" pitchFamily="34" charset="-120"/>
              </a:rPr>
              <a:t>git mergetool</a:t>
            </a:r>
            <a:pPr indent="0" marL="0">
              <a:lnSpc>
                <a:spcPts val="1500"/>
              </a:lnSpc>
              <a:buNone/>
            </a:pPr>
            <a:r>
              <a:rPr lang="en-US" sz="1150" dirty="0">
                <a:solidFill>
                  <a:srgbClr val="4A4A55"/>
                </a:solidFill>
                <a:latin typeface="Calibri" pitchFamily="34" charset="0"/>
                <a:ea typeface="Calibri" pitchFamily="34" charset="-122"/>
                <a:cs typeface="Calibri" pitchFamily="34" charset="-120"/>
              </a:rPr>
              <a:t>  membuka alat bantu visual penyelesaian konflik.</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8778240" y="1417320"/>
            <a:ext cx="4023360" cy="4023360"/>
          </a:xfrm>
          <a:prstGeom prst="ellipse">
            <a:avLst/>
          </a:prstGeom>
          <a:solidFill>
            <a:srgbClr val="F05032">
              <a:alpha val="14000"/>
            </a:srgbClr>
          </a:solidFill>
          <a:ln w="12700">
            <a:solidFill>
              <a:srgbClr val="F05032"/>
            </a:solidFill>
            <a:prstDash val="solid"/>
          </a:ln>
        </p:spPr>
      </p:sp>
      <p:sp>
        <p:nvSpPr>
          <p:cNvPr id="3" name="Shape 1"/>
          <p:cNvSpPr/>
          <p:nvPr/>
        </p:nvSpPr>
        <p:spPr>
          <a:xfrm>
            <a:off x="9601200" y="2240280"/>
            <a:ext cx="2377440" cy="2377440"/>
          </a:xfrm>
          <a:prstGeom prst="ellipse">
            <a:avLst/>
          </a:prstGeom>
          <a:solidFill>
            <a:srgbClr val="F05032"/>
          </a:solidFill>
          <a:ln w="12700">
            <a:solidFill>
              <a:srgbClr val="F05032"/>
            </a:solidFill>
            <a:prstDash val="solid"/>
          </a:ln>
        </p:spPr>
      </p:sp>
      <p:pic>
        <p:nvPicPr>
          <p:cNvPr id="4" name="Image 0" descr="preencoded.png">    </p:cNvPr>
          <p:cNvPicPr>
            <a:picLocks noChangeAspect="1"/>
          </p:cNvPicPr>
          <p:nvPr/>
        </p:nvPicPr>
        <p:blipFill>
          <a:blip r:embed="rId1"/>
          <a:stretch>
            <a:fillRect/>
          </a:stretch>
        </p:blipFill>
        <p:spPr>
          <a:xfrm>
            <a:off x="9934042" y="2573122"/>
            <a:ext cx="1711757" cy="1711757"/>
          </a:xfrm>
          <a:prstGeom prst="rect">
            <a:avLst/>
          </a:prstGeom>
        </p:spPr>
      </p:pic>
      <p:sp>
        <p:nvSpPr>
          <p:cNvPr id="5" name="Text 2"/>
          <p:cNvSpPr txBox="1"/>
          <p:nvPr/>
        </p:nvSpPr>
        <p:spPr>
          <a:xfrm>
            <a:off x="640080" y="2148840"/>
            <a:ext cx="5486400" cy="292608"/>
          </a:xfrm>
          <a:prstGeom prst="rect">
            <a:avLst/>
          </a:prstGeom>
          <a:noFill/>
          <a:ln/>
        </p:spPr>
        <p:txBody>
          <a:bodyPr wrap="square" lIns="0" tIns="0" rIns="0" bIns="0" rtlCol="0" anchor="ctr"/>
          <a:lstStyle/>
          <a:p>
            <a:pPr indent="0" marL="0">
              <a:buNone/>
            </a:pPr>
            <a:r>
              <a:rPr lang="en-US" sz="1250" b="1" spc="260" kern="0" dirty="0">
                <a:solidFill>
                  <a:srgbClr val="F05032"/>
                </a:solidFill>
                <a:latin typeface="Calibri" pitchFamily="34" charset="0"/>
                <a:ea typeface="Calibri" pitchFamily="34" charset="-122"/>
                <a:cs typeface="Calibri" pitchFamily="34" charset="-120"/>
              </a:rPr>
              <a:t>BAGIAN 04</a:t>
            </a:r>
            <a:endParaRPr lang="en-US" sz="1250" dirty="0"/>
          </a:p>
        </p:txBody>
      </p:sp>
      <p:sp>
        <p:nvSpPr>
          <p:cNvPr id="6" name="Text 3"/>
          <p:cNvSpPr txBox="1"/>
          <p:nvPr/>
        </p:nvSpPr>
        <p:spPr>
          <a:xfrm>
            <a:off x="640080" y="2514600"/>
            <a:ext cx="749808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Kolaborasi &amp; Remote</a:t>
            </a:r>
            <a:endParaRPr lang="en-US" sz="4200" dirty="0"/>
          </a:p>
        </p:txBody>
      </p:sp>
      <p:sp>
        <p:nvSpPr>
          <p:cNvPr id="7" name="Text 4"/>
          <p:cNvSpPr txBox="1"/>
          <p:nvPr/>
        </p:nvSpPr>
        <p:spPr>
          <a:xfrm>
            <a:off x="640080" y="3474720"/>
            <a:ext cx="6949440" cy="822960"/>
          </a:xfrm>
          <a:prstGeom prst="rect">
            <a:avLst/>
          </a:prstGeom>
          <a:noFill/>
          <a:ln/>
        </p:spPr>
        <p:txBody>
          <a:bodyPr wrap="square" lIns="0" tIns="0" rIns="0" bIns="0" rtlCol="0" anchor="ctr"/>
          <a:lstStyle/>
          <a:p>
            <a:pPr indent="0" marL="0">
              <a:lnSpc>
                <a:spcPts val="2400"/>
              </a:lnSpc>
              <a:buNone/>
            </a:pPr>
            <a:r>
              <a:rPr lang="en-US" sz="1500" dirty="0">
                <a:solidFill>
                  <a:srgbClr val="A6A6B2"/>
                </a:solidFill>
                <a:latin typeface="Calibri" pitchFamily="34" charset="0"/>
                <a:ea typeface="Calibri" pitchFamily="34" charset="-122"/>
                <a:cs typeface="Calibri" pitchFamily="34" charset="-120"/>
              </a:rPr>
              <a:t>Bekerja bersama tim melalui repositori remote, pull request, dan strategi workflow yang terstruktur.</a:t>
            </a:r>
            <a:endParaRPr lang="en-US" sz="1500" dirty="0"/>
          </a:p>
        </p:txBody>
      </p:sp>
      <p:sp>
        <p:nvSpPr>
          <p:cNvPr id="8" name="Text 5"/>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9" name="Text 6"/>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04 · REMOTE</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Bekerja dengan Repositori Remote</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640080" y="1627632"/>
            <a:ext cx="10908792" cy="2194560"/>
          </a:xfrm>
          <a:prstGeom prst="roundRect">
            <a:avLst>
              <a:gd name="adj" fmla="val 4167"/>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1234440" y="1965960"/>
            <a:ext cx="2834640" cy="1508760"/>
          </a:xfrm>
          <a:prstGeom prst="roundRect">
            <a:avLst>
              <a:gd name="adj" fmla="val 6061"/>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8" name="Shape 6"/>
          <p:cNvSpPr/>
          <p:nvPr/>
        </p:nvSpPr>
        <p:spPr>
          <a:xfrm>
            <a:off x="2386584" y="2148840"/>
            <a:ext cx="530352" cy="530352"/>
          </a:xfrm>
          <a:prstGeom prst="ellipse">
            <a:avLst/>
          </a:prstGeom>
          <a:solidFill>
            <a:srgbClr val="17171C"/>
          </a:solidFill>
          <a:ln w="12700">
            <a:solidFill>
              <a:srgbClr val="17171C"/>
            </a:solidFill>
            <a:prstDash val="solid"/>
          </a:ln>
        </p:spPr>
      </p:sp>
      <p:pic>
        <p:nvPicPr>
          <p:cNvPr id="9" name="Image 0" descr="preencoded.png">    </p:cNvPr>
          <p:cNvPicPr>
            <a:picLocks noChangeAspect="1"/>
          </p:cNvPicPr>
          <p:nvPr/>
        </p:nvPicPr>
        <p:blipFill>
          <a:blip r:embed="rId1"/>
          <a:stretch>
            <a:fillRect/>
          </a:stretch>
        </p:blipFill>
        <p:spPr>
          <a:xfrm>
            <a:off x="2460833" y="2223089"/>
            <a:ext cx="381853" cy="381853"/>
          </a:xfrm>
          <a:prstGeom prst="rect">
            <a:avLst/>
          </a:prstGeom>
        </p:spPr>
      </p:pic>
      <p:sp>
        <p:nvSpPr>
          <p:cNvPr id="10" name="Text 7"/>
          <p:cNvSpPr txBox="1"/>
          <p:nvPr/>
        </p:nvSpPr>
        <p:spPr>
          <a:xfrm>
            <a:off x="1371600" y="2761488"/>
            <a:ext cx="2560320" cy="274320"/>
          </a:xfrm>
          <a:prstGeom prst="rect">
            <a:avLst/>
          </a:prstGeom>
          <a:noFill/>
          <a:ln/>
        </p:spPr>
        <p:txBody>
          <a:bodyPr wrap="square" lIns="0" tIns="0" rIns="0" bIns="0" rtlCol="0" anchor="ctr"/>
          <a:lstStyle/>
          <a:p>
            <a:pPr algn="ctr" indent="0" marL="0">
              <a:buNone/>
            </a:pPr>
            <a:r>
              <a:rPr lang="en-US" sz="1450" b="1" dirty="0">
                <a:solidFill>
                  <a:srgbClr val="17171C"/>
                </a:solidFill>
                <a:latin typeface="Arial" pitchFamily="34" charset="0"/>
                <a:ea typeface="Arial" pitchFamily="34" charset="-122"/>
                <a:cs typeface="Arial" pitchFamily="34" charset="-120"/>
              </a:rPr>
              <a:t>Repositori Lokal</a:t>
            </a:r>
            <a:endParaRPr lang="en-US" sz="1450" dirty="0"/>
          </a:p>
        </p:txBody>
      </p:sp>
      <p:sp>
        <p:nvSpPr>
          <p:cNvPr id="11" name="Text 8"/>
          <p:cNvSpPr txBox="1"/>
          <p:nvPr/>
        </p:nvSpPr>
        <p:spPr>
          <a:xfrm>
            <a:off x="1371600" y="3035808"/>
            <a:ext cx="2560320" cy="274320"/>
          </a:xfrm>
          <a:prstGeom prst="rect">
            <a:avLst/>
          </a:prstGeom>
          <a:noFill/>
          <a:ln/>
        </p:spPr>
        <p:txBody>
          <a:bodyPr wrap="square" lIns="0" tIns="0" rIns="0" bIns="0" rtlCol="0" anchor="ctr"/>
          <a:lstStyle/>
          <a:p>
            <a:pPr algn="ctr" indent="0" marL="0">
              <a:buNone/>
            </a:pPr>
            <a:r>
              <a:rPr lang="en-US" sz="1150" dirty="0">
                <a:solidFill>
                  <a:srgbClr val="6E6E78"/>
                </a:solidFill>
                <a:latin typeface="Calibri" pitchFamily="34" charset="0"/>
                <a:ea typeface="Calibri" pitchFamily="34" charset="-122"/>
                <a:cs typeface="Calibri" pitchFamily="34" charset="-120"/>
              </a:rPr>
              <a:t>di komputer Anda</a:t>
            </a:r>
            <a:endParaRPr lang="en-US" sz="1150" dirty="0"/>
          </a:p>
        </p:txBody>
      </p:sp>
      <p:sp>
        <p:nvSpPr>
          <p:cNvPr id="12" name="Shape 9"/>
          <p:cNvSpPr/>
          <p:nvPr/>
        </p:nvSpPr>
        <p:spPr>
          <a:xfrm>
            <a:off x="7360920" y="1965960"/>
            <a:ext cx="2834640" cy="1508760"/>
          </a:xfrm>
          <a:prstGeom prst="roundRect">
            <a:avLst>
              <a:gd name="adj" fmla="val 6061"/>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3" name="Shape 10"/>
          <p:cNvSpPr/>
          <p:nvPr/>
        </p:nvSpPr>
        <p:spPr>
          <a:xfrm>
            <a:off x="8513064" y="2148840"/>
            <a:ext cx="530352" cy="530352"/>
          </a:xfrm>
          <a:prstGeom prst="ellipse">
            <a:avLst/>
          </a:prstGeom>
          <a:solidFill>
            <a:srgbClr val="17171C"/>
          </a:solidFill>
          <a:ln w="12700">
            <a:solidFill>
              <a:srgbClr val="17171C"/>
            </a:solidFill>
            <a:prstDash val="solid"/>
          </a:ln>
        </p:spPr>
      </p:sp>
      <p:pic>
        <p:nvPicPr>
          <p:cNvPr id="14" name="Image 1" descr="preencoded.png">    </p:cNvPr>
          <p:cNvPicPr>
            <a:picLocks noChangeAspect="1"/>
          </p:cNvPicPr>
          <p:nvPr/>
        </p:nvPicPr>
        <p:blipFill>
          <a:blip r:embed="rId2"/>
          <a:stretch>
            <a:fillRect/>
          </a:stretch>
        </p:blipFill>
        <p:spPr>
          <a:xfrm>
            <a:off x="8587313" y="2223089"/>
            <a:ext cx="381853" cy="381853"/>
          </a:xfrm>
          <a:prstGeom prst="rect">
            <a:avLst/>
          </a:prstGeom>
        </p:spPr>
      </p:pic>
      <p:sp>
        <p:nvSpPr>
          <p:cNvPr id="15" name="Text 11"/>
          <p:cNvSpPr txBox="1"/>
          <p:nvPr/>
        </p:nvSpPr>
        <p:spPr>
          <a:xfrm>
            <a:off x="7498080" y="2761488"/>
            <a:ext cx="2560320" cy="274320"/>
          </a:xfrm>
          <a:prstGeom prst="rect">
            <a:avLst/>
          </a:prstGeom>
          <a:noFill/>
          <a:ln/>
        </p:spPr>
        <p:txBody>
          <a:bodyPr wrap="square" lIns="0" tIns="0" rIns="0" bIns="0" rtlCol="0" anchor="ctr"/>
          <a:lstStyle/>
          <a:p>
            <a:pPr algn="ctr" indent="0" marL="0">
              <a:buNone/>
            </a:pPr>
            <a:r>
              <a:rPr lang="en-US" sz="1450" b="1" dirty="0">
                <a:solidFill>
                  <a:srgbClr val="17171C"/>
                </a:solidFill>
                <a:latin typeface="Arial" pitchFamily="34" charset="0"/>
                <a:ea typeface="Arial" pitchFamily="34" charset="-122"/>
                <a:cs typeface="Arial" pitchFamily="34" charset="-120"/>
              </a:rPr>
              <a:t>Repositori Remote</a:t>
            </a:r>
            <a:endParaRPr lang="en-US" sz="1450" dirty="0"/>
          </a:p>
        </p:txBody>
      </p:sp>
      <p:sp>
        <p:nvSpPr>
          <p:cNvPr id="16" name="Text 12"/>
          <p:cNvSpPr txBox="1"/>
          <p:nvPr/>
        </p:nvSpPr>
        <p:spPr>
          <a:xfrm>
            <a:off x="7498080" y="3035808"/>
            <a:ext cx="2560320" cy="274320"/>
          </a:xfrm>
          <a:prstGeom prst="rect">
            <a:avLst/>
          </a:prstGeom>
          <a:noFill/>
          <a:ln/>
        </p:spPr>
        <p:txBody>
          <a:bodyPr wrap="square" lIns="0" tIns="0" rIns="0" bIns="0" rtlCol="0" anchor="ctr"/>
          <a:lstStyle/>
          <a:p>
            <a:pPr algn="ctr" indent="0" marL="0">
              <a:buNone/>
            </a:pPr>
            <a:r>
              <a:rPr lang="en-US" sz="1150" dirty="0">
                <a:solidFill>
                  <a:srgbClr val="6E6E78"/>
                </a:solidFill>
                <a:latin typeface="Calibri" pitchFamily="34" charset="0"/>
                <a:ea typeface="Calibri" pitchFamily="34" charset="-122"/>
                <a:cs typeface="Calibri" pitchFamily="34" charset="-120"/>
              </a:rPr>
              <a:t>GitHub · GitLab · Bitbucket</a:t>
            </a:r>
            <a:endParaRPr lang="en-US" sz="1150" dirty="0"/>
          </a:p>
        </p:txBody>
      </p:sp>
      <p:sp>
        <p:nvSpPr>
          <p:cNvPr id="17" name="Text 13"/>
          <p:cNvSpPr txBox="1"/>
          <p:nvPr/>
        </p:nvSpPr>
        <p:spPr>
          <a:xfrm>
            <a:off x="4160520" y="2084832"/>
            <a:ext cx="3108960" cy="237744"/>
          </a:xfrm>
          <a:prstGeom prst="rect">
            <a:avLst/>
          </a:prstGeom>
          <a:noFill/>
          <a:ln/>
        </p:spPr>
        <p:txBody>
          <a:bodyPr wrap="square" lIns="0" tIns="0" rIns="0" bIns="0" rtlCol="0" anchor="ctr"/>
          <a:lstStyle/>
          <a:p>
            <a:pPr algn="ctr" indent="0" marL="0">
              <a:buNone/>
            </a:pPr>
            <a:r>
              <a:rPr lang="en-US" sz="1200" b="1" dirty="0">
                <a:solidFill>
                  <a:srgbClr val="C63C22"/>
                </a:solidFill>
                <a:latin typeface="Courier New" pitchFamily="34" charset="0"/>
                <a:ea typeface="Courier New" pitchFamily="34" charset="-122"/>
                <a:cs typeface="Courier New" pitchFamily="34" charset="-120"/>
              </a:rPr>
              <a:t>git push</a:t>
            </a:r>
            <a:endParaRPr lang="en-US" sz="1200" dirty="0"/>
          </a:p>
        </p:txBody>
      </p:sp>
      <p:sp>
        <p:nvSpPr>
          <p:cNvPr id="18" name="Text 14"/>
          <p:cNvSpPr txBox="1"/>
          <p:nvPr/>
        </p:nvSpPr>
        <p:spPr>
          <a:xfrm>
            <a:off x="4160520" y="2304288"/>
            <a:ext cx="3108960" cy="219456"/>
          </a:xfrm>
          <a:prstGeom prst="rect">
            <a:avLst/>
          </a:prstGeom>
          <a:noFill/>
          <a:ln/>
        </p:spPr>
        <p:txBody>
          <a:bodyPr wrap="square" lIns="0" tIns="0" rIns="0" bIns="0" rtlCol="0" anchor="ctr"/>
          <a:lstStyle/>
          <a:p>
            <a:pPr algn="ctr" indent="0" marL="0">
              <a:buNone/>
            </a:pPr>
            <a:r>
              <a:rPr lang="en-US" sz="1050" dirty="0">
                <a:solidFill>
                  <a:srgbClr val="6E6E78"/>
                </a:solidFill>
                <a:latin typeface="Calibri" pitchFamily="34" charset="0"/>
                <a:ea typeface="Calibri" pitchFamily="34" charset="-122"/>
                <a:cs typeface="Calibri" pitchFamily="34" charset="-120"/>
              </a:rPr>
              <a:t>mengirim commit lokal ke server</a:t>
            </a:r>
            <a:endParaRPr lang="en-US" sz="1050" dirty="0"/>
          </a:p>
        </p:txBody>
      </p:sp>
      <p:sp>
        <p:nvSpPr>
          <p:cNvPr id="19" name="Shape 15"/>
          <p:cNvSpPr/>
          <p:nvPr/>
        </p:nvSpPr>
        <p:spPr>
          <a:xfrm>
            <a:off x="4224528" y="2633472"/>
            <a:ext cx="2980944" cy="0"/>
          </a:xfrm>
          <a:prstGeom prst="line">
            <a:avLst/>
          </a:prstGeom>
          <a:noFill/>
          <a:ln w="28575">
            <a:solidFill>
              <a:srgbClr val="F05032"/>
            </a:solidFill>
            <a:prstDash val="solid"/>
            <a:tailEnd type="triangle"/>
          </a:ln>
        </p:spPr>
      </p:sp>
      <p:sp>
        <p:nvSpPr>
          <p:cNvPr id="20" name="Shape 16"/>
          <p:cNvSpPr/>
          <p:nvPr/>
        </p:nvSpPr>
        <p:spPr>
          <a:xfrm>
            <a:off x="4224528" y="2907792"/>
            <a:ext cx="2980944" cy="0"/>
          </a:xfrm>
          <a:prstGeom prst="line">
            <a:avLst/>
          </a:prstGeom>
          <a:noFill/>
          <a:ln w="28575">
            <a:solidFill>
              <a:srgbClr val="17171C"/>
            </a:solidFill>
            <a:prstDash val="solid"/>
            <a:headEnd type="triangle"/>
          </a:ln>
        </p:spPr>
      </p:sp>
      <p:sp>
        <p:nvSpPr>
          <p:cNvPr id="21" name="Text 17"/>
          <p:cNvSpPr txBox="1"/>
          <p:nvPr/>
        </p:nvSpPr>
        <p:spPr>
          <a:xfrm>
            <a:off x="4160520" y="2999232"/>
            <a:ext cx="3108960" cy="237744"/>
          </a:xfrm>
          <a:prstGeom prst="rect">
            <a:avLst/>
          </a:prstGeom>
          <a:noFill/>
          <a:ln/>
        </p:spPr>
        <p:txBody>
          <a:bodyPr wrap="square" lIns="0" tIns="0" rIns="0" bIns="0" rtlCol="0" anchor="ctr"/>
          <a:lstStyle/>
          <a:p>
            <a:pPr algn="ctr" indent="0" marL="0">
              <a:buNone/>
            </a:pPr>
            <a:r>
              <a:rPr lang="en-US" sz="1200" b="1" dirty="0">
                <a:solidFill>
                  <a:srgbClr val="17171C"/>
                </a:solidFill>
                <a:latin typeface="Courier New" pitchFamily="34" charset="0"/>
                <a:ea typeface="Courier New" pitchFamily="34" charset="-122"/>
                <a:cs typeface="Courier New" pitchFamily="34" charset="-120"/>
              </a:rPr>
              <a:t>git pull / git fetch</a:t>
            </a:r>
            <a:endParaRPr lang="en-US" sz="1200" dirty="0"/>
          </a:p>
        </p:txBody>
      </p:sp>
      <p:sp>
        <p:nvSpPr>
          <p:cNvPr id="22" name="Text 18"/>
          <p:cNvSpPr txBox="1"/>
          <p:nvPr/>
        </p:nvSpPr>
        <p:spPr>
          <a:xfrm>
            <a:off x="4160520" y="3218688"/>
            <a:ext cx="3108960" cy="219456"/>
          </a:xfrm>
          <a:prstGeom prst="rect">
            <a:avLst/>
          </a:prstGeom>
          <a:noFill/>
          <a:ln/>
        </p:spPr>
        <p:txBody>
          <a:bodyPr wrap="square" lIns="0" tIns="0" rIns="0" bIns="0" rtlCol="0" anchor="ctr"/>
          <a:lstStyle/>
          <a:p>
            <a:pPr algn="ctr" indent="0" marL="0">
              <a:buNone/>
            </a:pPr>
            <a:r>
              <a:rPr lang="en-US" sz="1050" dirty="0">
                <a:solidFill>
                  <a:srgbClr val="6E6E78"/>
                </a:solidFill>
                <a:latin typeface="Calibri" pitchFamily="34" charset="0"/>
                <a:ea typeface="Calibri" pitchFamily="34" charset="-122"/>
                <a:cs typeface="Calibri" pitchFamily="34" charset="-120"/>
              </a:rPr>
              <a:t>mengambil pembaruan dari server</a:t>
            </a:r>
            <a:endParaRPr lang="en-US" sz="1050" dirty="0"/>
          </a:p>
        </p:txBody>
      </p:sp>
      <p:sp>
        <p:nvSpPr>
          <p:cNvPr id="23" name="Shape 19"/>
          <p:cNvSpPr/>
          <p:nvPr/>
        </p:nvSpPr>
        <p:spPr>
          <a:xfrm>
            <a:off x="640080" y="4023360"/>
            <a:ext cx="5330952" cy="658368"/>
          </a:xfrm>
          <a:prstGeom prst="roundRect">
            <a:avLst>
              <a:gd name="adj" fmla="val 8333"/>
            </a:avLst>
          </a:prstGeom>
          <a:solidFill>
            <a:srgbClr val="FFFFFF"/>
          </a:solidFill>
          <a:ln w="12700">
            <a:solidFill>
              <a:srgbClr val="E2DFDD"/>
            </a:solidFill>
            <a:prstDash val="solid"/>
          </a:ln>
        </p:spPr>
      </p:sp>
      <p:sp>
        <p:nvSpPr>
          <p:cNvPr id="24" name="Text 20"/>
          <p:cNvSpPr txBox="1"/>
          <p:nvPr/>
        </p:nvSpPr>
        <p:spPr>
          <a:xfrm>
            <a:off x="841248" y="4096512"/>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remote -v</a:t>
            </a:r>
            <a:endParaRPr lang="en-US" sz="1200" dirty="0"/>
          </a:p>
        </p:txBody>
      </p:sp>
      <p:sp>
        <p:nvSpPr>
          <p:cNvPr id="25" name="Text 21"/>
          <p:cNvSpPr txBox="1"/>
          <p:nvPr/>
        </p:nvSpPr>
        <p:spPr>
          <a:xfrm>
            <a:off x="841248" y="4352544"/>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Melihat daftar remote beserta URL-nya. Nama baku remote utama adalah origin.</a:t>
            </a:r>
            <a:endParaRPr lang="en-US" sz="1150" dirty="0"/>
          </a:p>
        </p:txBody>
      </p:sp>
      <p:sp>
        <p:nvSpPr>
          <p:cNvPr id="26" name="Shape 22"/>
          <p:cNvSpPr/>
          <p:nvPr/>
        </p:nvSpPr>
        <p:spPr>
          <a:xfrm>
            <a:off x="6217920" y="4023360"/>
            <a:ext cx="5330952" cy="658368"/>
          </a:xfrm>
          <a:prstGeom prst="roundRect">
            <a:avLst>
              <a:gd name="adj" fmla="val 8333"/>
            </a:avLst>
          </a:prstGeom>
          <a:solidFill>
            <a:srgbClr val="FFFFFF"/>
          </a:solidFill>
          <a:ln w="12700">
            <a:solidFill>
              <a:srgbClr val="E2DFDD"/>
            </a:solidFill>
            <a:prstDash val="solid"/>
          </a:ln>
        </p:spPr>
      </p:sp>
      <p:sp>
        <p:nvSpPr>
          <p:cNvPr id="27" name="Text 23"/>
          <p:cNvSpPr txBox="1"/>
          <p:nvPr/>
        </p:nvSpPr>
        <p:spPr>
          <a:xfrm>
            <a:off x="6419088" y="4096512"/>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remote add origin &lt;url&gt;</a:t>
            </a:r>
            <a:endParaRPr lang="en-US" sz="1200" dirty="0"/>
          </a:p>
        </p:txBody>
      </p:sp>
      <p:sp>
        <p:nvSpPr>
          <p:cNvPr id="28" name="Text 24"/>
          <p:cNvSpPr txBox="1"/>
          <p:nvPr/>
        </p:nvSpPr>
        <p:spPr>
          <a:xfrm>
            <a:off x="6419088" y="4352544"/>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Menautkan repositori lokal ke sebuah repositori remote.</a:t>
            </a:r>
            <a:endParaRPr lang="en-US" sz="1150" dirty="0"/>
          </a:p>
        </p:txBody>
      </p:sp>
      <p:sp>
        <p:nvSpPr>
          <p:cNvPr id="29" name="Shape 25"/>
          <p:cNvSpPr/>
          <p:nvPr/>
        </p:nvSpPr>
        <p:spPr>
          <a:xfrm>
            <a:off x="640080" y="4791456"/>
            <a:ext cx="5330952" cy="658368"/>
          </a:xfrm>
          <a:prstGeom prst="roundRect">
            <a:avLst>
              <a:gd name="adj" fmla="val 8333"/>
            </a:avLst>
          </a:prstGeom>
          <a:solidFill>
            <a:srgbClr val="FFFFFF"/>
          </a:solidFill>
          <a:ln w="12700">
            <a:solidFill>
              <a:srgbClr val="E2DFDD"/>
            </a:solidFill>
            <a:prstDash val="solid"/>
          </a:ln>
        </p:spPr>
      </p:sp>
      <p:sp>
        <p:nvSpPr>
          <p:cNvPr id="30" name="Text 26"/>
          <p:cNvSpPr txBox="1"/>
          <p:nvPr/>
        </p:nvSpPr>
        <p:spPr>
          <a:xfrm>
            <a:off x="841248" y="4864608"/>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clone &lt;url&gt;</a:t>
            </a:r>
            <a:endParaRPr lang="en-US" sz="1200" dirty="0"/>
          </a:p>
        </p:txBody>
      </p:sp>
      <p:sp>
        <p:nvSpPr>
          <p:cNvPr id="31" name="Text 27"/>
          <p:cNvSpPr txBox="1"/>
          <p:nvPr/>
        </p:nvSpPr>
        <p:spPr>
          <a:xfrm>
            <a:off x="841248" y="5120640"/>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Menyalin repositori remote sekaligus mengatur origin secara otomatis.</a:t>
            </a:r>
            <a:endParaRPr lang="en-US" sz="1150" dirty="0"/>
          </a:p>
        </p:txBody>
      </p:sp>
      <p:sp>
        <p:nvSpPr>
          <p:cNvPr id="32" name="Shape 28"/>
          <p:cNvSpPr/>
          <p:nvPr/>
        </p:nvSpPr>
        <p:spPr>
          <a:xfrm>
            <a:off x="6217920" y="4791456"/>
            <a:ext cx="5330952" cy="658368"/>
          </a:xfrm>
          <a:prstGeom prst="roundRect">
            <a:avLst>
              <a:gd name="adj" fmla="val 8333"/>
            </a:avLst>
          </a:prstGeom>
          <a:solidFill>
            <a:srgbClr val="FFFFFF"/>
          </a:solidFill>
          <a:ln w="12700">
            <a:solidFill>
              <a:srgbClr val="E2DFDD"/>
            </a:solidFill>
            <a:prstDash val="solid"/>
          </a:ln>
        </p:spPr>
      </p:sp>
      <p:sp>
        <p:nvSpPr>
          <p:cNvPr id="33" name="Text 29"/>
          <p:cNvSpPr txBox="1"/>
          <p:nvPr/>
        </p:nvSpPr>
        <p:spPr>
          <a:xfrm>
            <a:off x="6419088" y="4864608"/>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push -u origin main</a:t>
            </a:r>
            <a:endParaRPr lang="en-US" sz="1200" dirty="0"/>
          </a:p>
        </p:txBody>
      </p:sp>
      <p:sp>
        <p:nvSpPr>
          <p:cNvPr id="34" name="Text 30"/>
          <p:cNvSpPr txBox="1"/>
          <p:nvPr/>
        </p:nvSpPr>
        <p:spPr>
          <a:xfrm>
            <a:off x="6419088" y="5120640"/>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Mengirim cabang main sekaligus menetapkan cabang pelacak.</a:t>
            </a:r>
            <a:endParaRPr lang="en-US" sz="1150" dirty="0"/>
          </a:p>
        </p:txBody>
      </p:sp>
      <p:sp>
        <p:nvSpPr>
          <p:cNvPr id="35" name="Shape 31"/>
          <p:cNvSpPr/>
          <p:nvPr/>
        </p:nvSpPr>
        <p:spPr>
          <a:xfrm>
            <a:off x="640080" y="5559552"/>
            <a:ext cx="5330952" cy="658368"/>
          </a:xfrm>
          <a:prstGeom prst="roundRect">
            <a:avLst>
              <a:gd name="adj" fmla="val 8333"/>
            </a:avLst>
          </a:prstGeom>
          <a:solidFill>
            <a:srgbClr val="FFFFFF"/>
          </a:solidFill>
          <a:ln w="12700">
            <a:solidFill>
              <a:srgbClr val="E2DFDD"/>
            </a:solidFill>
            <a:prstDash val="solid"/>
          </a:ln>
        </p:spPr>
      </p:sp>
      <p:sp>
        <p:nvSpPr>
          <p:cNvPr id="36" name="Text 32"/>
          <p:cNvSpPr txBox="1"/>
          <p:nvPr/>
        </p:nvSpPr>
        <p:spPr>
          <a:xfrm>
            <a:off x="841248" y="5632704"/>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fetch origin</a:t>
            </a:r>
            <a:endParaRPr lang="en-US" sz="1200" dirty="0"/>
          </a:p>
        </p:txBody>
      </p:sp>
      <p:sp>
        <p:nvSpPr>
          <p:cNvPr id="37" name="Text 33"/>
          <p:cNvSpPr txBox="1"/>
          <p:nvPr/>
        </p:nvSpPr>
        <p:spPr>
          <a:xfrm>
            <a:off x="841248" y="5888736"/>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Mengunduh perubahan remote tanpa menggabungkannya ke cabang aktif.</a:t>
            </a:r>
            <a:endParaRPr lang="en-US" sz="1150" dirty="0"/>
          </a:p>
        </p:txBody>
      </p:sp>
      <p:sp>
        <p:nvSpPr>
          <p:cNvPr id="38" name="Shape 34"/>
          <p:cNvSpPr/>
          <p:nvPr/>
        </p:nvSpPr>
        <p:spPr>
          <a:xfrm>
            <a:off x="6217920" y="5559552"/>
            <a:ext cx="5330952" cy="658368"/>
          </a:xfrm>
          <a:prstGeom prst="roundRect">
            <a:avLst>
              <a:gd name="adj" fmla="val 8333"/>
            </a:avLst>
          </a:prstGeom>
          <a:solidFill>
            <a:srgbClr val="FFFFFF"/>
          </a:solidFill>
          <a:ln w="12700">
            <a:solidFill>
              <a:srgbClr val="E2DFDD"/>
            </a:solidFill>
            <a:prstDash val="solid"/>
          </a:ln>
        </p:spPr>
      </p:sp>
      <p:sp>
        <p:nvSpPr>
          <p:cNvPr id="39" name="Text 35"/>
          <p:cNvSpPr txBox="1"/>
          <p:nvPr/>
        </p:nvSpPr>
        <p:spPr>
          <a:xfrm>
            <a:off x="6419088" y="5632704"/>
            <a:ext cx="4928616" cy="256032"/>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git pull origin main</a:t>
            </a:r>
            <a:endParaRPr lang="en-US" sz="1200" dirty="0"/>
          </a:p>
        </p:txBody>
      </p:sp>
      <p:sp>
        <p:nvSpPr>
          <p:cNvPr id="40" name="Text 36"/>
          <p:cNvSpPr txBox="1"/>
          <p:nvPr/>
        </p:nvSpPr>
        <p:spPr>
          <a:xfrm>
            <a:off x="6419088" y="5888736"/>
            <a:ext cx="4928616" cy="274320"/>
          </a:xfrm>
          <a:prstGeom prst="rect">
            <a:avLst/>
          </a:prstGeom>
          <a:noFill/>
          <a:ln/>
        </p:spPr>
        <p:txBody>
          <a:bodyPr wrap="square" lIns="0" tIns="0" rIns="0" bIns="0" rtlCol="0" anchor="ctr"/>
          <a:lstStyle/>
          <a:p>
            <a:pPr indent="0" marL="0">
              <a:buNone/>
            </a:pPr>
            <a:r>
              <a:rPr lang="en-US" sz="1150" dirty="0">
                <a:solidFill>
                  <a:srgbClr val="6E6E78"/>
                </a:solidFill>
                <a:latin typeface="Calibri" pitchFamily="34" charset="0"/>
                <a:ea typeface="Calibri" pitchFamily="34" charset="-122"/>
                <a:cs typeface="Calibri" pitchFamily="34" charset="-120"/>
              </a:rPr>
              <a:t>Setara git fetch diikuti git merge pada cabang yang aktif.</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04 · EKOSISTEM</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Platform Hosting Repositori Git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640080" y="1600200"/>
            <a:ext cx="3456432" cy="3063240"/>
          </a:xfrm>
          <a:prstGeom prst="roundRect">
            <a:avLst>
              <a:gd name="adj" fmla="val 298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7" name="Image 0" descr="preencoded.png">    </p:cNvPr>
          <p:cNvPicPr>
            <a:picLocks noChangeAspect="1"/>
          </p:cNvPicPr>
          <p:nvPr/>
        </p:nvPicPr>
        <p:blipFill>
          <a:blip r:embed="rId1"/>
          <a:stretch>
            <a:fillRect/>
          </a:stretch>
        </p:blipFill>
        <p:spPr>
          <a:xfrm>
            <a:off x="950976" y="1911096"/>
            <a:ext cx="621792" cy="621792"/>
          </a:xfrm>
          <a:prstGeom prst="rect">
            <a:avLst/>
          </a:prstGeom>
        </p:spPr>
      </p:pic>
      <p:sp>
        <p:nvSpPr>
          <p:cNvPr id="8" name="Text 5"/>
          <p:cNvSpPr txBox="1"/>
          <p:nvPr/>
        </p:nvSpPr>
        <p:spPr>
          <a:xfrm>
            <a:off x="950976" y="2660904"/>
            <a:ext cx="2834640" cy="347472"/>
          </a:xfrm>
          <a:prstGeom prst="rect">
            <a:avLst/>
          </a:prstGeom>
          <a:noFill/>
          <a:ln/>
        </p:spPr>
        <p:txBody>
          <a:bodyPr wrap="square" lIns="0" tIns="0" rIns="0" bIns="0" rtlCol="0" anchor="ctr"/>
          <a:lstStyle/>
          <a:p>
            <a:pPr indent="0" marL="0">
              <a:buNone/>
            </a:pPr>
            <a:r>
              <a:rPr lang="en-US" sz="1900" b="1" dirty="0">
                <a:solidFill>
                  <a:srgbClr val="17171C"/>
                </a:solidFill>
                <a:latin typeface="Arial" pitchFamily="34" charset="0"/>
                <a:ea typeface="Arial" pitchFamily="34" charset="-122"/>
                <a:cs typeface="Arial" pitchFamily="34" charset="-120"/>
              </a:rPr>
              <a:t>GitHub</a:t>
            </a:r>
            <a:endParaRPr lang="en-US" sz="1900" dirty="0"/>
          </a:p>
        </p:txBody>
      </p:sp>
      <p:sp>
        <p:nvSpPr>
          <p:cNvPr id="9" name="Text 6"/>
          <p:cNvSpPr txBox="1"/>
          <p:nvPr/>
        </p:nvSpPr>
        <p:spPr>
          <a:xfrm>
            <a:off x="950976" y="3063240"/>
            <a:ext cx="2834640" cy="105156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Platform terbesar dengan komunitas open source paling aktif. Menyediakan Pull Request, Issues, Actions untuk CI/CD, dan Projects.</a:t>
            </a:r>
            <a:endParaRPr lang="en-US" sz="1250" dirty="0"/>
          </a:p>
        </p:txBody>
      </p:sp>
      <p:sp>
        <p:nvSpPr>
          <p:cNvPr id="10" name="Text 7"/>
          <p:cNvSpPr txBox="1"/>
          <p:nvPr/>
        </p:nvSpPr>
        <p:spPr>
          <a:xfrm>
            <a:off x="950976" y="4123944"/>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proyek publik, portofolio, kolaborasi komunitas.</a:t>
            </a:r>
            <a:endParaRPr lang="en-US" sz="1150" dirty="0"/>
          </a:p>
        </p:txBody>
      </p:sp>
      <p:sp>
        <p:nvSpPr>
          <p:cNvPr id="11" name="Shape 8"/>
          <p:cNvSpPr/>
          <p:nvPr/>
        </p:nvSpPr>
        <p:spPr>
          <a:xfrm>
            <a:off x="4370832" y="1600200"/>
            <a:ext cx="3456432" cy="3063240"/>
          </a:xfrm>
          <a:prstGeom prst="roundRect">
            <a:avLst>
              <a:gd name="adj" fmla="val 298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12" name="Image 1" descr="preencoded.png">    </p:cNvPr>
          <p:cNvPicPr>
            <a:picLocks noChangeAspect="1"/>
          </p:cNvPicPr>
          <p:nvPr/>
        </p:nvPicPr>
        <p:blipFill>
          <a:blip r:embed="rId2"/>
          <a:stretch>
            <a:fillRect/>
          </a:stretch>
        </p:blipFill>
        <p:spPr>
          <a:xfrm>
            <a:off x="4681728" y="1911096"/>
            <a:ext cx="621792" cy="621792"/>
          </a:xfrm>
          <a:prstGeom prst="rect">
            <a:avLst/>
          </a:prstGeom>
        </p:spPr>
      </p:pic>
      <p:sp>
        <p:nvSpPr>
          <p:cNvPr id="13" name="Text 9"/>
          <p:cNvSpPr txBox="1"/>
          <p:nvPr/>
        </p:nvSpPr>
        <p:spPr>
          <a:xfrm>
            <a:off x="4681728" y="2660904"/>
            <a:ext cx="2834640" cy="347472"/>
          </a:xfrm>
          <a:prstGeom prst="rect">
            <a:avLst/>
          </a:prstGeom>
          <a:noFill/>
          <a:ln/>
        </p:spPr>
        <p:txBody>
          <a:bodyPr wrap="square" lIns="0" tIns="0" rIns="0" bIns="0" rtlCol="0" anchor="ctr"/>
          <a:lstStyle/>
          <a:p>
            <a:pPr indent="0" marL="0">
              <a:buNone/>
            </a:pPr>
            <a:r>
              <a:rPr lang="en-US" sz="1900" b="1" dirty="0">
                <a:solidFill>
                  <a:srgbClr val="17171C"/>
                </a:solidFill>
                <a:latin typeface="Arial" pitchFamily="34" charset="0"/>
                <a:ea typeface="Arial" pitchFamily="34" charset="-122"/>
                <a:cs typeface="Arial" pitchFamily="34" charset="-120"/>
              </a:rPr>
              <a:t>GitLab</a:t>
            </a:r>
            <a:endParaRPr lang="en-US" sz="1900" dirty="0"/>
          </a:p>
        </p:txBody>
      </p:sp>
      <p:sp>
        <p:nvSpPr>
          <p:cNvPr id="14" name="Text 10"/>
          <p:cNvSpPr txBox="1"/>
          <p:nvPr/>
        </p:nvSpPr>
        <p:spPr>
          <a:xfrm>
            <a:off x="4681728" y="3063240"/>
            <a:ext cx="2834640" cy="105156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Platform DevOps menyeluruh yang dapat dipasang di server sendiri (self-hosted). Menggunakan istilah Merge Request.</a:t>
            </a:r>
            <a:endParaRPr lang="en-US" sz="1250" dirty="0"/>
          </a:p>
        </p:txBody>
      </p:sp>
      <p:sp>
        <p:nvSpPr>
          <p:cNvPr id="15" name="Text 11"/>
          <p:cNvSpPr txBox="1"/>
          <p:nvPr/>
        </p:nvSpPr>
        <p:spPr>
          <a:xfrm>
            <a:off x="4681728" y="4123944"/>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perusahaan yang butuh kontrol penuh atas server.</a:t>
            </a:r>
            <a:endParaRPr lang="en-US" sz="1150" dirty="0"/>
          </a:p>
        </p:txBody>
      </p:sp>
      <p:sp>
        <p:nvSpPr>
          <p:cNvPr id="16" name="Shape 12"/>
          <p:cNvSpPr/>
          <p:nvPr/>
        </p:nvSpPr>
        <p:spPr>
          <a:xfrm>
            <a:off x="8101584" y="1600200"/>
            <a:ext cx="3456432" cy="3063240"/>
          </a:xfrm>
          <a:prstGeom prst="roundRect">
            <a:avLst>
              <a:gd name="adj" fmla="val 298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17" name="Image 2" descr="preencoded.png">    </p:cNvPr>
          <p:cNvPicPr>
            <a:picLocks noChangeAspect="1"/>
          </p:cNvPicPr>
          <p:nvPr/>
        </p:nvPicPr>
        <p:blipFill>
          <a:blip r:embed="rId3"/>
          <a:stretch>
            <a:fillRect/>
          </a:stretch>
        </p:blipFill>
        <p:spPr>
          <a:xfrm>
            <a:off x="8412480" y="1911096"/>
            <a:ext cx="621792" cy="621792"/>
          </a:xfrm>
          <a:prstGeom prst="rect">
            <a:avLst/>
          </a:prstGeom>
        </p:spPr>
      </p:pic>
      <p:sp>
        <p:nvSpPr>
          <p:cNvPr id="18" name="Text 13"/>
          <p:cNvSpPr txBox="1"/>
          <p:nvPr/>
        </p:nvSpPr>
        <p:spPr>
          <a:xfrm>
            <a:off x="8412480" y="2660904"/>
            <a:ext cx="2834640" cy="347472"/>
          </a:xfrm>
          <a:prstGeom prst="rect">
            <a:avLst/>
          </a:prstGeom>
          <a:noFill/>
          <a:ln/>
        </p:spPr>
        <p:txBody>
          <a:bodyPr wrap="square" lIns="0" tIns="0" rIns="0" bIns="0" rtlCol="0" anchor="ctr"/>
          <a:lstStyle/>
          <a:p>
            <a:pPr indent="0" marL="0">
              <a:buNone/>
            </a:pPr>
            <a:r>
              <a:rPr lang="en-US" sz="1900" b="1" dirty="0">
                <a:solidFill>
                  <a:srgbClr val="17171C"/>
                </a:solidFill>
                <a:latin typeface="Arial" pitchFamily="34" charset="0"/>
                <a:ea typeface="Arial" pitchFamily="34" charset="-122"/>
                <a:cs typeface="Arial" pitchFamily="34" charset="-120"/>
              </a:rPr>
              <a:t>Bitbucket</a:t>
            </a:r>
            <a:endParaRPr lang="en-US" sz="1900" dirty="0"/>
          </a:p>
        </p:txBody>
      </p:sp>
      <p:sp>
        <p:nvSpPr>
          <p:cNvPr id="19" name="Text 14"/>
          <p:cNvSpPr txBox="1"/>
          <p:nvPr/>
        </p:nvSpPr>
        <p:spPr>
          <a:xfrm>
            <a:off x="8412480" y="3063240"/>
            <a:ext cx="2834640" cy="105156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Terintegrasi erat dengan ekosistem Atlassian seperti Jira dan Confluence, dilengkapi Bitbucket Pipelines.</a:t>
            </a:r>
            <a:endParaRPr lang="en-US" sz="1250" dirty="0"/>
          </a:p>
        </p:txBody>
      </p:sp>
      <p:sp>
        <p:nvSpPr>
          <p:cNvPr id="20" name="Text 15"/>
          <p:cNvSpPr txBox="1"/>
          <p:nvPr/>
        </p:nvSpPr>
        <p:spPr>
          <a:xfrm>
            <a:off x="8412480" y="4123944"/>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tim yang sudah memakai Jira sebagai manajemen tugas.</a:t>
            </a:r>
            <a:endParaRPr lang="en-US" sz="1150" dirty="0"/>
          </a:p>
        </p:txBody>
      </p:sp>
      <p:sp>
        <p:nvSpPr>
          <p:cNvPr id="21" name="Shape 16"/>
          <p:cNvSpPr/>
          <p:nvPr/>
        </p:nvSpPr>
        <p:spPr>
          <a:xfrm>
            <a:off x="640080" y="4892040"/>
            <a:ext cx="10908792" cy="1005840"/>
          </a:xfrm>
          <a:prstGeom prst="roundRect">
            <a:avLst>
              <a:gd name="adj" fmla="val 9091"/>
            </a:avLst>
          </a:prstGeom>
          <a:solidFill>
            <a:srgbClr val="17171C"/>
          </a:solidFill>
          <a:ln w="12700">
            <a:solidFill>
              <a:srgbClr val="17171C"/>
            </a:solidFill>
            <a:prstDash val="solid"/>
          </a:ln>
          <a:effectLst>
            <a:outerShdw sx="100000" sy="100000" kx="0" ky="0" algn="bl" rotWithShape="0" blurRad="127000" dist="25400" dir="5400000">
              <a:srgbClr val="9A9086">
                <a:alpha val="18000"/>
              </a:srgbClr>
            </a:outerShdw>
          </a:effectLst>
        </p:spPr>
      </p:sp>
      <p:sp>
        <p:nvSpPr>
          <p:cNvPr id="22" name="Shape 17"/>
          <p:cNvSpPr/>
          <p:nvPr/>
        </p:nvSpPr>
        <p:spPr>
          <a:xfrm>
            <a:off x="914400" y="5120640"/>
            <a:ext cx="530352" cy="530352"/>
          </a:xfrm>
          <a:prstGeom prst="ellipse">
            <a:avLst/>
          </a:prstGeom>
          <a:solidFill>
            <a:srgbClr val="F05032"/>
          </a:solidFill>
          <a:ln w="12700">
            <a:solidFill>
              <a:srgbClr val="F05032"/>
            </a:solidFill>
            <a:prstDash val="solid"/>
          </a:ln>
        </p:spPr>
      </p:sp>
      <p:pic>
        <p:nvPicPr>
          <p:cNvPr id="23" name="Image 3" descr="preencoded.png">    </p:cNvPr>
          <p:cNvPicPr>
            <a:picLocks noChangeAspect="1"/>
          </p:cNvPicPr>
          <p:nvPr/>
        </p:nvPicPr>
        <p:blipFill>
          <a:blip r:embed="rId4"/>
          <a:stretch>
            <a:fillRect/>
          </a:stretch>
        </p:blipFill>
        <p:spPr>
          <a:xfrm>
            <a:off x="988649" y="5194889"/>
            <a:ext cx="381853" cy="381853"/>
          </a:xfrm>
          <a:prstGeom prst="rect">
            <a:avLst/>
          </a:prstGeom>
        </p:spPr>
      </p:pic>
      <p:sp>
        <p:nvSpPr>
          <p:cNvPr id="24" name="Text 18"/>
          <p:cNvSpPr txBox="1"/>
          <p:nvPr/>
        </p:nvSpPr>
        <p:spPr>
          <a:xfrm>
            <a:off x="1572768" y="5029200"/>
            <a:ext cx="9646920" cy="749808"/>
          </a:xfrm>
          <a:prstGeom prst="rect">
            <a:avLst/>
          </a:prstGeom>
          <a:noFill/>
          <a:ln/>
        </p:spPr>
        <p:txBody>
          <a:bodyPr wrap="square" lIns="0" tIns="0" rIns="0" bIns="0" rtlCol="0" anchor="ctr"/>
          <a:lstStyle/>
          <a:p>
            <a:pPr indent="0" marL="0">
              <a:lnSpc>
                <a:spcPts val="1900"/>
              </a:lnSpc>
              <a:buNone/>
            </a:pPr>
            <a:r>
              <a:rPr lang="en-US" sz="1350" b="1" dirty="0">
                <a:solidFill>
                  <a:srgbClr val="F05032"/>
                </a:solidFill>
                <a:latin typeface="Calibri" pitchFamily="34" charset="0"/>
                <a:ea typeface="Calibri" pitchFamily="34" charset="-122"/>
                <a:cs typeface="Calibri" pitchFamily="34" charset="-120"/>
              </a:rPr>
              <a:t>Penting dibedakan: </a:t>
            </a:r>
            <a:pPr indent="0" marL="0">
              <a:lnSpc>
                <a:spcPts val="1900"/>
              </a:lnSpc>
              <a:buNone/>
            </a:pPr>
            <a:r>
              <a:rPr lang="en-US" sz="1350" dirty="0">
                <a:solidFill>
                  <a:srgbClr val="B6B6C2"/>
                </a:solidFill>
                <a:latin typeface="Calibri" pitchFamily="34" charset="0"/>
                <a:ea typeface="Calibri" pitchFamily="34" charset="-122"/>
                <a:cs typeface="Calibri" pitchFamily="34" charset="-120"/>
              </a:rPr>
              <a:t>Git adalah perangkat lunak kontrol versi yang berjalan di komputer Anda, sedangkan GitHub, GitLab, dan Bitbucket adalah layanan yang menyimpan repositori Git di internet dan menambahkan fitur kolaborasi di atasnya.</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04 · KONTRIBUSI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Alur Fork dan Pull Request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640080" y="1627632"/>
            <a:ext cx="3456432" cy="1773936"/>
          </a:xfrm>
          <a:prstGeom prst="roundRect">
            <a:avLst>
              <a:gd name="adj" fmla="val 51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14400" y="1883664"/>
            <a:ext cx="530352" cy="530352"/>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988649" y="1957913"/>
            <a:ext cx="381853" cy="381853"/>
          </a:xfrm>
          <a:prstGeom prst="rect">
            <a:avLst/>
          </a:prstGeom>
        </p:spPr>
      </p:pic>
      <p:sp>
        <p:nvSpPr>
          <p:cNvPr id="9" name="Text 6"/>
          <p:cNvSpPr txBox="1"/>
          <p:nvPr/>
        </p:nvSpPr>
        <p:spPr>
          <a:xfrm>
            <a:off x="3182112" y="1901952"/>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01</a:t>
            </a:r>
            <a:endParaRPr lang="en-US" sz="1800" dirty="0"/>
          </a:p>
        </p:txBody>
      </p:sp>
      <p:sp>
        <p:nvSpPr>
          <p:cNvPr id="10" name="Text 7"/>
          <p:cNvSpPr txBox="1"/>
          <p:nvPr/>
        </p:nvSpPr>
        <p:spPr>
          <a:xfrm>
            <a:off x="914400" y="2523744"/>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Fork</a:t>
            </a:r>
            <a:endParaRPr lang="en-US" sz="1600" dirty="0"/>
          </a:p>
        </p:txBody>
      </p:sp>
      <p:sp>
        <p:nvSpPr>
          <p:cNvPr id="11" name="Text 8"/>
          <p:cNvSpPr txBox="1"/>
          <p:nvPr/>
        </p:nvSpPr>
        <p:spPr>
          <a:xfrm>
            <a:off x="914400" y="2852928"/>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Salin repositori orang lain ke akun Anda sendiri melalui antarmuka web.</a:t>
            </a:r>
            <a:endParaRPr lang="en-US" sz="1200" dirty="0"/>
          </a:p>
        </p:txBody>
      </p:sp>
      <p:sp>
        <p:nvSpPr>
          <p:cNvPr id="12" name="Shape 9"/>
          <p:cNvSpPr/>
          <p:nvPr/>
        </p:nvSpPr>
        <p:spPr>
          <a:xfrm>
            <a:off x="4370832" y="1627632"/>
            <a:ext cx="3456432" cy="1773936"/>
          </a:xfrm>
          <a:prstGeom prst="roundRect">
            <a:avLst>
              <a:gd name="adj" fmla="val 51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3" name="Shape 10"/>
          <p:cNvSpPr/>
          <p:nvPr/>
        </p:nvSpPr>
        <p:spPr>
          <a:xfrm>
            <a:off x="4645152" y="1883664"/>
            <a:ext cx="530352" cy="530352"/>
          </a:xfrm>
          <a:prstGeom prst="ellipse">
            <a:avLst/>
          </a:prstGeom>
          <a:solidFill>
            <a:srgbClr val="F05032"/>
          </a:solidFill>
          <a:ln w="12700">
            <a:solidFill>
              <a:srgbClr val="F05032"/>
            </a:solidFill>
            <a:prstDash val="solid"/>
          </a:ln>
        </p:spPr>
      </p:sp>
      <p:pic>
        <p:nvPicPr>
          <p:cNvPr id="14" name="Image 1" descr="preencoded.png">    </p:cNvPr>
          <p:cNvPicPr>
            <a:picLocks noChangeAspect="1"/>
          </p:cNvPicPr>
          <p:nvPr/>
        </p:nvPicPr>
        <p:blipFill>
          <a:blip r:embed="rId2"/>
          <a:stretch>
            <a:fillRect/>
          </a:stretch>
        </p:blipFill>
        <p:spPr>
          <a:xfrm>
            <a:off x="4719401" y="1957913"/>
            <a:ext cx="381853" cy="381853"/>
          </a:xfrm>
          <a:prstGeom prst="rect">
            <a:avLst/>
          </a:prstGeom>
        </p:spPr>
      </p:pic>
      <p:sp>
        <p:nvSpPr>
          <p:cNvPr id="15" name="Text 11"/>
          <p:cNvSpPr txBox="1"/>
          <p:nvPr/>
        </p:nvSpPr>
        <p:spPr>
          <a:xfrm>
            <a:off x="6912864" y="1901952"/>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02</a:t>
            </a:r>
            <a:endParaRPr lang="en-US" sz="1800" dirty="0"/>
          </a:p>
        </p:txBody>
      </p:sp>
      <p:sp>
        <p:nvSpPr>
          <p:cNvPr id="16" name="Text 12"/>
          <p:cNvSpPr txBox="1"/>
          <p:nvPr/>
        </p:nvSpPr>
        <p:spPr>
          <a:xfrm>
            <a:off x="4645152" y="2523744"/>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Clone</a:t>
            </a:r>
            <a:endParaRPr lang="en-US" sz="1600" dirty="0"/>
          </a:p>
        </p:txBody>
      </p:sp>
      <p:sp>
        <p:nvSpPr>
          <p:cNvPr id="17" name="Text 13"/>
          <p:cNvSpPr txBox="1"/>
          <p:nvPr/>
        </p:nvSpPr>
        <p:spPr>
          <a:xfrm>
            <a:off x="4645152" y="2852928"/>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Unduh hasil fork ke komputer lokal dengan git clone.</a:t>
            </a:r>
            <a:endParaRPr lang="en-US" sz="1200" dirty="0"/>
          </a:p>
        </p:txBody>
      </p:sp>
      <p:sp>
        <p:nvSpPr>
          <p:cNvPr id="18" name="Shape 14"/>
          <p:cNvSpPr/>
          <p:nvPr/>
        </p:nvSpPr>
        <p:spPr>
          <a:xfrm>
            <a:off x="8101584" y="1627632"/>
            <a:ext cx="3456432" cy="1773936"/>
          </a:xfrm>
          <a:prstGeom prst="roundRect">
            <a:avLst>
              <a:gd name="adj" fmla="val 515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9" name="Shape 15"/>
          <p:cNvSpPr/>
          <p:nvPr/>
        </p:nvSpPr>
        <p:spPr>
          <a:xfrm>
            <a:off x="8375904" y="1883664"/>
            <a:ext cx="530352" cy="530352"/>
          </a:xfrm>
          <a:prstGeom prst="ellipse">
            <a:avLst/>
          </a:prstGeom>
          <a:solidFill>
            <a:srgbClr val="F05032"/>
          </a:solidFill>
          <a:ln w="12700">
            <a:solidFill>
              <a:srgbClr val="F05032"/>
            </a:solidFill>
            <a:prstDash val="solid"/>
          </a:ln>
        </p:spPr>
      </p:sp>
      <p:pic>
        <p:nvPicPr>
          <p:cNvPr id="20" name="Image 2" descr="preencoded.png">    </p:cNvPr>
          <p:cNvPicPr>
            <a:picLocks noChangeAspect="1"/>
          </p:cNvPicPr>
          <p:nvPr/>
        </p:nvPicPr>
        <p:blipFill>
          <a:blip r:embed="rId3"/>
          <a:stretch>
            <a:fillRect/>
          </a:stretch>
        </p:blipFill>
        <p:spPr>
          <a:xfrm>
            <a:off x="8450153" y="1957913"/>
            <a:ext cx="381853" cy="381853"/>
          </a:xfrm>
          <a:prstGeom prst="rect">
            <a:avLst/>
          </a:prstGeom>
        </p:spPr>
      </p:pic>
      <p:sp>
        <p:nvSpPr>
          <p:cNvPr id="21" name="Text 16"/>
          <p:cNvSpPr txBox="1"/>
          <p:nvPr/>
        </p:nvSpPr>
        <p:spPr>
          <a:xfrm>
            <a:off x="10643616" y="1901952"/>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03</a:t>
            </a:r>
            <a:endParaRPr lang="en-US" sz="1800" dirty="0"/>
          </a:p>
        </p:txBody>
      </p:sp>
      <p:sp>
        <p:nvSpPr>
          <p:cNvPr id="22" name="Text 17"/>
          <p:cNvSpPr txBox="1"/>
          <p:nvPr/>
        </p:nvSpPr>
        <p:spPr>
          <a:xfrm>
            <a:off x="8375904" y="2523744"/>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Branch</a:t>
            </a:r>
            <a:endParaRPr lang="en-US" sz="1600" dirty="0"/>
          </a:p>
        </p:txBody>
      </p:sp>
      <p:sp>
        <p:nvSpPr>
          <p:cNvPr id="23" name="Text 18"/>
          <p:cNvSpPr txBox="1"/>
          <p:nvPr/>
        </p:nvSpPr>
        <p:spPr>
          <a:xfrm>
            <a:off x="8375904" y="2852928"/>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Buat cabang khusus untuk perubahan yang akan Anda kerjakan.</a:t>
            </a:r>
            <a:endParaRPr lang="en-US" sz="1200" dirty="0"/>
          </a:p>
        </p:txBody>
      </p:sp>
      <p:sp>
        <p:nvSpPr>
          <p:cNvPr id="24" name="Shape 19"/>
          <p:cNvSpPr/>
          <p:nvPr/>
        </p:nvSpPr>
        <p:spPr>
          <a:xfrm>
            <a:off x="640080" y="3657600"/>
            <a:ext cx="3456432" cy="1773936"/>
          </a:xfrm>
          <a:prstGeom prst="roundRect">
            <a:avLst>
              <a:gd name="adj" fmla="val 51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25" name="Shape 20"/>
          <p:cNvSpPr/>
          <p:nvPr/>
        </p:nvSpPr>
        <p:spPr>
          <a:xfrm>
            <a:off x="914400" y="3913632"/>
            <a:ext cx="530352" cy="530352"/>
          </a:xfrm>
          <a:prstGeom prst="ellipse">
            <a:avLst/>
          </a:prstGeom>
          <a:solidFill>
            <a:srgbClr val="F05032"/>
          </a:solidFill>
          <a:ln w="12700">
            <a:solidFill>
              <a:srgbClr val="F05032"/>
            </a:solidFill>
            <a:prstDash val="solid"/>
          </a:ln>
        </p:spPr>
      </p:sp>
      <p:pic>
        <p:nvPicPr>
          <p:cNvPr id="26" name="Image 3" descr="preencoded.png">    </p:cNvPr>
          <p:cNvPicPr>
            <a:picLocks noChangeAspect="1"/>
          </p:cNvPicPr>
          <p:nvPr/>
        </p:nvPicPr>
        <p:blipFill>
          <a:blip r:embed="rId4"/>
          <a:stretch>
            <a:fillRect/>
          </a:stretch>
        </p:blipFill>
        <p:spPr>
          <a:xfrm>
            <a:off x="988649" y="3987881"/>
            <a:ext cx="381853" cy="381853"/>
          </a:xfrm>
          <a:prstGeom prst="rect">
            <a:avLst/>
          </a:prstGeom>
        </p:spPr>
      </p:pic>
      <p:sp>
        <p:nvSpPr>
          <p:cNvPr id="27" name="Text 21"/>
          <p:cNvSpPr txBox="1"/>
          <p:nvPr/>
        </p:nvSpPr>
        <p:spPr>
          <a:xfrm>
            <a:off x="3182112" y="3931920"/>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04</a:t>
            </a:r>
            <a:endParaRPr lang="en-US" sz="1800" dirty="0"/>
          </a:p>
        </p:txBody>
      </p:sp>
      <p:sp>
        <p:nvSpPr>
          <p:cNvPr id="28" name="Text 22"/>
          <p:cNvSpPr txBox="1"/>
          <p:nvPr/>
        </p:nvSpPr>
        <p:spPr>
          <a:xfrm>
            <a:off x="914400" y="4553712"/>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Commit &amp; Push</a:t>
            </a:r>
            <a:endParaRPr lang="en-US" sz="1600" dirty="0"/>
          </a:p>
        </p:txBody>
      </p:sp>
      <p:sp>
        <p:nvSpPr>
          <p:cNvPr id="29" name="Text 23"/>
          <p:cNvSpPr txBox="1"/>
          <p:nvPr/>
        </p:nvSpPr>
        <p:spPr>
          <a:xfrm>
            <a:off x="914400" y="4882896"/>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Simpan perubahan lalu kirim cabang tersebut ke fork Anda.</a:t>
            </a:r>
            <a:endParaRPr lang="en-US" sz="1200" dirty="0"/>
          </a:p>
        </p:txBody>
      </p:sp>
      <p:sp>
        <p:nvSpPr>
          <p:cNvPr id="30" name="Shape 24"/>
          <p:cNvSpPr/>
          <p:nvPr/>
        </p:nvSpPr>
        <p:spPr>
          <a:xfrm>
            <a:off x="4370832" y="3657600"/>
            <a:ext cx="3456432" cy="1773936"/>
          </a:xfrm>
          <a:prstGeom prst="roundRect">
            <a:avLst>
              <a:gd name="adj" fmla="val 51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31" name="Shape 25"/>
          <p:cNvSpPr/>
          <p:nvPr/>
        </p:nvSpPr>
        <p:spPr>
          <a:xfrm>
            <a:off x="4645152" y="3913632"/>
            <a:ext cx="530352" cy="530352"/>
          </a:xfrm>
          <a:prstGeom prst="ellipse">
            <a:avLst/>
          </a:prstGeom>
          <a:solidFill>
            <a:srgbClr val="F05032"/>
          </a:solidFill>
          <a:ln w="12700">
            <a:solidFill>
              <a:srgbClr val="F05032"/>
            </a:solidFill>
            <a:prstDash val="solid"/>
          </a:ln>
        </p:spPr>
      </p:sp>
      <p:pic>
        <p:nvPicPr>
          <p:cNvPr id="32" name="Image 4" descr="preencoded.png">    </p:cNvPr>
          <p:cNvPicPr>
            <a:picLocks noChangeAspect="1"/>
          </p:cNvPicPr>
          <p:nvPr/>
        </p:nvPicPr>
        <p:blipFill>
          <a:blip r:embed="rId5"/>
          <a:stretch>
            <a:fillRect/>
          </a:stretch>
        </p:blipFill>
        <p:spPr>
          <a:xfrm>
            <a:off x="4719401" y="3987881"/>
            <a:ext cx="381853" cy="381853"/>
          </a:xfrm>
          <a:prstGeom prst="rect">
            <a:avLst/>
          </a:prstGeom>
        </p:spPr>
      </p:pic>
      <p:sp>
        <p:nvSpPr>
          <p:cNvPr id="33" name="Text 26"/>
          <p:cNvSpPr txBox="1"/>
          <p:nvPr/>
        </p:nvSpPr>
        <p:spPr>
          <a:xfrm>
            <a:off x="6912864" y="3931920"/>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05</a:t>
            </a:r>
            <a:endParaRPr lang="en-US" sz="1800" dirty="0"/>
          </a:p>
        </p:txBody>
      </p:sp>
      <p:sp>
        <p:nvSpPr>
          <p:cNvPr id="34" name="Text 27"/>
          <p:cNvSpPr txBox="1"/>
          <p:nvPr/>
        </p:nvSpPr>
        <p:spPr>
          <a:xfrm>
            <a:off x="4645152" y="4553712"/>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Pull Request</a:t>
            </a:r>
            <a:endParaRPr lang="en-US" sz="1600" dirty="0"/>
          </a:p>
        </p:txBody>
      </p:sp>
      <p:sp>
        <p:nvSpPr>
          <p:cNvPr id="35" name="Text 28"/>
          <p:cNvSpPr txBox="1"/>
          <p:nvPr/>
        </p:nvSpPr>
        <p:spPr>
          <a:xfrm>
            <a:off x="4645152" y="4882896"/>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Ajukan permintaan penggabungan ke repositori asal.</a:t>
            </a:r>
            <a:endParaRPr lang="en-US" sz="1200" dirty="0"/>
          </a:p>
        </p:txBody>
      </p:sp>
      <p:sp>
        <p:nvSpPr>
          <p:cNvPr id="36" name="Shape 29"/>
          <p:cNvSpPr/>
          <p:nvPr/>
        </p:nvSpPr>
        <p:spPr>
          <a:xfrm>
            <a:off x="8101584" y="3657600"/>
            <a:ext cx="3456432" cy="1773936"/>
          </a:xfrm>
          <a:prstGeom prst="roundRect">
            <a:avLst>
              <a:gd name="adj" fmla="val 515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37" name="Shape 30"/>
          <p:cNvSpPr/>
          <p:nvPr/>
        </p:nvSpPr>
        <p:spPr>
          <a:xfrm>
            <a:off x="8375904" y="3913632"/>
            <a:ext cx="530352" cy="530352"/>
          </a:xfrm>
          <a:prstGeom prst="ellipse">
            <a:avLst/>
          </a:prstGeom>
          <a:solidFill>
            <a:srgbClr val="2E7D5B"/>
          </a:solidFill>
          <a:ln w="12700">
            <a:solidFill>
              <a:srgbClr val="2E7D5B"/>
            </a:solidFill>
            <a:prstDash val="solid"/>
          </a:ln>
        </p:spPr>
      </p:sp>
      <p:pic>
        <p:nvPicPr>
          <p:cNvPr id="38" name="Image 5" descr="preencoded.png">    </p:cNvPr>
          <p:cNvPicPr>
            <a:picLocks noChangeAspect="1"/>
          </p:cNvPicPr>
          <p:nvPr/>
        </p:nvPicPr>
        <p:blipFill>
          <a:blip r:embed="rId6"/>
          <a:stretch>
            <a:fillRect/>
          </a:stretch>
        </p:blipFill>
        <p:spPr>
          <a:xfrm>
            <a:off x="8450153" y="3987881"/>
            <a:ext cx="381853" cy="381853"/>
          </a:xfrm>
          <a:prstGeom prst="rect">
            <a:avLst/>
          </a:prstGeom>
        </p:spPr>
      </p:pic>
      <p:sp>
        <p:nvSpPr>
          <p:cNvPr id="39" name="Text 31"/>
          <p:cNvSpPr txBox="1"/>
          <p:nvPr/>
        </p:nvSpPr>
        <p:spPr>
          <a:xfrm>
            <a:off x="10643616" y="3931920"/>
            <a:ext cx="640080" cy="310896"/>
          </a:xfrm>
          <a:prstGeom prst="rect">
            <a:avLst/>
          </a:prstGeom>
          <a:noFill/>
          <a:ln/>
        </p:spPr>
        <p:txBody>
          <a:bodyPr wrap="square" lIns="0" tIns="0" rIns="0" bIns="0" rtlCol="0" anchor="ctr"/>
          <a:lstStyle/>
          <a:p>
            <a:pPr algn="r" indent="0" marL="0">
              <a:buNone/>
            </a:pPr>
            <a:r>
              <a:rPr lang="en-US" sz="1800" b="1" dirty="0">
                <a:solidFill>
                  <a:srgbClr val="D2CCC8"/>
                </a:solidFill>
                <a:latin typeface="Arial" pitchFamily="34" charset="0"/>
                <a:ea typeface="Arial" pitchFamily="34" charset="-122"/>
                <a:cs typeface="Arial" pitchFamily="34" charset="-120"/>
              </a:rPr>
              <a:t>06</a:t>
            </a:r>
            <a:endParaRPr lang="en-US" sz="1800" dirty="0"/>
          </a:p>
        </p:txBody>
      </p:sp>
      <p:sp>
        <p:nvSpPr>
          <p:cNvPr id="40" name="Text 32"/>
          <p:cNvSpPr txBox="1"/>
          <p:nvPr/>
        </p:nvSpPr>
        <p:spPr>
          <a:xfrm>
            <a:off x="8375904" y="4553712"/>
            <a:ext cx="2907792" cy="310896"/>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Review &amp; Merge</a:t>
            </a:r>
            <a:endParaRPr lang="en-US" sz="1600" dirty="0"/>
          </a:p>
        </p:txBody>
      </p:sp>
      <p:sp>
        <p:nvSpPr>
          <p:cNvPr id="41" name="Text 33"/>
          <p:cNvSpPr txBox="1"/>
          <p:nvPr/>
        </p:nvSpPr>
        <p:spPr>
          <a:xfrm>
            <a:off x="8375904" y="4882896"/>
            <a:ext cx="2907792" cy="530352"/>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Pemelihara meninjau, memberi masukan, lalu menggabungkan.</a:t>
            </a:r>
            <a:endParaRPr lang="en-US" sz="1200" dirty="0"/>
          </a:p>
        </p:txBody>
      </p:sp>
      <p:sp>
        <p:nvSpPr>
          <p:cNvPr id="42" name="Shape 34"/>
          <p:cNvSpPr/>
          <p:nvPr/>
        </p:nvSpPr>
        <p:spPr>
          <a:xfrm>
            <a:off x="640080" y="5541264"/>
            <a:ext cx="10908792" cy="603504"/>
          </a:xfrm>
          <a:prstGeom prst="roundRect">
            <a:avLst>
              <a:gd name="adj" fmla="val 15152"/>
            </a:avLst>
          </a:prstGeom>
          <a:solidFill>
            <a:srgbClr val="FBEAE5"/>
          </a:solidFill>
          <a:ln w="12700">
            <a:solidFill>
              <a:srgbClr val="F2C7B9"/>
            </a:solidFill>
            <a:prstDash val="solid"/>
          </a:ln>
        </p:spPr>
      </p:sp>
      <p:sp>
        <p:nvSpPr>
          <p:cNvPr id="43" name="Text 35"/>
          <p:cNvSpPr txBox="1"/>
          <p:nvPr/>
        </p:nvSpPr>
        <p:spPr>
          <a:xfrm>
            <a:off x="914400" y="5541264"/>
            <a:ext cx="10332720" cy="603504"/>
          </a:xfrm>
          <a:prstGeom prst="rect">
            <a:avLst/>
          </a:prstGeom>
          <a:noFill/>
          <a:ln/>
        </p:spPr>
        <p:txBody>
          <a:bodyPr wrap="square" lIns="0" tIns="0" rIns="0" bIns="0" rtlCol="0" anchor="ctr"/>
          <a:lstStyle/>
          <a:p>
            <a:pPr indent="0" marL="0">
              <a:buNone/>
            </a:pPr>
            <a:r>
              <a:rPr lang="en-US" sz="1250" b="1" dirty="0">
                <a:solidFill>
                  <a:srgbClr val="C63C22"/>
                </a:solidFill>
                <a:latin typeface="Calibri" pitchFamily="34" charset="0"/>
                <a:ea typeface="Calibri" pitchFamily="34" charset="-122"/>
                <a:cs typeface="Calibri" pitchFamily="34" charset="-120"/>
              </a:rPr>
              <a:t>Istilah: </a:t>
            </a:r>
            <a:pPr indent="0" marL="0">
              <a:buNone/>
            </a:pPr>
            <a:r>
              <a:rPr lang="en-US" sz="1250" dirty="0">
                <a:solidFill>
                  <a:srgbClr val="4A4A55"/>
                </a:solidFill>
                <a:latin typeface="Calibri" pitchFamily="34" charset="0"/>
                <a:ea typeface="Calibri" pitchFamily="34" charset="-122"/>
                <a:cs typeface="Calibri" pitchFamily="34" charset="-120"/>
              </a:rPr>
              <a:t>GitHub dan Bitbucket menyebutnya Pull Request (PR), sedangkan GitLab menyebutnya Merge Request (MR) — konsep dan tujuannya sama persis.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04 · STRATEGI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Model Workflow untuk Tim</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640080" y="1600200"/>
            <a:ext cx="3456432" cy="3840480"/>
          </a:xfrm>
          <a:prstGeom prst="roundRect">
            <a:avLst>
              <a:gd name="adj" fmla="val 26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50976" y="1892808"/>
            <a:ext cx="566928" cy="566928"/>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030346" y="1972178"/>
            <a:ext cx="408188" cy="408188"/>
          </a:xfrm>
          <a:prstGeom prst="rect">
            <a:avLst/>
          </a:prstGeom>
        </p:spPr>
      </p:pic>
      <p:sp>
        <p:nvSpPr>
          <p:cNvPr id="9" name="Text 6"/>
          <p:cNvSpPr txBox="1"/>
          <p:nvPr/>
        </p:nvSpPr>
        <p:spPr>
          <a:xfrm>
            <a:off x="950976" y="2587752"/>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Git Flow</a:t>
            </a:r>
            <a:endParaRPr lang="en-US" sz="1800" dirty="0"/>
          </a:p>
        </p:txBody>
      </p:sp>
      <p:sp>
        <p:nvSpPr>
          <p:cNvPr id="10" name="Shape 7"/>
          <p:cNvSpPr/>
          <p:nvPr/>
        </p:nvSpPr>
        <p:spPr>
          <a:xfrm>
            <a:off x="950976" y="2990088"/>
            <a:ext cx="2834640" cy="713232"/>
          </a:xfrm>
          <a:prstGeom prst="roundRect">
            <a:avLst>
              <a:gd name="adj" fmla="val 10256"/>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1" name="Text 8"/>
          <p:cNvSpPr txBox="1"/>
          <p:nvPr/>
        </p:nvSpPr>
        <p:spPr>
          <a:xfrm>
            <a:off x="1207008" y="3172968"/>
            <a:ext cx="2377440" cy="347472"/>
          </a:xfrm>
          <a:prstGeom prst="rect">
            <a:avLst/>
          </a:prstGeom>
          <a:noFill/>
          <a:ln/>
        </p:spPr>
        <p:txBody>
          <a:bodyPr wrap="square" lIns="0" tIns="0" rIns="0" bIns="0" rtlCol="0" anchor="t"/>
          <a:lstStyle/>
          <a:p>
            <a:pPr indent="0" marL="0">
              <a:lnSpc>
                <a:spcPts val="1500"/>
              </a:lnSpc>
              <a:buNone/>
            </a:pPr>
            <a:r>
              <a:rPr lang="en-US" sz="1050" dirty="0">
                <a:solidFill>
                  <a:srgbClr val="E9E7E4"/>
                </a:solidFill>
                <a:latin typeface="Courier New" pitchFamily="34" charset="0"/>
                <a:ea typeface="Courier New" pitchFamily="34" charset="-122"/>
                <a:cs typeface="Courier New" pitchFamily="34" charset="-120"/>
              </a:rPr>
              <a:t>main · develop · feature/* · release/* · hotfix/*</a:t>
            </a:r>
            <a:endParaRPr lang="en-US" sz="1050" dirty="0"/>
          </a:p>
        </p:txBody>
      </p:sp>
      <p:sp>
        <p:nvSpPr>
          <p:cNvPr id="12" name="Text 9"/>
          <p:cNvSpPr txBox="1"/>
          <p:nvPr/>
        </p:nvSpPr>
        <p:spPr>
          <a:xfrm>
            <a:off x="950976" y="3813048"/>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Struktur paling lengkap dan formal, dengan cabang khusus untuk rilis dan perbaikan darurat.</a:t>
            </a:r>
            <a:endParaRPr lang="en-US" sz="1250" dirty="0"/>
          </a:p>
        </p:txBody>
      </p:sp>
      <p:sp>
        <p:nvSpPr>
          <p:cNvPr id="13" name="Text 10"/>
          <p:cNvSpPr txBox="1"/>
          <p:nvPr/>
        </p:nvSpPr>
        <p:spPr>
          <a:xfrm>
            <a:off x="950976" y="4800600"/>
            <a:ext cx="2834640" cy="50292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produk dengan versi rilis terjadwal.</a:t>
            </a:r>
            <a:endParaRPr lang="en-US" sz="1150" dirty="0"/>
          </a:p>
        </p:txBody>
      </p:sp>
      <p:sp>
        <p:nvSpPr>
          <p:cNvPr id="14" name="Shape 11"/>
          <p:cNvSpPr/>
          <p:nvPr/>
        </p:nvSpPr>
        <p:spPr>
          <a:xfrm>
            <a:off x="4370832" y="1600200"/>
            <a:ext cx="3456432" cy="3840480"/>
          </a:xfrm>
          <a:prstGeom prst="roundRect">
            <a:avLst>
              <a:gd name="adj" fmla="val 26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5" name="Shape 12"/>
          <p:cNvSpPr/>
          <p:nvPr/>
        </p:nvSpPr>
        <p:spPr>
          <a:xfrm>
            <a:off x="4681728" y="1892808"/>
            <a:ext cx="566928" cy="566928"/>
          </a:xfrm>
          <a:prstGeom prst="ellipse">
            <a:avLst/>
          </a:prstGeom>
          <a:solidFill>
            <a:srgbClr val="17171C"/>
          </a:solidFill>
          <a:ln w="12700">
            <a:solidFill>
              <a:srgbClr val="17171C"/>
            </a:solidFill>
            <a:prstDash val="solid"/>
          </a:ln>
        </p:spPr>
      </p:sp>
      <p:pic>
        <p:nvPicPr>
          <p:cNvPr id="16" name="Image 1" descr="preencoded.png">    </p:cNvPr>
          <p:cNvPicPr>
            <a:picLocks noChangeAspect="1"/>
          </p:cNvPicPr>
          <p:nvPr/>
        </p:nvPicPr>
        <p:blipFill>
          <a:blip r:embed="rId2"/>
          <a:stretch>
            <a:fillRect/>
          </a:stretch>
        </p:blipFill>
        <p:spPr>
          <a:xfrm>
            <a:off x="4761098" y="1972178"/>
            <a:ext cx="408188" cy="408188"/>
          </a:xfrm>
          <a:prstGeom prst="rect">
            <a:avLst/>
          </a:prstGeom>
        </p:spPr>
      </p:pic>
      <p:sp>
        <p:nvSpPr>
          <p:cNvPr id="17" name="Text 13"/>
          <p:cNvSpPr txBox="1"/>
          <p:nvPr/>
        </p:nvSpPr>
        <p:spPr>
          <a:xfrm>
            <a:off x="4681728" y="2587752"/>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GitHub Flow</a:t>
            </a:r>
            <a:endParaRPr lang="en-US" sz="1800" dirty="0"/>
          </a:p>
        </p:txBody>
      </p:sp>
      <p:sp>
        <p:nvSpPr>
          <p:cNvPr id="18" name="Shape 14"/>
          <p:cNvSpPr/>
          <p:nvPr/>
        </p:nvSpPr>
        <p:spPr>
          <a:xfrm>
            <a:off x="4681728" y="2990088"/>
            <a:ext cx="2834640" cy="713232"/>
          </a:xfrm>
          <a:prstGeom prst="roundRect">
            <a:avLst>
              <a:gd name="adj" fmla="val 10256"/>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9" name="Text 15"/>
          <p:cNvSpPr txBox="1"/>
          <p:nvPr/>
        </p:nvSpPr>
        <p:spPr>
          <a:xfrm>
            <a:off x="4937760" y="3172968"/>
            <a:ext cx="2377440" cy="347472"/>
          </a:xfrm>
          <a:prstGeom prst="rect">
            <a:avLst/>
          </a:prstGeom>
          <a:noFill/>
          <a:ln/>
        </p:spPr>
        <p:txBody>
          <a:bodyPr wrap="square" lIns="0" tIns="0" rIns="0" bIns="0" rtlCol="0" anchor="t"/>
          <a:lstStyle/>
          <a:p>
            <a:pPr indent="0" marL="0">
              <a:lnSpc>
                <a:spcPts val="1500"/>
              </a:lnSpc>
              <a:buNone/>
            </a:pPr>
            <a:r>
              <a:rPr lang="en-US" sz="1050" dirty="0">
                <a:solidFill>
                  <a:srgbClr val="E9E7E4"/>
                </a:solidFill>
                <a:latin typeface="Courier New" pitchFamily="34" charset="0"/>
                <a:ea typeface="Courier New" pitchFamily="34" charset="-122"/>
                <a:cs typeface="Courier New" pitchFamily="34" charset="-120"/>
              </a:rPr>
              <a:t>main · feature/*</a:t>
            </a:r>
            <a:endParaRPr lang="en-US" sz="1050" dirty="0"/>
          </a:p>
        </p:txBody>
      </p:sp>
      <p:sp>
        <p:nvSpPr>
          <p:cNvPr id="20" name="Text 16"/>
          <p:cNvSpPr txBox="1"/>
          <p:nvPr/>
        </p:nvSpPr>
        <p:spPr>
          <a:xfrm>
            <a:off x="4681728" y="3813048"/>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Hanya satu cabang utama; setiap fitur dibuat cabang, di-review lewat PR, lalu langsung dirilis.</a:t>
            </a:r>
            <a:endParaRPr lang="en-US" sz="1250" dirty="0"/>
          </a:p>
        </p:txBody>
      </p:sp>
      <p:sp>
        <p:nvSpPr>
          <p:cNvPr id="21" name="Text 17"/>
          <p:cNvSpPr txBox="1"/>
          <p:nvPr/>
        </p:nvSpPr>
        <p:spPr>
          <a:xfrm>
            <a:off x="4681728" y="4800600"/>
            <a:ext cx="2834640" cy="50292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aplikasi web dengan deploy berkelanjutan.</a:t>
            </a:r>
            <a:endParaRPr lang="en-US" sz="1150" dirty="0"/>
          </a:p>
        </p:txBody>
      </p:sp>
      <p:sp>
        <p:nvSpPr>
          <p:cNvPr id="22" name="Shape 18"/>
          <p:cNvSpPr/>
          <p:nvPr/>
        </p:nvSpPr>
        <p:spPr>
          <a:xfrm>
            <a:off x="8101584" y="1600200"/>
            <a:ext cx="3456432" cy="3840480"/>
          </a:xfrm>
          <a:prstGeom prst="roundRect">
            <a:avLst>
              <a:gd name="adj" fmla="val 26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3" name="Shape 19"/>
          <p:cNvSpPr/>
          <p:nvPr/>
        </p:nvSpPr>
        <p:spPr>
          <a:xfrm>
            <a:off x="8412480" y="1892808"/>
            <a:ext cx="566928" cy="566928"/>
          </a:xfrm>
          <a:prstGeom prst="ellipse">
            <a:avLst/>
          </a:prstGeom>
          <a:solidFill>
            <a:srgbClr val="17171C"/>
          </a:solidFill>
          <a:ln w="12700">
            <a:solidFill>
              <a:srgbClr val="17171C"/>
            </a:solidFill>
            <a:prstDash val="solid"/>
          </a:ln>
        </p:spPr>
      </p:sp>
      <p:pic>
        <p:nvPicPr>
          <p:cNvPr id="24" name="Image 2" descr="preencoded.png">    </p:cNvPr>
          <p:cNvPicPr>
            <a:picLocks noChangeAspect="1"/>
          </p:cNvPicPr>
          <p:nvPr/>
        </p:nvPicPr>
        <p:blipFill>
          <a:blip r:embed="rId3"/>
          <a:stretch>
            <a:fillRect/>
          </a:stretch>
        </p:blipFill>
        <p:spPr>
          <a:xfrm>
            <a:off x="8491850" y="1972178"/>
            <a:ext cx="408188" cy="408188"/>
          </a:xfrm>
          <a:prstGeom prst="rect">
            <a:avLst/>
          </a:prstGeom>
        </p:spPr>
      </p:pic>
      <p:sp>
        <p:nvSpPr>
          <p:cNvPr id="25" name="Text 20"/>
          <p:cNvSpPr txBox="1"/>
          <p:nvPr/>
        </p:nvSpPr>
        <p:spPr>
          <a:xfrm>
            <a:off x="8412480" y="2587752"/>
            <a:ext cx="2834640" cy="329184"/>
          </a:xfrm>
          <a:prstGeom prst="rect">
            <a:avLst/>
          </a:prstGeom>
          <a:noFill/>
          <a:ln/>
        </p:spPr>
        <p:txBody>
          <a:bodyPr wrap="square" lIns="0" tIns="0" rIns="0" bIns="0" rtlCol="0" anchor="ctr"/>
          <a:lstStyle/>
          <a:p>
            <a:pPr indent="0" marL="0">
              <a:buNone/>
            </a:pPr>
            <a:r>
              <a:rPr lang="en-US" sz="1800" b="1" dirty="0">
                <a:solidFill>
                  <a:srgbClr val="17171C"/>
                </a:solidFill>
                <a:latin typeface="Arial" pitchFamily="34" charset="0"/>
                <a:ea typeface="Arial" pitchFamily="34" charset="-122"/>
                <a:cs typeface="Arial" pitchFamily="34" charset="-120"/>
              </a:rPr>
              <a:t>Trunk Based</a:t>
            </a:r>
            <a:endParaRPr lang="en-US" sz="1800" dirty="0"/>
          </a:p>
        </p:txBody>
      </p:sp>
      <p:sp>
        <p:nvSpPr>
          <p:cNvPr id="26" name="Shape 21"/>
          <p:cNvSpPr/>
          <p:nvPr/>
        </p:nvSpPr>
        <p:spPr>
          <a:xfrm>
            <a:off x="8412480" y="2990088"/>
            <a:ext cx="2834640" cy="713232"/>
          </a:xfrm>
          <a:prstGeom prst="roundRect">
            <a:avLst>
              <a:gd name="adj" fmla="val 10256"/>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7" name="Text 22"/>
          <p:cNvSpPr txBox="1"/>
          <p:nvPr/>
        </p:nvSpPr>
        <p:spPr>
          <a:xfrm>
            <a:off x="8668512" y="3172968"/>
            <a:ext cx="2377440" cy="347472"/>
          </a:xfrm>
          <a:prstGeom prst="rect">
            <a:avLst/>
          </a:prstGeom>
          <a:noFill/>
          <a:ln/>
        </p:spPr>
        <p:txBody>
          <a:bodyPr wrap="square" lIns="0" tIns="0" rIns="0" bIns="0" rtlCol="0" anchor="t"/>
          <a:lstStyle/>
          <a:p>
            <a:pPr indent="0" marL="0">
              <a:lnSpc>
                <a:spcPts val="1500"/>
              </a:lnSpc>
              <a:buNone/>
            </a:pPr>
            <a:r>
              <a:rPr lang="en-US" sz="1050" dirty="0">
                <a:solidFill>
                  <a:srgbClr val="E9E7E4"/>
                </a:solidFill>
                <a:latin typeface="Courier New" pitchFamily="34" charset="0"/>
                <a:ea typeface="Courier New" pitchFamily="34" charset="-122"/>
                <a:cs typeface="Courier New" pitchFamily="34" charset="-120"/>
              </a:rPr>
              <a:t>main (+ cabang berumur sangat pendek)</a:t>
            </a:r>
            <a:endParaRPr lang="en-US" sz="1050" dirty="0"/>
          </a:p>
        </p:txBody>
      </p:sp>
      <p:sp>
        <p:nvSpPr>
          <p:cNvPr id="28" name="Text 23"/>
          <p:cNvSpPr txBox="1"/>
          <p:nvPr/>
        </p:nvSpPr>
        <p:spPr>
          <a:xfrm>
            <a:off x="8412480" y="3813048"/>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6E6E78"/>
                </a:solidFill>
                <a:latin typeface="Calibri" pitchFamily="34" charset="0"/>
                <a:ea typeface="Calibri" pitchFamily="34" charset="-122"/>
                <a:cs typeface="Calibri" pitchFamily="34" charset="-120"/>
              </a:rPr>
              <a:t>Semua orang mengintegrasikan ke satu cabang utama minimal sekali sehari, dijaga oleh pengujian otomatis.</a:t>
            </a:r>
            <a:endParaRPr lang="en-US" sz="1250" dirty="0"/>
          </a:p>
        </p:txBody>
      </p:sp>
      <p:sp>
        <p:nvSpPr>
          <p:cNvPr id="29" name="Text 24"/>
          <p:cNvSpPr txBox="1"/>
          <p:nvPr/>
        </p:nvSpPr>
        <p:spPr>
          <a:xfrm>
            <a:off x="8412480" y="4800600"/>
            <a:ext cx="2834640" cy="502920"/>
          </a:xfrm>
          <a:prstGeom prst="rect">
            <a:avLst/>
          </a:prstGeom>
          <a:noFill/>
          <a:ln/>
        </p:spPr>
        <p:txBody>
          <a:bodyPr wrap="square" lIns="0" tIns="0" rIns="0" bIns="0" rtlCol="0" anchor="ctr"/>
          <a:lstStyle/>
          <a:p>
            <a:pPr indent="0" marL="0">
              <a:lnSpc>
                <a:spcPts val="1500"/>
              </a:lnSpc>
              <a:buNone/>
            </a:pPr>
            <a:r>
              <a:rPr lang="en-US" sz="1150" i="1" dirty="0">
                <a:solidFill>
                  <a:srgbClr val="C63C22"/>
                </a:solidFill>
                <a:latin typeface="Calibri" pitchFamily="34" charset="0"/>
                <a:ea typeface="Calibri" pitchFamily="34" charset="-122"/>
                <a:cs typeface="Calibri" pitchFamily="34" charset="-120"/>
              </a:rPr>
              <a:t>Cocok untuk tim matang dengan CI/CD kuat.</a:t>
            </a:r>
            <a:endParaRPr lang="en-US" sz="1150" dirty="0"/>
          </a:p>
        </p:txBody>
      </p:sp>
      <p:sp>
        <p:nvSpPr>
          <p:cNvPr id="30" name="Text 25"/>
          <p:cNvSpPr txBox="1"/>
          <p:nvPr/>
        </p:nvSpPr>
        <p:spPr>
          <a:xfrm>
            <a:off x="640080" y="5623560"/>
            <a:ext cx="10908792" cy="457200"/>
          </a:xfrm>
          <a:prstGeom prst="rect">
            <a:avLst/>
          </a:prstGeom>
          <a:noFill/>
          <a:ln/>
        </p:spPr>
        <p:txBody>
          <a:bodyPr wrap="square" lIns="0" tIns="0" rIns="0" bIns="0" rtlCol="0" anchor="ctr"/>
          <a:lstStyle/>
          <a:p>
            <a:pPr algn="ctr" indent="0" marL="0">
              <a:buNone/>
            </a:pPr>
            <a:r>
              <a:rPr lang="en-US" sz="1300" i="1" dirty="0">
                <a:solidFill>
                  <a:srgbClr val="6E6E78"/>
                </a:solidFill>
                <a:latin typeface="Calibri" pitchFamily="34" charset="0"/>
                <a:ea typeface="Calibri" pitchFamily="34" charset="-122"/>
                <a:cs typeface="Calibri" pitchFamily="34" charset="-120"/>
              </a:rPr>
              <a:t>Tidak ada model yang paling benar. Pilih yang paling sesuai dengan ukuran tim, frekuensi rilis, dan kematangan proses pengujian otomatis Anda.</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8778240" y="1417320"/>
            <a:ext cx="4023360" cy="4023360"/>
          </a:xfrm>
          <a:prstGeom prst="ellipse">
            <a:avLst/>
          </a:prstGeom>
          <a:solidFill>
            <a:srgbClr val="F05032">
              <a:alpha val="14000"/>
            </a:srgbClr>
          </a:solidFill>
          <a:ln w="12700">
            <a:solidFill>
              <a:srgbClr val="F05032"/>
            </a:solidFill>
            <a:prstDash val="solid"/>
          </a:ln>
        </p:spPr>
      </p:sp>
      <p:sp>
        <p:nvSpPr>
          <p:cNvPr id="3" name="Shape 1"/>
          <p:cNvSpPr/>
          <p:nvPr/>
        </p:nvSpPr>
        <p:spPr>
          <a:xfrm>
            <a:off x="9601200" y="2240280"/>
            <a:ext cx="2377440" cy="2377440"/>
          </a:xfrm>
          <a:prstGeom prst="ellipse">
            <a:avLst/>
          </a:prstGeom>
          <a:solidFill>
            <a:srgbClr val="F05032"/>
          </a:solidFill>
          <a:ln w="12700">
            <a:solidFill>
              <a:srgbClr val="F05032"/>
            </a:solidFill>
            <a:prstDash val="solid"/>
          </a:ln>
        </p:spPr>
      </p:sp>
      <p:pic>
        <p:nvPicPr>
          <p:cNvPr id="4" name="Image 0" descr="preencoded.png">    </p:cNvPr>
          <p:cNvPicPr>
            <a:picLocks noChangeAspect="1"/>
          </p:cNvPicPr>
          <p:nvPr/>
        </p:nvPicPr>
        <p:blipFill>
          <a:blip r:embed="rId1"/>
          <a:stretch>
            <a:fillRect/>
          </a:stretch>
        </p:blipFill>
        <p:spPr>
          <a:xfrm>
            <a:off x="9934042" y="2573122"/>
            <a:ext cx="1711757" cy="1711757"/>
          </a:xfrm>
          <a:prstGeom prst="rect">
            <a:avLst/>
          </a:prstGeom>
        </p:spPr>
      </p:pic>
      <p:sp>
        <p:nvSpPr>
          <p:cNvPr id="5" name="Text 2"/>
          <p:cNvSpPr txBox="1"/>
          <p:nvPr/>
        </p:nvSpPr>
        <p:spPr>
          <a:xfrm>
            <a:off x="640080" y="2148840"/>
            <a:ext cx="5486400" cy="292608"/>
          </a:xfrm>
          <a:prstGeom prst="rect">
            <a:avLst/>
          </a:prstGeom>
          <a:noFill/>
          <a:ln/>
        </p:spPr>
        <p:txBody>
          <a:bodyPr wrap="square" lIns="0" tIns="0" rIns="0" bIns="0" rtlCol="0" anchor="ctr"/>
          <a:lstStyle/>
          <a:p>
            <a:pPr indent="0" marL="0">
              <a:buNone/>
            </a:pPr>
            <a:r>
              <a:rPr lang="en-US" sz="1250" b="1" spc="260" kern="0" dirty="0">
                <a:solidFill>
                  <a:srgbClr val="F05032"/>
                </a:solidFill>
                <a:latin typeface="Calibri" pitchFamily="34" charset="0"/>
                <a:ea typeface="Calibri" pitchFamily="34" charset="-122"/>
                <a:cs typeface="Calibri" pitchFamily="34" charset="-120"/>
              </a:rPr>
              <a:t>BAGIAN 05</a:t>
            </a:r>
            <a:endParaRPr lang="en-US" sz="1250" dirty="0"/>
          </a:p>
        </p:txBody>
      </p:sp>
      <p:sp>
        <p:nvSpPr>
          <p:cNvPr id="6" name="Text 3"/>
          <p:cNvSpPr txBox="1"/>
          <p:nvPr/>
        </p:nvSpPr>
        <p:spPr>
          <a:xfrm>
            <a:off x="640080" y="2514600"/>
            <a:ext cx="749808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Lanjutan &amp; Praktik Terbaik</a:t>
            </a:r>
            <a:endParaRPr lang="en-US" sz="4200" dirty="0"/>
          </a:p>
        </p:txBody>
      </p:sp>
      <p:sp>
        <p:nvSpPr>
          <p:cNvPr id="7" name="Text 4"/>
          <p:cNvSpPr txBox="1"/>
          <p:nvPr/>
        </p:nvSpPr>
        <p:spPr>
          <a:xfrm>
            <a:off x="640080" y="3474720"/>
            <a:ext cx="6949440" cy="822960"/>
          </a:xfrm>
          <a:prstGeom prst="rect">
            <a:avLst/>
          </a:prstGeom>
          <a:noFill/>
          <a:ln/>
        </p:spPr>
        <p:txBody>
          <a:bodyPr wrap="square" lIns="0" tIns="0" rIns="0" bIns="0" rtlCol="0" anchor="ctr"/>
          <a:lstStyle/>
          <a:p>
            <a:pPr indent="0" marL="0">
              <a:lnSpc>
                <a:spcPts val="2400"/>
              </a:lnSpc>
              <a:buNone/>
            </a:pPr>
            <a:r>
              <a:rPr lang="en-US" sz="1500" dirty="0">
                <a:solidFill>
                  <a:srgbClr val="A6A6B2"/>
                </a:solidFill>
                <a:latin typeface="Calibri" pitchFamily="34" charset="0"/>
                <a:ea typeface="Calibri" pitchFamily="34" charset="-122"/>
                <a:cs typeface="Calibri" pitchFamily="34" charset="-120"/>
              </a:rPr>
              <a:t>Perintah tingkat lanjut, pengaturan .gitignore, konvensi commit, dan kebiasaan yang menjaga repositori tetap sehat.</a:t>
            </a:r>
            <a:endParaRPr lang="en-US" sz="1500" dirty="0"/>
          </a:p>
        </p:txBody>
      </p:sp>
      <p:sp>
        <p:nvSpPr>
          <p:cNvPr id="8" name="Text 5"/>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9" name="Text 6"/>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05 · LANJUTAN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Perintah Tingkat Lanjut yang Sering Menolong</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640080" y="1600200"/>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14400" y="1837944"/>
            <a:ext cx="493776" cy="493776"/>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983529" y="1907073"/>
            <a:ext cx="355519" cy="355519"/>
          </a:xfrm>
          <a:prstGeom prst="rect">
            <a:avLst/>
          </a:prstGeom>
        </p:spPr>
      </p:pic>
      <p:sp>
        <p:nvSpPr>
          <p:cNvPr id="9" name="Text 6"/>
          <p:cNvSpPr txBox="1"/>
          <p:nvPr/>
        </p:nvSpPr>
        <p:spPr>
          <a:xfrm>
            <a:off x="1517904" y="1856232"/>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stash</a:t>
            </a:r>
            <a:endParaRPr lang="en-US" sz="1400" dirty="0"/>
          </a:p>
        </p:txBody>
      </p:sp>
      <p:sp>
        <p:nvSpPr>
          <p:cNvPr id="10" name="Text 7"/>
          <p:cNvSpPr txBox="1"/>
          <p:nvPr/>
        </p:nvSpPr>
        <p:spPr>
          <a:xfrm>
            <a:off x="914400" y="2404872"/>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Menyimpan sementara perubahan yang belum siap di-commit, lalu memulihkannya kembali nanti.</a:t>
            </a:r>
            <a:endParaRPr lang="en-US" sz="1200" dirty="0"/>
          </a:p>
        </p:txBody>
      </p:sp>
      <p:sp>
        <p:nvSpPr>
          <p:cNvPr id="11" name="Shape 8"/>
          <p:cNvSpPr/>
          <p:nvPr/>
        </p:nvSpPr>
        <p:spPr>
          <a:xfrm>
            <a:off x="914400" y="2990088"/>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2" name="Text 9"/>
          <p:cNvSpPr txBox="1"/>
          <p:nvPr/>
        </p:nvSpPr>
        <p:spPr>
          <a:xfrm>
            <a:off x="1170432" y="3172968"/>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stash</a:t>
            </a:r>
            <a:endParaRPr lang="en-US" sz="1000" dirty="0"/>
          </a:p>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stash pop</a:t>
            </a:r>
            <a:endParaRPr lang="en-US" sz="1000" dirty="0"/>
          </a:p>
        </p:txBody>
      </p:sp>
      <p:sp>
        <p:nvSpPr>
          <p:cNvPr id="13" name="Shape 10"/>
          <p:cNvSpPr/>
          <p:nvPr/>
        </p:nvSpPr>
        <p:spPr>
          <a:xfrm>
            <a:off x="4370832" y="1600200"/>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14" name="Shape 11"/>
          <p:cNvSpPr/>
          <p:nvPr/>
        </p:nvSpPr>
        <p:spPr>
          <a:xfrm>
            <a:off x="4645152" y="1837944"/>
            <a:ext cx="493776" cy="493776"/>
          </a:xfrm>
          <a:prstGeom prst="ellipse">
            <a:avLst/>
          </a:prstGeom>
          <a:solidFill>
            <a:srgbClr val="F05032"/>
          </a:solidFill>
          <a:ln w="12700">
            <a:solidFill>
              <a:srgbClr val="F05032"/>
            </a:solidFill>
            <a:prstDash val="solid"/>
          </a:ln>
        </p:spPr>
      </p:sp>
      <p:pic>
        <p:nvPicPr>
          <p:cNvPr id="15" name="Image 1" descr="preencoded.png">    </p:cNvPr>
          <p:cNvPicPr>
            <a:picLocks noChangeAspect="1"/>
          </p:cNvPicPr>
          <p:nvPr/>
        </p:nvPicPr>
        <p:blipFill>
          <a:blip r:embed="rId2"/>
          <a:stretch>
            <a:fillRect/>
          </a:stretch>
        </p:blipFill>
        <p:spPr>
          <a:xfrm>
            <a:off x="4714281" y="1907073"/>
            <a:ext cx="355519" cy="355519"/>
          </a:xfrm>
          <a:prstGeom prst="rect">
            <a:avLst/>
          </a:prstGeom>
        </p:spPr>
      </p:pic>
      <p:sp>
        <p:nvSpPr>
          <p:cNvPr id="16" name="Text 12"/>
          <p:cNvSpPr txBox="1"/>
          <p:nvPr/>
        </p:nvSpPr>
        <p:spPr>
          <a:xfrm>
            <a:off x="5248656" y="1856232"/>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tag</a:t>
            </a:r>
            <a:endParaRPr lang="en-US" sz="1400" dirty="0"/>
          </a:p>
        </p:txBody>
      </p:sp>
      <p:sp>
        <p:nvSpPr>
          <p:cNvPr id="17" name="Text 13"/>
          <p:cNvSpPr txBox="1"/>
          <p:nvPr/>
        </p:nvSpPr>
        <p:spPr>
          <a:xfrm>
            <a:off x="4645152" y="2404872"/>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Menandai commit tertentu sebagai rilis versi, misalnya v1.0.0.</a:t>
            </a:r>
            <a:endParaRPr lang="en-US" sz="1200" dirty="0"/>
          </a:p>
        </p:txBody>
      </p:sp>
      <p:sp>
        <p:nvSpPr>
          <p:cNvPr id="18" name="Shape 14"/>
          <p:cNvSpPr/>
          <p:nvPr/>
        </p:nvSpPr>
        <p:spPr>
          <a:xfrm>
            <a:off x="4645152" y="2990088"/>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19" name="Text 15"/>
          <p:cNvSpPr txBox="1"/>
          <p:nvPr/>
        </p:nvSpPr>
        <p:spPr>
          <a:xfrm>
            <a:off x="4901184" y="3172968"/>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tag -a v1.0.0 -m "rilis"</a:t>
            </a:r>
            <a:endParaRPr lang="en-US" sz="1000" dirty="0"/>
          </a:p>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push --tags</a:t>
            </a:r>
            <a:endParaRPr lang="en-US" sz="1000" dirty="0"/>
          </a:p>
        </p:txBody>
      </p:sp>
      <p:sp>
        <p:nvSpPr>
          <p:cNvPr id="20" name="Shape 16"/>
          <p:cNvSpPr/>
          <p:nvPr/>
        </p:nvSpPr>
        <p:spPr>
          <a:xfrm>
            <a:off x="8101584" y="1600200"/>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1" name="Shape 17"/>
          <p:cNvSpPr/>
          <p:nvPr/>
        </p:nvSpPr>
        <p:spPr>
          <a:xfrm>
            <a:off x="8375904" y="1837944"/>
            <a:ext cx="493776" cy="493776"/>
          </a:xfrm>
          <a:prstGeom prst="ellipse">
            <a:avLst/>
          </a:prstGeom>
          <a:solidFill>
            <a:srgbClr val="F05032"/>
          </a:solidFill>
          <a:ln w="12700">
            <a:solidFill>
              <a:srgbClr val="F05032"/>
            </a:solidFill>
            <a:prstDash val="solid"/>
          </a:ln>
        </p:spPr>
      </p:sp>
      <p:pic>
        <p:nvPicPr>
          <p:cNvPr id="22" name="Image 2" descr="preencoded.png">    </p:cNvPr>
          <p:cNvPicPr>
            <a:picLocks noChangeAspect="1"/>
          </p:cNvPicPr>
          <p:nvPr/>
        </p:nvPicPr>
        <p:blipFill>
          <a:blip r:embed="rId3"/>
          <a:stretch>
            <a:fillRect/>
          </a:stretch>
        </p:blipFill>
        <p:spPr>
          <a:xfrm>
            <a:off x="8445033" y="1907073"/>
            <a:ext cx="355519" cy="355519"/>
          </a:xfrm>
          <a:prstGeom prst="rect">
            <a:avLst/>
          </a:prstGeom>
        </p:spPr>
      </p:pic>
      <p:sp>
        <p:nvSpPr>
          <p:cNvPr id="23" name="Text 18"/>
          <p:cNvSpPr txBox="1"/>
          <p:nvPr/>
        </p:nvSpPr>
        <p:spPr>
          <a:xfrm>
            <a:off x="8979408" y="1856232"/>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cherry-pick</a:t>
            </a:r>
            <a:endParaRPr lang="en-US" sz="1400" dirty="0"/>
          </a:p>
        </p:txBody>
      </p:sp>
      <p:sp>
        <p:nvSpPr>
          <p:cNvPr id="24" name="Text 19"/>
          <p:cNvSpPr txBox="1"/>
          <p:nvPr/>
        </p:nvSpPr>
        <p:spPr>
          <a:xfrm>
            <a:off x="8375904" y="2404872"/>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Menyalin satu commit dari cabang lain ke cabang aktif tanpa merge seluruh cabang.</a:t>
            </a:r>
            <a:endParaRPr lang="en-US" sz="1200" dirty="0"/>
          </a:p>
        </p:txBody>
      </p:sp>
      <p:sp>
        <p:nvSpPr>
          <p:cNvPr id="25" name="Shape 20"/>
          <p:cNvSpPr/>
          <p:nvPr/>
        </p:nvSpPr>
        <p:spPr>
          <a:xfrm>
            <a:off x="8375904" y="2990088"/>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6" name="Text 21"/>
          <p:cNvSpPr txBox="1"/>
          <p:nvPr/>
        </p:nvSpPr>
        <p:spPr>
          <a:xfrm>
            <a:off x="8631936" y="3172968"/>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cherry-pick a3f9c21</a:t>
            </a:r>
            <a:endParaRPr lang="en-US" sz="1000" dirty="0"/>
          </a:p>
        </p:txBody>
      </p:sp>
      <p:sp>
        <p:nvSpPr>
          <p:cNvPr id="27" name="Shape 22"/>
          <p:cNvSpPr/>
          <p:nvPr/>
        </p:nvSpPr>
        <p:spPr>
          <a:xfrm>
            <a:off x="640080" y="4014216"/>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8" name="Shape 23"/>
          <p:cNvSpPr/>
          <p:nvPr/>
        </p:nvSpPr>
        <p:spPr>
          <a:xfrm>
            <a:off x="914400" y="4251960"/>
            <a:ext cx="493776" cy="493776"/>
          </a:xfrm>
          <a:prstGeom prst="ellipse">
            <a:avLst/>
          </a:prstGeom>
          <a:solidFill>
            <a:srgbClr val="F05032"/>
          </a:solidFill>
          <a:ln w="12700">
            <a:solidFill>
              <a:srgbClr val="F05032"/>
            </a:solidFill>
            <a:prstDash val="solid"/>
          </a:ln>
        </p:spPr>
      </p:sp>
      <p:pic>
        <p:nvPicPr>
          <p:cNvPr id="29" name="Image 3" descr="preencoded.png">    </p:cNvPr>
          <p:cNvPicPr>
            <a:picLocks noChangeAspect="1"/>
          </p:cNvPicPr>
          <p:nvPr/>
        </p:nvPicPr>
        <p:blipFill>
          <a:blip r:embed="rId4"/>
          <a:stretch>
            <a:fillRect/>
          </a:stretch>
        </p:blipFill>
        <p:spPr>
          <a:xfrm>
            <a:off x="983529" y="4321089"/>
            <a:ext cx="355519" cy="355519"/>
          </a:xfrm>
          <a:prstGeom prst="rect">
            <a:avLst/>
          </a:prstGeom>
        </p:spPr>
      </p:pic>
      <p:sp>
        <p:nvSpPr>
          <p:cNvPr id="30" name="Text 24"/>
          <p:cNvSpPr txBox="1"/>
          <p:nvPr/>
        </p:nvSpPr>
        <p:spPr>
          <a:xfrm>
            <a:off x="1517904" y="4270248"/>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bisect</a:t>
            </a:r>
            <a:endParaRPr lang="en-US" sz="1400" dirty="0"/>
          </a:p>
        </p:txBody>
      </p:sp>
      <p:sp>
        <p:nvSpPr>
          <p:cNvPr id="31" name="Text 25"/>
          <p:cNvSpPr txBox="1"/>
          <p:nvPr/>
        </p:nvSpPr>
        <p:spPr>
          <a:xfrm>
            <a:off x="914400" y="4818888"/>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Mencari commit penyebab bug melalui pencarian biner otomatis pada riwayat.</a:t>
            </a:r>
            <a:endParaRPr lang="en-US" sz="1200" dirty="0"/>
          </a:p>
        </p:txBody>
      </p:sp>
      <p:sp>
        <p:nvSpPr>
          <p:cNvPr id="32" name="Shape 26"/>
          <p:cNvSpPr/>
          <p:nvPr/>
        </p:nvSpPr>
        <p:spPr>
          <a:xfrm>
            <a:off x="914400" y="5404104"/>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33" name="Text 27"/>
          <p:cNvSpPr txBox="1"/>
          <p:nvPr/>
        </p:nvSpPr>
        <p:spPr>
          <a:xfrm>
            <a:off x="1170432" y="5586984"/>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bisect start</a:t>
            </a:r>
            <a:endParaRPr lang="en-US" sz="1000" dirty="0"/>
          </a:p>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bisect bad / good</a:t>
            </a:r>
            <a:endParaRPr lang="en-US" sz="1000" dirty="0"/>
          </a:p>
        </p:txBody>
      </p:sp>
      <p:sp>
        <p:nvSpPr>
          <p:cNvPr id="34" name="Shape 28"/>
          <p:cNvSpPr/>
          <p:nvPr/>
        </p:nvSpPr>
        <p:spPr>
          <a:xfrm>
            <a:off x="4370832" y="4014216"/>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35" name="Shape 29"/>
          <p:cNvSpPr/>
          <p:nvPr/>
        </p:nvSpPr>
        <p:spPr>
          <a:xfrm>
            <a:off x="4645152" y="4251960"/>
            <a:ext cx="493776" cy="493776"/>
          </a:xfrm>
          <a:prstGeom prst="ellipse">
            <a:avLst/>
          </a:prstGeom>
          <a:solidFill>
            <a:srgbClr val="F05032"/>
          </a:solidFill>
          <a:ln w="12700">
            <a:solidFill>
              <a:srgbClr val="F05032"/>
            </a:solidFill>
            <a:prstDash val="solid"/>
          </a:ln>
        </p:spPr>
      </p:sp>
      <p:pic>
        <p:nvPicPr>
          <p:cNvPr id="36" name="Image 4" descr="preencoded.png">    </p:cNvPr>
          <p:cNvPicPr>
            <a:picLocks noChangeAspect="1"/>
          </p:cNvPicPr>
          <p:nvPr/>
        </p:nvPicPr>
        <p:blipFill>
          <a:blip r:embed="rId5"/>
          <a:stretch>
            <a:fillRect/>
          </a:stretch>
        </p:blipFill>
        <p:spPr>
          <a:xfrm>
            <a:off x="4714281" y="4321089"/>
            <a:ext cx="355519" cy="355519"/>
          </a:xfrm>
          <a:prstGeom prst="rect">
            <a:avLst/>
          </a:prstGeom>
        </p:spPr>
      </p:pic>
      <p:sp>
        <p:nvSpPr>
          <p:cNvPr id="37" name="Text 30"/>
          <p:cNvSpPr txBox="1"/>
          <p:nvPr/>
        </p:nvSpPr>
        <p:spPr>
          <a:xfrm>
            <a:off x="5248656" y="4270248"/>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reflog</a:t>
            </a:r>
            <a:endParaRPr lang="en-US" sz="1400" dirty="0"/>
          </a:p>
        </p:txBody>
      </p:sp>
      <p:sp>
        <p:nvSpPr>
          <p:cNvPr id="38" name="Text 31"/>
          <p:cNvSpPr txBox="1"/>
          <p:nvPr/>
        </p:nvSpPr>
        <p:spPr>
          <a:xfrm>
            <a:off x="4645152" y="4818888"/>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Mencatat seluruh pergerakan HEAD — penyelamat saat commit terasa hilang.</a:t>
            </a:r>
            <a:endParaRPr lang="en-US" sz="1200" dirty="0"/>
          </a:p>
        </p:txBody>
      </p:sp>
      <p:sp>
        <p:nvSpPr>
          <p:cNvPr id="39" name="Shape 32"/>
          <p:cNvSpPr/>
          <p:nvPr/>
        </p:nvSpPr>
        <p:spPr>
          <a:xfrm>
            <a:off x="4645152" y="5404104"/>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40" name="Text 33"/>
          <p:cNvSpPr txBox="1"/>
          <p:nvPr/>
        </p:nvSpPr>
        <p:spPr>
          <a:xfrm>
            <a:off x="4901184" y="5586984"/>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reflog</a:t>
            </a:r>
            <a:endParaRPr lang="en-US" sz="1000" dirty="0"/>
          </a:p>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reset --hard HEAD@{2}</a:t>
            </a:r>
            <a:endParaRPr lang="en-US" sz="1000" dirty="0"/>
          </a:p>
        </p:txBody>
      </p:sp>
      <p:sp>
        <p:nvSpPr>
          <p:cNvPr id="41" name="Shape 34"/>
          <p:cNvSpPr/>
          <p:nvPr/>
        </p:nvSpPr>
        <p:spPr>
          <a:xfrm>
            <a:off x="8101584" y="4014216"/>
            <a:ext cx="3456432" cy="2139696"/>
          </a:xfrm>
          <a:prstGeom prst="roundRect">
            <a:avLst>
              <a:gd name="adj" fmla="val 4274"/>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42" name="Shape 35"/>
          <p:cNvSpPr/>
          <p:nvPr/>
        </p:nvSpPr>
        <p:spPr>
          <a:xfrm>
            <a:off x="8375904" y="4251960"/>
            <a:ext cx="493776" cy="493776"/>
          </a:xfrm>
          <a:prstGeom prst="ellipse">
            <a:avLst/>
          </a:prstGeom>
          <a:solidFill>
            <a:srgbClr val="F05032"/>
          </a:solidFill>
          <a:ln w="12700">
            <a:solidFill>
              <a:srgbClr val="F05032"/>
            </a:solidFill>
            <a:prstDash val="solid"/>
          </a:ln>
        </p:spPr>
      </p:sp>
      <p:pic>
        <p:nvPicPr>
          <p:cNvPr id="43" name="Image 5" descr="preencoded.png">    </p:cNvPr>
          <p:cNvPicPr>
            <a:picLocks noChangeAspect="1"/>
          </p:cNvPicPr>
          <p:nvPr/>
        </p:nvPicPr>
        <p:blipFill>
          <a:blip r:embed="rId6"/>
          <a:stretch>
            <a:fillRect/>
          </a:stretch>
        </p:blipFill>
        <p:spPr>
          <a:xfrm>
            <a:off x="8445033" y="4321089"/>
            <a:ext cx="355519" cy="355519"/>
          </a:xfrm>
          <a:prstGeom prst="rect">
            <a:avLst/>
          </a:prstGeom>
        </p:spPr>
      </p:pic>
      <p:sp>
        <p:nvSpPr>
          <p:cNvPr id="44" name="Text 36"/>
          <p:cNvSpPr txBox="1"/>
          <p:nvPr/>
        </p:nvSpPr>
        <p:spPr>
          <a:xfrm>
            <a:off x="8979408" y="4270248"/>
            <a:ext cx="2359152" cy="292608"/>
          </a:xfrm>
          <a:prstGeom prst="rect">
            <a:avLst/>
          </a:prstGeom>
          <a:noFill/>
          <a:ln/>
        </p:spPr>
        <p:txBody>
          <a:bodyPr wrap="square" lIns="0" tIns="0" rIns="0" bIns="0" rtlCol="0" anchor="ctr"/>
          <a:lstStyle/>
          <a:p>
            <a:pPr indent="0" marL="0">
              <a:buNone/>
            </a:pPr>
            <a:r>
              <a:rPr lang="en-US" sz="1400" b="1" dirty="0">
                <a:solidFill>
                  <a:srgbClr val="17171C"/>
                </a:solidFill>
                <a:latin typeface="Courier New" pitchFamily="34" charset="0"/>
                <a:ea typeface="Courier New" pitchFamily="34" charset="-122"/>
                <a:cs typeface="Courier New" pitchFamily="34" charset="-120"/>
              </a:rPr>
              <a:t>git submodule</a:t>
            </a:r>
            <a:endParaRPr lang="en-US" sz="1400" dirty="0"/>
          </a:p>
        </p:txBody>
      </p:sp>
      <p:sp>
        <p:nvSpPr>
          <p:cNvPr id="45" name="Text 37"/>
          <p:cNvSpPr txBox="1"/>
          <p:nvPr/>
        </p:nvSpPr>
        <p:spPr>
          <a:xfrm>
            <a:off x="8375904" y="4818888"/>
            <a:ext cx="2907792" cy="566928"/>
          </a:xfrm>
          <a:prstGeom prst="rect">
            <a:avLst/>
          </a:prstGeom>
          <a:noFill/>
          <a:ln/>
        </p:spPr>
        <p:txBody>
          <a:bodyPr wrap="square" lIns="0" tIns="0" rIns="0" bIns="0" rtlCol="0" anchor="ctr"/>
          <a:lstStyle/>
          <a:p>
            <a:pPr indent="0" marL="0">
              <a:lnSpc>
                <a:spcPts val="1600"/>
              </a:lnSpc>
              <a:buNone/>
            </a:pPr>
            <a:r>
              <a:rPr lang="en-US" sz="1200" dirty="0">
                <a:solidFill>
                  <a:srgbClr val="6E6E78"/>
                </a:solidFill>
                <a:latin typeface="Calibri" pitchFamily="34" charset="0"/>
                <a:ea typeface="Calibri" pitchFamily="34" charset="-122"/>
                <a:cs typeface="Calibri" pitchFamily="34" charset="-120"/>
              </a:rPr>
              <a:t>Menyisipkan repositori lain sebagai bagian dari repositori Anda.</a:t>
            </a:r>
            <a:endParaRPr lang="en-US" sz="1200" dirty="0"/>
          </a:p>
        </p:txBody>
      </p:sp>
      <p:sp>
        <p:nvSpPr>
          <p:cNvPr id="46" name="Shape 38"/>
          <p:cNvSpPr/>
          <p:nvPr/>
        </p:nvSpPr>
        <p:spPr>
          <a:xfrm>
            <a:off x="8375904" y="5404104"/>
            <a:ext cx="2907792" cy="621792"/>
          </a:xfrm>
          <a:prstGeom prst="roundRect">
            <a:avLst>
              <a:gd name="adj" fmla="val 11765"/>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47" name="Text 39"/>
          <p:cNvSpPr txBox="1"/>
          <p:nvPr/>
        </p:nvSpPr>
        <p:spPr>
          <a:xfrm>
            <a:off x="8631936" y="5586984"/>
            <a:ext cx="2450592" cy="256032"/>
          </a:xfrm>
          <a:prstGeom prst="rect">
            <a:avLst/>
          </a:prstGeom>
          <a:noFill/>
          <a:ln/>
        </p:spPr>
        <p:txBody>
          <a:bodyPr wrap="square" lIns="0" tIns="0" rIns="0" bIns="0" rtlCol="0" anchor="t"/>
          <a:lstStyle/>
          <a:p>
            <a:pPr indent="0" marL="0">
              <a:lnSpc>
                <a:spcPts val="1300"/>
              </a:lnSpc>
              <a:buNone/>
            </a:pPr>
            <a:r>
              <a:rPr lang="en-US" sz="1000" dirty="0">
                <a:solidFill>
                  <a:srgbClr val="E9E7E4"/>
                </a:solidFill>
                <a:latin typeface="Courier New" pitchFamily="34" charset="0"/>
                <a:ea typeface="Courier New" pitchFamily="34" charset="-122"/>
                <a:cs typeface="Courier New" pitchFamily="34" charset="-120"/>
              </a:rPr>
              <a:t>git submodule add &lt;url&gt;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05 · KEBERSIHAN REPOSITORI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Mengatur Berkas dengan .gitignore</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640080" y="1572768"/>
            <a:ext cx="5577840" cy="2011680"/>
          </a:xfrm>
          <a:prstGeom prst="roundRect">
            <a:avLst>
              <a:gd name="adj" fmla="val 4545"/>
            </a:avLst>
          </a:prstGeom>
          <a:solidFill>
            <a:srgbClr val="F4F2F1"/>
          </a:solidFill>
          <a:ln w="12700">
            <a:solidFill>
              <a:srgbClr val="EAE7E5"/>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32688" y="1810512"/>
            <a:ext cx="530352" cy="530352"/>
          </a:xfrm>
          <a:prstGeom prst="ellipse">
            <a:avLst/>
          </a:prstGeom>
          <a:solidFill>
            <a:srgbClr val="F05032"/>
          </a:solidFill>
          <a:ln w="12700">
            <a:solidFill>
              <a:srgbClr val="F05032"/>
            </a:solidFill>
            <a:prstDash val="solid"/>
          </a:ln>
        </p:spPr>
      </p:sp>
      <p:pic>
        <p:nvPicPr>
          <p:cNvPr id="8" name="Image 0" descr="preencoded.png">    </p:cNvPr>
          <p:cNvPicPr>
            <a:picLocks noChangeAspect="1"/>
          </p:cNvPicPr>
          <p:nvPr/>
        </p:nvPicPr>
        <p:blipFill>
          <a:blip r:embed="rId1"/>
          <a:stretch>
            <a:fillRect/>
          </a:stretch>
        </p:blipFill>
        <p:spPr>
          <a:xfrm>
            <a:off x="1006937" y="1884761"/>
            <a:ext cx="381853" cy="381853"/>
          </a:xfrm>
          <a:prstGeom prst="rect">
            <a:avLst/>
          </a:prstGeom>
        </p:spPr>
      </p:pic>
      <p:sp>
        <p:nvSpPr>
          <p:cNvPr id="9" name="Text 6"/>
          <p:cNvSpPr txBox="1"/>
          <p:nvPr/>
        </p:nvSpPr>
        <p:spPr>
          <a:xfrm>
            <a:off x="1591056" y="1901952"/>
            <a:ext cx="4206240" cy="274320"/>
          </a:xfrm>
          <a:prstGeom prst="rect">
            <a:avLst/>
          </a:prstGeom>
          <a:noFill/>
          <a:ln/>
        </p:spPr>
        <p:txBody>
          <a:bodyPr wrap="square" lIns="0" tIns="0" rIns="0" bIns="0" rtlCol="0" anchor="ctr"/>
          <a:lstStyle/>
          <a:p>
            <a:pPr indent="0" marL="0">
              <a:buNone/>
            </a:pPr>
            <a:r>
              <a:rPr lang="en-US" sz="1600" b="1" dirty="0">
                <a:solidFill>
                  <a:srgbClr val="17171C"/>
                </a:solidFill>
                <a:latin typeface="Arial" pitchFamily="34" charset="0"/>
                <a:ea typeface="Arial" pitchFamily="34" charset="-122"/>
                <a:cs typeface="Arial" pitchFamily="34" charset="-120"/>
              </a:rPr>
              <a:t>Untuk Apa?</a:t>
            </a:r>
            <a:endParaRPr lang="en-US" sz="1600" dirty="0"/>
          </a:p>
        </p:txBody>
      </p:sp>
      <p:sp>
        <p:nvSpPr>
          <p:cNvPr id="10" name="Text 7"/>
          <p:cNvSpPr txBox="1"/>
          <p:nvPr/>
        </p:nvSpPr>
        <p:spPr>
          <a:xfrm>
            <a:off x="932688" y="2487168"/>
            <a:ext cx="5029200" cy="960120"/>
          </a:xfrm>
          <a:prstGeom prst="rect">
            <a:avLst/>
          </a:prstGeom>
          <a:noFill/>
          <a:ln/>
        </p:spPr>
        <p:txBody>
          <a:bodyPr wrap="square" lIns="0" tIns="0" rIns="0" bIns="0" rtlCol="0" anchor="ctr"/>
          <a:lstStyle/>
          <a:p>
            <a:pPr indent="0" marL="0">
              <a:lnSpc>
                <a:spcPts val="1900"/>
              </a:lnSpc>
              <a:buNone/>
            </a:pPr>
            <a:r>
              <a:rPr lang="en-US" sz="1300" dirty="0">
                <a:solidFill>
                  <a:srgbClr val="4A4A55"/>
                </a:solidFill>
                <a:latin typeface="Calibri" pitchFamily="34" charset="0"/>
                <a:ea typeface="Calibri" pitchFamily="34" charset="-122"/>
                <a:cs typeface="Calibri" pitchFamily="34" charset="-120"/>
              </a:rPr>
              <a:t>Berkas .gitignore memberi tahu Git berkas atau folder mana yang tidak perlu dilacak: hasil build, dependensi, berkas sementara editor, dan yang terpenting — berkas rahasia berisi kata sandi atau kunci API.</a:t>
            </a:r>
            <a:endParaRPr lang="en-US" sz="1300" dirty="0"/>
          </a:p>
        </p:txBody>
      </p:sp>
      <p:sp>
        <p:nvSpPr>
          <p:cNvPr id="11" name="Text 8"/>
          <p:cNvSpPr txBox="1"/>
          <p:nvPr/>
        </p:nvSpPr>
        <p:spPr>
          <a:xfrm>
            <a:off x="640080" y="3749040"/>
            <a:ext cx="5486400" cy="292608"/>
          </a:xfrm>
          <a:prstGeom prst="rect">
            <a:avLst/>
          </a:prstGeom>
          <a:noFill/>
          <a:ln/>
        </p:spPr>
        <p:txBody>
          <a:bodyPr wrap="square" lIns="0" tIns="0" rIns="0" bIns="0" rtlCol="0" anchor="ctr"/>
          <a:lstStyle/>
          <a:p>
            <a:pPr indent="0" marL="0">
              <a:buNone/>
            </a:pPr>
            <a:r>
              <a:rPr lang="en-US" sz="1500" b="1" dirty="0">
                <a:solidFill>
                  <a:srgbClr val="17171C"/>
                </a:solidFill>
                <a:latin typeface="Arial" pitchFamily="34" charset="0"/>
                <a:ea typeface="Arial" pitchFamily="34" charset="-122"/>
                <a:cs typeface="Arial" pitchFamily="34" charset="-120"/>
              </a:rPr>
              <a:t>Sintaks Pola</a:t>
            </a:r>
            <a:endParaRPr lang="en-US" sz="1500" dirty="0"/>
          </a:p>
        </p:txBody>
      </p:sp>
      <p:sp>
        <p:nvSpPr>
          <p:cNvPr id="12" name="Text 9"/>
          <p:cNvSpPr txBox="1"/>
          <p:nvPr/>
        </p:nvSpPr>
        <p:spPr>
          <a:xfrm>
            <a:off x="640080" y="4114800"/>
            <a:ext cx="192024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node_modules/</a:t>
            </a:r>
            <a:endParaRPr lang="en-US" sz="1200" dirty="0"/>
          </a:p>
        </p:txBody>
      </p:sp>
      <p:sp>
        <p:nvSpPr>
          <p:cNvPr id="13" name="Text 10"/>
          <p:cNvSpPr txBox="1"/>
          <p:nvPr/>
        </p:nvSpPr>
        <p:spPr>
          <a:xfrm>
            <a:off x="2651760" y="4114800"/>
            <a:ext cx="3566160" cy="36576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Mengabaikan seluruh isi folder tersebut</a:t>
            </a:r>
            <a:endParaRPr lang="en-US" sz="1200" dirty="0"/>
          </a:p>
        </p:txBody>
      </p:sp>
      <p:sp>
        <p:nvSpPr>
          <p:cNvPr id="14" name="Text 11"/>
          <p:cNvSpPr txBox="1"/>
          <p:nvPr/>
        </p:nvSpPr>
        <p:spPr>
          <a:xfrm>
            <a:off x="640080" y="4572000"/>
            <a:ext cx="192024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*.log</a:t>
            </a:r>
            <a:endParaRPr lang="en-US" sz="1200" dirty="0"/>
          </a:p>
        </p:txBody>
      </p:sp>
      <p:sp>
        <p:nvSpPr>
          <p:cNvPr id="15" name="Text 12"/>
          <p:cNvSpPr txBox="1"/>
          <p:nvPr/>
        </p:nvSpPr>
        <p:spPr>
          <a:xfrm>
            <a:off x="2651760" y="4572000"/>
            <a:ext cx="3566160" cy="36576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Mengabaikan semua berkas berakhiran .log</a:t>
            </a:r>
            <a:endParaRPr lang="en-US" sz="1200" dirty="0"/>
          </a:p>
        </p:txBody>
      </p:sp>
      <p:sp>
        <p:nvSpPr>
          <p:cNvPr id="16" name="Text 13"/>
          <p:cNvSpPr txBox="1"/>
          <p:nvPr/>
        </p:nvSpPr>
        <p:spPr>
          <a:xfrm>
            <a:off x="640080" y="5029200"/>
            <a:ext cx="192024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!penting.log</a:t>
            </a:r>
            <a:endParaRPr lang="en-US" sz="1200" dirty="0"/>
          </a:p>
        </p:txBody>
      </p:sp>
      <p:sp>
        <p:nvSpPr>
          <p:cNvPr id="17" name="Text 14"/>
          <p:cNvSpPr txBox="1"/>
          <p:nvPr/>
        </p:nvSpPr>
        <p:spPr>
          <a:xfrm>
            <a:off x="2651760" y="5029200"/>
            <a:ext cx="3566160" cy="36576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Pengecualian: berkas ini tetap dilacak</a:t>
            </a:r>
            <a:endParaRPr lang="en-US" sz="1200" dirty="0"/>
          </a:p>
        </p:txBody>
      </p:sp>
      <p:sp>
        <p:nvSpPr>
          <p:cNvPr id="18" name="Text 15"/>
          <p:cNvSpPr txBox="1"/>
          <p:nvPr/>
        </p:nvSpPr>
        <p:spPr>
          <a:xfrm>
            <a:off x="640080" y="5486400"/>
            <a:ext cx="192024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/rahasia.env</a:t>
            </a:r>
            <a:endParaRPr lang="en-US" sz="1200" dirty="0"/>
          </a:p>
        </p:txBody>
      </p:sp>
      <p:sp>
        <p:nvSpPr>
          <p:cNvPr id="19" name="Text 16"/>
          <p:cNvSpPr txBox="1"/>
          <p:nvPr/>
        </p:nvSpPr>
        <p:spPr>
          <a:xfrm>
            <a:off x="2651760" y="5486400"/>
            <a:ext cx="3566160" cy="365760"/>
          </a:xfrm>
          <a:prstGeom prst="rect">
            <a:avLst/>
          </a:prstGeom>
          <a:noFill/>
          <a:ln/>
        </p:spPr>
        <p:txBody>
          <a:bodyPr wrap="square" lIns="0" tIns="0" rIns="0" bIns="0" rtlCol="0" anchor="ctr"/>
          <a:lstStyle/>
          <a:p>
            <a:pPr indent="0" marL="0">
              <a:buNone/>
            </a:pPr>
            <a:r>
              <a:rPr lang="en-US" sz="1200" dirty="0">
                <a:solidFill>
                  <a:srgbClr val="6E6E78"/>
                </a:solidFill>
                <a:latin typeface="Calibri" pitchFamily="34" charset="0"/>
                <a:ea typeface="Calibri" pitchFamily="34" charset="-122"/>
                <a:cs typeface="Calibri" pitchFamily="34" charset="-120"/>
              </a:rPr>
              <a:t>Hanya pada folder akar repositori</a:t>
            </a:r>
            <a:endParaRPr lang="en-US" sz="1200" dirty="0"/>
          </a:p>
        </p:txBody>
      </p:sp>
      <p:sp>
        <p:nvSpPr>
          <p:cNvPr id="20" name="Shape 17"/>
          <p:cNvSpPr/>
          <p:nvPr/>
        </p:nvSpPr>
        <p:spPr>
          <a:xfrm>
            <a:off x="6675120" y="1572768"/>
            <a:ext cx="4873752" cy="4160520"/>
          </a:xfrm>
          <a:prstGeom prst="roundRect">
            <a:avLst>
              <a:gd name="adj" fmla="val 1758"/>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21" name="Text 18"/>
          <p:cNvSpPr txBox="1"/>
          <p:nvPr/>
        </p:nvSpPr>
        <p:spPr>
          <a:xfrm>
            <a:off x="6931152" y="1755648"/>
            <a:ext cx="4416552" cy="3794760"/>
          </a:xfrm>
          <a:prstGeom prst="rect">
            <a:avLst/>
          </a:prstGeom>
          <a:noFill/>
          <a:ln/>
        </p:spPr>
        <p:txBody>
          <a:bodyPr wrap="square" lIns="0" tIns="0" rIns="0" bIns="0" rtlCol="0" anchor="t"/>
          <a:lstStyle/>
          <a:p>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.gitignore — contoh proyek web
</a:t>
            </a:r>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Dependensi
</a:t>
            </a:r>
            <a:pPr indent="0" marL="0">
              <a:lnSpc>
                <a:spcPts val="1500"/>
              </a:lnSpc>
              <a:buNone/>
            </a:pPr>
            <a:r>
              <a:rPr lang="en-US" sz="1150" dirty="0">
                <a:solidFill>
                  <a:srgbClr val="E9E7E4"/>
                </a:solidFill>
                <a:latin typeface="Courier New" pitchFamily="34" charset="0"/>
                <a:ea typeface="Courier New" pitchFamily="34" charset="-122"/>
                <a:cs typeface="Courier New" pitchFamily="34" charset="-120"/>
              </a:rPr>
              <a:t>node_modules/
vendor/
</a:t>
            </a:r>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Hasil build
</a:t>
            </a:r>
            <a:pPr indent="0" marL="0">
              <a:lnSpc>
                <a:spcPts val="1500"/>
              </a:lnSpc>
              <a:buNone/>
            </a:pPr>
            <a:r>
              <a:rPr lang="en-US" sz="1150" dirty="0">
                <a:solidFill>
                  <a:srgbClr val="E9E7E4"/>
                </a:solidFill>
                <a:latin typeface="Courier New" pitchFamily="34" charset="0"/>
                <a:ea typeface="Courier New" pitchFamily="34" charset="-122"/>
                <a:cs typeface="Courier New" pitchFamily="34" charset="-120"/>
              </a:rPr>
              <a:t>dist/
build/
</a:t>
            </a:r>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Berkas rahasia — jangan pernah di-commit
</a:t>
            </a:r>
            <a:pPr indent="0" marL="0">
              <a:lnSpc>
                <a:spcPts val="1500"/>
              </a:lnSpc>
              <a:buNone/>
            </a:pPr>
            <a:r>
              <a:rPr lang="en-US" sz="1150" dirty="0">
                <a:solidFill>
                  <a:srgbClr val="E08A7C"/>
                </a:solidFill>
                <a:latin typeface="Courier New" pitchFamily="34" charset="0"/>
                <a:ea typeface="Courier New" pitchFamily="34" charset="-122"/>
                <a:cs typeface="Courier New" pitchFamily="34" charset="-120"/>
              </a:rPr>
              <a:t>.env
config/secrets.yml
*.pem
</a:t>
            </a:r>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Berkas sistem &amp; editor
</a:t>
            </a:r>
            <a:pPr indent="0" marL="0">
              <a:lnSpc>
                <a:spcPts val="1500"/>
              </a:lnSpc>
              <a:buNone/>
            </a:pPr>
            <a:r>
              <a:rPr lang="en-US" sz="1150" dirty="0">
                <a:solidFill>
                  <a:srgbClr val="E9E7E4"/>
                </a:solidFill>
                <a:latin typeface="Courier New" pitchFamily="34" charset="0"/>
                <a:ea typeface="Courier New" pitchFamily="34" charset="-122"/>
                <a:cs typeface="Courier New" pitchFamily="34" charset="-120"/>
              </a:rPr>
              <a:t>.DS_Store
.vscode/
</a:t>
            </a:r>
            <a:pPr indent="0" marL="0">
              <a:lnSpc>
                <a:spcPts val="1500"/>
              </a:lnSpc>
              <a:buNone/>
            </a:pPr>
            <a:r>
              <a:rPr lang="en-US" sz="1150" dirty="0">
                <a:solidFill>
                  <a:srgbClr val="7F8C99"/>
                </a:solidFill>
                <a:latin typeface="Courier New" pitchFamily="34" charset="0"/>
                <a:ea typeface="Courier New" pitchFamily="34" charset="-122"/>
                <a:cs typeface="Courier New" pitchFamily="34" charset="-120"/>
              </a:rPr>
              <a:t># Log sementara
</a:t>
            </a:r>
            <a:pPr indent="0" marL="0">
              <a:lnSpc>
                <a:spcPts val="1500"/>
              </a:lnSpc>
              <a:buNone/>
            </a:pPr>
            <a:r>
              <a:rPr lang="en-US" sz="1150" dirty="0">
                <a:solidFill>
                  <a:srgbClr val="E9E7E4"/>
                </a:solidFill>
                <a:latin typeface="Courier New" pitchFamily="34" charset="0"/>
                <a:ea typeface="Courier New" pitchFamily="34" charset="-122"/>
                <a:cs typeface="Courier New" pitchFamily="34" charset="-120"/>
              </a:rPr>
              <a:t>*.log</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05 · KONVENSI</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Menulis Pesan Commit yang Baik</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640080" y="1572768"/>
            <a:ext cx="5577840" cy="1965960"/>
          </a:xfrm>
          <a:prstGeom prst="roundRect">
            <a:avLst>
              <a:gd name="adj" fmla="val 3721"/>
            </a:avLst>
          </a:prstGeom>
          <a:solidFill>
            <a:srgbClr val="23232B"/>
          </a:solidFill>
          <a:ln w="12700">
            <a:solidFill>
              <a:srgbClr val="23232B"/>
            </a:solidFill>
            <a:prstDash val="solid"/>
          </a:ln>
          <a:effectLst>
            <a:outerShdw sx="100000" sy="100000" kx="0" ky="0" algn="bl" rotWithShape="0" blurRad="127000" dist="25400" dir="5400000">
              <a:srgbClr val="9A9086">
                <a:alpha val="18000"/>
              </a:srgbClr>
            </a:outerShdw>
          </a:effectLst>
        </p:spPr>
      </p:sp>
      <p:sp>
        <p:nvSpPr>
          <p:cNvPr id="7" name="Text 5"/>
          <p:cNvSpPr txBox="1"/>
          <p:nvPr/>
        </p:nvSpPr>
        <p:spPr>
          <a:xfrm>
            <a:off x="896112" y="1755648"/>
            <a:ext cx="5120640" cy="1600200"/>
          </a:xfrm>
          <a:prstGeom prst="rect">
            <a:avLst/>
          </a:prstGeom>
          <a:noFill/>
          <a:ln/>
        </p:spPr>
        <p:txBody>
          <a:bodyPr wrap="square" lIns="0" tIns="0" rIns="0" bIns="0" rtlCol="0" anchor="t"/>
          <a:lstStyle/>
          <a:p>
            <a:pPr indent="0" marL="0">
              <a:lnSpc>
                <a:spcPts val="2100"/>
              </a:lnSpc>
              <a:buNone/>
            </a:pPr>
            <a:r>
              <a:rPr lang="en-US" sz="1250" dirty="0">
                <a:solidFill>
                  <a:srgbClr val="F05032"/>
                </a:solidFill>
                <a:latin typeface="Courier New" pitchFamily="34" charset="0"/>
                <a:ea typeface="Courier New" pitchFamily="34" charset="-122"/>
                <a:cs typeface="Courier New" pitchFamily="34" charset="-120"/>
              </a:rPr>
              <a:t>&lt;tipe&gt;(&lt;cakupan&gt;): &lt;ringkasan singkat&gt;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feat(auth): tambah login dengan Google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fix(api): perbaiki validasi email kosong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docs(readme): perbarui panduan instalasi
</a:t>
            </a:r>
            <a:pPr indent="0" marL="0">
              <a:lnSpc>
                <a:spcPts val="2100"/>
              </a:lnSpc>
              <a:buNone/>
            </a:pPr>
            <a:r>
              <a:rPr lang="en-US" sz="1250" dirty="0">
                <a:solidFill>
                  <a:srgbClr val="E9E7E4"/>
                </a:solidFill>
                <a:latin typeface="Courier New" pitchFamily="34" charset="0"/>
                <a:ea typeface="Courier New" pitchFamily="34" charset="-122"/>
                <a:cs typeface="Courier New" pitchFamily="34" charset="-120"/>
              </a:rPr>
              <a:t>refactor(db): sederhanakan query laporan</a:t>
            </a:r>
            <a:endParaRPr lang="en-US" sz="1250" dirty="0"/>
          </a:p>
        </p:txBody>
      </p:sp>
      <p:sp>
        <p:nvSpPr>
          <p:cNvPr id="8" name="Text 6"/>
          <p:cNvSpPr txBox="1"/>
          <p:nvPr/>
        </p:nvSpPr>
        <p:spPr>
          <a:xfrm>
            <a:off x="640080" y="3703320"/>
            <a:ext cx="5577840" cy="274320"/>
          </a:xfrm>
          <a:prstGeom prst="rect">
            <a:avLst/>
          </a:prstGeom>
          <a:noFill/>
          <a:ln/>
        </p:spPr>
        <p:txBody>
          <a:bodyPr wrap="square" lIns="0" tIns="0" rIns="0" bIns="0" rtlCol="0" anchor="ctr"/>
          <a:lstStyle/>
          <a:p>
            <a:pPr indent="0" marL="0">
              <a:buNone/>
            </a:pPr>
            <a:r>
              <a:rPr lang="en-US" sz="1450" b="1" dirty="0">
                <a:solidFill>
                  <a:srgbClr val="17171C"/>
                </a:solidFill>
                <a:latin typeface="Arial" pitchFamily="34" charset="0"/>
                <a:ea typeface="Arial" pitchFamily="34" charset="-122"/>
                <a:cs typeface="Arial" pitchFamily="34" charset="-120"/>
              </a:rPr>
              <a:t>Tipe yang Umum Dipakai (Conventional Commits)</a:t>
            </a:r>
            <a:endParaRPr lang="en-US" sz="1450" dirty="0"/>
          </a:p>
        </p:txBody>
      </p:sp>
      <p:sp>
        <p:nvSpPr>
          <p:cNvPr id="9" name="Text 7"/>
          <p:cNvSpPr txBox="1"/>
          <p:nvPr/>
        </p:nvSpPr>
        <p:spPr>
          <a:xfrm>
            <a:off x="640080" y="40416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feat</a:t>
            </a:r>
            <a:pPr indent="0" marL="0">
              <a:buNone/>
            </a:pPr>
            <a:r>
              <a:rPr lang="en-US" sz="1200" dirty="0">
                <a:solidFill>
                  <a:srgbClr val="6E6E78"/>
                </a:solidFill>
                <a:latin typeface="Calibri" pitchFamily="34" charset="0"/>
                <a:ea typeface="Calibri" pitchFamily="34" charset="-122"/>
                <a:cs typeface="Calibri" pitchFamily="34" charset="-120"/>
              </a:rPr>
              <a:t>  fitur baru</a:t>
            </a:r>
            <a:endParaRPr lang="en-US" sz="1200" dirty="0"/>
          </a:p>
        </p:txBody>
      </p:sp>
      <p:sp>
        <p:nvSpPr>
          <p:cNvPr id="10" name="Text 8"/>
          <p:cNvSpPr txBox="1"/>
          <p:nvPr/>
        </p:nvSpPr>
        <p:spPr>
          <a:xfrm>
            <a:off x="3429000" y="40416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fix</a:t>
            </a:r>
            <a:pPr indent="0" marL="0">
              <a:buNone/>
            </a:pPr>
            <a:r>
              <a:rPr lang="en-US" sz="1200" dirty="0">
                <a:solidFill>
                  <a:srgbClr val="6E6E78"/>
                </a:solidFill>
                <a:latin typeface="Calibri" pitchFamily="34" charset="0"/>
                <a:ea typeface="Calibri" pitchFamily="34" charset="-122"/>
                <a:cs typeface="Calibri" pitchFamily="34" charset="-120"/>
              </a:rPr>
              <a:t>  perbaikan bug</a:t>
            </a:r>
            <a:endParaRPr lang="en-US" sz="1200" dirty="0"/>
          </a:p>
        </p:txBody>
      </p:sp>
      <p:sp>
        <p:nvSpPr>
          <p:cNvPr id="11" name="Text 9"/>
          <p:cNvSpPr txBox="1"/>
          <p:nvPr/>
        </p:nvSpPr>
        <p:spPr>
          <a:xfrm>
            <a:off x="640080" y="44988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docs</a:t>
            </a:r>
            <a:pPr indent="0" marL="0">
              <a:buNone/>
            </a:pPr>
            <a:r>
              <a:rPr lang="en-US" sz="1200" dirty="0">
                <a:solidFill>
                  <a:srgbClr val="6E6E78"/>
                </a:solidFill>
                <a:latin typeface="Calibri" pitchFamily="34" charset="0"/>
                <a:ea typeface="Calibri" pitchFamily="34" charset="-122"/>
                <a:cs typeface="Calibri" pitchFamily="34" charset="-120"/>
              </a:rPr>
              <a:t>  dokumentasi</a:t>
            </a:r>
            <a:endParaRPr lang="en-US" sz="1200" dirty="0"/>
          </a:p>
        </p:txBody>
      </p:sp>
      <p:sp>
        <p:nvSpPr>
          <p:cNvPr id="12" name="Text 10"/>
          <p:cNvSpPr txBox="1"/>
          <p:nvPr/>
        </p:nvSpPr>
        <p:spPr>
          <a:xfrm>
            <a:off x="3429000" y="44988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style</a:t>
            </a:r>
            <a:pPr indent="0" marL="0">
              <a:buNone/>
            </a:pPr>
            <a:r>
              <a:rPr lang="en-US" sz="1200" dirty="0">
                <a:solidFill>
                  <a:srgbClr val="6E6E78"/>
                </a:solidFill>
                <a:latin typeface="Calibri" pitchFamily="34" charset="0"/>
                <a:ea typeface="Calibri" pitchFamily="34" charset="-122"/>
                <a:cs typeface="Calibri" pitchFamily="34" charset="-120"/>
              </a:rPr>
              <a:t>  format kode</a:t>
            </a:r>
            <a:endParaRPr lang="en-US" sz="1200" dirty="0"/>
          </a:p>
        </p:txBody>
      </p:sp>
      <p:sp>
        <p:nvSpPr>
          <p:cNvPr id="13" name="Text 11"/>
          <p:cNvSpPr txBox="1"/>
          <p:nvPr/>
        </p:nvSpPr>
        <p:spPr>
          <a:xfrm>
            <a:off x="640080" y="49560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refactor</a:t>
            </a:r>
            <a:pPr indent="0" marL="0">
              <a:buNone/>
            </a:pPr>
            <a:r>
              <a:rPr lang="en-US" sz="1200" dirty="0">
                <a:solidFill>
                  <a:srgbClr val="6E6E78"/>
                </a:solidFill>
                <a:latin typeface="Calibri" pitchFamily="34" charset="0"/>
                <a:ea typeface="Calibri" pitchFamily="34" charset="-122"/>
                <a:cs typeface="Calibri" pitchFamily="34" charset="-120"/>
              </a:rPr>
              <a:t>  penataan ulang</a:t>
            </a:r>
            <a:endParaRPr lang="en-US" sz="1200" dirty="0"/>
          </a:p>
        </p:txBody>
      </p:sp>
      <p:sp>
        <p:nvSpPr>
          <p:cNvPr id="14" name="Text 12"/>
          <p:cNvSpPr txBox="1"/>
          <p:nvPr/>
        </p:nvSpPr>
        <p:spPr>
          <a:xfrm>
            <a:off x="3429000" y="49560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test</a:t>
            </a:r>
            <a:pPr indent="0" marL="0">
              <a:buNone/>
            </a:pPr>
            <a:r>
              <a:rPr lang="en-US" sz="1200" dirty="0">
                <a:solidFill>
                  <a:srgbClr val="6E6E78"/>
                </a:solidFill>
                <a:latin typeface="Calibri" pitchFamily="34" charset="0"/>
                <a:ea typeface="Calibri" pitchFamily="34" charset="-122"/>
                <a:cs typeface="Calibri" pitchFamily="34" charset="-120"/>
              </a:rPr>
              <a:t>  pengujian</a:t>
            </a:r>
            <a:endParaRPr lang="en-US" sz="1200" dirty="0"/>
          </a:p>
        </p:txBody>
      </p:sp>
      <p:sp>
        <p:nvSpPr>
          <p:cNvPr id="15" name="Text 13"/>
          <p:cNvSpPr txBox="1"/>
          <p:nvPr/>
        </p:nvSpPr>
        <p:spPr>
          <a:xfrm>
            <a:off x="640080" y="54132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chore</a:t>
            </a:r>
            <a:pPr indent="0" marL="0">
              <a:buNone/>
            </a:pPr>
            <a:r>
              <a:rPr lang="en-US" sz="1200" dirty="0">
                <a:solidFill>
                  <a:srgbClr val="6E6E78"/>
                </a:solidFill>
                <a:latin typeface="Calibri" pitchFamily="34" charset="0"/>
                <a:ea typeface="Calibri" pitchFamily="34" charset="-122"/>
                <a:cs typeface="Calibri" pitchFamily="34" charset="-120"/>
              </a:rPr>
              <a:t>  tugas rutin</a:t>
            </a:r>
            <a:endParaRPr lang="en-US" sz="1200" dirty="0"/>
          </a:p>
        </p:txBody>
      </p:sp>
      <p:sp>
        <p:nvSpPr>
          <p:cNvPr id="16" name="Text 14"/>
          <p:cNvSpPr txBox="1"/>
          <p:nvPr/>
        </p:nvSpPr>
        <p:spPr>
          <a:xfrm>
            <a:off x="3429000" y="5413248"/>
            <a:ext cx="2697480" cy="365760"/>
          </a:xfrm>
          <a:prstGeom prst="rect">
            <a:avLst/>
          </a:prstGeom>
          <a:noFill/>
          <a:ln/>
        </p:spPr>
        <p:txBody>
          <a:bodyPr wrap="square" lIns="0" tIns="0" rIns="0" bIns="0" rtlCol="0" anchor="ctr"/>
          <a:lstStyle/>
          <a:p>
            <a:pPr indent="0" marL="0">
              <a:buNone/>
            </a:pPr>
            <a:r>
              <a:rPr lang="en-US" sz="1200" b="1" dirty="0">
                <a:solidFill>
                  <a:srgbClr val="C63C22"/>
                </a:solidFill>
                <a:latin typeface="Courier New" pitchFamily="34" charset="0"/>
                <a:ea typeface="Courier New" pitchFamily="34" charset="-122"/>
                <a:cs typeface="Courier New" pitchFamily="34" charset="-120"/>
              </a:rPr>
              <a:t>perf</a:t>
            </a:r>
            <a:pPr indent="0" marL="0">
              <a:buNone/>
            </a:pPr>
            <a:r>
              <a:rPr lang="en-US" sz="1200" dirty="0">
                <a:solidFill>
                  <a:srgbClr val="6E6E78"/>
                </a:solidFill>
                <a:latin typeface="Calibri" pitchFamily="34" charset="0"/>
                <a:ea typeface="Calibri" pitchFamily="34" charset="-122"/>
                <a:cs typeface="Calibri" pitchFamily="34" charset="-120"/>
              </a:rPr>
              <a:t>  peningkatan performa</a:t>
            </a:r>
            <a:endParaRPr lang="en-US" sz="1200" dirty="0"/>
          </a:p>
        </p:txBody>
      </p:sp>
      <p:sp>
        <p:nvSpPr>
          <p:cNvPr id="17" name="Shape 15"/>
          <p:cNvSpPr/>
          <p:nvPr/>
        </p:nvSpPr>
        <p:spPr>
          <a:xfrm>
            <a:off x="6675120" y="1572768"/>
            <a:ext cx="4873752" cy="201168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18" name="Image 0" descr="preencoded.png">    </p:cNvPr>
          <p:cNvPicPr>
            <a:picLocks noChangeAspect="1"/>
          </p:cNvPicPr>
          <p:nvPr/>
        </p:nvPicPr>
        <p:blipFill>
          <a:blip r:embed="rId1"/>
          <a:stretch>
            <a:fillRect/>
          </a:stretch>
        </p:blipFill>
        <p:spPr>
          <a:xfrm>
            <a:off x="6949440" y="1810512"/>
            <a:ext cx="384048" cy="384048"/>
          </a:xfrm>
          <a:prstGeom prst="rect">
            <a:avLst/>
          </a:prstGeom>
        </p:spPr>
      </p:pic>
      <p:sp>
        <p:nvSpPr>
          <p:cNvPr id="19" name="Text 16"/>
          <p:cNvSpPr txBox="1"/>
          <p:nvPr/>
        </p:nvSpPr>
        <p:spPr>
          <a:xfrm>
            <a:off x="7443216" y="1810512"/>
            <a:ext cx="2743200" cy="384048"/>
          </a:xfrm>
          <a:prstGeom prst="rect">
            <a:avLst/>
          </a:prstGeom>
          <a:noFill/>
          <a:ln/>
        </p:spPr>
        <p:txBody>
          <a:bodyPr wrap="square" lIns="0" tIns="0" rIns="0" bIns="0" rtlCol="0" anchor="ctr"/>
          <a:lstStyle/>
          <a:p>
            <a:pPr indent="0" marL="0">
              <a:buNone/>
            </a:pPr>
            <a:r>
              <a:rPr lang="en-US" sz="1600" b="1" dirty="0">
                <a:solidFill>
                  <a:srgbClr val="2E7D5B"/>
                </a:solidFill>
                <a:latin typeface="Arial" pitchFamily="34" charset="0"/>
                <a:ea typeface="Arial" pitchFamily="34" charset="-122"/>
                <a:cs typeface="Arial" pitchFamily="34" charset="-120"/>
              </a:rPr>
              <a:t>Lakukan</a:t>
            </a:r>
            <a:endParaRPr lang="en-US" sz="1600" dirty="0"/>
          </a:p>
        </p:txBody>
      </p:sp>
      <p:sp>
        <p:nvSpPr>
          <p:cNvPr id="20" name="Text 17"/>
          <p:cNvSpPr txBox="1"/>
          <p:nvPr/>
        </p:nvSpPr>
        <p:spPr>
          <a:xfrm>
            <a:off x="6967728" y="2322576"/>
            <a:ext cx="4343400"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Gunakan kalimat perintah: "tambah", bukan "menambahkan"</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Ringkasan maksimal 50 karakter</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Satu commit untuk satu perubahan logis</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Jelaskan alasan perubahan pada badan pesan</a:t>
            </a:r>
            <a:endParaRPr lang="en-US" sz="1200" dirty="0"/>
          </a:p>
        </p:txBody>
      </p:sp>
      <p:sp>
        <p:nvSpPr>
          <p:cNvPr id="21" name="Shape 18"/>
          <p:cNvSpPr/>
          <p:nvPr/>
        </p:nvSpPr>
        <p:spPr>
          <a:xfrm>
            <a:off x="6675120" y="3675888"/>
            <a:ext cx="4873752" cy="2011680"/>
          </a:xfrm>
          <a:prstGeom prst="roundRect">
            <a:avLst>
              <a:gd name="adj" fmla="val 4545"/>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22" name="Image 1" descr="preencoded.png">    </p:cNvPr>
          <p:cNvPicPr>
            <a:picLocks noChangeAspect="1"/>
          </p:cNvPicPr>
          <p:nvPr/>
        </p:nvPicPr>
        <p:blipFill>
          <a:blip r:embed="rId2"/>
          <a:stretch>
            <a:fillRect/>
          </a:stretch>
        </p:blipFill>
        <p:spPr>
          <a:xfrm>
            <a:off x="6949440" y="3913632"/>
            <a:ext cx="384048" cy="384048"/>
          </a:xfrm>
          <a:prstGeom prst="rect">
            <a:avLst/>
          </a:prstGeom>
        </p:spPr>
      </p:pic>
      <p:sp>
        <p:nvSpPr>
          <p:cNvPr id="23" name="Text 19"/>
          <p:cNvSpPr txBox="1"/>
          <p:nvPr/>
        </p:nvSpPr>
        <p:spPr>
          <a:xfrm>
            <a:off x="7443216" y="3913632"/>
            <a:ext cx="2743200" cy="384048"/>
          </a:xfrm>
          <a:prstGeom prst="rect">
            <a:avLst/>
          </a:prstGeom>
          <a:noFill/>
          <a:ln/>
        </p:spPr>
        <p:txBody>
          <a:bodyPr wrap="square" lIns="0" tIns="0" rIns="0" bIns="0" rtlCol="0" anchor="ctr"/>
          <a:lstStyle/>
          <a:p>
            <a:pPr indent="0" marL="0">
              <a:buNone/>
            </a:pPr>
            <a:r>
              <a:rPr lang="en-US" sz="1600" b="1" dirty="0">
                <a:solidFill>
                  <a:srgbClr val="B3392A"/>
                </a:solidFill>
                <a:latin typeface="Arial" pitchFamily="34" charset="0"/>
                <a:ea typeface="Arial" pitchFamily="34" charset="-122"/>
                <a:cs typeface="Arial" pitchFamily="34" charset="-120"/>
              </a:rPr>
              <a:t>Hindari</a:t>
            </a:r>
            <a:endParaRPr lang="en-US" sz="1600" dirty="0"/>
          </a:p>
        </p:txBody>
      </p:sp>
      <p:sp>
        <p:nvSpPr>
          <p:cNvPr id="24" name="Text 20"/>
          <p:cNvSpPr txBox="1"/>
          <p:nvPr/>
        </p:nvSpPr>
        <p:spPr>
          <a:xfrm>
            <a:off x="6967728" y="4425696"/>
            <a:ext cx="4343400"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"update", "fix bug", "asdf", "."</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Menggabungkan sepuluh perubahan berbeda</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Ringkasan sepanjang satu paragraf</a:t>
            </a:r>
            <a:endParaRPr lang="en-US" sz="1200" dirty="0"/>
          </a:p>
          <a:p>
            <a:pPr marL="342900" indent="-3429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Pesan yang tidak menjelaskan apa pun</a:t>
            </a:r>
            <a:endParaRPr lang="en-US" sz="1200" dirty="0"/>
          </a:p>
        </p:txBody>
      </p:sp>
      <p:sp>
        <p:nvSpPr>
          <p:cNvPr id="25" name="Text 21"/>
          <p:cNvSpPr txBox="1"/>
          <p:nvPr/>
        </p:nvSpPr>
        <p:spPr>
          <a:xfrm>
            <a:off x="6675120" y="5797296"/>
            <a:ext cx="4873752" cy="365760"/>
          </a:xfrm>
          <a:prstGeom prst="rect">
            <a:avLst/>
          </a:prstGeom>
          <a:noFill/>
          <a:ln/>
        </p:spPr>
        <p:txBody>
          <a:bodyPr wrap="square" lIns="0" tIns="0" rIns="0" bIns="0" rtlCol="0" anchor="ctr"/>
          <a:lstStyle/>
          <a:p>
            <a:pPr indent="0" marL="0">
              <a:lnSpc>
                <a:spcPts val="1600"/>
              </a:lnSpc>
              <a:buNone/>
            </a:pPr>
            <a:r>
              <a:rPr lang="en-US" sz="1200" i="1" dirty="0">
                <a:solidFill>
                  <a:srgbClr val="6E6E78"/>
                </a:solidFill>
                <a:latin typeface="Calibri" pitchFamily="34" charset="0"/>
                <a:ea typeface="Calibri" pitchFamily="34" charset="-122"/>
                <a:cs typeface="Calibri" pitchFamily="34" charset="-120"/>
              </a:rPr>
              <a:t>Pesan commit yang baik adalah dokumentasi termurah yang bisa dibuat sebuah tim.</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05 · KEBIASAAN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Praktik Terbaik dan Kesalahan Umum</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640080" y="1572768"/>
            <a:ext cx="5330952" cy="4370832"/>
          </a:xfrm>
          <a:prstGeom prst="roundRect">
            <a:avLst>
              <a:gd name="adj" fmla="val 2092"/>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7" name="Image 0" descr="preencoded.png">    </p:cNvPr>
          <p:cNvPicPr>
            <a:picLocks noChangeAspect="1"/>
          </p:cNvPicPr>
          <p:nvPr/>
        </p:nvPicPr>
        <p:blipFill>
          <a:blip r:embed="rId1"/>
          <a:stretch>
            <a:fillRect/>
          </a:stretch>
        </p:blipFill>
        <p:spPr>
          <a:xfrm>
            <a:off x="950976" y="1810512"/>
            <a:ext cx="420624" cy="420624"/>
          </a:xfrm>
          <a:prstGeom prst="rect">
            <a:avLst/>
          </a:prstGeom>
        </p:spPr>
      </p:pic>
      <p:sp>
        <p:nvSpPr>
          <p:cNvPr id="8" name="Text 5"/>
          <p:cNvSpPr txBox="1"/>
          <p:nvPr/>
        </p:nvSpPr>
        <p:spPr>
          <a:xfrm>
            <a:off x="1499616" y="1810512"/>
            <a:ext cx="2743200" cy="420624"/>
          </a:xfrm>
          <a:prstGeom prst="rect">
            <a:avLst/>
          </a:prstGeom>
          <a:noFill/>
          <a:ln/>
        </p:spPr>
        <p:txBody>
          <a:bodyPr wrap="square" lIns="0" tIns="0" rIns="0" bIns="0" rtlCol="0" anchor="ctr"/>
          <a:lstStyle/>
          <a:p>
            <a:pPr indent="0" marL="0">
              <a:buNone/>
            </a:pPr>
            <a:r>
              <a:rPr lang="en-US" sz="1800" b="1" dirty="0">
                <a:solidFill>
                  <a:srgbClr val="2E7D5B"/>
                </a:solidFill>
                <a:latin typeface="Arial" pitchFamily="34" charset="0"/>
                <a:ea typeface="Arial" pitchFamily="34" charset="-122"/>
                <a:cs typeface="Arial" pitchFamily="34" charset="-120"/>
              </a:rPr>
              <a:t>Lakukan</a:t>
            </a:r>
            <a:endParaRPr lang="en-US" sz="1800" dirty="0"/>
          </a:p>
        </p:txBody>
      </p:sp>
      <p:sp>
        <p:nvSpPr>
          <p:cNvPr id="9" name="Shape 6"/>
          <p:cNvSpPr/>
          <p:nvPr/>
        </p:nvSpPr>
        <p:spPr>
          <a:xfrm>
            <a:off x="987552" y="2459736"/>
            <a:ext cx="137160" cy="137160"/>
          </a:xfrm>
          <a:prstGeom prst="ellipse">
            <a:avLst/>
          </a:prstGeom>
          <a:solidFill>
            <a:srgbClr val="2E7D5B"/>
          </a:solidFill>
          <a:ln w="12700">
            <a:solidFill>
              <a:srgbClr val="2E7D5B"/>
            </a:solidFill>
            <a:prstDash val="solid"/>
          </a:ln>
        </p:spPr>
      </p:sp>
      <p:sp>
        <p:nvSpPr>
          <p:cNvPr id="10" name="Text 7"/>
          <p:cNvSpPr txBox="1"/>
          <p:nvPr/>
        </p:nvSpPr>
        <p:spPr>
          <a:xfrm>
            <a:off x="1261872" y="23774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Commit kecil dan sering</a:t>
            </a:r>
            <a:endParaRPr lang="en-US" sz="1350" dirty="0"/>
          </a:p>
        </p:txBody>
      </p:sp>
      <p:sp>
        <p:nvSpPr>
          <p:cNvPr id="11" name="Text 8"/>
          <p:cNvSpPr txBox="1"/>
          <p:nvPr/>
        </p:nvSpPr>
        <p:spPr>
          <a:xfrm>
            <a:off x="1261872" y="26517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Perubahan mudah ditinjau dan mudah dibatalkan bila bermasalah.</a:t>
            </a:r>
            <a:endParaRPr lang="en-US" sz="1150" dirty="0"/>
          </a:p>
        </p:txBody>
      </p:sp>
      <p:sp>
        <p:nvSpPr>
          <p:cNvPr id="12" name="Shape 9"/>
          <p:cNvSpPr/>
          <p:nvPr/>
        </p:nvSpPr>
        <p:spPr>
          <a:xfrm>
            <a:off x="987552" y="3145536"/>
            <a:ext cx="137160" cy="137160"/>
          </a:xfrm>
          <a:prstGeom prst="ellipse">
            <a:avLst/>
          </a:prstGeom>
          <a:solidFill>
            <a:srgbClr val="2E7D5B"/>
          </a:solidFill>
          <a:ln w="12700">
            <a:solidFill>
              <a:srgbClr val="2E7D5B"/>
            </a:solidFill>
            <a:prstDash val="solid"/>
          </a:ln>
        </p:spPr>
      </p:sp>
      <p:sp>
        <p:nvSpPr>
          <p:cNvPr id="13" name="Text 10"/>
          <p:cNvSpPr txBox="1"/>
          <p:nvPr/>
        </p:nvSpPr>
        <p:spPr>
          <a:xfrm>
            <a:off x="1261872" y="30632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Tarik sebelum mendorong</a:t>
            </a:r>
            <a:endParaRPr lang="en-US" sz="1350" dirty="0"/>
          </a:p>
        </p:txBody>
      </p:sp>
      <p:sp>
        <p:nvSpPr>
          <p:cNvPr id="14" name="Text 11"/>
          <p:cNvSpPr txBox="1"/>
          <p:nvPr/>
        </p:nvSpPr>
        <p:spPr>
          <a:xfrm>
            <a:off x="1261872" y="33375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Jalankan git pull sebelum push agar konflik ketahuan lebih awal.</a:t>
            </a:r>
            <a:endParaRPr lang="en-US" sz="1150" dirty="0"/>
          </a:p>
        </p:txBody>
      </p:sp>
      <p:sp>
        <p:nvSpPr>
          <p:cNvPr id="15" name="Shape 12"/>
          <p:cNvSpPr/>
          <p:nvPr/>
        </p:nvSpPr>
        <p:spPr>
          <a:xfrm>
            <a:off x="987552" y="3831336"/>
            <a:ext cx="137160" cy="137160"/>
          </a:xfrm>
          <a:prstGeom prst="ellipse">
            <a:avLst/>
          </a:prstGeom>
          <a:solidFill>
            <a:srgbClr val="2E7D5B"/>
          </a:solidFill>
          <a:ln w="12700">
            <a:solidFill>
              <a:srgbClr val="2E7D5B"/>
            </a:solidFill>
            <a:prstDash val="solid"/>
          </a:ln>
        </p:spPr>
      </p:sp>
      <p:sp>
        <p:nvSpPr>
          <p:cNvPr id="16" name="Text 13"/>
          <p:cNvSpPr txBox="1"/>
          <p:nvPr/>
        </p:nvSpPr>
        <p:spPr>
          <a:xfrm>
            <a:off x="1261872" y="37490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Satu cabang satu tujuan</a:t>
            </a:r>
            <a:endParaRPr lang="en-US" sz="1350" dirty="0"/>
          </a:p>
        </p:txBody>
      </p:sp>
      <p:sp>
        <p:nvSpPr>
          <p:cNvPr id="17" name="Text 14"/>
          <p:cNvSpPr txBox="1"/>
          <p:nvPr/>
        </p:nvSpPr>
        <p:spPr>
          <a:xfrm>
            <a:off x="1261872" y="40233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Jangan mencampur perbaikan bug dengan pengembangan fitur baru.</a:t>
            </a:r>
            <a:endParaRPr lang="en-US" sz="1150" dirty="0"/>
          </a:p>
        </p:txBody>
      </p:sp>
      <p:sp>
        <p:nvSpPr>
          <p:cNvPr id="18" name="Shape 15"/>
          <p:cNvSpPr/>
          <p:nvPr/>
        </p:nvSpPr>
        <p:spPr>
          <a:xfrm>
            <a:off x="987552" y="4517136"/>
            <a:ext cx="137160" cy="137160"/>
          </a:xfrm>
          <a:prstGeom prst="ellipse">
            <a:avLst/>
          </a:prstGeom>
          <a:solidFill>
            <a:srgbClr val="2E7D5B"/>
          </a:solidFill>
          <a:ln w="12700">
            <a:solidFill>
              <a:srgbClr val="2E7D5B"/>
            </a:solidFill>
            <a:prstDash val="solid"/>
          </a:ln>
        </p:spPr>
      </p:sp>
      <p:sp>
        <p:nvSpPr>
          <p:cNvPr id="19" name="Text 16"/>
          <p:cNvSpPr txBox="1"/>
          <p:nvPr/>
        </p:nvSpPr>
        <p:spPr>
          <a:xfrm>
            <a:off x="1261872" y="44348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Tulis README dan .gitignore</a:t>
            </a:r>
            <a:endParaRPr lang="en-US" sz="1350" dirty="0"/>
          </a:p>
        </p:txBody>
      </p:sp>
      <p:sp>
        <p:nvSpPr>
          <p:cNvPr id="20" name="Text 17"/>
          <p:cNvSpPr txBox="1"/>
          <p:nvPr/>
        </p:nvSpPr>
        <p:spPr>
          <a:xfrm>
            <a:off x="1261872" y="47091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Dua berkas ini menentukan kesan pertama terhadap repositori Anda.</a:t>
            </a:r>
            <a:endParaRPr lang="en-US" sz="1150" dirty="0"/>
          </a:p>
        </p:txBody>
      </p:sp>
      <p:sp>
        <p:nvSpPr>
          <p:cNvPr id="21" name="Shape 18"/>
          <p:cNvSpPr/>
          <p:nvPr/>
        </p:nvSpPr>
        <p:spPr>
          <a:xfrm>
            <a:off x="987552" y="5202936"/>
            <a:ext cx="137160" cy="137160"/>
          </a:xfrm>
          <a:prstGeom prst="ellipse">
            <a:avLst/>
          </a:prstGeom>
          <a:solidFill>
            <a:srgbClr val="2E7D5B"/>
          </a:solidFill>
          <a:ln w="12700">
            <a:solidFill>
              <a:srgbClr val="2E7D5B"/>
            </a:solidFill>
            <a:prstDash val="solid"/>
          </a:ln>
        </p:spPr>
      </p:sp>
      <p:sp>
        <p:nvSpPr>
          <p:cNvPr id="22" name="Text 19"/>
          <p:cNvSpPr txBox="1"/>
          <p:nvPr/>
        </p:nvSpPr>
        <p:spPr>
          <a:xfrm>
            <a:off x="1261872" y="51206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Review sebelum merge</a:t>
            </a:r>
            <a:endParaRPr lang="en-US" sz="1350" dirty="0"/>
          </a:p>
        </p:txBody>
      </p:sp>
      <p:sp>
        <p:nvSpPr>
          <p:cNvPr id="23" name="Text 20"/>
          <p:cNvSpPr txBox="1"/>
          <p:nvPr/>
        </p:nvSpPr>
        <p:spPr>
          <a:xfrm>
            <a:off x="1261872" y="53949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Pull request bukan formalitas, melainkan mekanisme menjaga kualitas.</a:t>
            </a:r>
            <a:endParaRPr lang="en-US" sz="1150" dirty="0"/>
          </a:p>
        </p:txBody>
      </p:sp>
      <p:sp>
        <p:nvSpPr>
          <p:cNvPr id="24" name="Shape 21"/>
          <p:cNvSpPr/>
          <p:nvPr/>
        </p:nvSpPr>
        <p:spPr>
          <a:xfrm>
            <a:off x="6217920" y="1572768"/>
            <a:ext cx="5330952" cy="4370832"/>
          </a:xfrm>
          <a:prstGeom prst="roundRect">
            <a:avLst>
              <a:gd name="adj" fmla="val 2092"/>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pic>
        <p:nvPicPr>
          <p:cNvPr id="25" name="Image 1" descr="preencoded.png">    </p:cNvPr>
          <p:cNvPicPr>
            <a:picLocks noChangeAspect="1"/>
          </p:cNvPicPr>
          <p:nvPr/>
        </p:nvPicPr>
        <p:blipFill>
          <a:blip r:embed="rId2"/>
          <a:stretch>
            <a:fillRect/>
          </a:stretch>
        </p:blipFill>
        <p:spPr>
          <a:xfrm>
            <a:off x="6528816" y="1810512"/>
            <a:ext cx="420624" cy="420624"/>
          </a:xfrm>
          <a:prstGeom prst="rect">
            <a:avLst/>
          </a:prstGeom>
        </p:spPr>
      </p:pic>
      <p:sp>
        <p:nvSpPr>
          <p:cNvPr id="26" name="Text 22"/>
          <p:cNvSpPr txBox="1"/>
          <p:nvPr/>
        </p:nvSpPr>
        <p:spPr>
          <a:xfrm>
            <a:off x="7077456" y="1810512"/>
            <a:ext cx="2743200" cy="420624"/>
          </a:xfrm>
          <a:prstGeom prst="rect">
            <a:avLst/>
          </a:prstGeom>
          <a:noFill/>
          <a:ln/>
        </p:spPr>
        <p:txBody>
          <a:bodyPr wrap="square" lIns="0" tIns="0" rIns="0" bIns="0" rtlCol="0" anchor="ctr"/>
          <a:lstStyle/>
          <a:p>
            <a:pPr indent="0" marL="0">
              <a:buNone/>
            </a:pPr>
            <a:r>
              <a:rPr lang="en-US" sz="1800" b="1" dirty="0">
                <a:solidFill>
                  <a:srgbClr val="B3392A"/>
                </a:solidFill>
                <a:latin typeface="Arial" pitchFamily="34" charset="0"/>
                <a:ea typeface="Arial" pitchFamily="34" charset="-122"/>
                <a:cs typeface="Arial" pitchFamily="34" charset="-120"/>
              </a:rPr>
              <a:t>Hindari</a:t>
            </a:r>
            <a:endParaRPr lang="en-US" sz="1800" dirty="0"/>
          </a:p>
        </p:txBody>
      </p:sp>
      <p:sp>
        <p:nvSpPr>
          <p:cNvPr id="27" name="Shape 23"/>
          <p:cNvSpPr/>
          <p:nvPr/>
        </p:nvSpPr>
        <p:spPr>
          <a:xfrm>
            <a:off x="6565392" y="2459736"/>
            <a:ext cx="137160" cy="137160"/>
          </a:xfrm>
          <a:prstGeom prst="ellipse">
            <a:avLst/>
          </a:prstGeom>
          <a:solidFill>
            <a:srgbClr val="B3392A"/>
          </a:solidFill>
          <a:ln w="12700">
            <a:solidFill>
              <a:srgbClr val="B3392A"/>
            </a:solidFill>
            <a:prstDash val="solid"/>
          </a:ln>
        </p:spPr>
      </p:sp>
      <p:sp>
        <p:nvSpPr>
          <p:cNvPr id="28" name="Text 24"/>
          <p:cNvSpPr txBox="1"/>
          <p:nvPr/>
        </p:nvSpPr>
        <p:spPr>
          <a:xfrm>
            <a:off x="6839712" y="23774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Commit berkas rahasia</a:t>
            </a:r>
            <a:endParaRPr lang="en-US" sz="1350" dirty="0"/>
          </a:p>
        </p:txBody>
      </p:sp>
      <p:sp>
        <p:nvSpPr>
          <p:cNvPr id="29" name="Text 25"/>
          <p:cNvSpPr txBox="1"/>
          <p:nvPr/>
        </p:nvSpPr>
        <p:spPr>
          <a:xfrm>
            <a:off x="6839712" y="26517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Kata sandi dan kunci API yang sudah dipush dianggap bocor selamanya.</a:t>
            </a:r>
            <a:endParaRPr lang="en-US" sz="1150" dirty="0"/>
          </a:p>
        </p:txBody>
      </p:sp>
      <p:sp>
        <p:nvSpPr>
          <p:cNvPr id="30" name="Shape 26"/>
          <p:cNvSpPr/>
          <p:nvPr/>
        </p:nvSpPr>
        <p:spPr>
          <a:xfrm>
            <a:off x="6565392" y="3145536"/>
            <a:ext cx="137160" cy="137160"/>
          </a:xfrm>
          <a:prstGeom prst="ellipse">
            <a:avLst/>
          </a:prstGeom>
          <a:solidFill>
            <a:srgbClr val="B3392A"/>
          </a:solidFill>
          <a:ln w="12700">
            <a:solidFill>
              <a:srgbClr val="B3392A"/>
            </a:solidFill>
            <a:prstDash val="solid"/>
          </a:ln>
        </p:spPr>
      </p:sp>
      <p:sp>
        <p:nvSpPr>
          <p:cNvPr id="31" name="Text 27"/>
          <p:cNvSpPr txBox="1"/>
          <p:nvPr/>
        </p:nvSpPr>
        <p:spPr>
          <a:xfrm>
            <a:off x="6839712" y="30632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Push langsung ke main</a:t>
            </a:r>
            <a:endParaRPr lang="en-US" sz="1350" dirty="0"/>
          </a:p>
        </p:txBody>
      </p:sp>
      <p:sp>
        <p:nvSpPr>
          <p:cNvPr id="32" name="Text 28"/>
          <p:cNvSpPr txBox="1"/>
          <p:nvPr/>
        </p:nvSpPr>
        <p:spPr>
          <a:xfrm>
            <a:off x="6839712" y="33375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Lindungi cabang utama dan biasakan lewat pull request.</a:t>
            </a:r>
            <a:endParaRPr lang="en-US" sz="1150" dirty="0"/>
          </a:p>
        </p:txBody>
      </p:sp>
      <p:sp>
        <p:nvSpPr>
          <p:cNvPr id="33" name="Shape 29"/>
          <p:cNvSpPr/>
          <p:nvPr/>
        </p:nvSpPr>
        <p:spPr>
          <a:xfrm>
            <a:off x="6565392" y="3831336"/>
            <a:ext cx="137160" cy="137160"/>
          </a:xfrm>
          <a:prstGeom prst="ellipse">
            <a:avLst/>
          </a:prstGeom>
          <a:solidFill>
            <a:srgbClr val="B3392A"/>
          </a:solidFill>
          <a:ln w="12700">
            <a:solidFill>
              <a:srgbClr val="B3392A"/>
            </a:solidFill>
            <a:prstDash val="solid"/>
          </a:ln>
        </p:spPr>
      </p:sp>
      <p:sp>
        <p:nvSpPr>
          <p:cNvPr id="34" name="Text 30"/>
          <p:cNvSpPr txBox="1"/>
          <p:nvPr/>
        </p:nvSpPr>
        <p:spPr>
          <a:xfrm>
            <a:off x="6839712" y="37490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Rebase riwayat publik</a:t>
            </a:r>
            <a:endParaRPr lang="en-US" sz="1350" dirty="0"/>
          </a:p>
        </p:txBody>
      </p:sp>
      <p:sp>
        <p:nvSpPr>
          <p:cNvPr id="35" name="Text 31"/>
          <p:cNvSpPr txBox="1"/>
          <p:nvPr/>
        </p:nvSpPr>
        <p:spPr>
          <a:xfrm>
            <a:off x="6839712" y="40233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Menulis ulang commit bersama akan mengacaukan pekerjaan tim.</a:t>
            </a:r>
            <a:endParaRPr lang="en-US" sz="1150" dirty="0"/>
          </a:p>
        </p:txBody>
      </p:sp>
      <p:sp>
        <p:nvSpPr>
          <p:cNvPr id="36" name="Shape 32"/>
          <p:cNvSpPr/>
          <p:nvPr/>
        </p:nvSpPr>
        <p:spPr>
          <a:xfrm>
            <a:off x="6565392" y="4517136"/>
            <a:ext cx="137160" cy="137160"/>
          </a:xfrm>
          <a:prstGeom prst="ellipse">
            <a:avLst/>
          </a:prstGeom>
          <a:solidFill>
            <a:srgbClr val="B3392A"/>
          </a:solidFill>
          <a:ln w="12700">
            <a:solidFill>
              <a:srgbClr val="B3392A"/>
            </a:solidFill>
            <a:prstDash val="solid"/>
          </a:ln>
        </p:spPr>
      </p:sp>
      <p:sp>
        <p:nvSpPr>
          <p:cNvPr id="37" name="Text 33"/>
          <p:cNvSpPr txBox="1"/>
          <p:nvPr/>
        </p:nvSpPr>
        <p:spPr>
          <a:xfrm>
            <a:off x="6839712" y="44348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Commit berkas besar biner</a:t>
            </a:r>
            <a:endParaRPr lang="en-US" sz="1350" dirty="0"/>
          </a:p>
        </p:txBody>
      </p:sp>
      <p:sp>
        <p:nvSpPr>
          <p:cNvPr id="38" name="Text 34"/>
          <p:cNvSpPr txBox="1"/>
          <p:nvPr/>
        </p:nvSpPr>
        <p:spPr>
          <a:xfrm>
            <a:off x="6839712" y="47091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Repositori membengkak; gunakan Git LFS bila memang diperlukan.</a:t>
            </a:r>
            <a:endParaRPr lang="en-US" sz="1150" dirty="0"/>
          </a:p>
        </p:txBody>
      </p:sp>
      <p:sp>
        <p:nvSpPr>
          <p:cNvPr id="39" name="Shape 35"/>
          <p:cNvSpPr/>
          <p:nvPr/>
        </p:nvSpPr>
        <p:spPr>
          <a:xfrm>
            <a:off x="6565392" y="5202936"/>
            <a:ext cx="137160" cy="137160"/>
          </a:xfrm>
          <a:prstGeom prst="ellipse">
            <a:avLst/>
          </a:prstGeom>
          <a:solidFill>
            <a:srgbClr val="B3392A"/>
          </a:solidFill>
          <a:ln w="12700">
            <a:solidFill>
              <a:srgbClr val="B3392A"/>
            </a:solidFill>
            <a:prstDash val="solid"/>
          </a:ln>
        </p:spPr>
      </p:sp>
      <p:sp>
        <p:nvSpPr>
          <p:cNvPr id="40" name="Text 36"/>
          <p:cNvSpPr txBox="1"/>
          <p:nvPr/>
        </p:nvSpPr>
        <p:spPr>
          <a:xfrm>
            <a:off x="6839712" y="5120640"/>
            <a:ext cx="4480560" cy="274320"/>
          </a:xfrm>
          <a:prstGeom prst="rect">
            <a:avLst/>
          </a:prstGeom>
          <a:noFill/>
          <a:ln/>
        </p:spPr>
        <p:txBody>
          <a:bodyPr wrap="square" lIns="0" tIns="0" rIns="0" bIns="0" rtlCol="0" anchor="ctr"/>
          <a:lstStyle/>
          <a:p>
            <a:pPr indent="0" marL="0">
              <a:buNone/>
            </a:pPr>
            <a:r>
              <a:rPr lang="en-US" sz="1350" b="1" dirty="0">
                <a:solidFill>
                  <a:srgbClr val="17171C"/>
                </a:solidFill>
                <a:latin typeface="Arial" pitchFamily="34" charset="0"/>
                <a:ea typeface="Arial" pitchFamily="34" charset="-122"/>
                <a:cs typeface="Arial" pitchFamily="34" charset="-120"/>
              </a:rPr>
              <a:t>Menumpuk perubahan berhari-hari</a:t>
            </a:r>
            <a:endParaRPr lang="en-US" sz="1350" dirty="0"/>
          </a:p>
        </p:txBody>
      </p:sp>
      <p:sp>
        <p:nvSpPr>
          <p:cNvPr id="41" name="Text 37"/>
          <p:cNvSpPr txBox="1"/>
          <p:nvPr/>
        </p:nvSpPr>
        <p:spPr>
          <a:xfrm>
            <a:off x="6839712" y="5394960"/>
            <a:ext cx="4434840" cy="384048"/>
          </a:xfrm>
          <a:prstGeom prst="rect">
            <a:avLst/>
          </a:prstGeom>
          <a:noFill/>
          <a:ln/>
        </p:spPr>
        <p:txBody>
          <a:bodyPr wrap="square" lIns="0" tIns="0" rIns="0" bIns="0" rtlCol="0" anchor="ctr"/>
          <a:lstStyle/>
          <a:p>
            <a:pPr indent="0" marL="0">
              <a:lnSpc>
                <a:spcPts val="1500"/>
              </a:lnSpc>
              <a:buNone/>
            </a:pPr>
            <a:r>
              <a:rPr lang="en-US" sz="1150" dirty="0">
                <a:solidFill>
                  <a:srgbClr val="6E6E78"/>
                </a:solidFill>
                <a:latin typeface="Calibri" pitchFamily="34" charset="0"/>
                <a:ea typeface="Calibri" pitchFamily="34" charset="-122"/>
                <a:cs typeface="Calibri" pitchFamily="34" charset="-120"/>
              </a:rPr>
              <a:t>Semakin lama menunda commit, semakin besar risiko konflik.</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50" b="1" spc="240" kern="0" dirty="0">
                <a:solidFill>
                  <a:srgbClr val="F05032"/>
                </a:solidFill>
                <a:latin typeface="Calibri" pitchFamily="34" charset="0"/>
                <a:ea typeface="Calibri" pitchFamily="34" charset="-122"/>
                <a:cs typeface="Calibri" pitchFamily="34" charset="-120"/>
              </a:rPr>
              <a:t>BAGIAN 05 · RINGKASAN</a:t>
            </a:r>
            <a:endParaRPr lang="en-US" sz="1150" dirty="0"/>
          </a:p>
        </p:txBody>
      </p:sp>
      <p:sp>
        <p:nvSpPr>
          <p:cNvPr id="3" name="Text 1"/>
          <p:cNvSpPr txBox="1"/>
          <p:nvPr/>
        </p:nvSpPr>
        <p:spPr>
          <a:xfrm>
            <a:off x="640080" y="658368"/>
            <a:ext cx="10607040" cy="603504"/>
          </a:xfrm>
          <a:prstGeom prst="rect">
            <a:avLst/>
          </a:prstGeom>
          <a:noFill/>
          <a:ln/>
        </p:spPr>
        <p:txBody>
          <a:bodyPr wrap="square" lIns="0" tIns="0" rIns="0" bIns="0" rtlCol="0" anchor="ctr"/>
          <a:lstStyle/>
          <a:p>
            <a:pPr indent="0" marL="0">
              <a:buNone/>
            </a:pPr>
            <a:r>
              <a:rPr lang="en-US" sz="3000" b="1" dirty="0">
                <a:solidFill>
                  <a:srgbClr val="17171C"/>
                </a:solidFill>
                <a:latin typeface="Arial" pitchFamily="34" charset="0"/>
                <a:ea typeface="Arial" pitchFamily="34" charset="-122"/>
                <a:cs typeface="Arial" pitchFamily="34" charset="-120"/>
              </a:rPr>
              <a:t>Lembar Contekan Perintah Git</a:t>
            </a:r>
            <a:endParaRPr lang="en-US" sz="3000" dirty="0"/>
          </a:p>
        </p:txBody>
      </p:sp>
      <p:sp>
        <p:nvSpPr>
          <p:cNvPr id="4" name="Text 2"/>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9C9CA6"/>
                </a:solidFill>
                <a:latin typeface="Calibri" pitchFamily="34" charset="0"/>
                <a:ea typeface="Calibri" pitchFamily="34" charset="-122"/>
                <a:cs typeface="Calibri" pitchFamily="34" charset="-120"/>
              </a:rPr>
              <a:t>Git — Panduan Komprehensif</a:t>
            </a:r>
            <a:endParaRPr lang="en-US" sz="10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B4B4BE"/>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640080" y="1600200"/>
            <a:ext cx="3456432" cy="3977640"/>
          </a:xfrm>
          <a:prstGeom prst="roundRect">
            <a:avLst>
              <a:gd name="adj" fmla="val 26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7" name="Shape 5"/>
          <p:cNvSpPr/>
          <p:nvPr/>
        </p:nvSpPr>
        <p:spPr>
          <a:xfrm>
            <a:off x="932688" y="1874520"/>
            <a:ext cx="512064" cy="512064"/>
          </a:xfrm>
          <a:prstGeom prst="ellipse">
            <a:avLst/>
          </a:prstGeom>
          <a:solidFill>
            <a:srgbClr val="17171C"/>
          </a:solidFill>
          <a:ln w="12700">
            <a:solidFill>
              <a:srgbClr val="17171C"/>
            </a:solidFill>
            <a:prstDash val="solid"/>
          </a:ln>
        </p:spPr>
      </p:sp>
      <p:pic>
        <p:nvPicPr>
          <p:cNvPr id="8" name="Image 0" descr="preencoded.png">    </p:cNvPr>
          <p:cNvPicPr>
            <a:picLocks noChangeAspect="1"/>
          </p:cNvPicPr>
          <p:nvPr/>
        </p:nvPicPr>
        <p:blipFill>
          <a:blip r:embed="rId1"/>
          <a:stretch>
            <a:fillRect/>
          </a:stretch>
        </p:blipFill>
        <p:spPr>
          <a:xfrm>
            <a:off x="1004377" y="1946209"/>
            <a:ext cx="368686" cy="368686"/>
          </a:xfrm>
          <a:prstGeom prst="rect">
            <a:avLst/>
          </a:prstGeom>
        </p:spPr>
      </p:pic>
      <p:sp>
        <p:nvSpPr>
          <p:cNvPr id="9" name="Text 6"/>
          <p:cNvSpPr txBox="1"/>
          <p:nvPr/>
        </p:nvSpPr>
        <p:spPr>
          <a:xfrm>
            <a:off x="1554480" y="1892808"/>
            <a:ext cx="2267712" cy="475488"/>
          </a:xfrm>
          <a:prstGeom prst="rect">
            <a:avLst/>
          </a:prstGeom>
          <a:noFill/>
          <a:ln/>
        </p:spPr>
        <p:txBody>
          <a:bodyPr wrap="square" lIns="0" tIns="0" rIns="0" bIns="0" rtlCol="0" anchor="ctr"/>
          <a:lstStyle/>
          <a:p>
            <a:pPr indent="0" marL="0">
              <a:buNone/>
            </a:pPr>
            <a:r>
              <a:rPr lang="en-US" sz="1450" b="1" dirty="0">
                <a:solidFill>
                  <a:srgbClr val="17171C"/>
                </a:solidFill>
                <a:latin typeface="Arial" pitchFamily="34" charset="0"/>
                <a:ea typeface="Arial" pitchFamily="34" charset="-122"/>
                <a:cs typeface="Arial" pitchFamily="34" charset="-120"/>
              </a:rPr>
              <a:t>Dasar &amp; Konfigurasi</a:t>
            </a:r>
            <a:endParaRPr lang="en-US" sz="1450" dirty="0"/>
          </a:p>
        </p:txBody>
      </p:sp>
      <p:sp>
        <p:nvSpPr>
          <p:cNvPr id="10" name="Text 7"/>
          <p:cNvSpPr txBox="1"/>
          <p:nvPr/>
        </p:nvSpPr>
        <p:spPr>
          <a:xfrm>
            <a:off x="932688" y="25603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config --global user.name</a:t>
            </a:r>
            <a:endParaRPr lang="en-US" sz="1150" dirty="0"/>
          </a:p>
        </p:txBody>
      </p:sp>
      <p:sp>
        <p:nvSpPr>
          <p:cNvPr id="11" name="Text 8"/>
          <p:cNvSpPr txBox="1"/>
          <p:nvPr/>
        </p:nvSpPr>
        <p:spPr>
          <a:xfrm>
            <a:off x="932688" y="29718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init</a:t>
            </a:r>
            <a:endParaRPr lang="en-US" sz="1150" dirty="0"/>
          </a:p>
        </p:txBody>
      </p:sp>
      <p:sp>
        <p:nvSpPr>
          <p:cNvPr id="12" name="Text 9"/>
          <p:cNvSpPr txBox="1"/>
          <p:nvPr/>
        </p:nvSpPr>
        <p:spPr>
          <a:xfrm>
            <a:off x="932688" y="338328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clone &lt;url&gt;</a:t>
            </a:r>
            <a:endParaRPr lang="en-US" sz="1150" dirty="0"/>
          </a:p>
        </p:txBody>
      </p:sp>
      <p:sp>
        <p:nvSpPr>
          <p:cNvPr id="13" name="Text 10"/>
          <p:cNvSpPr txBox="1"/>
          <p:nvPr/>
        </p:nvSpPr>
        <p:spPr>
          <a:xfrm>
            <a:off x="932688" y="379476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status</a:t>
            </a:r>
            <a:endParaRPr lang="en-US" sz="1150" dirty="0"/>
          </a:p>
        </p:txBody>
      </p:sp>
      <p:sp>
        <p:nvSpPr>
          <p:cNvPr id="14" name="Text 11"/>
          <p:cNvSpPr txBox="1"/>
          <p:nvPr/>
        </p:nvSpPr>
        <p:spPr>
          <a:xfrm>
            <a:off x="932688" y="420624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add &lt;file&gt; | .</a:t>
            </a:r>
            <a:endParaRPr lang="en-US" sz="1150" dirty="0"/>
          </a:p>
        </p:txBody>
      </p:sp>
      <p:sp>
        <p:nvSpPr>
          <p:cNvPr id="15" name="Text 12"/>
          <p:cNvSpPr txBox="1"/>
          <p:nvPr/>
        </p:nvSpPr>
        <p:spPr>
          <a:xfrm>
            <a:off x="932688" y="46177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commit -m "pesan"</a:t>
            </a:r>
            <a:endParaRPr lang="en-US" sz="1150" dirty="0"/>
          </a:p>
        </p:txBody>
      </p:sp>
      <p:sp>
        <p:nvSpPr>
          <p:cNvPr id="16" name="Text 13"/>
          <p:cNvSpPr txBox="1"/>
          <p:nvPr/>
        </p:nvSpPr>
        <p:spPr>
          <a:xfrm>
            <a:off x="932688" y="50292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log --oneline --graph</a:t>
            </a:r>
            <a:endParaRPr lang="en-US" sz="1150" dirty="0"/>
          </a:p>
        </p:txBody>
      </p:sp>
      <p:sp>
        <p:nvSpPr>
          <p:cNvPr id="17" name="Shape 14"/>
          <p:cNvSpPr/>
          <p:nvPr/>
        </p:nvSpPr>
        <p:spPr>
          <a:xfrm>
            <a:off x="4370832" y="1600200"/>
            <a:ext cx="3456432" cy="3977640"/>
          </a:xfrm>
          <a:prstGeom prst="roundRect">
            <a:avLst>
              <a:gd name="adj" fmla="val 2646"/>
            </a:avLst>
          </a:prstGeom>
          <a:solidFill>
            <a:srgbClr val="FBEAE5"/>
          </a:solidFill>
          <a:ln w="12700">
            <a:solidFill>
              <a:srgbClr val="F2C7B9"/>
            </a:solidFill>
            <a:prstDash val="solid"/>
          </a:ln>
          <a:effectLst>
            <a:outerShdw sx="100000" sy="100000" kx="0" ky="0" algn="bl" rotWithShape="0" blurRad="127000" dist="25400" dir="5400000">
              <a:srgbClr val="9A9086">
                <a:alpha val="18000"/>
              </a:srgbClr>
            </a:outerShdw>
          </a:effectLst>
        </p:spPr>
      </p:sp>
      <p:sp>
        <p:nvSpPr>
          <p:cNvPr id="18" name="Shape 15"/>
          <p:cNvSpPr/>
          <p:nvPr/>
        </p:nvSpPr>
        <p:spPr>
          <a:xfrm>
            <a:off x="4663440" y="1874520"/>
            <a:ext cx="512064" cy="512064"/>
          </a:xfrm>
          <a:prstGeom prst="ellipse">
            <a:avLst/>
          </a:prstGeom>
          <a:solidFill>
            <a:srgbClr val="F05032"/>
          </a:solidFill>
          <a:ln w="12700">
            <a:solidFill>
              <a:srgbClr val="F05032"/>
            </a:solidFill>
            <a:prstDash val="solid"/>
          </a:ln>
        </p:spPr>
      </p:sp>
      <p:pic>
        <p:nvPicPr>
          <p:cNvPr id="19" name="Image 1" descr="preencoded.png">    </p:cNvPr>
          <p:cNvPicPr>
            <a:picLocks noChangeAspect="1"/>
          </p:cNvPicPr>
          <p:nvPr/>
        </p:nvPicPr>
        <p:blipFill>
          <a:blip r:embed="rId2"/>
          <a:stretch>
            <a:fillRect/>
          </a:stretch>
        </p:blipFill>
        <p:spPr>
          <a:xfrm>
            <a:off x="4735129" y="1946209"/>
            <a:ext cx="368686" cy="368686"/>
          </a:xfrm>
          <a:prstGeom prst="rect">
            <a:avLst/>
          </a:prstGeom>
        </p:spPr>
      </p:pic>
      <p:sp>
        <p:nvSpPr>
          <p:cNvPr id="20" name="Text 16"/>
          <p:cNvSpPr txBox="1"/>
          <p:nvPr/>
        </p:nvSpPr>
        <p:spPr>
          <a:xfrm>
            <a:off x="5285232" y="1892808"/>
            <a:ext cx="2267712" cy="475488"/>
          </a:xfrm>
          <a:prstGeom prst="rect">
            <a:avLst/>
          </a:prstGeom>
          <a:noFill/>
          <a:ln/>
        </p:spPr>
        <p:txBody>
          <a:bodyPr wrap="square" lIns="0" tIns="0" rIns="0" bIns="0" rtlCol="0" anchor="ctr"/>
          <a:lstStyle/>
          <a:p>
            <a:pPr indent="0" marL="0">
              <a:buNone/>
            </a:pPr>
            <a:r>
              <a:rPr lang="en-US" sz="1450" b="1" dirty="0">
                <a:solidFill>
                  <a:srgbClr val="17171C"/>
                </a:solidFill>
                <a:latin typeface="Arial" pitchFamily="34" charset="0"/>
                <a:ea typeface="Arial" pitchFamily="34" charset="-122"/>
                <a:cs typeface="Arial" pitchFamily="34" charset="-120"/>
              </a:rPr>
              <a:t>Cabang &amp; Penggabungan</a:t>
            </a:r>
            <a:endParaRPr lang="en-US" sz="1450" dirty="0"/>
          </a:p>
        </p:txBody>
      </p:sp>
      <p:sp>
        <p:nvSpPr>
          <p:cNvPr id="21" name="Text 17"/>
          <p:cNvSpPr txBox="1"/>
          <p:nvPr/>
        </p:nvSpPr>
        <p:spPr>
          <a:xfrm>
            <a:off x="4663440" y="25603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branch</a:t>
            </a:r>
            <a:endParaRPr lang="en-US" sz="1150" dirty="0"/>
          </a:p>
        </p:txBody>
      </p:sp>
      <p:sp>
        <p:nvSpPr>
          <p:cNvPr id="22" name="Text 18"/>
          <p:cNvSpPr txBox="1"/>
          <p:nvPr/>
        </p:nvSpPr>
        <p:spPr>
          <a:xfrm>
            <a:off x="4663440" y="29718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switch -c &lt;cabang&gt;</a:t>
            </a:r>
            <a:endParaRPr lang="en-US" sz="1150" dirty="0"/>
          </a:p>
        </p:txBody>
      </p:sp>
      <p:sp>
        <p:nvSpPr>
          <p:cNvPr id="23" name="Text 19"/>
          <p:cNvSpPr txBox="1"/>
          <p:nvPr/>
        </p:nvSpPr>
        <p:spPr>
          <a:xfrm>
            <a:off x="4663440" y="338328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switch &lt;cabang&gt;</a:t>
            </a:r>
            <a:endParaRPr lang="en-US" sz="1150" dirty="0"/>
          </a:p>
        </p:txBody>
      </p:sp>
      <p:sp>
        <p:nvSpPr>
          <p:cNvPr id="24" name="Text 20"/>
          <p:cNvSpPr txBox="1"/>
          <p:nvPr/>
        </p:nvSpPr>
        <p:spPr>
          <a:xfrm>
            <a:off x="4663440" y="379476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merge &lt;cabang&gt;</a:t>
            </a:r>
            <a:endParaRPr lang="en-US" sz="1150" dirty="0"/>
          </a:p>
        </p:txBody>
      </p:sp>
      <p:sp>
        <p:nvSpPr>
          <p:cNvPr id="25" name="Text 21"/>
          <p:cNvSpPr txBox="1"/>
          <p:nvPr/>
        </p:nvSpPr>
        <p:spPr>
          <a:xfrm>
            <a:off x="4663440" y="420624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rebase &lt;cabang&gt;</a:t>
            </a:r>
            <a:endParaRPr lang="en-US" sz="1150" dirty="0"/>
          </a:p>
        </p:txBody>
      </p:sp>
      <p:sp>
        <p:nvSpPr>
          <p:cNvPr id="26" name="Text 22"/>
          <p:cNvSpPr txBox="1"/>
          <p:nvPr/>
        </p:nvSpPr>
        <p:spPr>
          <a:xfrm>
            <a:off x="4663440" y="46177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branch -d &lt;cabang&gt;</a:t>
            </a:r>
            <a:endParaRPr lang="en-US" sz="1150" dirty="0"/>
          </a:p>
        </p:txBody>
      </p:sp>
      <p:sp>
        <p:nvSpPr>
          <p:cNvPr id="27" name="Text 23"/>
          <p:cNvSpPr txBox="1"/>
          <p:nvPr/>
        </p:nvSpPr>
        <p:spPr>
          <a:xfrm>
            <a:off x="4663440" y="50292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merge --abort</a:t>
            </a:r>
            <a:endParaRPr lang="en-US" sz="1150" dirty="0"/>
          </a:p>
        </p:txBody>
      </p:sp>
      <p:sp>
        <p:nvSpPr>
          <p:cNvPr id="28" name="Shape 24"/>
          <p:cNvSpPr/>
          <p:nvPr/>
        </p:nvSpPr>
        <p:spPr>
          <a:xfrm>
            <a:off x="8101584" y="1600200"/>
            <a:ext cx="3456432" cy="3977640"/>
          </a:xfrm>
          <a:prstGeom prst="roundRect">
            <a:avLst>
              <a:gd name="adj" fmla="val 2646"/>
            </a:avLst>
          </a:prstGeom>
          <a:solidFill>
            <a:srgbClr val="FFFFFF"/>
          </a:solidFill>
          <a:ln w="12700">
            <a:solidFill>
              <a:srgbClr val="E2DFDD"/>
            </a:solidFill>
            <a:prstDash val="solid"/>
          </a:ln>
          <a:effectLst>
            <a:outerShdw sx="100000" sy="100000" kx="0" ky="0" algn="bl" rotWithShape="0" blurRad="127000" dist="25400" dir="5400000">
              <a:srgbClr val="9A9086">
                <a:alpha val="18000"/>
              </a:srgbClr>
            </a:outerShdw>
          </a:effectLst>
        </p:spPr>
      </p:sp>
      <p:sp>
        <p:nvSpPr>
          <p:cNvPr id="29" name="Shape 25"/>
          <p:cNvSpPr/>
          <p:nvPr/>
        </p:nvSpPr>
        <p:spPr>
          <a:xfrm>
            <a:off x="8394192" y="1874520"/>
            <a:ext cx="512064" cy="512064"/>
          </a:xfrm>
          <a:prstGeom prst="ellipse">
            <a:avLst/>
          </a:prstGeom>
          <a:solidFill>
            <a:srgbClr val="17171C"/>
          </a:solidFill>
          <a:ln w="12700">
            <a:solidFill>
              <a:srgbClr val="17171C"/>
            </a:solidFill>
            <a:prstDash val="solid"/>
          </a:ln>
        </p:spPr>
      </p:sp>
      <p:pic>
        <p:nvPicPr>
          <p:cNvPr id="30" name="Image 2" descr="preencoded.png">    </p:cNvPr>
          <p:cNvPicPr>
            <a:picLocks noChangeAspect="1"/>
          </p:cNvPicPr>
          <p:nvPr/>
        </p:nvPicPr>
        <p:blipFill>
          <a:blip r:embed="rId3"/>
          <a:stretch>
            <a:fillRect/>
          </a:stretch>
        </p:blipFill>
        <p:spPr>
          <a:xfrm>
            <a:off x="8465881" y="1946209"/>
            <a:ext cx="368686" cy="368686"/>
          </a:xfrm>
          <a:prstGeom prst="rect">
            <a:avLst/>
          </a:prstGeom>
        </p:spPr>
      </p:pic>
      <p:sp>
        <p:nvSpPr>
          <p:cNvPr id="31" name="Text 26"/>
          <p:cNvSpPr txBox="1"/>
          <p:nvPr/>
        </p:nvSpPr>
        <p:spPr>
          <a:xfrm>
            <a:off x="9015984" y="1892808"/>
            <a:ext cx="2267712" cy="475488"/>
          </a:xfrm>
          <a:prstGeom prst="rect">
            <a:avLst/>
          </a:prstGeom>
          <a:noFill/>
          <a:ln/>
        </p:spPr>
        <p:txBody>
          <a:bodyPr wrap="square" lIns="0" tIns="0" rIns="0" bIns="0" rtlCol="0" anchor="ctr"/>
          <a:lstStyle/>
          <a:p>
            <a:pPr indent="0" marL="0">
              <a:buNone/>
            </a:pPr>
            <a:r>
              <a:rPr lang="en-US" sz="1450" b="1" dirty="0">
                <a:solidFill>
                  <a:srgbClr val="17171C"/>
                </a:solidFill>
                <a:latin typeface="Arial" pitchFamily="34" charset="0"/>
                <a:ea typeface="Arial" pitchFamily="34" charset="-122"/>
                <a:cs typeface="Arial" pitchFamily="34" charset="-120"/>
              </a:rPr>
              <a:t>Remote &amp; Lanjutan</a:t>
            </a:r>
            <a:endParaRPr lang="en-US" sz="1450" dirty="0"/>
          </a:p>
        </p:txBody>
      </p:sp>
      <p:sp>
        <p:nvSpPr>
          <p:cNvPr id="32" name="Text 27"/>
          <p:cNvSpPr txBox="1"/>
          <p:nvPr/>
        </p:nvSpPr>
        <p:spPr>
          <a:xfrm>
            <a:off x="8394192" y="25603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remote -v</a:t>
            </a:r>
            <a:endParaRPr lang="en-US" sz="1150" dirty="0"/>
          </a:p>
        </p:txBody>
      </p:sp>
      <p:sp>
        <p:nvSpPr>
          <p:cNvPr id="33" name="Text 28"/>
          <p:cNvSpPr txBox="1"/>
          <p:nvPr/>
        </p:nvSpPr>
        <p:spPr>
          <a:xfrm>
            <a:off x="8394192" y="29718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push -u origin main</a:t>
            </a:r>
            <a:endParaRPr lang="en-US" sz="1150" dirty="0"/>
          </a:p>
        </p:txBody>
      </p:sp>
      <p:sp>
        <p:nvSpPr>
          <p:cNvPr id="34" name="Text 29"/>
          <p:cNvSpPr txBox="1"/>
          <p:nvPr/>
        </p:nvSpPr>
        <p:spPr>
          <a:xfrm>
            <a:off x="8394192" y="338328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fetch | git pull</a:t>
            </a:r>
            <a:endParaRPr lang="en-US" sz="1150" dirty="0"/>
          </a:p>
        </p:txBody>
      </p:sp>
      <p:sp>
        <p:nvSpPr>
          <p:cNvPr id="35" name="Text 30"/>
          <p:cNvSpPr txBox="1"/>
          <p:nvPr/>
        </p:nvSpPr>
        <p:spPr>
          <a:xfrm>
            <a:off x="8394192" y="379476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stash | git stash pop</a:t>
            </a:r>
            <a:endParaRPr lang="en-US" sz="1150" dirty="0"/>
          </a:p>
        </p:txBody>
      </p:sp>
      <p:sp>
        <p:nvSpPr>
          <p:cNvPr id="36" name="Text 31"/>
          <p:cNvSpPr txBox="1"/>
          <p:nvPr/>
        </p:nvSpPr>
        <p:spPr>
          <a:xfrm>
            <a:off x="8394192" y="420624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tag -a v1.0.0</a:t>
            </a:r>
            <a:endParaRPr lang="en-US" sz="1150" dirty="0"/>
          </a:p>
        </p:txBody>
      </p:sp>
      <p:sp>
        <p:nvSpPr>
          <p:cNvPr id="37" name="Text 32"/>
          <p:cNvSpPr txBox="1"/>
          <p:nvPr/>
        </p:nvSpPr>
        <p:spPr>
          <a:xfrm>
            <a:off x="8394192" y="461772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revert &lt;hash&gt;</a:t>
            </a:r>
            <a:endParaRPr lang="en-US" sz="1150" dirty="0"/>
          </a:p>
        </p:txBody>
      </p:sp>
      <p:sp>
        <p:nvSpPr>
          <p:cNvPr id="38" name="Text 33"/>
          <p:cNvSpPr txBox="1"/>
          <p:nvPr/>
        </p:nvSpPr>
        <p:spPr>
          <a:xfrm>
            <a:off x="8394192" y="5029200"/>
            <a:ext cx="2871216" cy="329184"/>
          </a:xfrm>
          <a:prstGeom prst="rect">
            <a:avLst/>
          </a:prstGeom>
          <a:noFill/>
          <a:ln/>
        </p:spPr>
        <p:txBody>
          <a:bodyPr wrap="square" lIns="0" tIns="0" rIns="0" bIns="0" rtlCol="0" anchor="ctr"/>
          <a:lstStyle/>
          <a:p>
            <a:pPr indent="0" marL="0">
              <a:buNone/>
            </a:pPr>
            <a:r>
              <a:rPr lang="en-US" sz="1150" dirty="0">
                <a:solidFill>
                  <a:srgbClr val="3A3A45"/>
                </a:solidFill>
                <a:latin typeface="Courier New" pitchFamily="34" charset="0"/>
                <a:ea typeface="Courier New" pitchFamily="34" charset="-122"/>
                <a:cs typeface="Courier New" pitchFamily="34" charset="-120"/>
              </a:rPr>
              <a:t>git reflog</a:t>
            </a:r>
            <a:endParaRPr lang="en-US" sz="1150" dirty="0"/>
          </a:p>
        </p:txBody>
      </p:sp>
      <p:sp>
        <p:nvSpPr>
          <p:cNvPr id="39" name="Text 34"/>
          <p:cNvSpPr txBox="1"/>
          <p:nvPr/>
        </p:nvSpPr>
        <p:spPr>
          <a:xfrm>
            <a:off x="640080" y="5715000"/>
            <a:ext cx="10908792" cy="365760"/>
          </a:xfrm>
          <a:prstGeom prst="rect">
            <a:avLst/>
          </a:prstGeom>
          <a:noFill/>
          <a:ln/>
        </p:spPr>
        <p:txBody>
          <a:bodyPr wrap="square" lIns="0" tIns="0" rIns="0" bIns="0" rtlCol="0" anchor="ctr"/>
          <a:lstStyle/>
          <a:p>
            <a:pPr algn="ctr" indent="0" marL="0">
              <a:buNone/>
            </a:pPr>
            <a:r>
              <a:rPr lang="en-US" sz="1250" i="1" dirty="0">
                <a:solidFill>
                  <a:srgbClr val="6E6E78"/>
                </a:solidFill>
                <a:latin typeface="Calibri" pitchFamily="34" charset="0"/>
                <a:ea typeface="Calibri" pitchFamily="34" charset="-122"/>
                <a:cs typeface="Calibri" pitchFamily="34" charset="-120"/>
              </a:rPr>
              <a:t>Simpan slide ini sebagai rujukan cepat saat bekerja sehari-hari.</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7171C"/>
        </a:solidFill>
      </p:bgPr>
    </p:bg>
    <p:spTree>
      <p:nvGrpSpPr>
        <p:cNvPr id="1" name=""/>
        <p:cNvGrpSpPr/>
        <p:nvPr/>
      </p:nvGrpSpPr>
      <p:grpSpPr>
        <a:xfrm>
          <a:off x="0" y="0"/>
          <a:ext cx="0" cy="0"/>
          <a:chOff x="0" y="0"/>
          <a:chExt cx="0" cy="0"/>
        </a:xfrm>
      </p:grpSpPr>
      <p:sp>
        <p:nvSpPr>
          <p:cNvPr id="2" name="Shape 0"/>
          <p:cNvSpPr/>
          <p:nvPr/>
        </p:nvSpPr>
        <p:spPr>
          <a:xfrm>
            <a:off x="-1097280" y="3108960"/>
            <a:ext cx="4937760" cy="4937760"/>
          </a:xfrm>
          <a:prstGeom prst="ellipse">
            <a:avLst/>
          </a:prstGeom>
          <a:solidFill>
            <a:srgbClr val="F05032">
              <a:alpha val="10000"/>
            </a:srgbClr>
          </a:solidFill>
          <a:ln w="12700">
            <a:solidFill>
              <a:srgbClr val="F05032"/>
            </a:solidFill>
            <a:prstDash val="solid"/>
          </a:ln>
        </p:spPr>
      </p:sp>
      <p:pic>
        <p:nvPicPr>
          <p:cNvPr id="3" name="Image 0" descr="preencoded.png">    </p:cNvPr>
          <p:cNvPicPr>
            <a:picLocks noChangeAspect="1"/>
          </p:cNvPicPr>
          <p:nvPr/>
        </p:nvPicPr>
        <p:blipFill>
          <a:blip r:embed="rId1"/>
          <a:stretch>
            <a:fillRect/>
          </a:stretch>
        </p:blipFill>
        <p:spPr>
          <a:xfrm>
            <a:off x="640080" y="1371600"/>
            <a:ext cx="1371600" cy="1371600"/>
          </a:xfrm>
          <a:prstGeom prst="rect">
            <a:avLst/>
          </a:prstGeom>
        </p:spPr>
      </p:pic>
      <p:sp>
        <p:nvSpPr>
          <p:cNvPr id="4" name="Text 1"/>
          <p:cNvSpPr txBox="1"/>
          <p:nvPr/>
        </p:nvSpPr>
        <p:spPr>
          <a:xfrm>
            <a:off x="640080" y="288036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Terima Kasih</a:t>
            </a:r>
            <a:endParaRPr lang="en-US" sz="4400" dirty="0"/>
          </a:p>
        </p:txBody>
      </p:sp>
      <p:sp>
        <p:nvSpPr>
          <p:cNvPr id="5" name="Text 2"/>
          <p:cNvSpPr txBox="1"/>
          <p:nvPr/>
        </p:nvSpPr>
        <p:spPr>
          <a:xfrm>
            <a:off x="640080" y="3767328"/>
            <a:ext cx="5760720" cy="914400"/>
          </a:xfrm>
          <a:prstGeom prst="rect">
            <a:avLst/>
          </a:prstGeom>
          <a:noFill/>
          <a:ln/>
        </p:spPr>
        <p:txBody>
          <a:bodyPr wrap="square" lIns="0" tIns="0" rIns="0" bIns="0" rtlCol="0" anchor="ctr"/>
          <a:lstStyle/>
          <a:p>
            <a:pPr indent="0" marL="0">
              <a:lnSpc>
                <a:spcPts val="2400"/>
              </a:lnSpc>
              <a:buNone/>
            </a:pPr>
            <a:r>
              <a:rPr lang="en-US" sz="1500" dirty="0">
                <a:solidFill>
                  <a:srgbClr val="A9A9B4"/>
                </a:solidFill>
                <a:latin typeface="Calibri" pitchFamily="34" charset="0"/>
                <a:ea typeface="Calibri" pitchFamily="34" charset="-122"/>
                <a:cs typeface="Calibri" pitchFamily="34" charset="-120"/>
              </a:rPr>
              <a:t>Git dikuasai bukan dengan menghafal, melainkan dengan membiasakan diri memakainya setiap hari. Mulailah dari satu repositori kecil hari ini.</a:t>
            </a:r>
            <a:endParaRPr lang="en-US" sz="1500" dirty="0"/>
          </a:p>
        </p:txBody>
      </p:sp>
      <p:sp>
        <p:nvSpPr>
          <p:cNvPr id="6" name="Shape 3"/>
          <p:cNvSpPr/>
          <p:nvPr/>
        </p:nvSpPr>
        <p:spPr>
          <a:xfrm>
            <a:off x="6858000" y="1417320"/>
            <a:ext cx="4690872" cy="1051560"/>
          </a:xfrm>
          <a:prstGeom prst="roundRect">
            <a:avLst>
              <a:gd name="adj" fmla="val 8696"/>
            </a:avLst>
          </a:prstGeom>
          <a:solidFill>
            <a:srgbClr val="23232B"/>
          </a:solidFill>
          <a:ln w="12700">
            <a:solidFill>
              <a:srgbClr val="34343E"/>
            </a:solidFill>
            <a:prstDash val="solid"/>
          </a:ln>
        </p:spPr>
      </p:sp>
      <p:sp>
        <p:nvSpPr>
          <p:cNvPr id="7" name="Shape 4"/>
          <p:cNvSpPr/>
          <p:nvPr/>
        </p:nvSpPr>
        <p:spPr>
          <a:xfrm>
            <a:off x="7132320" y="1700784"/>
            <a:ext cx="484632" cy="484632"/>
          </a:xfrm>
          <a:prstGeom prst="ellipse">
            <a:avLst/>
          </a:prstGeom>
          <a:solidFill>
            <a:srgbClr val="F05032"/>
          </a:solidFill>
          <a:ln w="12700">
            <a:solidFill>
              <a:srgbClr val="F05032"/>
            </a:solidFill>
            <a:prstDash val="solid"/>
          </a:ln>
        </p:spPr>
      </p:sp>
      <p:pic>
        <p:nvPicPr>
          <p:cNvPr id="8" name="Image 1" descr="preencoded.png">    </p:cNvPr>
          <p:cNvPicPr>
            <a:picLocks noChangeAspect="1"/>
          </p:cNvPicPr>
          <p:nvPr/>
        </p:nvPicPr>
        <p:blipFill>
          <a:blip r:embed="rId2"/>
          <a:stretch>
            <a:fillRect/>
          </a:stretch>
        </p:blipFill>
        <p:spPr>
          <a:xfrm>
            <a:off x="7200168" y="1768632"/>
            <a:ext cx="348935" cy="348935"/>
          </a:xfrm>
          <a:prstGeom prst="rect">
            <a:avLst/>
          </a:prstGeom>
        </p:spPr>
      </p:pic>
      <p:sp>
        <p:nvSpPr>
          <p:cNvPr id="9" name="Text 5"/>
          <p:cNvSpPr txBox="1"/>
          <p:nvPr/>
        </p:nvSpPr>
        <p:spPr>
          <a:xfrm>
            <a:off x="7754112" y="1655064"/>
            <a:ext cx="36576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Dokumentasi Resmi</a:t>
            </a:r>
            <a:endParaRPr lang="en-US" sz="1400" dirty="0"/>
          </a:p>
        </p:txBody>
      </p:sp>
      <p:sp>
        <p:nvSpPr>
          <p:cNvPr id="10" name="Text 6"/>
          <p:cNvSpPr txBox="1"/>
          <p:nvPr/>
        </p:nvSpPr>
        <p:spPr>
          <a:xfrm>
            <a:off x="7754112" y="1947672"/>
            <a:ext cx="3657600" cy="274320"/>
          </a:xfrm>
          <a:prstGeom prst="rect">
            <a:avLst/>
          </a:prstGeom>
          <a:noFill/>
          <a:ln/>
        </p:spPr>
        <p:txBody>
          <a:bodyPr wrap="square" lIns="0" tIns="0" rIns="0" bIns="0" rtlCol="0" anchor="ctr"/>
          <a:lstStyle/>
          <a:p>
            <a:pPr indent="0" marL="0">
              <a:buNone/>
            </a:pPr>
            <a:r>
              <a:rPr lang="en-US" sz="1200" dirty="0">
                <a:solidFill>
                  <a:srgbClr val="F05032"/>
                </a:solidFill>
                <a:latin typeface="Courier New" pitchFamily="34" charset="0"/>
                <a:ea typeface="Courier New" pitchFamily="34" charset="-122"/>
                <a:cs typeface="Courier New" pitchFamily="34" charset="-120"/>
              </a:rPr>
              <a:t>git-scm.com/doc</a:t>
            </a:r>
            <a:endParaRPr lang="en-US" sz="1200" dirty="0"/>
          </a:p>
        </p:txBody>
      </p:sp>
      <p:sp>
        <p:nvSpPr>
          <p:cNvPr id="11" name="Shape 7"/>
          <p:cNvSpPr/>
          <p:nvPr/>
        </p:nvSpPr>
        <p:spPr>
          <a:xfrm>
            <a:off x="6858000" y="2651760"/>
            <a:ext cx="4690872" cy="1051560"/>
          </a:xfrm>
          <a:prstGeom prst="roundRect">
            <a:avLst>
              <a:gd name="adj" fmla="val 8696"/>
            </a:avLst>
          </a:prstGeom>
          <a:solidFill>
            <a:srgbClr val="23232B"/>
          </a:solidFill>
          <a:ln w="12700">
            <a:solidFill>
              <a:srgbClr val="34343E"/>
            </a:solidFill>
            <a:prstDash val="solid"/>
          </a:ln>
        </p:spPr>
      </p:sp>
      <p:sp>
        <p:nvSpPr>
          <p:cNvPr id="12" name="Shape 8"/>
          <p:cNvSpPr/>
          <p:nvPr/>
        </p:nvSpPr>
        <p:spPr>
          <a:xfrm>
            <a:off x="7132320" y="2935224"/>
            <a:ext cx="484632" cy="484632"/>
          </a:xfrm>
          <a:prstGeom prst="ellipse">
            <a:avLst/>
          </a:prstGeom>
          <a:solidFill>
            <a:srgbClr val="F05032"/>
          </a:solidFill>
          <a:ln w="12700">
            <a:solidFill>
              <a:srgbClr val="F05032"/>
            </a:solidFill>
            <a:prstDash val="solid"/>
          </a:ln>
        </p:spPr>
      </p:sp>
      <p:pic>
        <p:nvPicPr>
          <p:cNvPr id="13" name="Image 2" descr="preencoded.png">    </p:cNvPr>
          <p:cNvPicPr>
            <a:picLocks noChangeAspect="1"/>
          </p:cNvPicPr>
          <p:nvPr/>
        </p:nvPicPr>
        <p:blipFill>
          <a:blip r:embed="rId3"/>
          <a:stretch>
            <a:fillRect/>
          </a:stretch>
        </p:blipFill>
        <p:spPr>
          <a:xfrm>
            <a:off x="7200168" y="3003072"/>
            <a:ext cx="348935" cy="348935"/>
          </a:xfrm>
          <a:prstGeom prst="rect">
            <a:avLst/>
          </a:prstGeom>
        </p:spPr>
      </p:pic>
      <p:sp>
        <p:nvSpPr>
          <p:cNvPr id="14" name="Text 9"/>
          <p:cNvSpPr txBox="1"/>
          <p:nvPr/>
        </p:nvSpPr>
        <p:spPr>
          <a:xfrm>
            <a:off x="7754112" y="2889504"/>
            <a:ext cx="36576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Buku Pro Git (gratis)</a:t>
            </a:r>
            <a:endParaRPr lang="en-US" sz="1400" dirty="0"/>
          </a:p>
        </p:txBody>
      </p:sp>
      <p:sp>
        <p:nvSpPr>
          <p:cNvPr id="15" name="Text 10"/>
          <p:cNvSpPr txBox="1"/>
          <p:nvPr/>
        </p:nvSpPr>
        <p:spPr>
          <a:xfrm>
            <a:off x="7754112" y="3182112"/>
            <a:ext cx="3657600" cy="274320"/>
          </a:xfrm>
          <a:prstGeom prst="rect">
            <a:avLst/>
          </a:prstGeom>
          <a:noFill/>
          <a:ln/>
        </p:spPr>
        <p:txBody>
          <a:bodyPr wrap="square" lIns="0" tIns="0" rIns="0" bIns="0" rtlCol="0" anchor="ctr"/>
          <a:lstStyle/>
          <a:p>
            <a:pPr indent="0" marL="0">
              <a:buNone/>
            </a:pPr>
            <a:r>
              <a:rPr lang="en-US" sz="1200" dirty="0">
                <a:solidFill>
                  <a:srgbClr val="F05032"/>
                </a:solidFill>
                <a:latin typeface="Courier New" pitchFamily="34" charset="0"/>
                <a:ea typeface="Courier New" pitchFamily="34" charset="-122"/>
                <a:cs typeface="Courier New" pitchFamily="34" charset="-120"/>
              </a:rPr>
              <a:t>git-scm.com/book/id</a:t>
            </a:r>
            <a:endParaRPr lang="en-US" sz="1200" dirty="0"/>
          </a:p>
        </p:txBody>
      </p:sp>
      <p:sp>
        <p:nvSpPr>
          <p:cNvPr id="16" name="Shape 11"/>
          <p:cNvSpPr/>
          <p:nvPr/>
        </p:nvSpPr>
        <p:spPr>
          <a:xfrm>
            <a:off x="6858000" y="3886200"/>
            <a:ext cx="4690872" cy="1051560"/>
          </a:xfrm>
          <a:prstGeom prst="roundRect">
            <a:avLst>
              <a:gd name="adj" fmla="val 8696"/>
            </a:avLst>
          </a:prstGeom>
          <a:solidFill>
            <a:srgbClr val="23232B"/>
          </a:solidFill>
          <a:ln w="12700">
            <a:solidFill>
              <a:srgbClr val="34343E"/>
            </a:solidFill>
            <a:prstDash val="solid"/>
          </a:ln>
        </p:spPr>
      </p:sp>
      <p:sp>
        <p:nvSpPr>
          <p:cNvPr id="17" name="Shape 12"/>
          <p:cNvSpPr/>
          <p:nvPr/>
        </p:nvSpPr>
        <p:spPr>
          <a:xfrm>
            <a:off x="7132320" y="4169664"/>
            <a:ext cx="484632" cy="484632"/>
          </a:xfrm>
          <a:prstGeom prst="ellipse">
            <a:avLst/>
          </a:prstGeom>
          <a:solidFill>
            <a:srgbClr val="F05032"/>
          </a:solidFill>
          <a:ln w="12700">
            <a:solidFill>
              <a:srgbClr val="F05032"/>
            </a:solidFill>
            <a:prstDash val="solid"/>
          </a:ln>
        </p:spPr>
      </p:sp>
      <p:pic>
        <p:nvPicPr>
          <p:cNvPr id="18" name="Image 3" descr="preencoded.png">    </p:cNvPr>
          <p:cNvPicPr>
            <a:picLocks noChangeAspect="1"/>
          </p:cNvPicPr>
          <p:nvPr/>
        </p:nvPicPr>
        <p:blipFill>
          <a:blip r:embed="rId4"/>
          <a:stretch>
            <a:fillRect/>
          </a:stretch>
        </p:blipFill>
        <p:spPr>
          <a:xfrm>
            <a:off x="7200168" y="4237512"/>
            <a:ext cx="348935" cy="348935"/>
          </a:xfrm>
          <a:prstGeom prst="rect">
            <a:avLst/>
          </a:prstGeom>
        </p:spPr>
      </p:pic>
      <p:sp>
        <p:nvSpPr>
          <p:cNvPr id="19" name="Text 13"/>
          <p:cNvSpPr txBox="1"/>
          <p:nvPr/>
        </p:nvSpPr>
        <p:spPr>
          <a:xfrm>
            <a:off x="7754112" y="4123944"/>
            <a:ext cx="36576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Latihan Visual Interaktif</a:t>
            </a:r>
            <a:endParaRPr lang="en-US" sz="1400" dirty="0"/>
          </a:p>
        </p:txBody>
      </p:sp>
      <p:sp>
        <p:nvSpPr>
          <p:cNvPr id="20" name="Text 14"/>
          <p:cNvSpPr txBox="1"/>
          <p:nvPr/>
        </p:nvSpPr>
        <p:spPr>
          <a:xfrm>
            <a:off x="7754112" y="4416552"/>
            <a:ext cx="3657600" cy="274320"/>
          </a:xfrm>
          <a:prstGeom prst="rect">
            <a:avLst/>
          </a:prstGeom>
          <a:noFill/>
          <a:ln/>
        </p:spPr>
        <p:txBody>
          <a:bodyPr wrap="square" lIns="0" tIns="0" rIns="0" bIns="0" rtlCol="0" anchor="ctr"/>
          <a:lstStyle/>
          <a:p>
            <a:pPr indent="0" marL="0">
              <a:buNone/>
            </a:pPr>
            <a:r>
              <a:rPr lang="en-US" sz="1200" dirty="0">
                <a:solidFill>
                  <a:srgbClr val="F05032"/>
                </a:solidFill>
                <a:latin typeface="Courier New" pitchFamily="34" charset="0"/>
                <a:ea typeface="Courier New" pitchFamily="34" charset="-122"/>
                <a:cs typeface="Courier New" pitchFamily="34" charset="-120"/>
              </a:rPr>
              <a:t>learngitbranching.js.org</a:t>
            </a:r>
            <a:endParaRPr lang="en-US" sz="1200" dirty="0"/>
          </a:p>
        </p:txBody>
      </p:sp>
      <p:sp>
        <p:nvSpPr>
          <p:cNvPr id="21" name="Text 15"/>
          <p:cNvSpPr txBox="1"/>
          <p:nvPr/>
        </p:nvSpPr>
        <p:spPr>
          <a:xfrm>
            <a:off x="6858000" y="5212080"/>
            <a:ext cx="4690872" cy="365760"/>
          </a:xfrm>
          <a:prstGeom prst="rect">
            <a:avLst/>
          </a:prstGeom>
          <a:noFill/>
          <a:ln/>
        </p:spPr>
        <p:txBody>
          <a:bodyPr wrap="square" lIns="0" tIns="0" rIns="0" bIns="0" rtlCol="0" anchor="ctr"/>
          <a:lstStyle/>
          <a:p>
            <a:pPr algn="ctr" indent="0" marL="0">
              <a:buNone/>
            </a:pPr>
            <a:r>
              <a:rPr lang="en-US" sz="1350" i="1" dirty="0">
                <a:solidFill>
                  <a:srgbClr val="8A8A96"/>
                </a:solidFill>
                <a:latin typeface="Calibri" pitchFamily="34" charset="0"/>
                <a:ea typeface="Calibri" pitchFamily="34" charset="-122"/>
                <a:cs typeface="Calibri" pitchFamily="34" charset="-120"/>
              </a:rPr>
              <a:t>Ada pertanyaan? Mari kita diskusikan.</a:t>
            </a:r>
            <a:endParaRPr lang="en-US" sz="1350" dirty="0"/>
          </a:p>
        </p:txBody>
      </p:sp>
      <p:sp>
        <p:nvSpPr>
          <p:cNvPr id="22" name="Text 16"/>
          <p:cNvSpPr txBox="1"/>
          <p:nvPr/>
        </p:nvSpPr>
        <p:spPr>
          <a:xfrm>
            <a:off x="640080" y="6327648"/>
            <a:ext cx="4572000" cy="274320"/>
          </a:xfrm>
          <a:prstGeom prst="rect">
            <a:avLst/>
          </a:prstGeom>
          <a:noFill/>
          <a:ln/>
        </p:spPr>
        <p:txBody>
          <a:bodyPr wrap="square" lIns="0" tIns="0" rIns="0" bIns="0" rtlCol="0" anchor="ctr"/>
          <a:lstStyle/>
          <a:p>
            <a:pPr algn="l" indent="0" marL="0">
              <a:buNone/>
            </a:pPr>
            <a:r>
              <a:rPr lang="en-US" sz="1000" dirty="0">
                <a:solidFill>
                  <a:srgbClr val="6C6C7A"/>
                </a:solidFill>
                <a:latin typeface="Calibri" pitchFamily="34" charset="0"/>
                <a:ea typeface="Calibri" pitchFamily="34" charset="-122"/>
                <a:cs typeface="Calibri" pitchFamily="34" charset="-120"/>
              </a:rPr>
              <a:t>Git — Panduan Komprehensif</a:t>
            </a:r>
            <a:endParaRPr lang="en-US" sz="1000" dirty="0"/>
          </a:p>
        </p:txBody>
      </p:sp>
      <p:sp>
        <p:nvSpPr>
          <p:cNvPr id="23" name="Text 17"/>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1000" b="1" dirty="0">
                <a:solidFill>
                  <a:srgbClr val="8A8A96"/>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 Panduan Komprehensif</dc:title>
  <dc:subject>PptxGenJS Presentation</dc:subject>
  <dc:creator>Materi Pembelajaran</dc:creator>
  <cp:lastModifiedBy>Materi Pembelajaran</cp:lastModifiedBy>
  <cp:revision>1</cp:revision>
  <dcterms:created xsi:type="dcterms:W3CDTF">2026-09-02T06:25:51Z</dcterms:created>
  <dcterms:modified xsi:type="dcterms:W3CDTF">2026-09-02T06:25:51Z</dcterms:modified>
</cp:coreProperties>
</file>