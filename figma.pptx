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54b37f2-01dd-a40d-2e6b-404208dd3216}">
          <p14:sldIdLst>
            <p14:sldId id="256"/>
            <p14:sldId id="257"/>
          </p14:sldIdLst>
        </p14:section>
        <p14:section name="01 Pengenalan" id="{94479750-c608-6b83-57e2-3e4bba7b535d}">
          <p14:sldIdLst>
            <p14:sldId id="258"/>
            <p14:sldId id="259"/>
            <p14:sldId id="260"/>
            <p14:sldId id="261"/>
            <p14:sldId id="262"/>
          </p14:sldIdLst>
        </p14:section>
        <p14:section name="02 Antarmuka" id="{b7c07152-217d-95d9-e9ab-7c2a81a14e10}">
          <p14:sldIdLst>
            <p14:sldId id="263"/>
            <p14:sldId id="264"/>
            <p14:sldId id="265"/>
            <p14:sldId id="266"/>
            <p14:sldId id="267"/>
          </p14:sldIdLst>
        </p14:section>
        <p14:section name="03 Dasar Desain" id="{e42ded16-c643-c29b-306d-b9eb3bf2ebbd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 Fitur Inti" id="{590cdf44-1067-3544-fcd0-38cac24c3a9d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05 Kolaborasi" id="{c4ea3757-ca5c-7675-bc9c-4ae6a7d8ebb3}">
          <p14:sldIdLst>
            <p14:sldId id="281"/>
            <p14:sldId id="282"/>
            <p14:sldId id="283"/>
            <p14:sldId id="284"/>
          </p14:sldIdLst>
        </p14:section>
        <p14:section name="06 AI &amp; Praktik" id="{bb04df67-c54e-d5e8-d2fc-9863a03123c6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Penutup" id="{fbac06cb-eda0-77a9-f77f-04c612945f66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Perkenalkan tujuan materi: setelah sesi ini peserta mampu menavigasi Figma, membuat layout responsif dengan Auto Layout, membangun komponen, membuat prototipe, dan menyerahkan desain ke developer.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Gambarkan alur belajar: dari mengenal alat, lalu dasar, fitur inti, kolaborasi, hingga praktik dan fitur terbaru.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tiga pembeda: cloud, kolaborasi real-time, dan satu sumber kebenaran dari ide hingga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Figma kini bukan hanya alat desain UI. Jelaskan singkat tiap produk; fokus materi ini adalah Figma Design, Dev Mode, dan sedikit FigJam.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pengalaman kerja dengan file desain lokal yang dikirim bolak-balik vs satu file Figma yang selalu terbaru.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langsung: buat akun, buka beranda, buat Design file baru, lalu duplikasi satu UI kit dari Community untuk dibedah.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file contoh dan tunjukkan tiap area sesuai nomor. Di antarmuka terbaru, toolbar mengambang di bagian bawah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peserta mencoba tiap shortcut satu per satu. Di macOS, Ctrl diganti ⌘ dan Alt diganti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Shortcut navigasi membuat kerja di canvas besar jauh lebih cepat. Tunjukkan panel daftar shortcut lewat Ctrl + Shift + 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yang rapi memudahkan tim mencari file. Contoh di bawah bisa disesuaikan dengan proyek peserta.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umum pemula adalah memakai Group untuk semuanya. Biasakan memakai Frame untuk elemen UI karena mendukung Auto Layout dan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pen tool: klik untuk titik lurus, klik-seret untuk kurva. Lalu gabungkan dua lingkaran dengan keempat operasi boolean.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Bangun skala tipografi yang konsisten lalu simpan sebagai text style agar bisa dipakai ulang di seluruh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panel Fill, Stroke, Effects. Ingatkan kontras teks minimal 4.5:1 untuk teks normal sesuai WCAG.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Ubah ukuran frame di depan peserta untuk menunjukkan efek constraints. Lalu tambahkan layout grid 12 kolom.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Layout adalah fitur paling penting untuk desain UI modern. Demo: ketik teks lebih panjang di tombol, frame ikut melebar.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mode resizing menentukan bagaimana ukuran frame bereaksi. Kombinasi yang paling sering: tombol Hug, kartu Fill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Ubah warna main component di depan peserta: semua instance ikut berubah. Lalu override teks di salah satu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Variants mengelompokkan versi komponen dalam satu set. Component properties membuat instance mudah diatur dari panel kanan.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memungkinkan satu file punya mode Light dan Dark. Ganti mode di frame, semua warna yang terikat variabel ikut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tombol Masuk ke layar Beranda dengan Smart animate. Tekan Present untuk memutar prototipe, atau buka di aplikasi Figma di ponsel.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Lakukan sesi multiplayer: minta semua peserta membuka file yang sama dan memberi komentar pada satu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Aktifkan Dev Mode dengan Shift + D. Tunjukkan cara mengukur jarak (hover sambil menahan Alt) dan menyalin snippet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satu plugin bersama-sama, misalnya Unsplash untuk mengisi gambar dummy. Ingatkan untuk memeriksa izin data setiap 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Fitur AI bergantung pada paket dan pengaturan admin; admin dapat menonaktifkan fitur AI untuk tim atau organisasi.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 2026 berlangsung 23–25 Juni 2026 di San Francisco. Sebagian besar fitur diluncurkan bertahap atau masih beta, jadi tampilan di akun peserta bisa berbeda. Sumber: help.figma.com (What's new from Config 2026), TechCrunch/The Next Web, CMSWire.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Petakan tahapan ini ke proyek nyata peserta. Tiap tahap punya alat Figma yang paling cocok.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Kebiasaan kecil ini membedakan file pemula dan file profesional. Tekankan penamaan layer dan Auto Layout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sekitar 90 menit. Peserta bekerja mandiri lalu presentasi singkat. Fasilitator berkeliling dan memberi komentar langsung di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rangkuman: Frame + Auto Layout + Komponen + Variables + Prototipe adalah fondasi. Bagikan file latihan dan tautan sumber belajar.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480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Menguasai Figma  ·  Materi UI/UX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Figma" descr="/tmp/claude-0/-home-claude/cbe712f0-6f3f-5ab6-b1db-22767c8685e0/scratchpad/figm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4572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411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UI/UX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Menguasai Figma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Dari antarmuka dasar hingga Auto Layout, komponen, prototipe, handoff, dan fitur AI terbaru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Materi lengkap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57800" y="86868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40680" y="10058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623560" y="1005840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10058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Shape 8"/>
          <p:cNvSpPr/>
          <p:nvPr/>
        </p:nvSpPr>
        <p:spPr>
          <a:xfrm>
            <a:off x="5394960" y="1261872"/>
            <a:ext cx="777240" cy="2761488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5468112" y="1371600"/>
            <a:ext cx="621792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3" name="Shape 10"/>
          <p:cNvSpPr/>
          <p:nvPr/>
        </p:nvSpPr>
        <p:spPr>
          <a:xfrm>
            <a:off x="5468112" y="1664208"/>
            <a:ext cx="502920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4" name="Shape 11"/>
          <p:cNvSpPr/>
          <p:nvPr/>
        </p:nvSpPr>
        <p:spPr>
          <a:xfrm>
            <a:off x="5468112" y="1956816"/>
            <a:ext cx="621792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5" name="Shape 12"/>
          <p:cNvSpPr/>
          <p:nvPr/>
        </p:nvSpPr>
        <p:spPr>
          <a:xfrm>
            <a:off x="5468112" y="2249424"/>
            <a:ext cx="502920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6" name="Shape 13"/>
          <p:cNvSpPr/>
          <p:nvPr/>
        </p:nvSpPr>
        <p:spPr>
          <a:xfrm>
            <a:off x="5468112" y="2542032"/>
            <a:ext cx="621792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7" name="Shape 14"/>
          <p:cNvSpPr/>
          <p:nvPr/>
        </p:nvSpPr>
        <p:spPr>
          <a:xfrm>
            <a:off x="5468112" y="2834640"/>
            <a:ext cx="502920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63640" y="1261872"/>
            <a:ext cx="2331720" cy="2761488"/>
          </a:xfrm>
          <a:prstGeom prst="roundRect">
            <a:avLst>
              <a:gd name="adj" fmla="val 2353"/>
            </a:avLst>
          </a:prstGeom>
          <a:solidFill>
            <a:schemeClr val="bg2">
              <a:alpha val="60000"/>
            </a:scheme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4652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Beranda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46520" y="1572768"/>
            <a:ext cx="1234440" cy="224028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169164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23" name="Shape 20"/>
          <p:cNvSpPr/>
          <p:nvPr/>
        </p:nvSpPr>
        <p:spPr>
          <a:xfrm>
            <a:off x="708660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24" name="Shape 21"/>
          <p:cNvSpPr/>
          <p:nvPr/>
        </p:nvSpPr>
        <p:spPr>
          <a:xfrm>
            <a:off x="6537960" y="2880360"/>
            <a:ext cx="1051560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25" name="Shape 22"/>
          <p:cNvSpPr/>
          <p:nvPr/>
        </p:nvSpPr>
        <p:spPr>
          <a:xfrm>
            <a:off x="6537960" y="3063240"/>
            <a:ext cx="731520" cy="109728"/>
          </a:xfrm>
          <a:prstGeom prst="roundRect">
            <a:avLst>
              <a:gd name="adj" fmla="val 33333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26" name="Shape 23"/>
          <p:cNvSpPr/>
          <p:nvPr/>
        </p:nvSpPr>
        <p:spPr>
          <a:xfrm>
            <a:off x="6537960" y="3383280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</p:sp>
      <p:sp>
        <p:nvSpPr>
          <p:cNvPr id="27" name="Shape 24"/>
          <p:cNvSpPr/>
          <p:nvPr/>
        </p:nvSpPr>
        <p:spPr>
          <a:xfrm>
            <a:off x="786384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Shape 25"/>
          <p:cNvSpPr/>
          <p:nvPr/>
        </p:nvSpPr>
        <p:spPr>
          <a:xfrm>
            <a:off x="7863840" y="2331720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651760"/>
            <a:ext cx="292608" cy="29260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607808" y="2898648"/>
            <a:ext cx="50292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607808" y="2898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Rina</a:t>
            </a:r>
            <a:endParaRPr lang="en-US" sz="9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291840"/>
            <a:ext cx="292608" cy="29260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229600" y="3538728"/>
            <a:ext cx="50292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0" y="35387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Dimas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Pengenalan Figma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Apa itu Figma, ekosistem produk, cara memulai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6898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9758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4975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Antarmuka &amp; Navigasi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9758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Panel, toolbar, shortcut, struktur file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Dasar Desain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Frame, shape, teks, warna, constraints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Fitur Inti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 Layout, komponen, variants, variables, prototipe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6898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9758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34975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Kolaborasi &amp; Handoff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97580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Komentar, versi, Dev Mode, plugin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8076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30936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AI, Fitur Baru &amp; Praktik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Figma AI, Config 2026, alur kerja, latihan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Pengenalan Figma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Mengenal Figma, keluarga produknya, dan cara memulai.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Apa itu Figma?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Figma adalah platform desain antarmuka berbasis cloud untuk merancang, membuat prototipe, dan menyerahkan desain ke developer — dalam satu file yang bisa dibuka banyak orang sekaligus.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229148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Berbasis cloud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Berjalan di browser dan aplikasi desktop; file tersimpan otomatis.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Kolaborasi real-time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3246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Banyak orang mengedit file yang sama, kursor masing-masing terlihat.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9374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Satu sumber kebenaran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887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Desain, prototipe, dan spesifikasi developer ada di satu tempat.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394960" y="1143000"/>
            <a:ext cx="3291840" cy="347472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62356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Siapa yang memakai Figma?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623560" y="1828800"/>
            <a:ext cx="2834640" cy="420624"/>
          </a:xfrm>
          <a:prstGeom prst="roundRect">
            <a:avLst>
              <a:gd name="adj" fmla="val 17391"/>
            </a:avLst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92024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26480" y="1828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UI/UX &amp; product designer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623560" y="2359152"/>
            <a:ext cx="2834640" cy="420624"/>
          </a:xfrm>
          <a:prstGeom prst="roundRect">
            <a:avLst>
              <a:gd name="adj" fmla="val 17391"/>
            </a:avLst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450592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126480" y="2359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Developer front-end &amp; mobile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623560" y="2889504"/>
            <a:ext cx="2834640" cy="420624"/>
          </a:xfrm>
          <a:prstGeom prst="roundRect">
            <a:avLst>
              <a:gd name="adj" fmla="val 17391"/>
            </a:avLst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2980944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126480" y="28895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Product manager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5623560" y="3419856"/>
            <a:ext cx="2834640" cy="420624"/>
          </a:xfrm>
          <a:prstGeom prst="roundRect">
            <a:avLst>
              <a:gd name="adj" fmla="val 17391"/>
            </a:avLst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432" y="3511296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126480" y="3419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Tim marketing &amp; brand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5623560" y="3950208"/>
            <a:ext cx="2834640" cy="420624"/>
          </a:xfrm>
          <a:prstGeom prst="roundRect">
            <a:avLst>
              <a:gd name="adj" fmla="val 17391"/>
            </a:avLst>
          </a:prstGeom>
          <a:solidFill>
            <a:schemeClr val="bg1">
              <a:alpha val="15000"/>
            </a:schemeClr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432" y="4041648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126480" y="3950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Pelajar &amp; pengajar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Ekosistem produk Figma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56639"/>
            <a:ext cx="241402" cy="241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47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Design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21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Desain &amp; prototipe antarmuka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560320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145663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0" y="1947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 Mode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2743200" y="2221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Inspeksi desain dan terjemahkan ke kode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663440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4566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46320" y="1947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FigJam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4846320" y="2221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Papan tulis digital untuk brainstorming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766560" y="1143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6949440" y="13258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199" y="145663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947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Slides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949440" y="2221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Menyusun presentasi bersama tim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4008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Draw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Ilustrasi dengan alat vektor lanjutan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2560320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0" name="Shape 22"/>
          <p:cNvSpPr/>
          <p:nvPr/>
        </p:nvSpPr>
        <p:spPr>
          <a:xfrm>
            <a:off x="2743200" y="31089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959" y="3239719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74320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Buzz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274320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Produksi aset brand dalam skala besar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4663440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5" name="Shape 26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079" y="3239719"/>
            <a:ext cx="241402" cy="2414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8463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Sites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484632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Terbitkan situs web yang responsif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6766560" y="292608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Shape 30"/>
          <p:cNvSpPr/>
          <p:nvPr/>
        </p:nvSpPr>
        <p:spPr>
          <a:xfrm>
            <a:off x="694944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0199" y="3239719"/>
            <a:ext cx="241402" cy="2414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94944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Make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694944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Dari prompt menjadi prototipe berkode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Mengapa Figma?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4709160" y="114300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Alur kerja tradisional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Dengan Figma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108" y="2005828"/>
            <a:ext cx="158008" cy="1580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8836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 dikirim bolak-balik lewat email atau chat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983480" y="192024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068" y="2005828"/>
            <a:ext cx="158008" cy="1580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18836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tautan, semua orang melihat versi terbaru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31520" y="25603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08" y="2645908"/>
            <a:ext cx="158008" cy="1580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25237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 membingungkan: final_v3_revisi_FIX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983480" y="256032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068" y="2645908"/>
            <a:ext cx="158008" cy="1580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25237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Riwayat versi tersimpan otomatis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08" y="3285988"/>
            <a:ext cx="158008" cy="15800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34440" y="31638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Developer menebak ukuran, warna, dan jarak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4983480" y="320040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068" y="3285988"/>
            <a:ext cx="158008" cy="15800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486400" y="31638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 Mode menampilkan spesifikasi &amp; kode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731520" y="38404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108" y="3926068"/>
            <a:ext cx="158008" cy="15800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234440" y="38039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Prototipe dibuat di aplikasi terpisah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4983480" y="384048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9068" y="3926068"/>
            <a:ext cx="158008" cy="15800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86400" y="38039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Desain dan prototipe dalam satu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Memulai dalam 4 langkah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Buat akun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Daftar gratis di figma.com dengan email atau akun Google.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313432" y="2606040"/>
            <a:ext cx="24688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587752" y="12344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2816352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8163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554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816352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Pilih platform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816352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Pakai browser, atau unduh aplikasi desktop Windows / macOS.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443984" y="2606040"/>
            <a:ext cx="24688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718304" y="12344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4946904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94690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5544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946904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Buat Design file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946904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Dari beranda, buat file Design baru dan beri nama yang jelas.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574536" y="2606040"/>
            <a:ext cx="24688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848856" y="12344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7077456" y="1463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0774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5544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77456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Buka Community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077456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Duplikasi template &amp; UI kit gratis untuk dipelajari.</a:t>
            </a:r>
            <a:endParaRPr lang="en-US" sz="13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062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686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Paket Starter gratis cukup untuk belajar. Pelajar dan pengajar dapat mengajukan akses Figma for Education.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Antarmuka &amp; Navigasi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Mengenali panel, toolbar, shortcut, dan cara file diorganisasi.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Anatomi antarmuka Figma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3949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1188720" cy="333756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Layers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8368" y="157276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59105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84708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" y="186537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212140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213969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239572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241401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5" name="Shape 12"/>
          <p:cNvSpPr/>
          <p:nvPr/>
        </p:nvSpPr>
        <p:spPr>
          <a:xfrm>
            <a:off x="768096" y="267004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16" name="Shape 13"/>
          <p:cNvSpPr/>
          <p:nvPr/>
        </p:nvSpPr>
        <p:spPr>
          <a:xfrm>
            <a:off x="950976" y="268833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8096" y="294436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6">
              <a:alpha val="70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950976" y="296265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" y="3218688"/>
            <a:ext cx="128016" cy="128016"/>
          </a:xfrm>
          <a:prstGeom prst="roundRect">
            <a:avLst>
              <a:gd name="adj" fmla="val 21429"/>
            </a:avLst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0" name="Shape 17"/>
          <p:cNvSpPr/>
          <p:nvPr/>
        </p:nvSpPr>
        <p:spPr>
          <a:xfrm>
            <a:off x="841248" y="3236976"/>
            <a:ext cx="6858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21" name="Shape 18"/>
          <p:cNvSpPr/>
          <p:nvPr/>
        </p:nvSpPr>
        <p:spPr>
          <a:xfrm>
            <a:off x="4754880" y="1188720"/>
            <a:ext cx="1005840" cy="33375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1280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Design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160020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24" name="Shape 21"/>
          <p:cNvSpPr/>
          <p:nvPr/>
        </p:nvSpPr>
        <p:spPr>
          <a:xfrm>
            <a:off x="4846320" y="173736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4846320" y="201168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26" name="Shape 23"/>
          <p:cNvSpPr/>
          <p:nvPr/>
        </p:nvSpPr>
        <p:spPr>
          <a:xfrm>
            <a:off x="4846320" y="214884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7" name="Shape 24"/>
          <p:cNvSpPr/>
          <p:nvPr/>
        </p:nvSpPr>
        <p:spPr>
          <a:xfrm>
            <a:off x="4846320" y="242316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28" name="Shape 25"/>
          <p:cNvSpPr/>
          <p:nvPr/>
        </p:nvSpPr>
        <p:spPr>
          <a:xfrm>
            <a:off x="4846320" y="256032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0" y="283464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30" name="Shape 27"/>
          <p:cNvSpPr/>
          <p:nvPr/>
        </p:nvSpPr>
        <p:spPr>
          <a:xfrm>
            <a:off x="4846320" y="297180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1" name="Shape 28"/>
          <p:cNvSpPr/>
          <p:nvPr/>
        </p:nvSpPr>
        <p:spPr>
          <a:xfrm>
            <a:off x="4846320" y="324612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0" y="338328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3" name="Shape 30"/>
          <p:cNvSpPr/>
          <p:nvPr/>
        </p:nvSpPr>
        <p:spPr>
          <a:xfrm>
            <a:off x="4846320" y="3657600"/>
            <a:ext cx="36576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34" name="Shape 31"/>
          <p:cNvSpPr/>
          <p:nvPr/>
        </p:nvSpPr>
        <p:spPr>
          <a:xfrm>
            <a:off x="4846320" y="3794760"/>
            <a:ext cx="82296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103120" y="1298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Login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103120" y="1481328"/>
            <a:ext cx="1097280" cy="20574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212848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8" name="Shape 35"/>
          <p:cNvSpPr/>
          <p:nvPr/>
        </p:nvSpPr>
        <p:spPr>
          <a:xfrm>
            <a:off x="2212848" y="2331720"/>
            <a:ext cx="877824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12848" y="2606040"/>
            <a:ext cx="877824" cy="18288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212848" y="3017520"/>
            <a:ext cx="877824" cy="2286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429000" y="1298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Beranda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429000" y="1481328"/>
            <a:ext cx="1097280" cy="20574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</p:sp>
      <p:sp>
        <p:nvSpPr>
          <p:cNvPr id="43" name="Shape 40"/>
          <p:cNvSpPr/>
          <p:nvPr/>
        </p:nvSpPr>
        <p:spPr>
          <a:xfrm>
            <a:off x="3538728" y="1600200"/>
            <a:ext cx="877824" cy="548640"/>
          </a:xfrm>
          <a:prstGeom prst="roundRect">
            <a:avLst>
              <a:gd name="adj" fmla="val 10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44" name="Shape 41"/>
          <p:cNvSpPr/>
          <p:nvPr/>
        </p:nvSpPr>
        <p:spPr>
          <a:xfrm>
            <a:off x="3538728" y="2240280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45" name="Shape 42"/>
          <p:cNvSpPr/>
          <p:nvPr/>
        </p:nvSpPr>
        <p:spPr>
          <a:xfrm>
            <a:off x="4005072" y="2240280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4">
              <a:alpha val="60000"/>
            </a:schemeClr>
          </a:solidFill>
          <a:ln/>
        </p:spPr>
      </p:sp>
      <p:sp>
        <p:nvSpPr>
          <p:cNvPr id="46" name="Shape 43"/>
          <p:cNvSpPr/>
          <p:nvPr/>
        </p:nvSpPr>
        <p:spPr>
          <a:xfrm>
            <a:off x="3538728" y="2743200"/>
            <a:ext cx="877824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47" name="Shape 44"/>
          <p:cNvSpPr/>
          <p:nvPr/>
        </p:nvSpPr>
        <p:spPr>
          <a:xfrm>
            <a:off x="2240280" y="4005072"/>
            <a:ext cx="210312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096512"/>
            <a:ext cx="201168" cy="201168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4096512"/>
            <a:ext cx="201168" cy="201168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096512"/>
            <a:ext cx="201168" cy="201168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096512"/>
            <a:ext cx="201168" cy="201168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096512"/>
            <a:ext cx="201168" cy="201168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4096512"/>
            <a:ext cx="201168" cy="201168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572768" y="11155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1572768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3127248" y="361188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3127248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4224528" y="38862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0"/>
          <p:cNvSpPr txBox="1"/>
          <p:nvPr/>
        </p:nvSpPr>
        <p:spPr>
          <a:xfrm>
            <a:off x="422452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60" name="Shape 51"/>
          <p:cNvSpPr/>
          <p:nvPr/>
        </p:nvSpPr>
        <p:spPr>
          <a:xfrm>
            <a:off x="5596128" y="11155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5596128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6126480" y="11430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612648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4" name="Text 55"/>
          <p:cNvSpPr txBox="1"/>
          <p:nvPr/>
        </p:nvSpPr>
        <p:spPr>
          <a:xfrm>
            <a:off x="658368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Panel kiri</a:t>
            </a:r>
            <a:endParaRPr lang="en-US" sz="1500" dirty="0"/>
          </a:p>
        </p:txBody>
      </p:sp>
      <p:sp>
        <p:nvSpPr>
          <p:cNvPr id="65" name="Text 56"/>
          <p:cNvSpPr txBox="1"/>
          <p:nvPr/>
        </p:nvSpPr>
        <p:spPr>
          <a:xfrm>
            <a:off x="658368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File, Pages, Layers, dan Assets (komponen &amp; library).</a:t>
            </a:r>
            <a:endParaRPr lang="en-US" sz="1200" dirty="0"/>
          </a:p>
        </p:txBody>
      </p:sp>
      <p:sp>
        <p:nvSpPr>
          <p:cNvPr id="66" name="Shape 57"/>
          <p:cNvSpPr/>
          <p:nvPr/>
        </p:nvSpPr>
        <p:spPr>
          <a:xfrm>
            <a:off x="6126480" y="20116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612648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68" name="Text 59"/>
          <p:cNvSpPr txBox="1"/>
          <p:nvPr/>
        </p:nvSpPr>
        <p:spPr>
          <a:xfrm>
            <a:off x="658368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Canvas</a:t>
            </a:r>
            <a:endParaRPr lang="en-US" sz="1500" dirty="0"/>
          </a:p>
        </p:txBody>
      </p:sp>
      <p:sp>
        <p:nvSpPr>
          <p:cNvPr id="69" name="Text 60"/>
          <p:cNvSpPr txBox="1"/>
          <p:nvPr/>
        </p:nvSpPr>
        <p:spPr>
          <a:xfrm>
            <a:off x="658368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Area kerja tanpa batas tempat frame dan objek diletakkan.</a:t>
            </a:r>
            <a:endParaRPr lang="en-US" sz="1200" dirty="0"/>
          </a:p>
        </p:txBody>
      </p:sp>
      <p:sp>
        <p:nvSpPr>
          <p:cNvPr id="70" name="Shape 61"/>
          <p:cNvSpPr/>
          <p:nvPr/>
        </p:nvSpPr>
        <p:spPr>
          <a:xfrm>
            <a:off x="6126480" y="28803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1" name="Text 62"/>
          <p:cNvSpPr txBox="1"/>
          <p:nvPr/>
        </p:nvSpPr>
        <p:spPr>
          <a:xfrm>
            <a:off x="612648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72" name="Text 63"/>
          <p:cNvSpPr txBox="1"/>
          <p:nvPr/>
        </p:nvSpPr>
        <p:spPr>
          <a:xfrm>
            <a:off x="65836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Toolbar</a:t>
            </a:r>
            <a:endParaRPr lang="en-US" sz="1500" dirty="0"/>
          </a:p>
        </p:txBody>
      </p:sp>
      <p:sp>
        <p:nvSpPr>
          <p:cNvPr id="73" name="Text 64"/>
          <p:cNvSpPr txBox="1"/>
          <p:nvPr/>
        </p:nvSpPr>
        <p:spPr>
          <a:xfrm>
            <a:off x="658368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Alat utama: move, frame, shape, pen, teks, komentar.</a:t>
            </a:r>
            <a:endParaRPr lang="en-US" sz="1200" dirty="0"/>
          </a:p>
        </p:txBody>
      </p:sp>
      <p:sp>
        <p:nvSpPr>
          <p:cNvPr id="74" name="Shape 65"/>
          <p:cNvSpPr/>
          <p:nvPr/>
        </p:nvSpPr>
        <p:spPr>
          <a:xfrm>
            <a:off x="6126480" y="37490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5" name="Text 66"/>
          <p:cNvSpPr txBox="1"/>
          <p:nvPr/>
        </p:nvSpPr>
        <p:spPr>
          <a:xfrm>
            <a:off x="61264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76" name="Text 67"/>
          <p:cNvSpPr txBox="1"/>
          <p:nvPr/>
        </p:nvSpPr>
        <p:spPr>
          <a:xfrm>
            <a:off x="658368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Panel kanan</a:t>
            </a:r>
            <a:endParaRPr lang="en-US" sz="1500" dirty="0"/>
          </a:p>
        </p:txBody>
      </p:sp>
      <p:sp>
        <p:nvSpPr>
          <p:cNvPr id="77" name="Text 68"/>
          <p:cNvSpPr txBox="1"/>
          <p:nvPr/>
        </p:nvSpPr>
        <p:spPr>
          <a:xfrm>
            <a:off x="658368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Properties dengan tab Design dan Prototype.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Alat di toolbar &amp; shortcut-nya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08760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Move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188720" y="1645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18872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60320" y="1143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2697480" y="13898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0876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9184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Frame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291840" y="1645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29184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/ 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1143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4800600" y="13898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50876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Section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394960" y="1645920"/>
            <a:ext cx="1078992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394960" y="1645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66560" y="1143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3" name="Shape 17"/>
          <p:cNvSpPr/>
          <p:nvPr/>
        </p:nvSpPr>
        <p:spPr>
          <a:xfrm>
            <a:off x="6903720" y="138988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50876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9808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Rectangle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7498080" y="1645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49808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594360" y="25328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51760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88720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Ellipse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1188720" y="2788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1188720" y="2788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560320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5" name="Shape 27"/>
          <p:cNvSpPr/>
          <p:nvPr/>
        </p:nvSpPr>
        <p:spPr>
          <a:xfrm>
            <a:off x="2697480" y="253288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352" y="265176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291840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3291840" y="2788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3291840" y="2788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663440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1" name="Shape 32"/>
          <p:cNvSpPr/>
          <p:nvPr/>
        </p:nvSpPr>
        <p:spPr>
          <a:xfrm>
            <a:off x="4800600" y="253288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651760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394960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Pen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5394960" y="2788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5394960" y="2788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6766560" y="2286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7" name="Shape 37"/>
          <p:cNvSpPr/>
          <p:nvPr/>
        </p:nvSpPr>
        <p:spPr>
          <a:xfrm>
            <a:off x="6903720" y="253288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2651760"/>
            <a:ext cx="219456" cy="21945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498080" y="2441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Pencil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7498080" y="2788920"/>
            <a:ext cx="1078992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7498080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P</a:t>
            </a:r>
            <a:endParaRPr lang="en-US" sz="1100" dirty="0"/>
          </a:p>
        </p:txBody>
      </p:sp>
      <p:sp>
        <p:nvSpPr>
          <p:cNvPr id="52" name="Shape 41"/>
          <p:cNvSpPr/>
          <p:nvPr/>
        </p:nvSpPr>
        <p:spPr>
          <a:xfrm>
            <a:off x="457200" y="3429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3" name="Shape 42"/>
          <p:cNvSpPr/>
          <p:nvPr/>
        </p:nvSpPr>
        <p:spPr>
          <a:xfrm>
            <a:off x="594360" y="367588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3794760"/>
            <a:ext cx="219456" cy="219456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1188720" y="3584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Text</a:t>
            </a:r>
            <a:endParaRPr lang="en-US" sz="1400" dirty="0"/>
          </a:p>
        </p:txBody>
      </p:sp>
      <p:sp>
        <p:nvSpPr>
          <p:cNvPr id="56" name="Shape 44"/>
          <p:cNvSpPr/>
          <p:nvPr/>
        </p:nvSpPr>
        <p:spPr>
          <a:xfrm>
            <a:off x="1188720" y="3931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57" name="Text 45"/>
          <p:cNvSpPr txBox="1"/>
          <p:nvPr/>
        </p:nvSpPr>
        <p:spPr>
          <a:xfrm>
            <a:off x="118872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58" name="Shape 46"/>
          <p:cNvSpPr/>
          <p:nvPr/>
        </p:nvSpPr>
        <p:spPr>
          <a:xfrm>
            <a:off x="2560320" y="3429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9" name="Shape 47"/>
          <p:cNvSpPr/>
          <p:nvPr/>
        </p:nvSpPr>
        <p:spPr>
          <a:xfrm>
            <a:off x="2697480" y="367588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6352" y="3794760"/>
            <a:ext cx="219456" cy="219456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3291840" y="3584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</a:t>
            </a:r>
            <a:endParaRPr lang="en-US" sz="1400" dirty="0"/>
          </a:p>
        </p:txBody>
      </p:sp>
      <p:sp>
        <p:nvSpPr>
          <p:cNvPr id="62" name="Shape 49"/>
          <p:cNvSpPr/>
          <p:nvPr/>
        </p:nvSpPr>
        <p:spPr>
          <a:xfrm>
            <a:off x="3291840" y="3931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63" name="Text 50"/>
          <p:cNvSpPr txBox="1"/>
          <p:nvPr/>
        </p:nvSpPr>
        <p:spPr>
          <a:xfrm>
            <a:off x="329184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64" name="Shape 51"/>
          <p:cNvSpPr/>
          <p:nvPr/>
        </p:nvSpPr>
        <p:spPr>
          <a:xfrm>
            <a:off x="4663440" y="3429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5" name="Shape 52"/>
          <p:cNvSpPr/>
          <p:nvPr/>
        </p:nvSpPr>
        <p:spPr>
          <a:xfrm>
            <a:off x="4800600" y="3675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3794760"/>
            <a:ext cx="219456" cy="219456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5394960" y="3584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Comment</a:t>
            </a:r>
            <a:endParaRPr lang="en-US" sz="1400" dirty="0"/>
          </a:p>
        </p:txBody>
      </p:sp>
      <p:sp>
        <p:nvSpPr>
          <p:cNvPr id="68" name="Shape 54"/>
          <p:cNvSpPr/>
          <p:nvPr/>
        </p:nvSpPr>
        <p:spPr>
          <a:xfrm>
            <a:off x="5394960" y="393192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69" name="Text 55"/>
          <p:cNvSpPr txBox="1"/>
          <p:nvPr/>
        </p:nvSpPr>
        <p:spPr>
          <a:xfrm>
            <a:off x="539496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70" name="Shape 56"/>
          <p:cNvSpPr/>
          <p:nvPr/>
        </p:nvSpPr>
        <p:spPr>
          <a:xfrm>
            <a:off x="6766560" y="3429000"/>
            <a:ext cx="1920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1" name="Shape 57"/>
          <p:cNvSpPr/>
          <p:nvPr/>
        </p:nvSpPr>
        <p:spPr>
          <a:xfrm>
            <a:off x="6903720" y="36758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2" y="3794760"/>
            <a:ext cx="219456" cy="219456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7498080" y="3584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Place image</a:t>
            </a:r>
            <a:endParaRPr lang="en-US" sz="1400" dirty="0"/>
          </a:p>
        </p:txBody>
      </p:sp>
      <p:sp>
        <p:nvSpPr>
          <p:cNvPr id="74" name="Shape 59"/>
          <p:cNvSpPr/>
          <p:nvPr/>
        </p:nvSpPr>
        <p:spPr>
          <a:xfrm>
            <a:off x="7498080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75" name="Text 60"/>
          <p:cNvSpPr txBox="1"/>
          <p:nvPr/>
        </p:nvSpPr>
        <p:spPr>
          <a:xfrm>
            <a:off x="7498080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Ctrl+Shift+K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Navigasi &amp; shortcut produktif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Navigasi canvas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57200" y="178308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187452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4864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+ seret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1488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Geser canvas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33172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242316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48640" y="2423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scroll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 masuk / keluar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297180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2971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1488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 agar semua terlihat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42900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352044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4864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14884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 ke objek terpilih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7200" y="397764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Shape 20"/>
          <p:cNvSpPr/>
          <p:nvPr/>
        </p:nvSpPr>
        <p:spPr>
          <a:xfrm>
            <a:off x="548640" y="406908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4864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+ 0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214884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 100%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709160" y="1143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145" y="1249985"/>
            <a:ext cx="197510" cy="19751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25780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Produktivitas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4709160" y="178308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1" name="Shape 26"/>
          <p:cNvSpPr/>
          <p:nvPr/>
        </p:nvSpPr>
        <p:spPr>
          <a:xfrm>
            <a:off x="4800600" y="187452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80060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D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Duplikat objek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4709160" y="233172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5" name="Shape 30"/>
          <p:cNvSpPr/>
          <p:nvPr/>
        </p:nvSpPr>
        <p:spPr>
          <a:xfrm>
            <a:off x="4800600" y="242316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800600" y="2423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Alt + G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40080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Bungkus seleksi dengan frame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4709160" y="288036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9" name="Shape 34"/>
          <p:cNvSpPr/>
          <p:nvPr/>
        </p:nvSpPr>
        <p:spPr>
          <a:xfrm>
            <a:off x="4800600" y="297180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4800600" y="2971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A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4008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Tambah Auto Layout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4709160" y="342900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3" name="Shape 38"/>
          <p:cNvSpPr/>
          <p:nvPr/>
        </p:nvSpPr>
        <p:spPr>
          <a:xfrm>
            <a:off x="4800600" y="352044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0060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Alt + K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640080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Buat komponen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4709160" y="3977640"/>
            <a:ext cx="39776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7" name="Shape 42"/>
          <p:cNvSpPr/>
          <p:nvPr/>
        </p:nvSpPr>
        <p:spPr>
          <a:xfrm>
            <a:off x="4800600" y="4069080"/>
            <a:ext cx="1417320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480060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K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64008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Menu Actions (cari perintah)</a:t>
            </a:r>
            <a:endParaRPr lang="en-US" sz="1400" dirty="0"/>
          </a:p>
        </p:txBody>
      </p:sp>
      <p:sp>
        <p:nvSpPr>
          <p:cNvPr id="50" name="Text 45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macOS: Ctrl → ⌘, Alt → Option.  Daftar lengkap: Ctrl + Shift + 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Struktur file: dari tim hingga layer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Tim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Ruang kerja &amp; anggota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1673352" y="187452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1865376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4630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865376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865376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Kumpulan file sejenis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081528" y="187452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3273552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5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4630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73552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273552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Satu dokumen desain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489704" y="187452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4681728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46304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81728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Page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681728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Halaman di dalam file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897880" y="187452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089904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5">
              <a:alpha val="15000"/>
            </a:scheme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4630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089904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Frame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089904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Layar atau artboard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7306056" y="1874520"/>
            <a:ext cx="16459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7498080" y="128016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accent6">
              <a:alpha val="15000"/>
            </a:scheme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46304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9808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Layer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749808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Objek: teks, shape, dll.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858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Contoh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 "Aplikasi Kasir"  ›  Project "Mobile App"  ›  File "Checkout v2"  ›  Page "UI Final"  ›  Frame "Android – Bayar"  ›  Layer "Tombol Bayar"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Dasar Desain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Frame, shape, vektor, teks, warna, efek, constraints, dan layout grid.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Frame, Group, dan Section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325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Frame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508760"/>
            <a:ext cx="1965960" cy="960120"/>
          </a:xfrm>
          <a:prstGeom prst="rect">
            <a:avLst>
              <a:gd name="adj" fmla="val 190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645920"/>
            <a:ext cx="822960" cy="685800"/>
          </a:xfrm>
          <a:prstGeom prst="roundRect">
            <a:avLst>
              <a:gd name="adj" fmla="val 8000"/>
            </a:avLst>
          </a:prstGeom>
          <a:solidFill>
            <a:schemeClr val="accent1">
              <a:alpha val="60000"/>
            </a:schemeClr>
          </a:solidFill>
          <a:ln/>
        </p:spPr>
      </p:sp>
      <p:sp>
        <p:nvSpPr>
          <p:cNvPr id="8" name="Shape 5"/>
          <p:cNvSpPr/>
          <p:nvPr/>
        </p:nvSpPr>
        <p:spPr>
          <a:xfrm>
            <a:off x="1920240" y="1691640"/>
            <a:ext cx="548640" cy="548640"/>
          </a:xfrm>
          <a:prstGeom prst="ellipse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Frame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Punya ukuran, fill, dan clip content sendiri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Mendukung Auto Layout, constraints, layout grid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Dipakai untuk layar dan komponen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6898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589020" y="1508760"/>
            <a:ext cx="1965960" cy="960120"/>
          </a:xfrm>
          <a:prstGeom prst="rect">
            <a:avLst>
              <a:gd name="adj" fmla="val 11429"/>
            </a:avLst>
          </a:prstGeom>
          <a:ln w="12700">
            <a:solidFill>
              <a:schemeClr val="accent2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589020" y="1325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Group 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71900" y="164592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40580" y="1645920"/>
            <a:ext cx="685800" cy="685800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58902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Group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543300" y="30632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Hanya pembungkus beberapa objek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Ukurannya mengikuti isi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Cocok untuk ikon atau ilustrasi sederhana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1417320"/>
            <a:ext cx="1965960" cy="1051560"/>
          </a:xfrm>
          <a:prstGeom prst="roundRect">
            <a:avLst>
              <a:gd name="adj" fmla="val 5217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0" y="1490472"/>
            <a:ext cx="731520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92240" y="1490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Alur Login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583680" y="1783080"/>
            <a:ext cx="685800" cy="566928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/>
        </p:spPr>
      </p:sp>
      <p:sp>
        <p:nvSpPr>
          <p:cNvPr id="23" name="Shape 20"/>
          <p:cNvSpPr/>
          <p:nvPr/>
        </p:nvSpPr>
        <p:spPr>
          <a:xfrm>
            <a:off x="7452360" y="1783080"/>
            <a:ext cx="685800" cy="566928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Section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30632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Mengorganisasi area di canvas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Menandai alur atau status, mis. Ready for dev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Bukan untuk elemen 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Shape, vektor, dan boolean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27375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Bentuk dasar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Rectangle, ellipse, polygon, star, line, dan arrow.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14243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 tool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Buat path dengan titik anchor dan kurva Bezier; Enter untuk edit vektor.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01111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Vector networks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Satu titik bisa terhubung ke banyak garis sekaligus.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87979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4300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Flatten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Ctrl + E menggabungkan beberapa bentuk menjadi satu vektor.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572000" y="1143000"/>
            <a:ext cx="1965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1" name="Shape 14"/>
          <p:cNvSpPr/>
          <p:nvPr/>
        </p:nvSpPr>
        <p:spPr>
          <a:xfrm>
            <a:off x="512064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hape 15"/>
          <p:cNvSpPr/>
          <p:nvPr/>
        </p:nvSpPr>
        <p:spPr>
          <a:xfrm>
            <a:off x="54406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47548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Union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70916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Gabungkan bentuk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675120" y="1143000"/>
            <a:ext cx="1965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6" name="Shape 19"/>
          <p:cNvSpPr/>
          <p:nvPr/>
        </p:nvSpPr>
        <p:spPr>
          <a:xfrm>
            <a:off x="722376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hape 20"/>
          <p:cNvSpPr/>
          <p:nvPr/>
        </p:nvSpPr>
        <p:spPr>
          <a:xfrm>
            <a:off x="7543800" y="1325880"/>
            <a:ext cx="548640" cy="5486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28" name="Text 21"/>
          <p:cNvSpPr txBox="1"/>
          <p:nvPr/>
        </p:nvSpPr>
        <p:spPr>
          <a:xfrm>
            <a:off x="68580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Subtract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81228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Potong dengan bentuk di atas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0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5120640" y="3108960"/>
            <a:ext cx="548640" cy="548640"/>
          </a:xfrm>
          <a:prstGeom prst="ellipse">
            <a:avLst/>
          </a:prstGeom>
          <a:ln w="12700">
            <a:solidFill>
              <a:schemeClr val="tx2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5440680" y="3108960"/>
            <a:ext cx="548640" cy="548640"/>
          </a:xfrm>
          <a:prstGeom prst="ellipse">
            <a:avLst/>
          </a:prstGeom>
          <a:ln w="12700">
            <a:solidFill>
              <a:schemeClr val="tx2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5440680" y="3160166"/>
            <a:ext cx="228600" cy="44531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7548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Intersect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470916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Sisakan area yang bertumpuk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675120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7" name="Shape 30"/>
          <p:cNvSpPr/>
          <p:nvPr/>
        </p:nvSpPr>
        <p:spPr>
          <a:xfrm>
            <a:off x="722376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Shape 31"/>
          <p:cNvSpPr/>
          <p:nvPr/>
        </p:nvSpPr>
        <p:spPr>
          <a:xfrm>
            <a:off x="754380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Shape 32"/>
          <p:cNvSpPr/>
          <p:nvPr/>
        </p:nvSpPr>
        <p:spPr>
          <a:xfrm>
            <a:off x="7543800" y="3160166"/>
            <a:ext cx="228600" cy="445313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8580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Exclude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681228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Hapus area yang bertumpuk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Teks &amp; tipografi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572000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Display · 36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Halo, Figma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Heading · 24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Halo, Figma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Body · 16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 isi yang nyaman dibaca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840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Caption · 12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 kecil &amp; label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49240" y="1143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26187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943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Text styles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Simpan font, ukuran, dan line height agar konsisten.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4924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21305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436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 width / height / fixed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Atur perilaku kotak teks saat isinya berubah.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349240" y="2880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999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9436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 height &amp; spacing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Line height 120–150% membuat teks lebih mudah dibaca.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349240" y="3749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86791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Google Fonts bawaan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Ribuan font siap pakai, plus font lokal di komputer.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Warna, stroke, dan efek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Contoh palet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#7C5CFF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56232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56232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#FF6B5B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55264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55264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#1FCB8F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54296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54296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#2FA8FF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53328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#FFB020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1371600"/>
            <a:ext cx="1261872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52360" y="196596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#E15AB8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7919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801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Fill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Solid, gradient (linear, radial, angular, diamond), image, dan shader (baru 2026).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26898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3" name="Shape 19"/>
          <p:cNvSpPr/>
          <p:nvPr/>
        </p:nvSpPr>
        <p:spPr>
          <a:xfrm>
            <a:off x="3497580" y="2560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67919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0919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Stroke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349758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Posisi inside, center, atau outside; tebal per sisi; garis putus-putus.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080760" y="23774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8" name="Shape 23"/>
          <p:cNvSpPr/>
          <p:nvPr/>
        </p:nvSpPr>
        <p:spPr>
          <a:xfrm>
            <a:off x="6309360" y="2560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67919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037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Effects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630936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Drop shadow, inner shadow, layer blur, background blur, noise &amp; texture.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0248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22960" y="42336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Cek kontras: teks normal minimal 4.5:1 terhadap latar (WCAG AA).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Constraints &amp; layout grid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Constraints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2377440" cy="1463040"/>
          </a:xfrm>
          <a:prstGeom prst="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11680" y="251460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Lebar awal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0" y="224028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37560" y="1508760"/>
            <a:ext cx="1463040" cy="1463040"/>
          </a:xfrm>
          <a:prstGeom prst="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77640" y="2514600"/>
            <a:ext cx="68580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00400" y="3017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Setelah di-resize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383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Tombol diberi constraint Right &amp; Bottom, jadi tetap menempel di pojok kanan bawah saat frame berubah ukuran.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Opsi: Left, Right, Left &amp; Right, Center, Scale (serupa untuk Top/Bottom).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Layout grid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120640" y="1508760"/>
            <a:ext cx="3566160" cy="1463040"/>
          </a:xfrm>
          <a:prstGeom prst="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7" name="Shape 14"/>
          <p:cNvSpPr/>
          <p:nvPr/>
        </p:nvSpPr>
        <p:spPr>
          <a:xfrm>
            <a:off x="55161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58018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9" name="Shape 16"/>
          <p:cNvSpPr/>
          <p:nvPr/>
        </p:nvSpPr>
        <p:spPr>
          <a:xfrm>
            <a:off x="60876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0" name="Shape 17"/>
          <p:cNvSpPr/>
          <p:nvPr/>
        </p:nvSpPr>
        <p:spPr>
          <a:xfrm>
            <a:off x="63733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1" name="Shape 18"/>
          <p:cNvSpPr/>
          <p:nvPr/>
        </p:nvSpPr>
        <p:spPr>
          <a:xfrm>
            <a:off x="66591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2" name="Shape 19"/>
          <p:cNvSpPr/>
          <p:nvPr/>
        </p:nvSpPr>
        <p:spPr>
          <a:xfrm>
            <a:off x="69448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3" name="Shape 20"/>
          <p:cNvSpPr/>
          <p:nvPr/>
        </p:nvSpPr>
        <p:spPr>
          <a:xfrm>
            <a:off x="72306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163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5" name="Shape 22"/>
          <p:cNvSpPr/>
          <p:nvPr/>
        </p:nvSpPr>
        <p:spPr>
          <a:xfrm>
            <a:off x="78021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6" name="Shape 23"/>
          <p:cNvSpPr/>
          <p:nvPr/>
        </p:nvSpPr>
        <p:spPr>
          <a:xfrm>
            <a:off x="808786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7" name="Shape 24"/>
          <p:cNvSpPr/>
          <p:nvPr/>
        </p:nvSpPr>
        <p:spPr>
          <a:xfrm>
            <a:off x="8373618" y="1508760"/>
            <a:ext cx="219456" cy="1463040"/>
          </a:xfrm>
          <a:prstGeom prst="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12064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kolom · gutter 24 · margin 80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20640" y="3429000"/>
            <a:ext cx="10972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2064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Desktop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kolom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336792" y="3429000"/>
            <a:ext cx="10972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336792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Tablet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 kolom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552944" y="3429000"/>
            <a:ext cx="10972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552944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Mobile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552944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kolom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2064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Tipe grid: Columns, Rows, dan Grid.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Fitur Inti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Auto Layout, komponen, variants, variables, dan prototipe interaktif.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3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Auto Layout: tata letak yang responsif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2062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Shift + 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474720" cy="1188720"/>
          </a:xfrm>
          <a:prstGeom prst="roundRect">
            <a:avLst>
              <a:gd name="adj" fmla="val 6154"/>
            </a:avLst>
          </a:prstGeom>
          <a:ln w="19050">
            <a:solidFill>
              <a:schemeClr val="accent1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051560" y="2148840"/>
            <a:ext cx="86868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8" name="Shape 5"/>
          <p:cNvSpPr/>
          <p:nvPr/>
        </p:nvSpPr>
        <p:spPr>
          <a:xfrm>
            <a:off x="2103120" y="2148840"/>
            <a:ext cx="86868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3154680" y="2148840"/>
            <a:ext cx="868680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10" name="Shape 7"/>
          <p:cNvSpPr/>
          <p:nvPr/>
        </p:nvSpPr>
        <p:spPr>
          <a:xfrm>
            <a:off x="1920240" y="2148840"/>
            <a:ext cx="182880" cy="731520"/>
          </a:xfrm>
          <a:prstGeom prst="rect">
            <a:avLst>
              <a:gd name="adj" fmla="val 60000"/>
            </a:avLst>
          </a:prstGeom>
          <a:solidFill>
            <a:schemeClr val="accent6">
              <a:alpha val="40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2971800" y="2148840"/>
            <a:ext cx="182880" cy="731520"/>
          </a:xfrm>
          <a:prstGeom prst="rect">
            <a:avLst>
              <a:gd name="adj" fmla="val 60000"/>
            </a:avLst>
          </a:prstGeom>
          <a:solidFill>
            <a:schemeClr val="accent6">
              <a:alpha val="40000"/>
            </a:schemeClr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1920240"/>
            <a:ext cx="228600" cy="1188720"/>
          </a:xfrm>
          <a:prstGeom prst="rect">
            <a:avLst>
              <a:gd name="adj" fmla="val 48000"/>
            </a:avLst>
          </a:prstGeom>
          <a:solidFill>
            <a:schemeClr val="accent5">
              <a:alpha val="30000"/>
            </a:scheme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7A00"/>
                </a:solidFill>
              </a:rPr>
              <a:t>padding 16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gap 12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Arah: horizontal →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Isi bertambah? Container ikut menyesuaikan, jarak tetap konsisten.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1143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26187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7784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Arah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57784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Horizontal, vertikal, wrap, atau grid.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98348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13055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577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 &amp; padding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57784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Jarak antaritem dan ruang dalam container.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983480" y="2880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9992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7784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Alignment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57784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Posisi item: atas, tengah, bawah, kiri, kanan.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983480" y="3749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86791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5778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Nested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557784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 Layout di dalam Auto Layout untuk layout kompleks.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Resizing: Hug, Fixed, dan Fill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371600"/>
            <a:ext cx="20574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1783080"/>
            <a:ext cx="10515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34440" y="1783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Simpan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Hug contents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Ukuran mengikuti isi. Cocok untuk tombol, chip, dan badge.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6898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43300" y="1371600"/>
            <a:ext cx="20574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29100" y="164592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2910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48 × 48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5433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Fixed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54330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Ukuran tetap, isi tidak memengaruhi. Cocok untuk ikon dan avatar.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80760" y="1143000"/>
            <a:ext cx="2606040" cy="3474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6355080" y="1371600"/>
            <a:ext cx="20574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1783080"/>
            <a:ext cx="178308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9224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←  lebar penuh  →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Fill container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Mengisi ruang yang tersisa di parent. Cocok untuk input dan kartu.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Komponen &amp; instance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325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Main component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77240" y="196596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Button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Sumber desain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54680" y="2103120"/>
            <a:ext cx="822960" cy="-713232"/>
          </a:xfrm>
          <a:prstGeom prst="line">
            <a:avLst/>
          </a:prstGeom>
          <a:noFill/>
          <a:ln w="1524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069080" y="1188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06908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Masuk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54680" y="2103120"/>
            <a:ext cx="822960" cy="-73152"/>
          </a:xfrm>
          <a:prstGeom prst="line">
            <a:avLst/>
          </a:prstGeom>
          <a:noFill/>
          <a:ln w="1524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069080" y="182880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06908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Daftar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54680" y="2103120"/>
            <a:ext cx="822960" cy="566928"/>
          </a:xfrm>
          <a:prstGeom prst="line">
            <a:avLst/>
          </a:prstGeom>
          <a:noFill/>
          <a:ln w="1524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069080" y="246888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06908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Lanjutkan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06908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Instance dengan teks di-override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13716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Ubah main component sekali, semua instance di seluruh file ikut berubah.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5720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008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Buat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Ctrl + Alt + K pada frame terpilih.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56032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274320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Override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274320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Ubah teks, warna, ikon tanpa memutus hubungan.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6344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4632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Reset &amp; Detach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84632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Kembalikan override, atau lepas jadi frame biasa.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766560" y="342900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94944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Library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94944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Publikasikan agar dipakai di file lain.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Variants &amp; component properties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75488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1508760" y="1737360"/>
            <a:ext cx="3520440" cy="2423160"/>
          </a:xfrm>
          <a:prstGeom prst="roundRect">
            <a:avLst>
              <a:gd name="adj" fmla="val 3019"/>
            </a:avLst>
          </a:prstGeom>
          <a:ln w="12700">
            <a:solidFill>
              <a:schemeClr val="accent1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16002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Default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Hover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862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Disabled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Primary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Secondary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91640" y="214884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21488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Tombol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34640" y="214884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834640" y="21488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Tombol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77640" y="214884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77640" y="21488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Tombol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691640" y="320040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691640" y="32004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Tombol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834640" y="320040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34640" y="32004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Tombol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977640" y="3200400"/>
            <a:ext cx="96012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rgbClr val="BDBAC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77640" y="32004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Tombol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4224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Component set: Type × State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0" y="118872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852160" y="1143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Variant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Pilih versi: Type = Primary, State = Hover.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0" y="20574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852160" y="2011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Boolean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Tampilkan/sembunyikan layer, mis. ikon.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0" y="292608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852160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Instance swap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52160" y="3172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Ganti komponen di dalamnya, mis. ikon lain.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0" y="3794760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852160" y="3749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Text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852160" y="4041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Edit label langsung dari panel kanan.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Styles &amp; variables (design tokens)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7548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Styles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874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Color, text, effect, dan layout grid. Satu style menyimpan satu set nilai — ideal untuk tipografi dan bayangan.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971800"/>
            <a:ext cx="4754880" cy="1645920"/>
          </a:xfrm>
          <a:prstGeom prst="roundRect">
            <a:avLst>
              <a:gd name="adj" fmla="val 666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735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Variables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37033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Tipe color, number, string, boolean. Mendukung modes (Light/Dark, bahasa, brand) dan bisa dipakai dalam logika prototipe.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532120" y="1143000"/>
            <a:ext cx="1463040" cy="274320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0" y="1325880"/>
            <a:ext cx="731520" cy="128016"/>
          </a:xfrm>
          <a:prstGeom prst="roundRect">
            <a:avLst>
              <a:gd name="adj" fmla="val 28571"/>
            </a:avLst>
          </a:prstGeom>
          <a:solidFill>
            <a:schemeClr val="tx1"/>
          </a:solidFill>
          <a:ln/>
        </p:spPr>
      </p:sp>
      <p:sp>
        <p:nvSpPr>
          <p:cNvPr id="16" name="Shape 11"/>
          <p:cNvSpPr/>
          <p:nvPr/>
        </p:nvSpPr>
        <p:spPr>
          <a:xfrm>
            <a:off x="5669280" y="160020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7" name="Shape 12"/>
          <p:cNvSpPr/>
          <p:nvPr/>
        </p:nvSpPr>
        <p:spPr>
          <a:xfrm>
            <a:off x="5669280" y="2423160"/>
            <a:ext cx="118872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45000"/>
            </a:schemeClr>
          </a:solidFill>
          <a:ln/>
        </p:spPr>
      </p:sp>
      <p:sp>
        <p:nvSpPr>
          <p:cNvPr id="18" name="Shape 13"/>
          <p:cNvSpPr/>
          <p:nvPr/>
        </p:nvSpPr>
        <p:spPr>
          <a:xfrm>
            <a:off x="5669280" y="2606040"/>
            <a:ext cx="9144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45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5669280" y="3337560"/>
            <a:ext cx="11887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53212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Mode: Light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178040" y="1143000"/>
            <a:ext cx="1463040" cy="2743200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0" y="1325880"/>
            <a:ext cx="731520" cy="128016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0" y="160020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4" name="Shape 19"/>
          <p:cNvSpPr/>
          <p:nvPr/>
        </p:nvSpPr>
        <p:spPr>
          <a:xfrm>
            <a:off x="7315200" y="2423160"/>
            <a:ext cx="1188720" cy="91440"/>
          </a:xfrm>
          <a:prstGeom prst="roundRect">
            <a:avLst>
              <a:gd name="adj" fmla="val 30000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0" y="2606040"/>
            <a:ext cx="914400" cy="91440"/>
          </a:xfrm>
          <a:prstGeom prst="roundRect">
            <a:avLst>
              <a:gd name="adj" fmla="val 30000"/>
            </a:avLst>
          </a:prstGeom>
          <a:solidFill>
            <a:schemeClr val="bg1">
              <a:alpha val="45000"/>
            </a:schemeClr>
          </a:solidFill>
          <a:ln/>
        </p:spPr>
      </p:sp>
      <p:sp>
        <p:nvSpPr>
          <p:cNvPr id="26" name="Shape 21"/>
          <p:cNvSpPr/>
          <p:nvPr/>
        </p:nvSpPr>
        <p:spPr>
          <a:xfrm>
            <a:off x="7315200" y="3337560"/>
            <a:ext cx="1188720" cy="320040"/>
          </a:xfrm>
          <a:prstGeom prst="roundRect">
            <a:avLst>
              <a:gd name="adj" fmla="val 22857"/>
            </a:avLst>
          </a:prstGeom>
          <a:solidFill>
            <a:schemeClr val="accent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17804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Mode: Dark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32120" y="4206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Variabel bg/surface &amp; text/primary: satu nama, nilai berbeda per mode.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Prototyping: dari layar statis ke interaktif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143000"/>
            <a:ext cx="1143000" cy="18288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234440" y="1298448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hape 3"/>
          <p:cNvSpPr/>
          <p:nvPr/>
        </p:nvSpPr>
        <p:spPr>
          <a:xfrm>
            <a:off x="932688" y="1783080"/>
            <a:ext cx="91440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2029968"/>
            <a:ext cx="914400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514600"/>
            <a:ext cx="914400" cy="237744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sp>
        <p:nvSpPr>
          <p:cNvPr id="9" name="Shape 6"/>
          <p:cNvSpPr/>
          <p:nvPr/>
        </p:nvSpPr>
        <p:spPr>
          <a:xfrm>
            <a:off x="4000500" y="1143000"/>
            <a:ext cx="1143000" cy="18288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0228" y="1280160"/>
            <a:ext cx="914400" cy="502920"/>
          </a:xfrm>
          <a:prstGeom prst="roundRect">
            <a:avLst>
              <a:gd name="adj" fmla="val 10909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4110228" y="1874520"/>
            <a:ext cx="429768" cy="384048"/>
          </a:xfrm>
          <a:prstGeom prst="roundRect">
            <a:avLst>
              <a:gd name="adj" fmla="val 14286"/>
            </a:avLst>
          </a:prstGeom>
          <a:solidFill>
            <a:schemeClr val="accent3">
              <a:alpha val="50000"/>
            </a:schemeClr>
          </a:solidFill>
          <a:ln/>
        </p:spPr>
      </p:sp>
      <p:sp>
        <p:nvSpPr>
          <p:cNvPr id="12" name="Shape 9"/>
          <p:cNvSpPr/>
          <p:nvPr/>
        </p:nvSpPr>
        <p:spPr>
          <a:xfrm>
            <a:off x="4594860" y="1874520"/>
            <a:ext cx="429768" cy="384048"/>
          </a:xfrm>
          <a:prstGeom prst="roundRect">
            <a:avLst>
              <a:gd name="adj" fmla="val 14286"/>
            </a:avLst>
          </a:prstGeom>
          <a:solidFill>
            <a:schemeClr val="accent4">
              <a:alpha val="50000"/>
            </a:schemeClr>
          </a:solidFill>
          <a:ln/>
        </p:spPr>
      </p:sp>
      <p:sp>
        <p:nvSpPr>
          <p:cNvPr id="13" name="Shape 10"/>
          <p:cNvSpPr/>
          <p:nvPr/>
        </p:nvSpPr>
        <p:spPr>
          <a:xfrm>
            <a:off x="4110228" y="2331720"/>
            <a:ext cx="429768" cy="384048"/>
          </a:xfrm>
          <a:prstGeom prst="roundRect">
            <a:avLst>
              <a:gd name="adj" fmla="val 14286"/>
            </a:avLst>
          </a:prstGeom>
          <a:solidFill>
            <a:schemeClr val="accent4">
              <a:alpha val="50000"/>
            </a:schemeClr>
          </a:solidFill>
          <a:ln/>
        </p:spPr>
      </p:sp>
      <p:sp>
        <p:nvSpPr>
          <p:cNvPr id="14" name="Shape 11"/>
          <p:cNvSpPr/>
          <p:nvPr/>
        </p:nvSpPr>
        <p:spPr>
          <a:xfrm>
            <a:off x="4594860" y="2331720"/>
            <a:ext cx="429768" cy="384048"/>
          </a:xfrm>
          <a:prstGeom prst="roundRect">
            <a:avLst>
              <a:gd name="adj" fmla="val 14286"/>
            </a:avLst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15" name="Shape 12"/>
          <p:cNvSpPr/>
          <p:nvPr/>
        </p:nvSpPr>
        <p:spPr>
          <a:xfrm>
            <a:off x="7178040" y="1143000"/>
            <a:ext cx="1143000" cy="18288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rgbClr val="DD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87768" y="128016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accent3">
              <a:alpha val="60000"/>
            </a:schemeClr>
          </a:solidFill>
          <a:ln/>
        </p:spPr>
      </p:sp>
      <p:sp>
        <p:nvSpPr>
          <p:cNvPr id="17" name="Shape 14"/>
          <p:cNvSpPr/>
          <p:nvPr/>
        </p:nvSpPr>
        <p:spPr>
          <a:xfrm>
            <a:off x="7287768" y="2103120"/>
            <a:ext cx="73152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40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7287768" y="2267712"/>
            <a:ext cx="914400" cy="91440"/>
          </a:xfrm>
          <a:prstGeom prst="roundRect">
            <a:avLst>
              <a:gd name="adj" fmla="val 3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9" name="Shape 16"/>
          <p:cNvSpPr/>
          <p:nvPr/>
        </p:nvSpPr>
        <p:spPr>
          <a:xfrm>
            <a:off x="7287768" y="2514600"/>
            <a:ext cx="914400" cy="237744"/>
          </a:xfrm>
          <a:prstGeom prst="roundRect">
            <a:avLst>
              <a:gd name="adj" fmla="val 23077"/>
            </a:avLst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Login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000500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Beranda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Detail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On tap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94560" y="2011680"/>
            <a:ext cx="1554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01168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Navigate to · Smart animate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28066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On tap kartu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72100" y="2011680"/>
            <a:ext cx="1554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18922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Open overlay · Move in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38328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Trigger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tap, while hovering, after delay, key/gamepad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560320" y="338328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Action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74320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Navigate, open overlay, scroll to, back, set variable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63440" y="338328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4632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Animation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84632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Instant, dissolve, smart animate, move in/out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766560" y="338328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9494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Uji &amp; bagikan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94944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Present, aplikasi mobile, tautan prototipe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Kolaborasi &amp; Handoff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Bekerja bersama tim dan menyerahkan desain ke developer dengan rapi.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Fitur kolaborasi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023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Multiplayer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Lihat kursor dan nama rekan yang sedang mengedit.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68980" y="11430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349758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339" y="150235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376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Komentar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9758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Tekan C, klik objek, tulis masukan, @mention rekan.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80760" y="114300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50235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4944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Spotlight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Ajak semua orang mengikuti layar Anda saat presentasi.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" y="328543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Berbagi &amp; izin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Bagikan tautan dengan akses can view atau can edit.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26898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3497580" y="31546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339" y="328543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13766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Riwayat versi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9758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Simpan titik versi dan kembalikan kapan saja.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08076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0" name="Shape 22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119" y="3285439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494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Branching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Eksperimen di cabang lalu merge (paket Organization ke atas).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Dev Mode: jembatan ke developer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Inspect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164592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Bayar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77440" y="1874520"/>
            <a:ext cx="6400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514600" y="1627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63240" y="1645920"/>
            <a:ext cx="1188720" cy="457200"/>
          </a:xfrm>
          <a:prstGeom prst="roundRect">
            <a:avLst>
              <a:gd name="adj" fmla="val 20000"/>
            </a:avLst>
          </a:prstGeom>
          <a:ln w="12700">
            <a:solidFill>
              <a:schemeClr val="accent2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85800" y="233172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2450592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.button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 24px;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8px;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#7C5CFF;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9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1430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8997" y="1257117"/>
            <a:ext cx="210678" cy="21067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124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Inspect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349240" y="1399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Ukuran, jarak, warna, dan tipografi tiap layer.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184708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997" y="1961205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 snippet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492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CSS, iOS (SwiftUI), dan Android (Compose).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551176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997" y="2665293"/>
            <a:ext cx="210678" cy="21067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349240" y="2532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Ready for dev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4924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Tandai status dan bandingkan perubahan desain.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754880" y="3255264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997" y="3369381"/>
            <a:ext cx="210678" cy="21067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 Connect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349240" y="3511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Tampilkan kode komponen asli dari codebase.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754880" y="3959352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997" y="4073469"/>
            <a:ext cx="210678" cy="21067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49240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MCP server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349240" y="4215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Hubungkan desain ke alat coding berbasis AI.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Plugins &amp; Figma Community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3291840" cy="347472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Community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3774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Gudang file, template, UI kit, plugin, dan widget buatan pengguna dari seluruh dunia — banyak yang gratis untuk diduplikasi.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Cara menjalankan: Ctrl + K → ketik nama plugin → Run.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023360" y="114300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206240" y="14447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999" y="1575511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4632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Aset visual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Unsplash, Iconify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0" y="114300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6583680" y="14447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39" y="1575511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237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Aksesibilitas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Stark, pemeriksa kontras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023360" y="237744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206240" y="2679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999" y="2809951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463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Konten dummy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Content Reel, Lorem ipsum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400800" y="237744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6583680" y="267919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2809951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237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Desain ke kode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72237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Anima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023360" y="3611880"/>
            <a:ext cx="4663440" cy="1005840"/>
          </a:xfrm>
          <a:prstGeom prst="roundRect">
            <a:avLst>
              <a:gd name="adj" fmla="val 10909"/>
            </a:avLst>
          </a:prstGeom>
          <a:solidFill>
            <a:schemeClr val="accent5">
              <a:alpha val="18000"/>
            </a:scheme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8404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75488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Baru 2026: generative plugins — buat plugin sendiri cukup dengan menulis prompt.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AI, Fitur Baru &amp; Praktik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Figma AI, pengumuman Config 2026, alur kerja proyek, dan latihan.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325880"/>
            <a:ext cx="2377440" cy="2377440"/>
          </a:xfrm>
          <a:prstGeom prst="ellipse">
            <a:avLst/>
          </a:prstGeom>
          <a:solidFill>
            <a:schemeClr val="accent6">
              <a:alpha val="2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645920"/>
            <a:ext cx="1737360" cy="1737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3954" y="209763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Figma AI: asisten di dalam canvas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3657600" cy="3474720"/>
          </a:xfrm>
          <a:prstGeom prst="roundRect">
            <a:avLst>
              <a:gd name="adj" fmla="val 3158"/>
            </a:avLst>
          </a:prstGeom>
          <a:solidFill>
            <a:schemeClr val="tx1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53802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Figma agent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560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Asisten AI yang memahami file Anda: membantu membuat, mengedit, dan merapikan desain lewat percakapan. Sejak Config 2026 tersedia untuk pengguna paket berbayar.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9C8"/>
                </a:solidFill>
              </a:rPr>
              <a:t>Bisa dinonaktifkan oleh admin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434840" y="11430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957" y="1257117"/>
            <a:ext cx="210678" cy="21067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2920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Make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029200" y="1399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Ubah prompt atau desain menjadi prototipe berkode.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434840" y="184708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957" y="1961205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29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Rename layers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0292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Beri nama layer secara otomatis dan rapi.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434840" y="2551176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957" y="2665293"/>
            <a:ext cx="210678" cy="21067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2920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Teks &amp; gambar placeholder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02920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Isi konten realistis tanpa lorem ipsum.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34840" y="3255264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957" y="3369381"/>
            <a:ext cx="210678" cy="21067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02920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Edit gambar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5029200" y="3511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Hapus latar belakang, tingkatkan resolusi.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434840" y="3959352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957" y="4073469"/>
            <a:ext cx="210678" cy="21067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02920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Visual search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5029200" y="4215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Cari desain serupa dari gambar atau seleksi.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Yang baru dari Config 2026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44752"/>
            <a:ext cx="219456" cy="21945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74520" y="141732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8745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Open beta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Motion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130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Timeline animasi native: keyframe, preset, langsung di canvas.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6898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2" name="Shape 8"/>
          <p:cNvSpPr/>
          <p:nvPr/>
        </p:nvSpPr>
        <p:spPr>
          <a:xfrm>
            <a:off x="345186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44752"/>
            <a:ext cx="219456" cy="2194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86300" y="141732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68630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Bertahap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45186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 layers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451860" y="2130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Ubah layer jadi kode interaktif berbasis React di canvas.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80760" y="114300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44475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498080" y="141732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49808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Paket berbayar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2636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Shaders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263640" y="21305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Fill &amp; efek WebGPU; bisa dibuat lewat Figma agent.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874520" y="310896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187452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Professional+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Weave tools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3822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Alur kerja visual generatif berbasis node di Figma.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26898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3" name="Shape 26"/>
          <p:cNvSpPr/>
          <p:nvPr/>
        </p:nvSpPr>
        <p:spPr>
          <a:xfrm>
            <a:off x="3451860" y="30175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36392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686300" y="310896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68630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Paket berbayar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345186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Generative plugins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3451860" y="3822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Buat plugin khusus cukup dari prompt.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080760" y="283464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40" name="Shape 32"/>
          <p:cNvSpPr/>
          <p:nvPr/>
        </p:nvSpPr>
        <p:spPr>
          <a:xfrm>
            <a:off x="6263640" y="30175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136392"/>
            <a:ext cx="219456" cy="219456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7498080" y="310896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749808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Paket berbayar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26364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Figma agent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6263640" y="3822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Kini dengan skills, connectors, dan MCP.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Diumumkan 24 Juni 2026. Peluncuran bertahap — ketersediaan dapat berbeda per akun.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Alur kerja proyek desain di Figma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97280" y="1828800"/>
            <a:ext cx="6949440" cy="0"/>
          </a:xfrm>
          <a:prstGeom prst="line">
            <a:avLst/>
          </a:prstGeom>
          <a:noFill/>
          <a:ln w="25400">
            <a:solidFill>
              <a:srgbClr val="DDDA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6532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Riset &amp; ide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30352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30352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FigJam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121408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603" y="16532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47088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Wireframe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920240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1920240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Low-fidelity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511296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491" y="16532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236976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Desain UI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310128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3310128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Style &amp; komponen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901184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379" y="165323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26864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Prototipe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700016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700016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Interaksi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91072" y="1463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267" y="1653235"/>
            <a:ext cx="351130" cy="35113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016752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Uji pengguna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089904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6089904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Tautan prototipe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680960" y="14630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155" y="1653235"/>
            <a:ext cx="351130" cy="35113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4066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Handoff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7479792" y="2670048"/>
            <a:ext cx="1133856" cy="274320"/>
          </a:xfrm>
          <a:prstGeom prst="roundRect">
            <a:avLst>
              <a:gd name="adj" fmla="val 50000"/>
            </a:avLst>
          </a:prstGeom>
          <a:solidFill>
            <a:schemeClr val="accent6">
              <a:alpha val="15000"/>
            </a:schemeClr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7479792" y="2670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Dev Mode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49040"/>
            <a:ext cx="411480" cy="41148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7160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Prosesnya berulang (iteratif)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137160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Masukan dari uji pengguna dan developer dikembalikan ke tahap desain. Karena semua orang bekerja di file yang sama, siklus revisi menjadi jauh lebih cepat.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Praktik terbaik agar file tetap rapi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58368" y="139903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05" y="1532169"/>
            <a:ext cx="245791" cy="24579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53312" y="1271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Beri nama layer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53312" y="15636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Hindari "Frame 238". Gunakan nama bermakna, mis. Card/Produk.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63440" y="1143000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864608" y="139903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45" y="1532169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59552" y="1271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 Layout sejak awal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559552" y="15636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Layout responsif dan mudah diubah tanpa geser manual.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2313432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658368" y="2569464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5" y="270260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53312" y="2441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Bangun design system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53312" y="2734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Komponen, styles, dan variables dipakai ulang di semua layar.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313432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4864608" y="2569464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45" y="2702601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59552" y="2441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Atur pages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559552" y="27340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Mis. Cover, Riset, WIP, Final, Arsip.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3483864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658368" y="3739896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3873033"/>
            <a:ext cx="245791" cy="24579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53312" y="3611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Spacing kelipatan 8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353312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Gunakan 4/8/16/24/32 agar ritme visual konsisten.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663440" y="3483864"/>
            <a:ext cx="402336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30" name="Shape 22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45" y="3873033"/>
            <a:ext cx="245791" cy="24579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559552" y="3611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Pikirkan aksesibilitas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5559552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Kontras cukup dan area sentuh minimal 44 × 44 px.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Latihan: desain layar Login aplikasi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097280"/>
            <a:ext cx="2103120" cy="352044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207008"/>
            <a:ext cx="1920240" cy="329184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/>
        </p:spPr>
      </p:sp>
      <p:sp>
        <p:nvSpPr>
          <p:cNvPr id="6" name="Shape 3"/>
          <p:cNvSpPr/>
          <p:nvPr/>
        </p:nvSpPr>
        <p:spPr>
          <a:xfrm>
            <a:off x="1600200" y="1280160"/>
            <a:ext cx="548640" cy="914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Shape 4"/>
          <p:cNvSpPr/>
          <p:nvPr/>
        </p:nvSpPr>
        <p:spPr>
          <a:xfrm>
            <a:off x="16002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373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Selamat datang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Masuk untuk melanjutkan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097280" y="2880360"/>
            <a:ext cx="1554480" cy="32004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887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Email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097280" y="3291840"/>
            <a:ext cx="1554480" cy="32004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1887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Kata sandi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097280" y="3794760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37947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Masuk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Belum punya akun? Daftar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Tugas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474720" y="15544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308" y="1640068"/>
            <a:ext cx="158008" cy="1580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77640" y="151790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Buat frame ukuran ponsel (mis. Android Compact 412 × 917)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474720" y="20574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308" y="2142988"/>
            <a:ext cx="158008" cy="1580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977640" y="202082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Susun layout dengan Auto Layout vertikal, gap 16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3474720" y="256032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308" y="2645908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77640" y="252374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Buat komponen tombol &amp; input lengkap dengan variants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3474720" y="306324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308" y="3148828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977640" y="302666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Terapkan color variables dengan mode Light dan Dark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3474720" y="356616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308" y="3651748"/>
            <a:ext cx="158008" cy="1580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977640" y="352958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Hubungkan prototipe Login → Beranda (Smart animate)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3474720" y="4069080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0308" y="4154668"/>
            <a:ext cx="158008" cy="15800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977640" y="403250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Bagikan tautan dan kumpulkan masukan lewat komentar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347472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Durasi ± 90 menit  ·  Tiap peserta presentasi 3 menit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A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Terima kasih!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Selamat berkarya di Figma!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035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502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DESAIN UI/UX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Sumber belajar lanjutan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94960" y="141732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5532120" y="15361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482" y="164555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80760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Pusat bantuan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help.figma.com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94960" y="219456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5532120" y="23134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482" y="2422794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807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Figma Community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08076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figma.com/community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394960" y="297180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3090672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482" y="3200034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8076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Tutorial video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080760" y="3319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Kanal YouTube resmi Figma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394960" y="374904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5532120" y="3867912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482" y="3977274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080760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Rekaman Config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08076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config.figma.com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gma">
  <a:themeElements>
    <a:clrScheme name="Figma">
      <a:dk1>
        <a:srgbClr val="16161D"/>
      </a:dk1>
      <a:lt1>
        <a:srgbClr val="FFFFFF"/>
      </a:lt1>
      <a:dk2>
        <a:srgbClr val="5A5A6E"/>
      </a:dk2>
      <a:lt2>
        <a:srgbClr val="F4F2FF"/>
      </a:lt2>
      <a:accent1>
        <a:srgbClr val="7C5CFF"/>
      </a:accent1>
      <a:accent2>
        <a:srgbClr val="FF6B5B"/>
      </a:accent2>
      <a:accent3>
        <a:srgbClr val="1FCB8F"/>
      </a:accent3>
      <a:accent4>
        <a:srgbClr val="2FA8FF"/>
      </a:accent4>
      <a:accent5>
        <a:srgbClr val="FFB020"/>
      </a:accent5>
      <a:accent6>
        <a:srgbClr val="E15AB8"/>
      </a:accent6>
      <a:hlink>
        <a:srgbClr val="7C5CFF"/>
      </a:hlink>
      <a:folHlink>
        <a:srgbClr val="5B3FD9"/>
      </a:folHlink>
    </a:clrScheme>
    <a:fontScheme name="Figm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Menguasai Figma – Materi Lengkap</dc:title>
  <dc:subject>PptxGenJS Presentation</dc:subject>
  <dc:creator>Desain UI/UX</dc:creator>
  <cp:lastModifiedBy>Desain UI/UX</cp:lastModifiedBy>
  <cp:revision>1</cp:revision>
  <dcterms:created xsi:type="dcterms:W3CDTF">2026-10-21T03:39:26Z</dcterms:created>
  <dcterms:modified xsi:type="dcterms:W3CDTF">2026-10-21T03:39:26Z</dcterms:modified>
</cp:coreProperties>
</file>