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2.png"/><Relationship Id="rId4" Type="http://schemas.openxmlformats.org/officeDocument/2006/relationships/image" Target="../media/image-19-2.png"/><Relationship Id="rId5" Type="http://schemas.openxmlformats.org/officeDocument/2006/relationships/image" Target="../media/image-19-2.png"/><Relationship Id="rId6" Type="http://schemas.openxmlformats.org/officeDocument/2006/relationships/image" Target="../media/image-19-2.png"/><Relationship Id="rId7" Type="http://schemas.openxmlformats.org/officeDocument/2006/relationships/image" Target="../media/image-19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E2432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2377440" cy="2377440"/>
          </a:xfrm>
          <a:prstGeom prst="ellipse">
            <a:avLst/>
          </a:prstGeom>
          <a:solidFill>
            <a:srgbClr val="FC6D26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75720" y="5989320"/>
            <a:ext cx="1005840" cy="1005840"/>
          </a:xfrm>
          <a:prstGeom prst="ellipse">
            <a:avLst/>
          </a:prstGeom>
          <a:solidFill>
            <a:srgbClr val="FC6D26"/>
          </a:solidFill>
          <a:ln/>
        </p:spPr>
      </p:sp>
      <p:pic>
        <p:nvPicPr>
          <p:cNvPr id="5" name="Image 0" descr="/home/claude/gitlab-ppt/icons/gitlab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144768"/>
            <a:ext cx="694944" cy="6949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777240"/>
            <a:ext cx="3200400" cy="402336"/>
          </a:xfrm>
          <a:prstGeom prst="roundRect">
            <a:avLst>
              <a:gd name="adj" fmla="val 50000"/>
            </a:avLst>
          </a:prstGeom>
          <a:ln w="15875">
            <a:solidFill>
              <a:srgbClr val="FC6D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7724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PEMBELAJARAN</a:t>
            </a:r>
            <a:endParaRPr lang="en-US" sz="1100" dirty="0"/>
          </a:p>
        </p:txBody>
      </p:sp>
      <p:pic>
        <p:nvPicPr>
          <p:cNvPr id="8" name="Image 1" descr="/home/claude/gitlab-ppt/icons/git_logo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81328"/>
            <a:ext cx="457200" cy="457200"/>
          </a:xfrm>
          <a:prstGeom prst="rect">
            <a:avLst/>
          </a:prstGeom>
        </p:spPr>
      </p:pic>
      <p:pic>
        <p:nvPicPr>
          <p:cNvPr id="9" name="Image 2" descr="/home/claude/gitlab-ppt/icons/gitlab_logo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1481328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80" y="233172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</a:t>
            </a:r>
            <a:pPr algn="l" indent="0" marL="0">
              <a:buNone/>
            </a:pPr>
            <a:r>
              <a:rPr lang="en-US" sz="6200" b="1" dirty="0">
                <a:solidFill>
                  <a:srgbClr val="9AA1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</a:t>
            </a:r>
            <a:pPr algn="l" indent="0" marL="0">
              <a:buNone/>
            </a:pPr>
            <a:r>
              <a:rPr lang="en-US" sz="6200" b="1" dirty="0">
                <a:solidFill>
                  <a:srgbClr val="FC6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GitLab</a:t>
            </a:r>
            <a:endParaRPr lang="en-US" sz="6200" dirty="0"/>
          </a:p>
        </p:txBody>
      </p:sp>
      <p:sp>
        <p:nvSpPr>
          <p:cNvPr id="11" name="Text 6"/>
          <p:cNvSpPr/>
          <p:nvPr/>
        </p:nvSpPr>
        <p:spPr>
          <a:xfrm>
            <a:off x="658368" y="3703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System untuk Kolaborasi Tim Modern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658368" y="42519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konsep dasar Git, hingga studi kasus lengkap di GitLab — mulai dari membuat akun sampai pipeline CI/CD berjalan otomatis.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itlab-ppt/icons/gitlab_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0467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Akan Kita Pelajari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6012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— DASAR-DASAR GIT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960120" y="25146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60120" y="251460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45920" y="249631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Version Control?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60120" y="35661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60120" y="356616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45920" y="354787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Git &amp; Konsep Dasarnya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60120" y="46177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60120" y="461772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0" y="459943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 Git yang Sering Digunakan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309360" y="1783080"/>
            <a:ext cx="5239512" cy="4206240"/>
          </a:xfrm>
          <a:prstGeom prst="roundRect">
            <a:avLst>
              <a:gd name="adj" fmla="val 1957"/>
            </a:avLst>
          </a:prstGeom>
          <a:solidFill>
            <a:srgbClr val="1B1F2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629400" y="2011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— STUDI KASUS GITLAB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629400" y="2514600"/>
            <a:ext cx="502920" cy="502920"/>
          </a:xfrm>
          <a:prstGeom prst="ellipse">
            <a:avLst/>
          </a:prstGeom>
          <a:solidFill>
            <a:srgbClr val="FC6D26"/>
          </a:solidFill>
          <a:ln/>
        </p:spPr>
      </p:sp>
      <p:sp>
        <p:nvSpPr>
          <p:cNvPr id="22" name="Text 19"/>
          <p:cNvSpPr/>
          <p:nvPr/>
        </p:nvSpPr>
        <p:spPr>
          <a:xfrm>
            <a:off x="66294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315200" y="249631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GitLab &amp; Fitur Utamanya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629400" y="3566160"/>
            <a:ext cx="502920" cy="502920"/>
          </a:xfrm>
          <a:prstGeom prst="ellipse">
            <a:avLst/>
          </a:prstGeom>
          <a:solidFill>
            <a:srgbClr val="FC6D26"/>
          </a:solidFill>
          <a:ln/>
        </p:spPr>
      </p:sp>
      <p:sp>
        <p:nvSpPr>
          <p:cNvPr id="25" name="Text 22"/>
          <p:cNvSpPr/>
          <p:nvPr/>
        </p:nvSpPr>
        <p:spPr>
          <a:xfrm>
            <a:off x="66294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315200" y="354787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GitLab: Buat Akun → Deploy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629400" y="4617720"/>
            <a:ext cx="502920" cy="502920"/>
          </a:xfrm>
          <a:prstGeom prst="ellipse">
            <a:avLst/>
          </a:prstGeom>
          <a:solidFill>
            <a:srgbClr val="FC6D26"/>
          </a:solidFill>
          <a:ln/>
        </p:spPr>
      </p:sp>
      <p:sp>
        <p:nvSpPr>
          <p:cNvPr id="28" name="Text 25"/>
          <p:cNvSpPr/>
          <p:nvPr/>
        </p:nvSpPr>
        <p:spPr>
          <a:xfrm>
            <a:off x="662940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315200" y="459943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&amp; Best Practices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629400" y="5623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Porsi terbesar materi ada di sini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GitLab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1384280" y="6446520"/>
            <a:ext cx="329184" cy="329184"/>
          </a:xfrm>
          <a:prstGeom prst="ellipse">
            <a:avLst/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384280" y="6446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itlab-ppt/icons/git_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— DASAR GIT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04672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Version Control System (VCS)?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yang mencatat setiap perubahan pada file dari waktu ke waktu, sehingga tim bisa melacak riwayat, membandingkan versi, dan kembali ke versi sebelumnya kapan pun dibutuhkan.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468880"/>
            <a:ext cx="5212080" cy="3566160"/>
          </a:xfrm>
          <a:prstGeom prst="roundRect">
            <a:avLst>
              <a:gd name="adj" fmla="val 2308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26974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432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26974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Tanpa Version Control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60120" y="3337560"/>
            <a:ext cx="45262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bernama laporan_final_FIX_v3_revisi.docx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tahu siapa mengubah apa dan kapan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tim mudah saling menimpa (overwrite)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kembali ke versi sebelumnya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309360" y="2468880"/>
            <a:ext cx="5239512" cy="3566160"/>
          </a:xfrm>
          <a:prstGeom prst="roundRect">
            <a:avLst>
              <a:gd name="adj" fmla="val 2308"/>
            </a:avLst>
          </a:prstGeom>
          <a:solidFill>
            <a:srgbClr val="1B1F2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29400" y="2697480"/>
            <a:ext cx="457200" cy="457200"/>
          </a:xfrm>
          <a:prstGeom prst="ellipse">
            <a:avLst/>
          </a:prstGeom>
          <a:solidFill>
            <a:srgbClr val="FC6D26"/>
          </a:solidFill>
          <a:ln/>
        </p:spPr>
      </p:sp>
      <p:sp>
        <p:nvSpPr>
          <p:cNvPr id="13" name="Text 10"/>
          <p:cNvSpPr/>
          <p:nvPr/>
        </p:nvSpPr>
        <p:spPr>
          <a:xfrm>
            <a:off x="66294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086600" y="26974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Dengan Version Control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629400" y="3337560"/>
            <a:ext cx="46177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file, riwayat perubahan tercatat rapi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perubahan punya penulis, waktu, dan pesan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orang bisa bekerja paralel tanpa bentrok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kembali (revert) ke versi mana pun, kapan pun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GitLab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1384280" y="6446520"/>
            <a:ext cx="329184" cy="329184"/>
          </a:xfrm>
          <a:prstGeom prst="ellipse">
            <a:avLst/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384280" y="6446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itlab-ppt/icons/git_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— DASAR GIT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0467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Mengenal Git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4114800" cy="4206240"/>
          </a:xfrm>
          <a:prstGeom prst="roundRect">
            <a:avLst>
              <a:gd name="adj" fmla="val 2000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011680"/>
            <a:ext cx="731520" cy="731520"/>
          </a:xfrm>
          <a:prstGeom prst="ellipse">
            <a:avLst/>
          </a:prstGeom>
          <a:solidFill>
            <a:srgbClr val="E24329"/>
          </a:solidFill>
          <a:ln/>
        </p:spPr>
      </p:sp>
      <p:pic>
        <p:nvPicPr>
          <p:cNvPr id="7" name="Image 1" descr="/home/claude/gitlab-ppt/icons/git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" y="2110435"/>
            <a:ext cx="534010" cy="5340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292608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Version Control System open-source, dibuat oleh Linus Torvalds pada tahun 2005 untuk mengelola pengembangan kernel Linux.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074920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>
            <a:off x="50749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74920" y="1783080"/>
            <a:ext cx="457200" cy="45720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715000" y="17373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715000" y="2075688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komputer menyimpan salinan lengkap riwayat proyek, tidak bergantung pada satu server.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74920" y="28163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>
            <a:off x="507492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074920" y="2816352"/>
            <a:ext cx="457200" cy="45720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15000" y="277063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 &amp; Ringan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715000" y="310896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besar operasi dilakukan secara lokal, sehingga jauh lebih cepat dibanding VCS lama.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074920" y="38496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507492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074920" y="3849624"/>
            <a:ext cx="457200" cy="45720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715000" y="380390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Berbasis Snapshot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715000" y="4142232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menyimpan “potret” kondisi seluruh file di setiap commit, bukan hanya perbedaannya.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074920" y="48828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1"/>
          <p:cNvSpPr/>
          <p:nvPr/>
        </p:nvSpPr>
        <p:spPr>
          <a:xfrm>
            <a:off x="5074920" y="4882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5074920" y="4882896"/>
            <a:ext cx="457200" cy="45720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715000" y="483717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Mudah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5715000" y="5175504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cabang pengembangan terpisah sangat ringan dan cepat digabungkan kembali.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GitLab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11384280" y="6446520"/>
            <a:ext cx="329184" cy="329184"/>
          </a:xfrm>
          <a:prstGeom prst="ellipse">
            <a:avLst/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1384280" y="6446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itlab-ppt/icons/git_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— DASAR GIT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0467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Konsep Kunci dalam Git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5239512" cy="2011680"/>
          </a:xfrm>
          <a:prstGeom prst="roundRect">
            <a:avLst>
              <a:gd name="adj" fmla="val 4091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057400"/>
            <a:ext cx="566928" cy="566928"/>
          </a:xfrm>
          <a:prstGeom prst="ellipse">
            <a:avLst/>
          </a:prstGeom>
          <a:solidFill>
            <a:srgbClr val="E24329"/>
          </a:solidFill>
          <a:ln/>
        </p:spPr>
      </p:sp>
      <p:pic>
        <p:nvPicPr>
          <p:cNvPr id="7" name="Image 1" descr="/home/claude/gitlab-ppt/icons/repositor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655" y="2133935"/>
            <a:ext cx="413857" cy="4138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2011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960120" y="2697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“Gudang” proyek yang menyimpan seluruh file beserta riwayat perubahannya.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309360" y="1737360"/>
            <a:ext cx="5239512" cy="2011680"/>
          </a:xfrm>
          <a:prstGeom prst="roundRect">
            <a:avLst>
              <a:gd name="adj" fmla="val 4091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629400" y="2057400"/>
            <a:ext cx="566928" cy="566928"/>
          </a:xfrm>
          <a:prstGeom prst="ellipse">
            <a:avLst/>
          </a:prstGeom>
          <a:solidFill>
            <a:srgbClr val="E24329"/>
          </a:solidFill>
          <a:ln/>
        </p:spPr>
      </p:sp>
      <p:pic>
        <p:nvPicPr>
          <p:cNvPr id="12" name="Image 2" descr="/home/claude/gitlab-ppt/icons/commi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935" y="2133935"/>
            <a:ext cx="413857" cy="41385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06640" y="2011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629400" y="2697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titik simpan/snapshot perubahan, disertai pesan yang menjelaskan apa yang diubah.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3977640"/>
            <a:ext cx="5239512" cy="2011680"/>
          </a:xfrm>
          <a:prstGeom prst="roundRect">
            <a:avLst>
              <a:gd name="adj" fmla="val 4091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E24329"/>
          </a:solidFill>
          <a:ln/>
        </p:spPr>
      </p:sp>
      <p:pic>
        <p:nvPicPr>
          <p:cNvPr id="17" name="Image 3" descr="/home/claude/gitlab-ppt/icons/bran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55" y="4374215"/>
            <a:ext cx="413857" cy="41385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37360" y="4251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960120" y="49377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Cabang pengembangan terpisah dari kode utama, dipakai untuk fitur atau perbaikan baru.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309360" y="3977640"/>
            <a:ext cx="5239512" cy="2011680"/>
          </a:xfrm>
          <a:prstGeom prst="roundRect">
            <a:avLst>
              <a:gd name="adj" fmla="val 4091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629400" y="4297680"/>
            <a:ext cx="566928" cy="566928"/>
          </a:xfrm>
          <a:prstGeom prst="ellipse">
            <a:avLst/>
          </a:prstGeom>
          <a:solidFill>
            <a:srgbClr val="E24329"/>
          </a:solidFill>
          <a:ln/>
        </p:spPr>
      </p:sp>
      <p:pic>
        <p:nvPicPr>
          <p:cNvPr id="22" name="Image 4" descr="/home/claude/gitlab-ppt/icons/merg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935" y="4374215"/>
            <a:ext cx="413857" cy="41385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06640" y="4251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6629400" y="49377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menggabungkan perubahan dari satu branch ke branch lain.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GitLab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11384280" y="6446520"/>
            <a:ext cx="329184" cy="329184"/>
          </a:xfrm>
          <a:prstGeom prst="ellipse">
            <a:avLst/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11384280" y="6446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itlab-ppt/icons/git_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— DASAR GIT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0467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Kerja Dasar Git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mengalir melalui empat area sebelum akhirnya tersimpan di server remote (seperti GitLab).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2880360"/>
            <a:ext cx="2331720" cy="1737360"/>
          </a:xfrm>
          <a:prstGeom prst="roundRect">
            <a:avLst>
              <a:gd name="adj" fmla="val 4737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31620" y="3108960"/>
            <a:ext cx="548640" cy="548640"/>
          </a:xfrm>
          <a:prstGeom prst="ellipse">
            <a:avLst/>
          </a:prstGeom>
          <a:solidFill>
            <a:srgbClr val="E24329"/>
          </a:solidFill>
          <a:ln/>
        </p:spPr>
      </p:sp>
      <p:pic>
        <p:nvPicPr>
          <p:cNvPr id="8" name="Image 1" descr="/home/claude/gitlab-ppt/icons/edi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686" y="3183026"/>
            <a:ext cx="400507" cy="4005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37947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42702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yang sedang diedit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990088" y="3474720"/>
            <a:ext cx="374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3383280" y="2880360"/>
            <a:ext cx="2331720" cy="1737360"/>
          </a:xfrm>
          <a:prstGeom prst="roundRect">
            <a:avLst>
              <a:gd name="adj" fmla="val 4737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74820" y="3108960"/>
            <a:ext cx="548640" cy="548640"/>
          </a:xfrm>
          <a:prstGeom prst="ellipse">
            <a:avLst/>
          </a:prstGeom>
          <a:solidFill>
            <a:srgbClr val="E24329"/>
          </a:solidFill>
          <a:ln/>
        </p:spPr>
      </p:sp>
      <p:pic>
        <p:nvPicPr>
          <p:cNvPr id="14" name="Image 2" descr="/home/claude/gitlab-ppt/icons/sta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886" y="3183026"/>
            <a:ext cx="400507" cy="40050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74720" y="37947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474720" y="42702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Ditandai lewat git add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733288" y="3474720"/>
            <a:ext cx="374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6126480" y="2880360"/>
            <a:ext cx="2331720" cy="1737360"/>
          </a:xfrm>
          <a:prstGeom prst="roundRect">
            <a:avLst>
              <a:gd name="adj" fmla="val 4737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018020" y="3108960"/>
            <a:ext cx="548640" cy="548640"/>
          </a:xfrm>
          <a:prstGeom prst="ellipse">
            <a:avLst/>
          </a:prstGeom>
          <a:solidFill>
            <a:srgbClr val="E24329"/>
          </a:solidFill>
          <a:ln/>
        </p:spPr>
      </p:sp>
      <p:pic>
        <p:nvPicPr>
          <p:cNvPr id="20" name="Image 3" descr="/home/claude/gitlab-ppt/icons/harddriv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086" y="3183026"/>
            <a:ext cx="400507" cy="40050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17920" y="37947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217920" y="42702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Tersimpan via git commit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8476488" y="3474720"/>
            <a:ext cx="374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8869680" y="2880360"/>
            <a:ext cx="2331720" cy="1737360"/>
          </a:xfrm>
          <a:prstGeom prst="roundRect">
            <a:avLst>
              <a:gd name="adj" fmla="val 4737"/>
            </a:avLst>
          </a:prstGeom>
          <a:solidFill>
            <a:srgbClr val="1B1F2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761220" y="3108960"/>
            <a:ext cx="548640" cy="548640"/>
          </a:xfrm>
          <a:prstGeom prst="ellipse">
            <a:avLst/>
          </a:prstGeom>
          <a:solidFill>
            <a:srgbClr val="FC6D26"/>
          </a:solidFill>
          <a:ln/>
        </p:spPr>
      </p:sp>
      <p:pic>
        <p:nvPicPr>
          <p:cNvPr id="26" name="Image 4" descr="/home/claude/gitlab-ppt/icons/clou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5286" y="3183026"/>
            <a:ext cx="400507" cy="40050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961120" y="37947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8961120" y="42702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Terkirim via git push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40080" y="5074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algn="ctr" indent="0" marL="0">
              <a:buNone/>
            </a:pPr>
            <a:r>
              <a:rPr lang="en-US" sz="1500" b="1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GitLab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11384280" y="6446520"/>
            <a:ext cx="329184" cy="329184"/>
          </a:xfrm>
          <a:prstGeom prst="ellipse">
            <a:avLst/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11384280" y="6446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itlab-ppt/icons/git_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— DASAR GIT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04672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Perintah Git yang Sering Digunakan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3429000" cy="1481328"/>
          </a:xfrm>
          <a:prstGeom prst="roundRect">
            <a:avLst>
              <a:gd name="adj" fmla="val 5556"/>
            </a:avLst>
          </a:prstGeom>
          <a:solidFill>
            <a:srgbClr val="252B3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1248" y="1837944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41248" y="2258568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repository Git baru di folder lokal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197096" y="1691640"/>
            <a:ext cx="3429000" cy="1481328"/>
          </a:xfrm>
          <a:prstGeom prst="roundRect">
            <a:avLst>
              <a:gd name="adj" fmla="val 5556"/>
            </a:avLst>
          </a:prstGeom>
          <a:solidFill>
            <a:srgbClr val="252B3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398264" y="1837944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398264" y="2258568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Menyalin repository dari remote ke lokal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54112" y="1691640"/>
            <a:ext cx="3429000" cy="1481328"/>
          </a:xfrm>
          <a:prstGeom prst="roundRect">
            <a:avLst>
              <a:gd name="adj" fmla="val 5556"/>
            </a:avLst>
          </a:prstGeom>
          <a:solidFill>
            <a:srgbClr val="252B3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955280" y="1837944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955280" y="2258568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status perubahan file saat ini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3282696"/>
            <a:ext cx="3429000" cy="1481328"/>
          </a:xfrm>
          <a:prstGeom prst="roundRect">
            <a:avLst>
              <a:gd name="adj" fmla="val 5556"/>
            </a:avLst>
          </a:prstGeom>
          <a:solidFill>
            <a:srgbClr val="252B3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1248" y="3429000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&lt;file&gt;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41248" y="3849624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Menandai perubahan untuk disertakan di commit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197096" y="3282696"/>
            <a:ext cx="3429000" cy="1481328"/>
          </a:xfrm>
          <a:prstGeom prst="roundRect">
            <a:avLst>
              <a:gd name="adj" fmla="val 5556"/>
            </a:avLst>
          </a:prstGeom>
          <a:solidFill>
            <a:srgbClr val="252B3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398264" y="3429000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"..."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398264" y="3849624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snapshot perubahan dengan pesan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754112" y="3282696"/>
            <a:ext cx="3429000" cy="1481328"/>
          </a:xfrm>
          <a:prstGeom prst="roundRect">
            <a:avLst>
              <a:gd name="adj" fmla="val 5556"/>
            </a:avLst>
          </a:prstGeom>
          <a:solidFill>
            <a:srgbClr val="252B3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955280" y="3429000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955280" y="3849624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Mengirim commit lokal ke repository remote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4873752"/>
            <a:ext cx="3429000" cy="1481328"/>
          </a:xfrm>
          <a:prstGeom prst="roundRect">
            <a:avLst>
              <a:gd name="adj" fmla="val 5556"/>
            </a:avLst>
          </a:prstGeom>
          <a:solidFill>
            <a:srgbClr val="252B3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41248" y="5020056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841248" y="544068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&amp; menggabungkan perubahan dari remote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197096" y="4873752"/>
            <a:ext cx="3429000" cy="1481328"/>
          </a:xfrm>
          <a:prstGeom prst="roundRect">
            <a:avLst>
              <a:gd name="adj" fmla="val 5556"/>
            </a:avLst>
          </a:prstGeom>
          <a:solidFill>
            <a:srgbClr val="252B3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398264" y="5020056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&lt;nama&gt;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4398264" y="544068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branch baru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754112" y="4873752"/>
            <a:ext cx="3429000" cy="1481328"/>
          </a:xfrm>
          <a:prstGeom prst="roundRect">
            <a:avLst>
              <a:gd name="adj" fmla="val 5556"/>
            </a:avLst>
          </a:prstGeom>
          <a:solidFill>
            <a:srgbClr val="252B3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955280" y="5020056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&lt;branch&gt;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7955280" y="544068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branch ke branch aktif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GitLab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1384280" y="6446520"/>
            <a:ext cx="329184" cy="329184"/>
          </a:xfrm>
          <a:prstGeom prst="ellipse">
            <a:avLst/>
          </a:prstGeom>
          <a:solidFill>
            <a:srgbClr val="252B36"/>
          </a:solidFill>
          <a:ln w="9525">
            <a:solidFill>
              <a:srgbClr val="9AA1A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384280" y="6446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itlab-ppt/icons/gitlab_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— MENGENAL GITLAB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0467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GitLab?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DevOps berbasis web yang dibangun di atas Git — bukan sekadar tempat menyimpan kode, tapi satu platform lengkap untuk seluruh siklus pengembangan software.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3063240"/>
            <a:ext cx="5760720" cy="868680"/>
          </a:xfrm>
          <a:prstGeom prst="roundRect">
            <a:avLst>
              <a:gd name="adj" fmla="val 9474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30632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4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788920" y="30632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Pertama dirilis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4114800"/>
            <a:ext cx="5760720" cy="868680"/>
          </a:xfrm>
          <a:prstGeom prst="roundRect">
            <a:avLst>
              <a:gd name="adj" fmla="val 9474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41148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4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All-in-One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788920" y="411480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+ CI/CD + Issue Tracking dalam satu platform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766560" y="1737360"/>
            <a:ext cx="4782312" cy="4023360"/>
          </a:xfrm>
          <a:prstGeom prst="roundRect">
            <a:avLst>
              <a:gd name="adj" fmla="val 2045"/>
            </a:avLst>
          </a:prstGeom>
          <a:solidFill>
            <a:srgbClr val="1B1F2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086600" y="2011680"/>
            <a:ext cx="502920" cy="502920"/>
          </a:xfrm>
          <a:prstGeom prst="ellipse">
            <a:avLst/>
          </a:prstGeom>
          <a:solidFill>
            <a:srgbClr val="FC6D26"/>
          </a:solidFill>
          <a:ln/>
        </p:spPr>
      </p:sp>
      <p:pic>
        <p:nvPicPr>
          <p:cNvPr id="14" name="Image 1" descr="/home/claude/gitlab-ppt/icons/gitlab_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2130552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72400" y="2011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Filosofi GitLab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086600" y="2560320"/>
            <a:ext cx="42519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aplikasi untuk seluruh DevOps lifecycle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Kolaborasi tim lewat Merge Request &amp; code review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Otomatisasi build, test, dan deploy lewat CI/CD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Tersedia gratis (self-hosted) maupun SaaS (gitlab.com)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GitLab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11384280" y="6446520"/>
            <a:ext cx="329184" cy="329184"/>
          </a:xfrm>
          <a:prstGeom prst="ellipse">
            <a:avLst/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384280" y="6446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itlab-ppt/icons/gitlab_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— MENGENAL GITLAB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0467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vs GitLab: Apa Bedanya?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212080" cy="3931920"/>
          </a:xfrm>
          <a:prstGeom prst="roundRect">
            <a:avLst>
              <a:gd name="adj" fmla="val 2093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103120"/>
            <a:ext cx="594360" cy="594360"/>
          </a:xfrm>
          <a:prstGeom prst="ellipse">
            <a:avLst/>
          </a:prstGeom>
          <a:solidFill>
            <a:srgbClr val="E24329"/>
          </a:solidFill>
          <a:ln/>
        </p:spPr>
      </p:sp>
      <p:pic>
        <p:nvPicPr>
          <p:cNvPr id="7" name="Image 1" descr="/home/claude/gitlab-ppt/icons/git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359" y="2183359"/>
            <a:ext cx="433883" cy="4338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2103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960120" y="2926080"/>
            <a:ext cx="4526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 (tool) command-line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version control itu sendiri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100% di komputer lokal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punya antarmuka web bawaan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309360" y="1828800"/>
            <a:ext cx="5239512" cy="3931920"/>
          </a:xfrm>
          <a:prstGeom prst="roundRect">
            <a:avLst>
              <a:gd name="adj" fmla="val 2093"/>
            </a:avLst>
          </a:prstGeom>
          <a:solidFill>
            <a:srgbClr val="1B1F2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629400" y="2103120"/>
            <a:ext cx="594360" cy="594360"/>
          </a:xfrm>
          <a:prstGeom prst="ellipse">
            <a:avLst/>
          </a:prstGeom>
          <a:solidFill>
            <a:srgbClr val="FC6D26"/>
          </a:solidFill>
          <a:ln/>
        </p:spPr>
      </p:sp>
      <p:pic>
        <p:nvPicPr>
          <p:cNvPr id="12" name="Image 2" descr="/home/claude/gitlab-ppt/icons/gitlab_logo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639" y="2183359"/>
            <a:ext cx="433883" cy="43388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06640" y="2103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GitLab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629400" y="29260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Platform/layanan berbasis web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Menghosting repository yang memakai Git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di server (cloud atau self-hosted)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Punya UI lengkap: issue, MR, CI/CD, wiki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Singkatnya: Git adalah mesinnya, GitLab adalah platform yang menjalankan &amp; memperluas mesin itu.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GitLab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11384280" y="6446520"/>
            <a:ext cx="329184" cy="329184"/>
          </a:xfrm>
          <a:prstGeom prst="ellipse">
            <a:avLst/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1384280" y="6446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itlab-ppt/icons/gitlab_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— MENGENAL GITLAB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0467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Fitur Utama GitLab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FC6D26"/>
          </a:solidFill>
          <a:ln/>
        </p:spPr>
      </p:sp>
      <p:pic>
        <p:nvPicPr>
          <p:cNvPr id="7" name="Image 1" descr="/home/claude/gitlab-ppt/icons/host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74" y="2079574"/>
            <a:ext cx="367132" cy="3671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6791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Hosting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868680" y="304495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&amp; mengelola kode sumber berbasis Git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197096" y="178308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25696" y="2011680"/>
            <a:ext cx="502920" cy="502920"/>
          </a:xfrm>
          <a:prstGeom prst="ellipse">
            <a:avLst/>
          </a:prstGeom>
          <a:solidFill>
            <a:srgbClr val="FC6D26"/>
          </a:solidFill>
          <a:ln/>
        </p:spPr>
      </p:sp>
      <p:pic>
        <p:nvPicPr>
          <p:cNvPr id="12" name="Image 2" descr="/home/claude/gitlab-ppt/icons/mergereques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590" y="2079574"/>
            <a:ext cx="367132" cy="3671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25696" y="26791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Request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425696" y="304495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Mengusulkan &amp; meninjau perubahan sebelum digabung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754112" y="178308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982712" y="2011680"/>
            <a:ext cx="502920" cy="502920"/>
          </a:xfrm>
          <a:prstGeom prst="ellipse">
            <a:avLst/>
          </a:prstGeom>
          <a:solidFill>
            <a:srgbClr val="FC6D26"/>
          </a:solidFill>
          <a:ln/>
        </p:spPr>
      </p:sp>
      <p:pic>
        <p:nvPicPr>
          <p:cNvPr id="17" name="Image 3" descr="/home/claude/gitlab-ppt/icons/cic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606" y="2079574"/>
            <a:ext cx="367132" cy="3671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982712" y="26791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982712" y="304495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test, dan deploy otomatis setiap ada perubahan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3867912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68680" y="4096512"/>
            <a:ext cx="502920" cy="502920"/>
          </a:xfrm>
          <a:prstGeom prst="ellipse">
            <a:avLst/>
          </a:prstGeom>
          <a:solidFill>
            <a:srgbClr val="FC6D26"/>
          </a:solidFill>
          <a:ln/>
        </p:spPr>
      </p:sp>
      <p:pic>
        <p:nvPicPr>
          <p:cNvPr id="22" name="Image 4" descr="/home/claude/gitlab-ppt/icons/issu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574" y="4164406"/>
            <a:ext cx="367132" cy="3671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68680" y="47640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Board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868680" y="5129784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Melacak tugas, bug, dan progres pekerjaan tim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197096" y="3867912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25696" y="4096512"/>
            <a:ext cx="502920" cy="502920"/>
          </a:xfrm>
          <a:prstGeom prst="ellipse">
            <a:avLst/>
          </a:prstGeom>
          <a:solidFill>
            <a:srgbClr val="FC6D26"/>
          </a:solidFill>
          <a:ln/>
        </p:spPr>
      </p:sp>
      <p:pic>
        <p:nvPicPr>
          <p:cNvPr id="27" name="Image 5" descr="/home/claude/gitlab-ppt/icons/wiki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3590" y="4164406"/>
            <a:ext cx="367132" cy="3671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425696" y="47640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Wiki &amp; Dokumentasi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4425696" y="5129784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dokumentasi proyek dalam satu tempat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7754112" y="3867912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7982712" y="4096512"/>
            <a:ext cx="502920" cy="502920"/>
          </a:xfrm>
          <a:prstGeom prst="ellipse">
            <a:avLst/>
          </a:prstGeom>
          <a:solidFill>
            <a:srgbClr val="FC6D26"/>
          </a:solidFill>
          <a:ln/>
        </p:spPr>
      </p:sp>
      <p:pic>
        <p:nvPicPr>
          <p:cNvPr id="32" name="Image 6" descr="/home/claude/gitlab-ppt/icons/registry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0606" y="4164406"/>
            <a:ext cx="367132" cy="36713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982712" y="47640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Registry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7982712" y="5129784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image Docker hasil build proyek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GitLab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11384280" y="6446520"/>
            <a:ext cx="329184" cy="329184"/>
          </a:xfrm>
          <a:prstGeom prst="ellipse">
            <a:avLst/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11384280" y="6446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E2432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4114800" cy="4114800"/>
          </a:xfrm>
          <a:prstGeom prst="ellipse">
            <a:avLst/>
          </a:prstGeom>
          <a:solidFill>
            <a:srgbClr val="FC6D26">
              <a:alpha val="15000"/>
            </a:srgbClr>
          </a:solidFill>
          <a:ln/>
        </p:spPr>
      </p:sp>
      <p:pic>
        <p:nvPicPr>
          <p:cNvPr id="4" name="Image 0" descr="/home/claude/gitlab-ppt/icons/gitlab_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5074920"/>
            <a:ext cx="1234440" cy="1234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188720"/>
            <a:ext cx="3566160" cy="402336"/>
          </a:xfrm>
          <a:prstGeom prst="roundRect">
            <a:avLst>
              <a:gd name="adj" fmla="val 50000"/>
            </a:avLst>
          </a:prstGeom>
          <a:ln w="15875">
            <a:solidFill>
              <a:srgbClr val="FC6D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18872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— GITLAB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182880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Buat Akun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sampai Pipeline Berjalan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langsung menggunakan GitLab, langkah demi langkah, sejak akun pertama kali dibuat hingga kode terkirim lewat pipeline CI/CD.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617720"/>
            <a:ext cx="1263701" cy="438912"/>
          </a:xfrm>
          <a:prstGeom prst="roundRect">
            <a:avLst>
              <a:gd name="adj" fmla="val 50000"/>
            </a:avLst>
          </a:prstGeom>
          <a:solidFill>
            <a:srgbClr val="252B36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617720"/>
            <a:ext cx="12637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Buat Akun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32965" y="4617720"/>
            <a:ext cx="1532534" cy="438912"/>
          </a:xfrm>
          <a:prstGeom prst="roundRect">
            <a:avLst>
              <a:gd name="adj" fmla="val 50000"/>
            </a:avLst>
          </a:prstGeom>
          <a:solidFill>
            <a:srgbClr val="252B36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32965" y="4617720"/>
            <a:ext cx="153253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Buat Project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11803" y="4617720"/>
            <a:ext cx="1442923" cy="438912"/>
          </a:xfrm>
          <a:prstGeom prst="roundRect">
            <a:avLst>
              <a:gd name="adj" fmla="val 50000"/>
            </a:avLst>
          </a:prstGeom>
          <a:solidFill>
            <a:srgbClr val="252B36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11803" y="4617720"/>
            <a:ext cx="144292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Clone Lokal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501030" y="4617720"/>
            <a:ext cx="2159813" cy="438912"/>
          </a:xfrm>
          <a:prstGeom prst="roundRect">
            <a:avLst>
              <a:gd name="adj" fmla="val 50000"/>
            </a:avLst>
          </a:prstGeom>
          <a:solidFill>
            <a:srgbClr val="252B36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01030" y="4617720"/>
            <a:ext cx="21598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Add · Commit · Push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22960" y="5166360"/>
            <a:ext cx="2428646" cy="438912"/>
          </a:xfrm>
          <a:prstGeom prst="roundRect">
            <a:avLst>
              <a:gd name="adj" fmla="val 50000"/>
            </a:avLst>
          </a:prstGeom>
          <a:solidFill>
            <a:srgbClr val="252B36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5166360"/>
            <a:ext cx="242864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Branch &amp; Merge Request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397910" y="5166360"/>
            <a:ext cx="1711757" cy="438912"/>
          </a:xfrm>
          <a:prstGeom prst="roundRect">
            <a:avLst>
              <a:gd name="adj" fmla="val 50000"/>
            </a:avLst>
          </a:prstGeom>
          <a:solidFill>
            <a:srgbClr val="252B36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97910" y="5166360"/>
            <a:ext cx="171175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Review &amp; Merge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255971" y="5166360"/>
            <a:ext cx="1711757" cy="438912"/>
          </a:xfrm>
          <a:prstGeom prst="roundRect">
            <a:avLst>
              <a:gd name="adj" fmla="val 50000"/>
            </a:avLst>
          </a:prstGeom>
          <a:solidFill>
            <a:srgbClr val="252B36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55971" y="5166360"/>
            <a:ext cx="171175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CI/CD Pipeline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GitLab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1384280" y="6446520"/>
            <a:ext cx="329184" cy="329184"/>
          </a:xfrm>
          <a:prstGeom prst="ellipse">
            <a:avLst/>
          </a:prstGeom>
          <a:solidFill>
            <a:srgbClr val="252B36"/>
          </a:solidFill>
          <a:ln w="9525">
            <a:solidFill>
              <a:srgbClr val="9AA1A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384280" y="6446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FC6D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06040" y="50292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AKUN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109960" y="457200"/>
            <a:ext cx="493776" cy="493776"/>
          </a:xfrm>
          <a:prstGeom prst="ellipse">
            <a:avLst/>
          </a:prstGeom>
          <a:solidFill>
            <a:srgbClr val="E24329"/>
          </a:solidFill>
          <a:ln/>
        </p:spPr>
      </p:sp>
      <p:pic>
        <p:nvPicPr>
          <p:cNvPr id="6" name="Image 0" descr="/home/claude/gitlab-ppt/icons/accou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620" y="523860"/>
            <a:ext cx="360456" cy="360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Membuat Akun GitLab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kolaborasi di GitLab dimulai dari satu akun — gratis dan cukup butuh beberapa menit.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23500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gitlab.com dan klik “Register”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371600" y="2697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daftar dengan email, atau langsung sign-in memakai akun Google/GitHub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52160" y="2350008"/>
            <a:ext cx="5669280" cy="758952"/>
          </a:xfrm>
          <a:prstGeom prst="roundRect">
            <a:avLst>
              <a:gd name="adj" fmla="val 8434"/>
            </a:avLst>
          </a:prstGeom>
          <a:solidFill>
            <a:srgbClr val="1B1F27"/>
          </a:solidFill>
          <a:ln/>
        </p:spPr>
      </p:sp>
      <p:sp>
        <p:nvSpPr>
          <p:cNvPr id="15" name="Text 12"/>
          <p:cNvSpPr/>
          <p:nvPr/>
        </p:nvSpPr>
        <p:spPr>
          <a:xfrm>
            <a:off x="6080760" y="2350008"/>
            <a:ext cx="5212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gitlab.com/users/sign_up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71600" y="33101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username, email, dan password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371600" y="36576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akan menjadi bagian dari URL profil dan repository Anda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52160" y="3310128"/>
            <a:ext cx="5669280" cy="758952"/>
          </a:xfrm>
          <a:prstGeom prst="roundRect">
            <a:avLst>
              <a:gd name="adj" fmla="val 8434"/>
            </a:avLst>
          </a:prstGeom>
          <a:solidFill>
            <a:srgbClr val="1B1F27"/>
          </a:solidFill>
          <a:ln/>
        </p:spPr>
      </p:sp>
      <p:sp>
        <p:nvSpPr>
          <p:cNvPr id="22" name="Text 19"/>
          <p:cNvSpPr/>
          <p:nvPr/>
        </p:nvSpPr>
        <p:spPr>
          <a:xfrm>
            <a:off x="6080760" y="3310128"/>
            <a:ext cx="5212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 · email · password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371600" y="42702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email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1371600" y="4617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tautan konfirmasi yang dikirim ke inbox untuk mengaktifkan akun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852160" y="4270248"/>
            <a:ext cx="5669280" cy="758952"/>
          </a:xfrm>
          <a:prstGeom prst="roundRect">
            <a:avLst>
              <a:gd name="adj" fmla="val 8434"/>
            </a:avLst>
          </a:prstGeom>
          <a:solidFill>
            <a:srgbClr val="1B1F27"/>
          </a:solidFill>
          <a:ln/>
        </p:spPr>
      </p:sp>
      <p:sp>
        <p:nvSpPr>
          <p:cNvPr id="29" name="Text 26"/>
          <p:cNvSpPr/>
          <p:nvPr/>
        </p:nvSpPr>
        <p:spPr>
          <a:xfrm>
            <a:off x="6080760" y="4270248"/>
            <a:ext cx="5212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Cek folder inbox / spam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371600" y="52303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Lengkapi profil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1371600" y="5577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nama lengkap dan foto agar mudah dikenali rekan tim saat berkolaborasi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GitLab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1384280" y="6446520"/>
            <a:ext cx="329184" cy="329184"/>
          </a:xfrm>
          <a:prstGeom prst="ellipse">
            <a:avLst/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384280" y="6446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FC6D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06040" y="50292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REPOSITORY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109960" y="457200"/>
            <a:ext cx="493776" cy="493776"/>
          </a:xfrm>
          <a:prstGeom prst="ellipse">
            <a:avLst/>
          </a:prstGeom>
          <a:solidFill>
            <a:srgbClr val="E24329"/>
          </a:solidFill>
          <a:ln/>
        </p:spPr>
      </p:sp>
      <p:pic>
        <p:nvPicPr>
          <p:cNvPr id="6" name="Image 0" descr="/home/claude/gitlab-ppt/icons/projectplu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620" y="523860"/>
            <a:ext cx="360456" cy="360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Membuat Project Baru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 GitLab = repository Git + fitur kolaborasi (issue, CI/CD, wiki) dalam satu wadah.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23500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“New project” → “Create blank project”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371600" y="2697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juga mengimpor repo dari GitHub/Bitbucket atau memakai template siap pakai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71600" y="33101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nama project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371600" y="36576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ini menentukan URL repository, misalnya gitlab.com/username/nama-project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852160" y="3310128"/>
            <a:ext cx="5669280" cy="758952"/>
          </a:xfrm>
          <a:prstGeom prst="roundRect">
            <a:avLst>
              <a:gd name="adj" fmla="val 8434"/>
            </a:avLst>
          </a:prstGeom>
          <a:solidFill>
            <a:srgbClr val="1B1F27"/>
          </a:solidFill>
          <a:ln/>
        </p:spPr>
      </p:sp>
      <p:sp>
        <p:nvSpPr>
          <p:cNvPr id="20" name="Text 17"/>
          <p:cNvSpPr/>
          <p:nvPr/>
        </p:nvSpPr>
        <p:spPr>
          <a:xfrm>
            <a:off x="6080760" y="3310128"/>
            <a:ext cx="5212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name: tugas-embs4321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71600" y="42702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 visibility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371600" y="4617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(khusus anggota), Internal (khusus organisasi), atau Public (siapa saja)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852160" y="4270248"/>
            <a:ext cx="5669280" cy="758952"/>
          </a:xfrm>
          <a:prstGeom prst="roundRect">
            <a:avLst>
              <a:gd name="adj" fmla="val 8434"/>
            </a:avLst>
          </a:prstGeom>
          <a:solidFill>
            <a:srgbClr val="1B1F27"/>
          </a:solidFill>
          <a:ln/>
        </p:spPr>
      </p:sp>
      <p:sp>
        <p:nvSpPr>
          <p:cNvPr id="27" name="Text 24"/>
          <p:cNvSpPr/>
          <p:nvPr/>
        </p:nvSpPr>
        <p:spPr>
          <a:xfrm>
            <a:off x="6080760" y="4270248"/>
            <a:ext cx="5212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Visibility: Private / Internal / Public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71600" y="52303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Centang “Initialize repository with a README”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1371600" y="5577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repository langsung memiliki satu commit awal saat dibuat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GitLab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1384280" y="6446520"/>
            <a:ext cx="329184" cy="329184"/>
          </a:xfrm>
          <a:prstGeom prst="ellipse">
            <a:avLst/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384280" y="6446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FC6D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06040" y="50292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KE KOMPUTER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109960" y="457200"/>
            <a:ext cx="493776" cy="493776"/>
          </a:xfrm>
          <a:prstGeom prst="ellipse">
            <a:avLst/>
          </a:prstGeom>
          <a:solidFill>
            <a:srgbClr val="E24329"/>
          </a:solidFill>
          <a:ln/>
        </p:spPr>
      </p:sp>
      <p:pic>
        <p:nvPicPr>
          <p:cNvPr id="6" name="Image 0" descr="/home/claude/gitlab-ppt/icons/downlo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620" y="523860"/>
            <a:ext cx="360456" cy="360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Repository ke Komputer Lokal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project ada di GitLab, salin (clone) ke komputer agar bisa dikerjakan secara lokal.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23500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Git sudah terpasang di komputer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371600" y="2697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dengan mengetik perintah versi di terminal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52160" y="2350008"/>
            <a:ext cx="5669280" cy="758952"/>
          </a:xfrm>
          <a:prstGeom prst="roundRect">
            <a:avLst>
              <a:gd name="adj" fmla="val 8434"/>
            </a:avLst>
          </a:prstGeom>
          <a:solidFill>
            <a:srgbClr val="1B1F27"/>
          </a:solidFill>
          <a:ln/>
        </p:spPr>
      </p:sp>
      <p:sp>
        <p:nvSpPr>
          <p:cNvPr id="15" name="Text 12"/>
          <p:cNvSpPr/>
          <p:nvPr/>
        </p:nvSpPr>
        <p:spPr>
          <a:xfrm>
            <a:off x="6080760" y="2350008"/>
            <a:ext cx="5212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71600" y="33101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 URL repository dari GitLab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371600" y="36576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tombol biru “Clone” pada halaman project, pilih HTTPS atau SSH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52160" y="3310128"/>
            <a:ext cx="5669280" cy="758952"/>
          </a:xfrm>
          <a:prstGeom prst="roundRect">
            <a:avLst>
              <a:gd name="adj" fmla="val 8434"/>
            </a:avLst>
          </a:prstGeom>
          <a:solidFill>
            <a:srgbClr val="1B1F27"/>
          </a:solidFill>
          <a:ln/>
        </p:spPr>
      </p:sp>
      <p:sp>
        <p:nvSpPr>
          <p:cNvPr id="22" name="Text 19"/>
          <p:cNvSpPr/>
          <p:nvPr/>
        </p:nvSpPr>
        <p:spPr>
          <a:xfrm>
            <a:off x="6080760" y="3310128"/>
            <a:ext cx="5212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 → Clone with HTTPS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371600" y="42702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perintah clone di terminal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1371600" y="4617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akan mengunduh seluruh riwayat &amp; file project ke folder baru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852160" y="4270248"/>
            <a:ext cx="5669280" cy="758952"/>
          </a:xfrm>
          <a:prstGeom prst="roundRect">
            <a:avLst>
              <a:gd name="adj" fmla="val 8434"/>
            </a:avLst>
          </a:prstGeom>
          <a:solidFill>
            <a:srgbClr val="1B1F27"/>
          </a:solidFill>
          <a:ln/>
        </p:spPr>
      </p:sp>
      <p:sp>
        <p:nvSpPr>
          <p:cNvPr id="29" name="Text 26"/>
          <p:cNvSpPr/>
          <p:nvPr/>
        </p:nvSpPr>
        <p:spPr>
          <a:xfrm>
            <a:off x="6080760" y="4270248"/>
            <a:ext cx="5212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https://gitlab.com/user/project.git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371600" y="52303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 ke folder project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1371600" y="5577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siap dikerjakan menggunakan editor kode pilihan Anda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852160" y="5230368"/>
            <a:ext cx="5669280" cy="758952"/>
          </a:xfrm>
          <a:prstGeom prst="roundRect">
            <a:avLst>
              <a:gd name="adj" fmla="val 8434"/>
            </a:avLst>
          </a:prstGeom>
          <a:solidFill>
            <a:srgbClr val="1B1F27"/>
          </a:solidFill>
          <a:ln/>
        </p:spPr>
      </p:sp>
      <p:sp>
        <p:nvSpPr>
          <p:cNvPr id="36" name="Text 33"/>
          <p:cNvSpPr/>
          <p:nvPr/>
        </p:nvSpPr>
        <p:spPr>
          <a:xfrm>
            <a:off x="6080760" y="5230368"/>
            <a:ext cx="5212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project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GitLab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11384280" y="6446520"/>
            <a:ext cx="329184" cy="329184"/>
          </a:xfrm>
          <a:prstGeom prst="ellipse">
            <a:avLst/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1384280" y="6446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FC6D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06040" y="50292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PERUBAHAN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109960" y="457200"/>
            <a:ext cx="493776" cy="493776"/>
          </a:xfrm>
          <a:prstGeom prst="ellipse">
            <a:avLst/>
          </a:prstGeom>
          <a:solidFill>
            <a:srgbClr val="E24329"/>
          </a:solidFill>
          <a:ln/>
        </p:spPr>
      </p:sp>
      <p:pic>
        <p:nvPicPr>
          <p:cNvPr id="6" name="Image 0" descr="/home/claude/gitlab-ppt/icons/uplo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620" y="523860"/>
            <a:ext cx="360456" cy="360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Dasar: Edit → Add → Commit → Push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perubahan mengikuti pola yang sama, dari file lokal hingga terlihat di GitLab.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23500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file seperlunya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371600" y="2697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Tambahkan, ubah, atau hapus konten sesuai kebutuhan tugas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71600" y="33101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Tandai perubahan untuk disimpan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371600" y="36576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Menambahkan file ke staging area sebelum di-commit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852160" y="3310128"/>
            <a:ext cx="5669280" cy="758952"/>
          </a:xfrm>
          <a:prstGeom prst="roundRect">
            <a:avLst>
              <a:gd name="adj" fmla="val 8434"/>
            </a:avLst>
          </a:prstGeom>
          <a:solidFill>
            <a:srgbClr val="1B1F27"/>
          </a:solidFill>
          <a:ln/>
        </p:spPr>
      </p:sp>
      <p:sp>
        <p:nvSpPr>
          <p:cNvPr id="20" name="Text 17"/>
          <p:cNvSpPr/>
          <p:nvPr/>
        </p:nvSpPr>
        <p:spPr>
          <a:xfrm>
            <a:off x="6080760" y="3310128"/>
            <a:ext cx="5212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71600" y="42702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sebagai commit dengan pesan jelas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371600" y="4617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commit menjelaskan “apa” dan “mengapa” perubahan dilakukan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852160" y="4270248"/>
            <a:ext cx="5669280" cy="758952"/>
          </a:xfrm>
          <a:prstGeom prst="roundRect">
            <a:avLst>
              <a:gd name="adj" fmla="val 8434"/>
            </a:avLst>
          </a:prstGeom>
          <a:solidFill>
            <a:srgbClr val="1B1F27"/>
          </a:solidFill>
          <a:ln/>
        </p:spPr>
      </p:sp>
      <p:sp>
        <p:nvSpPr>
          <p:cNvPr id="27" name="Text 24"/>
          <p:cNvSpPr/>
          <p:nvPr/>
        </p:nvSpPr>
        <p:spPr>
          <a:xfrm>
            <a:off x="6080760" y="4270248"/>
            <a:ext cx="5212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"Tambah bab 1 laporan"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71600" y="52303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ke GitLab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1371600" y="5577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lokal terkirim ke repository remote dan terlihat oleh tim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852160" y="5230368"/>
            <a:ext cx="5669280" cy="758952"/>
          </a:xfrm>
          <a:prstGeom prst="roundRect">
            <a:avLst>
              <a:gd name="adj" fmla="val 8434"/>
            </a:avLst>
          </a:prstGeom>
          <a:solidFill>
            <a:srgbClr val="1B1F27"/>
          </a:solidFill>
          <a:ln/>
        </p:spPr>
      </p:sp>
      <p:sp>
        <p:nvSpPr>
          <p:cNvPr id="34" name="Text 31"/>
          <p:cNvSpPr/>
          <p:nvPr/>
        </p:nvSpPr>
        <p:spPr>
          <a:xfrm>
            <a:off x="6080760" y="5230368"/>
            <a:ext cx="5212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GitLab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1384280" y="6446520"/>
            <a:ext cx="329184" cy="329184"/>
          </a:xfrm>
          <a:prstGeom prst="ellipse">
            <a:avLst/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384280" y="6446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FC6D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06040" y="50292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KOLABORASI TIM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109960" y="457200"/>
            <a:ext cx="493776" cy="493776"/>
          </a:xfrm>
          <a:prstGeom prst="ellipse">
            <a:avLst/>
          </a:prstGeom>
          <a:solidFill>
            <a:srgbClr val="E24329"/>
          </a:solidFill>
          <a:ln/>
        </p:spPr>
      </p:sp>
      <p:pic>
        <p:nvPicPr>
          <p:cNvPr id="6" name="Image 0" descr="/home/claude/gitlab-ppt/icons/bran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620" y="523860"/>
            <a:ext cx="360456" cy="360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Membuat Branch &amp; Merge Request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memisahkan pekerjaan baru dari kode utama agar main tetap stabil.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23500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branch baru untuk fitur/tugas tertentu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371600" y="2697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Menjaga branch main tetap bersih dari pekerjaan yang belum selesai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52160" y="2350008"/>
            <a:ext cx="5669280" cy="758952"/>
          </a:xfrm>
          <a:prstGeom prst="roundRect">
            <a:avLst>
              <a:gd name="adj" fmla="val 8434"/>
            </a:avLst>
          </a:prstGeom>
          <a:solidFill>
            <a:srgbClr val="1B1F27"/>
          </a:solidFill>
          <a:ln/>
        </p:spPr>
      </p:sp>
      <p:sp>
        <p:nvSpPr>
          <p:cNvPr id="15" name="Text 12"/>
          <p:cNvSpPr/>
          <p:nvPr/>
        </p:nvSpPr>
        <p:spPr>
          <a:xfrm>
            <a:off x="6080760" y="2350008"/>
            <a:ext cx="5212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tugas/bab-2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71600" y="33101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&amp; push branch tersebut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371600" y="36576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branch baru ke GitLab agar bisa dilihat rekan tim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52160" y="3310128"/>
            <a:ext cx="5669280" cy="758952"/>
          </a:xfrm>
          <a:prstGeom prst="roundRect">
            <a:avLst>
              <a:gd name="adj" fmla="val 8434"/>
            </a:avLst>
          </a:prstGeom>
          <a:solidFill>
            <a:srgbClr val="1B1F27"/>
          </a:solidFill>
          <a:ln/>
        </p:spPr>
      </p:sp>
      <p:sp>
        <p:nvSpPr>
          <p:cNvPr id="22" name="Text 19"/>
          <p:cNvSpPr/>
          <p:nvPr/>
        </p:nvSpPr>
        <p:spPr>
          <a:xfrm>
            <a:off x="6080760" y="3310128"/>
            <a:ext cx="5212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tugas/bab-2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371600" y="42702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“Merge Requests” → “New merge request”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1371600" y="4617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branch sumber dan branch tujuan (biasanya main), lalu tulis deskripsi perubahan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71600" y="52303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Tandai reviewer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1371600" y="5577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Meminta rekan tim atau dosen untuk meninjau perubahan sebelum digabung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GitLab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1384280" y="6446520"/>
            <a:ext cx="329184" cy="329184"/>
          </a:xfrm>
          <a:prstGeom prst="ellipse">
            <a:avLst/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384280" y="6446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FC6D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06040" y="50292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TINJAUAN KODE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109960" y="457200"/>
            <a:ext cx="493776" cy="493776"/>
          </a:xfrm>
          <a:prstGeom prst="ellipse">
            <a:avLst/>
          </a:prstGeom>
          <a:solidFill>
            <a:srgbClr val="E24329"/>
          </a:solidFill>
          <a:ln/>
        </p:spPr>
      </p:sp>
      <p:pic>
        <p:nvPicPr>
          <p:cNvPr id="6" name="Image 0" descr="/home/claude/gitlab-ppt/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620" y="523860"/>
            <a:ext cx="360456" cy="360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Review &amp; Merge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Request memberi ruang diskusi sebelum perubahan resmi masuk ke kode utama.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23500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memeriksa perubahan baris per baris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371600" y="2697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menampilkan diff — perbandingan kode sebelum dan sesudah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71600" y="33101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lewat komentar inline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371600" y="36576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bisa memberi catatan langsung pada baris kode tertentu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71600" y="42702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Perbaiki jika ada catatan, lalu push ulang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1371600" y="4617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tambahan otomatis muncul di merge request yang sama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852160" y="4270248"/>
            <a:ext cx="5669280" cy="758952"/>
          </a:xfrm>
          <a:prstGeom prst="roundRect">
            <a:avLst>
              <a:gd name="adj" fmla="val 8434"/>
            </a:avLst>
          </a:prstGeom>
          <a:solidFill>
            <a:srgbClr val="1B1F27"/>
          </a:solidFill>
          <a:ln/>
        </p:spPr>
      </p:sp>
      <p:sp>
        <p:nvSpPr>
          <p:cNvPr id="25" name="Text 22"/>
          <p:cNvSpPr/>
          <p:nvPr/>
        </p:nvSpPr>
        <p:spPr>
          <a:xfrm>
            <a:off x="6080760" y="4270248"/>
            <a:ext cx="5212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tugas/bab-2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371600" y="52303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lalu klik “Merge”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1371600" y="5577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disetujui, perubahan digabung ke branch main secara resmi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GitLab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1384280" y="6446520"/>
            <a:ext cx="329184" cy="329184"/>
          </a:xfrm>
          <a:prstGeom prst="ellipse">
            <a:avLst/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384280" y="6446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FC6D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06040" y="50292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OTOMATISASI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109960" y="457200"/>
            <a:ext cx="493776" cy="493776"/>
          </a:xfrm>
          <a:prstGeom prst="ellipse">
            <a:avLst/>
          </a:prstGeom>
          <a:solidFill>
            <a:srgbClr val="E24329"/>
          </a:solidFill>
          <a:ln/>
        </p:spPr>
      </p:sp>
      <p:pic>
        <p:nvPicPr>
          <p:cNvPr id="6" name="Image 0" descr="/home/claude/gitlab-ppt/icons/play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620" y="523860"/>
            <a:ext cx="360456" cy="360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 Otomatis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dapat menjalankan build, test, dan deploy secara otomatis setiap ada perubahan kode.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52603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52603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252603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23500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file .gitlab-ci.yml di root project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371600" y="2697480"/>
            <a:ext cx="4114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ini mendefinisikan tahapan (stages) pipeline yang akan dijalankan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52160" y="2350008"/>
            <a:ext cx="5669280" cy="690372"/>
          </a:xfrm>
          <a:prstGeom prst="roundRect">
            <a:avLst>
              <a:gd name="adj" fmla="val 9272"/>
            </a:avLst>
          </a:prstGeom>
          <a:solidFill>
            <a:srgbClr val="1B1F27"/>
          </a:solidFill>
          <a:ln/>
        </p:spPr>
      </p:sp>
      <p:sp>
        <p:nvSpPr>
          <p:cNvPr id="15" name="Text 12"/>
          <p:cNvSpPr/>
          <p:nvPr/>
        </p:nvSpPr>
        <p:spPr>
          <a:xfrm>
            <a:off x="6080760" y="2350008"/>
            <a:ext cx="521208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stages: [build, test, deploy]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341757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4175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341757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71600" y="32415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perubahan ke GitLab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371600" y="3589020"/>
            <a:ext cx="4114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otomatis mendeteksi file konfigurasi dan memicu pipeline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52160" y="3241548"/>
            <a:ext cx="5669280" cy="690372"/>
          </a:xfrm>
          <a:prstGeom prst="roundRect">
            <a:avLst>
              <a:gd name="adj" fmla="val 9272"/>
            </a:avLst>
          </a:prstGeom>
          <a:solidFill>
            <a:srgbClr val="1B1F27"/>
          </a:solidFill>
          <a:ln/>
        </p:spPr>
      </p:sp>
      <p:sp>
        <p:nvSpPr>
          <p:cNvPr id="22" name="Text 19"/>
          <p:cNvSpPr/>
          <p:nvPr/>
        </p:nvSpPr>
        <p:spPr>
          <a:xfrm>
            <a:off x="6080760" y="3241548"/>
            <a:ext cx="521208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0080" y="430911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430911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40080" y="430911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371600" y="41330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Runner menjalankan setiap tahap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1371600" y="4480560"/>
            <a:ext cx="4114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test, hingga deploy berjalan otomatis tanpa campur tangan manual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0080" y="5200650"/>
            <a:ext cx="502920" cy="502920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" y="52006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4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40080" y="5200650"/>
            <a:ext cx="502920" cy="502920"/>
          </a:xfrm>
          <a:prstGeom prst="ellipse">
            <a:avLst/>
          </a:prstGeom>
          <a:ln w="15875">
            <a:solidFill>
              <a:srgbClr val="E2432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71600" y="50246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Pantau hasilnya di tab “CI/CD → Pipelines”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1371600" y="5372100"/>
            <a:ext cx="4114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hijau berarti seluruh tahap berhasil dijalankan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CI/CD termasuk lanjutan — cukup dipahami konsepnya di tahap pengenalan.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GitLab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1384280" y="6446520"/>
            <a:ext cx="329184" cy="329184"/>
          </a:xfrm>
          <a:prstGeom prst="ellipse">
            <a:avLst/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384280" y="6446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itlab-ppt/icons/gitlab_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0467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&amp; Best Practices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5239512" cy="1371600"/>
          </a:xfrm>
          <a:prstGeom prst="roundRect">
            <a:avLst>
              <a:gd name="adj" fmla="val 6000"/>
            </a:avLst>
          </a:prstGeom>
          <a:solidFill>
            <a:srgbClr val="252B3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993392"/>
            <a:ext cx="457200" cy="457200"/>
          </a:xfrm>
          <a:prstGeom prst="ellipse">
            <a:avLst/>
          </a:prstGeom>
          <a:solidFill>
            <a:srgbClr val="FC6D26"/>
          </a:solidFill>
          <a:ln/>
        </p:spPr>
      </p:sp>
      <p:pic>
        <p:nvPicPr>
          <p:cNvPr id="7" name="Image 1" descr="/home/claude/gitlab-ppt/icons/check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402" y="2055114"/>
            <a:ext cx="333756" cy="3337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920240"/>
            <a:ext cx="4142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pesan commit yang jelas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508760" y="2286000"/>
            <a:ext cx="4142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“mengapa” perubahan dilakukan, bukan hanya “apa”.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025896" y="1737360"/>
            <a:ext cx="5239512" cy="1371600"/>
          </a:xfrm>
          <a:prstGeom prst="roundRect">
            <a:avLst>
              <a:gd name="adj" fmla="val 6000"/>
            </a:avLst>
          </a:prstGeom>
          <a:solidFill>
            <a:srgbClr val="252B3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254496" y="1993392"/>
            <a:ext cx="457200" cy="457200"/>
          </a:xfrm>
          <a:prstGeom prst="ellipse">
            <a:avLst/>
          </a:prstGeom>
          <a:solidFill>
            <a:srgbClr val="FC6D26"/>
          </a:solidFill>
          <a:ln/>
        </p:spPr>
      </p:sp>
      <p:pic>
        <p:nvPicPr>
          <p:cNvPr id="12" name="Image 2" descr="/home/claude/gitlab-ppt/icons/check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218" y="2055114"/>
            <a:ext cx="333756" cy="3337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94576" y="1920240"/>
            <a:ext cx="4142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penamaan branch yang konsisten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894576" y="2286000"/>
            <a:ext cx="4142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fitur/nama-fitur atau perbaikan/nama-bug.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3218688"/>
            <a:ext cx="5239512" cy="1371600"/>
          </a:xfrm>
          <a:prstGeom prst="roundRect">
            <a:avLst>
              <a:gd name="adj" fmla="val 6000"/>
            </a:avLst>
          </a:prstGeom>
          <a:solidFill>
            <a:srgbClr val="252B3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68680" y="3474720"/>
            <a:ext cx="457200" cy="457200"/>
          </a:xfrm>
          <a:prstGeom prst="ellipse">
            <a:avLst/>
          </a:prstGeom>
          <a:solidFill>
            <a:srgbClr val="FC6D26"/>
          </a:solidFill>
          <a:ln/>
        </p:spPr>
      </p:sp>
      <p:pic>
        <p:nvPicPr>
          <p:cNvPr id="17" name="Image 3" descr="/home/claude/gitlab-ppt/icons/check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02" y="3536442"/>
            <a:ext cx="333756" cy="3337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401568"/>
            <a:ext cx="4142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commit langsung ke branch main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508760" y="3767328"/>
            <a:ext cx="4142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lewat branch terpisah dan Merge Request.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025896" y="3218688"/>
            <a:ext cx="5239512" cy="1371600"/>
          </a:xfrm>
          <a:prstGeom prst="roundRect">
            <a:avLst>
              <a:gd name="adj" fmla="val 6000"/>
            </a:avLst>
          </a:prstGeom>
          <a:solidFill>
            <a:srgbClr val="252B3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254496" y="3474720"/>
            <a:ext cx="457200" cy="457200"/>
          </a:xfrm>
          <a:prstGeom prst="ellipse">
            <a:avLst/>
          </a:prstGeom>
          <a:solidFill>
            <a:srgbClr val="FC6D26"/>
          </a:solidFill>
          <a:ln/>
        </p:spPr>
      </p:sp>
      <p:pic>
        <p:nvPicPr>
          <p:cNvPr id="22" name="Image 4" descr="/home/claude/gitlab-ppt/icons/check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6218" y="3536442"/>
            <a:ext cx="333756" cy="3337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94576" y="3401568"/>
            <a:ext cx="4142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lakukan code review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6894576" y="3767328"/>
            <a:ext cx="4142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Minta tinjauan sebelum menggabungkan perubahan.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40080" y="4700016"/>
            <a:ext cx="5239512" cy="1371600"/>
          </a:xfrm>
          <a:prstGeom prst="roundRect">
            <a:avLst>
              <a:gd name="adj" fmla="val 6000"/>
            </a:avLst>
          </a:prstGeom>
          <a:solidFill>
            <a:srgbClr val="252B3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68680" y="4956048"/>
            <a:ext cx="457200" cy="457200"/>
          </a:xfrm>
          <a:prstGeom prst="ellipse">
            <a:avLst/>
          </a:prstGeom>
          <a:solidFill>
            <a:srgbClr val="FC6D26"/>
          </a:solidFill>
          <a:ln/>
        </p:spPr>
      </p:sp>
      <p:pic>
        <p:nvPicPr>
          <p:cNvPr id="27" name="Image 5" descr="/home/claude/gitlab-ppt/icons/check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02" y="5017770"/>
            <a:ext cx="333756" cy="3337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08760" y="4882896"/>
            <a:ext cx="4142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secara berkala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1508760" y="5248656"/>
            <a:ext cx="4142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Hindari kehilangan pekerjaan dan mempermudah kolaborasi.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6025896" y="4700016"/>
            <a:ext cx="5239512" cy="1371600"/>
          </a:xfrm>
          <a:prstGeom prst="roundRect">
            <a:avLst>
              <a:gd name="adj" fmla="val 6000"/>
            </a:avLst>
          </a:prstGeom>
          <a:solidFill>
            <a:srgbClr val="252B3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254496" y="4956048"/>
            <a:ext cx="457200" cy="457200"/>
          </a:xfrm>
          <a:prstGeom prst="ellipse">
            <a:avLst/>
          </a:prstGeom>
          <a:solidFill>
            <a:srgbClr val="FC6D26"/>
          </a:solidFill>
          <a:ln/>
        </p:spPr>
      </p:sp>
      <p:pic>
        <p:nvPicPr>
          <p:cNvPr id="32" name="Image 6" descr="/home/claude/gitlab-ppt/icons/check_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6218" y="5017770"/>
            <a:ext cx="333756" cy="33375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894576" y="4882896"/>
            <a:ext cx="4142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Manfaatkan Issue Board</a:t>
            </a:r>
            <a:endParaRPr lang="en-US" sz="1350" dirty="0"/>
          </a:p>
        </p:txBody>
      </p:sp>
      <p:sp>
        <p:nvSpPr>
          <p:cNvPr id="34" name="Text 25"/>
          <p:cNvSpPr/>
          <p:nvPr/>
        </p:nvSpPr>
        <p:spPr>
          <a:xfrm>
            <a:off x="6894576" y="5248656"/>
            <a:ext cx="4142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Lacak progres tugas tim secara transparan.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GitLab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11384280" y="6446520"/>
            <a:ext cx="329184" cy="329184"/>
          </a:xfrm>
          <a:prstGeom prst="ellipse">
            <a:avLst/>
          </a:prstGeom>
          <a:solidFill>
            <a:srgbClr val="252B36"/>
          </a:solidFill>
          <a:ln w="9525">
            <a:solidFill>
              <a:srgbClr val="9AA1AC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11384280" y="6446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5486400" cy="5486400"/>
          </a:xfrm>
          <a:prstGeom prst="ellipse">
            <a:avLst/>
          </a:prstGeom>
          <a:solidFill>
            <a:srgbClr val="E2432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FC6D26">
              <a:alpha val="14000"/>
            </a:srgbClr>
          </a:solidFill>
          <a:ln/>
        </p:spPr>
      </p:sp>
      <p:pic>
        <p:nvPicPr>
          <p:cNvPr id="4" name="Image 0" descr="/home/claude/gitlab-ppt/icons/git_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688" y="1417320"/>
            <a:ext cx="502920" cy="502920"/>
          </a:xfrm>
          <a:prstGeom prst="rect">
            <a:avLst/>
          </a:prstGeom>
        </p:spPr>
      </p:pic>
      <p:pic>
        <p:nvPicPr>
          <p:cNvPr id="5" name="Image 1" descr="/home/claude/gitlab-ppt/icons/gitlab_logo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417320"/>
            <a:ext cx="5029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24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1371600" y="36118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untuk mencatat setiap perubahan — GitLab untuk mempertemukan tim di satu tempat.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GitLab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11384280" y="6446520"/>
            <a:ext cx="329184" cy="329184"/>
          </a:xfrm>
          <a:prstGeom prst="ellipse">
            <a:avLst/>
          </a:prstGeom>
          <a:solidFill>
            <a:srgbClr val="252B36"/>
          </a:solidFill>
          <a:ln w="9525">
            <a:solidFill>
              <a:srgbClr val="9AA1A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384280" y="6446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2026-09-01T05:24:52Z</dcterms:created>
  <dcterms:modified xsi:type="dcterms:W3CDTF">2026-09-01T05:24:52Z</dcterms:modified>
</cp:coreProperties>
</file>