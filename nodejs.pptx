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Lst>
  <p:notesMasterIdLst>
    <p:notesMasterId r:id="rId7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notesMaster" Target="notesMasters/notesMaster1.xml"/><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di materi komprehensif Node.js. Presentasi ini membahas Node.js secara menyeluruh: konsep dasar, arsitektur internal berupa V8 dan libuv, event loop, sistem modul dan NPM, pemrograman asinkron, pembangunan REST API dengan Express, hingga pengujian, keamanan, dan deployment ke produksi. Materi disusun bertahap sehingga dapat diikuti pemula maupun dijadikan rujukan bagi yang sudah berpengalaman.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dibagi menjadi tujuh bagian. Bagian satu dan dua membangun pemahaman konseptual, bagian tiga sampai lima membahas keterampilan teknis inti, sedangkan bagian enam dan tujuh mengarah pada pembangunan aplikasi nyata serta praktik produksi. Setiap bagian diawali slide pemisah agar alur materi mudah diikuti.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pertama bersifat konseptual. Tujuannya agar peserta memahami bahwa Node.js bukan bahasa pemrograman dan bukan framework, melainkan runtime environment yang memungkinkan JavaScript dijalankan di luar peramban.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tiga hal. Pertama, Node.js adalah runtime, bukan bahasa. Kedua, ia memakai mesin V8 yang sama dengan Chrome untuk mengeksekusi JavaScript. Ketiga, ia menambahkan libuv untuk kemampuan I/O sistem yang tidak dimiliki peramban. Kombinasi inilah yang memungkinkan JavaScript dipakai membangun server, alat baris perintah, hingga aplikasi desktop.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Ryan Dahl menciptakan Node.js karena frustrasi terhadap server yang memblokir proses saat menunggu operasi I/O. Contoh yang sering ia pakai adalah bilah kemajuan unggah berkas yang tidak dapat diperbarui secara real time. Kehadiran NPM setahun kemudian menjadi faktor kunci pertumbuhan ekosistem Node.js.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Enam karakteristik ini saling terkait. Sifat non-blocking hanya bermakna karena ada event loop, event loop efisien karena V8 cepat, dan produktivitas tinggi karena NPM menyediakan paket siap pakai. Ingatkan bahwa keunggulan Node.js terletak pada beban kerja I/O-intensif, bukan CPU-intensif.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penting: sintaks JavaScript identik di kedua lingkungan. Yang berbeda adalah API yang disediakan lingkungan tersebut. Peramban menyediakan DOM dan window, sedangkan Node.js menyediakan fs, http, path, dan process. Karena itu kode yang memanggil document tidak akan berjalan di Node.js, begitu pula sebaliknya.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adalah inti pemahaman Node.js. Banyak bug dan masalah performa berakar pada kesalahpahaman tentang event loop, sehingga bagian ini layak dibahas perlahan.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Ketika Anda memanggil fs.readFile, pemanggilan JavaScript itu diteruskan melalui Node bindings ke libuv. libuv menjalankan pembacaan berkas di thread pool, lalu setelah selesai menaruh callback ke antrean event loop. V8 sendiri hanya bertugas mengeksekusi JavaScript, bukan menangani 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bahwa tidak semua operasi asinkron memakai thread pool. Operasi jaringan menggunakan mekanisme kernel seperti epoll sehingga sangat efisien. Yang memakai thread pool adalah operasi berkas, DNS lookup, kompresi zlib, dan sebagian fungsi kriptografi.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urutan pada contoh kode: kode sinkron selalu lebih dulu, lalu antrean nextTick, lalu microtask Promise, baru event loop masuk fase timers dan check. Pemahaman urutan ini penting saat menelusuri perilaku asinkron yang tampak tidak berurutan.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praktis: hindari fungsi berakhiran Sync di dalam server yang melayani permintaan. Satu pemanggilan readFileSync yang lambat akan membuat seluruh server berhenti melayani permintaan lain, karena hanya ada satu thread utama.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 yang mudah diingat: satu pelayan restoran yang cekatan dapat melayani banyak meja karena ia tidak berdiri diam menunggu dapur memasak. Ia mencatat pesanan meja lain sambil menunggu. Tetapi jika pelayan itu sendiri disuruh mencuci semua piring, yaitu tugas CPU-intensif, seluruh restoran berhenti terlayani.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bersifat praktis. Sarankan peserta membuka terminal dan mengikuti langkah demi langkah agar pemahaman lebih melekat.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Rekomendasi praktis: pemula cukup memakai installer resmi, sedangkan pengembang yang menangani banyak proyek sebaiknya memakai NVM sejak awal karena setiap proyek sering menuntut versi Node.js berbeda. Selalu pilih versi LTS untuk aplikasi yang akan dijalankan di produksi.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 sangat berguna untuk mencoba potongan kode singkat atau memeriksa perilaku sebuah fungsi. Namun untuk aplikasi nyata, kode selalu ditulis dalam berkas. Sejak Node.js 18 tersedia opsi watch bawaan sehingga nodemon tidak selalu diperlukan.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Tunjukkan bahwa hanya dengan sebelas baris kode, Node.js sudah mampu menjalankan server HTTP tanpa perangkat lunak tambahan seperti Apache atau Nginx. Inilah salah satu daya tarik utama Node.js bagi pengembang pemula.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Struktur ini bukan aturan wajib dari Node.js, melainkan konvensi yang berkembang di komunitas. Prinsipnya adalah pemisahan tanggung jawab: rute hanya mengatur alamat, controller mengatur alur permintaan, service memuat aturan bisnis, dan model berurusan dengan basis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Kemampuan memecah kode menjadi modul adalah fondasi proyek yang dapat dirawat. Bagian ini juga menjelaskan mengapa NPM menjadi alasan utama popularitas Node.js.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konsep cakupan modul. Di peramban, variabel global mudah bertabrakan antarberkas. Di Node.js, setiap berkas otomatis terisolasi sehingga tabrakan nama jauh berkurang. Konsep cache modul juga penting: modul yang sama tidak dieksekusi berulang 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proyek baru, ES Modules lebih disarankan karena merupakan standar resmi JavaScript dan berlaku sama di peramban maupun Node.js. Namun CommonJS masih sangat banyak dipakai, sehingga pengembang perlu memahami keduanya. Perhatikan bahwa ESM mewajibkan ekstensi berkas ditulis lengkap pada jalur impor.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Delapan modul ini menjadi fondasi hampir semua aplikasi Node.js. Sarankan peserta membuka dokumentasi resmi untuk melihat daftar lengkapnya. Modul lain yang juga sering dipakai adalah util, child_process, worker_threads, zlib, dan readline.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NPM adalah alasan terbesar mengapa pengembangan dengan Node.js terasa cepat. Namun kemudahan ini punya sisi lain: ketergantungan berlebihan pada paket kecil dapat menimbulkan risiko keamanan dan pemeliharaan. Ajarkan peserta menilai kualitas paket sebelum memasangnya.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scripts sering diremehkan padahal sangat berguna. Dengan mendefinisikan skrip, seluruh anggota tim menjalankan perintah yang sama tanpa harus menghafal argumen panjang. Berkas package-lock.json yang dihasilkan otomatis juga penting karena mengunci versi persis setiap dependensi.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Perintah npm ci layak ditekankan untuk lingkungan otomasi. Berbeda dengan npm install, perintah ini menghapus node_modules lalu memasang persis sesuai lock file, sehingga hasil build selalu dapat direproduksi.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Kesalahan umum pemula adalah mengabaikan arti tanda sisipan dan tilde, lalu heran ketika aplikasi tiba-tiba rusak setelah npm install di komputer lain. Berkas package-lock.json ada justru untuk mencegah masalah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bagian tersulit sekaligus terpenting bagi pemula. Jelaskan bahwa ketiga pola ini sebenarnya menyelesaikan masalah yang sama, hanya dengan gaya penulisan yang berbeda dan semakin mudah dibaca.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tetap penting dipahami karena banyak pustaka lama dan sebagian API inti Node.js masih memakainya. Namun untuk kode baru, sebaiknya langsung memakai Promise atau async/await. Node.js menyediakan modul util.promisify dan fs/promises untuk mengubah API berbasis callback menjadi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keadaan Promise hanya berubah satu kali dan bersifat final. Setelah fulfilled, sebuah Promise tidak dapat menjadi rejected. Promise.all cocok untuk operasi paralel yang saling bergantung, sedangkan Promise.allSettled dipakai bila kita tetap ingin melanjutkan meskipun sebagian gagal.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Kesalahan performa yang paling sering terjadi adalah meng-await beberapa operasi independen secara berurutan padahal bisa dijalankan bersamaan dengan Promise.all. Tunjukkan perbedaan tiga detik versus satu detik pada contoh di sebelah kanan.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Ketiga contoh kode melakukan hal yang persis sama. Perbedaannya hanya pada keterbacaan. Sarankan peserta memakai async/await sebagai gaya utama, namun tetap memahami Promise karena async/await sesungguhnya berjalan di atas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 event-driven adalah cara berpikir yang perlu dibiasakan. Alih-alih memanggil fungsi secara langsung, kita memancarkan peristiwa dan membiarkan bagian lain program bereaksi. Ini membuat modul saling terpisah dan lebih mudah dikembangkan.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Analogi yang mudah: membaca berkas tanpa stream seperti memindahkan air kolam dengan satu ember raksasa, sedangkan stream seperti mengalirkannya lewat selang. Untuk berkas berukuran satu gigabita, pendekatan tanpa stream dapat membuat proses kehabisan memori.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menyatukan teori sebelumnya menjadi aplikasi yang benar-benar berjalan. Sarankan peserta mengetik ulang contoh kode agar terbiasa dengan pola penulisannya.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agar versi Sync hanya dipakai pada skrip sekali jalan atau saat proses startup, bukan di dalam penanganan permintaan. Modul fs/promises tersedia sejak Node.js 10 dan merupakan pilihan terbaik untuk kode 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ini penting agar peserta memahami bahwa Express bukanlah keajaiban, melainkan lapisan tipis di atas modul http. Setelah menulis routing manual seperti ini, kemudahan Express akan jauh lebih terasa.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Express menjadi standar de facto karena sederhana dan stabil. Kelemahannya adalah tidak memberi struktur baku, sehingga proyek besar mudah menjadi berantakan bila tim tidak menyepakati konvensi sejak awal. Alternatifnya adalah NestJS yang memberikan struktur lebih tegas.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Konsep kunci middleware adalah fungsi next. Lupa memanggil next membuat permintaan menggantung tanpa respons — ini adalah bug yang sangat sering dialami pemula. Urutan pendaftaran middleware juga menentukan urutan eksekusinya.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Prinsip REST yang perlu ditekankan: alamat menunjuk pada sumber daya berupa kata benda jamak, sedangkan aksi ditentukan oleh metode HTTP. Gunakan kode status yang tepat agar klien dapat menangani respons dengan benar. Untuk pengujian, gunakan Postman atau perintah curl.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penggunaan parameter berupa tanda dolar satu pada kueri PostgreSQL. Ini adalah prepared statement yang mencegah serangan SQL injection. Jangan pernah menyambung string kueri langsung dengan masukan pengguna.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Prinsip dua belas faktor menyatakan bahwa konfigurasi harus disimpan pada lingkungan, bukan di dalam kode. Dengan begitu, kode yang sama dapat dijalankan di komputer pengembang maupun server produksi hanya dengan mengganti nilai variabel.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Bedakan dua jenis galat. Galat operasional adalah bagian normal dari aplikasi dan harus ditangani. Galat pemrograman adalah bug yang sebaiknya membuat proses berhenti agar segera ketahuan, lalu proses dijalankan ulang oleh PM2 atau orkestrator kontainer.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ini menjembatani antara aplikasi latihan dan aplikasi produksi. Semua topik di sini adalah kebutuhan yang hampir selalu muncul begitu aplikasi mulai dipakai pengguna sungguhan.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hashing berbeda dengan enkripsi. Hash bersifat satu arah sehingga kata sandi asli tidak dapat dikembalikan, bahkan oleh pemilik sistem. Itulah sebabnya fitur lupa sandi selalu mengirim tautan pengaturan ulang, bukan mengirim sandi 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yang sering disalahpahami: isi payload JWT hanya dikodekan dengan base64, bukan dienkripsi, sehingga siapa pun dapat membacanya. Jangan pernah menaruh data sensitif di dalam payload. Tanda tangan hanya menjamin token tidak diubah, bukan menyembunyikan isinya.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Kesalahan paling umum adalah mengandalkan pemeriksaan hak akses di sisi klien saja. Pengguna dapat memanggil API secara langsung, sehingga setiap endpoint yang sensitif wajib memeriksa peran di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WebSocket populer, aplikasi memakai polling, yaitu klien bertanya berulang kali kepada server. Cara itu boros dan lambat. WebSocket mengubah hubungan menjadi percakapan dua arah pada satu koneksi yang tetap terbuka.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Socket.IO bukan implementasi WebSocket murni, melainkan protokol di atasnya. Karena itu klien dan server harus sama-sama memakai Socket.IO. Keuntungannya adalah penanganan sambung ulang dan cadangan transport yang sudah terpasang.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Room adalah konsep yang paling sering dipakai dalam aplikasi obrolan: satu percakapan sama dengan satu room. Ingatkan bahwa saat aplikasi diskalakan dengan cluster atau beberapa kontainer, adapter Redis menjadi keharusan, bukan pilihan.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Validasi adalah pertahanan lapis pertama terhadap SQL injection, penyimpanan data rusak, dan galat tak terduga. Pola middleware yang dapat dipakai ulang seperti pada contoh membuat setiap endpoint cukup menyebut skemanya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Unggah berkas adalah salah satu titik masuk serangan yang paling sering diabaikan. Tiga pertahanan wajibnya adalah batas ukuran, penyaringan tipe, dan penggantian nama berkas. Bila memungkinkan, unggah langsung ke penyimpanan objek dengan URL bertanda tangan.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praktis: cache dulu data yang mahal untuk dihitung dan sering diminta. Jangan menyimpan semuanya ke cache karena biaya invalidasi bisa lebih besar daripada manfaatnya. Ukur dengan data nyata sebelum menambah lapisan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TypeScript kini nyaris menjadi standar pada proyek Node.js berskala tim. Sarankan mengaktifkan opsi strict sejak awal, karena mengetatkan konfigurasi pada proyek yang sudah besar jauh lebih sulit.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Gejala arsitektur yang buruk adalah controller yang berisi kueri basis data sekaligus aturan bisnis. Kode seperti itu sulit diuji dan sulit diubah. Pemisahan lapisan menjaga setiap bagian punya satu alasan untuk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Peringatan penting bagi pemula: microservices bukan tanda kemajuan teknis, melainkan solusi untuk masalah organisasi dan skala tertentu. Memecah aplikasi terlalu dini justru menambah beban tanpa memberi 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sederhana: bila sebuah tugas memakan waktu lebih dari satu detik dan hasilnya tidak dibutuhkan seketika oleh pengguna, tugas itu layak dipindahkan ke antrean. Ini juga membuat aplikasi tahan terhadap kegagalan sementara layanan pihak ketiga.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penutup ini sering dilewatkan pada materi pemula, padahal justru inilah yang membedakan proyek latihan dengan aplikasi yang benar-benar dipakai orang.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Sarankan peserta memulai dari unit test pada fungsi-fungsi logika bisnis, karena itulah yang paling mudah diuji sekaligus paling sering berubah. Piramida pengujian menganjurkan banyak unit test, sedikit lebih sedikit integration test, dan sedikit end-to-end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bahwa console.log memang berguna, tetapi debugger sesungguhnya jauh lebih efisien karena memungkinkan kita memeriksa seluruh keadaan program pada satu titik waktu tanpa menambah baris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bukan fitur tambahan yang dikerjakan belakangan, melainkan bagian dari proses sejak awal. Rujukan yang baik adalah OWASP Top Ten dan Node.js Security Best Practices dari OpenJS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Perbedaan cluster dan worker threads perlu ditegaskan. Cluster menjalankan beberapa proses Node.js terpisah untuk memanfaatkan banyak inti CPU pada beban permintaan tinggi. Worker threads menjalankan thread di dalam satu proses, cocok untuk komputasi berat seperti pengolahan gambar.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proyek belajar atau portofolio, platform PaaS seperti Railway dan Render adalah pilihan tercepat karena tidak menuntut pengetahuan infrastruktur. Docker menjadi penting ketika tim membesar dan aplikasi perlu dijalankan konsisten di berbagai lingkungan.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Saran praktis untuk pemula: kuasai Express terlebih dahulu karena konsepnya paling transparan. Setelah paham middleware dan routing, berpindah ke NestJS atau Fastify akan terasa mudah karena keduanya membangun di atas ide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Tidak ada teknologi yang unggul untuk semua kasus. Node.js sangat kuat pada beban I/O dan aplikasi real-time, tetapi bukan pilihan terbaik untuk pengolahan citra besar, komputasi ilmiah, atau sistem dengan transaksi basis data yang sangat rumit.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Ajarkan peserta memilih teknologi berdasarkan karakter beban kerja, bukan berdasarkan tren. Pertanyaan kuncinya sederhana: apakah aplikasi ini lebih banyak menunggu data atau lebih banyak menghitung? Bila jawabannya menunggu, Node.js adalah pilihan yang sangat baik.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Sarankan alokasi waktu yang realistis: sekitar dua pekan untuk tahap satu, satu bulan untuk tahap dua, dua bulan untuk tahap tiga, dan berkelanjutan untuk tahap empat. Yang terpenting adalah konsistensi membangun proyek, bukan kecepatan menyelesaikan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pentingnya memeriksa tanggal publikasi setiap tutorial yang dibaca. Materi Node.js yang ditulis sebelum tahun 2020 kemungkinan besar belum mencakup ES Modules, fetch bawaan, maupun test runner internal.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sesi dengan mengajak peserta langsung mempraktikkan materi: buat satu proyek REST API sederhana dalam waktu satu pekan. Pengalaman membangun sendiri jauh lebih membekas dibanding sekadar mengikuti presentasi.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slideLayout" Target="../slideLayouts/slideLayout1.xml"/><Relationship Id="rId1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1.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1.xml"/><Relationship Id="rId7"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slideLayout" Target="../slideLayouts/slideLayout1.xml"/><Relationship Id="rId8"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slideLayout" Target="../slideLayouts/slideLayout1.xml"/><Relationship Id="rId8"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slideLayout" Target="../slideLayouts/slideLayout1.xml"/><Relationship Id="rId11"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slideLayout" Target="../slideLayouts/slideLayout1.xml"/><Relationship Id="rId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slideLayout" Target="../slideLayouts/slideLayout1.xml"/><Relationship Id="rId11"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slideLayout" Target="../slideLayouts/slideLayout1.xml"/><Relationship Id="rId6"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image" Target="../media/image-46-7.png"/><Relationship Id="rId8" Type="http://schemas.openxmlformats.org/officeDocument/2006/relationships/slideLayout" Target="../slideLayouts/slideLayout1.xml"/><Relationship Id="rId9"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slideLayout" Target="../slideLayouts/slideLayout1.xml"/><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slideLayout" Target="../slideLayouts/slideLayout1.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slideLayout" Target="../slideLayouts/slideLayout1.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image" Target="../media/image-50-6.png"/><Relationship Id="rId7" Type="http://schemas.openxmlformats.org/officeDocument/2006/relationships/image" Target="../media/image-50-7.png"/><Relationship Id="rId8" Type="http://schemas.openxmlformats.org/officeDocument/2006/relationships/image" Target="../media/image-50-8.png"/><Relationship Id="rId9" Type="http://schemas.openxmlformats.org/officeDocument/2006/relationships/slideLayout" Target="../slideLayouts/slideLayout1.xml"/><Relationship Id="rId10"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image" Target="../media/image-51-7.png"/><Relationship Id="rId8" Type="http://schemas.openxmlformats.org/officeDocument/2006/relationships/slideLayout" Target="../slideLayouts/slideLayout1.xml"/><Relationship Id="rId9"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image" Target="../media/image-52-7.png"/><Relationship Id="rId8" Type="http://schemas.openxmlformats.org/officeDocument/2006/relationships/image" Target="../media/image-52-8.png"/><Relationship Id="rId9" Type="http://schemas.openxmlformats.org/officeDocument/2006/relationships/image" Target="../media/image-52-9.png"/><Relationship Id="rId10" Type="http://schemas.openxmlformats.org/officeDocument/2006/relationships/image" Target="../media/image-52-10.png"/><Relationship Id="rId11" Type="http://schemas.openxmlformats.org/officeDocument/2006/relationships/image" Target="../media/image-52-11.png"/><Relationship Id="rId12" Type="http://schemas.openxmlformats.org/officeDocument/2006/relationships/image" Target="../media/image-52-12.png"/><Relationship Id="rId13" Type="http://schemas.openxmlformats.org/officeDocument/2006/relationships/slideLayout" Target="../slideLayouts/slideLayout1.xml"/><Relationship Id="rId1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slideLayout" Target="../slideLayouts/slideLayout1.xml"/><Relationship Id="rId7"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image" Target="../media/image-54-9.png"/><Relationship Id="rId10" Type="http://schemas.openxmlformats.org/officeDocument/2006/relationships/image" Target="../media/image-54-10.png"/><Relationship Id="rId11" Type="http://schemas.openxmlformats.org/officeDocument/2006/relationships/image" Target="../media/image-54-11.png"/><Relationship Id="rId12" Type="http://schemas.openxmlformats.org/officeDocument/2006/relationships/slideLayout" Target="../slideLayouts/slideLayout1.xml"/><Relationship Id="rId1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image" Target="../media/image-55-6.png"/><Relationship Id="rId7" Type="http://schemas.openxmlformats.org/officeDocument/2006/relationships/image" Target="../media/image-55-7.png"/><Relationship Id="rId8" Type="http://schemas.openxmlformats.org/officeDocument/2006/relationships/slideLayout" Target="../slideLayouts/slideLayout1.xml"/><Relationship Id="rId9"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image" Target="../media/image-56-8.png"/><Relationship Id="rId9" Type="http://schemas.openxmlformats.org/officeDocument/2006/relationships/image" Target="../media/image-56-9.png"/><Relationship Id="rId10" Type="http://schemas.openxmlformats.org/officeDocument/2006/relationships/image" Target="../media/image-56-10.png"/><Relationship Id="rId11" Type="http://schemas.openxmlformats.org/officeDocument/2006/relationships/slideLayout" Target="../slideLayouts/slideLayout1.xml"/><Relationship Id="rId1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image" Target="../media/image-58-6.png"/><Relationship Id="rId7" Type="http://schemas.openxmlformats.org/officeDocument/2006/relationships/image" Target="../media/image-58-7.png"/><Relationship Id="rId8" Type="http://schemas.openxmlformats.org/officeDocument/2006/relationships/image" Target="../media/image-58-8.png"/><Relationship Id="rId9" Type="http://schemas.openxmlformats.org/officeDocument/2006/relationships/image" Target="../media/image-58-9.png"/><Relationship Id="rId10" Type="http://schemas.openxmlformats.org/officeDocument/2006/relationships/slideLayout" Target="../slideLayouts/slideLayout1.xml"/><Relationship Id="rId11"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image" Target="../media/image-59-6.png"/><Relationship Id="rId7" Type="http://schemas.openxmlformats.org/officeDocument/2006/relationships/image" Target="../media/image-59-7.png"/><Relationship Id="rId8" Type="http://schemas.openxmlformats.org/officeDocument/2006/relationships/image" Target="../media/image-59-8.png"/><Relationship Id="rId9" Type="http://schemas.openxmlformats.org/officeDocument/2006/relationships/image" Target="../media/image-59-9.png"/><Relationship Id="rId10" Type="http://schemas.openxmlformats.org/officeDocument/2006/relationships/slideLayout" Target="../slideLayouts/slideLayout1.xml"/><Relationship Id="rId11"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image" Target="../media/image-60-6.png"/><Relationship Id="rId7" Type="http://schemas.openxmlformats.org/officeDocument/2006/relationships/image" Target="../media/image-60-7.png"/><Relationship Id="rId8" Type="http://schemas.openxmlformats.org/officeDocument/2006/relationships/image" Target="../media/image-60-8.png"/><Relationship Id="rId9" Type="http://schemas.openxmlformats.org/officeDocument/2006/relationships/image" Target="../media/image-60-9.png"/><Relationship Id="rId10" Type="http://schemas.openxmlformats.org/officeDocument/2006/relationships/image" Target="../media/image-60-10.png"/><Relationship Id="rId11" Type="http://schemas.openxmlformats.org/officeDocument/2006/relationships/slideLayout" Target="../slideLayouts/slideLayout1.xml"/><Relationship Id="rId1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image" Target="../media/image-61-5.png"/><Relationship Id="rId6" Type="http://schemas.openxmlformats.org/officeDocument/2006/relationships/image" Target="../media/image-61-6.png"/><Relationship Id="rId7" Type="http://schemas.openxmlformats.org/officeDocument/2006/relationships/image" Target="../media/image-61-7.png"/><Relationship Id="rId8" Type="http://schemas.openxmlformats.org/officeDocument/2006/relationships/slideLayout" Target="../slideLayouts/slideLayout1.xml"/><Relationship Id="rId9"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slideLayout" Target="../slideLayouts/slideLayout1.xml"/><Relationship Id="rId7"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63-5.png"/><Relationship Id="rId6" Type="http://schemas.openxmlformats.org/officeDocument/2006/relationships/image" Target="../media/image-63-6.png"/><Relationship Id="rId7" Type="http://schemas.openxmlformats.org/officeDocument/2006/relationships/image" Target="../media/image-63-7.png"/><Relationship Id="rId8" Type="http://schemas.openxmlformats.org/officeDocument/2006/relationships/image" Target="../media/image-63-8.png"/><Relationship Id="rId9" Type="http://schemas.openxmlformats.org/officeDocument/2006/relationships/image" Target="../media/image-63-9.png"/><Relationship Id="rId10" Type="http://schemas.openxmlformats.org/officeDocument/2006/relationships/image" Target="../media/image-63-10.png"/><Relationship Id="rId11" Type="http://schemas.openxmlformats.org/officeDocument/2006/relationships/image" Target="../media/image-63-11.png"/><Relationship Id="rId12" Type="http://schemas.openxmlformats.org/officeDocument/2006/relationships/image" Target="../media/image-63-12.png"/><Relationship Id="rId13" Type="http://schemas.openxmlformats.org/officeDocument/2006/relationships/image" Target="../media/image-63-13.png"/><Relationship Id="rId14" Type="http://schemas.openxmlformats.org/officeDocument/2006/relationships/slideLayout" Target="../slideLayouts/slideLayout1.xml"/><Relationship Id="rId1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image" Target="../media/image-64-5.png"/><Relationship Id="rId6" Type="http://schemas.openxmlformats.org/officeDocument/2006/relationships/image" Target="../media/image-64-6.png"/><Relationship Id="rId7" Type="http://schemas.openxmlformats.org/officeDocument/2006/relationships/image" Target="../media/image-64-7.png"/><Relationship Id="rId8" Type="http://schemas.openxmlformats.org/officeDocument/2006/relationships/image" Target="../media/image-64-8.png"/><Relationship Id="rId9" Type="http://schemas.openxmlformats.org/officeDocument/2006/relationships/image" Target="../media/image-64-9.png"/><Relationship Id="rId10" Type="http://schemas.openxmlformats.org/officeDocument/2006/relationships/image" Target="../media/image-64-10.png"/><Relationship Id="rId11" Type="http://schemas.openxmlformats.org/officeDocument/2006/relationships/image" Target="../media/image-64-11.png"/><Relationship Id="rId12" Type="http://schemas.openxmlformats.org/officeDocument/2006/relationships/image" Target="../media/image-64-12.png"/><Relationship Id="rId13" Type="http://schemas.openxmlformats.org/officeDocument/2006/relationships/image" Target="../media/image-64-13.png"/><Relationship Id="rId14" Type="http://schemas.openxmlformats.org/officeDocument/2006/relationships/slideLayout" Target="../slideLayouts/slideLayout1.xml"/><Relationship Id="rId1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image" Target="../media/image-65-4.png"/><Relationship Id="rId5" Type="http://schemas.openxmlformats.org/officeDocument/2006/relationships/image" Target="../media/image-65-5.png"/><Relationship Id="rId6" Type="http://schemas.openxmlformats.org/officeDocument/2006/relationships/image" Target="../media/image-65-6.png"/><Relationship Id="rId7" Type="http://schemas.openxmlformats.org/officeDocument/2006/relationships/image" Target="../media/image-65-7.png"/><Relationship Id="rId8" Type="http://schemas.openxmlformats.org/officeDocument/2006/relationships/image" Target="../media/image-65-8.png"/><Relationship Id="rId9" Type="http://schemas.openxmlformats.org/officeDocument/2006/relationships/image" Target="../media/image-65-9.png"/><Relationship Id="rId10" Type="http://schemas.openxmlformats.org/officeDocument/2006/relationships/image" Target="../media/image-65-10.png"/><Relationship Id="rId11" Type="http://schemas.openxmlformats.org/officeDocument/2006/relationships/image" Target="../media/image-65-11.png"/><Relationship Id="rId12" Type="http://schemas.openxmlformats.org/officeDocument/2006/relationships/slideLayout" Target="../slideLayouts/slideLayout1.xml"/><Relationship Id="rId1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image" Target="../media/image-66-5.png"/><Relationship Id="rId6" Type="http://schemas.openxmlformats.org/officeDocument/2006/relationships/image" Target="../media/image-66-6.png"/><Relationship Id="rId7" Type="http://schemas.openxmlformats.org/officeDocument/2006/relationships/image" Target="../media/image-66-7.png"/><Relationship Id="rId8" Type="http://schemas.openxmlformats.org/officeDocument/2006/relationships/slideLayout" Target="../slideLayouts/slideLayout1.xml"/><Relationship Id="rId9"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image" Target="../media/image-67-4.png"/><Relationship Id="rId5" Type="http://schemas.openxmlformats.org/officeDocument/2006/relationships/image" Target="../media/image-67-5.png"/><Relationship Id="rId6" Type="http://schemas.openxmlformats.org/officeDocument/2006/relationships/image" Target="../media/image-67-6.png"/><Relationship Id="rId7" Type="http://schemas.openxmlformats.org/officeDocument/2006/relationships/image" Target="../media/image-67-7.png"/><Relationship Id="rId8" Type="http://schemas.openxmlformats.org/officeDocument/2006/relationships/image" Target="../media/image-67-8.png"/><Relationship Id="rId9" Type="http://schemas.openxmlformats.org/officeDocument/2006/relationships/slideLayout" Target="../slideLayouts/slideLayout1.xml"/><Relationship Id="rId10"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image" Target="../media/image-68-4.png"/><Relationship Id="rId5" Type="http://schemas.openxmlformats.org/officeDocument/2006/relationships/image" Target="../media/image-68-5.png"/><Relationship Id="rId6" Type="http://schemas.openxmlformats.org/officeDocument/2006/relationships/image" Target="../media/image-68-6.png"/><Relationship Id="rId7" Type="http://schemas.openxmlformats.org/officeDocument/2006/relationships/slideLayout" Target="../slideLayouts/slideLayout1.xml"/><Relationship Id="rId8" Type="http://schemas.openxmlformats.org/officeDocument/2006/relationships/notesSlide" Target="../notesSlides/notesSlide6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7818120" y="-1463040"/>
            <a:ext cx="6035040" cy="9784080"/>
          </a:xfrm>
          <a:prstGeom prst="roundRect">
            <a:avLst>
              <a:gd name="adj" fmla="val 8333"/>
            </a:avLst>
          </a:prstGeom>
          <a:solidFill>
            <a:srgbClr val="12301F"/>
          </a:solidFill>
          <a:ln w="12700">
            <a:solidFill>
              <a:srgbClr val="12301F"/>
            </a:solidFill>
            <a:prstDash val="solid"/>
          </a:ln>
        </p:spPr>
      </p:sp>
      <p:pic>
        <p:nvPicPr>
          <p:cNvPr id="3" name="Image 0" descr="preencoded.png">    </p:cNvPr>
          <p:cNvPicPr>
            <a:picLocks noChangeAspect="1"/>
          </p:cNvPicPr>
          <p:nvPr/>
        </p:nvPicPr>
        <p:blipFill>
          <a:blip r:embed="rId1"/>
          <a:stretch>
            <a:fillRect/>
          </a:stretch>
        </p:blipFill>
        <p:spPr>
          <a:xfrm>
            <a:off x="822960" y="1188720"/>
            <a:ext cx="1325880" cy="1325880"/>
          </a:xfrm>
          <a:prstGeom prst="rect">
            <a:avLst/>
          </a:prstGeom>
        </p:spPr>
      </p:pic>
      <p:sp>
        <p:nvSpPr>
          <p:cNvPr id="4" name="Text 1"/>
          <p:cNvSpPr txBox="1"/>
          <p:nvPr/>
        </p:nvSpPr>
        <p:spPr>
          <a:xfrm>
            <a:off x="822960" y="2697480"/>
            <a:ext cx="6583680" cy="274320"/>
          </a:xfrm>
          <a:prstGeom prst="rect">
            <a:avLst/>
          </a:prstGeom>
          <a:noFill/>
          <a:ln/>
        </p:spPr>
        <p:txBody>
          <a:bodyPr wrap="square" lIns="0" tIns="0" rIns="0" bIns="0" rtlCol="0" anchor="ctr"/>
          <a:lstStyle/>
          <a:p>
            <a:pPr indent="0" marL="0">
              <a:buNone/>
            </a:pPr>
            <a:r>
              <a:rPr lang="en-US" sz="1200" b="1" spc="240" kern="0" dirty="0">
                <a:solidFill>
                  <a:srgbClr val="8CC84B"/>
                </a:solidFill>
                <a:latin typeface="Calibri" pitchFamily="34" charset="0"/>
                <a:ea typeface="Calibri" pitchFamily="34" charset="-122"/>
                <a:cs typeface="Calibri" pitchFamily="34" charset="-120"/>
              </a:rPr>
              <a:t>PEMROGRAMAN JAVASCRIPT SISI SERVER</a:t>
            </a:r>
            <a:endParaRPr lang="en-US" sz="1200" dirty="0"/>
          </a:p>
        </p:txBody>
      </p:sp>
      <p:sp>
        <p:nvSpPr>
          <p:cNvPr id="5" name="Text 2"/>
          <p:cNvSpPr txBox="1"/>
          <p:nvPr/>
        </p:nvSpPr>
        <p:spPr>
          <a:xfrm>
            <a:off x="777240" y="2962656"/>
            <a:ext cx="6675120" cy="1143000"/>
          </a:xfrm>
          <a:prstGeom prst="rect">
            <a:avLst/>
          </a:prstGeom>
          <a:noFill/>
          <a:ln/>
        </p:spPr>
        <p:txBody>
          <a:bodyPr wrap="square" lIns="0" tIns="0" rIns="0" bIns="0" rtlCol="0" anchor="ctr"/>
          <a:lstStyle/>
          <a:p>
            <a:pPr indent="0" marL="0">
              <a:buNone/>
            </a:pPr>
            <a:r>
              <a:rPr lang="en-US" sz="6400" b="1" dirty="0">
                <a:solidFill>
                  <a:srgbClr val="FFFFFF"/>
                </a:solidFill>
                <a:latin typeface="Arial" pitchFamily="34" charset="0"/>
                <a:ea typeface="Arial" pitchFamily="34" charset="-122"/>
                <a:cs typeface="Arial" pitchFamily="34" charset="-120"/>
              </a:rPr>
              <a:t>Node.js</a:t>
            </a:r>
            <a:endParaRPr lang="en-US" sz="6400" dirty="0"/>
          </a:p>
        </p:txBody>
      </p:sp>
      <p:sp>
        <p:nvSpPr>
          <p:cNvPr id="6" name="Text 3"/>
          <p:cNvSpPr txBox="1"/>
          <p:nvPr/>
        </p:nvSpPr>
        <p:spPr>
          <a:xfrm>
            <a:off x="822960" y="4114800"/>
            <a:ext cx="6675120" cy="822960"/>
          </a:xfrm>
          <a:prstGeom prst="rect">
            <a:avLst/>
          </a:prstGeom>
          <a:noFill/>
          <a:ln/>
        </p:spPr>
        <p:txBody>
          <a:bodyPr wrap="square" lIns="0" tIns="0" rIns="0" bIns="0" rtlCol="0" anchor="ctr"/>
          <a:lstStyle/>
          <a:p>
            <a:pPr indent="0" marL="0">
              <a:lnSpc>
                <a:spcPct val="120000"/>
              </a:lnSpc>
              <a:buNone/>
            </a:pPr>
            <a:r>
              <a:rPr lang="en-US" sz="1450" dirty="0">
                <a:solidFill>
                  <a:srgbClr val="BFD6C4"/>
                </a:solidFill>
                <a:latin typeface="Calibri" pitchFamily="34" charset="0"/>
                <a:ea typeface="Calibri" pitchFamily="34" charset="-122"/>
                <a:cs typeface="Calibri" pitchFamily="34" charset="-120"/>
              </a:rPr>
              <a:t>Materi Komprehensif: Arsitektur, Event Loop, Modul &amp; NPM,</a:t>
            </a:r>
            <a:endParaRPr lang="en-US" sz="1450" dirty="0"/>
          </a:p>
          <a:p>
            <a:pPr indent="0" marL="0">
              <a:lnSpc>
                <a:spcPct val="120000"/>
              </a:lnSpc>
              <a:buNone/>
            </a:pPr>
            <a:r>
              <a:rPr lang="en-US" sz="1450" dirty="0">
                <a:solidFill>
                  <a:srgbClr val="BFD6C4"/>
                </a:solidFill>
                <a:latin typeface="Calibri" pitchFamily="34" charset="0"/>
                <a:ea typeface="Calibri" pitchFamily="34" charset="-122"/>
                <a:cs typeface="Calibri" pitchFamily="34" charset="-120"/>
              </a:rPr>
              <a:t>Pemrograman Asinkron, REST API, hingga Deployment Produksi</a:t>
            </a:r>
            <a:endParaRPr lang="en-US" sz="1450" dirty="0"/>
          </a:p>
        </p:txBody>
      </p:sp>
      <p:sp>
        <p:nvSpPr>
          <p:cNvPr id="7" name="Shape 4"/>
          <p:cNvSpPr/>
          <p:nvPr/>
        </p:nvSpPr>
        <p:spPr>
          <a:xfrm>
            <a:off x="822960" y="5138928"/>
            <a:ext cx="1801368" cy="384048"/>
          </a:xfrm>
          <a:prstGeom prst="roundRect">
            <a:avLst>
              <a:gd name="adj" fmla="val 47619"/>
            </a:avLst>
          </a:prstGeom>
          <a:solidFill>
            <a:srgbClr val="1B4429"/>
          </a:solidFill>
          <a:ln w="12700">
            <a:solidFill>
              <a:srgbClr val="2C5F3A"/>
            </a:solidFill>
            <a:prstDash val="solid"/>
          </a:ln>
        </p:spPr>
      </p:sp>
      <p:sp>
        <p:nvSpPr>
          <p:cNvPr id="8" name="Text 5"/>
          <p:cNvSpPr txBox="1"/>
          <p:nvPr/>
        </p:nvSpPr>
        <p:spPr>
          <a:xfrm>
            <a:off x="822960" y="5138928"/>
            <a:ext cx="1801368" cy="384048"/>
          </a:xfrm>
          <a:prstGeom prst="rect">
            <a:avLst/>
          </a:prstGeom>
          <a:noFill/>
          <a:ln/>
        </p:spPr>
        <p:txBody>
          <a:bodyPr wrap="square" lIns="0" tIns="0" rIns="0" bIns="0" rtlCol="0" anchor="ctr"/>
          <a:lstStyle/>
          <a:p>
            <a:pPr algn="ctr" indent="0" marL="0">
              <a:buNone/>
            </a:pPr>
            <a:r>
              <a:rPr lang="en-US" sz="1050" dirty="0">
                <a:solidFill>
                  <a:srgbClr val="C6E3B4"/>
                </a:solidFill>
                <a:latin typeface="Calibri" pitchFamily="34" charset="0"/>
                <a:ea typeface="Calibri" pitchFamily="34" charset="-122"/>
                <a:cs typeface="Calibri" pitchFamily="34" charset="-120"/>
              </a:rPr>
              <a:t>JavaScript Runtime</a:t>
            </a:r>
            <a:endParaRPr lang="en-US" sz="1050" dirty="0"/>
          </a:p>
        </p:txBody>
      </p:sp>
      <p:sp>
        <p:nvSpPr>
          <p:cNvPr id="9" name="Shape 6"/>
          <p:cNvSpPr/>
          <p:nvPr/>
        </p:nvSpPr>
        <p:spPr>
          <a:xfrm>
            <a:off x="2788920" y="5138928"/>
            <a:ext cx="1019556" cy="384048"/>
          </a:xfrm>
          <a:prstGeom prst="roundRect">
            <a:avLst>
              <a:gd name="adj" fmla="val 47619"/>
            </a:avLst>
          </a:prstGeom>
          <a:solidFill>
            <a:srgbClr val="1B4429"/>
          </a:solidFill>
          <a:ln w="12700">
            <a:solidFill>
              <a:srgbClr val="2C5F3A"/>
            </a:solidFill>
            <a:prstDash val="solid"/>
          </a:ln>
        </p:spPr>
      </p:sp>
      <p:sp>
        <p:nvSpPr>
          <p:cNvPr id="10" name="Text 7"/>
          <p:cNvSpPr txBox="1"/>
          <p:nvPr/>
        </p:nvSpPr>
        <p:spPr>
          <a:xfrm>
            <a:off x="2788920" y="5138928"/>
            <a:ext cx="1019556" cy="384048"/>
          </a:xfrm>
          <a:prstGeom prst="rect">
            <a:avLst/>
          </a:prstGeom>
          <a:noFill/>
          <a:ln/>
        </p:spPr>
        <p:txBody>
          <a:bodyPr wrap="square" lIns="0" tIns="0" rIns="0" bIns="0" rtlCol="0" anchor="ctr"/>
          <a:lstStyle/>
          <a:p>
            <a:pPr algn="ctr" indent="0" marL="0">
              <a:buNone/>
            </a:pPr>
            <a:r>
              <a:rPr lang="en-US" sz="1050" dirty="0">
                <a:solidFill>
                  <a:srgbClr val="C6E3B4"/>
                </a:solidFill>
                <a:latin typeface="Calibri" pitchFamily="34" charset="0"/>
                <a:ea typeface="Calibri" pitchFamily="34" charset="-122"/>
                <a:cs typeface="Calibri" pitchFamily="34" charset="-120"/>
              </a:rPr>
              <a:t>V8 Engine</a:t>
            </a:r>
            <a:endParaRPr lang="en-US" sz="1050" dirty="0"/>
          </a:p>
        </p:txBody>
      </p:sp>
      <p:sp>
        <p:nvSpPr>
          <p:cNvPr id="11" name="Shape 8"/>
          <p:cNvSpPr/>
          <p:nvPr/>
        </p:nvSpPr>
        <p:spPr>
          <a:xfrm>
            <a:off x="3973068" y="5138928"/>
            <a:ext cx="1193292" cy="384048"/>
          </a:xfrm>
          <a:prstGeom prst="roundRect">
            <a:avLst>
              <a:gd name="adj" fmla="val 47619"/>
            </a:avLst>
          </a:prstGeom>
          <a:solidFill>
            <a:srgbClr val="1B4429"/>
          </a:solidFill>
          <a:ln w="12700">
            <a:solidFill>
              <a:srgbClr val="2C5F3A"/>
            </a:solidFill>
            <a:prstDash val="solid"/>
          </a:ln>
        </p:spPr>
      </p:sp>
      <p:sp>
        <p:nvSpPr>
          <p:cNvPr id="12" name="Text 9"/>
          <p:cNvSpPr txBox="1"/>
          <p:nvPr/>
        </p:nvSpPr>
        <p:spPr>
          <a:xfrm>
            <a:off x="3973068" y="5138928"/>
            <a:ext cx="1193292" cy="384048"/>
          </a:xfrm>
          <a:prstGeom prst="rect">
            <a:avLst/>
          </a:prstGeom>
          <a:noFill/>
          <a:ln/>
        </p:spPr>
        <p:txBody>
          <a:bodyPr wrap="square" lIns="0" tIns="0" rIns="0" bIns="0" rtlCol="0" anchor="ctr"/>
          <a:lstStyle/>
          <a:p>
            <a:pPr algn="ctr" indent="0" marL="0">
              <a:buNone/>
            </a:pPr>
            <a:r>
              <a:rPr lang="en-US" sz="1050" dirty="0">
                <a:solidFill>
                  <a:srgbClr val="C6E3B4"/>
                </a:solidFill>
                <a:latin typeface="Calibri" pitchFamily="34" charset="0"/>
                <a:ea typeface="Calibri" pitchFamily="34" charset="-122"/>
                <a:cs typeface="Calibri" pitchFamily="34" charset="-120"/>
              </a:rPr>
              <a:t>Open Source</a:t>
            </a:r>
            <a:endParaRPr lang="en-US" sz="1050" dirty="0"/>
          </a:p>
        </p:txBody>
      </p:sp>
      <p:sp>
        <p:nvSpPr>
          <p:cNvPr id="13" name="Shape 10"/>
          <p:cNvSpPr/>
          <p:nvPr/>
        </p:nvSpPr>
        <p:spPr>
          <a:xfrm>
            <a:off x="5330952" y="5138928"/>
            <a:ext cx="1453896" cy="384048"/>
          </a:xfrm>
          <a:prstGeom prst="roundRect">
            <a:avLst>
              <a:gd name="adj" fmla="val 47619"/>
            </a:avLst>
          </a:prstGeom>
          <a:solidFill>
            <a:srgbClr val="1B4429"/>
          </a:solidFill>
          <a:ln w="12700">
            <a:solidFill>
              <a:srgbClr val="2C5F3A"/>
            </a:solidFill>
            <a:prstDash val="solid"/>
          </a:ln>
        </p:spPr>
      </p:sp>
      <p:sp>
        <p:nvSpPr>
          <p:cNvPr id="14" name="Text 11"/>
          <p:cNvSpPr txBox="1"/>
          <p:nvPr/>
        </p:nvSpPr>
        <p:spPr>
          <a:xfrm>
            <a:off x="5330952" y="5138928"/>
            <a:ext cx="1453896" cy="384048"/>
          </a:xfrm>
          <a:prstGeom prst="rect">
            <a:avLst/>
          </a:prstGeom>
          <a:noFill/>
          <a:ln/>
        </p:spPr>
        <p:txBody>
          <a:bodyPr wrap="square" lIns="0" tIns="0" rIns="0" bIns="0" rtlCol="0" anchor="ctr"/>
          <a:lstStyle/>
          <a:p>
            <a:pPr algn="ctr" indent="0" marL="0">
              <a:buNone/>
            </a:pPr>
            <a:r>
              <a:rPr lang="en-US" sz="1050" dirty="0">
                <a:solidFill>
                  <a:srgbClr val="C6E3B4"/>
                </a:solidFill>
                <a:latin typeface="Calibri" pitchFamily="34" charset="0"/>
                <a:ea typeface="Calibri" pitchFamily="34" charset="-122"/>
                <a:cs typeface="Calibri" pitchFamily="34" charset="-120"/>
              </a:rPr>
              <a:t>Cross-Platform</a:t>
            </a:r>
            <a:endParaRPr lang="en-US" sz="1050" dirty="0"/>
          </a:p>
        </p:txBody>
      </p:sp>
      <p:pic>
        <p:nvPicPr>
          <p:cNvPr id="15" name="Image 1" descr="preencoded.png">    </p:cNvPr>
          <p:cNvPicPr>
            <a:picLocks noChangeAspect="1"/>
          </p:cNvPicPr>
          <p:nvPr/>
        </p:nvPicPr>
        <p:blipFill>
          <a:blip r:embed="rId2"/>
          <a:stretch>
            <a:fillRect/>
          </a:stretch>
        </p:blipFill>
        <p:spPr>
          <a:xfrm>
            <a:off x="8686800" y="1965960"/>
            <a:ext cx="402336" cy="402336"/>
          </a:xfrm>
          <a:prstGeom prst="rect">
            <a:avLst/>
          </a:prstGeom>
        </p:spPr>
      </p:pic>
      <p:sp>
        <p:nvSpPr>
          <p:cNvPr id="16" name="Text 12"/>
          <p:cNvSpPr txBox="1"/>
          <p:nvPr/>
        </p:nvSpPr>
        <p:spPr>
          <a:xfrm>
            <a:off x="9281160" y="1965960"/>
            <a:ext cx="2743200" cy="402336"/>
          </a:xfrm>
          <a:prstGeom prst="rect">
            <a:avLst/>
          </a:prstGeom>
          <a:noFill/>
          <a:ln/>
        </p:spPr>
        <p:txBody>
          <a:bodyPr wrap="square" lIns="0" tIns="0" rIns="0" bIns="0" rtlCol="0" anchor="ctr"/>
          <a:lstStyle/>
          <a:p>
            <a:pPr indent="0" marL="0">
              <a:buNone/>
            </a:pPr>
            <a:r>
              <a:rPr lang="en-US" sz="1200" dirty="0">
                <a:solidFill>
                  <a:srgbClr val="5F9470"/>
                </a:solidFill>
                <a:latin typeface="Calibri" pitchFamily="34" charset="0"/>
                <a:ea typeface="Calibri" pitchFamily="34" charset="-122"/>
                <a:cs typeface="Calibri" pitchFamily="34" charset="-120"/>
              </a:rPr>
              <a:t>JavaScript</a:t>
            </a:r>
            <a:endParaRPr lang="en-US" sz="1200" dirty="0"/>
          </a:p>
        </p:txBody>
      </p:sp>
      <p:pic>
        <p:nvPicPr>
          <p:cNvPr id="17" name="Image 2" descr="preencoded.png">    </p:cNvPr>
          <p:cNvPicPr>
            <a:picLocks noChangeAspect="1"/>
          </p:cNvPicPr>
          <p:nvPr/>
        </p:nvPicPr>
        <p:blipFill>
          <a:blip r:embed="rId3"/>
          <a:stretch>
            <a:fillRect/>
          </a:stretch>
        </p:blipFill>
        <p:spPr>
          <a:xfrm>
            <a:off x="8686800" y="2624328"/>
            <a:ext cx="402336" cy="402336"/>
          </a:xfrm>
          <a:prstGeom prst="rect">
            <a:avLst/>
          </a:prstGeom>
        </p:spPr>
      </p:pic>
      <p:sp>
        <p:nvSpPr>
          <p:cNvPr id="18" name="Text 13"/>
          <p:cNvSpPr txBox="1"/>
          <p:nvPr/>
        </p:nvSpPr>
        <p:spPr>
          <a:xfrm>
            <a:off x="9281160" y="2624328"/>
            <a:ext cx="2743200" cy="402336"/>
          </a:xfrm>
          <a:prstGeom prst="rect">
            <a:avLst/>
          </a:prstGeom>
          <a:noFill/>
          <a:ln/>
        </p:spPr>
        <p:txBody>
          <a:bodyPr wrap="square" lIns="0" tIns="0" rIns="0" bIns="0" rtlCol="0" anchor="ctr"/>
          <a:lstStyle/>
          <a:p>
            <a:pPr indent="0" marL="0">
              <a:buNone/>
            </a:pPr>
            <a:r>
              <a:rPr lang="en-US" sz="1200" dirty="0">
                <a:solidFill>
                  <a:srgbClr val="5F9470"/>
                </a:solidFill>
                <a:latin typeface="Calibri" pitchFamily="34" charset="0"/>
                <a:ea typeface="Calibri" pitchFamily="34" charset="-122"/>
                <a:cs typeface="Calibri" pitchFamily="34" charset="-120"/>
              </a:rPr>
              <a:t>NPM</a:t>
            </a:r>
            <a:endParaRPr lang="en-US" sz="1200" dirty="0"/>
          </a:p>
        </p:txBody>
      </p:sp>
      <p:pic>
        <p:nvPicPr>
          <p:cNvPr id="19" name="Image 3" descr="preencoded.png">    </p:cNvPr>
          <p:cNvPicPr>
            <a:picLocks noChangeAspect="1"/>
          </p:cNvPicPr>
          <p:nvPr/>
        </p:nvPicPr>
        <p:blipFill>
          <a:blip r:embed="rId4"/>
          <a:stretch>
            <a:fillRect/>
          </a:stretch>
        </p:blipFill>
        <p:spPr>
          <a:xfrm>
            <a:off x="8686800" y="3282696"/>
            <a:ext cx="402336" cy="402336"/>
          </a:xfrm>
          <a:prstGeom prst="rect">
            <a:avLst/>
          </a:prstGeom>
        </p:spPr>
      </p:pic>
      <p:sp>
        <p:nvSpPr>
          <p:cNvPr id="20" name="Text 14"/>
          <p:cNvSpPr txBox="1"/>
          <p:nvPr/>
        </p:nvSpPr>
        <p:spPr>
          <a:xfrm>
            <a:off x="9281160" y="3282696"/>
            <a:ext cx="2743200" cy="402336"/>
          </a:xfrm>
          <a:prstGeom prst="rect">
            <a:avLst/>
          </a:prstGeom>
          <a:noFill/>
          <a:ln/>
        </p:spPr>
        <p:txBody>
          <a:bodyPr wrap="square" lIns="0" tIns="0" rIns="0" bIns="0" rtlCol="0" anchor="ctr"/>
          <a:lstStyle/>
          <a:p>
            <a:pPr indent="0" marL="0">
              <a:buNone/>
            </a:pPr>
            <a:r>
              <a:rPr lang="en-US" sz="1200" dirty="0">
                <a:solidFill>
                  <a:srgbClr val="5F9470"/>
                </a:solidFill>
                <a:latin typeface="Calibri" pitchFamily="34" charset="0"/>
                <a:ea typeface="Calibri" pitchFamily="34" charset="-122"/>
                <a:cs typeface="Calibri" pitchFamily="34" charset="-120"/>
              </a:rPr>
              <a:t>Express</a:t>
            </a:r>
            <a:endParaRPr lang="en-US" sz="1200" dirty="0"/>
          </a:p>
        </p:txBody>
      </p:sp>
      <p:pic>
        <p:nvPicPr>
          <p:cNvPr id="21" name="Image 4" descr="preencoded.png">    </p:cNvPr>
          <p:cNvPicPr>
            <a:picLocks noChangeAspect="1"/>
          </p:cNvPicPr>
          <p:nvPr/>
        </p:nvPicPr>
        <p:blipFill>
          <a:blip r:embed="rId5"/>
          <a:stretch>
            <a:fillRect/>
          </a:stretch>
        </p:blipFill>
        <p:spPr>
          <a:xfrm>
            <a:off x="8686800" y="3941064"/>
            <a:ext cx="402336" cy="402336"/>
          </a:xfrm>
          <a:prstGeom prst="rect">
            <a:avLst/>
          </a:prstGeom>
        </p:spPr>
      </p:pic>
      <p:sp>
        <p:nvSpPr>
          <p:cNvPr id="22" name="Text 15"/>
          <p:cNvSpPr txBox="1"/>
          <p:nvPr/>
        </p:nvSpPr>
        <p:spPr>
          <a:xfrm>
            <a:off x="9281160" y="3941064"/>
            <a:ext cx="2743200" cy="402336"/>
          </a:xfrm>
          <a:prstGeom prst="rect">
            <a:avLst/>
          </a:prstGeom>
          <a:noFill/>
          <a:ln/>
        </p:spPr>
        <p:txBody>
          <a:bodyPr wrap="square" lIns="0" tIns="0" rIns="0" bIns="0" rtlCol="0" anchor="ctr"/>
          <a:lstStyle/>
          <a:p>
            <a:pPr indent="0" marL="0">
              <a:buNone/>
            </a:pPr>
            <a:r>
              <a:rPr lang="en-US" sz="1200" dirty="0">
                <a:solidFill>
                  <a:srgbClr val="5F9470"/>
                </a:solidFill>
                <a:latin typeface="Calibri" pitchFamily="34" charset="0"/>
                <a:ea typeface="Calibri" pitchFamily="34" charset="-122"/>
                <a:cs typeface="Calibri" pitchFamily="34" charset="-120"/>
              </a:rPr>
              <a:t>V8</a:t>
            </a:r>
            <a:endParaRPr lang="en-US" sz="1200" dirty="0"/>
          </a:p>
        </p:txBody>
      </p:sp>
      <p:pic>
        <p:nvPicPr>
          <p:cNvPr id="23" name="Image 5" descr="preencoded.png">    </p:cNvPr>
          <p:cNvPicPr>
            <a:picLocks noChangeAspect="1"/>
          </p:cNvPicPr>
          <p:nvPr/>
        </p:nvPicPr>
        <p:blipFill>
          <a:blip r:embed="rId6"/>
          <a:stretch>
            <a:fillRect/>
          </a:stretch>
        </p:blipFill>
        <p:spPr>
          <a:xfrm>
            <a:off x="8686800" y="4599432"/>
            <a:ext cx="402336" cy="402336"/>
          </a:xfrm>
          <a:prstGeom prst="rect">
            <a:avLst/>
          </a:prstGeom>
        </p:spPr>
      </p:pic>
      <p:sp>
        <p:nvSpPr>
          <p:cNvPr id="24" name="Text 16"/>
          <p:cNvSpPr txBox="1"/>
          <p:nvPr/>
        </p:nvSpPr>
        <p:spPr>
          <a:xfrm>
            <a:off x="9281160" y="4599432"/>
            <a:ext cx="2743200" cy="402336"/>
          </a:xfrm>
          <a:prstGeom prst="rect">
            <a:avLst/>
          </a:prstGeom>
          <a:noFill/>
          <a:ln/>
        </p:spPr>
        <p:txBody>
          <a:bodyPr wrap="square" lIns="0" tIns="0" rIns="0" bIns="0" rtlCol="0" anchor="ctr"/>
          <a:lstStyle/>
          <a:p>
            <a:pPr indent="0" marL="0">
              <a:buNone/>
            </a:pPr>
            <a:r>
              <a:rPr lang="en-US" sz="1200" dirty="0">
                <a:solidFill>
                  <a:srgbClr val="5F9470"/>
                </a:solidFill>
                <a:latin typeface="Calibri" pitchFamily="34" charset="0"/>
                <a:ea typeface="Calibri" pitchFamily="34" charset="-122"/>
                <a:cs typeface="Calibri" pitchFamily="34" charset="-120"/>
              </a:rPr>
              <a:t>Docker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Agenda Pembahasan</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Delapan bagian yang disusun dari konsep dasar menuju penerapan produksi</a:t>
            </a:r>
            <a:endParaRPr lang="en-US" sz="1300" dirty="0"/>
          </a:p>
        </p:txBody>
      </p:sp>
      <p:sp>
        <p:nvSpPr>
          <p:cNvPr id="6" name="Shape 3"/>
          <p:cNvSpPr/>
          <p:nvPr/>
        </p:nvSpPr>
        <p:spPr>
          <a:xfrm>
            <a:off x="640080" y="160020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77824" y="187452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992124" y="1988820"/>
            <a:ext cx="228600" cy="228600"/>
          </a:xfrm>
          <a:prstGeom prst="rect">
            <a:avLst/>
          </a:prstGeom>
        </p:spPr>
      </p:pic>
      <p:sp>
        <p:nvSpPr>
          <p:cNvPr id="9" name="Text 5"/>
          <p:cNvSpPr txBox="1"/>
          <p:nvPr/>
        </p:nvSpPr>
        <p:spPr>
          <a:xfrm>
            <a:off x="1463040" y="174650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Pengenalan Node.js</a:t>
            </a:r>
            <a:endParaRPr lang="en-US" sz="1350" dirty="0"/>
          </a:p>
        </p:txBody>
      </p:sp>
      <p:sp>
        <p:nvSpPr>
          <p:cNvPr id="10" name="Text 6"/>
          <p:cNvSpPr txBox="1"/>
          <p:nvPr/>
        </p:nvSpPr>
        <p:spPr>
          <a:xfrm>
            <a:off x="1463040" y="210312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Definisi, sejarah, karakteristik, dan perbandingan dengan JavaScript peramban</a:t>
            </a:r>
            <a:endParaRPr lang="en-US" sz="1050" dirty="0"/>
          </a:p>
        </p:txBody>
      </p:sp>
      <p:sp>
        <p:nvSpPr>
          <p:cNvPr id="11" name="Text 7"/>
          <p:cNvSpPr txBox="1"/>
          <p:nvPr/>
        </p:nvSpPr>
        <p:spPr>
          <a:xfrm>
            <a:off x="5157216" y="172821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01</a:t>
            </a:r>
            <a:endParaRPr lang="en-US" sz="1700" dirty="0"/>
          </a:p>
        </p:txBody>
      </p:sp>
      <p:sp>
        <p:nvSpPr>
          <p:cNvPr id="12" name="Shape 8"/>
          <p:cNvSpPr/>
          <p:nvPr/>
        </p:nvSpPr>
        <p:spPr>
          <a:xfrm>
            <a:off x="640080" y="278892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3" name="Shape 9"/>
          <p:cNvSpPr/>
          <p:nvPr/>
        </p:nvSpPr>
        <p:spPr>
          <a:xfrm>
            <a:off x="877824" y="3063240"/>
            <a:ext cx="457200" cy="457200"/>
          </a:xfrm>
          <a:prstGeom prst="roundRect">
            <a:avLst>
              <a:gd name="adj" fmla="val 26000"/>
            </a:avLst>
          </a:prstGeom>
          <a:solidFill>
            <a:srgbClr val="E8F2E2"/>
          </a:solidFill>
          <a:ln w="12700">
            <a:solidFill>
              <a:srgbClr val="E8F2E2"/>
            </a:solidFill>
            <a:prstDash val="solid"/>
          </a:ln>
        </p:spPr>
      </p:sp>
      <p:pic>
        <p:nvPicPr>
          <p:cNvPr id="14" name="Image 2" descr="preencoded.png">    </p:cNvPr>
          <p:cNvPicPr>
            <a:picLocks noChangeAspect="1"/>
          </p:cNvPicPr>
          <p:nvPr/>
        </p:nvPicPr>
        <p:blipFill>
          <a:blip r:embed="rId3"/>
          <a:stretch>
            <a:fillRect/>
          </a:stretch>
        </p:blipFill>
        <p:spPr>
          <a:xfrm>
            <a:off x="992124" y="3177540"/>
            <a:ext cx="228600" cy="228600"/>
          </a:xfrm>
          <a:prstGeom prst="rect">
            <a:avLst/>
          </a:prstGeom>
        </p:spPr>
      </p:pic>
      <p:sp>
        <p:nvSpPr>
          <p:cNvPr id="15" name="Text 10"/>
          <p:cNvSpPr txBox="1"/>
          <p:nvPr/>
        </p:nvSpPr>
        <p:spPr>
          <a:xfrm>
            <a:off x="1463040" y="293522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Arsitektur &amp; Cara Kerja</a:t>
            </a:r>
            <a:endParaRPr lang="en-US" sz="1350" dirty="0"/>
          </a:p>
        </p:txBody>
      </p:sp>
      <p:sp>
        <p:nvSpPr>
          <p:cNvPr id="16" name="Text 11"/>
          <p:cNvSpPr txBox="1"/>
          <p:nvPr/>
        </p:nvSpPr>
        <p:spPr>
          <a:xfrm>
            <a:off x="1463040" y="329184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V8 Engine, libuv, event loop, non-blocking I/O, dan model single-thread</a:t>
            </a:r>
            <a:endParaRPr lang="en-US" sz="1050" dirty="0"/>
          </a:p>
        </p:txBody>
      </p:sp>
      <p:sp>
        <p:nvSpPr>
          <p:cNvPr id="17" name="Text 12"/>
          <p:cNvSpPr txBox="1"/>
          <p:nvPr/>
        </p:nvSpPr>
        <p:spPr>
          <a:xfrm>
            <a:off x="5157216" y="291693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02</a:t>
            </a:r>
            <a:endParaRPr lang="en-US" sz="1700" dirty="0"/>
          </a:p>
        </p:txBody>
      </p:sp>
      <p:sp>
        <p:nvSpPr>
          <p:cNvPr id="18" name="Shape 13"/>
          <p:cNvSpPr/>
          <p:nvPr/>
        </p:nvSpPr>
        <p:spPr>
          <a:xfrm>
            <a:off x="640080" y="397764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9" name="Shape 14"/>
          <p:cNvSpPr/>
          <p:nvPr/>
        </p:nvSpPr>
        <p:spPr>
          <a:xfrm>
            <a:off x="877824" y="4251960"/>
            <a:ext cx="457200" cy="457200"/>
          </a:xfrm>
          <a:prstGeom prst="roundRect">
            <a:avLst>
              <a:gd name="adj" fmla="val 26000"/>
            </a:avLst>
          </a:prstGeom>
          <a:solidFill>
            <a:srgbClr val="E8F2E2"/>
          </a:solidFill>
          <a:ln w="12700">
            <a:solidFill>
              <a:srgbClr val="E8F2E2"/>
            </a:solidFill>
            <a:prstDash val="solid"/>
          </a:ln>
        </p:spPr>
      </p:sp>
      <p:pic>
        <p:nvPicPr>
          <p:cNvPr id="20" name="Image 3" descr="preencoded.png">    </p:cNvPr>
          <p:cNvPicPr>
            <a:picLocks noChangeAspect="1"/>
          </p:cNvPicPr>
          <p:nvPr/>
        </p:nvPicPr>
        <p:blipFill>
          <a:blip r:embed="rId4"/>
          <a:stretch>
            <a:fillRect/>
          </a:stretch>
        </p:blipFill>
        <p:spPr>
          <a:xfrm>
            <a:off x="992124" y="4366260"/>
            <a:ext cx="228600" cy="228600"/>
          </a:xfrm>
          <a:prstGeom prst="rect">
            <a:avLst/>
          </a:prstGeom>
        </p:spPr>
      </p:pic>
      <p:sp>
        <p:nvSpPr>
          <p:cNvPr id="21" name="Text 15"/>
          <p:cNvSpPr txBox="1"/>
          <p:nvPr/>
        </p:nvSpPr>
        <p:spPr>
          <a:xfrm>
            <a:off x="1463040" y="412394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Memulai Node.js</a:t>
            </a:r>
            <a:endParaRPr lang="en-US" sz="1350" dirty="0"/>
          </a:p>
        </p:txBody>
      </p:sp>
      <p:sp>
        <p:nvSpPr>
          <p:cNvPr id="22" name="Text 16"/>
          <p:cNvSpPr txBox="1"/>
          <p:nvPr/>
        </p:nvSpPr>
        <p:spPr>
          <a:xfrm>
            <a:off x="1463040" y="448056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Instalasi, NVM, REPL, program pertama, dan struktur proyek</a:t>
            </a:r>
            <a:endParaRPr lang="en-US" sz="1050" dirty="0"/>
          </a:p>
        </p:txBody>
      </p:sp>
      <p:sp>
        <p:nvSpPr>
          <p:cNvPr id="23" name="Text 17"/>
          <p:cNvSpPr txBox="1"/>
          <p:nvPr/>
        </p:nvSpPr>
        <p:spPr>
          <a:xfrm>
            <a:off x="5157216" y="410565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03</a:t>
            </a:r>
            <a:endParaRPr lang="en-US" sz="1700" dirty="0"/>
          </a:p>
        </p:txBody>
      </p:sp>
      <p:sp>
        <p:nvSpPr>
          <p:cNvPr id="24" name="Shape 18"/>
          <p:cNvSpPr/>
          <p:nvPr/>
        </p:nvSpPr>
        <p:spPr>
          <a:xfrm>
            <a:off x="640080" y="516636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5" name="Shape 19"/>
          <p:cNvSpPr/>
          <p:nvPr/>
        </p:nvSpPr>
        <p:spPr>
          <a:xfrm>
            <a:off x="877824" y="5440680"/>
            <a:ext cx="457200" cy="457200"/>
          </a:xfrm>
          <a:prstGeom prst="roundRect">
            <a:avLst>
              <a:gd name="adj" fmla="val 26000"/>
            </a:avLst>
          </a:prstGeom>
          <a:solidFill>
            <a:srgbClr val="E8F2E2"/>
          </a:solidFill>
          <a:ln w="12700">
            <a:solidFill>
              <a:srgbClr val="E8F2E2"/>
            </a:solidFill>
            <a:prstDash val="solid"/>
          </a:ln>
        </p:spPr>
      </p:sp>
      <p:pic>
        <p:nvPicPr>
          <p:cNvPr id="26" name="Image 4" descr="preencoded.png">    </p:cNvPr>
          <p:cNvPicPr>
            <a:picLocks noChangeAspect="1"/>
          </p:cNvPicPr>
          <p:nvPr/>
        </p:nvPicPr>
        <p:blipFill>
          <a:blip r:embed="rId5"/>
          <a:stretch>
            <a:fillRect/>
          </a:stretch>
        </p:blipFill>
        <p:spPr>
          <a:xfrm>
            <a:off x="992124" y="5554980"/>
            <a:ext cx="228600" cy="228600"/>
          </a:xfrm>
          <a:prstGeom prst="rect">
            <a:avLst/>
          </a:prstGeom>
        </p:spPr>
      </p:pic>
      <p:sp>
        <p:nvSpPr>
          <p:cNvPr id="27" name="Text 20"/>
          <p:cNvSpPr txBox="1"/>
          <p:nvPr/>
        </p:nvSpPr>
        <p:spPr>
          <a:xfrm>
            <a:off x="1463040" y="531266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Modul &amp; NPM</a:t>
            </a:r>
            <a:endParaRPr lang="en-US" sz="1350" dirty="0"/>
          </a:p>
        </p:txBody>
      </p:sp>
      <p:sp>
        <p:nvSpPr>
          <p:cNvPr id="28" name="Text 21"/>
          <p:cNvSpPr txBox="1"/>
          <p:nvPr/>
        </p:nvSpPr>
        <p:spPr>
          <a:xfrm>
            <a:off x="1463040" y="566928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CommonJS vs ESM, core modules, package.json, dan semantic versioning</a:t>
            </a:r>
            <a:endParaRPr lang="en-US" sz="1050" dirty="0"/>
          </a:p>
        </p:txBody>
      </p:sp>
      <p:sp>
        <p:nvSpPr>
          <p:cNvPr id="29" name="Text 22"/>
          <p:cNvSpPr txBox="1"/>
          <p:nvPr/>
        </p:nvSpPr>
        <p:spPr>
          <a:xfrm>
            <a:off x="5157216" y="529437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04</a:t>
            </a:r>
            <a:endParaRPr lang="en-US" sz="1700" dirty="0"/>
          </a:p>
        </p:txBody>
      </p:sp>
      <p:sp>
        <p:nvSpPr>
          <p:cNvPr id="30" name="Shape 23"/>
          <p:cNvSpPr/>
          <p:nvPr/>
        </p:nvSpPr>
        <p:spPr>
          <a:xfrm>
            <a:off x="6318504" y="160020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1" name="Shape 24"/>
          <p:cNvSpPr/>
          <p:nvPr/>
        </p:nvSpPr>
        <p:spPr>
          <a:xfrm>
            <a:off x="6556248" y="1874520"/>
            <a:ext cx="457200" cy="457200"/>
          </a:xfrm>
          <a:prstGeom prst="roundRect">
            <a:avLst>
              <a:gd name="adj" fmla="val 26000"/>
            </a:avLst>
          </a:prstGeom>
          <a:solidFill>
            <a:srgbClr val="E8F2E2"/>
          </a:solidFill>
          <a:ln w="12700">
            <a:solidFill>
              <a:srgbClr val="E8F2E2"/>
            </a:solidFill>
            <a:prstDash val="solid"/>
          </a:ln>
        </p:spPr>
      </p:sp>
      <p:pic>
        <p:nvPicPr>
          <p:cNvPr id="32" name="Image 5" descr="preencoded.png">    </p:cNvPr>
          <p:cNvPicPr>
            <a:picLocks noChangeAspect="1"/>
          </p:cNvPicPr>
          <p:nvPr/>
        </p:nvPicPr>
        <p:blipFill>
          <a:blip r:embed="rId6"/>
          <a:stretch>
            <a:fillRect/>
          </a:stretch>
        </p:blipFill>
        <p:spPr>
          <a:xfrm>
            <a:off x="6670548" y="1988820"/>
            <a:ext cx="228600" cy="228600"/>
          </a:xfrm>
          <a:prstGeom prst="rect">
            <a:avLst/>
          </a:prstGeom>
        </p:spPr>
      </p:pic>
      <p:sp>
        <p:nvSpPr>
          <p:cNvPr id="33" name="Text 25"/>
          <p:cNvSpPr txBox="1"/>
          <p:nvPr/>
        </p:nvSpPr>
        <p:spPr>
          <a:xfrm>
            <a:off x="7141464" y="174650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Pemrograman Asinkron</a:t>
            </a:r>
            <a:endParaRPr lang="en-US" sz="1350" dirty="0"/>
          </a:p>
        </p:txBody>
      </p:sp>
      <p:sp>
        <p:nvSpPr>
          <p:cNvPr id="34" name="Text 26"/>
          <p:cNvSpPr txBox="1"/>
          <p:nvPr/>
        </p:nvSpPr>
        <p:spPr>
          <a:xfrm>
            <a:off x="7141464" y="210312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Callback, Promise, async/await, EventEmitter, Stream, dan Buffer</a:t>
            </a:r>
            <a:endParaRPr lang="en-US" sz="1050" dirty="0"/>
          </a:p>
        </p:txBody>
      </p:sp>
      <p:sp>
        <p:nvSpPr>
          <p:cNvPr id="35" name="Text 27"/>
          <p:cNvSpPr txBox="1"/>
          <p:nvPr/>
        </p:nvSpPr>
        <p:spPr>
          <a:xfrm>
            <a:off x="10835640" y="172821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05</a:t>
            </a:r>
            <a:endParaRPr lang="en-US" sz="1700" dirty="0"/>
          </a:p>
        </p:txBody>
      </p:sp>
      <p:sp>
        <p:nvSpPr>
          <p:cNvPr id="36" name="Shape 28"/>
          <p:cNvSpPr/>
          <p:nvPr/>
        </p:nvSpPr>
        <p:spPr>
          <a:xfrm>
            <a:off x="6318504" y="278892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7" name="Shape 29"/>
          <p:cNvSpPr/>
          <p:nvPr/>
        </p:nvSpPr>
        <p:spPr>
          <a:xfrm>
            <a:off x="6556248" y="3063240"/>
            <a:ext cx="457200" cy="457200"/>
          </a:xfrm>
          <a:prstGeom prst="roundRect">
            <a:avLst>
              <a:gd name="adj" fmla="val 26000"/>
            </a:avLst>
          </a:prstGeom>
          <a:solidFill>
            <a:srgbClr val="E8F2E2"/>
          </a:solidFill>
          <a:ln w="12700">
            <a:solidFill>
              <a:srgbClr val="E8F2E2"/>
            </a:solidFill>
            <a:prstDash val="solid"/>
          </a:ln>
        </p:spPr>
      </p:sp>
      <p:pic>
        <p:nvPicPr>
          <p:cNvPr id="38" name="Image 6" descr="preencoded.png">    </p:cNvPr>
          <p:cNvPicPr>
            <a:picLocks noChangeAspect="1"/>
          </p:cNvPicPr>
          <p:nvPr/>
        </p:nvPicPr>
        <p:blipFill>
          <a:blip r:embed="rId7"/>
          <a:stretch>
            <a:fillRect/>
          </a:stretch>
        </p:blipFill>
        <p:spPr>
          <a:xfrm>
            <a:off x="6670548" y="3177540"/>
            <a:ext cx="228600" cy="228600"/>
          </a:xfrm>
          <a:prstGeom prst="rect">
            <a:avLst/>
          </a:prstGeom>
        </p:spPr>
      </p:pic>
      <p:sp>
        <p:nvSpPr>
          <p:cNvPr id="39" name="Text 30"/>
          <p:cNvSpPr txBox="1"/>
          <p:nvPr/>
        </p:nvSpPr>
        <p:spPr>
          <a:xfrm>
            <a:off x="7141464" y="293522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Membangun Aplikasi</a:t>
            </a:r>
            <a:endParaRPr lang="en-US" sz="1350" dirty="0"/>
          </a:p>
        </p:txBody>
      </p:sp>
      <p:sp>
        <p:nvSpPr>
          <p:cNvPr id="40" name="Text 31"/>
          <p:cNvSpPr txBox="1"/>
          <p:nvPr/>
        </p:nvSpPr>
        <p:spPr>
          <a:xfrm>
            <a:off x="7141464" y="329184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File system, HTTP server, Express, REST API, database, dan konfigurasi</a:t>
            </a:r>
            <a:endParaRPr lang="en-US" sz="1050" dirty="0"/>
          </a:p>
        </p:txBody>
      </p:sp>
      <p:sp>
        <p:nvSpPr>
          <p:cNvPr id="41" name="Text 32"/>
          <p:cNvSpPr txBox="1"/>
          <p:nvPr/>
        </p:nvSpPr>
        <p:spPr>
          <a:xfrm>
            <a:off x="10835640" y="291693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06</a:t>
            </a:r>
            <a:endParaRPr lang="en-US" sz="1700" dirty="0"/>
          </a:p>
        </p:txBody>
      </p:sp>
      <p:sp>
        <p:nvSpPr>
          <p:cNvPr id="42" name="Shape 33"/>
          <p:cNvSpPr/>
          <p:nvPr/>
        </p:nvSpPr>
        <p:spPr>
          <a:xfrm>
            <a:off x="6318504" y="397764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3" name="Shape 34"/>
          <p:cNvSpPr/>
          <p:nvPr/>
        </p:nvSpPr>
        <p:spPr>
          <a:xfrm>
            <a:off x="6556248" y="4251960"/>
            <a:ext cx="457200" cy="457200"/>
          </a:xfrm>
          <a:prstGeom prst="roundRect">
            <a:avLst>
              <a:gd name="adj" fmla="val 26000"/>
            </a:avLst>
          </a:prstGeom>
          <a:solidFill>
            <a:srgbClr val="E8F2E2"/>
          </a:solidFill>
          <a:ln w="12700">
            <a:solidFill>
              <a:srgbClr val="E8F2E2"/>
            </a:solidFill>
            <a:prstDash val="solid"/>
          </a:ln>
        </p:spPr>
      </p:sp>
      <p:pic>
        <p:nvPicPr>
          <p:cNvPr id="44" name="Image 7" descr="preencoded.png">    </p:cNvPr>
          <p:cNvPicPr>
            <a:picLocks noChangeAspect="1"/>
          </p:cNvPicPr>
          <p:nvPr/>
        </p:nvPicPr>
        <p:blipFill>
          <a:blip r:embed="rId8"/>
          <a:stretch>
            <a:fillRect/>
          </a:stretch>
        </p:blipFill>
        <p:spPr>
          <a:xfrm>
            <a:off x="6670548" y="4366260"/>
            <a:ext cx="228600" cy="228600"/>
          </a:xfrm>
          <a:prstGeom prst="rect">
            <a:avLst/>
          </a:prstGeom>
        </p:spPr>
      </p:pic>
      <p:sp>
        <p:nvSpPr>
          <p:cNvPr id="45" name="Text 35"/>
          <p:cNvSpPr txBox="1"/>
          <p:nvPr/>
        </p:nvSpPr>
        <p:spPr>
          <a:xfrm>
            <a:off x="7141464" y="412394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Topik Lanjutan</a:t>
            </a:r>
            <a:endParaRPr lang="en-US" sz="1350" dirty="0"/>
          </a:p>
        </p:txBody>
      </p:sp>
      <p:sp>
        <p:nvSpPr>
          <p:cNvPr id="46" name="Text 36"/>
          <p:cNvSpPr txBox="1"/>
          <p:nvPr/>
        </p:nvSpPr>
        <p:spPr>
          <a:xfrm>
            <a:off x="7141464" y="448056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Autentikasi, real-time, validasi, caching, TypeScript, dan arsitektur</a:t>
            </a:r>
            <a:endParaRPr lang="en-US" sz="1050" dirty="0"/>
          </a:p>
        </p:txBody>
      </p:sp>
      <p:sp>
        <p:nvSpPr>
          <p:cNvPr id="47" name="Text 37"/>
          <p:cNvSpPr txBox="1"/>
          <p:nvPr/>
        </p:nvSpPr>
        <p:spPr>
          <a:xfrm>
            <a:off x="10835640" y="410565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07</a:t>
            </a:r>
            <a:endParaRPr lang="en-US" sz="1700" dirty="0"/>
          </a:p>
        </p:txBody>
      </p:sp>
      <p:sp>
        <p:nvSpPr>
          <p:cNvPr id="48" name="Shape 38"/>
          <p:cNvSpPr/>
          <p:nvPr/>
        </p:nvSpPr>
        <p:spPr>
          <a:xfrm>
            <a:off x="6318504" y="5166360"/>
            <a:ext cx="5230368" cy="1005840"/>
          </a:xfrm>
          <a:prstGeom prst="roundRect">
            <a:avLst>
              <a:gd name="adj" fmla="val 818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9" name="Shape 39"/>
          <p:cNvSpPr/>
          <p:nvPr/>
        </p:nvSpPr>
        <p:spPr>
          <a:xfrm>
            <a:off x="6556248" y="5440680"/>
            <a:ext cx="457200" cy="457200"/>
          </a:xfrm>
          <a:prstGeom prst="roundRect">
            <a:avLst>
              <a:gd name="adj" fmla="val 26000"/>
            </a:avLst>
          </a:prstGeom>
          <a:solidFill>
            <a:srgbClr val="E8F2E2"/>
          </a:solidFill>
          <a:ln w="12700">
            <a:solidFill>
              <a:srgbClr val="E8F2E2"/>
            </a:solidFill>
            <a:prstDash val="solid"/>
          </a:ln>
        </p:spPr>
      </p:sp>
      <p:pic>
        <p:nvPicPr>
          <p:cNvPr id="50" name="Image 8" descr="preencoded.png">    </p:cNvPr>
          <p:cNvPicPr>
            <a:picLocks noChangeAspect="1"/>
          </p:cNvPicPr>
          <p:nvPr/>
        </p:nvPicPr>
        <p:blipFill>
          <a:blip r:embed="rId9"/>
          <a:stretch>
            <a:fillRect/>
          </a:stretch>
        </p:blipFill>
        <p:spPr>
          <a:xfrm>
            <a:off x="6670548" y="5554980"/>
            <a:ext cx="228600" cy="228600"/>
          </a:xfrm>
          <a:prstGeom prst="rect">
            <a:avLst/>
          </a:prstGeom>
        </p:spPr>
      </p:pic>
      <p:sp>
        <p:nvSpPr>
          <p:cNvPr id="51" name="Text 40"/>
          <p:cNvSpPr txBox="1"/>
          <p:nvPr/>
        </p:nvSpPr>
        <p:spPr>
          <a:xfrm>
            <a:off x="7141464" y="5312664"/>
            <a:ext cx="3675888" cy="36576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Kualitas &amp; Produksi</a:t>
            </a:r>
            <a:endParaRPr lang="en-US" sz="1350" dirty="0"/>
          </a:p>
        </p:txBody>
      </p:sp>
      <p:sp>
        <p:nvSpPr>
          <p:cNvPr id="52" name="Text 41"/>
          <p:cNvSpPr txBox="1"/>
          <p:nvPr/>
        </p:nvSpPr>
        <p:spPr>
          <a:xfrm>
            <a:off x="7141464" y="5669280"/>
            <a:ext cx="4114800" cy="365760"/>
          </a:xfrm>
          <a:prstGeom prst="rect">
            <a:avLst/>
          </a:prstGeom>
          <a:noFill/>
          <a:ln/>
        </p:spPr>
        <p:txBody>
          <a:bodyPr wrap="square" lIns="0" tIns="0" rIns="0" bIns="0" rtlCol="0" anchor="t"/>
          <a:lstStyle/>
          <a:p>
            <a:pPr indent="0" marL="0">
              <a:buNone/>
            </a:pPr>
            <a:r>
              <a:rPr lang="en-US" sz="1050" dirty="0">
                <a:solidFill>
                  <a:srgbClr val="5F6F62"/>
                </a:solidFill>
                <a:latin typeface="Calibri" pitchFamily="34" charset="0"/>
                <a:ea typeface="Calibri" pitchFamily="34" charset="-122"/>
                <a:cs typeface="Calibri" pitchFamily="34" charset="-120"/>
              </a:rPr>
              <a:t>Testing, tooling, keamanan, performa, deployment, dan roadmap belajar</a:t>
            </a:r>
            <a:endParaRPr lang="en-US" sz="1050" dirty="0"/>
          </a:p>
        </p:txBody>
      </p:sp>
      <p:sp>
        <p:nvSpPr>
          <p:cNvPr id="53" name="Text 42"/>
          <p:cNvSpPr txBox="1"/>
          <p:nvPr/>
        </p:nvSpPr>
        <p:spPr>
          <a:xfrm>
            <a:off x="10835640" y="5294376"/>
            <a:ext cx="512064" cy="384048"/>
          </a:xfrm>
          <a:prstGeom prst="rect">
            <a:avLst/>
          </a:prstGeom>
          <a:noFill/>
          <a:ln/>
        </p:spPr>
        <p:txBody>
          <a:bodyPr wrap="square" lIns="0" tIns="0" rIns="0" bIns="0" rtlCol="0" anchor="ctr"/>
          <a:lstStyle/>
          <a:p>
            <a:pPr algn="r" indent="0" marL="0">
              <a:buNone/>
            </a:pPr>
            <a:r>
              <a:rPr lang="en-US" sz="1700" b="1" dirty="0">
                <a:solidFill>
                  <a:srgbClr val="D0E2C7"/>
                </a:solidFill>
                <a:latin typeface="Arial" pitchFamily="34" charset="0"/>
                <a:ea typeface="Arial" pitchFamily="34" charset="-122"/>
                <a:cs typeface="Arial" pitchFamily="34" charset="-120"/>
              </a:rPr>
              <a:t>08</a:t>
            </a:r>
            <a:endParaRPr lang="en-US" sz="1700" dirty="0"/>
          </a:p>
        </p:txBody>
      </p:sp>
      <p:sp>
        <p:nvSpPr>
          <p:cNvPr id="54" name="Text 4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5" name="Text 4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01</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Pengenalan Node.js</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Memahami apa itu Node.js, mengapa diciptakan, dan posisinya dalam ekosistem pengembangan perangkat lunak modern.</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Definisi dan karakteristik utama Node.js</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Sejarah dan garis waktu perkembangan</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Perbedaan JavaScript di peramban dan di Node.js</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Apa Itu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Runtime environment JavaScript yang berjalan di luar peramban</a:t>
            </a:r>
            <a:endParaRPr lang="en-US" sz="1300" dirty="0"/>
          </a:p>
        </p:txBody>
      </p:sp>
      <p:sp>
        <p:nvSpPr>
          <p:cNvPr id="6" name="Shape 3"/>
          <p:cNvSpPr/>
          <p:nvPr/>
        </p:nvSpPr>
        <p:spPr>
          <a:xfrm>
            <a:off x="640080" y="1572768"/>
            <a:ext cx="10972800" cy="1207008"/>
          </a:xfrm>
          <a:prstGeom prst="roundRect">
            <a:avLst>
              <a:gd name="adj" fmla="val 6818"/>
            </a:avLst>
          </a:prstGeom>
          <a:solidFill>
            <a:srgbClr val="E8F2E2"/>
          </a:solidFill>
          <a:ln w="12700">
            <a:solidFill>
              <a:srgbClr val="D2E5C8"/>
            </a:solidFill>
            <a:prstDash val="solid"/>
          </a:ln>
        </p:spPr>
      </p:sp>
      <p:sp>
        <p:nvSpPr>
          <p:cNvPr id="7" name="Text 4"/>
          <p:cNvSpPr txBox="1"/>
          <p:nvPr/>
        </p:nvSpPr>
        <p:spPr>
          <a:xfrm>
            <a:off x="914400" y="1719072"/>
            <a:ext cx="10424160" cy="914400"/>
          </a:xfrm>
          <a:prstGeom prst="rect">
            <a:avLst/>
          </a:prstGeom>
          <a:noFill/>
          <a:ln/>
        </p:spPr>
        <p:txBody>
          <a:bodyPr wrap="square" lIns="0" tIns="0" rIns="0" bIns="0" rtlCol="0" anchor="ctr"/>
          <a:lstStyle/>
          <a:p>
            <a:pPr indent="0" marL="0">
              <a:lnSpc>
                <a:spcPct val="118000"/>
              </a:lnSpc>
              <a:buNone/>
            </a:pPr>
            <a:r>
              <a:rPr lang="en-US" sz="1350" b="1" dirty="0">
                <a:solidFill>
                  <a:srgbClr val="3C873A"/>
                </a:solidFill>
                <a:latin typeface="Calibri" pitchFamily="34" charset="0"/>
                <a:ea typeface="Calibri" pitchFamily="34" charset="-122"/>
                <a:cs typeface="Calibri" pitchFamily="34" charset="-120"/>
              </a:rPr>
              <a:t>Node.js</a:t>
            </a:r>
            <a:pPr indent="0" marL="0">
              <a:lnSpc>
                <a:spcPct val="118000"/>
              </a:lnSpc>
              <a:buNone/>
            </a:pPr>
            <a:r>
              <a:rPr lang="en-US" sz="1350" dirty="0">
                <a:solidFill>
                  <a:srgbClr val="2C4433"/>
                </a:solidFill>
                <a:latin typeface="Calibri" pitchFamily="34" charset="0"/>
                <a:ea typeface="Calibri" pitchFamily="34" charset="-122"/>
                <a:cs typeface="Calibri" pitchFamily="34" charset="-120"/>
              </a:rPr>
              <a:t> adalah runtime environment sumber terbuka dan lintas platform yang memungkinkan kode JavaScript dieksekusi di luar peramban. Node.js dibangun di atas mesin JavaScript </a:t>
            </a:r>
            <a:pPr indent="0" marL="0">
              <a:lnSpc>
                <a:spcPct val="118000"/>
              </a:lnSpc>
              <a:buNone/>
            </a:pPr>
            <a:r>
              <a:rPr lang="en-US" sz="1350" b="1" dirty="0">
                <a:solidFill>
                  <a:srgbClr val="16241B"/>
                </a:solidFill>
                <a:latin typeface="Calibri" pitchFamily="34" charset="0"/>
                <a:ea typeface="Calibri" pitchFamily="34" charset="-122"/>
                <a:cs typeface="Calibri" pitchFamily="34" charset="-120"/>
              </a:rPr>
              <a:t>V8</a:t>
            </a:r>
            <a:pPr indent="0" marL="0">
              <a:lnSpc>
                <a:spcPct val="118000"/>
              </a:lnSpc>
              <a:buNone/>
            </a:pPr>
            <a:r>
              <a:rPr lang="en-US" sz="1350" dirty="0">
                <a:solidFill>
                  <a:srgbClr val="2C4433"/>
                </a:solidFill>
                <a:latin typeface="Calibri" pitchFamily="34" charset="0"/>
                <a:ea typeface="Calibri" pitchFamily="34" charset="-122"/>
                <a:cs typeface="Calibri" pitchFamily="34" charset="-120"/>
              </a:rPr>
              <a:t> milik Google Chrome dan menggunakan pustaka </a:t>
            </a:r>
            <a:pPr indent="0" marL="0">
              <a:lnSpc>
                <a:spcPct val="118000"/>
              </a:lnSpc>
              <a:buNone/>
            </a:pPr>
            <a:r>
              <a:rPr lang="en-US" sz="1350" b="1" dirty="0">
                <a:solidFill>
                  <a:srgbClr val="16241B"/>
                </a:solidFill>
                <a:latin typeface="Calibri" pitchFamily="34" charset="0"/>
                <a:ea typeface="Calibri" pitchFamily="34" charset="-122"/>
                <a:cs typeface="Calibri" pitchFamily="34" charset="-120"/>
              </a:rPr>
              <a:t>libuv</a:t>
            </a:r>
            <a:pPr indent="0" marL="0">
              <a:lnSpc>
                <a:spcPct val="118000"/>
              </a:lnSpc>
              <a:buNone/>
            </a:pPr>
            <a:r>
              <a:rPr lang="en-US" sz="1350" dirty="0">
                <a:solidFill>
                  <a:srgbClr val="2C4433"/>
                </a:solidFill>
                <a:latin typeface="Calibri" pitchFamily="34" charset="0"/>
                <a:ea typeface="Calibri" pitchFamily="34" charset="-122"/>
                <a:cs typeface="Calibri" pitchFamily="34" charset="-120"/>
              </a:rPr>
              <a:t> untuk menangani operasi I/O secara asinkron dan non-blocking.</a:t>
            </a:r>
            <a:endParaRPr lang="en-US" sz="1350" dirty="0"/>
          </a:p>
        </p:txBody>
      </p:sp>
      <p:sp>
        <p:nvSpPr>
          <p:cNvPr id="8" name="Shape 5"/>
          <p:cNvSpPr/>
          <p:nvPr/>
        </p:nvSpPr>
        <p:spPr>
          <a:xfrm>
            <a:off x="640080" y="2962656"/>
            <a:ext cx="5349240" cy="1371600"/>
          </a:xfrm>
          <a:prstGeom prst="roundRect">
            <a:avLst>
              <a:gd name="adj" fmla="val 6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9" name="Shape 6"/>
          <p:cNvSpPr/>
          <p:nvPr/>
        </p:nvSpPr>
        <p:spPr>
          <a:xfrm>
            <a:off x="896112" y="3182112"/>
            <a:ext cx="457200" cy="457200"/>
          </a:xfrm>
          <a:prstGeom prst="roundRect">
            <a:avLst>
              <a:gd name="adj" fmla="val 26000"/>
            </a:avLst>
          </a:prstGeom>
          <a:solidFill>
            <a:srgbClr val="FBE9E7"/>
          </a:solidFill>
          <a:ln w="12700">
            <a:solidFill>
              <a:srgbClr val="FBE9E7"/>
            </a:solidFill>
            <a:prstDash val="solid"/>
          </a:ln>
        </p:spPr>
      </p:sp>
      <p:pic>
        <p:nvPicPr>
          <p:cNvPr id="10" name="Image 1" descr="preencoded.png">    </p:cNvPr>
          <p:cNvPicPr>
            <a:picLocks noChangeAspect="1"/>
          </p:cNvPicPr>
          <p:nvPr/>
        </p:nvPicPr>
        <p:blipFill>
          <a:blip r:embed="rId2"/>
          <a:stretch>
            <a:fillRect/>
          </a:stretch>
        </p:blipFill>
        <p:spPr>
          <a:xfrm>
            <a:off x="1010412" y="3296412"/>
            <a:ext cx="228600" cy="228600"/>
          </a:xfrm>
          <a:prstGeom prst="rect">
            <a:avLst/>
          </a:prstGeom>
        </p:spPr>
      </p:pic>
      <p:sp>
        <p:nvSpPr>
          <p:cNvPr id="11" name="Text 7"/>
          <p:cNvSpPr txBox="1"/>
          <p:nvPr/>
        </p:nvSpPr>
        <p:spPr>
          <a:xfrm>
            <a:off x="1499616" y="3182112"/>
            <a:ext cx="4233672" cy="45720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Node.js BUKAN...</a:t>
            </a:r>
            <a:endParaRPr lang="en-US" sz="1350" dirty="0"/>
          </a:p>
        </p:txBody>
      </p:sp>
      <p:sp>
        <p:nvSpPr>
          <p:cNvPr id="12" name="Text 8"/>
          <p:cNvSpPr txBox="1"/>
          <p:nvPr/>
        </p:nvSpPr>
        <p:spPr>
          <a:xfrm>
            <a:off x="896112" y="3749040"/>
            <a:ext cx="4837176" cy="420624"/>
          </a:xfrm>
          <a:prstGeom prst="rect">
            <a:avLst/>
          </a:prstGeom>
          <a:noFill/>
          <a:ln/>
        </p:spPr>
        <p:txBody>
          <a:bodyPr wrap="square" lIns="0" tIns="0" rIns="0" bIns="0" rtlCol="0" anchor="t"/>
          <a:lstStyle/>
          <a:p>
            <a:pPr indent="0" marL="0">
              <a:lnSpc>
                <a:spcPct val="112000"/>
              </a:lnSpc>
              <a:buNone/>
            </a:pPr>
            <a:r>
              <a:rPr lang="en-US" sz="1150" dirty="0">
                <a:solidFill>
                  <a:srgbClr val="5F6F62"/>
                </a:solidFill>
                <a:latin typeface="Calibri" pitchFamily="34" charset="0"/>
                <a:ea typeface="Calibri" pitchFamily="34" charset="-122"/>
                <a:cs typeface="Calibri" pitchFamily="34" charset="-120"/>
              </a:rPr>
              <a:t>Bukan bahasa pemrograman, bukan framework, dan bukan pustaka. Bahasa yang digunakan tetap JavaScript.</a:t>
            </a:r>
            <a:endParaRPr lang="en-US" sz="1150" dirty="0"/>
          </a:p>
        </p:txBody>
      </p:sp>
      <p:sp>
        <p:nvSpPr>
          <p:cNvPr id="13" name="Shape 9"/>
          <p:cNvSpPr/>
          <p:nvPr/>
        </p:nvSpPr>
        <p:spPr>
          <a:xfrm>
            <a:off x="6263640" y="2962656"/>
            <a:ext cx="5349240" cy="1371600"/>
          </a:xfrm>
          <a:prstGeom prst="roundRect">
            <a:avLst>
              <a:gd name="adj" fmla="val 6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4" name="Shape 10"/>
          <p:cNvSpPr/>
          <p:nvPr/>
        </p:nvSpPr>
        <p:spPr>
          <a:xfrm>
            <a:off x="6519672" y="3182112"/>
            <a:ext cx="457200" cy="457200"/>
          </a:xfrm>
          <a:prstGeom prst="roundRect">
            <a:avLst>
              <a:gd name="adj" fmla="val 26000"/>
            </a:avLst>
          </a:prstGeom>
          <a:solidFill>
            <a:srgbClr val="E8F2E2"/>
          </a:solidFill>
          <a:ln w="12700">
            <a:solidFill>
              <a:srgbClr val="E8F2E2"/>
            </a:solidFill>
            <a:prstDash val="solid"/>
          </a:ln>
        </p:spPr>
      </p:sp>
      <p:pic>
        <p:nvPicPr>
          <p:cNvPr id="15" name="Image 2" descr="preencoded.png">    </p:cNvPr>
          <p:cNvPicPr>
            <a:picLocks noChangeAspect="1"/>
          </p:cNvPicPr>
          <p:nvPr/>
        </p:nvPicPr>
        <p:blipFill>
          <a:blip r:embed="rId3"/>
          <a:stretch>
            <a:fillRect/>
          </a:stretch>
        </p:blipFill>
        <p:spPr>
          <a:xfrm>
            <a:off x="6633972" y="3296412"/>
            <a:ext cx="228600" cy="228600"/>
          </a:xfrm>
          <a:prstGeom prst="rect">
            <a:avLst/>
          </a:prstGeom>
        </p:spPr>
      </p:pic>
      <p:sp>
        <p:nvSpPr>
          <p:cNvPr id="16" name="Text 11"/>
          <p:cNvSpPr txBox="1"/>
          <p:nvPr/>
        </p:nvSpPr>
        <p:spPr>
          <a:xfrm>
            <a:off x="7123176" y="3182112"/>
            <a:ext cx="4233672" cy="457200"/>
          </a:xfrm>
          <a:prstGeom prst="rect">
            <a:avLst/>
          </a:prstGeom>
          <a:noFill/>
          <a:ln/>
        </p:spPr>
        <p:txBody>
          <a:bodyPr wrap="square" lIns="0" tIns="0" rIns="0" bIns="0" rtlCol="0" anchor="ctr"/>
          <a:lstStyle/>
          <a:p>
            <a:pPr indent="0" marL="0">
              <a:buNone/>
            </a:pPr>
            <a:r>
              <a:rPr lang="en-US" sz="1350" b="1" dirty="0">
                <a:solidFill>
                  <a:srgbClr val="16241B"/>
                </a:solidFill>
                <a:latin typeface="Arial" pitchFamily="34" charset="0"/>
                <a:ea typeface="Arial" pitchFamily="34" charset="-122"/>
                <a:cs typeface="Arial" pitchFamily="34" charset="-120"/>
              </a:rPr>
              <a:t>Node.js ADALAH...</a:t>
            </a:r>
            <a:endParaRPr lang="en-US" sz="1350" dirty="0"/>
          </a:p>
        </p:txBody>
      </p:sp>
      <p:sp>
        <p:nvSpPr>
          <p:cNvPr id="17" name="Text 12"/>
          <p:cNvSpPr txBox="1"/>
          <p:nvPr/>
        </p:nvSpPr>
        <p:spPr>
          <a:xfrm>
            <a:off x="6519672" y="3749040"/>
            <a:ext cx="4837176" cy="420624"/>
          </a:xfrm>
          <a:prstGeom prst="rect">
            <a:avLst/>
          </a:prstGeom>
          <a:noFill/>
          <a:ln/>
        </p:spPr>
        <p:txBody>
          <a:bodyPr wrap="square" lIns="0" tIns="0" rIns="0" bIns="0" rtlCol="0" anchor="t"/>
          <a:lstStyle/>
          <a:p>
            <a:pPr indent="0" marL="0">
              <a:lnSpc>
                <a:spcPct val="112000"/>
              </a:lnSpc>
              <a:buNone/>
            </a:pPr>
            <a:r>
              <a:rPr lang="en-US" sz="1150" dirty="0">
                <a:solidFill>
                  <a:srgbClr val="5F6F62"/>
                </a:solidFill>
                <a:latin typeface="Calibri" pitchFamily="34" charset="0"/>
                <a:ea typeface="Calibri" pitchFamily="34" charset="-122"/>
                <a:cs typeface="Calibri" pitchFamily="34" charset="-120"/>
              </a:rPr>
              <a:t>Lingkungan eksekusi yang menyediakan API sistem: berkas, jaringan, proses, dan kriptografi.</a:t>
            </a:r>
            <a:endParaRPr lang="en-US" sz="1150" dirty="0"/>
          </a:p>
        </p:txBody>
      </p:sp>
      <p:sp>
        <p:nvSpPr>
          <p:cNvPr id="18" name="Shape 13"/>
          <p:cNvSpPr/>
          <p:nvPr/>
        </p:nvSpPr>
        <p:spPr>
          <a:xfrm>
            <a:off x="640080" y="4572000"/>
            <a:ext cx="2606040" cy="1188720"/>
          </a:xfrm>
          <a:prstGeom prst="roundRect">
            <a:avLst>
              <a:gd name="adj" fmla="val 6923"/>
            </a:avLst>
          </a:prstGeom>
          <a:solidFill>
            <a:srgbClr val="FFFFFF"/>
          </a:solidFill>
          <a:ln w="12700">
            <a:solidFill>
              <a:srgbClr val="E3EBDF"/>
            </a:solidFill>
            <a:prstDash val="solid"/>
          </a:ln>
        </p:spPr>
      </p:sp>
      <p:sp>
        <p:nvSpPr>
          <p:cNvPr id="19" name="Text 14"/>
          <p:cNvSpPr txBox="1"/>
          <p:nvPr/>
        </p:nvSpPr>
        <p:spPr>
          <a:xfrm>
            <a:off x="841248" y="4718304"/>
            <a:ext cx="2240280" cy="493776"/>
          </a:xfrm>
          <a:prstGeom prst="rect">
            <a:avLst/>
          </a:prstGeom>
          <a:noFill/>
          <a:ln/>
        </p:spPr>
        <p:txBody>
          <a:bodyPr wrap="square" lIns="0" tIns="0" rIns="0" bIns="0" rtlCol="0" anchor="ctr"/>
          <a:lstStyle/>
          <a:p>
            <a:pPr indent="0" marL="0">
              <a:buNone/>
            </a:pPr>
            <a:r>
              <a:rPr lang="en-US" sz="2300" b="1" dirty="0">
                <a:solidFill>
                  <a:srgbClr val="3C873A"/>
                </a:solidFill>
                <a:latin typeface="Arial" pitchFamily="34" charset="0"/>
                <a:ea typeface="Arial" pitchFamily="34" charset="-122"/>
                <a:cs typeface="Arial" pitchFamily="34" charset="-120"/>
              </a:rPr>
              <a:t>2009</a:t>
            </a:r>
            <a:endParaRPr lang="en-US" sz="2300" dirty="0"/>
          </a:p>
        </p:txBody>
      </p:sp>
      <p:sp>
        <p:nvSpPr>
          <p:cNvPr id="20" name="Text 15"/>
          <p:cNvSpPr txBox="1"/>
          <p:nvPr/>
        </p:nvSpPr>
        <p:spPr>
          <a:xfrm>
            <a:off x="841248" y="5230368"/>
            <a:ext cx="2240280" cy="420624"/>
          </a:xfrm>
          <a:prstGeom prst="rect">
            <a:avLst/>
          </a:prstGeom>
          <a:noFill/>
          <a:ln/>
        </p:spPr>
        <p:txBody>
          <a:bodyPr wrap="square" lIns="0" tIns="0" rIns="0" bIns="0" rtlCol="0" anchor="t"/>
          <a:lstStyle/>
          <a:p>
            <a:pPr indent="0" marL="0">
              <a:lnSpc>
                <a:spcPct val="105000"/>
              </a:lnSpc>
              <a:buNone/>
            </a:pPr>
            <a:r>
              <a:rPr lang="en-US" sz="1050" dirty="0">
                <a:solidFill>
                  <a:srgbClr val="5F6F62"/>
                </a:solidFill>
                <a:latin typeface="Calibri" pitchFamily="34" charset="0"/>
                <a:ea typeface="Calibri" pitchFamily="34" charset="-122"/>
                <a:cs typeface="Calibri" pitchFamily="34" charset="-120"/>
              </a:rPr>
              <a:t>Tahun rilis pertama Node.js</a:t>
            </a:r>
            <a:endParaRPr lang="en-US" sz="1050" dirty="0"/>
          </a:p>
        </p:txBody>
      </p:sp>
      <p:sp>
        <p:nvSpPr>
          <p:cNvPr id="21" name="Shape 16"/>
          <p:cNvSpPr/>
          <p:nvPr/>
        </p:nvSpPr>
        <p:spPr>
          <a:xfrm>
            <a:off x="3429000" y="4572000"/>
            <a:ext cx="2606040" cy="1188720"/>
          </a:xfrm>
          <a:prstGeom prst="roundRect">
            <a:avLst>
              <a:gd name="adj" fmla="val 6923"/>
            </a:avLst>
          </a:prstGeom>
          <a:solidFill>
            <a:srgbClr val="FFFFFF"/>
          </a:solidFill>
          <a:ln w="12700">
            <a:solidFill>
              <a:srgbClr val="E3EBDF"/>
            </a:solidFill>
            <a:prstDash val="solid"/>
          </a:ln>
        </p:spPr>
      </p:sp>
      <p:sp>
        <p:nvSpPr>
          <p:cNvPr id="22" name="Text 17"/>
          <p:cNvSpPr txBox="1"/>
          <p:nvPr/>
        </p:nvSpPr>
        <p:spPr>
          <a:xfrm>
            <a:off x="3630168" y="4718304"/>
            <a:ext cx="2240280" cy="493776"/>
          </a:xfrm>
          <a:prstGeom prst="rect">
            <a:avLst/>
          </a:prstGeom>
          <a:noFill/>
          <a:ln/>
        </p:spPr>
        <p:txBody>
          <a:bodyPr wrap="square" lIns="0" tIns="0" rIns="0" bIns="0" rtlCol="0" anchor="ctr"/>
          <a:lstStyle/>
          <a:p>
            <a:pPr indent="0" marL="0">
              <a:buNone/>
            </a:pPr>
            <a:r>
              <a:rPr lang="en-US" sz="2300" b="1" dirty="0">
                <a:solidFill>
                  <a:srgbClr val="3C873A"/>
                </a:solidFill>
                <a:latin typeface="Arial" pitchFamily="34" charset="0"/>
                <a:ea typeface="Arial" pitchFamily="34" charset="-122"/>
                <a:cs typeface="Arial" pitchFamily="34" charset="-120"/>
              </a:rPr>
              <a:t>3+ juta</a:t>
            </a:r>
            <a:endParaRPr lang="en-US" sz="2300" dirty="0"/>
          </a:p>
        </p:txBody>
      </p:sp>
      <p:sp>
        <p:nvSpPr>
          <p:cNvPr id="23" name="Text 18"/>
          <p:cNvSpPr txBox="1"/>
          <p:nvPr/>
        </p:nvSpPr>
        <p:spPr>
          <a:xfrm>
            <a:off x="3630168" y="5230368"/>
            <a:ext cx="2240280" cy="420624"/>
          </a:xfrm>
          <a:prstGeom prst="rect">
            <a:avLst/>
          </a:prstGeom>
          <a:noFill/>
          <a:ln/>
        </p:spPr>
        <p:txBody>
          <a:bodyPr wrap="square" lIns="0" tIns="0" rIns="0" bIns="0" rtlCol="0" anchor="t"/>
          <a:lstStyle/>
          <a:p>
            <a:pPr indent="0" marL="0">
              <a:lnSpc>
                <a:spcPct val="105000"/>
              </a:lnSpc>
              <a:buNone/>
            </a:pPr>
            <a:r>
              <a:rPr lang="en-US" sz="1050" dirty="0">
                <a:solidFill>
                  <a:srgbClr val="5F6F62"/>
                </a:solidFill>
                <a:latin typeface="Calibri" pitchFamily="34" charset="0"/>
                <a:ea typeface="Calibri" pitchFamily="34" charset="-122"/>
                <a:cs typeface="Calibri" pitchFamily="34" charset="-120"/>
              </a:rPr>
              <a:t>Paket tersedia di registry NPM</a:t>
            </a:r>
            <a:endParaRPr lang="en-US" sz="1050" dirty="0"/>
          </a:p>
        </p:txBody>
      </p:sp>
      <p:sp>
        <p:nvSpPr>
          <p:cNvPr id="24" name="Shape 19"/>
          <p:cNvSpPr/>
          <p:nvPr/>
        </p:nvSpPr>
        <p:spPr>
          <a:xfrm>
            <a:off x="6217920" y="4572000"/>
            <a:ext cx="2606040" cy="1188720"/>
          </a:xfrm>
          <a:prstGeom prst="roundRect">
            <a:avLst>
              <a:gd name="adj" fmla="val 6923"/>
            </a:avLst>
          </a:prstGeom>
          <a:solidFill>
            <a:srgbClr val="FFFFFF"/>
          </a:solidFill>
          <a:ln w="12700">
            <a:solidFill>
              <a:srgbClr val="E3EBDF"/>
            </a:solidFill>
            <a:prstDash val="solid"/>
          </a:ln>
        </p:spPr>
      </p:sp>
      <p:sp>
        <p:nvSpPr>
          <p:cNvPr id="25" name="Text 20"/>
          <p:cNvSpPr txBox="1"/>
          <p:nvPr/>
        </p:nvSpPr>
        <p:spPr>
          <a:xfrm>
            <a:off x="6419088" y="4718304"/>
            <a:ext cx="2240280" cy="493776"/>
          </a:xfrm>
          <a:prstGeom prst="rect">
            <a:avLst/>
          </a:prstGeom>
          <a:noFill/>
          <a:ln/>
        </p:spPr>
        <p:txBody>
          <a:bodyPr wrap="square" lIns="0" tIns="0" rIns="0" bIns="0" rtlCol="0" anchor="ctr"/>
          <a:lstStyle/>
          <a:p>
            <a:pPr indent="0" marL="0">
              <a:buNone/>
            </a:pPr>
            <a:r>
              <a:rPr lang="en-US" sz="2300" b="1" dirty="0">
                <a:solidFill>
                  <a:srgbClr val="3C873A"/>
                </a:solidFill>
                <a:latin typeface="Arial" pitchFamily="34" charset="0"/>
                <a:ea typeface="Arial" pitchFamily="34" charset="-122"/>
                <a:cs typeface="Arial" pitchFamily="34" charset="-120"/>
              </a:rPr>
              <a:t>30 bulan</a:t>
            </a:r>
            <a:endParaRPr lang="en-US" sz="2300" dirty="0"/>
          </a:p>
        </p:txBody>
      </p:sp>
      <p:sp>
        <p:nvSpPr>
          <p:cNvPr id="26" name="Text 21"/>
          <p:cNvSpPr txBox="1"/>
          <p:nvPr/>
        </p:nvSpPr>
        <p:spPr>
          <a:xfrm>
            <a:off x="6419088" y="5230368"/>
            <a:ext cx="2240280" cy="420624"/>
          </a:xfrm>
          <a:prstGeom prst="rect">
            <a:avLst/>
          </a:prstGeom>
          <a:noFill/>
          <a:ln/>
        </p:spPr>
        <p:txBody>
          <a:bodyPr wrap="square" lIns="0" tIns="0" rIns="0" bIns="0" rtlCol="0" anchor="t"/>
          <a:lstStyle/>
          <a:p>
            <a:pPr indent="0" marL="0">
              <a:lnSpc>
                <a:spcPct val="105000"/>
              </a:lnSpc>
              <a:buNone/>
            </a:pPr>
            <a:r>
              <a:rPr lang="en-US" sz="1050" dirty="0">
                <a:solidFill>
                  <a:srgbClr val="5F6F62"/>
                </a:solidFill>
                <a:latin typeface="Calibri" pitchFamily="34" charset="0"/>
                <a:ea typeface="Calibri" pitchFamily="34" charset="-122"/>
                <a:cs typeface="Calibri" pitchFamily="34" charset="-120"/>
              </a:rPr>
              <a:t>Masa dukungan setiap rilis LTS</a:t>
            </a:r>
            <a:endParaRPr lang="en-US" sz="1050" dirty="0"/>
          </a:p>
        </p:txBody>
      </p:sp>
      <p:sp>
        <p:nvSpPr>
          <p:cNvPr id="27" name="Shape 22"/>
          <p:cNvSpPr/>
          <p:nvPr/>
        </p:nvSpPr>
        <p:spPr>
          <a:xfrm>
            <a:off x="9006840" y="4572000"/>
            <a:ext cx="2606040" cy="1188720"/>
          </a:xfrm>
          <a:prstGeom prst="roundRect">
            <a:avLst>
              <a:gd name="adj" fmla="val 6923"/>
            </a:avLst>
          </a:prstGeom>
          <a:solidFill>
            <a:srgbClr val="FFFFFF"/>
          </a:solidFill>
          <a:ln w="12700">
            <a:solidFill>
              <a:srgbClr val="E3EBDF"/>
            </a:solidFill>
            <a:prstDash val="solid"/>
          </a:ln>
        </p:spPr>
      </p:sp>
      <p:sp>
        <p:nvSpPr>
          <p:cNvPr id="28" name="Text 23"/>
          <p:cNvSpPr txBox="1"/>
          <p:nvPr/>
        </p:nvSpPr>
        <p:spPr>
          <a:xfrm>
            <a:off x="9208008" y="4718304"/>
            <a:ext cx="2240280" cy="493776"/>
          </a:xfrm>
          <a:prstGeom prst="rect">
            <a:avLst/>
          </a:prstGeom>
          <a:noFill/>
          <a:ln/>
        </p:spPr>
        <p:txBody>
          <a:bodyPr wrap="square" lIns="0" tIns="0" rIns="0" bIns="0" rtlCol="0" anchor="ctr"/>
          <a:lstStyle/>
          <a:p>
            <a:pPr indent="0" marL="0">
              <a:buNone/>
            </a:pPr>
            <a:r>
              <a:rPr lang="en-US" sz="2300" b="1" dirty="0">
                <a:solidFill>
                  <a:srgbClr val="3C873A"/>
                </a:solidFill>
                <a:latin typeface="Arial" pitchFamily="34" charset="0"/>
                <a:ea typeface="Arial" pitchFamily="34" charset="-122"/>
                <a:cs typeface="Arial" pitchFamily="34" charset="-120"/>
              </a:rPr>
              <a:t>V8</a:t>
            </a:r>
            <a:endParaRPr lang="en-US" sz="2300" dirty="0"/>
          </a:p>
        </p:txBody>
      </p:sp>
      <p:sp>
        <p:nvSpPr>
          <p:cNvPr id="29" name="Text 24"/>
          <p:cNvSpPr txBox="1"/>
          <p:nvPr/>
        </p:nvSpPr>
        <p:spPr>
          <a:xfrm>
            <a:off x="9208008" y="5230368"/>
            <a:ext cx="2240280" cy="420624"/>
          </a:xfrm>
          <a:prstGeom prst="rect">
            <a:avLst/>
          </a:prstGeom>
          <a:noFill/>
          <a:ln/>
        </p:spPr>
        <p:txBody>
          <a:bodyPr wrap="square" lIns="0" tIns="0" rIns="0" bIns="0" rtlCol="0" anchor="t"/>
          <a:lstStyle/>
          <a:p>
            <a:pPr indent="0" marL="0">
              <a:lnSpc>
                <a:spcPct val="105000"/>
              </a:lnSpc>
              <a:buNone/>
            </a:pPr>
            <a:r>
              <a:rPr lang="en-US" sz="1050" dirty="0">
                <a:solidFill>
                  <a:srgbClr val="5F6F62"/>
                </a:solidFill>
                <a:latin typeface="Calibri" pitchFamily="34" charset="0"/>
                <a:ea typeface="Calibri" pitchFamily="34" charset="-122"/>
                <a:cs typeface="Calibri" pitchFamily="34" charset="-120"/>
              </a:rPr>
              <a:t>Mesin JavaScript yang digunakan</a:t>
            </a:r>
            <a:endParaRPr lang="en-US" sz="1050" dirty="0"/>
          </a:p>
        </p:txBody>
      </p:sp>
      <p:sp>
        <p:nvSpPr>
          <p:cNvPr id="30" name="Text 25"/>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1" name="Text 26"/>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Sejarah &amp; Perkembangan</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Dari eksperimen Ryan Dahl hingga proyek OpenJS Foundation berskala global</a:t>
            </a:r>
            <a:endParaRPr lang="en-US" sz="1300" dirty="0"/>
          </a:p>
        </p:txBody>
      </p:sp>
      <p:sp>
        <p:nvSpPr>
          <p:cNvPr id="6" name="Shape 3"/>
          <p:cNvSpPr/>
          <p:nvPr/>
        </p:nvSpPr>
        <p:spPr>
          <a:xfrm>
            <a:off x="640080" y="1645920"/>
            <a:ext cx="1975104" cy="2395728"/>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41248" y="1828800"/>
            <a:ext cx="969264" cy="365760"/>
          </a:xfrm>
          <a:prstGeom prst="roundRect">
            <a:avLst>
              <a:gd name="adj" fmla="val 50000"/>
            </a:avLst>
          </a:prstGeom>
          <a:solidFill>
            <a:srgbClr val="3C873A"/>
          </a:solidFill>
          <a:ln w="12700">
            <a:solidFill>
              <a:srgbClr val="3C873A"/>
            </a:solidFill>
            <a:prstDash val="solid"/>
          </a:ln>
        </p:spPr>
      </p:sp>
      <p:sp>
        <p:nvSpPr>
          <p:cNvPr id="8" name="Text 5"/>
          <p:cNvSpPr txBox="1"/>
          <p:nvPr/>
        </p:nvSpPr>
        <p:spPr>
          <a:xfrm>
            <a:off x="841248" y="1828800"/>
            <a:ext cx="96926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2009</a:t>
            </a:r>
            <a:endParaRPr lang="en-US" sz="1200" dirty="0"/>
          </a:p>
        </p:txBody>
      </p:sp>
      <p:sp>
        <p:nvSpPr>
          <p:cNvPr id="9" name="Text 6"/>
          <p:cNvSpPr txBox="1"/>
          <p:nvPr/>
        </p:nvSpPr>
        <p:spPr>
          <a:xfrm>
            <a:off x="841248" y="2286000"/>
            <a:ext cx="1572768" cy="310896"/>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Kelahiran</a:t>
            </a:r>
            <a:endParaRPr lang="en-US" sz="1250" dirty="0"/>
          </a:p>
        </p:txBody>
      </p:sp>
      <p:sp>
        <p:nvSpPr>
          <p:cNvPr id="10" name="Text 7"/>
          <p:cNvSpPr txBox="1"/>
          <p:nvPr/>
        </p:nvSpPr>
        <p:spPr>
          <a:xfrm>
            <a:off x="841248" y="2651760"/>
            <a:ext cx="1572768" cy="1280160"/>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Ryan Dahl memperkenalkan Node.js di JSConf EU sebagai jawaban atas masalah blocking I/O pada server tradisional.</a:t>
            </a:r>
            <a:endParaRPr lang="en-US" sz="1020" dirty="0"/>
          </a:p>
        </p:txBody>
      </p:sp>
      <p:pic>
        <p:nvPicPr>
          <p:cNvPr id="11" name="Image 1" descr="preencoded.png">    </p:cNvPr>
          <p:cNvPicPr>
            <a:picLocks noChangeAspect="1"/>
          </p:cNvPicPr>
          <p:nvPr/>
        </p:nvPicPr>
        <p:blipFill>
          <a:blip r:embed="rId2"/>
          <a:stretch>
            <a:fillRect/>
          </a:stretch>
        </p:blipFill>
        <p:spPr>
          <a:xfrm>
            <a:off x="2642616" y="2743200"/>
            <a:ext cx="201168" cy="201168"/>
          </a:xfrm>
          <a:prstGeom prst="rect">
            <a:avLst/>
          </a:prstGeom>
        </p:spPr>
      </p:pic>
      <p:sp>
        <p:nvSpPr>
          <p:cNvPr id="12" name="Shape 8"/>
          <p:cNvSpPr/>
          <p:nvPr/>
        </p:nvSpPr>
        <p:spPr>
          <a:xfrm>
            <a:off x="2871216" y="1645920"/>
            <a:ext cx="1975104" cy="2395728"/>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3" name="Shape 9"/>
          <p:cNvSpPr/>
          <p:nvPr/>
        </p:nvSpPr>
        <p:spPr>
          <a:xfrm>
            <a:off x="3072384" y="1828800"/>
            <a:ext cx="969264" cy="365760"/>
          </a:xfrm>
          <a:prstGeom prst="roundRect">
            <a:avLst>
              <a:gd name="adj" fmla="val 50000"/>
            </a:avLst>
          </a:prstGeom>
          <a:solidFill>
            <a:srgbClr val="3C873A"/>
          </a:solidFill>
          <a:ln w="12700">
            <a:solidFill>
              <a:srgbClr val="3C873A"/>
            </a:solidFill>
            <a:prstDash val="solid"/>
          </a:ln>
        </p:spPr>
      </p:sp>
      <p:sp>
        <p:nvSpPr>
          <p:cNvPr id="14" name="Text 10"/>
          <p:cNvSpPr txBox="1"/>
          <p:nvPr/>
        </p:nvSpPr>
        <p:spPr>
          <a:xfrm>
            <a:off x="3072384" y="1828800"/>
            <a:ext cx="96926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2010</a:t>
            </a:r>
            <a:endParaRPr lang="en-US" sz="1200" dirty="0"/>
          </a:p>
        </p:txBody>
      </p:sp>
      <p:sp>
        <p:nvSpPr>
          <p:cNvPr id="15" name="Text 11"/>
          <p:cNvSpPr txBox="1"/>
          <p:nvPr/>
        </p:nvSpPr>
        <p:spPr>
          <a:xfrm>
            <a:off x="3072384" y="2286000"/>
            <a:ext cx="1572768" cy="310896"/>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NPM Hadir</a:t>
            </a:r>
            <a:endParaRPr lang="en-US" sz="1250" dirty="0"/>
          </a:p>
        </p:txBody>
      </p:sp>
      <p:sp>
        <p:nvSpPr>
          <p:cNvPr id="16" name="Text 12"/>
          <p:cNvSpPr txBox="1"/>
          <p:nvPr/>
        </p:nvSpPr>
        <p:spPr>
          <a:xfrm>
            <a:off x="3072384" y="2651760"/>
            <a:ext cx="1572768" cy="1280160"/>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Isaac Schlueter merilis NPM sebagai package manager, yang kemudian menjadi registry perangkat lunak terbesar di dunia.</a:t>
            </a:r>
            <a:endParaRPr lang="en-US" sz="1020" dirty="0"/>
          </a:p>
        </p:txBody>
      </p:sp>
      <p:pic>
        <p:nvPicPr>
          <p:cNvPr id="17" name="Image 2" descr="preencoded.png">    </p:cNvPr>
          <p:cNvPicPr>
            <a:picLocks noChangeAspect="1"/>
          </p:cNvPicPr>
          <p:nvPr/>
        </p:nvPicPr>
        <p:blipFill>
          <a:blip r:embed="rId3"/>
          <a:stretch>
            <a:fillRect/>
          </a:stretch>
        </p:blipFill>
        <p:spPr>
          <a:xfrm>
            <a:off x="4873752" y="2743200"/>
            <a:ext cx="201168" cy="201168"/>
          </a:xfrm>
          <a:prstGeom prst="rect">
            <a:avLst/>
          </a:prstGeom>
        </p:spPr>
      </p:pic>
      <p:sp>
        <p:nvSpPr>
          <p:cNvPr id="18" name="Shape 13"/>
          <p:cNvSpPr/>
          <p:nvPr/>
        </p:nvSpPr>
        <p:spPr>
          <a:xfrm>
            <a:off x="5102352" y="1645920"/>
            <a:ext cx="1975104" cy="2395728"/>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9" name="Shape 14"/>
          <p:cNvSpPr/>
          <p:nvPr/>
        </p:nvSpPr>
        <p:spPr>
          <a:xfrm>
            <a:off x="5303520" y="1828800"/>
            <a:ext cx="969264" cy="365760"/>
          </a:xfrm>
          <a:prstGeom prst="roundRect">
            <a:avLst>
              <a:gd name="adj" fmla="val 50000"/>
            </a:avLst>
          </a:prstGeom>
          <a:solidFill>
            <a:srgbClr val="3C873A"/>
          </a:solidFill>
          <a:ln w="12700">
            <a:solidFill>
              <a:srgbClr val="3C873A"/>
            </a:solidFill>
            <a:prstDash val="solid"/>
          </a:ln>
        </p:spPr>
      </p:sp>
      <p:sp>
        <p:nvSpPr>
          <p:cNvPr id="20" name="Text 15"/>
          <p:cNvSpPr txBox="1"/>
          <p:nvPr/>
        </p:nvSpPr>
        <p:spPr>
          <a:xfrm>
            <a:off x="5303520" y="1828800"/>
            <a:ext cx="96926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2015</a:t>
            </a:r>
            <a:endParaRPr lang="en-US" sz="1200" dirty="0"/>
          </a:p>
        </p:txBody>
      </p:sp>
      <p:sp>
        <p:nvSpPr>
          <p:cNvPr id="21" name="Text 16"/>
          <p:cNvSpPr txBox="1"/>
          <p:nvPr/>
        </p:nvSpPr>
        <p:spPr>
          <a:xfrm>
            <a:off x="5303520" y="2286000"/>
            <a:ext cx="1572768" cy="310896"/>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Penyatuan io.js</a:t>
            </a:r>
            <a:endParaRPr lang="en-US" sz="1250" dirty="0"/>
          </a:p>
        </p:txBody>
      </p:sp>
      <p:sp>
        <p:nvSpPr>
          <p:cNvPr id="22" name="Text 17"/>
          <p:cNvSpPr txBox="1"/>
          <p:nvPr/>
        </p:nvSpPr>
        <p:spPr>
          <a:xfrm>
            <a:off x="5303520" y="2651760"/>
            <a:ext cx="1572768" cy="1280160"/>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Setelah perpecahan menjadi io.js, kedua proyek bersatu di bawah Node.js Foundation dan merilis Node.js 4.0.</a:t>
            </a:r>
            <a:endParaRPr lang="en-US" sz="1020" dirty="0"/>
          </a:p>
        </p:txBody>
      </p:sp>
      <p:pic>
        <p:nvPicPr>
          <p:cNvPr id="23" name="Image 3" descr="preencoded.png">    </p:cNvPr>
          <p:cNvPicPr>
            <a:picLocks noChangeAspect="1"/>
          </p:cNvPicPr>
          <p:nvPr/>
        </p:nvPicPr>
        <p:blipFill>
          <a:blip r:embed="rId4"/>
          <a:stretch>
            <a:fillRect/>
          </a:stretch>
        </p:blipFill>
        <p:spPr>
          <a:xfrm>
            <a:off x="7104888" y="2743200"/>
            <a:ext cx="201168" cy="201168"/>
          </a:xfrm>
          <a:prstGeom prst="rect">
            <a:avLst/>
          </a:prstGeom>
        </p:spPr>
      </p:pic>
      <p:sp>
        <p:nvSpPr>
          <p:cNvPr id="24" name="Shape 18"/>
          <p:cNvSpPr/>
          <p:nvPr/>
        </p:nvSpPr>
        <p:spPr>
          <a:xfrm>
            <a:off x="7333488" y="1645920"/>
            <a:ext cx="1975104" cy="2395728"/>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5" name="Shape 19"/>
          <p:cNvSpPr/>
          <p:nvPr/>
        </p:nvSpPr>
        <p:spPr>
          <a:xfrm>
            <a:off x="7534656" y="1828800"/>
            <a:ext cx="969264" cy="365760"/>
          </a:xfrm>
          <a:prstGeom prst="roundRect">
            <a:avLst>
              <a:gd name="adj" fmla="val 50000"/>
            </a:avLst>
          </a:prstGeom>
          <a:solidFill>
            <a:srgbClr val="3C873A"/>
          </a:solidFill>
          <a:ln w="12700">
            <a:solidFill>
              <a:srgbClr val="3C873A"/>
            </a:solidFill>
            <a:prstDash val="solid"/>
          </a:ln>
        </p:spPr>
      </p:sp>
      <p:sp>
        <p:nvSpPr>
          <p:cNvPr id="26" name="Text 20"/>
          <p:cNvSpPr txBox="1"/>
          <p:nvPr/>
        </p:nvSpPr>
        <p:spPr>
          <a:xfrm>
            <a:off x="7534656" y="1828800"/>
            <a:ext cx="96926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2019</a:t>
            </a:r>
            <a:endParaRPr lang="en-US" sz="1200" dirty="0"/>
          </a:p>
        </p:txBody>
      </p:sp>
      <p:sp>
        <p:nvSpPr>
          <p:cNvPr id="27" name="Text 21"/>
          <p:cNvSpPr txBox="1"/>
          <p:nvPr/>
        </p:nvSpPr>
        <p:spPr>
          <a:xfrm>
            <a:off x="7534656" y="2286000"/>
            <a:ext cx="1572768" cy="310896"/>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OpenJS Foundation</a:t>
            </a:r>
            <a:endParaRPr lang="en-US" sz="1250" dirty="0"/>
          </a:p>
        </p:txBody>
      </p:sp>
      <p:sp>
        <p:nvSpPr>
          <p:cNvPr id="28" name="Text 22"/>
          <p:cNvSpPr txBox="1"/>
          <p:nvPr/>
        </p:nvSpPr>
        <p:spPr>
          <a:xfrm>
            <a:off x="7534656" y="2651760"/>
            <a:ext cx="1572768" cy="1280160"/>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Node.js Foundation bergabung dengan JS Foundation membentuk OpenJS Foundation sebagai pengelola resmi.</a:t>
            </a:r>
            <a:endParaRPr lang="en-US" sz="1020" dirty="0"/>
          </a:p>
        </p:txBody>
      </p:sp>
      <p:pic>
        <p:nvPicPr>
          <p:cNvPr id="29" name="Image 4" descr="preencoded.png">    </p:cNvPr>
          <p:cNvPicPr>
            <a:picLocks noChangeAspect="1"/>
          </p:cNvPicPr>
          <p:nvPr/>
        </p:nvPicPr>
        <p:blipFill>
          <a:blip r:embed="rId5"/>
          <a:stretch>
            <a:fillRect/>
          </a:stretch>
        </p:blipFill>
        <p:spPr>
          <a:xfrm>
            <a:off x="9336024" y="2743200"/>
            <a:ext cx="201168" cy="201168"/>
          </a:xfrm>
          <a:prstGeom prst="rect">
            <a:avLst/>
          </a:prstGeom>
        </p:spPr>
      </p:pic>
      <p:sp>
        <p:nvSpPr>
          <p:cNvPr id="30" name="Shape 23"/>
          <p:cNvSpPr/>
          <p:nvPr/>
        </p:nvSpPr>
        <p:spPr>
          <a:xfrm>
            <a:off x="9564624" y="1645920"/>
            <a:ext cx="1975104" cy="2395728"/>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1" name="Shape 24"/>
          <p:cNvSpPr/>
          <p:nvPr/>
        </p:nvSpPr>
        <p:spPr>
          <a:xfrm>
            <a:off x="9765792" y="1828800"/>
            <a:ext cx="969264" cy="365760"/>
          </a:xfrm>
          <a:prstGeom prst="roundRect">
            <a:avLst>
              <a:gd name="adj" fmla="val 50000"/>
            </a:avLst>
          </a:prstGeom>
          <a:solidFill>
            <a:srgbClr val="3C873A"/>
          </a:solidFill>
          <a:ln w="12700">
            <a:solidFill>
              <a:srgbClr val="3C873A"/>
            </a:solidFill>
            <a:prstDash val="solid"/>
          </a:ln>
        </p:spPr>
      </p:sp>
      <p:sp>
        <p:nvSpPr>
          <p:cNvPr id="32" name="Text 25"/>
          <p:cNvSpPr txBox="1"/>
          <p:nvPr/>
        </p:nvSpPr>
        <p:spPr>
          <a:xfrm>
            <a:off x="9765792" y="1828800"/>
            <a:ext cx="969264"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Kini</a:t>
            </a:r>
            <a:endParaRPr lang="en-US" sz="1200" dirty="0"/>
          </a:p>
        </p:txBody>
      </p:sp>
      <p:sp>
        <p:nvSpPr>
          <p:cNvPr id="33" name="Text 26"/>
          <p:cNvSpPr txBox="1"/>
          <p:nvPr/>
        </p:nvSpPr>
        <p:spPr>
          <a:xfrm>
            <a:off x="9765792" y="2286000"/>
            <a:ext cx="1572768" cy="310896"/>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Matang &amp; Stabil</a:t>
            </a:r>
            <a:endParaRPr lang="en-US" sz="1250" dirty="0"/>
          </a:p>
        </p:txBody>
      </p:sp>
      <p:sp>
        <p:nvSpPr>
          <p:cNvPr id="34" name="Text 27"/>
          <p:cNvSpPr txBox="1"/>
          <p:nvPr/>
        </p:nvSpPr>
        <p:spPr>
          <a:xfrm>
            <a:off x="9765792" y="2651760"/>
            <a:ext cx="1572768" cy="1280160"/>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Rilis LTS berkala tiap tahun, dukungan ESM penuh, worker threads, test runner bawaan, dan fetch API native.</a:t>
            </a:r>
            <a:endParaRPr lang="en-US" sz="1020" dirty="0"/>
          </a:p>
        </p:txBody>
      </p:sp>
      <p:sp>
        <p:nvSpPr>
          <p:cNvPr id="35" name="Shape 28"/>
          <p:cNvSpPr/>
          <p:nvPr/>
        </p:nvSpPr>
        <p:spPr>
          <a:xfrm>
            <a:off x="640080" y="4315968"/>
            <a:ext cx="10972800" cy="1170432"/>
          </a:xfrm>
          <a:prstGeom prst="roundRect">
            <a:avLst>
              <a:gd name="adj" fmla="val 7031"/>
            </a:avLst>
          </a:prstGeom>
          <a:solidFill>
            <a:srgbClr val="E8F2E2"/>
          </a:solidFill>
          <a:ln w="12700">
            <a:solidFill>
              <a:srgbClr val="D2E5C8"/>
            </a:solidFill>
            <a:prstDash val="solid"/>
          </a:ln>
        </p:spPr>
      </p:sp>
      <p:pic>
        <p:nvPicPr>
          <p:cNvPr id="36" name="Image 5" descr="preencoded.png">    </p:cNvPr>
          <p:cNvPicPr>
            <a:picLocks noChangeAspect="1"/>
          </p:cNvPicPr>
          <p:nvPr/>
        </p:nvPicPr>
        <p:blipFill>
          <a:blip r:embed="rId6"/>
          <a:stretch>
            <a:fillRect/>
          </a:stretch>
        </p:blipFill>
        <p:spPr>
          <a:xfrm>
            <a:off x="914400" y="4709160"/>
            <a:ext cx="384048" cy="384048"/>
          </a:xfrm>
          <a:prstGeom prst="rect">
            <a:avLst/>
          </a:prstGeom>
        </p:spPr>
      </p:pic>
      <p:sp>
        <p:nvSpPr>
          <p:cNvPr id="37" name="Text 29"/>
          <p:cNvSpPr txBox="1"/>
          <p:nvPr/>
        </p:nvSpPr>
        <p:spPr>
          <a:xfrm>
            <a:off x="1481328" y="4462272"/>
            <a:ext cx="9921240" cy="877824"/>
          </a:xfrm>
          <a:prstGeom prst="rect">
            <a:avLst/>
          </a:prstGeom>
          <a:noFill/>
          <a:ln/>
        </p:spPr>
        <p:txBody>
          <a:bodyPr wrap="square" lIns="0" tIns="0" rIns="0" bIns="0" rtlCol="0" anchor="ctr"/>
          <a:lstStyle/>
          <a:p>
            <a:pPr indent="0" marL="0">
              <a:lnSpc>
                <a:spcPct val="115000"/>
              </a:lnSpc>
              <a:buNone/>
            </a:pPr>
            <a:r>
              <a:rPr lang="en-US" sz="1200" b="1" dirty="0">
                <a:solidFill>
                  <a:srgbClr val="3C873A"/>
                </a:solidFill>
                <a:latin typeface="Calibri" pitchFamily="34" charset="0"/>
                <a:ea typeface="Calibri" pitchFamily="34" charset="-122"/>
                <a:cs typeface="Calibri" pitchFamily="34" charset="-120"/>
              </a:rPr>
              <a:t>Masalah yang dipecahkan: </a:t>
            </a:r>
            <a:pPr indent="0" marL="0">
              <a:lnSpc>
                <a:spcPct val="115000"/>
              </a:lnSpc>
              <a:buNone/>
            </a:pPr>
            <a:r>
              <a:rPr lang="en-US" sz="1200" dirty="0">
                <a:solidFill>
                  <a:srgbClr val="2C4433"/>
                </a:solidFill>
                <a:latin typeface="Calibri" pitchFamily="34" charset="0"/>
                <a:ea typeface="Calibri" pitchFamily="34" charset="-122"/>
                <a:cs typeface="Calibri" pitchFamily="34" charset="-120"/>
              </a:rPr>
              <a:t>server konvensional membuat satu thread untuk setiap koneksi sehingga boros memori ketika ribuan koneksi terbuka bersamaan. Node.js menawarkan satu thread dengan event loop yang menangani banyak koneksi secara bergantian — pendekatan yang jauh lebih hemat sumber daya untuk aplikasi I/O-intensif.</a:t>
            </a:r>
            <a:endParaRPr lang="en-US" sz="1200" dirty="0"/>
          </a:p>
        </p:txBody>
      </p:sp>
      <p:sp>
        <p:nvSpPr>
          <p:cNvPr id="38" name="Text 30"/>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9" name="Text 3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Karakteristik Utama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Enam sifat mendasar yang membedakan Node.js dari platform server lain</a:t>
            </a:r>
            <a:endParaRPr lang="en-US" sz="1300" dirty="0"/>
          </a:p>
        </p:txBody>
      </p:sp>
      <p:sp>
        <p:nvSpPr>
          <p:cNvPr id="6" name="Shape 3"/>
          <p:cNvSpPr/>
          <p:nvPr/>
        </p:nvSpPr>
        <p:spPr>
          <a:xfrm>
            <a:off x="640080" y="1645920"/>
            <a:ext cx="3520440" cy="1645920"/>
          </a:xfrm>
          <a:prstGeom prst="roundRect">
            <a:avLst>
              <a:gd name="adj" fmla="val 5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65376"/>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79676"/>
            <a:ext cx="228600" cy="228600"/>
          </a:xfrm>
          <a:prstGeom prst="rect">
            <a:avLst/>
          </a:prstGeom>
        </p:spPr>
      </p:pic>
      <p:sp>
        <p:nvSpPr>
          <p:cNvPr id="9" name="Text 5"/>
          <p:cNvSpPr txBox="1"/>
          <p:nvPr/>
        </p:nvSpPr>
        <p:spPr>
          <a:xfrm>
            <a:off x="1499616" y="1865376"/>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Asinkron &amp; Non-Blocking</a:t>
            </a:r>
            <a:endParaRPr lang="en-US" sz="1250" dirty="0"/>
          </a:p>
        </p:txBody>
      </p:sp>
      <p:sp>
        <p:nvSpPr>
          <p:cNvPr id="10" name="Text 6"/>
          <p:cNvSpPr txBox="1"/>
          <p:nvPr/>
        </p:nvSpPr>
        <p:spPr>
          <a:xfrm>
            <a:off x="896112" y="2432304"/>
            <a:ext cx="3008376" cy="6949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Operasi I/O berjalan tanpa menghentikan eksekusi. Node.js melanjutkan tugas lain sambil menunggu hasil.</a:t>
            </a:r>
            <a:endParaRPr lang="en-US" sz="1080" dirty="0"/>
          </a:p>
        </p:txBody>
      </p:sp>
      <p:sp>
        <p:nvSpPr>
          <p:cNvPr id="11" name="Shape 7"/>
          <p:cNvSpPr/>
          <p:nvPr/>
        </p:nvSpPr>
        <p:spPr>
          <a:xfrm>
            <a:off x="4443984" y="1645920"/>
            <a:ext cx="3520440" cy="1645920"/>
          </a:xfrm>
          <a:prstGeom prst="roundRect">
            <a:avLst>
              <a:gd name="adj" fmla="val 5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4700016" y="1865376"/>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4814316" y="1979676"/>
            <a:ext cx="228600" cy="228600"/>
          </a:xfrm>
          <a:prstGeom prst="rect">
            <a:avLst/>
          </a:prstGeom>
        </p:spPr>
      </p:pic>
      <p:sp>
        <p:nvSpPr>
          <p:cNvPr id="14" name="Text 9"/>
          <p:cNvSpPr txBox="1"/>
          <p:nvPr/>
        </p:nvSpPr>
        <p:spPr>
          <a:xfrm>
            <a:off x="5303520" y="1865376"/>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Single-Threaded Event Loop</a:t>
            </a:r>
            <a:endParaRPr lang="en-US" sz="1250" dirty="0"/>
          </a:p>
        </p:txBody>
      </p:sp>
      <p:sp>
        <p:nvSpPr>
          <p:cNvPr id="15" name="Text 10"/>
          <p:cNvSpPr txBox="1"/>
          <p:nvPr/>
        </p:nvSpPr>
        <p:spPr>
          <a:xfrm>
            <a:off x="4700016" y="2432304"/>
            <a:ext cx="3008376" cy="6949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Satu thread utama menangani banyak permintaan melalui event loop, dibantu thread pool untuk tugas berat.</a:t>
            </a:r>
            <a:endParaRPr lang="en-US" sz="1080" dirty="0"/>
          </a:p>
        </p:txBody>
      </p:sp>
      <p:sp>
        <p:nvSpPr>
          <p:cNvPr id="16" name="Shape 11"/>
          <p:cNvSpPr/>
          <p:nvPr/>
        </p:nvSpPr>
        <p:spPr>
          <a:xfrm>
            <a:off x="8247888" y="1645920"/>
            <a:ext cx="3520440" cy="1645920"/>
          </a:xfrm>
          <a:prstGeom prst="roundRect">
            <a:avLst>
              <a:gd name="adj" fmla="val 5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8503920" y="1865376"/>
            <a:ext cx="457200" cy="457200"/>
          </a:xfrm>
          <a:prstGeom prst="roundRect">
            <a:avLst>
              <a:gd name="adj" fmla="val 26000"/>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8618220" y="1979676"/>
            <a:ext cx="228600" cy="228600"/>
          </a:xfrm>
          <a:prstGeom prst="rect">
            <a:avLst/>
          </a:prstGeom>
        </p:spPr>
      </p:pic>
      <p:sp>
        <p:nvSpPr>
          <p:cNvPr id="19" name="Text 13"/>
          <p:cNvSpPr txBox="1"/>
          <p:nvPr/>
        </p:nvSpPr>
        <p:spPr>
          <a:xfrm>
            <a:off x="9107424" y="1865376"/>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Cepat &amp; Ringan</a:t>
            </a:r>
            <a:endParaRPr lang="en-US" sz="1250" dirty="0"/>
          </a:p>
        </p:txBody>
      </p:sp>
      <p:sp>
        <p:nvSpPr>
          <p:cNvPr id="20" name="Text 14"/>
          <p:cNvSpPr txBox="1"/>
          <p:nvPr/>
        </p:nvSpPr>
        <p:spPr>
          <a:xfrm>
            <a:off x="8503920" y="2432304"/>
            <a:ext cx="3008376" cy="6949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Mesin V8 mengompilasi JavaScript langsung ke kode mesin sehingga eksekusi sangat cepat.</a:t>
            </a:r>
            <a:endParaRPr lang="en-US" sz="1080" dirty="0"/>
          </a:p>
        </p:txBody>
      </p:sp>
      <p:sp>
        <p:nvSpPr>
          <p:cNvPr id="21" name="Shape 15"/>
          <p:cNvSpPr/>
          <p:nvPr/>
        </p:nvSpPr>
        <p:spPr>
          <a:xfrm>
            <a:off x="640080" y="3584448"/>
            <a:ext cx="3520440" cy="1645920"/>
          </a:xfrm>
          <a:prstGeom prst="roundRect">
            <a:avLst>
              <a:gd name="adj" fmla="val 5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6"/>
          <p:cNvSpPr/>
          <p:nvPr/>
        </p:nvSpPr>
        <p:spPr>
          <a:xfrm>
            <a:off x="896112" y="3803904"/>
            <a:ext cx="457200" cy="457200"/>
          </a:xfrm>
          <a:prstGeom prst="roundRect">
            <a:avLst>
              <a:gd name="adj" fmla="val 26000"/>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1010412" y="3918204"/>
            <a:ext cx="228600" cy="228600"/>
          </a:xfrm>
          <a:prstGeom prst="rect">
            <a:avLst/>
          </a:prstGeom>
        </p:spPr>
      </p:pic>
      <p:sp>
        <p:nvSpPr>
          <p:cNvPr id="24" name="Text 17"/>
          <p:cNvSpPr txBox="1"/>
          <p:nvPr/>
        </p:nvSpPr>
        <p:spPr>
          <a:xfrm>
            <a:off x="1499616" y="38039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Ekosistem NPM Terbesar</a:t>
            </a:r>
            <a:endParaRPr lang="en-US" sz="1250" dirty="0"/>
          </a:p>
        </p:txBody>
      </p:sp>
      <p:sp>
        <p:nvSpPr>
          <p:cNvPr id="25" name="Text 18"/>
          <p:cNvSpPr txBox="1"/>
          <p:nvPr/>
        </p:nvSpPr>
        <p:spPr>
          <a:xfrm>
            <a:off x="896112" y="4370832"/>
            <a:ext cx="3008376" cy="6949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Lebih dari tiga juta paket siap pakai mempercepat pengembangan dan mengurangi kode dari nol.</a:t>
            </a:r>
            <a:endParaRPr lang="en-US" sz="1080" dirty="0"/>
          </a:p>
        </p:txBody>
      </p:sp>
      <p:sp>
        <p:nvSpPr>
          <p:cNvPr id="26" name="Shape 19"/>
          <p:cNvSpPr/>
          <p:nvPr/>
        </p:nvSpPr>
        <p:spPr>
          <a:xfrm>
            <a:off x="4443984" y="3584448"/>
            <a:ext cx="3520440" cy="1645920"/>
          </a:xfrm>
          <a:prstGeom prst="roundRect">
            <a:avLst>
              <a:gd name="adj" fmla="val 5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7" name="Shape 20"/>
          <p:cNvSpPr/>
          <p:nvPr/>
        </p:nvSpPr>
        <p:spPr>
          <a:xfrm>
            <a:off x="4700016" y="3803904"/>
            <a:ext cx="457200" cy="457200"/>
          </a:xfrm>
          <a:prstGeom prst="roundRect">
            <a:avLst>
              <a:gd name="adj" fmla="val 26000"/>
            </a:avLst>
          </a:prstGeom>
          <a:solidFill>
            <a:srgbClr val="E8F2E2"/>
          </a:solidFill>
          <a:ln w="12700">
            <a:solidFill>
              <a:srgbClr val="E8F2E2"/>
            </a:solidFill>
            <a:prstDash val="solid"/>
          </a:ln>
        </p:spPr>
      </p:sp>
      <p:pic>
        <p:nvPicPr>
          <p:cNvPr id="28" name="Image 5" descr="preencoded.png">    </p:cNvPr>
          <p:cNvPicPr>
            <a:picLocks noChangeAspect="1"/>
          </p:cNvPicPr>
          <p:nvPr/>
        </p:nvPicPr>
        <p:blipFill>
          <a:blip r:embed="rId6"/>
          <a:stretch>
            <a:fillRect/>
          </a:stretch>
        </p:blipFill>
        <p:spPr>
          <a:xfrm>
            <a:off x="4814316" y="3918204"/>
            <a:ext cx="228600" cy="228600"/>
          </a:xfrm>
          <a:prstGeom prst="rect">
            <a:avLst/>
          </a:prstGeom>
        </p:spPr>
      </p:pic>
      <p:sp>
        <p:nvSpPr>
          <p:cNvPr id="29" name="Text 21"/>
          <p:cNvSpPr txBox="1"/>
          <p:nvPr/>
        </p:nvSpPr>
        <p:spPr>
          <a:xfrm>
            <a:off x="5303520" y="38039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Satu Bahasa Penuh</a:t>
            </a:r>
            <a:endParaRPr lang="en-US" sz="1250" dirty="0"/>
          </a:p>
        </p:txBody>
      </p:sp>
      <p:sp>
        <p:nvSpPr>
          <p:cNvPr id="30" name="Text 22"/>
          <p:cNvSpPr txBox="1"/>
          <p:nvPr/>
        </p:nvSpPr>
        <p:spPr>
          <a:xfrm>
            <a:off x="4700016" y="4370832"/>
            <a:ext cx="3008376" cy="6949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JavaScript dipakai di sisi klien maupun server sehingga alih konteks pengembang berkurang.</a:t>
            </a:r>
            <a:endParaRPr lang="en-US" sz="1080" dirty="0"/>
          </a:p>
        </p:txBody>
      </p:sp>
      <p:sp>
        <p:nvSpPr>
          <p:cNvPr id="31" name="Shape 23"/>
          <p:cNvSpPr/>
          <p:nvPr/>
        </p:nvSpPr>
        <p:spPr>
          <a:xfrm>
            <a:off x="8247888" y="3584448"/>
            <a:ext cx="3520440" cy="1645920"/>
          </a:xfrm>
          <a:prstGeom prst="roundRect">
            <a:avLst>
              <a:gd name="adj" fmla="val 500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2" name="Shape 24"/>
          <p:cNvSpPr/>
          <p:nvPr/>
        </p:nvSpPr>
        <p:spPr>
          <a:xfrm>
            <a:off x="8503920" y="3803904"/>
            <a:ext cx="457200" cy="457200"/>
          </a:xfrm>
          <a:prstGeom prst="roundRect">
            <a:avLst>
              <a:gd name="adj" fmla="val 26000"/>
            </a:avLst>
          </a:prstGeom>
          <a:solidFill>
            <a:srgbClr val="E8F2E2"/>
          </a:solidFill>
          <a:ln w="12700">
            <a:solidFill>
              <a:srgbClr val="E8F2E2"/>
            </a:solidFill>
            <a:prstDash val="solid"/>
          </a:ln>
        </p:spPr>
      </p:sp>
      <p:pic>
        <p:nvPicPr>
          <p:cNvPr id="33" name="Image 6" descr="preencoded.png">    </p:cNvPr>
          <p:cNvPicPr>
            <a:picLocks noChangeAspect="1"/>
          </p:cNvPicPr>
          <p:nvPr/>
        </p:nvPicPr>
        <p:blipFill>
          <a:blip r:embed="rId7"/>
          <a:stretch>
            <a:fillRect/>
          </a:stretch>
        </p:blipFill>
        <p:spPr>
          <a:xfrm>
            <a:off x="8618220" y="3918204"/>
            <a:ext cx="228600" cy="228600"/>
          </a:xfrm>
          <a:prstGeom prst="rect">
            <a:avLst/>
          </a:prstGeom>
        </p:spPr>
      </p:pic>
      <p:sp>
        <p:nvSpPr>
          <p:cNvPr id="34" name="Text 25"/>
          <p:cNvSpPr txBox="1"/>
          <p:nvPr/>
        </p:nvSpPr>
        <p:spPr>
          <a:xfrm>
            <a:off x="9107424" y="38039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Lintas Platform</a:t>
            </a:r>
            <a:endParaRPr lang="en-US" sz="1250" dirty="0"/>
          </a:p>
        </p:txBody>
      </p:sp>
      <p:sp>
        <p:nvSpPr>
          <p:cNvPr id="35" name="Text 26"/>
          <p:cNvSpPr txBox="1"/>
          <p:nvPr/>
        </p:nvSpPr>
        <p:spPr>
          <a:xfrm>
            <a:off x="8503920" y="4370832"/>
            <a:ext cx="3008376" cy="6949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Berjalan konsisten di Windows, macOS, Linux, kontainer Docker, hingga layanan serverless.</a:t>
            </a:r>
            <a:endParaRPr lang="en-US" sz="1080" dirty="0"/>
          </a:p>
        </p:txBody>
      </p:sp>
      <p:sp>
        <p:nvSpPr>
          <p:cNvPr id="36" name="Shape 27"/>
          <p:cNvSpPr/>
          <p:nvPr/>
        </p:nvSpPr>
        <p:spPr>
          <a:xfrm>
            <a:off x="640080" y="5504688"/>
            <a:ext cx="10972800" cy="621792"/>
          </a:xfrm>
          <a:prstGeom prst="roundRect">
            <a:avLst>
              <a:gd name="adj" fmla="val 13235"/>
            </a:avLst>
          </a:prstGeom>
          <a:solidFill>
            <a:srgbClr val="0B2015"/>
          </a:solidFill>
          <a:ln w="12700">
            <a:solidFill>
              <a:srgbClr val="0B2015"/>
            </a:solidFill>
            <a:prstDash val="solid"/>
          </a:ln>
        </p:spPr>
      </p:sp>
      <p:sp>
        <p:nvSpPr>
          <p:cNvPr id="37" name="Text 28"/>
          <p:cNvSpPr txBox="1"/>
          <p:nvPr/>
        </p:nvSpPr>
        <p:spPr>
          <a:xfrm>
            <a:off x="896112" y="5504688"/>
            <a:ext cx="10515600" cy="621792"/>
          </a:xfrm>
          <a:prstGeom prst="rect">
            <a:avLst/>
          </a:prstGeom>
          <a:noFill/>
          <a:ln/>
        </p:spPr>
        <p:txBody>
          <a:bodyPr wrap="square" lIns="0" tIns="0" rIns="0" bIns="0" rtlCol="0" anchor="ctr"/>
          <a:lstStyle/>
          <a:p>
            <a:pPr indent="0" marL="0">
              <a:buNone/>
            </a:pPr>
            <a:r>
              <a:rPr lang="en-US" sz="1250" dirty="0">
                <a:solidFill>
                  <a:srgbClr val="CFE6D2"/>
                </a:solidFill>
                <a:latin typeface="Calibri" pitchFamily="34" charset="0"/>
                <a:ea typeface="Calibri" pitchFamily="34" charset="-122"/>
                <a:cs typeface="Calibri" pitchFamily="34" charset="-120"/>
              </a:rPr>
              <a:t>Intinya: Node.js unggul pada aplikasi yang banyak menunggu I/O — bukan pada aplikasi yang banyak menghitung.</a:t>
            </a:r>
            <a:endParaRPr lang="en-US" sz="1250" dirty="0"/>
          </a:p>
        </p:txBody>
      </p:sp>
      <p:sp>
        <p:nvSpPr>
          <p:cNvPr id="38" name="Text 2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9" name="Text 3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E0B33C"/>
          </a:solidFill>
          <a:ln w="12700">
            <a:solidFill>
              <a:srgbClr val="E0B33C"/>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JavaScript di Peramban vs di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Bahasa yang sama, lingkungan dan kemampuan yang berbeda</a:t>
            </a:r>
            <a:endParaRPr lang="en-US" sz="1300" dirty="0"/>
          </a:p>
        </p:txBody>
      </p:sp>
      <p:sp>
        <p:nvSpPr>
          <p:cNvPr id="6" name="Shape 3"/>
          <p:cNvSpPr/>
          <p:nvPr/>
        </p:nvSpPr>
        <p:spPr>
          <a:xfrm>
            <a:off x="640080" y="1664208"/>
            <a:ext cx="5349240" cy="4069080"/>
          </a:xfrm>
          <a:prstGeom prst="roundRect">
            <a:avLst>
              <a:gd name="adj" fmla="val 20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74520"/>
            <a:ext cx="512064" cy="512064"/>
          </a:xfrm>
          <a:prstGeom prst="roundRect">
            <a:avLst>
              <a:gd name="adj" fmla="val 25000"/>
            </a:avLst>
          </a:prstGeom>
          <a:solidFill>
            <a:srgbClr val="E5EEFB"/>
          </a:solidFill>
          <a:ln w="12700">
            <a:solidFill>
              <a:srgbClr val="E5EEFB"/>
            </a:solidFill>
            <a:prstDash val="solid"/>
          </a:ln>
        </p:spPr>
      </p:sp>
      <p:pic>
        <p:nvPicPr>
          <p:cNvPr id="8" name="Image 1" descr="preencoded.png">    </p:cNvPr>
          <p:cNvPicPr>
            <a:picLocks noChangeAspect="1"/>
          </p:cNvPicPr>
          <p:nvPr/>
        </p:nvPicPr>
        <p:blipFill>
          <a:blip r:embed="rId2"/>
          <a:stretch>
            <a:fillRect/>
          </a:stretch>
        </p:blipFill>
        <p:spPr>
          <a:xfrm>
            <a:off x="1024128" y="2002536"/>
            <a:ext cx="256032" cy="256032"/>
          </a:xfrm>
          <a:prstGeom prst="rect">
            <a:avLst/>
          </a:prstGeom>
        </p:spPr>
      </p:pic>
      <p:sp>
        <p:nvSpPr>
          <p:cNvPr id="9" name="Text 5"/>
          <p:cNvSpPr txBox="1"/>
          <p:nvPr/>
        </p:nvSpPr>
        <p:spPr>
          <a:xfrm>
            <a:off x="1554480" y="1874520"/>
            <a:ext cx="4114800" cy="512064"/>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JavaScript di Peramban</a:t>
            </a:r>
            <a:endParaRPr lang="en-US" sz="1500" dirty="0"/>
          </a:p>
        </p:txBody>
      </p:sp>
      <p:sp>
        <p:nvSpPr>
          <p:cNvPr id="10" name="Text 6"/>
          <p:cNvSpPr txBox="1"/>
          <p:nvPr/>
        </p:nvSpPr>
        <p:spPr>
          <a:xfrm>
            <a:off x="896112" y="261518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Objek global</a:t>
            </a:r>
            <a:endParaRPr lang="en-US" sz="1100" dirty="0"/>
          </a:p>
        </p:txBody>
      </p:sp>
      <p:sp>
        <p:nvSpPr>
          <p:cNvPr id="11" name="Text 7"/>
          <p:cNvSpPr txBox="1"/>
          <p:nvPr/>
        </p:nvSpPr>
        <p:spPr>
          <a:xfrm>
            <a:off x="2615184" y="261518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window / document</a:t>
            </a:r>
            <a:endParaRPr lang="en-US" sz="1150" dirty="0"/>
          </a:p>
        </p:txBody>
      </p:sp>
      <p:sp>
        <p:nvSpPr>
          <p:cNvPr id="12" name="Text 8"/>
          <p:cNvSpPr txBox="1"/>
          <p:nvPr/>
        </p:nvSpPr>
        <p:spPr>
          <a:xfrm>
            <a:off x="896112" y="311810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Akses DOM</a:t>
            </a:r>
            <a:endParaRPr lang="en-US" sz="1100" dirty="0"/>
          </a:p>
        </p:txBody>
      </p:sp>
      <p:sp>
        <p:nvSpPr>
          <p:cNvPr id="13" name="Text 9"/>
          <p:cNvSpPr txBox="1"/>
          <p:nvPr/>
        </p:nvSpPr>
        <p:spPr>
          <a:xfrm>
            <a:off x="2615184" y="311810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Tersedia penuh</a:t>
            </a:r>
            <a:endParaRPr lang="en-US" sz="1150" dirty="0"/>
          </a:p>
        </p:txBody>
      </p:sp>
      <p:sp>
        <p:nvSpPr>
          <p:cNvPr id="14" name="Text 10"/>
          <p:cNvSpPr txBox="1"/>
          <p:nvPr/>
        </p:nvSpPr>
        <p:spPr>
          <a:xfrm>
            <a:off x="896112" y="362102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Akses berkas</a:t>
            </a:r>
            <a:endParaRPr lang="en-US" sz="1100" dirty="0"/>
          </a:p>
        </p:txBody>
      </p:sp>
      <p:sp>
        <p:nvSpPr>
          <p:cNvPr id="15" name="Text 11"/>
          <p:cNvSpPr txBox="1"/>
          <p:nvPr/>
        </p:nvSpPr>
        <p:spPr>
          <a:xfrm>
            <a:off x="2615184" y="362102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Terbatas dan tersandbox</a:t>
            </a:r>
            <a:endParaRPr lang="en-US" sz="1150" dirty="0"/>
          </a:p>
        </p:txBody>
      </p:sp>
      <p:sp>
        <p:nvSpPr>
          <p:cNvPr id="16" name="Text 12"/>
          <p:cNvSpPr txBox="1"/>
          <p:nvPr/>
        </p:nvSpPr>
        <p:spPr>
          <a:xfrm>
            <a:off x="896112" y="412394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Sistem modul</a:t>
            </a:r>
            <a:endParaRPr lang="en-US" sz="1100" dirty="0"/>
          </a:p>
        </p:txBody>
      </p:sp>
      <p:sp>
        <p:nvSpPr>
          <p:cNvPr id="17" name="Text 13"/>
          <p:cNvSpPr txBox="1"/>
          <p:nvPr/>
        </p:nvSpPr>
        <p:spPr>
          <a:xfrm>
            <a:off x="2615184" y="412394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ES Modules</a:t>
            </a:r>
            <a:endParaRPr lang="en-US" sz="1150" dirty="0"/>
          </a:p>
        </p:txBody>
      </p:sp>
      <p:sp>
        <p:nvSpPr>
          <p:cNvPr id="18" name="Text 14"/>
          <p:cNvSpPr txBox="1"/>
          <p:nvPr/>
        </p:nvSpPr>
        <p:spPr>
          <a:xfrm>
            <a:off x="896112" y="462686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Kegunaan</a:t>
            </a:r>
            <a:endParaRPr lang="en-US" sz="1100" dirty="0"/>
          </a:p>
        </p:txBody>
      </p:sp>
      <p:sp>
        <p:nvSpPr>
          <p:cNvPr id="19" name="Text 15"/>
          <p:cNvSpPr txBox="1"/>
          <p:nvPr/>
        </p:nvSpPr>
        <p:spPr>
          <a:xfrm>
            <a:off x="2615184" y="462686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Antarmuka dan interaksi pengguna</a:t>
            </a:r>
            <a:endParaRPr lang="en-US" sz="1150" dirty="0"/>
          </a:p>
        </p:txBody>
      </p:sp>
      <p:sp>
        <p:nvSpPr>
          <p:cNvPr id="20" name="Text 16"/>
          <p:cNvSpPr txBox="1"/>
          <p:nvPr/>
        </p:nvSpPr>
        <p:spPr>
          <a:xfrm>
            <a:off x="896112" y="512978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Keamanan</a:t>
            </a:r>
            <a:endParaRPr lang="en-US" sz="1100" dirty="0"/>
          </a:p>
        </p:txBody>
      </p:sp>
      <p:sp>
        <p:nvSpPr>
          <p:cNvPr id="21" name="Text 17"/>
          <p:cNvSpPr txBox="1"/>
          <p:nvPr/>
        </p:nvSpPr>
        <p:spPr>
          <a:xfrm>
            <a:off x="2615184" y="512978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Dibatasi kebijakan same-origin</a:t>
            </a:r>
            <a:endParaRPr lang="en-US" sz="1150" dirty="0"/>
          </a:p>
        </p:txBody>
      </p:sp>
      <p:sp>
        <p:nvSpPr>
          <p:cNvPr id="22" name="Shape 18"/>
          <p:cNvSpPr/>
          <p:nvPr/>
        </p:nvSpPr>
        <p:spPr>
          <a:xfrm>
            <a:off x="6263640" y="1664208"/>
            <a:ext cx="5349240" cy="4069080"/>
          </a:xfrm>
          <a:prstGeom prst="roundRect">
            <a:avLst>
              <a:gd name="adj" fmla="val 20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3" name="Shape 19"/>
          <p:cNvSpPr/>
          <p:nvPr/>
        </p:nvSpPr>
        <p:spPr>
          <a:xfrm>
            <a:off x="6519672" y="1874520"/>
            <a:ext cx="512064" cy="512064"/>
          </a:xfrm>
          <a:prstGeom prst="roundRect">
            <a:avLst>
              <a:gd name="adj" fmla="val 25000"/>
            </a:avLst>
          </a:prstGeom>
          <a:solidFill>
            <a:srgbClr val="E8F2E2"/>
          </a:solidFill>
          <a:ln w="12700">
            <a:solidFill>
              <a:srgbClr val="E8F2E2"/>
            </a:solidFill>
            <a:prstDash val="solid"/>
          </a:ln>
        </p:spPr>
      </p:sp>
      <p:pic>
        <p:nvPicPr>
          <p:cNvPr id="24" name="Image 2" descr="preencoded.png">    </p:cNvPr>
          <p:cNvPicPr>
            <a:picLocks noChangeAspect="1"/>
          </p:cNvPicPr>
          <p:nvPr/>
        </p:nvPicPr>
        <p:blipFill>
          <a:blip r:embed="rId3"/>
          <a:stretch>
            <a:fillRect/>
          </a:stretch>
        </p:blipFill>
        <p:spPr>
          <a:xfrm>
            <a:off x="6647688" y="2002536"/>
            <a:ext cx="256032" cy="256032"/>
          </a:xfrm>
          <a:prstGeom prst="rect">
            <a:avLst/>
          </a:prstGeom>
        </p:spPr>
      </p:pic>
      <p:sp>
        <p:nvSpPr>
          <p:cNvPr id="25" name="Text 20"/>
          <p:cNvSpPr txBox="1"/>
          <p:nvPr/>
        </p:nvSpPr>
        <p:spPr>
          <a:xfrm>
            <a:off x="7178040" y="1874520"/>
            <a:ext cx="4114800" cy="512064"/>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JavaScript di Node.js</a:t>
            </a:r>
            <a:endParaRPr lang="en-US" sz="1500" dirty="0"/>
          </a:p>
        </p:txBody>
      </p:sp>
      <p:sp>
        <p:nvSpPr>
          <p:cNvPr id="26" name="Text 21"/>
          <p:cNvSpPr txBox="1"/>
          <p:nvPr/>
        </p:nvSpPr>
        <p:spPr>
          <a:xfrm>
            <a:off x="6519672" y="261518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Objek global</a:t>
            </a:r>
            <a:endParaRPr lang="en-US" sz="1100" dirty="0"/>
          </a:p>
        </p:txBody>
      </p:sp>
      <p:sp>
        <p:nvSpPr>
          <p:cNvPr id="27" name="Text 22"/>
          <p:cNvSpPr txBox="1"/>
          <p:nvPr/>
        </p:nvSpPr>
        <p:spPr>
          <a:xfrm>
            <a:off x="8238744" y="261518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global / globalThis</a:t>
            </a:r>
            <a:endParaRPr lang="en-US" sz="1150" dirty="0"/>
          </a:p>
        </p:txBody>
      </p:sp>
      <p:sp>
        <p:nvSpPr>
          <p:cNvPr id="28" name="Text 23"/>
          <p:cNvSpPr txBox="1"/>
          <p:nvPr/>
        </p:nvSpPr>
        <p:spPr>
          <a:xfrm>
            <a:off x="6519672" y="311810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Akses DOM</a:t>
            </a:r>
            <a:endParaRPr lang="en-US" sz="1100" dirty="0"/>
          </a:p>
        </p:txBody>
      </p:sp>
      <p:sp>
        <p:nvSpPr>
          <p:cNvPr id="29" name="Text 24"/>
          <p:cNvSpPr txBox="1"/>
          <p:nvPr/>
        </p:nvSpPr>
        <p:spPr>
          <a:xfrm>
            <a:off x="8238744" y="311810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Tidak tersedia</a:t>
            </a:r>
            <a:endParaRPr lang="en-US" sz="1150" dirty="0"/>
          </a:p>
        </p:txBody>
      </p:sp>
      <p:sp>
        <p:nvSpPr>
          <p:cNvPr id="30" name="Text 25"/>
          <p:cNvSpPr txBox="1"/>
          <p:nvPr/>
        </p:nvSpPr>
        <p:spPr>
          <a:xfrm>
            <a:off x="6519672" y="362102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Akses berkas</a:t>
            </a:r>
            <a:endParaRPr lang="en-US" sz="1100" dirty="0"/>
          </a:p>
        </p:txBody>
      </p:sp>
      <p:sp>
        <p:nvSpPr>
          <p:cNvPr id="31" name="Text 26"/>
          <p:cNvSpPr txBox="1"/>
          <p:nvPr/>
        </p:nvSpPr>
        <p:spPr>
          <a:xfrm>
            <a:off x="8238744" y="362102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Penuh melalui modul fs</a:t>
            </a:r>
            <a:endParaRPr lang="en-US" sz="1150" dirty="0"/>
          </a:p>
        </p:txBody>
      </p:sp>
      <p:sp>
        <p:nvSpPr>
          <p:cNvPr id="32" name="Text 27"/>
          <p:cNvSpPr txBox="1"/>
          <p:nvPr/>
        </p:nvSpPr>
        <p:spPr>
          <a:xfrm>
            <a:off x="6519672" y="412394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Sistem modul</a:t>
            </a:r>
            <a:endParaRPr lang="en-US" sz="1100" dirty="0"/>
          </a:p>
        </p:txBody>
      </p:sp>
      <p:sp>
        <p:nvSpPr>
          <p:cNvPr id="33" name="Text 28"/>
          <p:cNvSpPr txBox="1"/>
          <p:nvPr/>
        </p:nvSpPr>
        <p:spPr>
          <a:xfrm>
            <a:off x="8238744" y="412394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CommonJS dan ES Modules</a:t>
            </a:r>
            <a:endParaRPr lang="en-US" sz="1150" dirty="0"/>
          </a:p>
        </p:txBody>
      </p:sp>
      <p:sp>
        <p:nvSpPr>
          <p:cNvPr id="34" name="Text 29"/>
          <p:cNvSpPr txBox="1"/>
          <p:nvPr/>
        </p:nvSpPr>
        <p:spPr>
          <a:xfrm>
            <a:off x="6519672" y="462686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Kegunaan</a:t>
            </a:r>
            <a:endParaRPr lang="en-US" sz="1100" dirty="0"/>
          </a:p>
        </p:txBody>
      </p:sp>
      <p:sp>
        <p:nvSpPr>
          <p:cNvPr id="35" name="Text 30"/>
          <p:cNvSpPr txBox="1"/>
          <p:nvPr/>
        </p:nvSpPr>
        <p:spPr>
          <a:xfrm>
            <a:off x="8238744" y="462686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Server, API, CLI, dan otomasi</a:t>
            </a:r>
            <a:endParaRPr lang="en-US" sz="1150" dirty="0"/>
          </a:p>
        </p:txBody>
      </p:sp>
      <p:sp>
        <p:nvSpPr>
          <p:cNvPr id="36" name="Text 31"/>
          <p:cNvSpPr txBox="1"/>
          <p:nvPr/>
        </p:nvSpPr>
        <p:spPr>
          <a:xfrm>
            <a:off x="6519672" y="5129784"/>
            <a:ext cx="169164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Keamanan</a:t>
            </a:r>
            <a:endParaRPr lang="en-US" sz="1100" dirty="0"/>
          </a:p>
        </p:txBody>
      </p:sp>
      <p:sp>
        <p:nvSpPr>
          <p:cNvPr id="37" name="Text 32"/>
          <p:cNvSpPr txBox="1"/>
          <p:nvPr/>
        </p:nvSpPr>
        <p:spPr>
          <a:xfrm>
            <a:off x="8238744" y="5129784"/>
            <a:ext cx="3108960" cy="457200"/>
          </a:xfrm>
          <a:prstGeom prst="rect">
            <a:avLst/>
          </a:prstGeom>
          <a:noFill/>
          <a:ln/>
        </p:spPr>
        <p:txBody>
          <a:bodyPr wrap="square" lIns="0" tIns="0" rIns="0" bIns="0" rtlCol="0" anchor="ctr"/>
          <a:lstStyle/>
          <a:p>
            <a:pPr indent="0" marL="0">
              <a:buNone/>
            </a:pPr>
            <a:r>
              <a:rPr lang="en-US" sz="1150" b="1" dirty="0">
                <a:solidFill>
                  <a:srgbClr val="16241B"/>
                </a:solidFill>
                <a:latin typeface="Calibri" pitchFamily="34" charset="0"/>
                <a:ea typeface="Calibri" pitchFamily="34" charset="-122"/>
                <a:cs typeface="Calibri" pitchFamily="34" charset="-120"/>
              </a:rPr>
              <a:t>Setara hak akses pengguna sistem</a:t>
            </a:r>
            <a:endParaRPr lang="en-US" sz="1150" dirty="0"/>
          </a:p>
        </p:txBody>
      </p:sp>
      <p:sp>
        <p:nvSpPr>
          <p:cNvPr id="38" name="Text 3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9" name="Text 3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02</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Arsitektur &amp; Cara Kerja</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Membedah bagaimana Node.js mengeksekusi JavaScript dan menangani ribuan operasi I/O hanya dengan satu thread utama.</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Lapisan arsitektur: V8, libuv, dan Node API</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Enam fase event loop dan urutan eksekusinya</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Perbandingan kode blocking dan non-blocking</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Arsitektur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Empat lapisan yang bekerja bersama saat sebuah program dijalankan</a:t>
            </a:r>
            <a:endParaRPr lang="en-US" sz="1300" dirty="0"/>
          </a:p>
        </p:txBody>
      </p:sp>
      <p:sp>
        <p:nvSpPr>
          <p:cNvPr id="6" name="Shape 3"/>
          <p:cNvSpPr/>
          <p:nvPr/>
        </p:nvSpPr>
        <p:spPr>
          <a:xfrm>
            <a:off x="640080" y="1664208"/>
            <a:ext cx="7635240" cy="932688"/>
          </a:xfrm>
          <a:prstGeom prst="roundRect">
            <a:avLst>
              <a:gd name="adj" fmla="val 8824"/>
            </a:avLst>
          </a:prstGeom>
          <a:solidFill>
            <a:srgbClr val="1E4A2E"/>
          </a:solidFill>
          <a:ln w="12700">
            <a:solidFill>
              <a:srgbClr val="1E4A2E"/>
            </a:solidFill>
            <a:prstDash val="solid"/>
          </a:ln>
        </p:spPr>
      </p:sp>
      <p:pic>
        <p:nvPicPr>
          <p:cNvPr id="7" name="Image 1" descr="preencoded.png">    </p:cNvPr>
          <p:cNvPicPr>
            <a:picLocks noChangeAspect="1"/>
          </p:cNvPicPr>
          <p:nvPr/>
        </p:nvPicPr>
        <p:blipFill>
          <a:blip r:embed="rId2"/>
          <a:stretch>
            <a:fillRect/>
          </a:stretch>
        </p:blipFill>
        <p:spPr>
          <a:xfrm>
            <a:off x="914400" y="1938528"/>
            <a:ext cx="384048" cy="384048"/>
          </a:xfrm>
          <a:prstGeom prst="rect">
            <a:avLst/>
          </a:prstGeom>
        </p:spPr>
      </p:pic>
      <p:sp>
        <p:nvSpPr>
          <p:cNvPr id="8" name="Text 4"/>
          <p:cNvSpPr txBox="1"/>
          <p:nvPr/>
        </p:nvSpPr>
        <p:spPr>
          <a:xfrm>
            <a:off x="1481328" y="1792224"/>
            <a:ext cx="65836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Kode Aplikasi Anda</a:t>
            </a:r>
            <a:endParaRPr lang="en-US" sz="1450" dirty="0"/>
          </a:p>
        </p:txBody>
      </p:sp>
      <p:sp>
        <p:nvSpPr>
          <p:cNvPr id="9" name="Text 5"/>
          <p:cNvSpPr txBox="1"/>
          <p:nvPr/>
        </p:nvSpPr>
        <p:spPr>
          <a:xfrm>
            <a:off x="1481328" y="2148840"/>
            <a:ext cx="6583680" cy="329184"/>
          </a:xfrm>
          <a:prstGeom prst="rect">
            <a:avLst/>
          </a:prstGeom>
          <a:noFill/>
          <a:ln/>
        </p:spPr>
        <p:txBody>
          <a:bodyPr wrap="square" lIns="0" tIns="0" rIns="0" bIns="0" rtlCol="0" anchor="ctr"/>
          <a:lstStyle/>
          <a:p>
            <a:pPr indent="0" marL="0">
              <a:buNone/>
            </a:pPr>
            <a:r>
              <a:rPr lang="en-US" sz="1080" dirty="0">
                <a:solidFill>
                  <a:srgbClr val="DCEBDD"/>
                </a:solidFill>
                <a:latin typeface="Calibri" pitchFamily="34" charset="0"/>
                <a:ea typeface="Calibri" pitchFamily="34" charset="-122"/>
                <a:cs typeface="Calibri" pitchFamily="34" charset="-120"/>
              </a:rPr>
              <a:t>Berkas JavaScript yang Anda tulis beserta paket NPM yang digunakan</a:t>
            </a:r>
            <a:endParaRPr lang="en-US" sz="1080" dirty="0"/>
          </a:p>
        </p:txBody>
      </p:sp>
      <p:sp>
        <p:nvSpPr>
          <p:cNvPr id="10" name="Shape 6"/>
          <p:cNvSpPr/>
          <p:nvPr/>
        </p:nvSpPr>
        <p:spPr>
          <a:xfrm>
            <a:off x="640080" y="2697480"/>
            <a:ext cx="7635240" cy="932688"/>
          </a:xfrm>
          <a:prstGeom prst="roundRect">
            <a:avLst>
              <a:gd name="adj" fmla="val 8824"/>
            </a:avLst>
          </a:prstGeom>
          <a:solidFill>
            <a:srgbClr val="2C5F3A"/>
          </a:solidFill>
          <a:ln w="12700">
            <a:solidFill>
              <a:srgbClr val="2C5F3A"/>
            </a:solidFill>
            <a:prstDash val="solid"/>
          </a:ln>
        </p:spPr>
      </p:sp>
      <p:pic>
        <p:nvPicPr>
          <p:cNvPr id="11" name="Image 2" descr="preencoded.png">    </p:cNvPr>
          <p:cNvPicPr>
            <a:picLocks noChangeAspect="1"/>
          </p:cNvPicPr>
          <p:nvPr/>
        </p:nvPicPr>
        <p:blipFill>
          <a:blip r:embed="rId3"/>
          <a:stretch>
            <a:fillRect/>
          </a:stretch>
        </p:blipFill>
        <p:spPr>
          <a:xfrm>
            <a:off x="914400" y="2971800"/>
            <a:ext cx="384048" cy="384048"/>
          </a:xfrm>
          <a:prstGeom prst="rect">
            <a:avLst/>
          </a:prstGeom>
        </p:spPr>
      </p:pic>
      <p:sp>
        <p:nvSpPr>
          <p:cNvPr id="12" name="Text 7"/>
          <p:cNvSpPr txBox="1"/>
          <p:nvPr/>
        </p:nvSpPr>
        <p:spPr>
          <a:xfrm>
            <a:off x="1481328" y="2825496"/>
            <a:ext cx="65836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Node.js API &amp; Core Modules</a:t>
            </a:r>
            <a:endParaRPr lang="en-US" sz="1450" dirty="0"/>
          </a:p>
        </p:txBody>
      </p:sp>
      <p:sp>
        <p:nvSpPr>
          <p:cNvPr id="13" name="Text 8"/>
          <p:cNvSpPr txBox="1"/>
          <p:nvPr/>
        </p:nvSpPr>
        <p:spPr>
          <a:xfrm>
            <a:off x="1481328" y="3182112"/>
            <a:ext cx="6583680" cy="329184"/>
          </a:xfrm>
          <a:prstGeom prst="rect">
            <a:avLst/>
          </a:prstGeom>
          <a:noFill/>
          <a:ln/>
        </p:spPr>
        <p:txBody>
          <a:bodyPr wrap="square" lIns="0" tIns="0" rIns="0" bIns="0" rtlCol="0" anchor="ctr"/>
          <a:lstStyle/>
          <a:p>
            <a:pPr indent="0" marL="0">
              <a:buNone/>
            </a:pPr>
            <a:r>
              <a:rPr lang="en-US" sz="1080" dirty="0">
                <a:solidFill>
                  <a:srgbClr val="DCEBDD"/>
                </a:solidFill>
                <a:latin typeface="Calibri" pitchFamily="34" charset="0"/>
                <a:ea typeface="Calibri" pitchFamily="34" charset="-122"/>
                <a:cs typeface="Calibri" pitchFamily="34" charset="-120"/>
              </a:rPr>
              <a:t>Antarmuka JavaScript untuk fs, http, path, crypto, events, dan stream</a:t>
            </a:r>
            <a:endParaRPr lang="en-US" sz="1080" dirty="0"/>
          </a:p>
        </p:txBody>
      </p:sp>
      <p:sp>
        <p:nvSpPr>
          <p:cNvPr id="14" name="Shape 9"/>
          <p:cNvSpPr/>
          <p:nvPr/>
        </p:nvSpPr>
        <p:spPr>
          <a:xfrm>
            <a:off x="640080" y="3730752"/>
            <a:ext cx="7635240" cy="932688"/>
          </a:xfrm>
          <a:prstGeom prst="roundRect">
            <a:avLst>
              <a:gd name="adj" fmla="val 8824"/>
            </a:avLst>
          </a:prstGeom>
          <a:solidFill>
            <a:srgbClr val="3C873A"/>
          </a:solidFill>
          <a:ln w="12700">
            <a:solidFill>
              <a:srgbClr val="3C873A"/>
            </a:solidFill>
            <a:prstDash val="solid"/>
          </a:ln>
        </p:spPr>
      </p:sp>
      <p:pic>
        <p:nvPicPr>
          <p:cNvPr id="15" name="Image 3" descr="preencoded.png">    </p:cNvPr>
          <p:cNvPicPr>
            <a:picLocks noChangeAspect="1"/>
          </p:cNvPicPr>
          <p:nvPr/>
        </p:nvPicPr>
        <p:blipFill>
          <a:blip r:embed="rId4"/>
          <a:stretch>
            <a:fillRect/>
          </a:stretch>
        </p:blipFill>
        <p:spPr>
          <a:xfrm>
            <a:off x="914400" y="4005072"/>
            <a:ext cx="384048" cy="384048"/>
          </a:xfrm>
          <a:prstGeom prst="rect">
            <a:avLst/>
          </a:prstGeom>
        </p:spPr>
      </p:pic>
      <p:sp>
        <p:nvSpPr>
          <p:cNvPr id="16" name="Text 10"/>
          <p:cNvSpPr txBox="1"/>
          <p:nvPr/>
        </p:nvSpPr>
        <p:spPr>
          <a:xfrm>
            <a:off x="1481328" y="3858768"/>
            <a:ext cx="65836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Node.js Bindings (C++)</a:t>
            </a:r>
            <a:endParaRPr lang="en-US" sz="1450" dirty="0"/>
          </a:p>
        </p:txBody>
      </p:sp>
      <p:sp>
        <p:nvSpPr>
          <p:cNvPr id="17" name="Text 11"/>
          <p:cNvSpPr txBox="1"/>
          <p:nvPr/>
        </p:nvSpPr>
        <p:spPr>
          <a:xfrm>
            <a:off x="1481328" y="4215384"/>
            <a:ext cx="6583680" cy="329184"/>
          </a:xfrm>
          <a:prstGeom prst="rect">
            <a:avLst/>
          </a:prstGeom>
          <a:noFill/>
          <a:ln/>
        </p:spPr>
        <p:txBody>
          <a:bodyPr wrap="square" lIns="0" tIns="0" rIns="0" bIns="0" rtlCol="0" anchor="ctr"/>
          <a:lstStyle/>
          <a:p>
            <a:pPr indent="0" marL="0">
              <a:buNone/>
            </a:pPr>
            <a:r>
              <a:rPr lang="en-US" sz="1080" dirty="0">
                <a:solidFill>
                  <a:srgbClr val="DCEBDD"/>
                </a:solidFill>
                <a:latin typeface="Calibri" pitchFamily="34" charset="0"/>
                <a:ea typeface="Calibri" pitchFamily="34" charset="-122"/>
                <a:cs typeface="Calibri" pitchFamily="34" charset="-120"/>
              </a:rPr>
              <a:t>Jembatan yang menghubungkan pemanggilan JavaScript ke pustaka tingkat rendah</a:t>
            </a:r>
            <a:endParaRPr lang="en-US" sz="1080" dirty="0"/>
          </a:p>
        </p:txBody>
      </p:sp>
      <p:sp>
        <p:nvSpPr>
          <p:cNvPr id="18" name="Shape 12"/>
          <p:cNvSpPr/>
          <p:nvPr/>
        </p:nvSpPr>
        <p:spPr>
          <a:xfrm>
            <a:off x="640080" y="4764024"/>
            <a:ext cx="7635240" cy="932688"/>
          </a:xfrm>
          <a:prstGeom prst="roundRect">
            <a:avLst>
              <a:gd name="adj" fmla="val 8824"/>
            </a:avLst>
          </a:prstGeom>
          <a:solidFill>
            <a:srgbClr val="5D9E4B"/>
          </a:solidFill>
          <a:ln w="12700">
            <a:solidFill>
              <a:srgbClr val="5D9E4B"/>
            </a:solidFill>
            <a:prstDash val="solid"/>
          </a:ln>
        </p:spPr>
      </p:sp>
      <p:pic>
        <p:nvPicPr>
          <p:cNvPr id="19" name="Image 4" descr="preencoded.png">    </p:cNvPr>
          <p:cNvPicPr>
            <a:picLocks noChangeAspect="1"/>
          </p:cNvPicPr>
          <p:nvPr/>
        </p:nvPicPr>
        <p:blipFill>
          <a:blip r:embed="rId5"/>
          <a:stretch>
            <a:fillRect/>
          </a:stretch>
        </p:blipFill>
        <p:spPr>
          <a:xfrm>
            <a:off x="914400" y="5038344"/>
            <a:ext cx="384048" cy="384048"/>
          </a:xfrm>
          <a:prstGeom prst="rect">
            <a:avLst/>
          </a:prstGeom>
        </p:spPr>
      </p:pic>
      <p:sp>
        <p:nvSpPr>
          <p:cNvPr id="20" name="Text 13"/>
          <p:cNvSpPr txBox="1"/>
          <p:nvPr/>
        </p:nvSpPr>
        <p:spPr>
          <a:xfrm>
            <a:off x="1481328" y="4892040"/>
            <a:ext cx="6583680" cy="365760"/>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V8 Engine + libuv</a:t>
            </a:r>
            <a:endParaRPr lang="en-US" sz="1450" dirty="0"/>
          </a:p>
        </p:txBody>
      </p:sp>
      <p:sp>
        <p:nvSpPr>
          <p:cNvPr id="21" name="Text 14"/>
          <p:cNvSpPr txBox="1"/>
          <p:nvPr/>
        </p:nvSpPr>
        <p:spPr>
          <a:xfrm>
            <a:off x="1481328" y="5248656"/>
            <a:ext cx="6583680" cy="329184"/>
          </a:xfrm>
          <a:prstGeom prst="rect">
            <a:avLst/>
          </a:prstGeom>
          <a:noFill/>
          <a:ln/>
        </p:spPr>
        <p:txBody>
          <a:bodyPr wrap="square" lIns="0" tIns="0" rIns="0" bIns="0" rtlCol="0" anchor="ctr"/>
          <a:lstStyle/>
          <a:p>
            <a:pPr indent="0" marL="0">
              <a:buNone/>
            </a:pPr>
            <a:r>
              <a:rPr lang="en-US" sz="1080" dirty="0">
                <a:solidFill>
                  <a:srgbClr val="DCEBDD"/>
                </a:solidFill>
                <a:latin typeface="Calibri" pitchFamily="34" charset="0"/>
                <a:ea typeface="Calibri" pitchFamily="34" charset="-122"/>
                <a:cs typeface="Calibri" pitchFamily="34" charset="-120"/>
              </a:rPr>
              <a:t>V8 mengeksekusi JavaScript; libuv menyediakan event loop dan I/O asinkron</a:t>
            </a:r>
            <a:endParaRPr lang="en-US" sz="1080" dirty="0"/>
          </a:p>
        </p:txBody>
      </p:sp>
      <p:sp>
        <p:nvSpPr>
          <p:cNvPr id="22" name="Shape 15"/>
          <p:cNvSpPr/>
          <p:nvPr/>
        </p:nvSpPr>
        <p:spPr>
          <a:xfrm>
            <a:off x="8558784" y="1664208"/>
            <a:ext cx="3054096"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3" name="Shape 16"/>
          <p:cNvSpPr/>
          <p:nvPr/>
        </p:nvSpPr>
        <p:spPr>
          <a:xfrm>
            <a:off x="8814816" y="1883664"/>
            <a:ext cx="457200" cy="457200"/>
          </a:xfrm>
          <a:prstGeom prst="roundRect">
            <a:avLst>
              <a:gd name="adj" fmla="val 26000"/>
            </a:avLst>
          </a:prstGeom>
          <a:solidFill>
            <a:srgbClr val="E8F2E2"/>
          </a:solidFill>
          <a:ln w="12700">
            <a:solidFill>
              <a:srgbClr val="E8F2E2"/>
            </a:solidFill>
            <a:prstDash val="solid"/>
          </a:ln>
        </p:spPr>
      </p:sp>
      <p:pic>
        <p:nvPicPr>
          <p:cNvPr id="24" name="Image 5" descr="preencoded.png">    </p:cNvPr>
          <p:cNvPicPr>
            <a:picLocks noChangeAspect="1"/>
          </p:cNvPicPr>
          <p:nvPr/>
        </p:nvPicPr>
        <p:blipFill>
          <a:blip r:embed="rId6"/>
          <a:stretch>
            <a:fillRect/>
          </a:stretch>
        </p:blipFill>
        <p:spPr>
          <a:xfrm>
            <a:off x="8929116" y="1997964"/>
            <a:ext cx="228600" cy="228600"/>
          </a:xfrm>
          <a:prstGeom prst="rect">
            <a:avLst/>
          </a:prstGeom>
        </p:spPr>
      </p:pic>
      <p:sp>
        <p:nvSpPr>
          <p:cNvPr id="25" name="Text 17"/>
          <p:cNvSpPr txBox="1"/>
          <p:nvPr/>
        </p:nvSpPr>
        <p:spPr>
          <a:xfrm>
            <a:off x="9418320" y="1883664"/>
            <a:ext cx="1938528"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V8 Engine</a:t>
            </a:r>
            <a:endParaRPr lang="en-US" sz="1250" dirty="0"/>
          </a:p>
        </p:txBody>
      </p:sp>
      <p:sp>
        <p:nvSpPr>
          <p:cNvPr id="26" name="Text 18"/>
          <p:cNvSpPr txBox="1"/>
          <p:nvPr/>
        </p:nvSpPr>
        <p:spPr>
          <a:xfrm>
            <a:off x="8814816" y="2450592"/>
            <a:ext cx="2542032" cy="512064"/>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Mesin JavaScript dari Google yang mengompilasi kode langsung menjadi kode mesin.</a:t>
            </a:r>
            <a:endParaRPr lang="en-US" sz="1020" dirty="0"/>
          </a:p>
        </p:txBody>
      </p:sp>
      <p:sp>
        <p:nvSpPr>
          <p:cNvPr id="27" name="Shape 19"/>
          <p:cNvSpPr/>
          <p:nvPr/>
        </p:nvSpPr>
        <p:spPr>
          <a:xfrm>
            <a:off x="8558784" y="3236976"/>
            <a:ext cx="3054096"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8" name="Shape 20"/>
          <p:cNvSpPr/>
          <p:nvPr/>
        </p:nvSpPr>
        <p:spPr>
          <a:xfrm>
            <a:off x="8814816" y="3456432"/>
            <a:ext cx="457200" cy="457200"/>
          </a:xfrm>
          <a:prstGeom prst="roundRect">
            <a:avLst>
              <a:gd name="adj" fmla="val 26000"/>
            </a:avLst>
          </a:prstGeom>
          <a:solidFill>
            <a:srgbClr val="E8F2E2"/>
          </a:solidFill>
          <a:ln w="12700">
            <a:solidFill>
              <a:srgbClr val="E8F2E2"/>
            </a:solidFill>
            <a:prstDash val="solid"/>
          </a:ln>
        </p:spPr>
      </p:sp>
      <p:pic>
        <p:nvPicPr>
          <p:cNvPr id="29" name="Image 6" descr="preencoded.png">    </p:cNvPr>
          <p:cNvPicPr>
            <a:picLocks noChangeAspect="1"/>
          </p:cNvPicPr>
          <p:nvPr/>
        </p:nvPicPr>
        <p:blipFill>
          <a:blip r:embed="rId7"/>
          <a:stretch>
            <a:fillRect/>
          </a:stretch>
        </p:blipFill>
        <p:spPr>
          <a:xfrm>
            <a:off x="8929116" y="3570732"/>
            <a:ext cx="228600" cy="228600"/>
          </a:xfrm>
          <a:prstGeom prst="rect">
            <a:avLst/>
          </a:prstGeom>
        </p:spPr>
      </p:pic>
      <p:sp>
        <p:nvSpPr>
          <p:cNvPr id="30" name="Text 21"/>
          <p:cNvSpPr txBox="1"/>
          <p:nvPr/>
        </p:nvSpPr>
        <p:spPr>
          <a:xfrm>
            <a:off x="9418320" y="3456432"/>
            <a:ext cx="1938528"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libuv</a:t>
            </a:r>
            <a:endParaRPr lang="en-US" sz="1250" dirty="0"/>
          </a:p>
        </p:txBody>
      </p:sp>
      <p:sp>
        <p:nvSpPr>
          <p:cNvPr id="31" name="Text 22"/>
          <p:cNvSpPr txBox="1"/>
          <p:nvPr/>
        </p:nvSpPr>
        <p:spPr>
          <a:xfrm>
            <a:off x="8814816" y="4023360"/>
            <a:ext cx="2542032" cy="512064"/>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Pustaka C penyedia event loop, thread pool, dan abstraksi I/O lintas sistem operasi.</a:t>
            </a:r>
            <a:endParaRPr lang="en-US" sz="1020" dirty="0"/>
          </a:p>
        </p:txBody>
      </p:sp>
      <p:sp>
        <p:nvSpPr>
          <p:cNvPr id="32" name="Shape 23"/>
          <p:cNvSpPr/>
          <p:nvPr/>
        </p:nvSpPr>
        <p:spPr>
          <a:xfrm>
            <a:off x="8558784" y="4809744"/>
            <a:ext cx="3054096"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3" name="Shape 24"/>
          <p:cNvSpPr/>
          <p:nvPr/>
        </p:nvSpPr>
        <p:spPr>
          <a:xfrm>
            <a:off x="8814816" y="5029200"/>
            <a:ext cx="457200" cy="457200"/>
          </a:xfrm>
          <a:prstGeom prst="roundRect">
            <a:avLst>
              <a:gd name="adj" fmla="val 26000"/>
            </a:avLst>
          </a:prstGeom>
          <a:solidFill>
            <a:srgbClr val="E8F2E2"/>
          </a:solidFill>
          <a:ln w="12700">
            <a:solidFill>
              <a:srgbClr val="E8F2E2"/>
            </a:solidFill>
            <a:prstDash val="solid"/>
          </a:ln>
        </p:spPr>
      </p:sp>
      <p:pic>
        <p:nvPicPr>
          <p:cNvPr id="34" name="Image 7" descr="preencoded.png">    </p:cNvPr>
          <p:cNvPicPr>
            <a:picLocks noChangeAspect="1"/>
          </p:cNvPicPr>
          <p:nvPr/>
        </p:nvPicPr>
        <p:blipFill>
          <a:blip r:embed="rId8"/>
          <a:stretch>
            <a:fillRect/>
          </a:stretch>
        </p:blipFill>
        <p:spPr>
          <a:xfrm>
            <a:off x="8929116" y="5143500"/>
            <a:ext cx="228600" cy="228600"/>
          </a:xfrm>
          <a:prstGeom prst="rect">
            <a:avLst/>
          </a:prstGeom>
        </p:spPr>
      </p:pic>
      <p:sp>
        <p:nvSpPr>
          <p:cNvPr id="35" name="Text 25"/>
          <p:cNvSpPr txBox="1"/>
          <p:nvPr/>
        </p:nvSpPr>
        <p:spPr>
          <a:xfrm>
            <a:off x="9418320" y="5029200"/>
            <a:ext cx="1938528"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Dependensi Lain</a:t>
            </a:r>
            <a:endParaRPr lang="en-US" sz="1250" dirty="0"/>
          </a:p>
        </p:txBody>
      </p:sp>
      <p:sp>
        <p:nvSpPr>
          <p:cNvPr id="36" name="Text 26"/>
          <p:cNvSpPr txBox="1"/>
          <p:nvPr/>
        </p:nvSpPr>
        <p:spPr>
          <a:xfrm>
            <a:off x="8814816" y="5596128"/>
            <a:ext cx="2542032" cy="512064"/>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OpenSSL untuk kriptografi, zlib untuk kompresi, dan llhttp untuk parsing HTTP.</a:t>
            </a:r>
            <a:endParaRPr lang="en-US" sz="1020" dirty="0"/>
          </a:p>
        </p:txBody>
      </p:sp>
      <p:sp>
        <p:nvSpPr>
          <p:cNvPr id="37" name="Text 27"/>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8" name="Text 28"/>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V8 Engine dan libuv</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Dua komponen inti yang menjadi mesin sesungguhnya di balik Node.js</a:t>
            </a:r>
            <a:endParaRPr lang="en-US" sz="1300" dirty="0"/>
          </a:p>
        </p:txBody>
      </p:sp>
      <p:sp>
        <p:nvSpPr>
          <p:cNvPr id="6" name="Shape 3"/>
          <p:cNvSpPr/>
          <p:nvPr/>
        </p:nvSpPr>
        <p:spPr>
          <a:xfrm>
            <a:off x="640080" y="1627632"/>
            <a:ext cx="5349240" cy="1975104"/>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47088"/>
            <a:ext cx="457200" cy="457200"/>
          </a:xfrm>
          <a:prstGeom prst="roundRect">
            <a:avLst>
              <a:gd name="adj" fmla="val 26000"/>
            </a:avLst>
          </a:prstGeom>
          <a:solidFill>
            <a:srgbClr val="E5EEFB"/>
          </a:solidFill>
          <a:ln w="12700">
            <a:solidFill>
              <a:srgbClr val="E5EEFB"/>
            </a:solidFill>
            <a:prstDash val="solid"/>
          </a:ln>
        </p:spPr>
      </p:sp>
      <p:pic>
        <p:nvPicPr>
          <p:cNvPr id="8" name="Image 1" descr="preencoded.png">    </p:cNvPr>
          <p:cNvPicPr>
            <a:picLocks noChangeAspect="1"/>
          </p:cNvPicPr>
          <p:nvPr/>
        </p:nvPicPr>
        <p:blipFill>
          <a:blip r:embed="rId2"/>
          <a:stretch>
            <a:fillRect/>
          </a:stretch>
        </p:blipFill>
        <p:spPr>
          <a:xfrm>
            <a:off x="1010412" y="1961388"/>
            <a:ext cx="228600" cy="228600"/>
          </a:xfrm>
          <a:prstGeom prst="rect">
            <a:avLst/>
          </a:prstGeom>
        </p:spPr>
      </p:pic>
      <p:sp>
        <p:nvSpPr>
          <p:cNvPr id="9" name="Text 5"/>
          <p:cNvSpPr txBox="1"/>
          <p:nvPr/>
        </p:nvSpPr>
        <p:spPr>
          <a:xfrm>
            <a:off x="1499616" y="1847088"/>
            <a:ext cx="4233672" cy="457200"/>
          </a:xfrm>
          <a:prstGeom prst="rect">
            <a:avLst/>
          </a:prstGeom>
          <a:noFill/>
          <a:ln/>
        </p:spPr>
        <p:txBody>
          <a:bodyPr wrap="square" lIns="0" tIns="0" rIns="0" bIns="0" rtlCol="0" anchor="ctr"/>
          <a:lstStyle/>
          <a:p>
            <a:pPr indent="0" marL="0">
              <a:buNone/>
            </a:pPr>
            <a:r>
              <a:rPr lang="en-US" sz="1450" b="1" dirty="0">
                <a:solidFill>
                  <a:srgbClr val="16241B"/>
                </a:solidFill>
                <a:latin typeface="Arial" pitchFamily="34" charset="0"/>
                <a:ea typeface="Arial" pitchFamily="34" charset="-122"/>
                <a:cs typeface="Arial" pitchFamily="34" charset="-120"/>
              </a:rPr>
              <a:t>V8 — Eksekusi JavaScript</a:t>
            </a:r>
            <a:endParaRPr lang="en-US" sz="1450" dirty="0"/>
          </a:p>
        </p:txBody>
      </p:sp>
      <p:sp>
        <p:nvSpPr>
          <p:cNvPr id="10" name="Text 6"/>
          <p:cNvSpPr txBox="1"/>
          <p:nvPr/>
        </p:nvSpPr>
        <p:spPr>
          <a:xfrm>
            <a:off x="950976" y="2414016"/>
            <a:ext cx="4782312" cy="1024128"/>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Ditulis dalam C++ oleh Google untuk Chrome</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Mengompilasi JavaScript ke kode mesin (JIT)</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Menangani alokasi memori dan garbage collection</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Mengikuti standar ECMAScript terbaru</a:t>
            </a:r>
            <a:endParaRPr lang="en-US" sz="1100" dirty="0"/>
          </a:p>
        </p:txBody>
      </p:sp>
      <p:sp>
        <p:nvSpPr>
          <p:cNvPr id="11" name="Shape 7"/>
          <p:cNvSpPr/>
          <p:nvPr/>
        </p:nvSpPr>
        <p:spPr>
          <a:xfrm>
            <a:off x="6263640" y="1627632"/>
            <a:ext cx="5349240" cy="1975104"/>
          </a:xfrm>
          <a:prstGeom prst="roundRect">
            <a:avLst>
              <a:gd name="adj" fmla="val 416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6519672" y="1847088"/>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6633972" y="1961388"/>
            <a:ext cx="228600" cy="228600"/>
          </a:xfrm>
          <a:prstGeom prst="rect">
            <a:avLst/>
          </a:prstGeom>
        </p:spPr>
      </p:pic>
      <p:sp>
        <p:nvSpPr>
          <p:cNvPr id="14" name="Text 9"/>
          <p:cNvSpPr txBox="1"/>
          <p:nvPr/>
        </p:nvSpPr>
        <p:spPr>
          <a:xfrm>
            <a:off x="7123176" y="1847088"/>
            <a:ext cx="4233672" cy="457200"/>
          </a:xfrm>
          <a:prstGeom prst="rect">
            <a:avLst/>
          </a:prstGeom>
          <a:noFill/>
          <a:ln/>
        </p:spPr>
        <p:txBody>
          <a:bodyPr wrap="square" lIns="0" tIns="0" rIns="0" bIns="0" rtlCol="0" anchor="ctr"/>
          <a:lstStyle/>
          <a:p>
            <a:pPr indent="0" marL="0">
              <a:buNone/>
            </a:pPr>
            <a:r>
              <a:rPr lang="en-US" sz="1450" b="1" dirty="0">
                <a:solidFill>
                  <a:srgbClr val="16241B"/>
                </a:solidFill>
                <a:latin typeface="Arial" pitchFamily="34" charset="0"/>
                <a:ea typeface="Arial" pitchFamily="34" charset="-122"/>
                <a:cs typeface="Arial" pitchFamily="34" charset="-120"/>
              </a:rPr>
              <a:t>libuv — I/O Asinkron</a:t>
            </a:r>
            <a:endParaRPr lang="en-US" sz="1450" dirty="0"/>
          </a:p>
        </p:txBody>
      </p:sp>
      <p:sp>
        <p:nvSpPr>
          <p:cNvPr id="15" name="Text 10"/>
          <p:cNvSpPr txBox="1"/>
          <p:nvPr/>
        </p:nvSpPr>
        <p:spPr>
          <a:xfrm>
            <a:off x="6574536" y="2414016"/>
            <a:ext cx="4782312" cy="1024128"/>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Pustaka C lintas platform yang menjalankan event loop</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Menyediakan thread pool (default empat thread)</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Membungkus epoll, kqueue, dan IOCP</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Menangani berkas, DNS, kompresi, dan kriptografi</a:t>
            </a:r>
            <a:endParaRPr lang="en-US" sz="1100" dirty="0"/>
          </a:p>
        </p:txBody>
      </p:sp>
      <p:sp>
        <p:nvSpPr>
          <p:cNvPr id="16" name="Shape 11"/>
          <p:cNvSpPr/>
          <p:nvPr/>
        </p:nvSpPr>
        <p:spPr>
          <a:xfrm>
            <a:off x="640080" y="3803904"/>
            <a:ext cx="5943600" cy="2437790"/>
          </a:xfrm>
          <a:prstGeom prst="roundRect">
            <a:avLst>
              <a:gd name="adj" fmla="val 2626"/>
            </a:avLst>
          </a:prstGeom>
          <a:solidFill>
            <a:srgbClr val="0E2417"/>
          </a:solidFill>
          <a:ln w="12700">
            <a:solidFill>
              <a:srgbClr val="234A31"/>
            </a:solidFill>
            <a:prstDash val="solid"/>
          </a:ln>
        </p:spPr>
      </p:sp>
      <p:sp>
        <p:nvSpPr>
          <p:cNvPr id="17" name="Text 12"/>
          <p:cNvSpPr txBox="1"/>
          <p:nvPr/>
        </p:nvSpPr>
        <p:spPr>
          <a:xfrm>
            <a:off x="859536" y="3895344"/>
            <a:ext cx="550468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ALUR SEBUAH OPERASI I/O</a:t>
            </a:r>
            <a:endParaRPr lang="en-US" sz="950" dirty="0"/>
          </a:p>
        </p:txBody>
      </p:sp>
      <p:sp>
        <p:nvSpPr>
          <p:cNvPr id="18" name="Text 13"/>
          <p:cNvSpPr txBox="1"/>
          <p:nvPr/>
        </p:nvSpPr>
        <p:spPr>
          <a:xfrm>
            <a:off x="859536" y="4206240"/>
            <a:ext cx="5504688" cy="1925726"/>
          </a:xfrm>
          <a:prstGeom prst="rect">
            <a:avLst/>
          </a:prstGeom>
          <a:noFill/>
          <a:ln/>
        </p:spPr>
        <p:txBody>
          <a:bodyPr wrap="square" lIns="0" tIns="0" rIns="0" bIns="0" rtlCol="0" anchor="t"/>
          <a:lstStyle/>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1. JavaScript memanggil API Node</a:t>
            </a:r>
            <a:endParaRPr lang="en-US" sz="1100" dirty="0"/>
          </a:p>
          <a:p>
            <a:pPr indent="0" marL="0">
              <a:lnSpc>
                <a:spcPct val="106000"/>
              </a:lnSpc>
              <a:buNone/>
            </a:pPr>
            <a:r>
              <a:rPr lang="en-US" sz="11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fs.readFile(</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'data.txt'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(err, data) =&gt; {</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4. Callback dijalankan oleh event loop</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.log(data.toString());</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2. libuv membaca berkas di thread pool</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3. Event loop tetap bebas menerima tugas lain</a:t>
            </a:r>
            <a:endParaRPr lang="en-US" sz="1100" dirty="0"/>
          </a:p>
        </p:txBody>
      </p:sp>
      <p:sp>
        <p:nvSpPr>
          <p:cNvPr id="19" name="Shape 14"/>
          <p:cNvSpPr/>
          <p:nvPr/>
        </p:nvSpPr>
        <p:spPr>
          <a:xfrm>
            <a:off x="6858000" y="3931920"/>
            <a:ext cx="420624" cy="420624"/>
          </a:xfrm>
          <a:prstGeom prst="roundRect">
            <a:avLst>
              <a:gd name="adj" fmla="val 26087"/>
            </a:avLst>
          </a:prstGeom>
          <a:solidFill>
            <a:srgbClr val="E8F2E2"/>
          </a:solidFill>
          <a:ln w="12700">
            <a:solidFill>
              <a:srgbClr val="E8F2E2"/>
            </a:solidFill>
            <a:prstDash val="solid"/>
          </a:ln>
        </p:spPr>
      </p:sp>
      <p:pic>
        <p:nvPicPr>
          <p:cNvPr id="20" name="Image 3" descr="preencoded.png">    </p:cNvPr>
          <p:cNvPicPr>
            <a:picLocks noChangeAspect="1"/>
          </p:cNvPicPr>
          <p:nvPr/>
        </p:nvPicPr>
        <p:blipFill>
          <a:blip r:embed="rId4"/>
          <a:stretch>
            <a:fillRect/>
          </a:stretch>
        </p:blipFill>
        <p:spPr>
          <a:xfrm>
            <a:off x="6963156" y="4037076"/>
            <a:ext cx="210312" cy="210312"/>
          </a:xfrm>
          <a:prstGeom prst="rect">
            <a:avLst/>
          </a:prstGeom>
        </p:spPr>
      </p:pic>
      <p:sp>
        <p:nvSpPr>
          <p:cNvPr id="21" name="Text 15"/>
          <p:cNvSpPr txBox="1"/>
          <p:nvPr/>
        </p:nvSpPr>
        <p:spPr>
          <a:xfrm>
            <a:off x="7424928" y="3913632"/>
            <a:ext cx="418795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Kompilasi JIT</a:t>
            </a:r>
            <a:endParaRPr lang="en-US" sz="1250" dirty="0"/>
          </a:p>
        </p:txBody>
      </p:sp>
      <p:sp>
        <p:nvSpPr>
          <p:cNvPr id="22" name="Text 16"/>
          <p:cNvSpPr txBox="1"/>
          <p:nvPr/>
        </p:nvSpPr>
        <p:spPr>
          <a:xfrm>
            <a:off x="7424928" y="4169664"/>
            <a:ext cx="4187952" cy="457200"/>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V8 mengoptimalkan fungsi yang sering dipanggil menjadi kode mesin yang sangat cepat.</a:t>
            </a:r>
            <a:endParaRPr lang="en-US" sz="1100" dirty="0"/>
          </a:p>
        </p:txBody>
      </p:sp>
      <p:sp>
        <p:nvSpPr>
          <p:cNvPr id="23" name="Shape 17"/>
          <p:cNvSpPr/>
          <p:nvPr/>
        </p:nvSpPr>
        <p:spPr>
          <a:xfrm>
            <a:off x="6858000" y="4681728"/>
            <a:ext cx="420624" cy="420624"/>
          </a:xfrm>
          <a:prstGeom prst="roundRect">
            <a:avLst>
              <a:gd name="adj" fmla="val 26087"/>
            </a:avLst>
          </a:prstGeom>
          <a:solidFill>
            <a:srgbClr val="E8F2E2"/>
          </a:solidFill>
          <a:ln w="12700">
            <a:solidFill>
              <a:srgbClr val="E8F2E2"/>
            </a:solidFill>
            <a:prstDash val="solid"/>
          </a:ln>
        </p:spPr>
      </p:sp>
      <p:pic>
        <p:nvPicPr>
          <p:cNvPr id="24" name="Image 4" descr="preencoded.png">    </p:cNvPr>
          <p:cNvPicPr>
            <a:picLocks noChangeAspect="1"/>
          </p:cNvPicPr>
          <p:nvPr/>
        </p:nvPicPr>
        <p:blipFill>
          <a:blip r:embed="rId5"/>
          <a:stretch>
            <a:fillRect/>
          </a:stretch>
        </p:blipFill>
        <p:spPr>
          <a:xfrm>
            <a:off x="6963156" y="4786884"/>
            <a:ext cx="210312" cy="210312"/>
          </a:xfrm>
          <a:prstGeom prst="rect">
            <a:avLst/>
          </a:prstGeom>
        </p:spPr>
      </p:pic>
      <p:sp>
        <p:nvSpPr>
          <p:cNvPr id="25" name="Text 18"/>
          <p:cNvSpPr txBox="1"/>
          <p:nvPr/>
        </p:nvSpPr>
        <p:spPr>
          <a:xfrm>
            <a:off x="7424928" y="4663440"/>
            <a:ext cx="418795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Thread Pool</a:t>
            </a:r>
            <a:endParaRPr lang="en-US" sz="1250" dirty="0"/>
          </a:p>
        </p:txBody>
      </p:sp>
      <p:sp>
        <p:nvSpPr>
          <p:cNvPr id="26" name="Text 19"/>
          <p:cNvSpPr txBox="1"/>
          <p:nvPr/>
        </p:nvSpPr>
        <p:spPr>
          <a:xfrm>
            <a:off x="7424928" y="4919472"/>
            <a:ext cx="4187952" cy="457200"/>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Berukuran empat thread secara default, dapat diubah lewat UV_THREADPOOL_SIZE.</a:t>
            </a:r>
            <a:endParaRPr lang="en-US" sz="1100" dirty="0"/>
          </a:p>
        </p:txBody>
      </p:sp>
      <p:sp>
        <p:nvSpPr>
          <p:cNvPr id="27" name="Shape 20"/>
          <p:cNvSpPr/>
          <p:nvPr/>
        </p:nvSpPr>
        <p:spPr>
          <a:xfrm>
            <a:off x="6858000" y="5431536"/>
            <a:ext cx="420624" cy="420624"/>
          </a:xfrm>
          <a:prstGeom prst="roundRect">
            <a:avLst>
              <a:gd name="adj" fmla="val 26087"/>
            </a:avLst>
          </a:prstGeom>
          <a:solidFill>
            <a:srgbClr val="E8F2E2"/>
          </a:solidFill>
          <a:ln w="12700">
            <a:solidFill>
              <a:srgbClr val="E8F2E2"/>
            </a:solidFill>
            <a:prstDash val="solid"/>
          </a:ln>
        </p:spPr>
      </p:sp>
      <p:pic>
        <p:nvPicPr>
          <p:cNvPr id="28" name="Image 5" descr="preencoded.png">    </p:cNvPr>
          <p:cNvPicPr>
            <a:picLocks noChangeAspect="1"/>
          </p:cNvPicPr>
          <p:nvPr/>
        </p:nvPicPr>
        <p:blipFill>
          <a:blip r:embed="rId6"/>
          <a:stretch>
            <a:fillRect/>
          </a:stretch>
        </p:blipFill>
        <p:spPr>
          <a:xfrm>
            <a:off x="6963156" y="5536692"/>
            <a:ext cx="210312" cy="210312"/>
          </a:xfrm>
          <a:prstGeom prst="rect">
            <a:avLst/>
          </a:prstGeom>
        </p:spPr>
      </p:pic>
      <p:sp>
        <p:nvSpPr>
          <p:cNvPr id="29" name="Text 21"/>
          <p:cNvSpPr txBox="1"/>
          <p:nvPr/>
        </p:nvSpPr>
        <p:spPr>
          <a:xfrm>
            <a:off x="7424928" y="5413248"/>
            <a:ext cx="418795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I/O Jaringan</a:t>
            </a:r>
            <a:endParaRPr lang="en-US" sz="1250" dirty="0"/>
          </a:p>
        </p:txBody>
      </p:sp>
      <p:sp>
        <p:nvSpPr>
          <p:cNvPr id="30" name="Text 22"/>
          <p:cNvSpPr txBox="1"/>
          <p:nvPr/>
        </p:nvSpPr>
        <p:spPr>
          <a:xfrm>
            <a:off x="7424928" y="5669280"/>
            <a:ext cx="4187952" cy="457200"/>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Operasi socket dan HTTP ditangani kernel langsung, tanpa memakai thread pool.</a:t>
            </a:r>
            <a:endParaRPr lang="en-US" sz="1100" dirty="0"/>
          </a:p>
        </p:txBody>
      </p:sp>
      <p:sp>
        <p:nvSpPr>
          <p:cNvPr id="31" name="Text 2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2" name="Text 2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Event Loop: Enam Fase</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Setiap iterasi event loop melewati fase berikut secara berurutan</a:t>
            </a:r>
            <a:endParaRPr lang="en-US" sz="1300" dirty="0"/>
          </a:p>
        </p:txBody>
      </p:sp>
      <p:sp>
        <p:nvSpPr>
          <p:cNvPr id="6" name="Shape 3"/>
          <p:cNvSpPr/>
          <p:nvPr/>
        </p:nvSpPr>
        <p:spPr>
          <a:xfrm>
            <a:off x="640080" y="1645920"/>
            <a:ext cx="3520440" cy="1152144"/>
          </a:xfrm>
          <a:prstGeom prst="roundRect">
            <a:avLst>
              <a:gd name="adj" fmla="val 714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77824" y="1847088"/>
            <a:ext cx="384048" cy="384048"/>
          </a:xfrm>
          <a:prstGeom prst="roundRect">
            <a:avLst>
              <a:gd name="adj" fmla="val 26190"/>
            </a:avLst>
          </a:prstGeom>
          <a:solidFill>
            <a:srgbClr val="3C873A"/>
          </a:solidFill>
          <a:ln w="12700">
            <a:solidFill>
              <a:srgbClr val="3C873A"/>
            </a:solidFill>
            <a:prstDash val="solid"/>
          </a:ln>
        </p:spPr>
      </p:sp>
      <p:sp>
        <p:nvSpPr>
          <p:cNvPr id="8" name="Text 5"/>
          <p:cNvSpPr txBox="1"/>
          <p:nvPr/>
        </p:nvSpPr>
        <p:spPr>
          <a:xfrm>
            <a:off x="877824" y="184708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9" name="Text 6"/>
          <p:cNvSpPr txBox="1"/>
          <p:nvPr/>
        </p:nvSpPr>
        <p:spPr>
          <a:xfrm>
            <a:off x="1371600" y="1847088"/>
            <a:ext cx="2551176" cy="384048"/>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Timers</a:t>
            </a:r>
            <a:endParaRPr lang="en-US" sz="1300" dirty="0"/>
          </a:p>
        </p:txBody>
      </p:sp>
      <p:sp>
        <p:nvSpPr>
          <p:cNvPr id="10" name="Text 7"/>
          <p:cNvSpPr txBox="1"/>
          <p:nvPr/>
        </p:nvSpPr>
        <p:spPr>
          <a:xfrm>
            <a:off x="877824" y="2286000"/>
            <a:ext cx="304495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Menjalankan callback dari setTimeout dan setInterval yang waktunya telah tiba.</a:t>
            </a:r>
            <a:endParaRPr lang="en-US" sz="1030" dirty="0"/>
          </a:p>
        </p:txBody>
      </p:sp>
      <p:sp>
        <p:nvSpPr>
          <p:cNvPr id="11" name="Shape 8"/>
          <p:cNvSpPr/>
          <p:nvPr/>
        </p:nvSpPr>
        <p:spPr>
          <a:xfrm>
            <a:off x="4443984" y="1645920"/>
            <a:ext cx="3520440" cy="1152144"/>
          </a:xfrm>
          <a:prstGeom prst="roundRect">
            <a:avLst>
              <a:gd name="adj" fmla="val 714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9"/>
          <p:cNvSpPr/>
          <p:nvPr/>
        </p:nvSpPr>
        <p:spPr>
          <a:xfrm>
            <a:off x="4681728" y="1847088"/>
            <a:ext cx="384048" cy="384048"/>
          </a:xfrm>
          <a:prstGeom prst="roundRect">
            <a:avLst>
              <a:gd name="adj" fmla="val 26190"/>
            </a:avLst>
          </a:prstGeom>
          <a:solidFill>
            <a:srgbClr val="3C873A"/>
          </a:solidFill>
          <a:ln w="12700">
            <a:solidFill>
              <a:srgbClr val="3C873A"/>
            </a:solidFill>
            <a:prstDash val="solid"/>
          </a:ln>
        </p:spPr>
      </p:sp>
      <p:sp>
        <p:nvSpPr>
          <p:cNvPr id="13" name="Text 10"/>
          <p:cNvSpPr txBox="1"/>
          <p:nvPr/>
        </p:nvSpPr>
        <p:spPr>
          <a:xfrm>
            <a:off x="4681728" y="184708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4" name="Text 11"/>
          <p:cNvSpPr txBox="1"/>
          <p:nvPr/>
        </p:nvSpPr>
        <p:spPr>
          <a:xfrm>
            <a:off x="5175504" y="1847088"/>
            <a:ext cx="2551176" cy="384048"/>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Pending Callbacks</a:t>
            </a:r>
            <a:endParaRPr lang="en-US" sz="1300" dirty="0"/>
          </a:p>
        </p:txBody>
      </p:sp>
      <p:sp>
        <p:nvSpPr>
          <p:cNvPr id="15" name="Text 12"/>
          <p:cNvSpPr txBox="1"/>
          <p:nvPr/>
        </p:nvSpPr>
        <p:spPr>
          <a:xfrm>
            <a:off x="4681728" y="2286000"/>
            <a:ext cx="304495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Menjalankan callback I/O tertentu yang ditunda dari iterasi sebelumnya.</a:t>
            </a:r>
            <a:endParaRPr lang="en-US" sz="1030" dirty="0"/>
          </a:p>
        </p:txBody>
      </p:sp>
      <p:sp>
        <p:nvSpPr>
          <p:cNvPr id="16" name="Shape 13"/>
          <p:cNvSpPr/>
          <p:nvPr/>
        </p:nvSpPr>
        <p:spPr>
          <a:xfrm>
            <a:off x="8247888" y="1645920"/>
            <a:ext cx="3520440" cy="1152144"/>
          </a:xfrm>
          <a:prstGeom prst="roundRect">
            <a:avLst>
              <a:gd name="adj" fmla="val 714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4"/>
          <p:cNvSpPr/>
          <p:nvPr/>
        </p:nvSpPr>
        <p:spPr>
          <a:xfrm>
            <a:off x="8485632" y="1847088"/>
            <a:ext cx="384048" cy="384048"/>
          </a:xfrm>
          <a:prstGeom prst="roundRect">
            <a:avLst>
              <a:gd name="adj" fmla="val 26190"/>
            </a:avLst>
          </a:prstGeom>
          <a:solidFill>
            <a:srgbClr val="3C873A"/>
          </a:solidFill>
          <a:ln w="12700">
            <a:solidFill>
              <a:srgbClr val="3C873A"/>
            </a:solidFill>
            <a:prstDash val="solid"/>
          </a:ln>
        </p:spPr>
      </p:sp>
      <p:sp>
        <p:nvSpPr>
          <p:cNvPr id="18" name="Text 15"/>
          <p:cNvSpPr txBox="1"/>
          <p:nvPr/>
        </p:nvSpPr>
        <p:spPr>
          <a:xfrm>
            <a:off x="8485632" y="184708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6"/>
          <p:cNvSpPr txBox="1"/>
          <p:nvPr/>
        </p:nvSpPr>
        <p:spPr>
          <a:xfrm>
            <a:off x="8979408" y="1847088"/>
            <a:ext cx="2551176" cy="384048"/>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Idle / Prepare</a:t>
            </a:r>
            <a:endParaRPr lang="en-US" sz="1300" dirty="0"/>
          </a:p>
        </p:txBody>
      </p:sp>
      <p:sp>
        <p:nvSpPr>
          <p:cNvPr id="20" name="Text 17"/>
          <p:cNvSpPr txBox="1"/>
          <p:nvPr/>
        </p:nvSpPr>
        <p:spPr>
          <a:xfrm>
            <a:off x="8485632" y="2286000"/>
            <a:ext cx="304495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Fase internal Node.js, tidak digunakan langsung oleh kode aplikasi.</a:t>
            </a:r>
            <a:endParaRPr lang="en-US" sz="1030" dirty="0"/>
          </a:p>
        </p:txBody>
      </p:sp>
      <p:sp>
        <p:nvSpPr>
          <p:cNvPr id="21" name="Shape 18"/>
          <p:cNvSpPr/>
          <p:nvPr/>
        </p:nvSpPr>
        <p:spPr>
          <a:xfrm>
            <a:off x="640080" y="3035808"/>
            <a:ext cx="3520440" cy="1152144"/>
          </a:xfrm>
          <a:prstGeom prst="roundRect">
            <a:avLst>
              <a:gd name="adj" fmla="val 714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9"/>
          <p:cNvSpPr/>
          <p:nvPr/>
        </p:nvSpPr>
        <p:spPr>
          <a:xfrm>
            <a:off x="877824" y="3236976"/>
            <a:ext cx="384048" cy="384048"/>
          </a:xfrm>
          <a:prstGeom prst="roundRect">
            <a:avLst>
              <a:gd name="adj" fmla="val 26190"/>
            </a:avLst>
          </a:prstGeom>
          <a:solidFill>
            <a:srgbClr val="3C873A"/>
          </a:solidFill>
          <a:ln w="12700">
            <a:solidFill>
              <a:srgbClr val="3C873A"/>
            </a:solidFill>
            <a:prstDash val="solid"/>
          </a:ln>
        </p:spPr>
      </p:sp>
      <p:sp>
        <p:nvSpPr>
          <p:cNvPr id="23" name="Text 20"/>
          <p:cNvSpPr txBox="1"/>
          <p:nvPr/>
        </p:nvSpPr>
        <p:spPr>
          <a:xfrm>
            <a:off x="877824" y="32369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4" name="Text 21"/>
          <p:cNvSpPr txBox="1"/>
          <p:nvPr/>
        </p:nvSpPr>
        <p:spPr>
          <a:xfrm>
            <a:off x="1371600" y="3236976"/>
            <a:ext cx="2551176" cy="384048"/>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Poll</a:t>
            </a:r>
            <a:endParaRPr lang="en-US" sz="1300" dirty="0"/>
          </a:p>
        </p:txBody>
      </p:sp>
      <p:sp>
        <p:nvSpPr>
          <p:cNvPr id="25" name="Text 22"/>
          <p:cNvSpPr txBox="1"/>
          <p:nvPr/>
        </p:nvSpPr>
        <p:spPr>
          <a:xfrm>
            <a:off x="877824" y="3675888"/>
            <a:ext cx="304495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Mengambil event I/O baru dan menjalankan callback-nya. Fase paling sibuk.</a:t>
            </a:r>
            <a:endParaRPr lang="en-US" sz="1030" dirty="0"/>
          </a:p>
        </p:txBody>
      </p:sp>
      <p:sp>
        <p:nvSpPr>
          <p:cNvPr id="26" name="Shape 23"/>
          <p:cNvSpPr/>
          <p:nvPr/>
        </p:nvSpPr>
        <p:spPr>
          <a:xfrm>
            <a:off x="4443984" y="3035808"/>
            <a:ext cx="3520440" cy="1152144"/>
          </a:xfrm>
          <a:prstGeom prst="roundRect">
            <a:avLst>
              <a:gd name="adj" fmla="val 714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7" name="Shape 24"/>
          <p:cNvSpPr/>
          <p:nvPr/>
        </p:nvSpPr>
        <p:spPr>
          <a:xfrm>
            <a:off x="4681728" y="3236976"/>
            <a:ext cx="384048" cy="384048"/>
          </a:xfrm>
          <a:prstGeom prst="roundRect">
            <a:avLst>
              <a:gd name="adj" fmla="val 26190"/>
            </a:avLst>
          </a:prstGeom>
          <a:solidFill>
            <a:srgbClr val="3C873A"/>
          </a:solidFill>
          <a:ln w="12700">
            <a:solidFill>
              <a:srgbClr val="3C873A"/>
            </a:solidFill>
            <a:prstDash val="solid"/>
          </a:ln>
        </p:spPr>
      </p:sp>
      <p:sp>
        <p:nvSpPr>
          <p:cNvPr id="28" name="Text 25"/>
          <p:cNvSpPr txBox="1"/>
          <p:nvPr/>
        </p:nvSpPr>
        <p:spPr>
          <a:xfrm>
            <a:off x="4681728" y="32369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5</a:t>
            </a:r>
            <a:endParaRPr lang="en-US" sz="1250" dirty="0"/>
          </a:p>
        </p:txBody>
      </p:sp>
      <p:sp>
        <p:nvSpPr>
          <p:cNvPr id="29" name="Text 26"/>
          <p:cNvSpPr txBox="1"/>
          <p:nvPr/>
        </p:nvSpPr>
        <p:spPr>
          <a:xfrm>
            <a:off x="5175504" y="3236976"/>
            <a:ext cx="2551176" cy="384048"/>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Check</a:t>
            </a:r>
            <a:endParaRPr lang="en-US" sz="1300" dirty="0"/>
          </a:p>
        </p:txBody>
      </p:sp>
      <p:sp>
        <p:nvSpPr>
          <p:cNvPr id="30" name="Text 27"/>
          <p:cNvSpPr txBox="1"/>
          <p:nvPr/>
        </p:nvSpPr>
        <p:spPr>
          <a:xfrm>
            <a:off x="4681728" y="3675888"/>
            <a:ext cx="304495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Menjalankan callback yang didaftarkan melalui setImmediate.</a:t>
            </a:r>
            <a:endParaRPr lang="en-US" sz="1030" dirty="0"/>
          </a:p>
        </p:txBody>
      </p:sp>
      <p:sp>
        <p:nvSpPr>
          <p:cNvPr id="31" name="Shape 28"/>
          <p:cNvSpPr/>
          <p:nvPr/>
        </p:nvSpPr>
        <p:spPr>
          <a:xfrm>
            <a:off x="8247888" y="3035808"/>
            <a:ext cx="3520440" cy="1152144"/>
          </a:xfrm>
          <a:prstGeom prst="roundRect">
            <a:avLst>
              <a:gd name="adj" fmla="val 714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2" name="Shape 29"/>
          <p:cNvSpPr/>
          <p:nvPr/>
        </p:nvSpPr>
        <p:spPr>
          <a:xfrm>
            <a:off x="8485632" y="3236976"/>
            <a:ext cx="384048" cy="384048"/>
          </a:xfrm>
          <a:prstGeom prst="roundRect">
            <a:avLst>
              <a:gd name="adj" fmla="val 26190"/>
            </a:avLst>
          </a:prstGeom>
          <a:solidFill>
            <a:srgbClr val="3C873A"/>
          </a:solidFill>
          <a:ln w="12700">
            <a:solidFill>
              <a:srgbClr val="3C873A"/>
            </a:solidFill>
            <a:prstDash val="solid"/>
          </a:ln>
        </p:spPr>
      </p:sp>
      <p:sp>
        <p:nvSpPr>
          <p:cNvPr id="33" name="Text 30"/>
          <p:cNvSpPr txBox="1"/>
          <p:nvPr/>
        </p:nvSpPr>
        <p:spPr>
          <a:xfrm>
            <a:off x="8485632" y="3236976"/>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6</a:t>
            </a:r>
            <a:endParaRPr lang="en-US" sz="1250" dirty="0"/>
          </a:p>
        </p:txBody>
      </p:sp>
      <p:sp>
        <p:nvSpPr>
          <p:cNvPr id="34" name="Text 31"/>
          <p:cNvSpPr txBox="1"/>
          <p:nvPr/>
        </p:nvSpPr>
        <p:spPr>
          <a:xfrm>
            <a:off x="8979408" y="3236976"/>
            <a:ext cx="2551176" cy="384048"/>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Close Callbacks</a:t>
            </a:r>
            <a:endParaRPr lang="en-US" sz="1300" dirty="0"/>
          </a:p>
        </p:txBody>
      </p:sp>
      <p:sp>
        <p:nvSpPr>
          <p:cNvPr id="35" name="Text 32"/>
          <p:cNvSpPr txBox="1"/>
          <p:nvPr/>
        </p:nvSpPr>
        <p:spPr>
          <a:xfrm>
            <a:off x="8485632" y="3675888"/>
            <a:ext cx="304495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Menjalankan callback penutupan, misalnya socket.on('close').</a:t>
            </a:r>
            <a:endParaRPr lang="en-US" sz="1030" dirty="0"/>
          </a:p>
        </p:txBody>
      </p:sp>
      <p:sp>
        <p:nvSpPr>
          <p:cNvPr id="36" name="Shape 33"/>
          <p:cNvSpPr/>
          <p:nvPr/>
        </p:nvSpPr>
        <p:spPr>
          <a:xfrm>
            <a:off x="640080" y="4443984"/>
            <a:ext cx="5669280" cy="1682496"/>
          </a:xfrm>
          <a:prstGeom prst="roundRect">
            <a:avLst>
              <a:gd name="adj" fmla="val 4891"/>
            </a:avLst>
          </a:prstGeom>
          <a:solidFill>
            <a:srgbClr val="FDF7E3"/>
          </a:solidFill>
          <a:ln w="12700">
            <a:solidFill>
              <a:srgbClr val="EFDFAE"/>
            </a:solidFill>
            <a:prstDash val="solid"/>
          </a:ln>
        </p:spPr>
      </p:sp>
      <p:pic>
        <p:nvPicPr>
          <p:cNvPr id="37" name="Image 1" descr="preencoded.png">    </p:cNvPr>
          <p:cNvPicPr>
            <a:picLocks noChangeAspect="1"/>
          </p:cNvPicPr>
          <p:nvPr/>
        </p:nvPicPr>
        <p:blipFill>
          <a:blip r:embed="rId2"/>
          <a:stretch>
            <a:fillRect/>
          </a:stretch>
        </p:blipFill>
        <p:spPr>
          <a:xfrm>
            <a:off x="896112" y="4645152"/>
            <a:ext cx="292608" cy="292608"/>
          </a:xfrm>
          <a:prstGeom prst="rect">
            <a:avLst/>
          </a:prstGeom>
        </p:spPr>
      </p:pic>
      <p:sp>
        <p:nvSpPr>
          <p:cNvPr id="38" name="Text 34"/>
          <p:cNvSpPr txBox="1"/>
          <p:nvPr/>
        </p:nvSpPr>
        <p:spPr>
          <a:xfrm>
            <a:off x="1316736" y="4608576"/>
            <a:ext cx="4754880" cy="365760"/>
          </a:xfrm>
          <a:prstGeom prst="rect">
            <a:avLst/>
          </a:prstGeom>
          <a:noFill/>
          <a:ln/>
        </p:spPr>
        <p:txBody>
          <a:bodyPr wrap="square" lIns="0" tIns="0" rIns="0" bIns="0" rtlCol="0" anchor="ctr"/>
          <a:lstStyle/>
          <a:p>
            <a:pPr indent="0" marL="0">
              <a:buNone/>
            </a:pPr>
            <a:r>
              <a:rPr lang="en-US" sz="1300" b="1" dirty="0">
                <a:solidFill>
                  <a:srgbClr val="6B5312"/>
                </a:solidFill>
                <a:latin typeface="Arial" pitchFamily="34" charset="0"/>
                <a:ea typeface="Arial" pitchFamily="34" charset="-122"/>
                <a:cs typeface="Arial" pitchFamily="34" charset="-120"/>
              </a:rPr>
              <a:t>Antrean Berprioritas Tinggi</a:t>
            </a:r>
            <a:endParaRPr lang="en-US" sz="1300" dirty="0"/>
          </a:p>
        </p:txBody>
      </p:sp>
      <p:sp>
        <p:nvSpPr>
          <p:cNvPr id="39" name="Text 35"/>
          <p:cNvSpPr txBox="1"/>
          <p:nvPr/>
        </p:nvSpPr>
        <p:spPr>
          <a:xfrm>
            <a:off x="896112" y="5029200"/>
            <a:ext cx="5157216" cy="987552"/>
          </a:xfrm>
          <a:prstGeom prst="rect">
            <a:avLst/>
          </a:prstGeom>
          <a:noFill/>
          <a:ln/>
        </p:spPr>
        <p:txBody>
          <a:bodyPr wrap="square" lIns="0" tIns="0" rIns="0" bIns="0" rtlCol="0" anchor="t"/>
          <a:lstStyle/>
          <a:p>
            <a:pPr indent="0" marL="0">
              <a:lnSpc>
                <a:spcPct val="114000"/>
              </a:lnSpc>
              <a:buNone/>
            </a:pPr>
            <a:r>
              <a:rPr lang="en-US" sz="1080" b="1" dirty="0">
                <a:solidFill>
                  <a:srgbClr val="6B5312"/>
                </a:solidFill>
                <a:latin typeface="Courier New" pitchFamily="34" charset="0"/>
                <a:ea typeface="Courier New" pitchFamily="34" charset="-122"/>
                <a:cs typeface="Courier New" pitchFamily="34" charset="-120"/>
              </a:rPr>
              <a:t>process.nextTick()</a:t>
            </a:r>
            <a:pPr indent="0" marL="0">
              <a:lnSpc>
                <a:spcPct val="114000"/>
              </a:lnSpc>
              <a:buNone/>
            </a:pPr>
            <a:r>
              <a:rPr lang="en-US" sz="1080" dirty="0">
                <a:solidFill>
                  <a:srgbClr val="6B5312"/>
                </a:solidFill>
                <a:latin typeface="Calibri" pitchFamily="34" charset="0"/>
                <a:ea typeface="Calibri" pitchFamily="34" charset="-122"/>
                <a:cs typeface="Calibri" pitchFamily="34" charset="-120"/>
              </a:rPr>
              <a:t> dan </a:t>
            </a:r>
            <a:pPr indent="0" marL="0">
              <a:lnSpc>
                <a:spcPct val="114000"/>
              </a:lnSpc>
              <a:buNone/>
            </a:pPr>
            <a:r>
              <a:rPr lang="en-US" sz="1080" b="1" dirty="0">
                <a:solidFill>
                  <a:srgbClr val="6B5312"/>
                </a:solidFill>
                <a:latin typeface="Courier New" pitchFamily="34" charset="0"/>
                <a:ea typeface="Courier New" pitchFamily="34" charset="-122"/>
                <a:cs typeface="Courier New" pitchFamily="34" charset="-120"/>
              </a:rPr>
              <a:t>Promise</a:t>
            </a:r>
            <a:pPr indent="0" marL="0">
              <a:lnSpc>
                <a:spcPct val="114000"/>
              </a:lnSpc>
              <a:buNone/>
            </a:pPr>
            <a:r>
              <a:rPr lang="en-US" sz="1080" dirty="0">
                <a:solidFill>
                  <a:srgbClr val="6B5312"/>
                </a:solidFill>
                <a:latin typeface="Calibri" pitchFamily="34" charset="0"/>
                <a:ea typeface="Calibri" pitchFamily="34" charset="-122"/>
                <a:cs typeface="Calibri" pitchFamily="34" charset="-120"/>
              </a:rPr>
              <a:t> (microtask) dijalankan di antara setiap fase, bukan di dalam fase tertentu. Keduanya selalu didahulukan sebelum event loop melanjutkan ke fase berikutnya, sehingga kode yang menumpuk di antrean ini dapat membuat event loop kelaparan.</a:t>
            </a:r>
            <a:endParaRPr lang="en-US" sz="1080" dirty="0"/>
          </a:p>
        </p:txBody>
      </p:sp>
      <p:sp>
        <p:nvSpPr>
          <p:cNvPr id="40" name="Shape 36"/>
          <p:cNvSpPr/>
          <p:nvPr/>
        </p:nvSpPr>
        <p:spPr>
          <a:xfrm>
            <a:off x="6583680" y="4443984"/>
            <a:ext cx="5029200" cy="1638422"/>
          </a:xfrm>
          <a:prstGeom prst="roundRect">
            <a:avLst>
              <a:gd name="adj" fmla="val 3907"/>
            </a:avLst>
          </a:prstGeom>
          <a:solidFill>
            <a:srgbClr val="0E2417"/>
          </a:solidFill>
          <a:ln w="12700">
            <a:solidFill>
              <a:srgbClr val="234A31"/>
            </a:solidFill>
            <a:prstDash val="solid"/>
          </a:ln>
        </p:spPr>
      </p:sp>
      <p:sp>
        <p:nvSpPr>
          <p:cNvPr id="41" name="Text 37"/>
          <p:cNvSpPr txBox="1"/>
          <p:nvPr/>
        </p:nvSpPr>
        <p:spPr>
          <a:xfrm>
            <a:off x="6803136" y="4535424"/>
            <a:ext cx="459028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URUTAN EKSEKUSI</a:t>
            </a:r>
            <a:endParaRPr lang="en-US" sz="950" dirty="0"/>
          </a:p>
        </p:txBody>
      </p:sp>
      <p:sp>
        <p:nvSpPr>
          <p:cNvPr id="42" name="Text 38"/>
          <p:cNvSpPr txBox="1"/>
          <p:nvPr/>
        </p:nvSpPr>
        <p:spPr>
          <a:xfrm>
            <a:off x="6803136" y="4846320"/>
            <a:ext cx="4590288" cy="1126358"/>
          </a:xfrm>
          <a:prstGeom prst="rect">
            <a:avLst/>
          </a:prstGeom>
          <a:noFill/>
          <a:ln/>
        </p:spPr>
        <p:txBody>
          <a:bodyPr wrap="square" lIns="0" tIns="0" rIns="0" bIns="0" rtlCol="0" anchor="t"/>
          <a:lstStyle/>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'1 sinkron'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setTimeout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=&gt;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'4 timer'</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0</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setImmediate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=&gt;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'5 check'</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.resolve().then(() =&gt;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'3 micro'</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.nextTick(() =&gt;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'2 nextTick'</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Output: 1 -&gt; 2 -&gt; 3 -&gt; 4 -&gt; 5</a:t>
            </a:r>
            <a:endParaRPr lang="en-US" sz="1050" dirty="0"/>
          </a:p>
        </p:txBody>
      </p:sp>
      <p:sp>
        <p:nvSpPr>
          <p:cNvPr id="43" name="Text 3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4" name="Text 4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Blocking vs Non-Blocking I/O</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Perbedaan mendasar yang menentukan skalabilitas aplikasi Node.js</a:t>
            </a:r>
            <a:endParaRPr lang="en-US" sz="1300" dirty="0"/>
          </a:p>
        </p:txBody>
      </p:sp>
      <p:sp>
        <p:nvSpPr>
          <p:cNvPr id="6" name="Shape 3"/>
          <p:cNvSpPr/>
          <p:nvPr/>
        </p:nvSpPr>
        <p:spPr>
          <a:xfrm>
            <a:off x="640080" y="1627632"/>
            <a:ext cx="5349240" cy="457200"/>
          </a:xfrm>
          <a:prstGeom prst="roundRect">
            <a:avLst>
              <a:gd name="adj" fmla="val 18000"/>
            </a:avLst>
          </a:prstGeom>
          <a:solidFill>
            <a:srgbClr val="C0392B"/>
          </a:solidFill>
          <a:ln w="12700">
            <a:solidFill>
              <a:srgbClr val="C0392B"/>
            </a:solidFill>
            <a:prstDash val="solid"/>
          </a:ln>
        </p:spPr>
      </p:sp>
      <p:sp>
        <p:nvSpPr>
          <p:cNvPr id="7" name="Text 4"/>
          <p:cNvSpPr txBox="1"/>
          <p:nvPr/>
        </p:nvSpPr>
        <p:spPr>
          <a:xfrm>
            <a:off x="868680" y="1627632"/>
            <a:ext cx="4892040" cy="45720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BLOCKING — Menghentikan Thread</a:t>
            </a:r>
            <a:endParaRPr lang="en-US" sz="1250" dirty="0"/>
          </a:p>
        </p:txBody>
      </p:sp>
      <p:sp>
        <p:nvSpPr>
          <p:cNvPr id="8" name="Shape 5"/>
          <p:cNvSpPr/>
          <p:nvPr/>
        </p:nvSpPr>
        <p:spPr>
          <a:xfrm>
            <a:off x="6263640" y="1627632"/>
            <a:ext cx="5349240" cy="457200"/>
          </a:xfrm>
          <a:prstGeom prst="roundRect">
            <a:avLst>
              <a:gd name="adj" fmla="val 18000"/>
            </a:avLst>
          </a:prstGeom>
          <a:solidFill>
            <a:srgbClr val="3C873A"/>
          </a:solidFill>
          <a:ln w="12700">
            <a:solidFill>
              <a:srgbClr val="3C873A"/>
            </a:solidFill>
            <a:prstDash val="solid"/>
          </a:ln>
        </p:spPr>
      </p:sp>
      <p:sp>
        <p:nvSpPr>
          <p:cNvPr id="9" name="Text 6"/>
          <p:cNvSpPr txBox="1"/>
          <p:nvPr/>
        </p:nvSpPr>
        <p:spPr>
          <a:xfrm>
            <a:off x="6492240" y="1627632"/>
            <a:ext cx="4892040" cy="45720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NON-BLOCKING — Melanjutkan Eksekusi</a:t>
            </a:r>
            <a:endParaRPr lang="en-US" sz="1250" dirty="0"/>
          </a:p>
        </p:txBody>
      </p:sp>
      <p:sp>
        <p:nvSpPr>
          <p:cNvPr id="10" name="Shape 7"/>
          <p:cNvSpPr/>
          <p:nvPr/>
        </p:nvSpPr>
        <p:spPr>
          <a:xfrm>
            <a:off x="640080" y="2212848"/>
            <a:ext cx="5349240" cy="1862450"/>
          </a:xfrm>
          <a:prstGeom prst="roundRect">
            <a:avLst>
              <a:gd name="adj" fmla="val 3437"/>
            </a:avLst>
          </a:prstGeom>
          <a:solidFill>
            <a:srgbClr val="0E2417"/>
          </a:solidFill>
          <a:ln w="12700">
            <a:solidFill>
              <a:srgbClr val="234A31"/>
            </a:solidFill>
            <a:prstDash val="solid"/>
          </a:ln>
        </p:spPr>
      </p:sp>
      <p:sp>
        <p:nvSpPr>
          <p:cNvPr id="11" name="Text 8"/>
          <p:cNvSpPr txBox="1"/>
          <p:nvPr/>
        </p:nvSpPr>
        <p:spPr>
          <a:xfrm>
            <a:off x="859536" y="2414016"/>
            <a:ext cx="4910328" cy="1551554"/>
          </a:xfrm>
          <a:prstGeom prst="rect">
            <a:avLst/>
          </a:prstGeom>
          <a:noFill/>
          <a:ln/>
        </p:spPr>
        <p:txBody>
          <a:bodyPr wrap="square" lIns="0" tIns="0" rIns="0" bIns="0" rtlCol="0" anchor="t"/>
          <a:lstStyle/>
          <a:p>
            <a:pPr indent="0" marL="0">
              <a:lnSpc>
                <a:spcPct val="106000"/>
              </a:lnSpc>
              <a:buNone/>
            </a:pPr>
            <a:r>
              <a:rPr lang="en-US" sz="11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Thread berhenti sampai berkas selesai dibaca</a:t>
            </a:r>
            <a:endParaRPr lang="en-US" sz="1100" dirty="0"/>
          </a:p>
          <a:p>
            <a:pPr indent="0" marL="0">
              <a:lnSpc>
                <a:spcPct val="106000"/>
              </a:lnSpc>
              <a:buNone/>
            </a:pPr>
            <a:r>
              <a:rPr lang="en-US" sz="11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data = fs.readFileSync(</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'/file.txt'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.log(data);</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Baris ini menunggu baris di atas selesai</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prosesLain();</a:t>
            </a:r>
            <a:endParaRPr lang="en-US" sz="1100" dirty="0"/>
          </a:p>
        </p:txBody>
      </p:sp>
      <p:sp>
        <p:nvSpPr>
          <p:cNvPr id="12" name="Shape 9"/>
          <p:cNvSpPr/>
          <p:nvPr/>
        </p:nvSpPr>
        <p:spPr>
          <a:xfrm>
            <a:off x="6263640" y="2212848"/>
            <a:ext cx="5349240" cy="2049536"/>
          </a:xfrm>
          <a:prstGeom prst="roundRect">
            <a:avLst>
              <a:gd name="adj" fmla="val 3123"/>
            </a:avLst>
          </a:prstGeom>
          <a:solidFill>
            <a:srgbClr val="0E2417"/>
          </a:solidFill>
          <a:ln w="12700">
            <a:solidFill>
              <a:srgbClr val="234A31"/>
            </a:solidFill>
            <a:prstDash val="solid"/>
          </a:ln>
        </p:spPr>
      </p:sp>
      <p:sp>
        <p:nvSpPr>
          <p:cNvPr id="13" name="Text 10"/>
          <p:cNvSpPr txBox="1"/>
          <p:nvPr/>
        </p:nvSpPr>
        <p:spPr>
          <a:xfrm>
            <a:off x="6483096" y="2414016"/>
            <a:ext cx="4910328" cy="1738640"/>
          </a:xfrm>
          <a:prstGeom prst="rect">
            <a:avLst/>
          </a:prstGeom>
          <a:noFill/>
          <a:ln/>
        </p:spPr>
        <p:txBody>
          <a:bodyPr wrap="square" lIns="0" tIns="0" rIns="0" bIns="0" rtlCol="0" anchor="t"/>
          <a:lstStyle/>
          <a:p>
            <a:pPr indent="0" marL="0">
              <a:lnSpc>
                <a:spcPct val="106000"/>
              </a:lnSpc>
              <a:buNone/>
            </a:pPr>
            <a:r>
              <a:rPr lang="en-US" sz="11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Pembacaan berjalan di latar belakang</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fs.readFile(</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'/file.txt'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(err, data) =&gt; {</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.log(data);</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Baris ini langsung dijalankan</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prosesLain();</a:t>
            </a:r>
            <a:endParaRPr lang="en-US" sz="1100" dirty="0"/>
          </a:p>
        </p:txBody>
      </p:sp>
      <p:sp>
        <p:nvSpPr>
          <p:cNvPr id="14" name="Shape 11"/>
          <p:cNvSpPr/>
          <p:nvPr/>
        </p:nvSpPr>
        <p:spPr>
          <a:xfrm>
            <a:off x="640080" y="4224528"/>
            <a:ext cx="10972800" cy="365760"/>
          </a:xfrm>
          <a:prstGeom prst="roundRect">
            <a:avLst>
              <a:gd name="adj" fmla="val 12500"/>
            </a:avLst>
          </a:prstGeom>
          <a:solidFill>
            <a:srgbClr val="0B2015"/>
          </a:solidFill>
          <a:ln w="12700">
            <a:solidFill>
              <a:srgbClr val="0B2015"/>
            </a:solidFill>
            <a:prstDash val="solid"/>
          </a:ln>
        </p:spPr>
      </p:sp>
      <p:sp>
        <p:nvSpPr>
          <p:cNvPr id="15" name="Text 12"/>
          <p:cNvSpPr txBox="1"/>
          <p:nvPr/>
        </p:nvSpPr>
        <p:spPr>
          <a:xfrm>
            <a:off x="868680" y="4224528"/>
            <a:ext cx="274320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Aspek</a:t>
            </a:r>
            <a:endParaRPr lang="en-US" sz="1100" dirty="0"/>
          </a:p>
        </p:txBody>
      </p:sp>
      <p:sp>
        <p:nvSpPr>
          <p:cNvPr id="16" name="Text 13"/>
          <p:cNvSpPr txBox="1"/>
          <p:nvPr/>
        </p:nvSpPr>
        <p:spPr>
          <a:xfrm>
            <a:off x="3703320" y="4224528"/>
            <a:ext cx="402336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Blocking</a:t>
            </a:r>
            <a:endParaRPr lang="en-US" sz="1100" dirty="0"/>
          </a:p>
        </p:txBody>
      </p:sp>
      <p:sp>
        <p:nvSpPr>
          <p:cNvPr id="17" name="Text 14"/>
          <p:cNvSpPr txBox="1"/>
          <p:nvPr/>
        </p:nvSpPr>
        <p:spPr>
          <a:xfrm>
            <a:off x="7772400" y="4224528"/>
            <a:ext cx="402336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Non-Blocking</a:t>
            </a:r>
            <a:endParaRPr lang="en-US" sz="1100" dirty="0"/>
          </a:p>
        </p:txBody>
      </p:sp>
      <p:sp>
        <p:nvSpPr>
          <p:cNvPr id="18" name="Shape 15"/>
          <p:cNvSpPr/>
          <p:nvPr/>
        </p:nvSpPr>
        <p:spPr>
          <a:xfrm>
            <a:off x="640080" y="4626864"/>
            <a:ext cx="10972800" cy="365760"/>
          </a:xfrm>
          <a:prstGeom prst="roundRect">
            <a:avLst>
              <a:gd name="adj" fmla="val 12500"/>
            </a:avLst>
          </a:prstGeom>
          <a:solidFill>
            <a:srgbClr val="FFFFFF"/>
          </a:solidFill>
          <a:ln w="12700">
            <a:solidFill>
              <a:srgbClr val="E3EBDF"/>
            </a:solidFill>
            <a:prstDash val="solid"/>
          </a:ln>
        </p:spPr>
      </p:sp>
      <p:sp>
        <p:nvSpPr>
          <p:cNvPr id="19" name="Text 16"/>
          <p:cNvSpPr txBox="1"/>
          <p:nvPr/>
        </p:nvSpPr>
        <p:spPr>
          <a:xfrm>
            <a:off x="868680" y="4626864"/>
            <a:ext cx="2743200" cy="365760"/>
          </a:xfrm>
          <a:prstGeom prst="rect">
            <a:avLst/>
          </a:prstGeom>
          <a:noFill/>
          <a:ln/>
        </p:spPr>
        <p:txBody>
          <a:bodyPr wrap="square" lIns="0" tIns="0" rIns="0" bIns="0" rtlCol="0" anchor="ctr"/>
          <a:lstStyle/>
          <a:p>
            <a:pPr indent="0" marL="0">
              <a:buNone/>
            </a:pPr>
            <a:r>
              <a:rPr lang="en-US" sz="1100" b="1" dirty="0">
                <a:solidFill>
                  <a:srgbClr val="16241B"/>
                </a:solidFill>
                <a:latin typeface="Calibri" pitchFamily="34" charset="0"/>
                <a:ea typeface="Calibri" pitchFamily="34" charset="-122"/>
                <a:cs typeface="Calibri" pitchFamily="34" charset="-120"/>
              </a:rPr>
              <a:t>Eksekusi</a:t>
            </a:r>
            <a:endParaRPr lang="en-US" sz="1100" dirty="0"/>
          </a:p>
        </p:txBody>
      </p:sp>
      <p:sp>
        <p:nvSpPr>
          <p:cNvPr id="20" name="Text 17"/>
          <p:cNvSpPr txBox="1"/>
          <p:nvPr/>
        </p:nvSpPr>
        <p:spPr>
          <a:xfrm>
            <a:off x="3703320" y="4626864"/>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Berurutan dan menunggu</a:t>
            </a:r>
            <a:endParaRPr lang="en-US" sz="1100" dirty="0"/>
          </a:p>
        </p:txBody>
      </p:sp>
      <p:sp>
        <p:nvSpPr>
          <p:cNvPr id="21" name="Text 18"/>
          <p:cNvSpPr txBox="1"/>
          <p:nvPr/>
        </p:nvSpPr>
        <p:spPr>
          <a:xfrm>
            <a:off x="7772400" y="4626864"/>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Berlanjut tanpa menunggu</a:t>
            </a:r>
            <a:endParaRPr lang="en-US" sz="1100" dirty="0"/>
          </a:p>
        </p:txBody>
      </p:sp>
      <p:sp>
        <p:nvSpPr>
          <p:cNvPr id="22" name="Shape 19"/>
          <p:cNvSpPr/>
          <p:nvPr/>
        </p:nvSpPr>
        <p:spPr>
          <a:xfrm>
            <a:off x="640080" y="5029200"/>
            <a:ext cx="10972800" cy="365760"/>
          </a:xfrm>
          <a:prstGeom prst="roundRect">
            <a:avLst>
              <a:gd name="adj" fmla="val 12500"/>
            </a:avLst>
          </a:prstGeom>
          <a:solidFill>
            <a:srgbClr val="EDF3E9"/>
          </a:solidFill>
          <a:ln w="12700">
            <a:solidFill>
              <a:srgbClr val="E3EBDF"/>
            </a:solidFill>
            <a:prstDash val="solid"/>
          </a:ln>
        </p:spPr>
      </p:sp>
      <p:sp>
        <p:nvSpPr>
          <p:cNvPr id="23" name="Text 20"/>
          <p:cNvSpPr txBox="1"/>
          <p:nvPr/>
        </p:nvSpPr>
        <p:spPr>
          <a:xfrm>
            <a:off x="868680" y="5029200"/>
            <a:ext cx="2743200" cy="365760"/>
          </a:xfrm>
          <a:prstGeom prst="rect">
            <a:avLst/>
          </a:prstGeom>
          <a:noFill/>
          <a:ln/>
        </p:spPr>
        <p:txBody>
          <a:bodyPr wrap="square" lIns="0" tIns="0" rIns="0" bIns="0" rtlCol="0" anchor="ctr"/>
          <a:lstStyle/>
          <a:p>
            <a:pPr indent="0" marL="0">
              <a:buNone/>
            </a:pPr>
            <a:r>
              <a:rPr lang="en-US" sz="1100" b="1" dirty="0">
                <a:solidFill>
                  <a:srgbClr val="16241B"/>
                </a:solidFill>
                <a:latin typeface="Calibri" pitchFamily="34" charset="0"/>
                <a:ea typeface="Calibri" pitchFamily="34" charset="-122"/>
                <a:cs typeface="Calibri" pitchFamily="34" charset="-120"/>
              </a:rPr>
              <a:t>Penamaan API</a:t>
            </a:r>
            <a:endParaRPr lang="en-US" sz="1100" dirty="0"/>
          </a:p>
        </p:txBody>
      </p:sp>
      <p:sp>
        <p:nvSpPr>
          <p:cNvPr id="24" name="Text 21"/>
          <p:cNvSpPr txBox="1"/>
          <p:nvPr/>
        </p:nvSpPr>
        <p:spPr>
          <a:xfrm>
            <a:off x="3703320" y="5029200"/>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Berakhiran Sync</a:t>
            </a:r>
            <a:endParaRPr lang="en-US" sz="1100" dirty="0"/>
          </a:p>
        </p:txBody>
      </p:sp>
      <p:sp>
        <p:nvSpPr>
          <p:cNvPr id="25" name="Text 22"/>
          <p:cNvSpPr txBox="1"/>
          <p:nvPr/>
        </p:nvSpPr>
        <p:spPr>
          <a:xfrm>
            <a:off x="7772400" y="5029200"/>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Callback, Promise, atau async</a:t>
            </a:r>
            <a:endParaRPr lang="en-US" sz="1100" dirty="0"/>
          </a:p>
        </p:txBody>
      </p:sp>
      <p:sp>
        <p:nvSpPr>
          <p:cNvPr id="26" name="Shape 23"/>
          <p:cNvSpPr/>
          <p:nvPr/>
        </p:nvSpPr>
        <p:spPr>
          <a:xfrm>
            <a:off x="640080" y="5431536"/>
            <a:ext cx="10972800" cy="365760"/>
          </a:xfrm>
          <a:prstGeom prst="roundRect">
            <a:avLst>
              <a:gd name="adj" fmla="val 12500"/>
            </a:avLst>
          </a:prstGeom>
          <a:solidFill>
            <a:srgbClr val="FFFFFF"/>
          </a:solidFill>
          <a:ln w="12700">
            <a:solidFill>
              <a:srgbClr val="E3EBDF"/>
            </a:solidFill>
            <a:prstDash val="solid"/>
          </a:ln>
        </p:spPr>
      </p:sp>
      <p:sp>
        <p:nvSpPr>
          <p:cNvPr id="27" name="Text 24"/>
          <p:cNvSpPr txBox="1"/>
          <p:nvPr/>
        </p:nvSpPr>
        <p:spPr>
          <a:xfrm>
            <a:off x="868680" y="5431536"/>
            <a:ext cx="2743200" cy="365760"/>
          </a:xfrm>
          <a:prstGeom prst="rect">
            <a:avLst/>
          </a:prstGeom>
          <a:noFill/>
          <a:ln/>
        </p:spPr>
        <p:txBody>
          <a:bodyPr wrap="square" lIns="0" tIns="0" rIns="0" bIns="0" rtlCol="0" anchor="ctr"/>
          <a:lstStyle/>
          <a:p>
            <a:pPr indent="0" marL="0">
              <a:buNone/>
            </a:pPr>
            <a:r>
              <a:rPr lang="en-US" sz="1100" b="1" dirty="0">
                <a:solidFill>
                  <a:srgbClr val="16241B"/>
                </a:solidFill>
                <a:latin typeface="Calibri" pitchFamily="34" charset="0"/>
                <a:ea typeface="Calibri" pitchFamily="34" charset="-122"/>
                <a:cs typeface="Calibri" pitchFamily="34" charset="-120"/>
              </a:rPr>
              <a:t>Skalabilitas</a:t>
            </a:r>
            <a:endParaRPr lang="en-US" sz="1100" dirty="0"/>
          </a:p>
        </p:txBody>
      </p:sp>
      <p:sp>
        <p:nvSpPr>
          <p:cNvPr id="28" name="Text 25"/>
          <p:cNvSpPr txBox="1"/>
          <p:nvPr/>
        </p:nvSpPr>
        <p:spPr>
          <a:xfrm>
            <a:off x="3703320" y="5431536"/>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Rendah pada beban tinggi</a:t>
            </a:r>
            <a:endParaRPr lang="en-US" sz="1100" dirty="0"/>
          </a:p>
        </p:txBody>
      </p:sp>
      <p:sp>
        <p:nvSpPr>
          <p:cNvPr id="29" name="Text 26"/>
          <p:cNvSpPr txBox="1"/>
          <p:nvPr/>
        </p:nvSpPr>
        <p:spPr>
          <a:xfrm>
            <a:off x="7772400" y="5431536"/>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Tinggi untuk ribuan koneksi</a:t>
            </a:r>
            <a:endParaRPr lang="en-US" sz="1100" dirty="0"/>
          </a:p>
        </p:txBody>
      </p:sp>
      <p:sp>
        <p:nvSpPr>
          <p:cNvPr id="30" name="Shape 27"/>
          <p:cNvSpPr/>
          <p:nvPr/>
        </p:nvSpPr>
        <p:spPr>
          <a:xfrm>
            <a:off x="640080" y="5833872"/>
            <a:ext cx="10972800" cy="365760"/>
          </a:xfrm>
          <a:prstGeom prst="roundRect">
            <a:avLst>
              <a:gd name="adj" fmla="val 12500"/>
            </a:avLst>
          </a:prstGeom>
          <a:solidFill>
            <a:srgbClr val="EDF3E9"/>
          </a:solidFill>
          <a:ln w="12700">
            <a:solidFill>
              <a:srgbClr val="E3EBDF"/>
            </a:solidFill>
            <a:prstDash val="solid"/>
          </a:ln>
        </p:spPr>
      </p:sp>
      <p:sp>
        <p:nvSpPr>
          <p:cNvPr id="31" name="Text 28"/>
          <p:cNvSpPr txBox="1"/>
          <p:nvPr/>
        </p:nvSpPr>
        <p:spPr>
          <a:xfrm>
            <a:off x="868680" y="5833872"/>
            <a:ext cx="2743200" cy="365760"/>
          </a:xfrm>
          <a:prstGeom prst="rect">
            <a:avLst/>
          </a:prstGeom>
          <a:noFill/>
          <a:ln/>
        </p:spPr>
        <p:txBody>
          <a:bodyPr wrap="square" lIns="0" tIns="0" rIns="0" bIns="0" rtlCol="0" anchor="ctr"/>
          <a:lstStyle/>
          <a:p>
            <a:pPr indent="0" marL="0">
              <a:buNone/>
            </a:pPr>
            <a:r>
              <a:rPr lang="en-US" sz="1100" b="1" dirty="0">
                <a:solidFill>
                  <a:srgbClr val="16241B"/>
                </a:solidFill>
                <a:latin typeface="Calibri" pitchFamily="34" charset="0"/>
                <a:ea typeface="Calibri" pitchFamily="34" charset="-122"/>
                <a:cs typeface="Calibri" pitchFamily="34" charset="-120"/>
              </a:rPr>
              <a:t>Kapan dipakai</a:t>
            </a:r>
            <a:endParaRPr lang="en-US" sz="1100" dirty="0"/>
          </a:p>
        </p:txBody>
      </p:sp>
      <p:sp>
        <p:nvSpPr>
          <p:cNvPr id="32" name="Text 29"/>
          <p:cNvSpPr txBox="1"/>
          <p:nvPr/>
        </p:nvSpPr>
        <p:spPr>
          <a:xfrm>
            <a:off x="3703320" y="5833872"/>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Skrip CLI dan proses startup</a:t>
            </a:r>
            <a:endParaRPr lang="en-US" sz="1100" dirty="0"/>
          </a:p>
        </p:txBody>
      </p:sp>
      <p:sp>
        <p:nvSpPr>
          <p:cNvPr id="33" name="Text 30"/>
          <p:cNvSpPr txBox="1"/>
          <p:nvPr/>
        </p:nvSpPr>
        <p:spPr>
          <a:xfrm>
            <a:off x="7772400" y="5833872"/>
            <a:ext cx="4023360" cy="365760"/>
          </a:xfrm>
          <a:prstGeom prst="rect">
            <a:avLst/>
          </a:prstGeom>
          <a:noFill/>
          <a:ln/>
        </p:spPr>
        <p:txBody>
          <a:bodyPr wrap="square" lIns="0" tIns="0" rIns="0" bIns="0" rtlCol="0" anchor="ctr"/>
          <a:lstStyle/>
          <a:p>
            <a:pPr indent="0" marL="0">
              <a:buNone/>
            </a:pPr>
            <a:r>
              <a:rPr lang="en-US" sz="1100" dirty="0">
                <a:solidFill>
                  <a:srgbClr val="16241B"/>
                </a:solidFill>
                <a:latin typeface="Calibri" pitchFamily="34" charset="0"/>
                <a:ea typeface="Calibri" pitchFamily="34" charset="-122"/>
                <a:cs typeface="Calibri" pitchFamily="34" charset="-120"/>
              </a:rPr>
              <a:t>Server dan aplikasi produksi</a:t>
            </a:r>
            <a:endParaRPr lang="en-US" sz="1100" dirty="0"/>
          </a:p>
        </p:txBody>
      </p:sp>
      <p:sp>
        <p:nvSpPr>
          <p:cNvPr id="34" name="Text 3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5" name="Text 3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Model Single-Thread &amp; Thread Pool</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Bagaimana satu thread dapat melayani ribuan permintaan sekaligus</a:t>
            </a:r>
            <a:endParaRPr lang="en-US" sz="1300" dirty="0"/>
          </a:p>
        </p:txBody>
      </p:sp>
      <p:sp>
        <p:nvSpPr>
          <p:cNvPr id="6" name="Shape 3"/>
          <p:cNvSpPr/>
          <p:nvPr/>
        </p:nvSpPr>
        <p:spPr>
          <a:xfrm>
            <a:off x="640080" y="1691640"/>
            <a:ext cx="1673352" cy="2240280"/>
          </a:xfrm>
          <a:prstGeom prst="roundRect">
            <a:avLst>
              <a:gd name="adj" fmla="val 49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1220724" y="1883664"/>
            <a:ext cx="512064" cy="512064"/>
          </a:xfrm>
          <a:prstGeom prst="roundRect">
            <a:avLst>
              <a:gd name="adj" fmla="val 25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348740" y="2011680"/>
            <a:ext cx="256032" cy="256032"/>
          </a:xfrm>
          <a:prstGeom prst="rect">
            <a:avLst/>
          </a:prstGeom>
        </p:spPr>
      </p:pic>
      <p:sp>
        <p:nvSpPr>
          <p:cNvPr id="9" name="Text 5"/>
          <p:cNvSpPr txBox="1"/>
          <p:nvPr/>
        </p:nvSpPr>
        <p:spPr>
          <a:xfrm>
            <a:off x="749808" y="2505456"/>
            <a:ext cx="1453896" cy="402336"/>
          </a:xfrm>
          <a:prstGeom prst="rect">
            <a:avLst/>
          </a:prstGeom>
          <a:noFill/>
          <a:ln/>
        </p:spPr>
        <p:txBody>
          <a:bodyPr wrap="square" lIns="0" tIns="0" rIns="0" bIns="0" rtlCol="0" anchor="ctr"/>
          <a:lstStyle/>
          <a:p>
            <a:pPr algn="ctr" indent="0" marL="0">
              <a:buNone/>
            </a:pPr>
            <a:r>
              <a:rPr lang="en-US" sz="1100" b="1" dirty="0">
                <a:solidFill>
                  <a:srgbClr val="16241B"/>
                </a:solidFill>
                <a:latin typeface="Arial" pitchFamily="34" charset="0"/>
                <a:ea typeface="Arial" pitchFamily="34" charset="-122"/>
                <a:cs typeface="Arial" pitchFamily="34" charset="-120"/>
              </a:rPr>
              <a:t>Permintaan Masuk</a:t>
            </a:r>
            <a:endParaRPr lang="en-US" sz="1100" dirty="0"/>
          </a:p>
        </p:txBody>
      </p:sp>
      <p:sp>
        <p:nvSpPr>
          <p:cNvPr id="10" name="Text 6"/>
          <p:cNvSpPr txBox="1"/>
          <p:nvPr/>
        </p:nvSpPr>
        <p:spPr>
          <a:xfrm>
            <a:off x="749808" y="2926080"/>
            <a:ext cx="1453896" cy="896112"/>
          </a:xfrm>
          <a:prstGeom prst="rect">
            <a:avLst/>
          </a:prstGeom>
          <a:noFill/>
          <a:ln/>
        </p:spPr>
        <p:txBody>
          <a:bodyPr wrap="square" lIns="0" tIns="0" rIns="0" bIns="0" rtlCol="0" anchor="t"/>
          <a:lstStyle/>
          <a:p>
            <a:pPr algn="ctr" indent="0" marL="0">
              <a:lnSpc>
                <a:spcPct val="110000"/>
              </a:lnSpc>
              <a:buNone/>
            </a:pPr>
            <a:r>
              <a:rPr lang="en-US" sz="960" dirty="0">
                <a:solidFill>
                  <a:srgbClr val="5F6F62"/>
                </a:solidFill>
                <a:latin typeface="Calibri" pitchFamily="34" charset="0"/>
                <a:ea typeface="Calibri" pitchFamily="34" charset="-122"/>
                <a:cs typeface="Calibri" pitchFamily="34" charset="-120"/>
              </a:rPr>
              <a:t>Ribuan klien mengirim permintaan ke server secara bersamaan.</a:t>
            </a:r>
            <a:endParaRPr lang="en-US" sz="960" dirty="0"/>
          </a:p>
        </p:txBody>
      </p:sp>
      <p:pic>
        <p:nvPicPr>
          <p:cNvPr id="11" name="Image 2" descr="preencoded.png">    </p:cNvPr>
          <p:cNvPicPr>
            <a:picLocks noChangeAspect="1"/>
          </p:cNvPicPr>
          <p:nvPr/>
        </p:nvPicPr>
        <p:blipFill>
          <a:blip r:embed="rId3"/>
          <a:stretch>
            <a:fillRect/>
          </a:stretch>
        </p:blipFill>
        <p:spPr>
          <a:xfrm>
            <a:off x="2318004" y="2697480"/>
            <a:ext cx="164592" cy="164592"/>
          </a:xfrm>
          <a:prstGeom prst="rect">
            <a:avLst/>
          </a:prstGeom>
        </p:spPr>
      </p:pic>
      <p:sp>
        <p:nvSpPr>
          <p:cNvPr id="12" name="Shape 7"/>
          <p:cNvSpPr/>
          <p:nvPr/>
        </p:nvSpPr>
        <p:spPr>
          <a:xfrm>
            <a:off x="2487168" y="1691640"/>
            <a:ext cx="1673352" cy="2240280"/>
          </a:xfrm>
          <a:prstGeom prst="roundRect">
            <a:avLst>
              <a:gd name="adj" fmla="val 49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3" name="Shape 8"/>
          <p:cNvSpPr/>
          <p:nvPr/>
        </p:nvSpPr>
        <p:spPr>
          <a:xfrm>
            <a:off x="3067812" y="1883664"/>
            <a:ext cx="512064" cy="512064"/>
          </a:xfrm>
          <a:prstGeom prst="roundRect">
            <a:avLst>
              <a:gd name="adj" fmla="val 25000"/>
            </a:avLst>
          </a:prstGeom>
          <a:solidFill>
            <a:srgbClr val="E8F2E2"/>
          </a:solidFill>
          <a:ln w="12700">
            <a:solidFill>
              <a:srgbClr val="E8F2E2"/>
            </a:solidFill>
            <a:prstDash val="solid"/>
          </a:ln>
        </p:spPr>
      </p:sp>
      <p:pic>
        <p:nvPicPr>
          <p:cNvPr id="14" name="Image 3" descr="preencoded.png">    </p:cNvPr>
          <p:cNvPicPr>
            <a:picLocks noChangeAspect="1"/>
          </p:cNvPicPr>
          <p:nvPr/>
        </p:nvPicPr>
        <p:blipFill>
          <a:blip r:embed="rId4"/>
          <a:stretch>
            <a:fillRect/>
          </a:stretch>
        </p:blipFill>
        <p:spPr>
          <a:xfrm>
            <a:off x="3195828" y="2011680"/>
            <a:ext cx="256032" cy="256032"/>
          </a:xfrm>
          <a:prstGeom prst="rect">
            <a:avLst/>
          </a:prstGeom>
        </p:spPr>
      </p:pic>
      <p:sp>
        <p:nvSpPr>
          <p:cNvPr id="15" name="Text 9"/>
          <p:cNvSpPr txBox="1"/>
          <p:nvPr/>
        </p:nvSpPr>
        <p:spPr>
          <a:xfrm>
            <a:off x="2596896" y="2505456"/>
            <a:ext cx="1453896" cy="402336"/>
          </a:xfrm>
          <a:prstGeom prst="rect">
            <a:avLst/>
          </a:prstGeom>
          <a:noFill/>
          <a:ln/>
        </p:spPr>
        <p:txBody>
          <a:bodyPr wrap="square" lIns="0" tIns="0" rIns="0" bIns="0" rtlCol="0" anchor="ctr"/>
          <a:lstStyle/>
          <a:p>
            <a:pPr algn="ctr" indent="0" marL="0">
              <a:buNone/>
            </a:pPr>
            <a:r>
              <a:rPr lang="en-US" sz="1100" b="1" dirty="0">
                <a:solidFill>
                  <a:srgbClr val="16241B"/>
                </a:solidFill>
                <a:latin typeface="Arial" pitchFamily="34" charset="0"/>
                <a:ea typeface="Arial" pitchFamily="34" charset="-122"/>
                <a:cs typeface="Arial" pitchFamily="34" charset="-120"/>
              </a:rPr>
              <a:t>Event Queue</a:t>
            </a:r>
            <a:endParaRPr lang="en-US" sz="1100" dirty="0"/>
          </a:p>
        </p:txBody>
      </p:sp>
      <p:sp>
        <p:nvSpPr>
          <p:cNvPr id="16" name="Text 10"/>
          <p:cNvSpPr txBox="1"/>
          <p:nvPr/>
        </p:nvSpPr>
        <p:spPr>
          <a:xfrm>
            <a:off x="2596896" y="2926080"/>
            <a:ext cx="1453896" cy="896112"/>
          </a:xfrm>
          <a:prstGeom prst="rect">
            <a:avLst/>
          </a:prstGeom>
          <a:noFill/>
          <a:ln/>
        </p:spPr>
        <p:txBody>
          <a:bodyPr wrap="square" lIns="0" tIns="0" rIns="0" bIns="0" rtlCol="0" anchor="t"/>
          <a:lstStyle/>
          <a:p>
            <a:pPr algn="ctr" indent="0" marL="0">
              <a:lnSpc>
                <a:spcPct val="110000"/>
              </a:lnSpc>
              <a:buNone/>
            </a:pPr>
            <a:r>
              <a:rPr lang="en-US" sz="960" dirty="0">
                <a:solidFill>
                  <a:srgbClr val="5F6F62"/>
                </a:solidFill>
                <a:latin typeface="Calibri" pitchFamily="34" charset="0"/>
                <a:ea typeface="Calibri" pitchFamily="34" charset="-122"/>
                <a:cs typeface="Calibri" pitchFamily="34" charset="-120"/>
              </a:rPr>
              <a:t>Permintaan ditampung dalam antrean, tanpa membuat thread baru.</a:t>
            </a:r>
            <a:endParaRPr lang="en-US" sz="960" dirty="0"/>
          </a:p>
        </p:txBody>
      </p:sp>
      <p:pic>
        <p:nvPicPr>
          <p:cNvPr id="17" name="Image 4" descr="preencoded.png">    </p:cNvPr>
          <p:cNvPicPr>
            <a:picLocks noChangeAspect="1"/>
          </p:cNvPicPr>
          <p:nvPr/>
        </p:nvPicPr>
        <p:blipFill>
          <a:blip r:embed="rId5"/>
          <a:stretch>
            <a:fillRect/>
          </a:stretch>
        </p:blipFill>
        <p:spPr>
          <a:xfrm>
            <a:off x="4165092" y="2697480"/>
            <a:ext cx="164592" cy="164592"/>
          </a:xfrm>
          <a:prstGeom prst="rect">
            <a:avLst/>
          </a:prstGeom>
        </p:spPr>
      </p:pic>
      <p:sp>
        <p:nvSpPr>
          <p:cNvPr id="18" name="Shape 11"/>
          <p:cNvSpPr/>
          <p:nvPr/>
        </p:nvSpPr>
        <p:spPr>
          <a:xfrm>
            <a:off x="4334256" y="1691640"/>
            <a:ext cx="1673352" cy="2240280"/>
          </a:xfrm>
          <a:prstGeom prst="roundRect">
            <a:avLst>
              <a:gd name="adj" fmla="val 49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9" name="Shape 12"/>
          <p:cNvSpPr/>
          <p:nvPr/>
        </p:nvSpPr>
        <p:spPr>
          <a:xfrm>
            <a:off x="4914900" y="1883664"/>
            <a:ext cx="512064" cy="512064"/>
          </a:xfrm>
          <a:prstGeom prst="roundRect">
            <a:avLst>
              <a:gd name="adj" fmla="val 25000"/>
            </a:avLst>
          </a:prstGeom>
          <a:solidFill>
            <a:srgbClr val="E8F2E2"/>
          </a:solidFill>
          <a:ln w="12700">
            <a:solidFill>
              <a:srgbClr val="E8F2E2"/>
            </a:solidFill>
            <a:prstDash val="solid"/>
          </a:ln>
        </p:spPr>
      </p:sp>
      <p:pic>
        <p:nvPicPr>
          <p:cNvPr id="20" name="Image 5" descr="preencoded.png">    </p:cNvPr>
          <p:cNvPicPr>
            <a:picLocks noChangeAspect="1"/>
          </p:cNvPicPr>
          <p:nvPr/>
        </p:nvPicPr>
        <p:blipFill>
          <a:blip r:embed="rId6"/>
          <a:stretch>
            <a:fillRect/>
          </a:stretch>
        </p:blipFill>
        <p:spPr>
          <a:xfrm>
            <a:off x="5042916" y="2011680"/>
            <a:ext cx="256032" cy="256032"/>
          </a:xfrm>
          <a:prstGeom prst="rect">
            <a:avLst/>
          </a:prstGeom>
        </p:spPr>
      </p:pic>
      <p:sp>
        <p:nvSpPr>
          <p:cNvPr id="21" name="Text 13"/>
          <p:cNvSpPr txBox="1"/>
          <p:nvPr/>
        </p:nvSpPr>
        <p:spPr>
          <a:xfrm>
            <a:off x="4443984" y="2505456"/>
            <a:ext cx="1453896" cy="402336"/>
          </a:xfrm>
          <a:prstGeom prst="rect">
            <a:avLst/>
          </a:prstGeom>
          <a:noFill/>
          <a:ln/>
        </p:spPr>
        <p:txBody>
          <a:bodyPr wrap="square" lIns="0" tIns="0" rIns="0" bIns="0" rtlCol="0" anchor="ctr"/>
          <a:lstStyle/>
          <a:p>
            <a:pPr algn="ctr" indent="0" marL="0">
              <a:buNone/>
            </a:pPr>
            <a:r>
              <a:rPr lang="en-US" sz="1100" b="1" dirty="0">
                <a:solidFill>
                  <a:srgbClr val="16241B"/>
                </a:solidFill>
                <a:latin typeface="Arial" pitchFamily="34" charset="0"/>
                <a:ea typeface="Arial" pitchFamily="34" charset="-122"/>
                <a:cs typeface="Arial" pitchFamily="34" charset="-120"/>
              </a:rPr>
              <a:t>Event Loop</a:t>
            </a:r>
            <a:endParaRPr lang="en-US" sz="1100" dirty="0"/>
          </a:p>
        </p:txBody>
      </p:sp>
      <p:sp>
        <p:nvSpPr>
          <p:cNvPr id="22" name="Text 14"/>
          <p:cNvSpPr txBox="1"/>
          <p:nvPr/>
        </p:nvSpPr>
        <p:spPr>
          <a:xfrm>
            <a:off x="4443984" y="2926080"/>
            <a:ext cx="1453896" cy="896112"/>
          </a:xfrm>
          <a:prstGeom prst="rect">
            <a:avLst/>
          </a:prstGeom>
          <a:noFill/>
          <a:ln/>
        </p:spPr>
        <p:txBody>
          <a:bodyPr wrap="square" lIns="0" tIns="0" rIns="0" bIns="0" rtlCol="0" anchor="t"/>
          <a:lstStyle/>
          <a:p>
            <a:pPr algn="ctr" indent="0" marL="0">
              <a:lnSpc>
                <a:spcPct val="110000"/>
              </a:lnSpc>
              <a:buNone/>
            </a:pPr>
            <a:r>
              <a:rPr lang="en-US" sz="960" dirty="0">
                <a:solidFill>
                  <a:srgbClr val="5F6F62"/>
                </a:solidFill>
                <a:latin typeface="Calibri" pitchFamily="34" charset="0"/>
                <a:ea typeface="Calibri" pitchFamily="34" charset="-122"/>
                <a:cs typeface="Calibri" pitchFamily="34" charset="-120"/>
              </a:rPr>
              <a:t>Thread tunggal mengambil permintaan satu per satu dari antrean.</a:t>
            </a:r>
            <a:endParaRPr lang="en-US" sz="960" dirty="0"/>
          </a:p>
        </p:txBody>
      </p:sp>
      <p:pic>
        <p:nvPicPr>
          <p:cNvPr id="23" name="Image 6" descr="preencoded.png">    </p:cNvPr>
          <p:cNvPicPr>
            <a:picLocks noChangeAspect="1"/>
          </p:cNvPicPr>
          <p:nvPr/>
        </p:nvPicPr>
        <p:blipFill>
          <a:blip r:embed="rId7"/>
          <a:stretch>
            <a:fillRect/>
          </a:stretch>
        </p:blipFill>
        <p:spPr>
          <a:xfrm>
            <a:off x="6012180" y="2697480"/>
            <a:ext cx="164592" cy="164592"/>
          </a:xfrm>
          <a:prstGeom prst="rect">
            <a:avLst/>
          </a:prstGeom>
        </p:spPr>
      </p:pic>
      <p:sp>
        <p:nvSpPr>
          <p:cNvPr id="24" name="Shape 15"/>
          <p:cNvSpPr/>
          <p:nvPr/>
        </p:nvSpPr>
        <p:spPr>
          <a:xfrm>
            <a:off x="6181344" y="1691640"/>
            <a:ext cx="1673352" cy="2240280"/>
          </a:xfrm>
          <a:prstGeom prst="roundRect">
            <a:avLst>
              <a:gd name="adj" fmla="val 49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5" name="Shape 16"/>
          <p:cNvSpPr/>
          <p:nvPr/>
        </p:nvSpPr>
        <p:spPr>
          <a:xfrm>
            <a:off x="6761988" y="1883664"/>
            <a:ext cx="512064" cy="512064"/>
          </a:xfrm>
          <a:prstGeom prst="roundRect">
            <a:avLst>
              <a:gd name="adj" fmla="val 25000"/>
            </a:avLst>
          </a:prstGeom>
          <a:solidFill>
            <a:srgbClr val="E8F2E2"/>
          </a:solidFill>
          <a:ln w="12700">
            <a:solidFill>
              <a:srgbClr val="E8F2E2"/>
            </a:solidFill>
            <a:prstDash val="solid"/>
          </a:ln>
        </p:spPr>
      </p:sp>
      <p:pic>
        <p:nvPicPr>
          <p:cNvPr id="26" name="Image 7" descr="preencoded.png">    </p:cNvPr>
          <p:cNvPicPr>
            <a:picLocks noChangeAspect="1"/>
          </p:cNvPicPr>
          <p:nvPr/>
        </p:nvPicPr>
        <p:blipFill>
          <a:blip r:embed="rId8"/>
          <a:stretch>
            <a:fillRect/>
          </a:stretch>
        </p:blipFill>
        <p:spPr>
          <a:xfrm>
            <a:off x="6890004" y="2011680"/>
            <a:ext cx="256032" cy="256032"/>
          </a:xfrm>
          <a:prstGeom prst="rect">
            <a:avLst/>
          </a:prstGeom>
        </p:spPr>
      </p:pic>
      <p:sp>
        <p:nvSpPr>
          <p:cNvPr id="27" name="Text 17"/>
          <p:cNvSpPr txBox="1"/>
          <p:nvPr/>
        </p:nvSpPr>
        <p:spPr>
          <a:xfrm>
            <a:off x="6291072" y="2505456"/>
            <a:ext cx="1453896" cy="402336"/>
          </a:xfrm>
          <a:prstGeom prst="rect">
            <a:avLst/>
          </a:prstGeom>
          <a:noFill/>
          <a:ln/>
        </p:spPr>
        <p:txBody>
          <a:bodyPr wrap="square" lIns="0" tIns="0" rIns="0" bIns="0" rtlCol="0" anchor="ctr"/>
          <a:lstStyle/>
          <a:p>
            <a:pPr algn="ctr" indent="0" marL="0">
              <a:buNone/>
            </a:pPr>
            <a:r>
              <a:rPr lang="en-US" sz="1100" b="1" dirty="0">
                <a:solidFill>
                  <a:srgbClr val="16241B"/>
                </a:solidFill>
                <a:latin typeface="Arial" pitchFamily="34" charset="0"/>
                <a:ea typeface="Arial" pitchFamily="34" charset="-122"/>
                <a:cs typeface="Arial" pitchFamily="34" charset="-120"/>
              </a:rPr>
              <a:t>Percabangan</a:t>
            </a:r>
            <a:endParaRPr lang="en-US" sz="1100" dirty="0"/>
          </a:p>
        </p:txBody>
      </p:sp>
      <p:sp>
        <p:nvSpPr>
          <p:cNvPr id="28" name="Text 18"/>
          <p:cNvSpPr txBox="1"/>
          <p:nvPr/>
        </p:nvSpPr>
        <p:spPr>
          <a:xfrm>
            <a:off x="6291072" y="2926080"/>
            <a:ext cx="1453896" cy="896112"/>
          </a:xfrm>
          <a:prstGeom prst="rect">
            <a:avLst/>
          </a:prstGeom>
          <a:noFill/>
          <a:ln/>
        </p:spPr>
        <p:txBody>
          <a:bodyPr wrap="square" lIns="0" tIns="0" rIns="0" bIns="0" rtlCol="0" anchor="t"/>
          <a:lstStyle/>
          <a:p>
            <a:pPr algn="ctr" indent="0" marL="0">
              <a:lnSpc>
                <a:spcPct val="110000"/>
              </a:lnSpc>
              <a:buNone/>
            </a:pPr>
            <a:r>
              <a:rPr lang="en-US" sz="960" dirty="0">
                <a:solidFill>
                  <a:srgbClr val="5F6F62"/>
                </a:solidFill>
                <a:latin typeface="Calibri" pitchFamily="34" charset="0"/>
                <a:ea typeface="Calibri" pitchFamily="34" charset="-122"/>
                <a:cs typeface="Calibri" pitchFamily="34" charset="-120"/>
              </a:rPr>
              <a:t>Permintaan ringan diproses langsung; permintaan I/O didelegasikan.</a:t>
            </a:r>
            <a:endParaRPr lang="en-US" sz="960" dirty="0"/>
          </a:p>
        </p:txBody>
      </p:sp>
      <p:pic>
        <p:nvPicPr>
          <p:cNvPr id="29" name="Image 8" descr="preencoded.png">    </p:cNvPr>
          <p:cNvPicPr>
            <a:picLocks noChangeAspect="1"/>
          </p:cNvPicPr>
          <p:nvPr/>
        </p:nvPicPr>
        <p:blipFill>
          <a:blip r:embed="rId9"/>
          <a:stretch>
            <a:fillRect/>
          </a:stretch>
        </p:blipFill>
        <p:spPr>
          <a:xfrm>
            <a:off x="7859268" y="2697480"/>
            <a:ext cx="164592" cy="164592"/>
          </a:xfrm>
          <a:prstGeom prst="rect">
            <a:avLst/>
          </a:prstGeom>
        </p:spPr>
      </p:pic>
      <p:sp>
        <p:nvSpPr>
          <p:cNvPr id="30" name="Shape 19"/>
          <p:cNvSpPr/>
          <p:nvPr/>
        </p:nvSpPr>
        <p:spPr>
          <a:xfrm>
            <a:off x="8028432" y="1691640"/>
            <a:ext cx="1673352" cy="2240280"/>
          </a:xfrm>
          <a:prstGeom prst="roundRect">
            <a:avLst>
              <a:gd name="adj" fmla="val 49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1" name="Shape 20"/>
          <p:cNvSpPr/>
          <p:nvPr/>
        </p:nvSpPr>
        <p:spPr>
          <a:xfrm>
            <a:off x="8609076" y="1883664"/>
            <a:ext cx="512064" cy="512064"/>
          </a:xfrm>
          <a:prstGeom prst="roundRect">
            <a:avLst>
              <a:gd name="adj" fmla="val 25000"/>
            </a:avLst>
          </a:prstGeom>
          <a:solidFill>
            <a:srgbClr val="E8F2E2"/>
          </a:solidFill>
          <a:ln w="12700">
            <a:solidFill>
              <a:srgbClr val="E8F2E2"/>
            </a:solidFill>
            <a:prstDash val="solid"/>
          </a:ln>
        </p:spPr>
      </p:sp>
      <p:pic>
        <p:nvPicPr>
          <p:cNvPr id="32" name="Image 9" descr="preencoded.png">    </p:cNvPr>
          <p:cNvPicPr>
            <a:picLocks noChangeAspect="1"/>
          </p:cNvPicPr>
          <p:nvPr/>
        </p:nvPicPr>
        <p:blipFill>
          <a:blip r:embed="rId10"/>
          <a:stretch>
            <a:fillRect/>
          </a:stretch>
        </p:blipFill>
        <p:spPr>
          <a:xfrm>
            <a:off x="8737092" y="2011680"/>
            <a:ext cx="256032" cy="256032"/>
          </a:xfrm>
          <a:prstGeom prst="rect">
            <a:avLst/>
          </a:prstGeom>
        </p:spPr>
      </p:pic>
      <p:sp>
        <p:nvSpPr>
          <p:cNvPr id="33" name="Text 21"/>
          <p:cNvSpPr txBox="1"/>
          <p:nvPr/>
        </p:nvSpPr>
        <p:spPr>
          <a:xfrm>
            <a:off x="8138160" y="2505456"/>
            <a:ext cx="1453896" cy="402336"/>
          </a:xfrm>
          <a:prstGeom prst="rect">
            <a:avLst/>
          </a:prstGeom>
          <a:noFill/>
          <a:ln/>
        </p:spPr>
        <p:txBody>
          <a:bodyPr wrap="square" lIns="0" tIns="0" rIns="0" bIns="0" rtlCol="0" anchor="ctr"/>
          <a:lstStyle/>
          <a:p>
            <a:pPr algn="ctr" indent="0" marL="0">
              <a:buNone/>
            </a:pPr>
            <a:r>
              <a:rPr lang="en-US" sz="1100" b="1" dirty="0">
                <a:solidFill>
                  <a:srgbClr val="16241B"/>
                </a:solidFill>
                <a:latin typeface="Arial" pitchFamily="34" charset="0"/>
                <a:ea typeface="Arial" pitchFamily="34" charset="-122"/>
                <a:cs typeface="Arial" pitchFamily="34" charset="-120"/>
              </a:rPr>
              <a:t>Thread Pool</a:t>
            </a:r>
            <a:endParaRPr lang="en-US" sz="1100" dirty="0"/>
          </a:p>
        </p:txBody>
      </p:sp>
      <p:sp>
        <p:nvSpPr>
          <p:cNvPr id="34" name="Text 22"/>
          <p:cNvSpPr txBox="1"/>
          <p:nvPr/>
        </p:nvSpPr>
        <p:spPr>
          <a:xfrm>
            <a:off x="8138160" y="2926080"/>
            <a:ext cx="1453896" cy="896112"/>
          </a:xfrm>
          <a:prstGeom prst="rect">
            <a:avLst/>
          </a:prstGeom>
          <a:noFill/>
          <a:ln/>
        </p:spPr>
        <p:txBody>
          <a:bodyPr wrap="square" lIns="0" tIns="0" rIns="0" bIns="0" rtlCol="0" anchor="t"/>
          <a:lstStyle/>
          <a:p>
            <a:pPr algn="ctr" indent="0" marL="0">
              <a:lnSpc>
                <a:spcPct val="110000"/>
              </a:lnSpc>
              <a:buNone/>
            </a:pPr>
            <a:r>
              <a:rPr lang="en-US" sz="960" dirty="0">
                <a:solidFill>
                  <a:srgbClr val="5F6F62"/>
                </a:solidFill>
                <a:latin typeface="Calibri" pitchFamily="34" charset="0"/>
                <a:ea typeface="Calibri" pitchFamily="34" charset="-122"/>
                <a:cs typeface="Calibri" pitchFamily="34" charset="-120"/>
              </a:rPr>
              <a:t>libuv menjalankan tugas berat lalu mengembalikan hasilnya.</a:t>
            </a:r>
            <a:endParaRPr lang="en-US" sz="960" dirty="0"/>
          </a:p>
        </p:txBody>
      </p:sp>
      <p:pic>
        <p:nvPicPr>
          <p:cNvPr id="35" name="Image 10" descr="preencoded.png">    </p:cNvPr>
          <p:cNvPicPr>
            <a:picLocks noChangeAspect="1"/>
          </p:cNvPicPr>
          <p:nvPr/>
        </p:nvPicPr>
        <p:blipFill>
          <a:blip r:embed="rId11"/>
          <a:stretch>
            <a:fillRect/>
          </a:stretch>
        </p:blipFill>
        <p:spPr>
          <a:xfrm>
            <a:off x="9706356" y="2697480"/>
            <a:ext cx="164592" cy="164592"/>
          </a:xfrm>
          <a:prstGeom prst="rect">
            <a:avLst/>
          </a:prstGeom>
        </p:spPr>
      </p:pic>
      <p:sp>
        <p:nvSpPr>
          <p:cNvPr id="36" name="Shape 23"/>
          <p:cNvSpPr/>
          <p:nvPr/>
        </p:nvSpPr>
        <p:spPr>
          <a:xfrm>
            <a:off x="9875520" y="1691640"/>
            <a:ext cx="1673352" cy="2240280"/>
          </a:xfrm>
          <a:prstGeom prst="roundRect">
            <a:avLst>
              <a:gd name="adj" fmla="val 49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7" name="Shape 24"/>
          <p:cNvSpPr/>
          <p:nvPr/>
        </p:nvSpPr>
        <p:spPr>
          <a:xfrm>
            <a:off x="10456164" y="1883664"/>
            <a:ext cx="512064" cy="512064"/>
          </a:xfrm>
          <a:prstGeom prst="roundRect">
            <a:avLst>
              <a:gd name="adj" fmla="val 25000"/>
            </a:avLst>
          </a:prstGeom>
          <a:solidFill>
            <a:srgbClr val="E8F2E2"/>
          </a:solidFill>
          <a:ln w="12700">
            <a:solidFill>
              <a:srgbClr val="E8F2E2"/>
            </a:solidFill>
            <a:prstDash val="solid"/>
          </a:ln>
        </p:spPr>
      </p:sp>
      <p:pic>
        <p:nvPicPr>
          <p:cNvPr id="38" name="Image 11" descr="preencoded.png">    </p:cNvPr>
          <p:cNvPicPr>
            <a:picLocks noChangeAspect="1"/>
          </p:cNvPicPr>
          <p:nvPr/>
        </p:nvPicPr>
        <p:blipFill>
          <a:blip r:embed="rId12"/>
          <a:stretch>
            <a:fillRect/>
          </a:stretch>
        </p:blipFill>
        <p:spPr>
          <a:xfrm>
            <a:off x="10584180" y="2011680"/>
            <a:ext cx="256032" cy="256032"/>
          </a:xfrm>
          <a:prstGeom prst="rect">
            <a:avLst/>
          </a:prstGeom>
        </p:spPr>
      </p:pic>
      <p:sp>
        <p:nvSpPr>
          <p:cNvPr id="39" name="Text 25"/>
          <p:cNvSpPr txBox="1"/>
          <p:nvPr/>
        </p:nvSpPr>
        <p:spPr>
          <a:xfrm>
            <a:off x="9985248" y="2505456"/>
            <a:ext cx="1453896" cy="402336"/>
          </a:xfrm>
          <a:prstGeom prst="rect">
            <a:avLst/>
          </a:prstGeom>
          <a:noFill/>
          <a:ln/>
        </p:spPr>
        <p:txBody>
          <a:bodyPr wrap="square" lIns="0" tIns="0" rIns="0" bIns="0" rtlCol="0" anchor="ctr"/>
          <a:lstStyle/>
          <a:p>
            <a:pPr algn="ctr" indent="0" marL="0">
              <a:buNone/>
            </a:pPr>
            <a:r>
              <a:rPr lang="en-US" sz="1100" b="1" dirty="0">
                <a:solidFill>
                  <a:srgbClr val="16241B"/>
                </a:solidFill>
                <a:latin typeface="Arial" pitchFamily="34" charset="0"/>
                <a:ea typeface="Arial" pitchFamily="34" charset="-122"/>
                <a:cs typeface="Arial" pitchFamily="34" charset="-120"/>
              </a:rPr>
              <a:t>Respons</a:t>
            </a:r>
            <a:endParaRPr lang="en-US" sz="1100" dirty="0"/>
          </a:p>
        </p:txBody>
      </p:sp>
      <p:sp>
        <p:nvSpPr>
          <p:cNvPr id="40" name="Text 26"/>
          <p:cNvSpPr txBox="1"/>
          <p:nvPr/>
        </p:nvSpPr>
        <p:spPr>
          <a:xfrm>
            <a:off x="9985248" y="2926080"/>
            <a:ext cx="1453896" cy="896112"/>
          </a:xfrm>
          <a:prstGeom prst="rect">
            <a:avLst/>
          </a:prstGeom>
          <a:noFill/>
          <a:ln/>
        </p:spPr>
        <p:txBody>
          <a:bodyPr wrap="square" lIns="0" tIns="0" rIns="0" bIns="0" rtlCol="0" anchor="t"/>
          <a:lstStyle/>
          <a:p>
            <a:pPr algn="ctr" indent="0" marL="0">
              <a:lnSpc>
                <a:spcPct val="110000"/>
              </a:lnSpc>
              <a:buNone/>
            </a:pPr>
            <a:r>
              <a:rPr lang="en-US" sz="960" dirty="0">
                <a:solidFill>
                  <a:srgbClr val="5F6F62"/>
                </a:solidFill>
                <a:latin typeface="Calibri" pitchFamily="34" charset="0"/>
                <a:ea typeface="Calibri" pitchFamily="34" charset="-122"/>
                <a:cs typeface="Calibri" pitchFamily="34" charset="-120"/>
              </a:rPr>
              <a:t>Callback dijalankan dan respons dikirim kembali ke klien.</a:t>
            </a:r>
            <a:endParaRPr lang="en-US" sz="960" dirty="0"/>
          </a:p>
        </p:txBody>
      </p:sp>
      <p:sp>
        <p:nvSpPr>
          <p:cNvPr id="41" name="Shape 27"/>
          <p:cNvSpPr/>
          <p:nvPr/>
        </p:nvSpPr>
        <p:spPr>
          <a:xfrm>
            <a:off x="640080" y="4206240"/>
            <a:ext cx="5349240" cy="1911096"/>
          </a:xfrm>
          <a:prstGeom prst="roundRect">
            <a:avLst>
              <a:gd name="adj" fmla="val 430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2" name="Shape 28"/>
          <p:cNvSpPr/>
          <p:nvPr/>
        </p:nvSpPr>
        <p:spPr>
          <a:xfrm>
            <a:off x="896112" y="4425696"/>
            <a:ext cx="457200" cy="457200"/>
          </a:xfrm>
          <a:prstGeom prst="roundRect">
            <a:avLst>
              <a:gd name="adj" fmla="val 26000"/>
            </a:avLst>
          </a:prstGeom>
          <a:solidFill>
            <a:srgbClr val="E8F2E2"/>
          </a:solidFill>
          <a:ln w="12700">
            <a:solidFill>
              <a:srgbClr val="E8F2E2"/>
            </a:solidFill>
            <a:prstDash val="solid"/>
          </a:ln>
        </p:spPr>
      </p:sp>
      <p:pic>
        <p:nvPicPr>
          <p:cNvPr id="43" name="Image 12" descr="preencoded.png">    </p:cNvPr>
          <p:cNvPicPr>
            <a:picLocks noChangeAspect="1"/>
          </p:cNvPicPr>
          <p:nvPr/>
        </p:nvPicPr>
        <p:blipFill>
          <a:blip r:embed="rId13"/>
          <a:stretch>
            <a:fillRect/>
          </a:stretch>
        </p:blipFill>
        <p:spPr>
          <a:xfrm>
            <a:off x="1010412" y="4539996"/>
            <a:ext cx="228600" cy="228600"/>
          </a:xfrm>
          <a:prstGeom prst="rect">
            <a:avLst/>
          </a:prstGeom>
        </p:spPr>
      </p:pic>
      <p:sp>
        <p:nvSpPr>
          <p:cNvPr id="44" name="Text 29"/>
          <p:cNvSpPr txBox="1"/>
          <p:nvPr/>
        </p:nvSpPr>
        <p:spPr>
          <a:xfrm>
            <a:off x="1499616" y="4425696"/>
            <a:ext cx="4233672" cy="457200"/>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Keuntungan Model Ini</a:t>
            </a:r>
            <a:endParaRPr lang="en-US" sz="1400" dirty="0"/>
          </a:p>
        </p:txBody>
      </p:sp>
      <p:sp>
        <p:nvSpPr>
          <p:cNvPr id="45" name="Text 30"/>
          <p:cNvSpPr txBox="1"/>
          <p:nvPr/>
        </p:nvSpPr>
        <p:spPr>
          <a:xfrm>
            <a:off x="950976" y="4992624"/>
            <a:ext cx="4782312" cy="9601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Hemat memori: tidak ada biaya pembuatan thread per koneksi</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Bebas dari race condition dan deadlock pada kode aplikasi</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Skalabilitas tinggi untuk aplikasi yang I/O-intensif</a:t>
            </a:r>
            <a:endParaRPr lang="en-US" sz="1100" dirty="0"/>
          </a:p>
        </p:txBody>
      </p:sp>
      <p:sp>
        <p:nvSpPr>
          <p:cNvPr id="46" name="Shape 31"/>
          <p:cNvSpPr/>
          <p:nvPr/>
        </p:nvSpPr>
        <p:spPr>
          <a:xfrm>
            <a:off x="6263640" y="4206240"/>
            <a:ext cx="5349240" cy="1911096"/>
          </a:xfrm>
          <a:prstGeom prst="roundRect">
            <a:avLst>
              <a:gd name="adj" fmla="val 430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7" name="Shape 32"/>
          <p:cNvSpPr/>
          <p:nvPr/>
        </p:nvSpPr>
        <p:spPr>
          <a:xfrm>
            <a:off x="6519672" y="4425696"/>
            <a:ext cx="457200" cy="457200"/>
          </a:xfrm>
          <a:prstGeom prst="roundRect">
            <a:avLst>
              <a:gd name="adj" fmla="val 26000"/>
            </a:avLst>
          </a:prstGeom>
          <a:solidFill>
            <a:srgbClr val="FBE9E7"/>
          </a:solidFill>
          <a:ln w="12700">
            <a:solidFill>
              <a:srgbClr val="FBE9E7"/>
            </a:solidFill>
            <a:prstDash val="solid"/>
          </a:ln>
        </p:spPr>
      </p:sp>
      <p:pic>
        <p:nvPicPr>
          <p:cNvPr id="48" name="Image 13" descr="preencoded.png">    </p:cNvPr>
          <p:cNvPicPr>
            <a:picLocks noChangeAspect="1"/>
          </p:cNvPicPr>
          <p:nvPr/>
        </p:nvPicPr>
        <p:blipFill>
          <a:blip r:embed="rId14"/>
          <a:stretch>
            <a:fillRect/>
          </a:stretch>
        </p:blipFill>
        <p:spPr>
          <a:xfrm>
            <a:off x="6633972" y="4539996"/>
            <a:ext cx="228600" cy="228600"/>
          </a:xfrm>
          <a:prstGeom prst="rect">
            <a:avLst/>
          </a:prstGeom>
        </p:spPr>
      </p:pic>
      <p:sp>
        <p:nvSpPr>
          <p:cNvPr id="49" name="Text 33"/>
          <p:cNvSpPr txBox="1"/>
          <p:nvPr/>
        </p:nvSpPr>
        <p:spPr>
          <a:xfrm>
            <a:off x="7123176" y="4425696"/>
            <a:ext cx="4233672" cy="457200"/>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Batasan yang Harus Diwaspadai</a:t>
            </a:r>
            <a:endParaRPr lang="en-US" sz="1400" dirty="0"/>
          </a:p>
        </p:txBody>
      </p:sp>
      <p:sp>
        <p:nvSpPr>
          <p:cNvPr id="50" name="Text 34"/>
          <p:cNvSpPr txBox="1"/>
          <p:nvPr/>
        </p:nvSpPr>
        <p:spPr>
          <a:xfrm>
            <a:off x="6574536" y="4992624"/>
            <a:ext cx="4782312" cy="9601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Tugas CPU-intensif memblokir seluruh event loop</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Satu pengecualian tak tertangani dapat menjatuhkan proses</a:t>
            </a:r>
            <a:endParaRPr lang="en-US" sz="1100" dirty="0"/>
          </a:p>
          <a:p>
            <a:pPr marL="342900" indent="-342900">
              <a:spcAft>
                <a:spcPts val="500"/>
              </a:spcAft>
              <a:buSzPct val="100000"/>
              <a:buChar char="•"/>
            </a:pPr>
            <a:r>
              <a:rPr lang="en-US" sz="1100" dirty="0">
                <a:solidFill>
                  <a:srgbClr val="5F6F62"/>
                </a:solidFill>
                <a:latin typeface="Calibri" pitchFamily="34" charset="0"/>
                <a:ea typeface="Calibri" pitchFamily="34" charset="-122"/>
                <a:cs typeface="Calibri" pitchFamily="34" charset="-120"/>
              </a:rPr>
              <a:t>Solusi: worker threads, cluster, atau layanan terpisah</a:t>
            </a:r>
            <a:endParaRPr lang="en-US" sz="1100" dirty="0"/>
          </a:p>
        </p:txBody>
      </p:sp>
      <p:sp>
        <p:nvSpPr>
          <p:cNvPr id="51" name="Text 35"/>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2" name="Text 36"/>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03</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Memulai Node.js</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Menyiapkan lingkungan kerja, mengenal REPL, menulis program pertama, dan menyusun struktur proyek yang rapi.</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Instalasi melalui installer, package manager, atau NVM</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Menjalankan kode lewat REPL dan berkas skrip</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Struktur folder proyek Node.js yang umum dipakai</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Instalasi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Tiga cara umum memasang Node.js pada komputer Anda</a:t>
            </a:r>
            <a:endParaRPr lang="en-US" sz="1300" dirty="0"/>
          </a:p>
        </p:txBody>
      </p:sp>
      <p:sp>
        <p:nvSpPr>
          <p:cNvPr id="6" name="Shape 3"/>
          <p:cNvSpPr/>
          <p:nvPr/>
        </p:nvSpPr>
        <p:spPr>
          <a:xfrm>
            <a:off x="640080" y="1627632"/>
            <a:ext cx="3520440" cy="1874520"/>
          </a:xfrm>
          <a:prstGeom prst="roundRect">
            <a:avLst>
              <a:gd name="adj" fmla="val 439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47088"/>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61388"/>
            <a:ext cx="228600" cy="228600"/>
          </a:xfrm>
          <a:prstGeom prst="rect">
            <a:avLst/>
          </a:prstGeom>
        </p:spPr>
      </p:pic>
      <p:sp>
        <p:nvSpPr>
          <p:cNvPr id="9" name="Text 5"/>
          <p:cNvSpPr txBox="1"/>
          <p:nvPr/>
        </p:nvSpPr>
        <p:spPr>
          <a:xfrm>
            <a:off x="1499616" y="1847088"/>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Installer Resmi</a:t>
            </a:r>
            <a:endParaRPr lang="en-US" sz="1300" dirty="0"/>
          </a:p>
        </p:txBody>
      </p:sp>
      <p:sp>
        <p:nvSpPr>
          <p:cNvPr id="10" name="Text 6"/>
          <p:cNvSpPr txBox="1"/>
          <p:nvPr/>
        </p:nvSpPr>
        <p:spPr>
          <a:xfrm>
            <a:off x="896112" y="2414016"/>
            <a:ext cx="3008376" cy="9235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Unduh berkas installer dari nodejs.org sesuai sistem operasi, lalu jalankan seperti aplikasi biasa. NPM ikut terpasang otomatis.</a:t>
            </a:r>
            <a:endParaRPr lang="en-US" sz="1080" dirty="0"/>
          </a:p>
        </p:txBody>
      </p:sp>
      <p:sp>
        <p:nvSpPr>
          <p:cNvPr id="11" name="Shape 7"/>
          <p:cNvSpPr/>
          <p:nvPr/>
        </p:nvSpPr>
        <p:spPr>
          <a:xfrm>
            <a:off x="896112" y="3054096"/>
            <a:ext cx="3008376" cy="329184"/>
          </a:xfrm>
          <a:prstGeom prst="roundRect">
            <a:avLst>
              <a:gd name="adj" fmla="val 50000"/>
            </a:avLst>
          </a:prstGeom>
          <a:solidFill>
            <a:srgbClr val="E8F2E2"/>
          </a:solidFill>
          <a:ln w="12700">
            <a:solidFill>
              <a:srgbClr val="E8F2E2"/>
            </a:solidFill>
            <a:prstDash val="solid"/>
          </a:ln>
        </p:spPr>
      </p:sp>
      <p:sp>
        <p:nvSpPr>
          <p:cNvPr id="12" name="Text 8"/>
          <p:cNvSpPr txBox="1"/>
          <p:nvPr/>
        </p:nvSpPr>
        <p:spPr>
          <a:xfrm>
            <a:off x="896112" y="3054096"/>
            <a:ext cx="3008376" cy="329184"/>
          </a:xfrm>
          <a:prstGeom prst="rect">
            <a:avLst/>
          </a:prstGeom>
          <a:noFill/>
          <a:ln/>
        </p:spPr>
        <p:txBody>
          <a:bodyPr wrap="square" lIns="0" tIns="0" rIns="0" bIns="0" rtlCol="0" anchor="ctr"/>
          <a:lstStyle/>
          <a:p>
            <a:pPr algn="ctr" indent="0" marL="0">
              <a:buNone/>
            </a:pPr>
            <a:r>
              <a:rPr lang="en-US" sz="1000" b="1" dirty="0">
                <a:solidFill>
                  <a:srgbClr val="3C873A"/>
                </a:solidFill>
                <a:latin typeface="Calibri" pitchFamily="34" charset="0"/>
                <a:ea typeface="Calibri" pitchFamily="34" charset="-122"/>
                <a:cs typeface="Calibri" pitchFamily="34" charset="-120"/>
              </a:rPr>
              <a:t>Paling mudah untuk pemula</a:t>
            </a:r>
            <a:endParaRPr lang="en-US" sz="1000" dirty="0"/>
          </a:p>
        </p:txBody>
      </p:sp>
      <p:sp>
        <p:nvSpPr>
          <p:cNvPr id="13" name="Shape 9"/>
          <p:cNvSpPr/>
          <p:nvPr/>
        </p:nvSpPr>
        <p:spPr>
          <a:xfrm>
            <a:off x="4443984" y="1627632"/>
            <a:ext cx="3520440" cy="1874520"/>
          </a:xfrm>
          <a:prstGeom prst="roundRect">
            <a:avLst>
              <a:gd name="adj" fmla="val 439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4" name="Shape 10"/>
          <p:cNvSpPr/>
          <p:nvPr/>
        </p:nvSpPr>
        <p:spPr>
          <a:xfrm>
            <a:off x="4700016" y="1847088"/>
            <a:ext cx="457200" cy="457200"/>
          </a:xfrm>
          <a:prstGeom prst="roundRect">
            <a:avLst>
              <a:gd name="adj" fmla="val 26000"/>
            </a:avLst>
          </a:prstGeom>
          <a:solidFill>
            <a:srgbClr val="E8F2E2"/>
          </a:solidFill>
          <a:ln w="12700">
            <a:solidFill>
              <a:srgbClr val="E8F2E2"/>
            </a:solidFill>
            <a:prstDash val="solid"/>
          </a:ln>
        </p:spPr>
      </p:sp>
      <p:pic>
        <p:nvPicPr>
          <p:cNvPr id="15" name="Image 2" descr="preencoded.png">    </p:cNvPr>
          <p:cNvPicPr>
            <a:picLocks noChangeAspect="1"/>
          </p:cNvPicPr>
          <p:nvPr/>
        </p:nvPicPr>
        <p:blipFill>
          <a:blip r:embed="rId3"/>
          <a:stretch>
            <a:fillRect/>
          </a:stretch>
        </p:blipFill>
        <p:spPr>
          <a:xfrm>
            <a:off x="4814316" y="1961388"/>
            <a:ext cx="228600" cy="228600"/>
          </a:xfrm>
          <a:prstGeom prst="rect">
            <a:avLst/>
          </a:prstGeom>
        </p:spPr>
      </p:pic>
      <p:sp>
        <p:nvSpPr>
          <p:cNvPr id="16" name="Text 11"/>
          <p:cNvSpPr txBox="1"/>
          <p:nvPr/>
        </p:nvSpPr>
        <p:spPr>
          <a:xfrm>
            <a:off x="5303520" y="1847088"/>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Package Manager</a:t>
            </a:r>
            <a:endParaRPr lang="en-US" sz="1300" dirty="0"/>
          </a:p>
        </p:txBody>
      </p:sp>
      <p:sp>
        <p:nvSpPr>
          <p:cNvPr id="17" name="Text 12"/>
          <p:cNvSpPr txBox="1"/>
          <p:nvPr/>
        </p:nvSpPr>
        <p:spPr>
          <a:xfrm>
            <a:off x="4700016" y="2414016"/>
            <a:ext cx="3008376" cy="9235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Gunakan perintah bawaan sistem: winget di Windows, Homebrew di macOS, atau apt dan dnf di Linux.</a:t>
            </a:r>
            <a:endParaRPr lang="en-US" sz="1080" dirty="0"/>
          </a:p>
        </p:txBody>
      </p:sp>
      <p:sp>
        <p:nvSpPr>
          <p:cNvPr id="18" name="Shape 13"/>
          <p:cNvSpPr/>
          <p:nvPr/>
        </p:nvSpPr>
        <p:spPr>
          <a:xfrm>
            <a:off x="4700016" y="3054096"/>
            <a:ext cx="3008376" cy="329184"/>
          </a:xfrm>
          <a:prstGeom prst="roundRect">
            <a:avLst>
              <a:gd name="adj" fmla="val 50000"/>
            </a:avLst>
          </a:prstGeom>
          <a:solidFill>
            <a:srgbClr val="E8F2E2"/>
          </a:solidFill>
          <a:ln w="12700">
            <a:solidFill>
              <a:srgbClr val="E8F2E2"/>
            </a:solidFill>
            <a:prstDash val="solid"/>
          </a:ln>
        </p:spPr>
      </p:sp>
      <p:sp>
        <p:nvSpPr>
          <p:cNvPr id="19" name="Text 14"/>
          <p:cNvSpPr txBox="1"/>
          <p:nvPr/>
        </p:nvSpPr>
        <p:spPr>
          <a:xfrm>
            <a:off x="4700016" y="3054096"/>
            <a:ext cx="3008376" cy="329184"/>
          </a:xfrm>
          <a:prstGeom prst="rect">
            <a:avLst/>
          </a:prstGeom>
          <a:noFill/>
          <a:ln/>
        </p:spPr>
        <p:txBody>
          <a:bodyPr wrap="square" lIns="0" tIns="0" rIns="0" bIns="0" rtlCol="0" anchor="ctr"/>
          <a:lstStyle/>
          <a:p>
            <a:pPr algn="ctr" indent="0" marL="0">
              <a:buNone/>
            </a:pPr>
            <a:r>
              <a:rPr lang="en-US" sz="1000" b="1" dirty="0">
                <a:solidFill>
                  <a:srgbClr val="3C873A"/>
                </a:solidFill>
                <a:latin typeface="Calibri" pitchFamily="34" charset="0"/>
                <a:ea typeface="Calibri" pitchFamily="34" charset="-122"/>
                <a:cs typeface="Calibri" pitchFamily="34" charset="-120"/>
              </a:rPr>
              <a:t>Cepat dan mudah diperbarui</a:t>
            </a:r>
            <a:endParaRPr lang="en-US" sz="1000" dirty="0"/>
          </a:p>
        </p:txBody>
      </p:sp>
      <p:sp>
        <p:nvSpPr>
          <p:cNvPr id="20" name="Shape 15"/>
          <p:cNvSpPr/>
          <p:nvPr/>
        </p:nvSpPr>
        <p:spPr>
          <a:xfrm>
            <a:off x="8247888" y="1627632"/>
            <a:ext cx="3520440" cy="1874520"/>
          </a:xfrm>
          <a:prstGeom prst="roundRect">
            <a:avLst>
              <a:gd name="adj" fmla="val 4390"/>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1" name="Shape 16"/>
          <p:cNvSpPr/>
          <p:nvPr/>
        </p:nvSpPr>
        <p:spPr>
          <a:xfrm>
            <a:off x="8503920" y="1847088"/>
            <a:ext cx="457200" cy="457200"/>
          </a:xfrm>
          <a:prstGeom prst="roundRect">
            <a:avLst>
              <a:gd name="adj" fmla="val 26000"/>
            </a:avLst>
          </a:prstGeom>
          <a:solidFill>
            <a:srgbClr val="E8F2E2"/>
          </a:solidFill>
          <a:ln w="12700">
            <a:solidFill>
              <a:srgbClr val="E8F2E2"/>
            </a:solidFill>
            <a:prstDash val="solid"/>
          </a:ln>
        </p:spPr>
      </p:sp>
      <p:pic>
        <p:nvPicPr>
          <p:cNvPr id="22" name="Image 3" descr="preencoded.png">    </p:cNvPr>
          <p:cNvPicPr>
            <a:picLocks noChangeAspect="1"/>
          </p:cNvPicPr>
          <p:nvPr/>
        </p:nvPicPr>
        <p:blipFill>
          <a:blip r:embed="rId4"/>
          <a:stretch>
            <a:fillRect/>
          </a:stretch>
        </p:blipFill>
        <p:spPr>
          <a:xfrm>
            <a:off x="8618220" y="1961388"/>
            <a:ext cx="228600" cy="228600"/>
          </a:xfrm>
          <a:prstGeom prst="rect">
            <a:avLst/>
          </a:prstGeom>
        </p:spPr>
      </p:pic>
      <p:sp>
        <p:nvSpPr>
          <p:cNvPr id="23" name="Text 17"/>
          <p:cNvSpPr txBox="1"/>
          <p:nvPr/>
        </p:nvSpPr>
        <p:spPr>
          <a:xfrm>
            <a:off x="9107424" y="1847088"/>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NVM (Node Version Manager)</a:t>
            </a:r>
            <a:endParaRPr lang="en-US" sz="1300" dirty="0"/>
          </a:p>
        </p:txBody>
      </p:sp>
      <p:sp>
        <p:nvSpPr>
          <p:cNvPr id="24" name="Text 18"/>
          <p:cNvSpPr txBox="1"/>
          <p:nvPr/>
        </p:nvSpPr>
        <p:spPr>
          <a:xfrm>
            <a:off x="8503920" y="2414016"/>
            <a:ext cx="3008376" cy="9235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Memasang dan berpindah antar beberapa versi Node.js pada satu komputer. Wajib bagi yang mengerjakan banyak proyek.</a:t>
            </a:r>
            <a:endParaRPr lang="en-US" sz="1080" dirty="0"/>
          </a:p>
        </p:txBody>
      </p:sp>
      <p:sp>
        <p:nvSpPr>
          <p:cNvPr id="25" name="Shape 19"/>
          <p:cNvSpPr/>
          <p:nvPr/>
        </p:nvSpPr>
        <p:spPr>
          <a:xfrm>
            <a:off x="8503920" y="3054096"/>
            <a:ext cx="3008376" cy="329184"/>
          </a:xfrm>
          <a:prstGeom prst="roundRect">
            <a:avLst>
              <a:gd name="adj" fmla="val 50000"/>
            </a:avLst>
          </a:prstGeom>
          <a:solidFill>
            <a:srgbClr val="E8F2E2"/>
          </a:solidFill>
          <a:ln w="12700">
            <a:solidFill>
              <a:srgbClr val="E8F2E2"/>
            </a:solidFill>
            <a:prstDash val="solid"/>
          </a:ln>
        </p:spPr>
      </p:sp>
      <p:sp>
        <p:nvSpPr>
          <p:cNvPr id="26" name="Text 20"/>
          <p:cNvSpPr txBox="1"/>
          <p:nvPr/>
        </p:nvSpPr>
        <p:spPr>
          <a:xfrm>
            <a:off x="8503920" y="3054096"/>
            <a:ext cx="3008376" cy="329184"/>
          </a:xfrm>
          <a:prstGeom prst="rect">
            <a:avLst/>
          </a:prstGeom>
          <a:noFill/>
          <a:ln/>
        </p:spPr>
        <p:txBody>
          <a:bodyPr wrap="square" lIns="0" tIns="0" rIns="0" bIns="0" rtlCol="0" anchor="ctr"/>
          <a:lstStyle/>
          <a:p>
            <a:pPr algn="ctr" indent="0" marL="0">
              <a:buNone/>
            </a:pPr>
            <a:r>
              <a:rPr lang="en-US" sz="1000" b="1" dirty="0">
                <a:solidFill>
                  <a:srgbClr val="3C873A"/>
                </a:solidFill>
                <a:latin typeface="Calibri" pitchFamily="34" charset="0"/>
                <a:ea typeface="Calibri" pitchFamily="34" charset="-122"/>
                <a:cs typeface="Calibri" pitchFamily="34" charset="-120"/>
              </a:rPr>
              <a:t>Paling fleksibel untuk pengembang</a:t>
            </a:r>
            <a:endParaRPr lang="en-US" sz="1000" dirty="0"/>
          </a:p>
        </p:txBody>
      </p:sp>
      <p:sp>
        <p:nvSpPr>
          <p:cNvPr id="27" name="Shape 21"/>
          <p:cNvSpPr/>
          <p:nvPr/>
        </p:nvSpPr>
        <p:spPr>
          <a:xfrm>
            <a:off x="640080" y="3712464"/>
            <a:ext cx="5943600" cy="1689445"/>
          </a:xfrm>
          <a:prstGeom prst="roundRect">
            <a:avLst>
              <a:gd name="adj" fmla="val 3789"/>
            </a:avLst>
          </a:prstGeom>
          <a:solidFill>
            <a:srgbClr val="0E2417"/>
          </a:solidFill>
          <a:ln w="12700">
            <a:solidFill>
              <a:srgbClr val="234A31"/>
            </a:solidFill>
            <a:prstDash val="solid"/>
          </a:ln>
        </p:spPr>
      </p:sp>
      <p:sp>
        <p:nvSpPr>
          <p:cNvPr id="28" name="Text 22"/>
          <p:cNvSpPr txBox="1"/>
          <p:nvPr/>
        </p:nvSpPr>
        <p:spPr>
          <a:xfrm>
            <a:off x="859536" y="3803904"/>
            <a:ext cx="550468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VERIFIKASI &amp; PERINTAH NVM</a:t>
            </a:r>
            <a:endParaRPr lang="en-US" sz="950" dirty="0"/>
          </a:p>
        </p:txBody>
      </p:sp>
      <p:sp>
        <p:nvSpPr>
          <p:cNvPr id="29" name="Text 23"/>
          <p:cNvSpPr txBox="1"/>
          <p:nvPr/>
        </p:nvSpPr>
        <p:spPr>
          <a:xfrm>
            <a:off x="859536" y="4114800"/>
            <a:ext cx="5504688" cy="1177381"/>
          </a:xfrm>
          <a:prstGeom prst="rect">
            <a:avLst/>
          </a:prstGeom>
          <a:noFill/>
          <a:ln/>
        </p:spPr>
        <p:txBody>
          <a:bodyPr wrap="square" lIns="0" tIns="0" rIns="0" bIns="0" rtlCol="0" anchor="t"/>
          <a:lstStyle/>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node -v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menampilkan versi Node.js</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npm -v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menampilkan versi NPM</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nvm install </a:t>
            </a:r>
            <a:pPr indent="0" marL="0">
              <a:lnSpc>
                <a:spcPct val="106000"/>
              </a:lnSpc>
              <a:buNone/>
            </a:pPr>
            <a:r>
              <a:rPr lang="en-US" sz="1100" dirty="0">
                <a:solidFill>
                  <a:srgbClr val="D9A05B"/>
                </a:solidFill>
                <a:latin typeface="Courier New" pitchFamily="34" charset="0"/>
                <a:ea typeface="Courier New" pitchFamily="34" charset="-122"/>
                <a:cs typeface="Courier New" pitchFamily="34" charset="-120"/>
              </a:rPr>
              <a:t>22</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memasang Node.js versi 22</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nvm use </a:t>
            </a:r>
            <a:pPr indent="0" marL="0">
              <a:lnSpc>
                <a:spcPct val="106000"/>
              </a:lnSpc>
              <a:buNone/>
            </a:pPr>
            <a:r>
              <a:rPr lang="en-US" sz="1100" dirty="0">
                <a:solidFill>
                  <a:srgbClr val="D9A05B"/>
                </a:solidFill>
                <a:latin typeface="Courier New" pitchFamily="34" charset="0"/>
                <a:ea typeface="Courier New" pitchFamily="34" charset="-122"/>
                <a:cs typeface="Courier New" pitchFamily="34" charset="-120"/>
              </a:rPr>
              <a:t>22</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memakai versi 22 di sesi ini</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nvm ls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daftar versi yang terpasang</a:t>
            </a:r>
            <a:endParaRPr lang="en-US" sz="1100" dirty="0"/>
          </a:p>
        </p:txBody>
      </p:sp>
      <p:sp>
        <p:nvSpPr>
          <p:cNvPr id="30" name="Shape 24"/>
          <p:cNvSpPr/>
          <p:nvPr/>
        </p:nvSpPr>
        <p:spPr>
          <a:xfrm>
            <a:off x="6858000" y="3712464"/>
            <a:ext cx="4754880" cy="1170432"/>
          </a:xfrm>
          <a:prstGeom prst="roundRect">
            <a:avLst>
              <a:gd name="adj" fmla="val 703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1" name="Shape 25"/>
          <p:cNvSpPr/>
          <p:nvPr/>
        </p:nvSpPr>
        <p:spPr>
          <a:xfrm>
            <a:off x="7114032" y="3931920"/>
            <a:ext cx="457200" cy="457200"/>
          </a:xfrm>
          <a:prstGeom prst="roundRect">
            <a:avLst>
              <a:gd name="adj" fmla="val 26000"/>
            </a:avLst>
          </a:prstGeom>
          <a:solidFill>
            <a:srgbClr val="E8F2E2"/>
          </a:solidFill>
          <a:ln w="12700">
            <a:solidFill>
              <a:srgbClr val="E8F2E2"/>
            </a:solidFill>
            <a:prstDash val="solid"/>
          </a:ln>
        </p:spPr>
      </p:sp>
      <p:pic>
        <p:nvPicPr>
          <p:cNvPr id="32" name="Image 4" descr="preencoded.png">    </p:cNvPr>
          <p:cNvPicPr>
            <a:picLocks noChangeAspect="1"/>
          </p:cNvPicPr>
          <p:nvPr/>
        </p:nvPicPr>
        <p:blipFill>
          <a:blip r:embed="rId5"/>
          <a:stretch>
            <a:fillRect/>
          </a:stretch>
        </p:blipFill>
        <p:spPr>
          <a:xfrm>
            <a:off x="7228332" y="4046220"/>
            <a:ext cx="228600" cy="228600"/>
          </a:xfrm>
          <a:prstGeom prst="rect">
            <a:avLst/>
          </a:prstGeom>
        </p:spPr>
      </p:pic>
      <p:sp>
        <p:nvSpPr>
          <p:cNvPr id="33" name="Text 26"/>
          <p:cNvSpPr txBox="1"/>
          <p:nvPr/>
        </p:nvSpPr>
        <p:spPr>
          <a:xfrm>
            <a:off x="7717536" y="3931920"/>
            <a:ext cx="363931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Pilih Versi LTS</a:t>
            </a:r>
            <a:endParaRPr lang="en-US" sz="1300" dirty="0"/>
          </a:p>
        </p:txBody>
      </p:sp>
      <p:sp>
        <p:nvSpPr>
          <p:cNvPr id="34" name="Text 27"/>
          <p:cNvSpPr txBox="1"/>
          <p:nvPr/>
        </p:nvSpPr>
        <p:spPr>
          <a:xfrm>
            <a:off x="7114032" y="4498848"/>
            <a:ext cx="4242816" cy="219456"/>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LTS (Long Term Support) adalah versi bernomor genap yang mendapat dukungan hingga 30 bulan. Gunakan LTS untuk produksi.</a:t>
            </a:r>
            <a:endParaRPr lang="en-US" sz="1080" dirty="0"/>
          </a:p>
        </p:txBody>
      </p:sp>
      <p:sp>
        <p:nvSpPr>
          <p:cNvPr id="35" name="Shape 28"/>
          <p:cNvSpPr/>
          <p:nvPr/>
        </p:nvSpPr>
        <p:spPr>
          <a:xfrm>
            <a:off x="6858000" y="4919472"/>
            <a:ext cx="4754880" cy="1207008"/>
          </a:xfrm>
          <a:prstGeom prst="roundRect">
            <a:avLst>
              <a:gd name="adj" fmla="val 68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6" name="Shape 29"/>
          <p:cNvSpPr/>
          <p:nvPr/>
        </p:nvSpPr>
        <p:spPr>
          <a:xfrm>
            <a:off x="7114032" y="5138928"/>
            <a:ext cx="457200" cy="457200"/>
          </a:xfrm>
          <a:prstGeom prst="roundRect">
            <a:avLst>
              <a:gd name="adj" fmla="val 26000"/>
            </a:avLst>
          </a:prstGeom>
          <a:solidFill>
            <a:srgbClr val="FDF3D8"/>
          </a:solidFill>
          <a:ln w="12700">
            <a:solidFill>
              <a:srgbClr val="FDF3D8"/>
            </a:solidFill>
            <a:prstDash val="solid"/>
          </a:ln>
        </p:spPr>
      </p:sp>
      <p:pic>
        <p:nvPicPr>
          <p:cNvPr id="37" name="Image 5" descr="preencoded.png">    </p:cNvPr>
          <p:cNvPicPr>
            <a:picLocks noChangeAspect="1"/>
          </p:cNvPicPr>
          <p:nvPr/>
        </p:nvPicPr>
        <p:blipFill>
          <a:blip r:embed="rId6"/>
          <a:stretch>
            <a:fillRect/>
          </a:stretch>
        </p:blipFill>
        <p:spPr>
          <a:xfrm>
            <a:off x="7228332" y="5253228"/>
            <a:ext cx="228600" cy="228600"/>
          </a:xfrm>
          <a:prstGeom prst="rect">
            <a:avLst/>
          </a:prstGeom>
        </p:spPr>
      </p:pic>
      <p:sp>
        <p:nvSpPr>
          <p:cNvPr id="38" name="Text 30"/>
          <p:cNvSpPr txBox="1"/>
          <p:nvPr/>
        </p:nvSpPr>
        <p:spPr>
          <a:xfrm>
            <a:off x="7717536" y="5138928"/>
            <a:ext cx="363931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Versi Current</a:t>
            </a:r>
            <a:endParaRPr lang="en-US" sz="1300" dirty="0"/>
          </a:p>
        </p:txBody>
      </p:sp>
      <p:sp>
        <p:nvSpPr>
          <p:cNvPr id="39" name="Text 31"/>
          <p:cNvSpPr txBox="1"/>
          <p:nvPr/>
        </p:nvSpPr>
        <p:spPr>
          <a:xfrm>
            <a:off x="7114032" y="5705856"/>
            <a:ext cx="4242816" cy="25603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Versi bernomor ganjil berisi fitur terbaru namun berumur pendek. Cocok untuk eksperimen, bukan produksi.</a:t>
            </a:r>
            <a:endParaRPr lang="en-US" sz="1080" dirty="0"/>
          </a:p>
        </p:txBody>
      </p:sp>
      <p:sp>
        <p:nvSpPr>
          <p:cNvPr id="40" name="Text 32"/>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1" name="Text 33"/>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REPL dan Menjalankan Skrip</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Dua cara mengeksekusi kode JavaScript dengan Node.js</a:t>
            </a:r>
            <a:endParaRPr lang="en-US" sz="1300" dirty="0"/>
          </a:p>
        </p:txBody>
      </p:sp>
      <p:sp>
        <p:nvSpPr>
          <p:cNvPr id="6" name="Text 3"/>
          <p:cNvSpPr txBox="1"/>
          <p:nvPr/>
        </p:nvSpPr>
        <p:spPr>
          <a:xfrm>
            <a:off x="640080" y="1591056"/>
            <a:ext cx="5349240" cy="347472"/>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REPL — Read, Eval, Print, Loop</a:t>
            </a:r>
            <a:endParaRPr lang="en-US" sz="1500" dirty="0"/>
          </a:p>
        </p:txBody>
      </p:sp>
      <p:sp>
        <p:nvSpPr>
          <p:cNvPr id="7" name="Text 4"/>
          <p:cNvSpPr txBox="1"/>
          <p:nvPr/>
        </p:nvSpPr>
        <p:spPr>
          <a:xfrm>
            <a:off x="640080" y="1956816"/>
            <a:ext cx="5349240" cy="457200"/>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Lingkungan interaktif untuk mencoba kode secara langsung tanpa membuat berkas. Cukup ketik node lalu tekan Enter.</a:t>
            </a:r>
            <a:endParaRPr lang="en-US" sz="1100" dirty="0"/>
          </a:p>
        </p:txBody>
      </p:sp>
      <p:sp>
        <p:nvSpPr>
          <p:cNvPr id="8" name="Shape 5"/>
          <p:cNvSpPr/>
          <p:nvPr/>
        </p:nvSpPr>
        <p:spPr>
          <a:xfrm>
            <a:off x="640080" y="2487168"/>
            <a:ext cx="5349240" cy="2250704"/>
          </a:xfrm>
          <a:prstGeom prst="roundRect">
            <a:avLst>
              <a:gd name="adj" fmla="val 2844"/>
            </a:avLst>
          </a:prstGeom>
          <a:solidFill>
            <a:srgbClr val="0E2417"/>
          </a:solidFill>
          <a:ln w="12700">
            <a:solidFill>
              <a:srgbClr val="234A31"/>
            </a:solidFill>
            <a:prstDash val="solid"/>
          </a:ln>
        </p:spPr>
      </p:sp>
      <p:sp>
        <p:nvSpPr>
          <p:cNvPr id="9" name="Text 6"/>
          <p:cNvSpPr txBox="1"/>
          <p:nvPr/>
        </p:nvSpPr>
        <p:spPr>
          <a:xfrm>
            <a:off x="859536" y="2578608"/>
            <a:ext cx="49103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SESI REPL</a:t>
            </a:r>
            <a:endParaRPr lang="en-US" sz="950" dirty="0"/>
          </a:p>
        </p:txBody>
      </p:sp>
      <p:sp>
        <p:nvSpPr>
          <p:cNvPr id="10" name="Text 7"/>
          <p:cNvSpPr txBox="1"/>
          <p:nvPr/>
        </p:nvSpPr>
        <p:spPr>
          <a:xfrm>
            <a:off x="859536" y="2889504"/>
            <a:ext cx="4910328" cy="1738640"/>
          </a:xfrm>
          <a:prstGeom prst="rect">
            <a:avLst/>
          </a:prstGeom>
          <a:noFill/>
          <a:ln/>
        </p:spPr>
        <p:txBody>
          <a:bodyPr wrap="square" lIns="0" tIns="0" rIns="0" bIns="0" rtlCol="0" anchor="t"/>
          <a:lstStyle/>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node</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Welcome to Node.js</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&gt; </a:t>
            </a:r>
            <a:pPr indent="0" marL="0">
              <a:lnSpc>
                <a:spcPct val="106000"/>
              </a:lnSpc>
              <a:buNone/>
            </a:pPr>
            <a:r>
              <a:rPr lang="en-US" sz="1100" dirty="0">
                <a:solidFill>
                  <a:srgbClr val="D9A05B"/>
                </a:solidFill>
                <a:latin typeface="Courier New" pitchFamily="34" charset="0"/>
                <a:ea typeface="Courier New" pitchFamily="34" charset="-122"/>
                <a:cs typeface="Courier New" pitchFamily="34" charset="-120"/>
              </a:rPr>
              <a:t>2</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100" dirty="0">
                <a:solidFill>
                  <a:srgbClr val="D9A05B"/>
                </a:solidFill>
                <a:latin typeface="Courier New" pitchFamily="34" charset="0"/>
                <a:ea typeface="Courier New" pitchFamily="34" charset="-122"/>
                <a:cs typeface="Courier New" pitchFamily="34" charset="-120"/>
              </a:rPr>
              <a:t>3</a:t>
            </a:r>
            <a:endParaRPr lang="en-US" sz="1100" dirty="0"/>
          </a:p>
          <a:p>
            <a:pPr indent="0" marL="0">
              <a:lnSpc>
                <a:spcPct val="106000"/>
              </a:lnSpc>
              <a:buNone/>
            </a:pPr>
            <a:r>
              <a:rPr lang="en-US" sz="1100" dirty="0">
                <a:solidFill>
                  <a:srgbClr val="D9A05B"/>
                </a:solidFill>
                <a:latin typeface="Courier New" pitchFamily="34" charset="0"/>
                <a:ea typeface="Courier New" pitchFamily="34" charset="-122"/>
                <a:cs typeface="Courier New" pitchFamily="34" charset="-120"/>
              </a:rPr>
              <a:t>5</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&gt; </a:t>
            </a:r>
            <a:pPr indent="0" marL="0">
              <a:lnSpc>
                <a:spcPct val="106000"/>
              </a:lnSpc>
              <a:buNone/>
            </a:pPr>
            <a:r>
              <a:rPr lang="en-US" sz="11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nama = </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'Node.js'</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&gt; </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`Halo ${nama}`</a:t>
            </a:r>
            <a:endParaRPr lang="en-US" sz="1100" dirty="0"/>
          </a:p>
          <a:p>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'Halo Node.js'</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&gt; .help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daftar perintah titik</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&gt; .exit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keluar dari REPL</a:t>
            </a:r>
            <a:endParaRPr lang="en-US" sz="1100" dirty="0"/>
          </a:p>
        </p:txBody>
      </p:sp>
      <p:sp>
        <p:nvSpPr>
          <p:cNvPr id="11" name="Text 8"/>
          <p:cNvSpPr txBox="1"/>
          <p:nvPr/>
        </p:nvSpPr>
        <p:spPr>
          <a:xfrm>
            <a:off x="6263640" y="1591056"/>
            <a:ext cx="5349240" cy="347472"/>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Menjalankan Berkas Skrip</a:t>
            </a:r>
            <a:endParaRPr lang="en-US" sz="1500" dirty="0"/>
          </a:p>
        </p:txBody>
      </p:sp>
      <p:sp>
        <p:nvSpPr>
          <p:cNvPr id="12" name="Text 9"/>
          <p:cNvSpPr txBox="1"/>
          <p:nvPr/>
        </p:nvSpPr>
        <p:spPr>
          <a:xfrm>
            <a:off x="6263640" y="1956816"/>
            <a:ext cx="5349240" cy="457200"/>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Cara yang dipakai untuk aplikasi sungguhan. Simpan kode dalam berkas .js lalu jalankan dengan perintah node.</a:t>
            </a:r>
            <a:endParaRPr lang="en-US" sz="1100" dirty="0"/>
          </a:p>
        </p:txBody>
      </p:sp>
      <p:sp>
        <p:nvSpPr>
          <p:cNvPr id="13" name="Shape 10"/>
          <p:cNvSpPr/>
          <p:nvPr/>
        </p:nvSpPr>
        <p:spPr>
          <a:xfrm>
            <a:off x="6263640" y="2487168"/>
            <a:ext cx="5349240" cy="2063618"/>
          </a:xfrm>
          <a:prstGeom prst="roundRect">
            <a:avLst>
              <a:gd name="adj" fmla="val 3102"/>
            </a:avLst>
          </a:prstGeom>
          <a:solidFill>
            <a:srgbClr val="0E2417"/>
          </a:solidFill>
          <a:ln w="12700">
            <a:solidFill>
              <a:srgbClr val="234A31"/>
            </a:solidFill>
            <a:prstDash val="solid"/>
          </a:ln>
        </p:spPr>
      </p:sp>
      <p:sp>
        <p:nvSpPr>
          <p:cNvPr id="14" name="Text 11"/>
          <p:cNvSpPr txBox="1"/>
          <p:nvPr/>
        </p:nvSpPr>
        <p:spPr>
          <a:xfrm>
            <a:off x="6483096" y="2578608"/>
            <a:ext cx="49103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MENJALANKAN BERKAS</a:t>
            </a:r>
            <a:endParaRPr lang="en-US" sz="950" dirty="0"/>
          </a:p>
        </p:txBody>
      </p:sp>
      <p:sp>
        <p:nvSpPr>
          <p:cNvPr id="15" name="Text 12"/>
          <p:cNvSpPr txBox="1"/>
          <p:nvPr/>
        </p:nvSpPr>
        <p:spPr>
          <a:xfrm>
            <a:off x="6483096" y="2889504"/>
            <a:ext cx="4910328" cy="1551554"/>
          </a:xfrm>
          <a:prstGeom prst="rect">
            <a:avLst/>
          </a:prstGeom>
          <a:noFill/>
          <a:ln/>
        </p:spPr>
        <p:txBody>
          <a:bodyPr wrap="square" lIns="0" tIns="0" rIns="0" bIns="0" rtlCol="0" anchor="t"/>
          <a:lstStyle/>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node app.js</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node app.js --port </a:t>
            </a:r>
            <a:pPr indent="0" marL="0">
              <a:lnSpc>
                <a:spcPct val="106000"/>
              </a:lnSpc>
              <a:buNone/>
            </a:pPr>
            <a:r>
              <a:rPr lang="en-US" sz="1100" dirty="0">
                <a:solidFill>
                  <a:srgbClr val="D9A05B"/>
                </a:solidFill>
                <a:latin typeface="Courier New" pitchFamily="34" charset="0"/>
                <a:ea typeface="Courier New" pitchFamily="34" charset="-122"/>
                <a:cs typeface="Courier New" pitchFamily="34" charset="-120"/>
              </a:rPr>
              <a:t>3000</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dengan argumen</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node --watch app.js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muat ulang otomatis</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membaca argumen di dalam app.js</a:t>
            </a:r>
            <a:endParaRPr lang="en-US" sz="1100" dirty="0"/>
          </a:p>
          <a:p>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.argv);</a:t>
            </a:r>
            <a:endParaRPr lang="en-US" sz="1100" dirty="0"/>
          </a:p>
          <a:p>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.env.NODE_ENV);</a:t>
            </a:r>
            <a:endParaRPr lang="en-US" sz="1100" dirty="0"/>
          </a:p>
          <a:p>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.platform);</a:t>
            </a:r>
            <a:endParaRPr lang="en-US" sz="1100" dirty="0"/>
          </a:p>
        </p:txBody>
      </p:sp>
      <p:sp>
        <p:nvSpPr>
          <p:cNvPr id="16" name="Shape 13"/>
          <p:cNvSpPr/>
          <p:nvPr/>
        </p:nvSpPr>
        <p:spPr>
          <a:xfrm>
            <a:off x="640080" y="4626864"/>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4"/>
          <p:cNvSpPr/>
          <p:nvPr/>
        </p:nvSpPr>
        <p:spPr>
          <a:xfrm>
            <a:off x="896112" y="4846320"/>
            <a:ext cx="457200" cy="457200"/>
          </a:xfrm>
          <a:prstGeom prst="roundRect">
            <a:avLst>
              <a:gd name="adj" fmla="val 26000"/>
            </a:avLst>
          </a:prstGeom>
          <a:solidFill>
            <a:srgbClr val="E8F2E2"/>
          </a:solidFill>
          <a:ln w="12700">
            <a:solidFill>
              <a:srgbClr val="E8F2E2"/>
            </a:solidFill>
            <a:prstDash val="solid"/>
          </a:ln>
        </p:spPr>
      </p:sp>
      <p:pic>
        <p:nvPicPr>
          <p:cNvPr id="18" name="Image 1" descr="preencoded.png">    </p:cNvPr>
          <p:cNvPicPr>
            <a:picLocks noChangeAspect="1"/>
          </p:cNvPicPr>
          <p:nvPr/>
        </p:nvPicPr>
        <p:blipFill>
          <a:blip r:embed="rId2"/>
          <a:stretch>
            <a:fillRect/>
          </a:stretch>
        </p:blipFill>
        <p:spPr>
          <a:xfrm>
            <a:off x="1010412" y="4960620"/>
            <a:ext cx="228600" cy="228600"/>
          </a:xfrm>
          <a:prstGeom prst="rect">
            <a:avLst/>
          </a:prstGeom>
        </p:spPr>
      </p:pic>
      <p:sp>
        <p:nvSpPr>
          <p:cNvPr id="19" name="Text 15"/>
          <p:cNvSpPr txBox="1"/>
          <p:nvPr/>
        </p:nvSpPr>
        <p:spPr>
          <a:xfrm>
            <a:off x="1499616" y="484632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Perintah Titik</a:t>
            </a:r>
            <a:endParaRPr lang="en-US" sz="1250" dirty="0"/>
          </a:p>
        </p:txBody>
      </p:sp>
      <p:sp>
        <p:nvSpPr>
          <p:cNvPr id="20" name="Text 16"/>
          <p:cNvSpPr txBox="1"/>
          <p:nvPr/>
        </p:nvSpPr>
        <p:spPr>
          <a:xfrm>
            <a:off x="896112" y="5413248"/>
            <a:ext cx="3008376" cy="347472"/>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REPL menyediakan .help, .save, .load, .clear, dan .exit.</a:t>
            </a:r>
            <a:endParaRPr lang="en-US" sz="1050" dirty="0"/>
          </a:p>
        </p:txBody>
      </p:sp>
      <p:sp>
        <p:nvSpPr>
          <p:cNvPr id="21" name="Shape 17"/>
          <p:cNvSpPr/>
          <p:nvPr/>
        </p:nvSpPr>
        <p:spPr>
          <a:xfrm>
            <a:off x="4443984" y="4626864"/>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8"/>
          <p:cNvSpPr/>
          <p:nvPr/>
        </p:nvSpPr>
        <p:spPr>
          <a:xfrm>
            <a:off x="4700016" y="4846320"/>
            <a:ext cx="457200" cy="457200"/>
          </a:xfrm>
          <a:prstGeom prst="roundRect">
            <a:avLst>
              <a:gd name="adj" fmla="val 26000"/>
            </a:avLst>
          </a:prstGeom>
          <a:solidFill>
            <a:srgbClr val="E8F2E2"/>
          </a:solidFill>
          <a:ln w="12700">
            <a:solidFill>
              <a:srgbClr val="E8F2E2"/>
            </a:solidFill>
            <a:prstDash val="solid"/>
          </a:ln>
        </p:spPr>
      </p:sp>
      <p:pic>
        <p:nvPicPr>
          <p:cNvPr id="23" name="Image 2" descr="preencoded.png">    </p:cNvPr>
          <p:cNvPicPr>
            <a:picLocks noChangeAspect="1"/>
          </p:cNvPicPr>
          <p:nvPr/>
        </p:nvPicPr>
        <p:blipFill>
          <a:blip r:embed="rId3"/>
          <a:stretch>
            <a:fillRect/>
          </a:stretch>
        </p:blipFill>
        <p:spPr>
          <a:xfrm>
            <a:off x="4814316" y="4960620"/>
            <a:ext cx="228600" cy="228600"/>
          </a:xfrm>
          <a:prstGeom prst="rect">
            <a:avLst/>
          </a:prstGeom>
        </p:spPr>
      </p:pic>
      <p:sp>
        <p:nvSpPr>
          <p:cNvPr id="24" name="Text 19"/>
          <p:cNvSpPr txBox="1"/>
          <p:nvPr/>
        </p:nvSpPr>
        <p:spPr>
          <a:xfrm>
            <a:off x="5303520" y="484632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Mode Watch</a:t>
            </a:r>
            <a:endParaRPr lang="en-US" sz="1250" dirty="0"/>
          </a:p>
        </p:txBody>
      </p:sp>
      <p:sp>
        <p:nvSpPr>
          <p:cNvPr id="25" name="Text 20"/>
          <p:cNvSpPr txBox="1"/>
          <p:nvPr/>
        </p:nvSpPr>
        <p:spPr>
          <a:xfrm>
            <a:off x="4700016" y="5413248"/>
            <a:ext cx="3008376" cy="347472"/>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Opsi --watch memuat ulang program setiap berkas berubah.</a:t>
            </a:r>
            <a:endParaRPr lang="en-US" sz="1050" dirty="0"/>
          </a:p>
        </p:txBody>
      </p:sp>
      <p:sp>
        <p:nvSpPr>
          <p:cNvPr id="26" name="Shape 21"/>
          <p:cNvSpPr/>
          <p:nvPr/>
        </p:nvSpPr>
        <p:spPr>
          <a:xfrm>
            <a:off x="8247888" y="4626864"/>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7" name="Shape 22"/>
          <p:cNvSpPr/>
          <p:nvPr/>
        </p:nvSpPr>
        <p:spPr>
          <a:xfrm>
            <a:off x="8503920" y="4846320"/>
            <a:ext cx="457200" cy="457200"/>
          </a:xfrm>
          <a:prstGeom prst="roundRect">
            <a:avLst>
              <a:gd name="adj" fmla="val 26000"/>
            </a:avLst>
          </a:prstGeom>
          <a:solidFill>
            <a:srgbClr val="E8F2E2"/>
          </a:solidFill>
          <a:ln w="12700">
            <a:solidFill>
              <a:srgbClr val="E8F2E2"/>
            </a:solidFill>
            <a:prstDash val="solid"/>
          </a:ln>
        </p:spPr>
      </p:sp>
      <p:pic>
        <p:nvPicPr>
          <p:cNvPr id="28" name="Image 3" descr="preencoded.png">    </p:cNvPr>
          <p:cNvPicPr>
            <a:picLocks noChangeAspect="1"/>
          </p:cNvPicPr>
          <p:nvPr/>
        </p:nvPicPr>
        <p:blipFill>
          <a:blip r:embed="rId4"/>
          <a:stretch>
            <a:fillRect/>
          </a:stretch>
        </p:blipFill>
        <p:spPr>
          <a:xfrm>
            <a:off x="8618220" y="4960620"/>
            <a:ext cx="228600" cy="228600"/>
          </a:xfrm>
          <a:prstGeom prst="rect">
            <a:avLst/>
          </a:prstGeom>
        </p:spPr>
      </p:pic>
      <p:sp>
        <p:nvSpPr>
          <p:cNvPr id="29" name="Text 23"/>
          <p:cNvSpPr txBox="1"/>
          <p:nvPr/>
        </p:nvSpPr>
        <p:spPr>
          <a:xfrm>
            <a:off x="9107424" y="484632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Objek process</a:t>
            </a:r>
            <a:endParaRPr lang="en-US" sz="1250" dirty="0"/>
          </a:p>
        </p:txBody>
      </p:sp>
      <p:sp>
        <p:nvSpPr>
          <p:cNvPr id="30" name="Text 24"/>
          <p:cNvSpPr txBox="1"/>
          <p:nvPr/>
        </p:nvSpPr>
        <p:spPr>
          <a:xfrm>
            <a:off x="8503920" y="5413248"/>
            <a:ext cx="3008376" cy="347472"/>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Menyimpan argumen, variabel lingkungan, dan info platform.</a:t>
            </a:r>
            <a:endParaRPr lang="en-US" sz="1050" dirty="0"/>
          </a:p>
        </p:txBody>
      </p:sp>
      <p:sp>
        <p:nvSpPr>
          <p:cNvPr id="31" name="Text 25"/>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2" name="Text 26"/>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Program Pertama dengan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Dari Hello World hingga server HTTP yang berjalan</a:t>
            </a:r>
            <a:endParaRPr lang="en-US" sz="1300" dirty="0"/>
          </a:p>
        </p:txBody>
      </p:sp>
      <p:sp>
        <p:nvSpPr>
          <p:cNvPr id="6" name="Shape 3"/>
          <p:cNvSpPr/>
          <p:nvPr/>
        </p:nvSpPr>
        <p:spPr>
          <a:xfrm>
            <a:off x="640080" y="1609344"/>
            <a:ext cx="5349240" cy="402336"/>
          </a:xfrm>
          <a:prstGeom prst="roundRect">
            <a:avLst>
              <a:gd name="adj" fmla="val 18182"/>
            </a:avLst>
          </a:prstGeom>
          <a:solidFill>
            <a:srgbClr val="0B2015"/>
          </a:solidFill>
          <a:ln w="12700">
            <a:solidFill>
              <a:srgbClr val="0B2015"/>
            </a:solidFill>
            <a:prstDash val="solid"/>
          </a:ln>
        </p:spPr>
      </p:sp>
      <p:sp>
        <p:nvSpPr>
          <p:cNvPr id="7" name="Text 4"/>
          <p:cNvSpPr txBox="1"/>
          <p:nvPr/>
        </p:nvSpPr>
        <p:spPr>
          <a:xfrm>
            <a:off x="868680" y="1609344"/>
            <a:ext cx="4937760" cy="40233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Langkah 1 — hello.js</a:t>
            </a:r>
            <a:endParaRPr lang="en-US" sz="1250" dirty="0"/>
          </a:p>
        </p:txBody>
      </p:sp>
      <p:sp>
        <p:nvSpPr>
          <p:cNvPr id="8" name="Shape 5"/>
          <p:cNvSpPr/>
          <p:nvPr/>
        </p:nvSpPr>
        <p:spPr>
          <a:xfrm>
            <a:off x="640080" y="2121408"/>
            <a:ext cx="5349240" cy="1675364"/>
          </a:xfrm>
          <a:prstGeom prst="roundRect">
            <a:avLst>
              <a:gd name="adj" fmla="val 3821"/>
            </a:avLst>
          </a:prstGeom>
          <a:solidFill>
            <a:srgbClr val="0E2417"/>
          </a:solidFill>
          <a:ln w="12700">
            <a:solidFill>
              <a:srgbClr val="234A31"/>
            </a:solidFill>
            <a:prstDash val="solid"/>
          </a:ln>
        </p:spPr>
      </p:sp>
      <p:sp>
        <p:nvSpPr>
          <p:cNvPr id="9" name="Text 6"/>
          <p:cNvSpPr txBox="1"/>
          <p:nvPr/>
        </p:nvSpPr>
        <p:spPr>
          <a:xfrm>
            <a:off x="859536" y="2322576"/>
            <a:ext cx="4910328" cy="1364468"/>
          </a:xfrm>
          <a:prstGeom prst="rect">
            <a:avLst/>
          </a:prstGeom>
          <a:noFill/>
          <a:ln/>
        </p:spPr>
        <p:txBody>
          <a:bodyPr wrap="square" lIns="0" tIns="0" rIns="0" bIns="0" rtlCol="0" anchor="t"/>
          <a:lstStyle/>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Program paling sederhana</a:t>
            </a:r>
            <a:endParaRPr lang="en-US" sz="1100" dirty="0"/>
          </a:p>
          <a:p>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'Halo, Node.js!'</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nama = </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'Mahasiswa'</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100" dirty="0">
                <a:solidFill>
                  <a:srgbClr val="E5C07B"/>
                </a:solidFill>
                <a:latin typeface="Courier New" pitchFamily="34" charset="0"/>
                <a:ea typeface="Courier New" pitchFamily="34" charset="-122"/>
                <a:cs typeface="Courier New" pitchFamily="34" charset="-120"/>
              </a:rPr>
              <a:t>`Selamat belajar, ${nama}`</a:t>
            </a:r>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Jalankan dengan: node hello.js</a:t>
            </a:r>
            <a:endParaRPr lang="en-US" sz="1100" dirty="0"/>
          </a:p>
        </p:txBody>
      </p:sp>
      <p:sp>
        <p:nvSpPr>
          <p:cNvPr id="10" name="Shape 7"/>
          <p:cNvSpPr/>
          <p:nvPr/>
        </p:nvSpPr>
        <p:spPr>
          <a:xfrm>
            <a:off x="6263640" y="1609344"/>
            <a:ext cx="5349240" cy="402336"/>
          </a:xfrm>
          <a:prstGeom prst="roundRect">
            <a:avLst>
              <a:gd name="adj" fmla="val 18182"/>
            </a:avLst>
          </a:prstGeom>
          <a:solidFill>
            <a:srgbClr val="3C873A"/>
          </a:solidFill>
          <a:ln w="12700">
            <a:solidFill>
              <a:srgbClr val="3C873A"/>
            </a:solidFill>
            <a:prstDash val="solid"/>
          </a:ln>
        </p:spPr>
      </p:sp>
      <p:sp>
        <p:nvSpPr>
          <p:cNvPr id="11" name="Text 8"/>
          <p:cNvSpPr txBox="1"/>
          <p:nvPr/>
        </p:nvSpPr>
        <p:spPr>
          <a:xfrm>
            <a:off x="6492240" y="1609344"/>
            <a:ext cx="4937760" cy="40233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Langkah 2 — server.js</a:t>
            </a:r>
            <a:endParaRPr lang="en-US" sz="1250" dirty="0"/>
          </a:p>
        </p:txBody>
      </p:sp>
      <p:sp>
        <p:nvSpPr>
          <p:cNvPr id="12" name="Shape 9"/>
          <p:cNvSpPr/>
          <p:nvPr/>
        </p:nvSpPr>
        <p:spPr>
          <a:xfrm>
            <a:off x="6263640" y="2121408"/>
            <a:ext cx="5349240" cy="2330166"/>
          </a:xfrm>
          <a:prstGeom prst="roundRect">
            <a:avLst>
              <a:gd name="adj" fmla="val 2747"/>
            </a:avLst>
          </a:prstGeom>
          <a:solidFill>
            <a:srgbClr val="0E2417"/>
          </a:solidFill>
          <a:ln w="12700">
            <a:solidFill>
              <a:srgbClr val="234A31"/>
            </a:solidFill>
            <a:prstDash val="solid"/>
          </a:ln>
        </p:spPr>
      </p:sp>
      <p:sp>
        <p:nvSpPr>
          <p:cNvPr id="13" name="Text 10"/>
          <p:cNvSpPr txBox="1"/>
          <p:nvPr/>
        </p:nvSpPr>
        <p:spPr>
          <a:xfrm>
            <a:off x="6483096" y="2322576"/>
            <a:ext cx="4910328" cy="2019270"/>
          </a:xfrm>
          <a:prstGeom prst="rect">
            <a:avLst/>
          </a:prstGeom>
          <a:noFill/>
          <a:ln/>
        </p:spPr>
        <p:txBody>
          <a:bodyPr wrap="square" lIns="0" tIns="0" rIns="0" bIns="0" rtlCol="0" anchor="t"/>
          <a:lstStyle/>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http =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'http'</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server = http.createServer((req, res) =&gt; {</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res.statusCode = </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200</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res.setHeader(</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'Content-Type'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'text/plain'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res.end(</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'Halo dari server Node.js!'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server.listen(</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3000</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 =&gt; {</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'Server jalan di port 3000'</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p:txBody>
      </p:sp>
      <p:sp>
        <p:nvSpPr>
          <p:cNvPr id="14" name="Shape 11"/>
          <p:cNvSpPr/>
          <p:nvPr/>
        </p:nvSpPr>
        <p:spPr>
          <a:xfrm>
            <a:off x="640080" y="4443984"/>
            <a:ext cx="2615184" cy="1371600"/>
          </a:xfrm>
          <a:prstGeom prst="roundRect">
            <a:avLst>
              <a:gd name="adj" fmla="val 6000"/>
            </a:avLst>
          </a:prstGeom>
          <a:solidFill>
            <a:srgbClr val="FFFFFF"/>
          </a:solidFill>
          <a:ln w="12700">
            <a:solidFill>
              <a:srgbClr val="E3EBDF"/>
            </a:solidFill>
            <a:prstDash val="solid"/>
          </a:ln>
        </p:spPr>
      </p:sp>
      <p:sp>
        <p:nvSpPr>
          <p:cNvPr id="15" name="Shape 12"/>
          <p:cNvSpPr/>
          <p:nvPr/>
        </p:nvSpPr>
        <p:spPr>
          <a:xfrm>
            <a:off x="859536" y="4645152"/>
            <a:ext cx="347472" cy="347472"/>
          </a:xfrm>
          <a:prstGeom prst="roundRect">
            <a:avLst>
              <a:gd name="adj" fmla="val 26316"/>
            </a:avLst>
          </a:prstGeom>
          <a:solidFill>
            <a:srgbClr val="3C873A"/>
          </a:solidFill>
          <a:ln w="12700">
            <a:solidFill>
              <a:srgbClr val="3C873A"/>
            </a:solidFill>
            <a:prstDash val="solid"/>
          </a:ln>
        </p:spPr>
      </p:sp>
      <p:sp>
        <p:nvSpPr>
          <p:cNvPr id="16" name="Text 13"/>
          <p:cNvSpPr txBox="1"/>
          <p:nvPr/>
        </p:nvSpPr>
        <p:spPr>
          <a:xfrm>
            <a:off x="859536" y="464515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17" name="Text 14"/>
          <p:cNvSpPr txBox="1"/>
          <p:nvPr/>
        </p:nvSpPr>
        <p:spPr>
          <a:xfrm>
            <a:off x="1298448" y="4645152"/>
            <a:ext cx="1737360" cy="34747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Buat berkas</a:t>
            </a:r>
            <a:endParaRPr lang="en-US" sz="1250" dirty="0"/>
          </a:p>
        </p:txBody>
      </p:sp>
      <p:sp>
        <p:nvSpPr>
          <p:cNvPr id="18" name="Text 15"/>
          <p:cNvSpPr txBox="1"/>
          <p:nvPr/>
        </p:nvSpPr>
        <p:spPr>
          <a:xfrm>
            <a:off x="859536" y="5065776"/>
            <a:ext cx="2176272" cy="60350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Simpan kode ke dalam berkas berekstensi .js pada folder proyek Anda.</a:t>
            </a:r>
            <a:endParaRPr lang="en-US" sz="1030" dirty="0"/>
          </a:p>
        </p:txBody>
      </p:sp>
      <p:sp>
        <p:nvSpPr>
          <p:cNvPr id="19" name="Shape 16"/>
          <p:cNvSpPr/>
          <p:nvPr/>
        </p:nvSpPr>
        <p:spPr>
          <a:xfrm>
            <a:off x="3520440" y="4443984"/>
            <a:ext cx="2615184" cy="1371600"/>
          </a:xfrm>
          <a:prstGeom prst="roundRect">
            <a:avLst>
              <a:gd name="adj" fmla="val 6000"/>
            </a:avLst>
          </a:prstGeom>
          <a:solidFill>
            <a:srgbClr val="FFFFFF"/>
          </a:solidFill>
          <a:ln w="12700">
            <a:solidFill>
              <a:srgbClr val="E3EBDF"/>
            </a:solidFill>
            <a:prstDash val="solid"/>
          </a:ln>
        </p:spPr>
      </p:sp>
      <p:sp>
        <p:nvSpPr>
          <p:cNvPr id="20" name="Shape 17"/>
          <p:cNvSpPr/>
          <p:nvPr/>
        </p:nvSpPr>
        <p:spPr>
          <a:xfrm>
            <a:off x="3739896" y="4645152"/>
            <a:ext cx="347472" cy="347472"/>
          </a:xfrm>
          <a:prstGeom prst="roundRect">
            <a:avLst>
              <a:gd name="adj" fmla="val 26316"/>
            </a:avLst>
          </a:prstGeom>
          <a:solidFill>
            <a:srgbClr val="3C873A"/>
          </a:solidFill>
          <a:ln w="12700">
            <a:solidFill>
              <a:srgbClr val="3C873A"/>
            </a:solidFill>
            <a:prstDash val="solid"/>
          </a:ln>
        </p:spPr>
      </p:sp>
      <p:sp>
        <p:nvSpPr>
          <p:cNvPr id="21" name="Text 18"/>
          <p:cNvSpPr txBox="1"/>
          <p:nvPr/>
        </p:nvSpPr>
        <p:spPr>
          <a:xfrm>
            <a:off x="3739896" y="464515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22" name="Text 19"/>
          <p:cNvSpPr txBox="1"/>
          <p:nvPr/>
        </p:nvSpPr>
        <p:spPr>
          <a:xfrm>
            <a:off x="4178808" y="4645152"/>
            <a:ext cx="1737360" cy="34747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Buka terminal</a:t>
            </a:r>
            <a:endParaRPr lang="en-US" sz="1250" dirty="0"/>
          </a:p>
        </p:txBody>
      </p:sp>
      <p:sp>
        <p:nvSpPr>
          <p:cNvPr id="23" name="Text 20"/>
          <p:cNvSpPr txBox="1"/>
          <p:nvPr/>
        </p:nvSpPr>
        <p:spPr>
          <a:xfrm>
            <a:off x="3739896" y="5065776"/>
            <a:ext cx="2176272" cy="60350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Arahkan terminal ke folder tempat berkas tersebut disimpan.</a:t>
            </a:r>
            <a:endParaRPr lang="en-US" sz="1030" dirty="0"/>
          </a:p>
        </p:txBody>
      </p:sp>
      <p:sp>
        <p:nvSpPr>
          <p:cNvPr id="24" name="Shape 21"/>
          <p:cNvSpPr/>
          <p:nvPr/>
        </p:nvSpPr>
        <p:spPr>
          <a:xfrm>
            <a:off x="6400800" y="4443984"/>
            <a:ext cx="2615184" cy="1371600"/>
          </a:xfrm>
          <a:prstGeom prst="roundRect">
            <a:avLst>
              <a:gd name="adj" fmla="val 6000"/>
            </a:avLst>
          </a:prstGeom>
          <a:solidFill>
            <a:srgbClr val="FFFFFF"/>
          </a:solidFill>
          <a:ln w="12700">
            <a:solidFill>
              <a:srgbClr val="E3EBDF"/>
            </a:solidFill>
            <a:prstDash val="solid"/>
          </a:ln>
        </p:spPr>
      </p:sp>
      <p:sp>
        <p:nvSpPr>
          <p:cNvPr id="25" name="Shape 22"/>
          <p:cNvSpPr/>
          <p:nvPr/>
        </p:nvSpPr>
        <p:spPr>
          <a:xfrm>
            <a:off x="6620256" y="4645152"/>
            <a:ext cx="347472" cy="347472"/>
          </a:xfrm>
          <a:prstGeom prst="roundRect">
            <a:avLst>
              <a:gd name="adj" fmla="val 26316"/>
            </a:avLst>
          </a:prstGeom>
          <a:solidFill>
            <a:srgbClr val="3C873A"/>
          </a:solidFill>
          <a:ln w="12700">
            <a:solidFill>
              <a:srgbClr val="3C873A"/>
            </a:solidFill>
            <a:prstDash val="solid"/>
          </a:ln>
        </p:spPr>
      </p:sp>
      <p:sp>
        <p:nvSpPr>
          <p:cNvPr id="26" name="Text 23"/>
          <p:cNvSpPr txBox="1"/>
          <p:nvPr/>
        </p:nvSpPr>
        <p:spPr>
          <a:xfrm>
            <a:off x="6620256" y="464515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27" name="Text 24"/>
          <p:cNvSpPr txBox="1"/>
          <p:nvPr/>
        </p:nvSpPr>
        <p:spPr>
          <a:xfrm>
            <a:off x="7059168" y="4645152"/>
            <a:ext cx="1737360" cy="34747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Jalankan</a:t>
            </a:r>
            <a:endParaRPr lang="en-US" sz="1250" dirty="0"/>
          </a:p>
        </p:txBody>
      </p:sp>
      <p:sp>
        <p:nvSpPr>
          <p:cNvPr id="28" name="Text 25"/>
          <p:cNvSpPr txBox="1"/>
          <p:nvPr/>
        </p:nvSpPr>
        <p:spPr>
          <a:xfrm>
            <a:off x="6620256" y="5065776"/>
            <a:ext cx="2176272" cy="60350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Ketik node server.js lalu tekan Enter untuk mengeksekusi program.</a:t>
            </a:r>
            <a:endParaRPr lang="en-US" sz="1030" dirty="0"/>
          </a:p>
        </p:txBody>
      </p:sp>
      <p:sp>
        <p:nvSpPr>
          <p:cNvPr id="29" name="Shape 26"/>
          <p:cNvSpPr/>
          <p:nvPr/>
        </p:nvSpPr>
        <p:spPr>
          <a:xfrm>
            <a:off x="9281160" y="4443984"/>
            <a:ext cx="2615184" cy="1371600"/>
          </a:xfrm>
          <a:prstGeom prst="roundRect">
            <a:avLst>
              <a:gd name="adj" fmla="val 6000"/>
            </a:avLst>
          </a:prstGeom>
          <a:solidFill>
            <a:srgbClr val="FFFFFF"/>
          </a:solidFill>
          <a:ln w="12700">
            <a:solidFill>
              <a:srgbClr val="E3EBDF"/>
            </a:solidFill>
            <a:prstDash val="solid"/>
          </a:ln>
        </p:spPr>
      </p:sp>
      <p:sp>
        <p:nvSpPr>
          <p:cNvPr id="30" name="Shape 27"/>
          <p:cNvSpPr/>
          <p:nvPr/>
        </p:nvSpPr>
        <p:spPr>
          <a:xfrm>
            <a:off x="9500616" y="4645152"/>
            <a:ext cx="347472" cy="347472"/>
          </a:xfrm>
          <a:prstGeom prst="roundRect">
            <a:avLst>
              <a:gd name="adj" fmla="val 26316"/>
            </a:avLst>
          </a:prstGeom>
          <a:solidFill>
            <a:srgbClr val="3C873A"/>
          </a:solidFill>
          <a:ln w="12700">
            <a:solidFill>
              <a:srgbClr val="3C873A"/>
            </a:solidFill>
            <a:prstDash val="solid"/>
          </a:ln>
        </p:spPr>
      </p:sp>
      <p:sp>
        <p:nvSpPr>
          <p:cNvPr id="31" name="Text 28"/>
          <p:cNvSpPr txBox="1"/>
          <p:nvPr/>
        </p:nvSpPr>
        <p:spPr>
          <a:xfrm>
            <a:off x="9500616" y="4645152"/>
            <a:ext cx="34747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4</a:t>
            </a:r>
            <a:endParaRPr lang="en-US" sz="1150" dirty="0"/>
          </a:p>
        </p:txBody>
      </p:sp>
      <p:sp>
        <p:nvSpPr>
          <p:cNvPr id="32" name="Text 29"/>
          <p:cNvSpPr txBox="1"/>
          <p:nvPr/>
        </p:nvSpPr>
        <p:spPr>
          <a:xfrm>
            <a:off x="9939528" y="4645152"/>
            <a:ext cx="1737360" cy="34747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Uji hasilnya</a:t>
            </a:r>
            <a:endParaRPr lang="en-US" sz="1250" dirty="0"/>
          </a:p>
        </p:txBody>
      </p:sp>
      <p:sp>
        <p:nvSpPr>
          <p:cNvPr id="33" name="Text 30"/>
          <p:cNvSpPr txBox="1"/>
          <p:nvPr/>
        </p:nvSpPr>
        <p:spPr>
          <a:xfrm>
            <a:off x="9500616" y="5065776"/>
            <a:ext cx="2176272" cy="60350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Buka peramban ke alamat localhost titik dua 3000 untuk melihat respons.</a:t>
            </a:r>
            <a:endParaRPr lang="en-US" sz="1030" dirty="0"/>
          </a:p>
        </p:txBody>
      </p:sp>
      <p:sp>
        <p:nvSpPr>
          <p:cNvPr id="34" name="Text 3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5" name="Text 3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Struktur Proyek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Susunan folder yang umum dipakai pada aplikasi berskala menengah</a:t>
            </a:r>
            <a:endParaRPr lang="en-US" sz="1300" dirty="0"/>
          </a:p>
        </p:txBody>
      </p:sp>
      <p:sp>
        <p:nvSpPr>
          <p:cNvPr id="6" name="Shape 3"/>
          <p:cNvSpPr/>
          <p:nvPr/>
        </p:nvSpPr>
        <p:spPr>
          <a:xfrm>
            <a:off x="640080" y="1627632"/>
            <a:ext cx="5577840" cy="3424245"/>
          </a:xfrm>
          <a:prstGeom prst="roundRect">
            <a:avLst>
              <a:gd name="adj" fmla="val 1869"/>
            </a:avLst>
          </a:prstGeom>
          <a:solidFill>
            <a:srgbClr val="0E2417"/>
          </a:solidFill>
          <a:ln w="12700">
            <a:solidFill>
              <a:srgbClr val="234A31"/>
            </a:solidFill>
            <a:prstDash val="solid"/>
          </a:ln>
        </p:spPr>
      </p:sp>
      <p:sp>
        <p:nvSpPr>
          <p:cNvPr id="7" name="Text 4"/>
          <p:cNvSpPr txBox="1"/>
          <p:nvPr/>
        </p:nvSpPr>
        <p:spPr>
          <a:xfrm>
            <a:off x="859536" y="171907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STRUKTUR FOLDER</a:t>
            </a:r>
            <a:endParaRPr lang="en-US" sz="950" dirty="0"/>
          </a:p>
        </p:txBody>
      </p:sp>
      <p:sp>
        <p:nvSpPr>
          <p:cNvPr id="8" name="Text 5"/>
          <p:cNvSpPr txBox="1"/>
          <p:nvPr/>
        </p:nvSpPr>
        <p:spPr>
          <a:xfrm>
            <a:off x="859536" y="2029968"/>
            <a:ext cx="5138928" cy="2912181"/>
          </a:xfrm>
          <a:prstGeom prst="rect">
            <a:avLst/>
          </a:prstGeom>
          <a:noFill/>
          <a:ln/>
        </p:spPr>
        <p:txBody>
          <a:bodyPr wrap="square" lIns="0" tIns="0" rIns="0" bIns="0" rtlCol="0" anchor="t"/>
          <a:lstStyle/>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proyek-saya/</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node_modules/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paket hasil instalasi npm</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src/</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controllers/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logika penanganan permintaan</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routes/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definisi endpoint aplikasi</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models/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skema dan akses basis data</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services/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aturan bisnis inti</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middlewares/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fungsi perantara Express</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utils/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fungsi bantuan umum</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config/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konfigurasi aplikasi</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tests/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berkas pengujian</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public/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aset statis</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.env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variabel lingkungan rahasia</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.gitignore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daftar berkas yang diabaikan Git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package.json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metadata dan dependensi</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server.js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titik masuk aplikasi</a:t>
            </a:r>
            <a:endParaRPr lang="en-US" sz="1050" dirty="0"/>
          </a:p>
        </p:txBody>
      </p:sp>
      <p:sp>
        <p:nvSpPr>
          <p:cNvPr id="9" name="Shape 6"/>
          <p:cNvSpPr/>
          <p:nvPr/>
        </p:nvSpPr>
        <p:spPr>
          <a:xfrm>
            <a:off x="6492240" y="1627632"/>
            <a:ext cx="5120640" cy="1060704"/>
          </a:xfrm>
          <a:prstGeom prst="roundRect">
            <a:avLst>
              <a:gd name="adj" fmla="val 775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0" name="Shape 7"/>
          <p:cNvSpPr/>
          <p:nvPr/>
        </p:nvSpPr>
        <p:spPr>
          <a:xfrm>
            <a:off x="6748272" y="1847088"/>
            <a:ext cx="457200" cy="457200"/>
          </a:xfrm>
          <a:prstGeom prst="roundRect">
            <a:avLst>
              <a:gd name="adj" fmla="val 26000"/>
            </a:avLst>
          </a:prstGeom>
          <a:solidFill>
            <a:srgbClr val="E8F2E2"/>
          </a:solidFill>
          <a:ln w="12700">
            <a:solidFill>
              <a:srgbClr val="E8F2E2"/>
            </a:solidFill>
            <a:prstDash val="solid"/>
          </a:ln>
        </p:spPr>
      </p:sp>
      <p:pic>
        <p:nvPicPr>
          <p:cNvPr id="11" name="Image 1" descr="preencoded.png">    </p:cNvPr>
          <p:cNvPicPr>
            <a:picLocks noChangeAspect="1"/>
          </p:cNvPicPr>
          <p:nvPr/>
        </p:nvPicPr>
        <p:blipFill>
          <a:blip r:embed="rId2"/>
          <a:stretch>
            <a:fillRect/>
          </a:stretch>
        </p:blipFill>
        <p:spPr>
          <a:xfrm>
            <a:off x="6862572" y="1961388"/>
            <a:ext cx="228600" cy="228600"/>
          </a:xfrm>
          <a:prstGeom prst="rect">
            <a:avLst/>
          </a:prstGeom>
        </p:spPr>
      </p:pic>
      <p:sp>
        <p:nvSpPr>
          <p:cNvPr id="12" name="Text 8"/>
          <p:cNvSpPr txBox="1"/>
          <p:nvPr/>
        </p:nvSpPr>
        <p:spPr>
          <a:xfrm>
            <a:off x="7351776" y="1847088"/>
            <a:ext cx="40050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node_modules</a:t>
            </a:r>
            <a:endParaRPr lang="en-US" sz="1250" dirty="0"/>
          </a:p>
        </p:txBody>
      </p:sp>
      <p:sp>
        <p:nvSpPr>
          <p:cNvPr id="13" name="Text 9"/>
          <p:cNvSpPr txBox="1"/>
          <p:nvPr/>
        </p:nvSpPr>
        <p:spPr>
          <a:xfrm>
            <a:off x="6748272" y="2414016"/>
            <a:ext cx="4608576" cy="10972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Berisi dependensi hasil npm install. Tidak pernah dikirim ke Git.</a:t>
            </a:r>
            <a:endParaRPr lang="en-US" sz="1030" dirty="0"/>
          </a:p>
        </p:txBody>
      </p:sp>
      <p:sp>
        <p:nvSpPr>
          <p:cNvPr id="14" name="Shape 10"/>
          <p:cNvSpPr/>
          <p:nvPr/>
        </p:nvSpPr>
        <p:spPr>
          <a:xfrm>
            <a:off x="6492240" y="2779776"/>
            <a:ext cx="5120640" cy="1060704"/>
          </a:xfrm>
          <a:prstGeom prst="roundRect">
            <a:avLst>
              <a:gd name="adj" fmla="val 775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5" name="Shape 11"/>
          <p:cNvSpPr/>
          <p:nvPr/>
        </p:nvSpPr>
        <p:spPr>
          <a:xfrm>
            <a:off x="6748272" y="2999232"/>
            <a:ext cx="457200" cy="457200"/>
          </a:xfrm>
          <a:prstGeom prst="roundRect">
            <a:avLst>
              <a:gd name="adj" fmla="val 26000"/>
            </a:avLst>
          </a:prstGeom>
          <a:solidFill>
            <a:srgbClr val="E8F2E2"/>
          </a:solidFill>
          <a:ln w="12700">
            <a:solidFill>
              <a:srgbClr val="E8F2E2"/>
            </a:solidFill>
            <a:prstDash val="solid"/>
          </a:ln>
        </p:spPr>
      </p:sp>
      <p:pic>
        <p:nvPicPr>
          <p:cNvPr id="16" name="Image 2" descr="preencoded.png">    </p:cNvPr>
          <p:cNvPicPr>
            <a:picLocks noChangeAspect="1"/>
          </p:cNvPicPr>
          <p:nvPr/>
        </p:nvPicPr>
        <p:blipFill>
          <a:blip r:embed="rId3"/>
          <a:stretch>
            <a:fillRect/>
          </a:stretch>
        </p:blipFill>
        <p:spPr>
          <a:xfrm>
            <a:off x="6862572" y="3113532"/>
            <a:ext cx="228600" cy="228600"/>
          </a:xfrm>
          <a:prstGeom prst="rect">
            <a:avLst/>
          </a:prstGeom>
        </p:spPr>
      </p:pic>
      <p:sp>
        <p:nvSpPr>
          <p:cNvPr id="17" name="Text 12"/>
          <p:cNvSpPr txBox="1"/>
          <p:nvPr/>
        </p:nvSpPr>
        <p:spPr>
          <a:xfrm>
            <a:off x="7351776" y="2999232"/>
            <a:ext cx="40050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package.json</a:t>
            </a:r>
            <a:endParaRPr lang="en-US" sz="1250" dirty="0"/>
          </a:p>
        </p:txBody>
      </p:sp>
      <p:sp>
        <p:nvSpPr>
          <p:cNvPr id="18" name="Text 13"/>
          <p:cNvSpPr txBox="1"/>
          <p:nvPr/>
        </p:nvSpPr>
        <p:spPr>
          <a:xfrm>
            <a:off x="6748272" y="3566160"/>
            <a:ext cx="4608576" cy="10972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Kartu identitas proyek: nama, versi, skrip, dan dependensi.</a:t>
            </a:r>
            <a:endParaRPr lang="en-US" sz="1030" dirty="0"/>
          </a:p>
        </p:txBody>
      </p:sp>
      <p:sp>
        <p:nvSpPr>
          <p:cNvPr id="19" name="Shape 14"/>
          <p:cNvSpPr/>
          <p:nvPr/>
        </p:nvSpPr>
        <p:spPr>
          <a:xfrm>
            <a:off x="6492240" y="3931920"/>
            <a:ext cx="5120640" cy="1060704"/>
          </a:xfrm>
          <a:prstGeom prst="roundRect">
            <a:avLst>
              <a:gd name="adj" fmla="val 775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0" name="Shape 15"/>
          <p:cNvSpPr/>
          <p:nvPr/>
        </p:nvSpPr>
        <p:spPr>
          <a:xfrm>
            <a:off x="6748272" y="4151376"/>
            <a:ext cx="457200" cy="457200"/>
          </a:xfrm>
          <a:prstGeom prst="roundRect">
            <a:avLst>
              <a:gd name="adj" fmla="val 26000"/>
            </a:avLst>
          </a:prstGeom>
          <a:solidFill>
            <a:srgbClr val="E8F2E2"/>
          </a:solidFill>
          <a:ln w="12700">
            <a:solidFill>
              <a:srgbClr val="E8F2E2"/>
            </a:solidFill>
            <a:prstDash val="solid"/>
          </a:ln>
        </p:spPr>
      </p:sp>
      <p:pic>
        <p:nvPicPr>
          <p:cNvPr id="21" name="Image 3" descr="preencoded.png">    </p:cNvPr>
          <p:cNvPicPr>
            <a:picLocks noChangeAspect="1"/>
          </p:cNvPicPr>
          <p:nvPr/>
        </p:nvPicPr>
        <p:blipFill>
          <a:blip r:embed="rId4"/>
          <a:stretch>
            <a:fillRect/>
          </a:stretch>
        </p:blipFill>
        <p:spPr>
          <a:xfrm>
            <a:off x="6862572" y="4265676"/>
            <a:ext cx="228600" cy="228600"/>
          </a:xfrm>
          <a:prstGeom prst="rect">
            <a:avLst/>
          </a:prstGeom>
        </p:spPr>
      </p:pic>
      <p:sp>
        <p:nvSpPr>
          <p:cNvPr id="22" name="Text 16"/>
          <p:cNvSpPr txBox="1"/>
          <p:nvPr/>
        </p:nvSpPr>
        <p:spPr>
          <a:xfrm>
            <a:off x="7351776" y="4151376"/>
            <a:ext cx="40050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Berkas .env</a:t>
            </a:r>
            <a:endParaRPr lang="en-US" sz="1250" dirty="0"/>
          </a:p>
        </p:txBody>
      </p:sp>
      <p:sp>
        <p:nvSpPr>
          <p:cNvPr id="23" name="Text 17"/>
          <p:cNvSpPr txBox="1"/>
          <p:nvPr/>
        </p:nvSpPr>
        <p:spPr>
          <a:xfrm>
            <a:off x="6748272" y="4718304"/>
            <a:ext cx="4608576" cy="10972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Menyimpan kredensial rahasia. Wajib masuk ke dalam .gitignore.</a:t>
            </a:r>
            <a:endParaRPr lang="en-US" sz="1030" dirty="0"/>
          </a:p>
        </p:txBody>
      </p:sp>
      <p:sp>
        <p:nvSpPr>
          <p:cNvPr id="24" name="Shape 18"/>
          <p:cNvSpPr/>
          <p:nvPr/>
        </p:nvSpPr>
        <p:spPr>
          <a:xfrm>
            <a:off x="6492240" y="5084064"/>
            <a:ext cx="5120640" cy="1060704"/>
          </a:xfrm>
          <a:prstGeom prst="roundRect">
            <a:avLst>
              <a:gd name="adj" fmla="val 775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5" name="Shape 19"/>
          <p:cNvSpPr/>
          <p:nvPr/>
        </p:nvSpPr>
        <p:spPr>
          <a:xfrm>
            <a:off x="6748272" y="5303520"/>
            <a:ext cx="457200" cy="457200"/>
          </a:xfrm>
          <a:prstGeom prst="roundRect">
            <a:avLst>
              <a:gd name="adj" fmla="val 26000"/>
            </a:avLst>
          </a:prstGeom>
          <a:solidFill>
            <a:srgbClr val="E8F2E2"/>
          </a:solidFill>
          <a:ln w="12700">
            <a:solidFill>
              <a:srgbClr val="E8F2E2"/>
            </a:solidFill>
            <a:prstDash val="solid"/>
          </a:ln>
        </p:spPr>
      </p:sp>
      <p:pic>
        <p:nvPicPr>
          <p:cNvPr id="26" name="Image 4" descr="preencoded.png">    </p:cNvPr>
          <p:cNvPicPr>
            <a:picLocks noChangeAspect="1"/>
          </p:cNvPicPr>
          <p:nvPr/>
        </p:nvPicPr>
        <p:blipFill>
          <a:blip r:embed="rId5"/>
          <a:stretch>
            <a:fillRect/>
          </a:stretch>
        </p:blipFill>
        <p:spPr>
          <a:xfrm>
            <a:off x="6862572" y="5417820"/>
            <a:ext cx="228600" cy="228600"/>
          </a:xfrm>
          <a:prstGeom prst="rect">
            <a:avLst/>
          </a:prstGeom>
        </p:spPr>
      </p:pic>
      <p:sp>
        <p:nvSpPr>
          <p:cNvPr id="27" name="Text 20"/>
          <p:cNvSpPr txBox="1"/>
          <p:nvPr/>
        </p:nvSpPr>
        <p:spPr>
          <a:xfrm>
            <a:off x="7351776" y="5303520"/>
            <a:ext cx="40050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Pemisahan Lapisan</a:t>
            </a:r>
            <a:endParaRPr lang="en-US" sz="1250" dirty="0"/>
          </a:p>
        </p:txBody>
      </p:sp>
      <p:sp>
        <p:nvSpPr>
          <p:cNvPr id="28" name="Text 21"/>
          <p:cNvSpPr txBox="1"/>
          <p:nvPr/>
        </p:nvSpPr>
        <p:spPr>
          <a:xfrm>
            <a:off x="6748272" y="5870448"/>
            <a:ext cx="4608576" cy="10972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Rute, controller, service, dan model dipisah agar mudah dirawat.</a:t>
            </a:r>
            <a:endParaRPr lang="en-US" sz="1030" dirty="0"/>
          </a:p>
        </p:txBody>
      </p:sp>
      <p:sp>
        <p:nvSpPr>
          <p:cNvPr id="29" name="Text 22"/>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0" name="Text 23"/>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04</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Sistem Modul &amp; NPM</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Memecah kode menjadi bagian-bagian yang dapat digunakan kembali, serta memanfaatkan registry paket terbesar di dunia.</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Modul inti, modul lokal, dan modul pihak ketiga</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Perbedaan CommonJS dan ES Modules</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package.json, perintah NPM, dan semantic versioning</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Sistem Modul di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Setiap berkas adalah modul dengan cakupan variabel tersendiri</a:t>
            </a:r>
            <a:endParaRPr lang="en-US" sz="1300" dirty="0"/>
          </a:p>
        </p:txBody>
      </p:sp>
      <p:sp>
        <p:nvSpPr>
          <p:cNvPr id="6" name="Shape 3"/>
          <p:cNvSpPr/>
          <p:nvPr/>
        </p:nvSpPr>
        <p:spPr>
          <a:xfrm>
            <a:off x="640080" y="1627632"/>
            <a:ext cx="3520440"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47088"/>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61388"/>
            <a:ext cx="228600" cy="228600"/>
          </a:xfrm>
          <a:prstGeom prst="rect">
            <a:avLst/>
          </a:prstGeom>
        </p:spPr>
      </p:pic>
      <p:sp>
        <p:nvSpPr>
          <p:cNvPr id="9" name="Text 5"/>
          <p:cNvSpPr txBox="1"/>
          <p:nvPr/>
        </p:nvSpPr>
        <p:spPr>
          <a:xfrm>
            <a:off x="1499616" y="1847088"/>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Modul Inti (Core)</a:t>
            </a:r>
            <a:endParaRPr lang="en-US" sz="1300" dirty="0"/>
          </a:p>
        </p:txBody>
      </p:sp>
      <p:sp>
        <p:nvSpPr>
          <p:cNvPr id="10" name="Text 6"/>
          <p:cNvSpPr txBox="1"/>
          <p:nvPr/>
        </p:nvSpPr>
        <p:spPr>
          <a:xfrm>
            <a:off x="896112" y="2414016"/>
            <a:ext cx="3008376" cy="62179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Sudah tersedia di dalam Node.js, tidak perlu dipasang.</a:t>
            </a:r>
            <a:endParaRPr lang="en-US" sz="1080" dirty="0"/>
          </a:p>
        </p:txBody>
      </p:sp>
      <p:sp>
        <p:nvSpPr>
          <p:cNvPr id="11" name="Shape 7"/>
          <p:cNvSpPr/>
          <p:nvPr/>
        </p:nvSpPr>
        <p:spPr>
          <a:xfrm>
            <a:off x="896112" y="2724912"/>
            <a:ext cx="3008376" cy="329184"/>
          </a:xfrm>
          <a:prstGeom prst="roundRect">
            <a:avLst>
              <a:gd name="adj" fmla="val 16667"/>
            </a:avLst>
          </a:prstGeom>
          <a:solidFill>
            <a:srgbClr val="0E2417"/>
          </a:solidFill>
          <a:ln w="12700">
            <a:solidFill>
              <a:srgbClr val="0E2417"/>
            </a:solidFill>
            <a:prstDash val="solid"/>
          </a:ln>
        </p:spPr>
      </p:sp>
      <p:sp>
        <p:nvSpPr>
          <p:cNvPr id="12" name="Text 8"/>
          <p:cNvSpPr txBox="1"/>
          <p:nvPr/>
        </p:nvSpPr>
        <p:spPr>
          <a:xfrm>
            <a:off x="896112" y="2724912"/>
            <a:ext cx="3008376" cy="329184"/>
          </a:xfrm>
          <a:prstGeom prst="rect">
            <a:avLst/>
          </a:prstGeom>
          <a:noFill/>
          <a:ln/>
        </p:spPr>
        <p:txBody>
          <a:bodyPr wrap="square" lIns="0" tIns="0" rIns="0" bIns="0" rtlCol="0" anchor="ctr"/>
          <a:lstStyle/>
          <a:p>
            <a:pPr algn="ctr" indent="0" marL="0">
              <a:buNone/>
            </a:pPr>
            <a:r>
              <a:rPr lang="en-US" sz="1050" dirty="0">
                <a:solidFill>
                  <a:srgbClr val="C6E3B4"/>
                </a:solidFill>
                <a:latin typeface="Courier New" pitchFamily="34" charset="0"/>
                <a:ea typeface="Courier New" pitchFamily="34" charset="-122"/>
                <a:cs typeface="Courier New" pitchFamily="34" charset="-120"/>
              </a:rPr>
              <a:t>require('fs')</a:t>
            </a:r>
            <a:endParaRPr lang="en-US" sz="1050" dirty="0"/>
          </a:p>
        </p:txBody>
      </p:sp>
      <p:sp>
        <p:nvSpPr>
          <p:cNvPr id="13" name="Shape 9"/>
          <p:cNvSpPr/>
          <p:nvPr/>
        </p:nvSpPr>
        <p:spPr>
          <a:xfrm>
            <a:off x="4443984" y="1627632"/>
            <a:ext cx="3520440"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4" name="Shape 10"/>
          <p:cNvSpPr/>
          <p:nvPr/>
        </p:nvSpPr>
        <p:spPr>
          <a:xfrm>
            <a:off x="4700016" y="1847088"/>
            <a:ext cx="457200" cy="457200"/>
          </a:xfrm>
          <a:prstGeom prst="roundRect">
            <a:avLst>
              <a:gd name="adj" fmla="val 26000"/>
            </a:avLst>
          </a:prstGeom>
          <a:solidFill>
            <a:srgbClr val="E8F2E2"/>
          </a:solidFill>
          <a:ln w="12700">
            <a:solidFill>
              <a:srgbClr val="E8F2E2"/>
            </a:solidFill>
            <a:prstDash val="solid"/>
          </a:ln>
        </p:spPr>
      </p:sp>
      <p:pic>
        <p:nvPicPr>
          <p:cNvPr id="15" name="Image 2" descr="preencoded.png">    </p:cNvPr>
          <p:cNvPicPr>
            <a:picLocks noChangeAspect="1"/>
          </p:cNvPicPr>
          <p:nvPr/>
        </p:nvPicPr>
        <p:blipFill>
          <a:blip r:embed="rId3"/>
          <a:stretch>
            <a:fillRect/>
          </a:stretch>
        </p:blipFill>
        <p:spPr>
          <a:xfrm>
            <a:off x="4814316" y="1961388"/>
            <a:ext cx="228600" cy="228600"/>
          </a:xfrm>
          <a:prstGeom prst="rect">
            <a:avLst/>
          </a:prstGeom>
        </p:spPr>
      </p:pic>
      <p:sp>
        <p:nvSpPr>
          <p:cNvPr id="16" name="Text 11"/>
          <p:cNvSpPr txBox="1"/>
          <p:nvPr/>
        </p:nvSpPr>
        <p:spPr>
          <a:xfrm>
            <a:off x="5303520" y="1847088"/>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Modul Lokal</a:t>
            </a:r>
            <a:endParaRPr lang="en-US" sz="1300" dirty="0"/>
          </a:p>
        </p:txBody>
      </p:sp>
      <p:sp>
        <p:nvSpPr>
          <p:cNvPr id="17" name="Text 12"/>
          <p:cNvSpPr txBox="1"/>
          <p:nvPr/>
        </p:nvSpPr>
        <p:spPr>
          <a:xfrm>
            <a:off x="4700016" y="2414016"/>
            <a:ext cx="3008376" cy="62179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Berkas buatan sendiri, dirujuk dengan jalur relatif.</a:t>
            </a:r>
            <a:endParaRPr lang="en-US" sz="1080" dirty="0"/>
          </a:p>
        </p:txBody>
      </p:sp>
      <p:sp>
        <p:nvSpPr>
          <p:cNvPr id="18" name="Shape 13"/>
          <p:cNvSpPr/>
          <p:nvPr/>
        </p:nvSpPr>
        <p:spPr>
          <a:xfrm>
            <a:off x="4700016" y="2724912"/>
            <a:ext cx="3008376" cy="329184"/>
          </a:xfrm>
          <a:prstGeom prst="roundRect">
            <a:avLst>
              <a:gd name="adj" fmla="val 16667"/>
            </a:avLst>
          </a:prstGeom>
          <a:solidFill>
            <a:srgbClr val="0E2417"/>
          </a:solidFill>
          <a:ln w="12700">
            <a:solidFill>
              <a:srgbClr val="0E2417"/>
            </a:solidFill>
            <a:prstDash val="solid"/>
          </a:ln>
        </p:spPr>
      </p:sp>
      <p:sp>
        <p:nvSpPr>
          <p:cNvPr id="19" name="Text 14"/>
          <p:cNvSpPr txBox="1"/>
          <p:nvPr/>
        </p:nvSpPr>
        <p:spPr>
          <a:xfrm>
            <a:off x="4700016" y="2724912"/>
            <a:ext cx="3008376" cy="329184"/>
          </a:xfrm>
          <a:prstGeom prst="rect">
            <a:avLst/>
          </a:prstGeom>
          <a:noFill/>
          <a:ln/>
        </p:spPr>
        <p:txBody>
          <a:bodyPr wrap="square" lIns="0" tIns="0" rIns="0" bIns="0" rtlCol="0" anchor="ctr"/>
          <a:lstStyle/>
          <a:p>
            <a:pPr algn="ctr" indent="0" marL="0">
              <a:buNone/>
            </a:pPr>
            <a:r>
              <a:rPr lang="en-US" sz="1050" dirty="0">
                <a:solidFill>
                  <a:srgbClr val="C6E3B4"/>
                </a:solidFill>
                <a:latin typeface="Courier New" pitchFamily="34" charset="0"/>
                <a:ea typeface="Courier New" pitchFamily="34" charset="-122"/>
                <a:cs typeface="Courier New" pitchFamily="34" charset="-120"/>
              </a:rPr>
              <a:t>require('./utils')</a:t>
            </a:r>
            <a:endParaRPr lang="en-US" sz="1050" dirty="0"/>
          </a:p>
        </p:txBody>
      </p:sp>
      <p:sp>
        <p:nvSpPr>
          <p:cNvPr id="20" name="Shape 15"/>
          <p:cNvSpPr/>
          <p:nvPr/>
        </p:nvSpPr>
        <p:spPr>
          <a:xfrm>
            <a:off x="8247888" y="1627632"/>
            <a:ext cx="3520440"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1" name="Shape 16"/>
          <p:cNvSpPr/>
          <p:nvPr/>
        </p:nvSpPr>
        <p:spPr>
          <a:xfrm>
            <a:off x="8503920" y="1847088"/>
            <a:ext cx="457200" cy="457200"/>
          </a:xfrm>
          <a:prstGeom prst="roundRect">
            <a:avLst>
              <a:gd name="adj" fmla="val 26000"/>
            </a:avLst>
          </a:prstGeom>
          <a:solidFill>
            <a:srgbClr val="E8F2E2"/>
          </a:solidFill>
          <a:ln w="12700">
            <a:solidFill>
              <a:srgbClr val="E8F2E2"/>
            </a:solidFill>
            <a:prstDash val="solid"/>
          </a:ln>
        </p:spPr>
      </p:sp>
      <p:pic>
        <p:nvPicPr>
          <p:cNvPr id="22" name="Image 3" descr="preencoded.png">    </p:cNvPr>
          <p:cNvPicPr>
            <a:picLocks noChangeAspect="1"/>
          </p:cNvPicPr>
          <p:nvPr/>
        </p:nvPicPr>
        <p:blipFill>
          <a:blip r:embed="rId4"/>
          <a:stretch>
            <a:fillRect/>
          </a:stretch>
        </p:blipFill>
        <p:spPr>
          <a:xfrm>
            <a:off x="8618220" y="1961388"/>
            <a:ext cx="228600" cy="228600"/>
          </a:xfrm>
          <a:prstGeom prst="rect">
            <a:avLst/>
          </a:prstGeom>
        </p:spPr>
      </p:pic>
      <p:sp>
        <p:nvSpPr>
          <p:cNvPr id="23" name="Text 17"/>
          <p:cNvSpPr txBox="1"/>
          <p:nvPr/>
        </p:nvSpPr>
        <p:spPr>
          <a:xfrm>
            <a:off x="9107424" y="1847088"/>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Modul Pihak Ketiga</a:t>
            </a:r>
            <a:endParaRPr lang="en-US" sz="1300" dirty="0"/>
          </a:p>
        </p:txBody>
      </p:sp>
      <p:sp>
        <p:nvSpPr>
          <p:cNvPr id="24" name="Text 18"/>
          <p:cNvSpPr txBox="1"/>
          <p:nvPr/>
        </p:nvSpPr>
        <p:spPr>
          <a:xfrm>
            <a:off x="8503920" y="2414016"/>
            <a:ext cx="3008376" cy="62179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Dipasang dari registry NPM ke folder node_modules.</a:t>
            </a:r>
            <a:endParaRPr lang="en-US" sz="1080" dirty="0"/>
          </a:p>
        </p:txBody>
      </p:sp>
      <p:sp>
        <p:nvSpPr>
          <p:cNvPr id="25" name="Shape 19"/>
          <p:cNvSpPr/>
          <p:nvPr/>
        </p:nvSpPr>
        <p:spPr>
          <a:xfrm>
            <a:off x="8503920" y="2724912"/>
            <a:ext cx="3008376" cy="329184"/>
          </a:xfrm>
          <a:prstGeom prst="roundRect">
            <a:avLst>
              <a:gd name="adj" fmla="val 16667"/>
            </a:avLst>
          </a:prstGeom>
          <a:solidFill>
            <a:srgbClr val="0E2417"/>
          </a:solidFill>
          <a:ln w="12700">
            <a:solidFill>
              <a:srgbClr val="0E2417"/>
            </a:solidFill>
            <a:prstDash val="solid"/>
          </a:ln>
        </p:spPr>
      </p:sp>
      <p:sp>
        <p:nvSpPr>
          <p:cNvPr id="26" name="Text 20"/>
          <p:cNvSpPr txBox="1"/>
          <p:nvPr/>
        </p:nvSpPr>
        <p:spPr>
          <a:xfrm>
            <a:off x="8503920" y="2724912"/>
            <a:ext cx="3008376" cy="329184"/>
          </a:xfrm>
          <a:prstGeom prst="rect">
            <a:avLst/>
          </a:prstGeom>
          <a:noFill/>
          <a:ln/>
        </p:spPr>
        <p:txBody>
          <a:bodyPr wrap="square" lIns="0" tIns="0" rIns="0" bIns="0" rtlCol="0" anchor="ctr"/>
          <a:lstStyle/>
          <a:p>
            <a:pPr algn="ctr" indent="0" marL="0">
              <a:buNone/>
            </a:pPr>
            <a:r>
              <a:rPr lang="en-US" sz="1050" dirty="0">
                <a:solidFill>
                  <a:srgbClr val="C6E3B4"/>
                </a:solidFill>
                <a:latin typeface="Courier New" pitchFamily="34" charset="0"/>
                <a:ea typeface="Courier New" pitchFamily="34" charset="-122"/>
                <a:cs typeface="Courier New" pitchFamily="34" charset="-120"/>
              </a:rPr>
              <a:t>require('express')</a:t>
            </a:r>
            <a:endParaRPr lang="en-US" sz="1050" dirty="0"/>
          </a:p>
        </p:txBody>
      </p:sp>
      <p:sp>
        <p:nvSpPr>
          <p:cNvPr id="27" name="Shape 21"/>
          <p:cNvSpPr/>
          <p:nvPr/>
        </p:nvSpPr>
        <p:spPr>
          <a:xfrm>
            <a:off x="640080" y="3419856"/>
            <a:ext cx="5577840" cy="2352751"/>
          </a:xfrm>
          <a:prstGeom prst="roundRect">
            <a:avLst>
              <a:gd name="adj" fmla="val 2721"/>
            </a:avLst>
          </a:prstGeom>
          <a:solidFill>
            <a:srgbClr val="0E2417"/>
          </a:solidFill>
          <a:ln w="12700">
            <a:solidFill>
              <a:srgbClr val="234A31"/>
            </a:solidFill>
            <a:prstDash val="solid"/>
          </a:ln>
        </p:spPr>
      </p:sp>
      <p:sp>
        <p:nvSpPr>
          <p:cNvPr id="28" name="Text 22"/>
          <p:cNvSpPr txBox="1"/>
          <p:nvPr/>
        </p:nvSpPr>
        <p:spPr>
          <a:xfrm>
            <a:off x="859536" y="3511296"/>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MEMBUAT DAN MEMAKAI MODUL LOKAL</a:t>
            </a:r>
            <a:endParaRPr lang="en-US" sz="950" dirty="0"/>
          </a:p>
        </p:txBody>
      </p:sp>
      <p:sp>
        <p:nvSpPr>
          <p:cNvPr id="29" name="Text 23"/>
          <p:cNvSpPr txBox="1"/>
          <p:nvPr/>
        </p:nvSpPr>
        <p:spPr>
          <a:xfrm>
            <a:off x="859536" y="3822192"/>
            <a:ext cx="5138928" cy="1840687"/>
          </a:xfrm>
          <a:prstGeom prst="rect">
            <a:avLst/>
          </a:prstGeom>
          <a:noFill/>
          <a:ln/>
        </p:spPr>
        <p:txBody>
          <a:bodyPr wrap="square" lIns="0" tIns="0" rIns="0" bIns="0" rtlCol="0" anchor="t"/>
          <a:lstStyle/>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 matematika.js ====</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tambah(a, b) { </a:t>
            </a:r>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 + b; }</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kali(a, b) { </a:t>
            </a:r>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 * b; }</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module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exports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 { tambah, kali };</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 app.js ====</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mtk =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'./matematika'</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.log(mtk.tambah(</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2</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3</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5</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.log(mtk.kali(</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4</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5</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20</a:t>
            </a:r>
            <a:endParaRPr lang="en-US" sz="1050" dirty="0"/>
          </a:p>
        </p:txBody>
      </p:sp>
      <p:sp>
        <p:nvSpPr>
          <p:cNvPr id="30" name="Shape 24"/>
          <p:cNvSpPr/>
          <p:nvPr/>
        </p:nvSpPr>
        <p:spPr>
          <a:xfrm>
            <a:off x="6492240" y="3566160"/>
            <a:ext cx="420624" cy="420624"/>
          </a:xfrm>
          <a:prstGeom prst="roundRect">
            <a:avLst>
              <a:gd name="adj" fmla="val 26087"/>
            </a:avLst>
          </a:prstGeom>
          <a:solidFill>
            <a:srgbClr val="E8F2E2"/>
          </a:solidFill>
          <a:ln w="12700">
            <a:solidFill>
              <a:srgbClr val="E8F2E2"/>
            </a:solidFill>
            <a:prstDash val="solid"/>
          </a:ln>
        </p:spPr>
      </p:sp>
      <p:pic>
        <p:nvPicPr>
          <p:cNvPr id="31" name="Image 4" descr="preencoded.png">    </p:cNvPr>
          <p:cNvPicPr>
            <a:picLocks noChangeAspect="1"/>
          </p:cNvPicPr>
          <p:nvPr/>
        </p:nvPicPr>
        <p:blipFill>
          <a:blip r:embed="rId5"/>
          <a:stretch>
            <a:fillRect/>
          </a:stretch>
        </p:blipFill>
        <p:spPr>
          <a:xfrm>
            <a:off x="6597396" y="3671316"/>
            <a:ext cx="210312" cy="210312"/>
          </a:xfrm>
          <a:prstGeom prst="rect">
            <a:avLst/>
          </a:prstGeom>
        </p:spPr>
      </p:pic>
      <p:sp>
        <p:nvSpPr>
          <p:cNvPr id="32" name="Text 25"/>
          <p:cNvSpPr txBox="1"/>
          <p:nvPr/>
        </p:nvSpPr>
        <p:spPr>
          <a:xfrm>
            <a:off x="7059168" y="3547872"/>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Urutan Pencarian require</a:t>
            </a:r>
            <a:endParaRPr lang="en-US" sz="1200" dirty="0"/>
          </a:p>
        </p:txBody>
      </p:sp>
      <p:sp>
        <p:nvSpPr>
          <p:cNvPr id="33" name="Text 26"/>
          <p:cNvSpPr txBox="1"/>
          <p:nvPr/>
        </p:nvSpPr>
        <p:spPr>
          <a:xfrm>
            <a:off x="7059168" y="3803904"/>
            <a:ext cx="4553712" cy="329184"/>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Modul inti diperiksa lebih dulu, lalu jalur relatif, baru node_modules.</a:t>
            </a:r>
            <a:endParaRPr lang="en-US" sz="1020" dirty="0"/>
          </a:p>
        </p:txBody>
      </p:sp>
      <p:sp>
        <p:nvSpPr>
          <p:cNvPr id="34" name="Shape 27"/>
          <p:cNvSpPr/>
          <p:nvPr/>
        </p:nvSpPr>
        <p:spPr>
          <a:xfrm>
            <a:off x="6492240" y="4279392"/>
            <a:ext cx="420624" cy="420624"/>
          </a:xfrm>
          <a:prstGeom prst="roundRect">
            <a:avLst>
              <a:gd name="adj" fmla="val 26087"/>
            </a:avLst>
          </a:prstGeom>
          <a:solidFill>
            <a:srgbClr val="E8F2E2"/>
          </a:solidFill>
          <a:ln w="12700">
            <a:solidFill>
              <a:srgbClr val="E8F2E2"/>
            </a:solidFill>
            <a:prstDash val="solid"/>
          </a:ln>
        </p:spPr>
      </p:sp>
      <p:pic>
        <p:nvPicPr>
          <p:cNvPr id="35" name="Image 5" descr="preencoded.png">    </p:cNvPr>
          <p:cNvPicPr>
            <a:picLocks noChangeAspect="1"/>
          </p:cNvPicPr>
          <p:nvPr/>
        </p:nvPicPr>
        <p:blipFill>
          <a:blip r:embed="rId6"/>
          <a:stretch>
            <a:fillRect/>
          </a:stretch>
        </p:blipFill>
        <p:spPr>
          <a:xfrm>
            <a:off x="6597396" y="4384548"/>
            <a:ext cx="210312" cy="210312"/>
          </a:xfrm>
          <a:prstGeom prst="rect">
            <a:avLst/>
          </a:prstGeom>
        </p:spPr>
      </p:pic>
      <p:sp>
        <p:nvSpPr>
          <p:cNvPr id="36" name="Text 28"/>
          <p:cNvSpPr txBox="1"/>
          <p:nvPr/>
        </p:nvSpPr>
        <p:spPr>
          <a:xfrm>
            <a:off x="7059168" y="4261104"/>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Cakupan Terisolasi</a:t>
            </a:r>
            <a:endParaRPr lang="en-US" sz="1200" dirty="0"/>
          </a:p>
        </p:txBody>
      </p:sp>
      <p:sp>
        <p:nvSpPr>
          <p:cNvPr id="37" name="Text 29"/>
          <p:cNvSpPr txBox="1"/>
          <p:nvPr/>
        </p:nvSpPr>
        <p:spPr>
          <a:xfrm>
            <a:off x="7059168" y="4517136"/>
            <a:ext cx="4553712" cy="329184"/>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Variabel sebuah modul tidak bocor ke modul lain. Hanya ekspor yang terlihat.</a:t>
            </a:r>
            <a:endParaRPr lang="en-US" sz="1020" dirty="0"/>
          </a:p>
        </p:txBody>
      </p:sp>
      <p:sp>
        <p:nvSpPr>
          <p:cNvPr id="38" name="Shape 30"/>
          <p:cNvSpPr/>
          <p:nvPr/>
        </p:nvSpPr>
        <p:spPr>
          <a:xfrm>
            <a:off x="6492240" y="4992624"/>
            <a:ext cx="420624" cy="420624"/>
          </a:xfrm>
          <a:prstGeom prst="roundRect">
            <a:avLst>
              <a:gd name="adj" fmla="val 26087"/>
            </a:avLst>
          </a:prstGeom>
          <a:solidFill>
            <a:srgbClr val="E8F2E2"/>
          </a:solidFill>
          <a:ln w="12700">
            <a:solidFill>
              <a:srgbClr val="E8F2E2"/>
            </a:solidFill>
            <a:prstDash val="solid"/>
          </a:ln>
        </p:spPr>
      </p:sp>
      <p:pic>
        <p:nvPicPr>
          <p:cNvPr id="39" name="Image 6" descr="preencoded.png">    </p:cNvPr>
          <p:cNvPicPr>
            <a:picLocks noChangeAspect="1"/>
          </p:cNvPicPr>
          <p:nvPr/>
        </p:nvPicPr>
        <p:blipFill>
          <a:blip r:embed="rId7"/>
          <a:stretch>
            <a:fillRect/>
          </a:stretch>
        </p:blipFill>
        <p:spPr>
          <a:xfrm>
            <a:off x="6597396" y="5097780"/>
            <a:ext cx="210312" cy="210312"/>
          </a:xfrm>
          <a:prstGeom prst="rect">
            <a:avLst/>
          </a:prstGeom>
        </p:spPr>
      </p:pic>
      <p:sp>
        <p:nvSpPr>
          <p:cNvPr id="40" name="Text 31"/>
          <p:cNvSpPr txBox="1"/>
          <p:nvPr/>
        </p:nvSpPr>
        <p:spPr>
          <a:xfrm>
            <a:off x="7059168" y="4974336"/>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Cache Modul</a:t>
            </a:r>
            <a:endParaRPr lang="en-US" sz="1200" dirty="0"/>
          </a:p>
        </p:txBody>
      </p:sp>
      <p:sp>
        <p:nvSpPr>
          <p:cNvPr id="41" name="Text 32"/>
          <p:cNvSpPr txBox="1"/>
          <p:nvPr/>
        </p:nvSpPr>
        <p:spPr>
          <a:xfrm>
            <a:off x="7059168" y="5230368"/>
            <a:ext cx="4553712" cy="329184"/>
          </a:xfrm>
          <a:prstGeom prst="rect">
            <a:avLst/>
          </a:prstGeom>
          <a:noFill/>
          <a:ln/>
        </p:spPr>
        <p:txBody>
          <a:bodyPr wrap="square" lIns="0" tIns="0" rIns="0" bIns="0" rtlCol="0" anchor="t"/>
          <a:lstStyle/>
          <a:p>
            <a:pPr indent="0" marL="0">
              <a:lnSpc>
                <a:spcPct val="110000"/>
              </a:lnSpc>
              <a:buNone/>
            </a:pPr>
            <a:r>
              <a:rPr lang="en-US" sz="1020" dirty="0">
                <a:solidFill>
                  <a:srgbClr val="5F6F62"/>
                </a:solidFill>
                <a:latin typeface="Calibri" pitchFamily="34" charset="0"/>
                <a:ea typeface="Calibri" pitchFamily="34" charset="-122"/>
                <a:cs typeface="Calibri" pitchFamily="34" charset="-120"/>
              </a:rPr>
              <a:t>Modul hanya dieksekusi sekali; require berikutnya memakai cache.</a:t>
            </a:r>
            <a:endParaRPr lang="en-US" sz="1020" dirty="0"/>
          </a:p>
        </p:txBody>
      </p:sp>
      <p:sp>
        <p:nvSpPr>
          <p:cNvPr id="42" name="Text 3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3" name="Text 3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CommonJS vs ES Modules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Dua sistem modul yang sama-sama didukung Node.js modern</a:t>
            </a:r>
            <a:endParaRPr lang="en-US" sz="1300" dirty="0"/>
          </a:p>
        </p:txBody>
      </p:sp>
      <p:sp>
        <p:nvSpPr>
          <p:cNvPr id="6" name="Shape 3"/>
          <p:cNvSpPr/>
          <p:nvPr/>
        </p:nvSpPr>
        <p:spPr>
          <a:xfrm>
            <a:off x="640080" y="1609344"/>
            <a:ext cx="5349240" cy="402336"/>
          </a:xfrm>
          <a:prstGeom prst="roundRect">
            <a:avLst>
              <a:gd name="adj" fmla="val 18182"/>
            </a:avLst>
          </a:prstGeom>
          <a:solidFill>
            <a:srgbClr val="5A6B5D"/>
          </a:solidFill>
          <a:ln w="12700">
            <a:solidFill>
              <a:srgbClr val="5A6B5D"/>
            </a:solidFill>
            <a:prstDash val="solid"/>
          </a:ln>
        </p:spPr>
      </p:sp>
      <p:sp>
        <p:nvSpPr>
          <p:cNvPr id="7" name="Text 4"/>
          <p:cNvSpPr txBox="1"/>
          <p:nvPr/>
        </p:nvSpPr>
        <p:spPr>
          <a:xfrm>
            <a:off x="868680" y="1609344"/>
            <a:ext cx="4937760" cy="40233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CommonJS — Gaya Klasik Node.js</a:t>
            </a:r>
            <a:endParaRPr lang="en-US" sz="1250" dirty="0"/>
          </a:p>
        </p:txBody>
      </p:sp>
      <p:sp>
        <p:nvSpPr>
          <p:cNvPr id="8" name="Shape 5"/>
          <p:cNvSpPr/>
          <p:nvPr/>
        </p:nvSpPr>
        <p:spPr>
          <a:xfrm>
            <a:off x="6263640" y="1609344"/>
            <a:ext cx="5349240" cy="402336"/>
          </a:xfrm>
          <a:prstGeom prst="roundRect">
            <a:avLst>
              <a:gd name="adj" fmla="val 18182"/>
            </a:avLst>
          </a:prstGeom>
          <a:solidFill>
            <a:srgbClr val="3C873A"/>
          </a:solidFill>
          <a:ln w="12700">
            <a:solidFill>
              <a:srgbClr val="3C873A"/>
            </a:solidFill>
            <a:prstDash val="solid"/>
          </a:ln>
        </p:spPr>
      </p:sp>
      <p:sp>
        <p:nvSpPr>
          <p:cNvPr id="9" name="Text 6"/>
          <p:cNvSpPr txBox="1"/>
          <p:nvPr/>
        </p:nvSpPr>
        <p:spPr>
          <a:xfrm>
            <a:off x="6492240" y="1609344"/>
            <a:ext cx="4937760" cy="40233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ES Modules — Standar JavaScript</a:t>
            </a:r>
            <a:endParaRPr lang="en-US" sz="1250" dirty="0"/>
          </a:p>
        </p:txBody>
      </p:sp>
      <p:sp>
        <p:nvSpPr>
          <p:cNvPr id="10" name="Shape 7"/>
          <p:cNvSpPr/>
          <p:nvPr/>
        </p:nvSpPr>
        <p:spPr>
          <a:xfrm>
            <a:off x="640080" y="2121408"/>
            <a:ext cx="5349240" cy="2151583"/>
          </a:xfrm>
          <a:prstGeom prst="roundRect">
            <a:avLst>
              <a:gd name="adj" fmla="val 2975"/>
            </a:avLst>
          </a:prstGeom>
          <a:solidFill>
            <a:srgbClr val="0E2417"/>
          </a:solidFill>
          <a:ln w="12700">
            <a:solidFill>
              <a:srgbClr val="234A31"/>
            </a:solidFill>
            <a:prstDash val="solid"/>
          </a:ln>
        </p:spPr>
      </p:sp>
      <p:sp>
        <p:nvSpPr>
          <p:cNvPr id="11" name="Text 8"/>
          <p:cNvSpPr txBox="1"/>
          <p:nvPr/>
        </p:nvSpPr>
        <p:spPr>
          <a:xfrm>
            <a:off x="859536" y="2322576"/>
            <a:ext cx="4910328" cy="1840687"/>
          </a:xfrm>
          <a:prstGeom prst="rect">
            <a:avLst/>
          </a:prstGeom>
          <a:noFill/>
          <a:ln/>
        </p:spPr>
        <p:txBody>
          <a:bodyPr wrap="square" lIns="0" tIns="0" rIns="0" bIns="0" rtlCol="0" anchor="t"/>
          <a:lstStyle/>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Ekspor</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module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exports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 { tambah };</a:t>
            </a:r>
            <a:endParaRPr lang="en-US" sz="1050" dirty="0"/>
          </a:p>
          <a:p>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exports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.kurang = kurang;</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Impor</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 tambah } =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'./mtk'</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05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Berkas: .js atau .cjs</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Dimuat secara sinkron</a:t>
            </a:r>
            <a:endParaRPr lang="en-US" sz="1050" dirty="0"/>
          </a:p>
        </p:txBody>
      </p:sp>
      <p:sp>
        <p:nvSpPr>
          <p:cNvPr id="12" name="Shape 9"/>
          <p:cNvSpPr/>
          <p:nvPr/>
        </p:nvSpPr>
        <p:spPr>
          <a:xfrm>
            <a:off x="6263640" y="2121408"/>
            <a:ext cx="5349240" cy="2151583"/>
          </a:xfrm>
          <a:prstGeom prst="roundRect">
            <a:avLst>
              <a:gd name="adj" fmla="val 2975"/>
            </a:avLst>
          </a:prstGeom>
          <a:solidFill>
            <a:srgbClr val="0E2417"/>
          </a:solidFill>
          <a:ln w="12700">
            <a:solidFill>
              <a:srgbClr val="234A31"/>
            </a:solidFill>
            <a:prstDash val="solid"/>
          </a:ln>
        </p:spPr>
      </p:sp>
      <p:sp>
        <p:nvSpPr>
          <p:cNvPr id="13" name="Text 10"/>
          <p:cNvSpPr txBox="1"/>
          <p:nvPr/>
        </p:nvSpPr>
        <p:spPr>
          <a:xfrm>
            <a:off x="6483096" y="2322576"/>
            <a:ext cx="4910328" cy="1840687"/>
          </a:xfrm>
          <a:prstGeom prst="rect">
            <a:avLst/>
          </a:prstGeom>
          <a:noFill/>
          <a:ln/>
        </p:spPr>
        <p:txBody>
          <a:bodyPr wrap="square" lIns="0" tIns="0" rIns="0" bIns="0" rtlCol="0" anchor="t"/>
          <a:lstStyle/>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Ekspor</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export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tambah(a, b) {}</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export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default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Kalkulator;</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Impor</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import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 tambah } </a:t>
            </a:r>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from</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'./mtk.js'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import</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fs </a:t>
            </a:r>
            <a:pPr indent="0" marL="0">
              <a:lnSpc>
                <a:spcPct val="106000"/>
              </a:lnSpc>
              <a:buNone/>
            </a:pPr>
            <a:r>
              <a:rPr lang="en-US" sz="1050" dirty="0">
                <a:solidFill>
                  <a:srgbClr val="8CC84B"/>
                </a:solidFill>
                <a:latin typeface="Courier New" pitchFamily="34" charset="0"/>
                <a:ea typeface="Courier New" pitchFamily="34" charset="-122"/>
                <a:cs typeface="Courier New" pitchFamily="34" charset="-120"/>
              </a:rPr>
              <a:t>from</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50" dirty="0">
                <a:solidFill>
                  <a:srgbClr val="E5C07B"/>
                </a:solidFill>
                <a:latin typeface="Courier New" pitchFamily="34" charset="0"/>
                <a:ea typeface="Courier New" pitchFamily="34" charset="-122"/>
                <a:cs typeface="Courier New" pitchFamily="34" charset="-120"/>
              </a:rPr>
              <a:t>'node:fs'</a:t>
            </a:r>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 </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Berkas: .mjs atau type: module</a:t>
            </a:r>
            <a:endParaRPr lang="en-US" sz="1050" dirty="0"/>
          </a:p>
          <a:p>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 Dimuat secara asinkron</a:t>
            </a:r>
            <a:endParaRPr lang="en-US" sz="1050" dirty="0"/>
          </a:p>
        </p:txBody>
      </p:sp>
      <p:sp>
        <p:nvSpPr>
          <p:cNvPr id="14" name="Shape 11"/>
          <p:cNvSpPr/>
          <p:nvPr/>
        </p:nvSpPr>
        <p:spPr>
          <a:xfrm>
            <a:off x="640080" y="4261104"/>
            <a:ext cx="10972800" cy="329184"/>
          </a:xfrm>
          <a:prstGeom prst="roundRect">
            <a:avLst>
              <a:gd name="adj" fmla="val 13889"/>
            </a:avLst>
          </a:prstGeom>
          <a:solidFill>
            <a:srgbClr val="0B2015"/>
          </a:solidFill>
          <a:ln w="12700">
            <a:solidFill>
              <a:srgbClr val="0B2015"/>
            </a:solidFill>
            <a:prstDash val="solid"/>
          </a:ln>
        </p:spPr>
      </p:sp>
      <p:sp>
        <p:nvSpPr>
          <p:cNvPr id="15" name="Text 12"/>
          <p:cNvSpPr txBox="1"/>
          <p:nvPr/>
        </p:nvSpPr>
        <p:spPr>
          <a:xfrm>
            <a:off x="868680" y="4261104"/>
            <a:ext cx="3017520" cy="329184"/>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Aspek</a:t>
            </a:r>
            <a:endParaRPr lang="en-US" sz="1080" dirty="0"/>
          </a:p>
        </p:txBody>
      </p:sp>
      <p:sp>
        <p:nvSpPr>
          <p:cNvPr id="16" name="Text 13"/>
          <p:cNvSpPr txBox="1"/>
          <p:nvPr/>
        </p:nvSpPr>
        <p:spPr>
          <a:xfrm>
            <a:off x="3977640" y="4261104"/>
            <a:ext cx="3840480" cy="329184"/>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CommonJS</a:t>
            </a:r>
            <a:endParaRPr lang="en-US" sz="1080" dirty="0"/>
          </a:p>
        </p:txBody>
      </p:sp>
      <p:sp>
        <p:nvSpPr>
          <p:cNvPr id="17" name="Text 14"/>
          <p:cNvSpPr txBox="1"/>
          <p:nvPr/>
        </p:nvSpPr>
        <p:spPr>
          <a:xfrm>
            <a:off x="7955280" y="4261104"/>
            <a:ext cx="3474720" cy="329184"/>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ES Modules</a:t>
            </a:r>
            <a:endParaRPr lang="en-US" sz="1080" dirty="0"/>
          </a:p>
        </p:txBody>
      </p:sp>
      <p:sp>
        <p:nvSpPr>
          <p:cNvPr id="18" name="Shape 15"/>
          <p:cNvSpPr/>
          <p:nvPr/>
        </p:nvSpPr>
        <p:spPr>
          <a:xfrm>
            <a:off x="640080" y="4626864"/>
            <a:ext cx="10972800" cy="329184"/>
          </a:xfrm>
          <a:prstGeom prst="roundRect">
            <a:avLst>
              <a:gd name="adj" fmla="val 13889"/>
            </a:avLst>
          </a:prstGeom>
          <a:solidFill>
            <a:srgbClr val="FFFFFF"/>
          </a:solidFill>
          <a:ln w="12700">
            <a:solidFill>
              <a:srgbClr val="E3EBDF"/>
            </a:solidFill>
            <a:prstDash val="solid"/>
          </a:ln>
        </p:spPr>
      </p:sp>
      <p:sp>
        <p:nvSpPr>
          <p:cNvPr id="19" name="Text 16"/>
          <p:cNvSpPr txBox="1"/>
          <p:nvPr/>
        </p:nvSpPr>
        <p:spPr>
          <a:xfrm>
            <a:off x="868680" y="4626864"/>
            <a:ext cx="3017520" cy="32918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Kata kunci</a:t>
            </a:r>
            <a:endParaRPr lang="en-US" sz="1080" dirty="0"/>
          </a:p>
        </p:txBody>
      </p:sp>
      <p:sp>
        <p:nvSpPr>
          <p:cNvPr id="20" name="Text 17"/>
          <p:cNvSpPr txBox="1"/>
          <p:nvPr/>
        </p:nvSpPr>
        <p:spPr>
          <a:xfrm>
            <a:off x="3977640" y="4626864"/>
            <a:ext cx="384048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require dan module.exports</a:t>
            </a:r>
            <a:endParaRPr lang="en-US" sz="1080" dirty="0"/>
          </a:p>
        </p:txBody>
      </p:sp>
      <p:sp>
        <p:nvSpPr>
          <p:cNvPr id="21" name="Text 18"/>
          <p:cNvSpPr txBox="1"/>
          <p:nvPr/>
        </p:nvSpPr>
        <p:spPr>
          <a:xfrm>
            <a:off x="7955280" y="4626864"/>
            <a:ext cx="347472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import dan export</a:t>
            </a:r>
            <a:endParaRPr lang="en-US" sz="1080" dirty="0"/>
          </a:p>
        </p:txBody>
      </p:sp>
      <p:sp>
        <p:nvSpPr>
          <p:cNvPr id="22" name="Shape 19"/>
          <p:cNvSpPr/>
          <p:nvPr/>
        </p:nvSpPr>
        <p:spPr>
          <a:xfrm>
            <a:off x="640080" y="4992624"/>
            <a:ext cx="10972800" cy="329184"/>
          </a:xfrm>
          <a:prstGeom prst="roundRect">
            <a:avLst>
              <a:gd name="adj" fmla="val 13889"/>
            </a:avLst>
          </a:prstGeom>
          <a:solidFill>
            <a:srgbClr val="EDF3E9"/>
          </a:solidFill>
          <a:ln w="12700">
            <a:solidFill>
              <a:srgbClr val="E3EBDF"/>
            </a:solidFill>
            <a:prstDash val="solid"/>
          </a:ln>
        </p:spPr>
      </p:sp>
      <p:sp>
        <p:nvSpPr>
          <p:cNvPr id="23" name="Text 20"/>
          <p:cNvSpPr txBox="1"/>
          <p:nvPr/>
        </p:nvSpPr>
        <p:spPr>
          <a:xfrm>
            <a:off x="868680" y="4992624"/>
            <a:ext cx="3017520" cy="32918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Waktu pemuatan</a:t>
            </a:r>
            <a:endParaRPr lang="en-US" sz="1080" dirty="0"/>
          </a:p>
        </p:txBody>
      </p:sp>
      <p:sp>
        <p:nvSpPr>
          <p:cNvPr id="24" name="Text 21"/>
          <p:cNvSpPr txBox="1"/>
          <p:nvPr/>
        </p:nvSpPr>
        <p:spPr>
          <a:xfrm>
            <a:off x="3977640" y="4992624"/>
            <a:ext cx="384048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Sinkron saat dieksekusi</a:t>
            </a:r>
            <a:endParaRPr lang="en-US" sz="1080" dirty="0"/>
          </a:p>
        </p:txBody>
      </p:sp>
      <p:sp>
        <p:nvSpPr>
          <p:cNvPr id="25" name="Text 22"/>
          <p:cNvSpPr txBox="1"/>
          <p:nvPr/>
        </p:nvSpPr>
        <p:spPr>
          <a:xfrm>
            <a:off x="7955280" y="4992624"/>
            <a:ext cx="347472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Asinkron dan dianalisis statis</a:t>
            </a:r>
            <a:endParaRPr lang="en-US" sz="1080" dirty="0"/>
          </a:p>
        </p:txBody>
      </p:sp>
      <p:sp>
        <p:nvSpPr>
          <p:cNvPr id="26" name="Shape 23"/>
          <p:cNvSpPr/>
          <p:nvPr/>
        </p:nvSpPr>
        <p:spPr>
          <a:xfrm>
            <a:off x="640080" y="5358384"/>
            <a:ext cx="10972800" cy="329184"/>
          </a:xfrm>
          <a:prstGeom prst="roundRect">
            <a:avLst>
              <a:gd name="adj" fmla="val 13889"/>
            </a:avLst>
          </a:prstGeom>
          <a:solidFill>
            <a:srgbClr val="FFFFFF"/>
          </a:solidFill>
          <a:ln w="12700">
            <a:solidFill>
              <a:srgbClr val="E3EBDF"/>
            </a:solidFill>
            <a:prstDash val="solid"/>
          </a:ln>
        </p:spPr>
      </p:sp>
      <p:sp>
        <p:nvSpPr>
          <p:cNvPr id="27" name="Text 24"/>
          <p:cNvSpPr txBox="1"/>
          <p:nvPr/>
        </p:nvSpPr>
        <p:spPr>
          <a:xfrm>
            <a:off x="868680" y="5358384"/>
            <a:ext cx="3017520" cy="32918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Aktivasi</a:t>
            </a:r>
            <a:endParaRPr lang="en-US" sz="1080" dirty="0"/>
          </a:p>
        </p:txBody>
      </p:sp>
      <p:sp>
        <p:nvSpPr>
          <p:cNvPr id="28" name="Text 25"/>
          <p:cNvSpPr txBox="1"/>
          <p:nvPr/>
        </p:nvSpPr>
        <p:spPr>
          <a:xfrm>
            <a:off x="3977640" y="5358384"/>
            <a:ext cx="384048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Bawaan Node.js</a:t>
            </a:r>
            <a:endParaRPr lang="en-US" sz="1080" dirty="0"/>
          </a:p>
        </p:txBody>
      </p:sp>
      <p:sp>
        <p:nvSpPr>
          <p:cNvPr id="29" name="Text 26"/>
          <p:cNvSpPr txBox="1"/>
          <p:nvPr/>
        </p:nvSpPr>
        <p:spPr>
          <a:xfrm>
            <a:off x="7955280" y="5358384"/>
            <a:ext cx="347472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Tambahkan "type": "module"</a:t>
            </a:r>
            <a:endParaRPr lang="en-US" sz="1080" dirty="0"/>
          </a:p>
        </p:txBody>
      </p:sp>
      <p:sp>
        <p:nvSpPr>
          <p:cNvPr id="30" name="Shape 27"/>
          <p:cNvSpPr/>
          <p:nvPr/>
        </p:nvSpPr>
        <p:spPr>
          <a:xfrm>
            <a:off x="640080" y="5724144"/>
            <a:ext cx="10972800" cy="329184"/>
          </a:xfrm>
          <a:prstGeom prst="roundRect">
            <a:avLst>
              <a:gd name="adj" fmla="val 13889"/>
            </a:avLst>
          </a:prstGeom>
          <a:solidFill>
            <a:srgbClr val="EDF3E9"/>
          </a:solidFill>
          <a:ln w="12700">
            <a:solidFill>
              <a:srgbClr val="E3EBDF"/>
            </a:solidFill>
            <a:prstDash val="solid"/>
          </a:ln>
        </p:spPr>
      </p:sp>
      <p:sp>
        <p:nvSpPr>
          <p:cNvPr id="31" name="Text 28"/>
          <p:cNvSpPr txBox="1"/>
          <p:nvPr/>
        </p:nvSpPr>
        <p:spPr>
          <a:xfrm>
            <a:off x="868680" y="5724144"/>
            <a:ext cx="3017520" cy="32918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Rekomendasi</a:t>
            </a:r>
            <a:endParaRPr lang="en-US" sz="1080" dirty="0"/>
          </a:p>
        </p:txBody>
      </p:sp>
      <p:sp>
        <p:nvSpPr>
          <p:cNvPr id="32" name="Text 29"/>
          <p:cNvSpPr txBox="1"/>
          <p:nvPr/>
        </p:nvSpPr>
        <p:spPr>
          <a:xfrm>
            <a:off x="3977640" y="5724144"/>
            <a:ext cx="384048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Proyek lama dan pustaka legasi</a:t>
            </a:r>
            <a:endParaRPr lang="en-US" sz="1080" dirty="0"/>
          </a:p>
        </p:txBody>
      </p:sp>
      <p:sp>
        <p:nvSpPr>
          <p:cNvPr id="33" name="Text 30"/>
          <p:cNvSpPr txBox="1"/>
          <p:nvPr/>
        </p:nvSpPr>
        <p:spPr>
          <a:xfrm>
            <a:off x="7955280" y="5724144"/>
            <a:ext cx="3474720" cy="329184"/>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Proyek baru dan kode lintas platform</a:t>
            </a:r>
            <a:endParaRPr lang="en-US" sz="1080" dirty="0"/>
          </a:p>
        </p:txBody>
      </p:sp>
      <p:sp>
        <p:nvSpPr>
          <p:cNvPr id="34" name="Text 3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5" name="Text 3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Modul Inti yang Wajib Dikenal</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Delapan modul bawaan Node.js yang paling sering digunakan</a:t>
            </a:r>
            <a:endParaRPr lang="en-US" sz="1300" dirty="0"/>
          </a:p>
        </p:txBody>
      </p:sp>
      <p:sp>
        <p:nvSpPr>
          <p:cNvPr id="6" name="Shape 3"/>
          <p:cNvSpPr/>
          <p:nvPr/>
        </p:nvSpPr>
        <p:spPr>
          <a:xfrm>
            <a:off x="640080" y="1627632"/>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77824" y="1847088"/>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992124" y="1961388"/>
            <a:ext cx="228600" cy="228600"/>
          </a:xfrm>
          <a:prstGeom prst="rect">
            <a:avLst/>
          </a:prstGeom>
        </p:spPr>
      </p:pic>
      <p:sp>
        <p:nvSpPr>
          <p:cNvPr id="9" name="Text 5"/>
          <p:cNvSpPr txBox="1"/>
          <p:nvPr/>
        </p:nvSpPr>
        <p:spPr>
          <a:xfrm>
            <a:off x="1444752" y="1847088"/>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File System</a:t>
            </a:r>
            <a:endParaRPr lang="en-US" sz="1250" dirty="0"/>
          </a:p>
        </p:txBody>
      </p:sp>
      <p:sp>
        <p:nvSpPr>
          <p:cNvPr id="10" name="Text 6"/>
          <p:cNvSpPr txBox="1"/>
          <p:nvPr/>
        </p:nvSpPr>
        <p:spPr>
          <a:xfrm>
            <a:off x="877824" y="2414016"/>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Membaca, menulis, menyalin, dan menghapus berkas serta folder.</a:t>
            </a:r>
            <a:endParaRPr lang="en-US" sz="1030" dirty="0"/>
          </a:p>
        </p:txBody>
      </p:sp>
      <p:sp>
        <p:nvSpPr>
          <p:cNvPr id="11" name="Shape 7"/>
          <p:cNvSpPr/>
          <p:nvPr/>
        </p:nvSpPr>
        <p:spPr>
          <a:xfrm>
            <a:off x="877824" y="2926080"/>
            <a:ext cx="2066544" cy="365760"/>
          </a:xfrm>
          <a:prstGeom prst="roundRect">
            <a:avLst>
              <a:gd name="adj" fmla="val 15000"/>
            </a:avLst>
          </a:prstGeom>
          <a:solidFill>
            <a:srgbClr val="0E2417"/>
          </a:solidFill>
          <a:ln w="12700">
            <a:solidFill>
              <a:srgbClr val="0E2417"/>
            </a:solidFill>
            <a:prstDash val="solid"/>
          </a:ln>
        </p:spPr>
      </p:sp>
      <p:sp>
        <p:nvSpPr>
          <p:cNvPr id="12" name="Text 8"/>
          <p:cNvSpPr txBox="1"/>
          <p:nvPr/>
        </p:nvSpPr>
        <p:spPr>
          <a:xfrm>
            <a:off x="877824" y="2926080"/>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require('fs')</a:t>
            </a:r>
            <a:endParaRPr lang="en-US" sz="1000" dirty="0"/>
          </a:p>
        </p:txBody>
      </p:sp>
      <p:sp>
        <p:nvSpPr>
          <p:cNvPr id="13" name="Shape 9"/>
          <p:cNvSpPr/>
          <p:nvPr/>
        </p:nvSpPr>
        <p:spPr>
          <a:xfrm>
            <a:off x="3447288" y="1627632"/>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4" name="Shape 10"/>
          <p:cNvSpPr/>
          <p:nvPr/>
        </p:nvSpPr>
        <p:spPr>
          <a:xfrm>
            <a:off x="3685032" y="1847088"/>
            <a:ext cx="457200" cy="457200"/>
          </a:xfrm>
          <a:prstGeom prst="roundRect">
            <a:avLst>
              <a:gd name="adj" fmla="val 26000"/>
            </a:avLst>
          </a:prstGeom>
          <a:solidFill>
            <a:srgbClr val="E8F2E2"/>
          </a:solidFill>
          <a:ln w="12700">
            <a:solidFill>
              <a:srgbClr val="E8F2E2"/>
            </a:solidFill>
            <a:prstDash val="solid"/>
          </a:ln>
        </p:spPr>
      </p:sp>
      <p:pic>
        <p:nvPicPr>
          <p:cNvPr id="15" name="Image 2" descr="preencoded.png">    </p:cNvPr>
          <p:cNvPicPr>
            <a:picLocks noChangeAspect="1"/>
          </p:cNvPicPr>
          <p:nvPr/>
        </p:nvPicPr>
        <p:blipFill>
          <a:blip r:embed="rId3"/>
          <a:stretch>
            <a:fillRect/>
          </a:stretch>
        </p:blipFill>
        <p:spPr>
          <a:xfrm>
            <a:off x="3799332" y="1961388"/>
            <a:ext cx="228600" cy="228600"/>
          </a:xfrm>
          <a:prstGeom prst="rect">
            <a:avLst/>
          </a:prstGeom>
        </p:spPr>
      </p:pic>
      <p:sp>
        <p:nvSpPr>
          <p:cNvPr id="16" name="Text 11"/>
          <p:cNvSpPr txBox="1"/>
          <p:nvPr/>
        </p:nvSpPr>
        <p:spPr>
          <a:xfrm>
            <a:off x="4251960" y="1847088"/>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HTTP Server</a:t>
            </a:r>
            <a:endParaRPr lang="en-US" sz="1250" dirty="0"/>
          </a:p>
        </p:txBody>
      </p:sp>
      <p:sp>
        <p:nvSpPr>
          <p:cNvPr id="17" name="Text 12"/>
          <p:cNvSpPr txBox="1"/>
          <p:nvPr/>
        </p:nvSpPr>
        <p:spPr>
          <a:xfrm>
            <a:off x="3685032" y="2414016"/>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Membuat server dan klien HTTP tanpa pustaka tambahan.</a:t>
            </a:r>
            <a:endParaRPr lang="en-US" sz="1030" dirty="0"/>
          </a:p>
        </p:txBody>
      </p:sp>
      <p:sp>
        <p:nvSpPr>
          <p:cNvPr id="18" name="Shape 13"/>
          <p:cNvSpPr/>
          <p:nvPr/>
        </p:nvSpPr>
        <p:spPr>
          <a:xfrm>
            <a:off x="3685032" y="2926080"/>
            <a:ext cx="2066544" cy="365760"/>
          </a:xfrm>
          <a:prstGeom prst="roundRect">
            <a:avLst>
              <a:gd name="adj" fmla="val 15000"/>
            </a:avLst>
          </a:prstGeom>
          <a:solidFill>
            <a:srgbClr val="0E2417"/>
          </a:solidFill>
          <a:ln w="12700">
            <a:solidFill>
              <a:srgbClr val="0E2417"/>
            </a:solidFill>
            <a:prstDash val="solid"/>
          </a:ln>
        </p:spPr>
      </p:sp>
      <p:sp>
        <p:nvSpPr>
          <p:cNvPr id="19" name="Text 14"/>
          <p:cNvSpPr txBox="1"/>
          <p:nvPr/>
        </p:nvSpPr>
        <p:spPr>
          <a:xfrm>
            <a:off x="3685032" y="2926080"/>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require('http')</a:t>
            </a:r>
            <a:endParaRPr lang="en-US" sz="1000" dirty="0"/>
          </a:p>
        </p:txBody>
      </p:sp>
      <p:sp>
        <p:nvSpPr>
          <p:cNvPr id="20" name="Shape 15"/>
          <p:cNvSpPr/>
          <p:nvPr/>
        </p:nvSpPr>
        <p:spPr>
          <a:xfrm>
            <a:off x="6254496" y="1627632"/>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1" name="Shape 16"/>
          <p:cNvSpPr/>
          <p:nvPr/>
        </p:nvSpPr>
        <p:spPr>
          <a:xfrm>
            <a:off x="6492240" y="1847088"/>
            <a:ext cx="457200" cy="457200"/>
          </a:xfrm>
          <a:prstGeom prst="roundRect">
            <a:avLst>
              <a:gd name="adj" fmla="val 26000"/>
            </a:avLst>
          </a:prstGeom>
          <a:solidFill>
            <a:srgbClr val="E8F2E2"/>
          </a:solidFill>
          <a:ln w="12700">
            <a:solidFill>
              <a:srgbClr val="E8F2E2"/>
            </a:solidFill>
            <a:prstDash val="solid"/>
          </a:ln>
        </p:spPr>
      </p:sp>
      <p:pic>
        <p:nvPicPr>
          <p:cNvPr id="22" name="Image 3" descr="preencoded.png">    </p:cNvPr>
          <p:cNvPicPr>
            <a:picLocks noChangeAspect="1"/>
          </p:cNvPicPr>
          <p:nvPr/>
        </p:nvPicPr>
        <p:blipFill>
          <a:blip r:embed="rId4"/>
          <a:stretch>
            <a:fillRect/>
          </a:stretch>
        </p:blipFill>
        <p:spPr>
          <a:xfrm>
            <a:off x="6606540" y="1961388"/>
            <a:ext cx="228600" cy="228600"/>
          </a:xfrm>
          <a:prstGeom prst="rect">
            <a:avLst/>
          </a:prstGeom>
        </p:spPr>
      </p:pic>
      <p:sp>
        <p:nvSpPr>
          <p:cNvPr id="23" name="Text 17"/>
          <p:cNvSpPr txBox="1"/>
          <p:nvPr/>
        </p:nvSpPr>
        <p:spPr>
          <a:xfrm>
            <a:off x="7059168" y="1847088"/>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Path</a:t>
            </a:r>
            <a:endParaRPr lang="en-US" sz="1250" dirty="0"/>
          </a:p>
        </p:txBody>
      </p:sp>
      <p:sp>
        <p:nvSpPr>
          <p:cNvPr id="24" name="Text 18"/>
          <p:cNvSpPr txBox="1"/>
          <p:nvPr/>
        </p:nvSpPr>
        <p:spPr>
          <a:xfrm>
            <a:off x="6492240" y="2414016"/>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Mengolah jalur berkas secara aman di semua sistem operasi.</a:t>
            </a:r>
            <a:endParaRPr lang="en-US" sz="1030" dirty="0"/>
          </a:p>
        </p:txBody>
      </p:sp>
      <p:sp>
        <p:nvSpPr>
          <p:cNvPr id="25" name="Shape 19"/>
          <p:cNvSpPr/>
          <p:nvPr/>
        </p:nvSpPr>
        <p:spPr>
          <a:xfrm>
            <a:off x="6492240" y="2926080"/>
            <a:ext cx="2066544" cy="365760"/>
          </a:xfrm>
          <a:prstGeom prst="roundRect">
            <a:avLst>
              <a:gd name="adj" fmla="val 15000"/>
            </a:avLst>
          </a:prstGeom>
          <a:solidFill>
            <a:srgbClr val="0E2417"/>
          </a:solidFill>
          <a:ln w="12700">
            <a:solidFill>
              <a:srgbClr val="0E2417"/>
            </a:solidFill>
            <a:prstDash val="solid"/>
          </a:ln>
        </p:spPr>
      </p:sp>
      <p:sp>
        <p:nvSpPr>
          <p:cNvPr id="26" name="Text 20"/>
          <p:cNvSpPr txBox="1"/>
          <p:nvPr/>
        </p:nvSpPr>
        <p:spPr>
          <a:xfrm>
            <a:off x="6492240" y="2926080"/>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require('path')</a:t>
            </a:r>
            <a:endParaRPr lang="en-US" sz="1000" dirty="0"/>
          </a:p>
        </p:txBody>
      </p:sp>
      <p:sp>
        <p:nvSpPr>
          <p:cNvPr id="27" name="Shape 21"/>
          <p:cNvSpPr/>
          <p:nvPr/>
        </p:nvSpPr>
        <p:spPr>
          <a:xfrm>
            <a:off x="9061704" y="1627632"/>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8" name="Shape 22"/>
          <p:cNvSpPr/>
          <p:nvPr/>
        </p:nvSpPr>
        <p:spPr>
          <a:xfrm>
            <a:off x="9299448" y="1847088"/>
            <a:ext cx="457200" cy="457200"/>
          </a:xfrm>
          <a:prstGeom prst="roundRect">
            <a:avLst>
              <a:gd name="adj" fmla="val 26000"/>
            </a:avLst>
          </a:prstGeom>
          <a:solidFill>
            <a:srgbClr val="E8F2E2"/>
          </a:solidFill>
          <a:ln w="12700">
            <a:solidFill>
              <a:srgbClr val="E8F2E2"/>
            </a:solidFill>
            <a:prstDash val="solid"/>
          </a:ln>
        </p:spPr>
      </p:sp>
      <p:pic>
        <p:nvPicPr>
          <p:cNvPr id="29" name="Image 4" descr="preencoded.png">    </p:cNvPr>
          <p:cNvPicPr>
            <a:picLocks noChangeAspect="1"/>
          </p:cNvPicPr>
          <p:nvPr/>
        </p:nvPicPr>
        <p:blipFill>
          <a:blip r:embed="rId5"/>
          <a:stretch>
            <a:fillRect/>
          </a:stretch>
        </p:blipFill>
        <p:spPr>
          <a:xfrm>
            <a:off x="9413748" y="1961388"/>
            <a:ext cx="228600" cy="228600"/>
          </a:xfrm>
          <a:prstGeom prst="rect">
            <a:avLst/>
          </a:prstGeom>
        </p:spPr>
      </p:pic>
      <p:sp>
        <p:nvSpPr>
          <p:cNvPr id="30" name="Text 23"/>
          <p:cNvSpPr txBox="1"/>
          <p:nvPr/>
        </p:nvSpPr>
        <p:spPr>
          <a:xfrm>
            <a:off x="9866376" y="1847088"/>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Operating System</a:t>
            </a:r>
            <a:endParaRPr lang="en-US" sz="1250" dirty="0"/>
          </a:p>
        </p:txBody>
      </p:sp>
      <p:sp>
        <p:nvSpPr>
          <p:cNvPr id="31" name="Text 24"/>
          <p:cNvSpPr txBox="1"/>
          <p:nvPr/>
        </p:nvSpPr>
        <p:spPr>
          <a:xfrm>
            <a:off x="9299448" y="2414016"/>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Membaca info sistem: memori, CPU, platform, dan direktori beranda.</a:t>
            </a:r>
            <a:endParaRPr lang="en-US" sz="1030" dirty="0"/>
          </a:p>
        </p:txBody>
      </p:sp>
      <p:sp>
        <p:nvSpPr>
          <p:cNvPr id="32" name="Shape 25"/>
          <p:cNvSpPr/>
          <p:nvPr/>
        </p:nvSpPr>
        <p:spPr>
          <a:xfrm>
            <a:off x="9299448" y="2926080"/>
            <a:ext cx="2066544" cy="365760"/>
          </a:xfrm>
          <a:prstGeom prst="roundRect">
            <a:avLst>
              <a:gd name="adj" fmla="val 15000"/>
            </a:avLst>
          </a:prstGeom>
          <a:solidFill>
            <a:srgbClr val="0E2417"/>
          </a:solidFill>
          <a:ln w="12700">
            <a:solidFill>
              <a:srgbClr val="0E2417"/>
            </a:solidFill>
            <a:prstDash val="solid"/>
          </a:ln>
        </p:spPr>
      </p:sp>
      <p:sp>
        <p:nvSpPr>
          <p:cNvPr id="33" name="Text 26"/>
          <p:cNvSpPr txBox="1"/>
          <p:nvPr/>
        </p:nvSpPr>
        <p:spPr>
          <a:xfrm>
            <a:off x="9299448" y="2926080"/>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require('os')</a:t>
            </a:r>
            <a:endParaRPr lang="en-US" sz="1000" dirty="0"/>
          </a:p>
        </p:txBody>
      </p:sp>
      <p:sp>
        <p:nvSpPr>
          <p:cNvPr id="34" name="Shape 27"/>
          <p:cNvSpPr/>
          <p:nvPr/>
        </p:nvSpPr>
        <p:spPr>
          <a:xfrm>
            <a:off x="640080" y="3749040"/>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5" name="Shape 28"/>
          <p:cNvSpPr/>
          <p:nvPr/>
        </p:nvSpPr>
        <p:spPr>
          <a:xfrm>
            <a:off x="877824" y="3968496"/>
            <a:ext cx="457200" cy="457200"/>
          </a:xfrm>
          <a:prstGeom prst="roundRect">
            <a:avLst>
              <a:gd name="adj" fmla="val 26000"/>
            </a:avLst>
          </a:prstGeom>
          <a:solidFill>
            <a:srgbClr val="E8F2E2"/>
          </a:solidFill>
          <a:ln w="12700">
            <a:solidFill>
              <a:srgbClr val="E8F2E2"/>
            </a:solidFill>
            <a:prstDash val="solid"/>
          </a:ln>
        </p:spPr>
      </p:sp>
      <p:pic>
        <p:nvPicPr>
          <p:cNvPr id="36" name="Image 5" descr="preencoded.png">    </p:cNvPr>
          <p:cNvPicPr>
            <a:picLocks noChangeAspect="1"/>
          </p:cNvPicPr>
          <p:nvPr/>
        </p:nvPicPr>
        <p:blipFill>
          <a:blip r:embed="rId6"/>
          <a:stretch>
            <a:fillRect/>
          </a:stretch>
        </p:blipFill>
        <p:spPr>
          <a:xfrm>
            <a:off x="992124" y="4082796"/>
            <a:ext cx="228600" cy="228600"/>
          </a:xfrm>
          <a:prstGeom prst="rect">
            <a:avLst/>
          </a:prstGeom>
        </p:spPr>
      </p:pic>
      <p:sp>
        <p:nvSpPr>
          <p:cNvPr id="37" name="Text 29"/>
          <p:cNvSpPr txBox="1"/>
          <p:nvPr/>
        </p:nvSpPr>
        <p:spPr>
          <a:xfrm>
            <a:off x="1444752" y="3968496"/>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Events</a:t>
            </a:r>
            <a:endParaRPr lang="en-US" sz="1250" dirty="0"/>
          </a:p>
        </p:txBody>
      </p:sp>
      <p:sp>
        <p:nvSpPr>
          <p:cNvPr id="38" name="Text 30"/>
          <p:cNvSpPr txBox="1"/>
          <p:nvPr/>
        </p:nvSpPr>
        <p:spPr>
          <a:xfrm>
            <a:off x="877824" y="4535424"/>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Menyediakan kelas EventEmitter sebagai dasar pola event-driven.</a:t>
            </a:r>
            <a:endParaRPr lang="en-US" sz="1030" dirty="0"/>
          </a:p>
        </p:txBody>
      </p:sp>
      <p:sp>
        <p:nvSpPr>
          <p:cNvPr id="39" name="Shape 31"/>
          <p:cNvSpPr/>
          <p:nvPr/>
        </p:nvSpPr>
        <p:spPr>
          <a:xfrm>
            <a:off x="877824" y="5047488"/>
            <a:ext cx="2066544" cy="365760"/>
          </a:xfrm>
          <a:prstGeom prst="roundRect">
            <a:avLst>
              <a:gd name="adj" fmla="val 15000"/>
            </a:avLst>
          </a:prstGeom>
          <a:solidFill>
            <a:srgbClr val="0E2417"/>
          </a:solidFill>
          <a:ln w="12700">
            <a:solidFill>
              <a:srgbClr val="0E2417"/>
            </a:solidFill>
            <a:prstDash val="solid"/>
          </a:ln>
        </p:spPr>
      </p:sp>
      <p:sp>
        <p:nvSpPr>
          <p:cNvPr id="40" name="Text 32"/>
          <p:cNvSpPr txBox="1"/>
          <p:nvPr/>
        </p:nvSpPr>
        <p:spPr>
          <a:xfrm>
            <a:off x="877824" y="5047488"/>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require('events')</a:t>
            </a:r>
            <a:endParaRPr lang="en-US" sz="1000" dirty="0"/>
          </a:p>
        </p:txBody>
      </p:sp>
      <p:sp>
        <p:nvSpPr>
          <p:cNvPr id="41" name="Shape 33"/>
          <p:cNvSpPr/>
          <p:nvPr/>
        </p:nvSpPr>
        <p:spPr>
          <a:xfrm>
            <a:off x="3447288" y="3749040"/>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2" name="Shape 34"/>
          <p:cNvSpPr/>
          <p:nvPr/>
        </p:nvSpPr>
        <p:spPr>
          <a:xfrm>
            <a:off x="3685032" y="3968496"/>
            <a:ext cx="457200" cy="457200"/>
          </a:xfrm>
          <a:prstGeom prst="roundRect">
            <a:avLst>
              <a:gd name="adj" fmla="val 26000"/>
            </a:avLst>
          </a:prstGeom>
          <a:solidFill>
            <a:srgbClr val="E8F2E2"/>
          </a:solidFill>
          <a:ln w="12700">
            <a:solidFill>
              <a:srgbClr val="E8F2E2"/>
            </a:solidFill>
            <a:prstDash val="solid"/>
          </a:ln>
        </p:spPr>
      </p:sp>
      <p:pic>
        <p:nvPicPr>
          <p:cNvPr id="43" name="Image 6" descr="preencoded.png">    </p:cNvPr>
          <p:cNvPicPr>
            <a:picLocks noChangeAspect="1"/>
          </p:cNvPicPr>
          <p:nvPr/>
        </p:nvPicPr>
        <p:blipFill>
          <a:blip r:embed="rId7"/>
          <a:stretch>
            <a:fillRect/>
          </a:stretch>
        </p:blipFill>
        <p:spPr>
          <a:xfrm>
            <a:off x="3799332" y="4082796"/>
            <a:ext cx="228600" cy="228600"/>
          </a:xfrm>
          <a:prstGeom prst="rect">
            <a:avLst/>
          </a:prstGeom>
        </p:spPr>
      </p:pic>
      <p:sp>
        <p:nvSpPr>
          <p:cNvPr id="44" name="Text 35"/>
          <p:cNvSpPr txBox="1"/>
          <p:nvPr/>
        </p:nvSpPr>
        <p:spPr>
          <a:xfrm>
            <a:off x="4251960" y="3968496"/>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Stream</a:t>
            </a:r>
            <a:endParaRPr lang="en-US" sz="1250" dirty="0"/>
          </a:p>
        </p:txBody>
      </p:sp>
      <p:sp>
        <p:nvSpPr>
          <p:cNvPr id="45" name="Text 36"/>
          <p:cNvSpPr txBox="1"/>
          <p:nvPr/>
        </p:nvSpPr>
        <p:spPr>
          <a:xfrm>
            <a:off x="3685032" y="4535424"/>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Mengolah data besar sepotong demi sepotong tanpa memuat semuanya.</a:t>
            </a:r>
            <a:endParaRPr lang="en-US" sz="1030" dirty="0"/>
          </a:p>
        </p:txBody>
      </p:sp>
      <p:sp>
        <p:nvSpPr>
          <p:cNvPr id="46" name="Shape 37"/>
          <p:cNvSpPr/>
          <p:nvPr/>
        </p:nvSpPr>
        <p:spPr>
          <a:xfrm>
            <a:off x="3685032" y="5047488"/>
            <a:ext cx="2066544" cy="365760"/>
          </a:xfrm>
          <a:prstGeom prst="roundRect">
            <a:avLst>
              <a:gd name="adj" fmla="val 15000"/>
            </a:avLst>
          </a:prstGeom>
          <a:solidFill>
            <a:srgbClr val="0E2417"/>
          </a:solidFill>
          <a:ln w="12700">
            <a:solidFill>
              <a:srgbClr val="0E2417"/>
            </a:solidFill>
            <a:prstDash val="solid"/>
          </a:ln>
        </p:spPr>
      </p:sp>
      <p:sp>
        <p:nvSpPr>
          <p:cNvPr id="47" name="Text 38"/>
          <p:cNvSpPr txBox="1"/>
          <p:nvPr/>
        </p:nvSpPr>
        <p:spPr>
          <a:xfrm>
            <a:off x="3685032" y="5047488"/>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require('stream')</a:t>
            </a:r>
            <a:endParaRPr lang="en-US" sz="1000" dirty="0"/>
          </a:p>
        </p:txBody>
      </p:sp>
      <p:sp>
        <p:nvSpPr>
          <p:cNvPr id="48" name="Shape 39"/>
          <p:cNvSpPr/>
          <p:nvPr/>
        </p:nvSpPr>
        <p:spPr>
          <a:xfrm>
            <a:off x="6254496" y="3749040"/>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9" name="Shape 40"/>
          <p:cNvSpPr/>
          <p:nvPr/>
        </p:nvSpPr>
        <p:spPr>
          <a:xfrm>
            <a:off x="6492240" y="3968496"/>
            <a:ext cx="457200" cy="457200"/>
          </a:xfrm>
          <a:prstGeom prst="roundRect">
            <a:avLst>
              <a:gd name="adj" fmla="val 26000"/>
            </a:avLst>
          </a:prstGeom>
          <a:solidFill>
            <a:srgbClr val="E8F2E2"/>
          </a:solidFill>
          <a:ln w="12700">
            <a:solidFill>
              <a:srgbClr val="E8F2E2"/>
            </a:solidFill>
            <a:prstDash val="solid"/>
          </a:ln>
        </p:spPr>
      </p:sp>
      <p:pic>
        <p:nvPicPr>
          <p:cNvPr id="50" name="Image 7" descr="preencoded.png">    </p:cNvPr>
          <p:cNvPicPr>
            <a:picLocks noChangeAspect="1"/>
          </p:cNvPicPr>
          <p:nvPr/>
        </p:nvPicPr>
        <p:blipFill>
          <a:blip r:embed="rId8"/>
          <a:stretch>
            <a:fillRect/>
          </a:stretch>
        </p:blipFill>
        <p:spPr>
          <a:xfrm>
            <a:off x="6606540" y="4082796"/>
            <a:ext cx="228600" cy="228600"/>
          </a:xfrm>
          <a:prstGeom prst="rect">
            <a:avLst/>
          </a:prstGeom>
        </p:spPr>
      </p:pic>
      <p:sp>
        <p:nvSpPr>
          <p:cNvPr id="51" name="Text 41"/>
          <p:cNvSpPr txBox="1"/>
          <p:nvPr/>
        </p:nvSpPr>
        <p:spPr>
          <a:xfrm>
            <a:off x="7059168" y="3968496"/>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Crypto</a:t>
            </a:r>
            <a:endParaRPr lang="en-US" sz="1250" dirty="0"/>
          </a:p>
        </p:txBody>
      </p:sp>
      <p:sp>
        <p:nvSpPr>
          <p:cNvPr id="52" name="Text 42"/>
          <p:cNvSpPr txBox="1"/>
          <p:nvPr/>
        </p:nvSpPr>
        <p:spPr>
          <a:xfrm>
            <a:off x="6492240" y="4535424"/>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Enkripsi, hashing, tanda tangan digital, dan pembuatan nilai acak.</a:t>
            </a:r>
            <a:endParaRPr lang="en-US" sz="1030" dirty="0"/>
          </a:p>
        </p:txBody>
      </p:sp>
      <p:sp>
        <p:nvSpPr>
          <p:cNvPr id="53" name="Shape 43"/>
          <p:cNvSpPr/>
          <p:nvPr/>
        </p:nvSpPr>
        <p:spPr>
          <a:xfrm>
            <a:off x="6492240" y="5047488"/>
            <a:ext cx="2066544" cy="365760"/>
          </a:xfrm>
          <a:prstGeom prst="roundRect">
            <a:avLst>
              <a:gd name="adj" fmla="val 15000"/>
            </a:avLst>
          </a:prstGeom>
          <a:solidFill>
            <a:srgbClr val="0E2417"/>
          </a:solidFill>
          <a:ln w="12700">
            <a:solidFill>
              <a:srgbClr val="0E2417"/>
            </a:solidFill>
            <a:prstDash val="solid"/>
          </a:ln>
        </p:spPr>
      </p:sp>
      <p:sp>
        <p:nvSpPr>
          <p:cNvPr id="54" name="Text 44"/>
          <p:cNvSpPr txBox="1"/>
          <p:nvPr/>
        </p:nvSpPr>
        <p:spPr>
          <a:xfrm>
            <a:off x="6492240" y="5047488"/>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require('crypto')</a:t>
            </a:r>
            <a:endParaRPr lang="en-US" sz="1000" dirty="0"/>
          </a:p>
        </p:txBody>
      </p:sp>
      <p:sp>
        <p:nvSpPr>
          <p:cNvPr id="55" name="Shape 45"/>
          <p:cNvSpPr/>
          <p:nvPr/>
        </p:nvSpPr>
        <p:spPr>
          <a:xfrm>
            <a:off x="9061704" y="3749040"/>
            <a:ext cx="2542032" cy="1865376"/>
          </a:xfrm>
          <a:prstGeom prst="roundRect">
            <a:avLst>
              <a:gd name="adj" fmla="val 441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56" name="Shape 46"/>
          <p:cNvSpPr/>
          <p:nvPr/>
        </p:nvSpPr>
        <p:spPr>
          <a:xfrm>
            <a:off x="9299448" y="3968496"/>
            <a:ext cx="457200" cy="457200"/>
          </a:xfrm>
          <a:prstGeom prst="roundRect">
            <a:avLst>
              <a:gd name="adj" fmla="val 26000"/>
            </a:avLst>
          </a:prstGeom>
          <a:solidFill>
            <a:srgbClr val="E8F2E2"/>
          </a:solidFill>
          <a:ln w="12700">
            <a:solidFill>
              <a:srgbClr val="E8F2E2"/>
            </a:solidFill>
            <a:prstDash val="solid"/>
          </a:ln>
        </p:spPr>
      </p:sp>
      <p:pic>
        <p:nvPicPr>
          <p:cNvPr id="57" name="Image 8" descr="preencoded.png">    </p:cNvPr>
          <p:cNvPicPr>
            <a:picLocks noChangeAspect="1"/>
          </p:cNvPicPr>
          <p:nvPr/>
        </p:nvPicPr>
        <p:blipFill>
          <a:blip r:embed="rId9"/>
          <a:stretch>
            <a:fillRect/>
          </a:stretch>
        </p:blipFill>
        <p:spPr>
          <a:xfrm>
            <a:off x="9413748" y="4082796"/>
            <a:ext cx="228600" cy="228600"/>
          </a:xfrm>
          <a:prstGeom prst="rect">
            <a:avLst/>
          </a:prstGeom>
        </p:spPr>
      </p:pic>
      <p:sp>
        <p:nvSpPr>
          <p:cNvPr id="58" name="Text 47"/>
          <p:cNvSpPr txBox="1"/>
          <p:nvPr/>
        </p:nvSpPr>
        <p:spPr>
          <a:xfrm>
            <a:off x="9866376" y="3968496"/>
            <a:ext cx="1499616"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URL &amp; Query</a:t>
            </a:r>
            <a:endParaRPr lang="en-US" sz="1250" dirty="0"/>
          </a:p>
        </p:txBody>
      </p:sp>
      <p:sp>
        <p:nvSpPr>
          <p:cNvPr id="59" name="Text 48"/>
          <p:cNvSpPr txBox="1"/>
          <p:nvPr/>
        </p:nvSpPr>
        <p:spPr>
          <a:xfrm>
            <a:off x="9299448" y="4535424"/>
            <a:ext cx="2066544" cy="713232"/>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Mengurai dan menyusun alamat URL beserta parameter kuerinya.</a:t>
            </a:r>
            <a:endParaRPr lang="en-US" sz="1030" dirty="0"/>
          </a:p>
        </p:txBody>
      </p:sp>
      <p:sp>
        <p:nvSpPr>
          <p:cNvPr id="60" name="Shape 49"/>
          <p:cNvSpPr/>
          <p:nvPr/>
        </p:nvSpPr>
        <p:spPr>
          <a:xfrm>
            <a:off x="9299448" y="5047488"/>
            <a:ext cx="2066544" cy="365760"/>
          </a:xfrm>
          <a:prstGeom prst="roundRect">
            <a:avLst>
              <a:gd name="adj" fmla="val 15000"/>
            </a:avLst>
          </a:prstGeom>
          <a:solidFill>
            <a:srgbClr val="0E2417"/>
          </a:solidFill>
          <a:ln w="12700">
            <a:solidFill>
              <a:srgbClr val="0E2417"/>
            </a:solidFill>
            <a:prstDash val="solid"/>
          </a:ln>
        </p:spPr>
      </p:sp>
      <p:sp>
        <p:nvSpPr>
          <p:cNvPr id="61" name="Text 50"/>
          <p:cNvSpPr txBox="1"/>
          <p:nvPr/>
        </p:nvSpPr>
        <p:spPr>
          <a:xfrm>
            <a:off x="9299448" y="5047488"/>
            <a:ext cx="2066544" cy="365760"/>
          </a:xfrm>
          <a:prstGeom prst="rect">
            <a:avLst/>
          </a:prstGeom>
          <a:noFill/>
          <a:ln/>
        </p:spPr>
        <p:txBody>
          <a:bodyPr wrap="square" lIns="0" tIns="0" rIns="0" bIns="0" rtlCol="0" anchor="ctr"/>
          <a:lstStyle/>
          <a:p>
            <a:pPr algn="ctr" indent="0" marL="0">
              <a:buNone/>
            </a:pPr>
            <a:r>
              <a:rPr lang="en-US" sz="1000" dirty="0">
                <a:solidFill>
                  <a:srgbClr val="C6E3B4"/>
                </a:solidFill>
                <a:latin typeface="Courier New" pitchFamily="34" charset="0"/>
                <a:ea typeface="Courier New" pitchFamily="34" charset="-122"/>
                <a:cs typeface="Courier New" pitchFamily="34" charset="-120"/>
              </a:rPr>
              <a:t>require('url')</a:t>
            </a:r>
            <a:endParaRPr lang="en-US" sz="1000" dirty="0"/>
          </a:p>
        </p:txBody>
      </p:sp>
      <p:sp>
        <p:nvSpPr>
          <p:cNvPr id="62" name="Text 51"/>
          <p:cNvSpPr txBox="1"/>
          <p:nvPr/>
        </p:nvSpPr>
        <p:spPr>
          <a:xfrm>
            <a:off x="640080" y="5632704"/>
            <a:ext cx="10972800" cy="36576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Modul inti juga dapat dipanggil dengan awalan node:, misalnya require('node:fs') — cara ini lebih eksplisit dan menghindari tabrakan nama dengan paket NPM.</a:t>
            </a:r>
            <a:endParaRPr lang="en-US" sz="1100" dirty="0"/>
          </a:p>
        </p:txBody>
      </p:sp>
      <p:sp>
        <p:nvSpPr>
          <p:cNvPr id="63" name="Text 52"/>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64" name="Text 53"/>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CB3837"/>
          </a:solidFill>
          <a:ln w="12700">
            <a:solidFill>
              <a:srgbClr val="CB3837"/>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NPM dan Ekosistem Paket</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Node Package Manager: registry perangkat lunak terbesar di dunia</a:t>
            </a:r>
            <a:endParaRPr lang="en-US" sz="1300" dirty="0"/>
          </a:p>
        </p:txBody>
      </p:sp>
      <p:sp>
        <p:nvSpPr>
          <p:cNvPr id="6" name="Shape 3"/>
          <p:cNvSpPr/>
          <p:nvPr/>
        </p:nvSpPr>
        <p:spPr>
          <a:xfrm>
            <a:off x="640080" y="1609344"/>
            <a:ext cx="2606040" cy="969264"/>
          </a:xfrm>
          <a:prstGeom prst="roundRect">
            <a:avLst>
              <a:gd name="adj" fmla="val 8491"/>
            </a:avLst>
          </a:prstGeom>
          <a:solidFill>
            <a:srgbClr val="0B2015"/>
          </a:solidFill>
          <a:ln w="12700">
            <a:solidFill>
              <a:srgbClr val="0B2015"/>
            </a:solidFill>
            <a:prstDash val="solid"/>
          </a:ln>
        </p:spPr>
      </p:sp>
      <p:sp>
        <p:nvSpPr>
          <p:cNvPr id="7" name="Text 4"/>
          <p:cNvSpPr txBox="1"/>
          <p:nvPr/>
        </p:nvSpPr>
        <p:spPr>
          <a:xfrm>
            <a:off x="859536" y="1719072"/>
            <a:ext cx="2194560" cy="438912"/>
          </a:xfrm>
          <a:prstGeom prst="rect">
            <a:avLst/>
          </a:prstGeom>
          <a:noFill/>
          <a:ln/>
        </p:spPr>
        <p:txBody>
          <a:bodyPr wrap="square" lIns="0" tIns="0" rIns="0" bIns="0" rtlCol="0" anchor="ctr"/>
          <a:lstStyle/>
          <a:p>
            <a:pPr indent="0" marL="0">
              <a:buNone/>
            </a:pPr>
            <a:r>
              <a:rPr lang="en-US" sz="2000" b="1" dirty="0">
                <a:solidFill>
                  <a:srgbClr val="8CC84B"/>
                </a:solidFill>
                <a:latin typeface="Arial" pitchFamily="34" charset="0"/>
                <a:ea typeface="Arial" pitchFamily="34" charset="-122"/>
                <a:cs typeface="Arial" pitchFamily="34" charset="-120"/>
              </a:rPr>
              <a:t>3+ juta</a:t>
            </a:r>
            <a:endParaRPr lang="en-US" sz="2000" dirty="0"/>
          </a:p>
        </p:txBody>
      </p:sp>
      <p:sp>
        <p:nvSpPr>
          <p:cNvPr id="8" name="Text 5"/>
          <p:cNvSpPr txBox="1"/>
          <p:nvPr/>
        </p:nvSpPr>
        <p:spPr>
          <a:xfrm>
            <a:off x="859536" y="2139696"/>
            <a:ext cx="2194560" cy="310896"/>
          </a:xfrm>
          <a:prstGeom prst="rect">
            <a:avLst/>
          </a:prstGeom>
          <a:noFill/>
          <a:ln/>
        </p:spPr>
        <p:txBody>
          <a:bodyPr wrap="square" lIns="0" tIns="0" rIns="0" bIns="0" rtlCol="0" anchor="ctr"/>
          <a:lstStyle/>
          <a:p>
            <a:pPr indent="0" marL="0">
              <a:buNone/>
            </a:pPr>
            <a:r>
              <a:rPr lang="en-US" sz="1050" dirty="0">
                <a:solidFill>
                  <a:srgbClr val="AFC9B5"/>
                </a:solidFill>
                <a:latin typeface="Calibri" pitchFamily="34" charset="0"/>
                <a:ea typeface="Calibri" pitchFamily="34" charset="-122"/>
                <a:cs typeface="Calibri" pitchFamily="34" charset="-120"/>
              </a:rPr>
              <a:t>Paket terdaftar</a:t>
            </a:r>
            <a:endParaRPr lang="en-US" sz="1050" dirty="0"/>
          </a:p>
        </p:txBody>
      </p:sp>
      <p:sp>
        <p:nvSpPr>
          <p:cNvPr id="9" name="Shape 6"/>
          <p:cNvSpPr/>
          <p:nvPr/>
        </p:nvSpPr>
        <p:spPr>
          <a:xfrm>
            <a:off x="3429000" y="1609344"/>
            <a:ext cx="2606040" cy="969264"/>
          </a:xfrm>
          <a:prstGeom prst="roundRect">
            <a:avLst>
              <a:gd name="adj" fmla="val 8491"/>
            </a:avLst>
          </a:prstGeom>
          <a:solidFill>
            <a:srgbClr val="0B2015"/>
          </a:solidFill>
          <a:ln w="12700">
            <a:solidFill>
              <a:srgbClr val="0B2015"/>
            </a:solidFill>
            <a:prstDash val="solid"/>
          </a:ln>
        </p:spPr>
      </p:sp>
      <p:sp>
        <p:nvSpPr>
          <p:cNvPr id="10" name="Text 7"/>
          <p:cNvSpPr txBox="1"/>
          <p:nvPr/>
        </p:nvSpPr>
        <p:spPr>
          <a:xfrm>
            <a:off x="3648456" y="1719072"/>
            <a:ext cx="2194560" cy="438912"/>
          </a:xfrm>
          <a:prstGeom prst="rect">
            <a:avLst/>
          </a:prstGeom>
          <a:noFill/>
          <a:ln/>
        </p:spPr>
        <p:txBody>
          <a:bodyPr wrap="square" lIns="0" tIns="0" rIns="0" bIns="0" rtlCol="0" anchor="ctr"/>
          <a:lstStyle/>
          <a:p>
            <a:pPr indent="0" marL="0">
              <a:buNone/>
            </a:pPr>
            <a:r>
              <a:rPr lang="en-US" sz="2000" b="1" dirty="0">
                <a:solidFill>
                  <a:srgbClr val="8CC84B"/>
                </a:solidFill>
                <a:latin typeface="Arial" pitchFamily="34" charset="0"/>
                <a:ea typeface="Arial" pitchFamily="34" charset="-122"/>
                <a:cs typeface="Arial" pitchFamily="34" charset="-120"/>
              </a:rPr>
              <a:t>Miliaran</a:t>
            </a:r>
            <a:endParaRPr lang="en-US" sz="2000" dirty="0"/>
          </a:p>
        </p:txBody>
      </p:sp>
      <p:sp>
        <p:nvSpPr>
          <p:cNvPr id="11" name="Text 8"/>
          <p:cNvSpPr txBox="1"/>
          <p:nvPr/>
        </p:nvSpPr>
        <p:spPr>
          <a:xfrm>
            <a:off x="3648456" y="2139696"/>
            <a:ext cx="2194560" cy="310896"/>
          </a:xfrm>
          <a:prstGeom prst="rect">
            <a:avLst/>
          </a:prstGeom>
          <a:noFill/>
          <a:ln/>
        </p:spPr>
        <p:txBody>
          <a:bodyPr wrap="square" lIns="0" tIns="0" rIns="0" bIns="0" rtlCol="0" anchor="ctr"/>
          <a:lstStyle/>
          <a:p>
            <a:pPr indent="0" marL="0">
              <a:buNone/>
            </a:pPr>
            <a:r>
              <a:rPr lang="en-US" sz="1050" dirty="0">
                <a:solidFill>
                  <a:srgbClr val="AFC9B5"/>
                </a:solidFill>
                <a:latin typeface="Calibri" pitchFamily="34" charset="0"/>
                <a:ea typeface="Calibri" pitchFamily="34" charset="-122"/>
                <a:cs typeface="Calibri" pitchFamily="34" charset="-120"/>
              </a:rPr>
              <a:t>Unduhan tiap pekan</a:t>
            </a:r>
            <a:endParaRPr lang="en-US" sz="1050" dirty="0"/>
          </a:p>
        </p:txBody>
      </p:sp>
      <p:sp>
        <p:nvSpPr>
          <p:cNvPr id="12" name="Shape 9"/>
          <p:cNvSpPr/>
          <p:nvPr/>
        </p:nvSpPr>
        <p:spPr>
          <a:xfrm>
            <a:off x="6217920" y="1609344"/>
            <a:ext cx="2606040" cy="969264"/>
          </a:xfrm>
          <a:prstGeom prst="roundRect">
            <a:avLst>
              <a:gd name="adj" fmla="val 8491"/>
            </a:avLst>
          </a:prstGeom>
          <a:solidFill>
            <a:srgbClr val="0B2015"/>
          </a:solidFill>
          <a:ln w="12700">
            <a:solidFill>
              <a:srgbClr val="0B2015"/>
            </a:solidFill>
            <a:prstDash val="solid"/>
          </a:ln>
        </p:spPr>
      </p:sp>
      <p:sp>
        <p:nvSpPr>
          <p:cNvPr id="13" name="Text 10"/>
          <p:cNvSpPr txBox="1"/>
          <p:nvPr/>
        </p:nvSpPr>
        <p:spPr>
          <a:xfrm>
            <a:off x="6437376" y="1719072"/>
            <a:ext cx="2194560" cy="438912"/>
          </a:xfrm>
          <a:prstGeom prst="rect">
            <a:avLst/>
          </a:prstGeom>
          <a:noFill/>
          <a:ln/>
        </p:spPr>
        <p:txBody>
          <a:bodyPr wrap="square" lIns="0" tIns="0" rIns="0" bIns="0" rtlCol="0" anchor="ctr"/>
          <a:lstStyle/>
          <a:p>
            <a:pPr indent="0" marL="0">
              <a:buNone/>
            </a:pPr>
            <a:r>
              <a:rPr lang="en-US" sz="2000" b="1" dirty="0">
                <a:solidFill>
                  <a:srgbClr val="8CC84B"/>
                </a:solidFill>
                <a:latin typeface="Arial" pitchFamily="34" charset="0"/>
                <a:ea typeface="Arial" pitchFamily="34" charset="-122"/>
                <a:cs typeface="Arial" pitchFamily="34" charset="-120"/>
              </a:rPr>
              <a:t>Gratis</a:t>
            </a:r>
            <a:endParaRPr lang="en-US" sz="2000" dirty="0"/>
          </a:p>
        </p:txBody>
      </p:sp>
      <p:sp>
        <p:nvSpPr>
          <p:cNvPr id="14" name="Text 11"/>
          <p:cNvSpPr txBox="1"/>
          <p:nvPr/>
        </p:nvSpPr>
        <p:spPr>
          <a:xfrm>
            <a:off x="6437376" y="2139696"/>
            <a:ext cx="2194560" cy="310896"/>
          </a:xfrm>
          <a:prstGeom prst="rect">
            <a:avLst/>
          </a:prstGeom>
          <a:noFill/>
          <a:ln/>
        </p:spPr>
        <p:txBody>
          <a:bodyPr wrap="square" lIns="0" tIns="0" rIns="0" bIns="0" rtlCol="0" anchor="ctr"/>
          <a:lstStyle/>
          <a:p>
            <a:pPr indent="0" marL="0">
              <a:buNone/>
            </a:pPr>
            <a:r>
              <a:rPr lang="en-US" sz="1050" dirty="0">
                <a:solidFill>
                  <a:srgbClr val="AFC9B5"/>
                </a:solidFill>
                <a:latin typeface="Calibri" pitchFamily="34" charset="0"/>
                <a:ea typeface="Calibri" pitchFamily="34" charset="-122"/>
                <a:cs typeface="Calibri" pitchFamily="34" charset="-120"/>
              </a:rPr>
              <a:t>Untuk paket publik</a:t>
            </a:r>
            <a:endParaRPr lang="en-US" sz="1050" dirty="0"/>
          </a:p>
        </p:txBody>
      </p:sp>
      <p:sp>
        <p:nvSpPr>
          <p:cNvPr id="15" name="Shape 12"/>
          <p:cNvSpPr/>
          <p:nvPr/>
        </p:nvSpPr>
        <p:spPr>
          <a:xfrm>
            <a:off x="9006840" y="1609344"/>
            <a:ext cx="2606040" cy="969264"/>
          </a:xfrm>
          <a:prstGeom prst="roundRect">
            <a:avLst>
              <a:gd name="adj" fmla="val 8491"/>
            </a:avLst>
          </a:prstGeom>
          <a:solidFill>
            <a:srgbClr val="0B2015"/>
          </a:solidFill>
          <a:ln w="12700">
            <a:solidFill>
              <a:srgbClr val="0B2015"/>
            </a:solidFill>
            <a:prstDash val="solid"/>
          </a:ln>
        </p:spPr>
      </p:sp>
      <p:sp>
        <p:nvSpPr>
          <p:cNvPr id="16" name="Text 13"/>
          <p:cNvSpPr txBox="1"/>
          <p:nvPr/>
        </p:nvSpPr>
        <p:spPr>
          <a:xfrm>
            <a:off x="9226296" y="1719072"/>
            <a:ext cx="2194560" cy="438912"/>
          </a:xfrm>
          <a:prstGeom prst="rect">
            <a:avLst/>
          </a:prstGeom>
          <a:noFill/>
          <a:ln/>
        </p:spPr>
        <p:txBody>
          <a:bodyPr wrap="square" lIns="0" tIns="0" rIns="0" bIns="0" rtlCol="0" anchor="ctr"/>
          <a:lstStyle/>
          <a:p>
            <a:pPr indent="0" marL="0">
              <a:buNone/>
            </a:pPr>
            <a:r>
              <a:rPr lang="en-US" sz="2000" b="1" dirty="0">
                <a:solidFill>
                  <a:srgbClr val="8CC84B"/>
                </a:solidFill>
                <a:latin typeface="Arial" pitchFamily="34" charset="0"/>
                <a:ea typeface="Arial" pitchFamily="34" charset="-122"/>
                <a:cs typeface="Arial" pitchFamily="34" charset="-120"/>
              </a:rPr>
              <a:t>2010</a:t>
            </a:r>
            <a:endParaRPr lang="en-US" sz="2000" dirty="0"/>
          </a:p>
        </p:txBody>
      </p:sp>
      <p:sp>
        <p:nvSpPr>
          <p:cNvPr id="17" name="Text 14"/>
          <p:cNvSpPr txBox="1"/>
          <p:nvPr/>
        </p:nvSpPr>
        <p:spPr>
          <a:xfrm>
            <a:off x="9226296" y="2139696"/>
            <a:ext cx="2194560" cy="310896"/>
          </a:xfrm>
          <a:prstGeom prst="rect">
            <a:avLst/>
          </a:prstGeom>
          <a:noFill/>
          <a:ln/>
        </p:spPr>
        <p:txBody>
          <a:bodyPr wrap="square" lIns="0" tIns="0" rIns="0" bIns="0" rtlCol="0" anchor="ctr"/>
          <a:lstStyle/>
          <a:p>
            <a:pPr indent="0" marL="0">
              <a:buNone/>
            </a:pPr>
            <a:r>
              <a:rPr lang="en-US" sz="1050" dirty="0">
                <a:solidFill>
                  <a:srgbClr val="AFC9B5"/>
                </a:solidFill>
                <a:latin typeface="Calibri" pitchFamily="34" charset="0"/>
                <a:ea typeface="Calibri" pitchFamily="34" charset="-122"/>
                <a:cs typeface="Calibri" pitchFamily="34" charset="-120"/>
              </a:rPr>
              <a:t>Tahun pertama rilis</a:t>
            </a:r>
            <a:endParaRPr lang="en-US" sz="1050" dirty="0"/>
          </a:p>
        </p:txBody>
      </p:sp>
      <p:sp>
        <p:nvSpPr>
          <p:cNvPr id="18" name="Shape 15"/>
          <p:cNvSpPr/>
          <p:nvPr/>
        </p:nvSpPr>
        <p:spPr>
          <a:xfrm>
            <a:off x="640080" y="2761488"/>
            <a:ext cx="3520440"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9" name="Image 1" descr="preencoded.png">    </p:cNvPr>
          <p:cNvPicPr>
            <a:picLocks noChangeAspect="1"/>
          </p:cNvPicPr>
          <p:nvPr/>
        </p:nvPicPr>
        <p:blipFill>
          <a:blip r:embed="rId2"/>
          <a:stretch>
            <a:fillRect/>
          </a:stretch>
        </p:blipFill>
        <p:spPr>
          <a:xfrm>
            <a:off x="896112" y="2962656"/>
            <a:ext cx="420624" cy="420624"/>
          </a:xfrm>
          <a:prstGeom prst="rect">
            <a:avLst/>
          </a:prstGeom>
        </p:spPr>
      </p:pic>
      <p:sp>
        <p:nvSpPr>
          <p:cNvPr id="20" name="Text 16"/>
          <p:cNvSpPr txBox="1"/>
          <p:nvPr/>
        </p:nvSpPr>
        <p:spPr>
          <a:xfrm>
            <a:off x="1444752" y="2962656"/>
            <a:ext cx="2459736" cy="420624"/>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npm</a:t>
            </a:r>
            <a:endParaRPr lang="en-US" sz="1500" dirty="0"/>
          </a:p>
        </p:txBody>
      </p:sp>
      <p:sp>
        <p:nvSpPr>
          <p:cNvPr id="21" name="Text 17"/>
          <p:cNvSpPr txBox="1"/>
          <p:nvPr/>
        </p:nvSpPr>
        <p:spPr>
          <a:xfrm>
            <a:off x="896112" y="3493008"/>
            <a:ext cx="3008376" cy="71323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Bawaan Node.js sehingga langsung tersedia setelah instalasi. Paling universal dan didukung semua alat.</a:t>
            </a:r>
            <a:endParaRPr lang="en-US" sz="1080" dirty="0"/>
          </a:p>
        </p:txBody>
      </p:sp>
      <p:sp>
        <p:nvSpPr>
          <p:cNvPr id="22" name="Shape 18"/>
          <p:cNvSpPr/>
          <p:nvPr/>
        </p:nvSpPr>
        <p:spPr>
          <a:xfrm>
            <a:off x="4443984" y="2761488"/>
            <a:ext cx="3520440"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23" name="Image 2" descr="preencoded.png">    </p:cNvPr>
          <p:cNvPicPr>
            <a:picLocks noChangeAspect="1"/>
          </p:cNvPicPr>
          <p:nvPr/>
        </p:nvPicPr>
        <p:blipFill>
          <a:blip r:embed="rId3"/>
          <a:stretch>
            <a:fillRect/>
          </a:stretch>
        </p:blipFill>
        <p:spPr>
          <a:xfrm>
            <a:off x="4700016" y="2962656"/>
            <a:ext cx="420624" cy="420624"/>
          </a:xfrm>
          <a:prstGeom prst="rect">
            <a:avLst/>
          </a:prstGeom>
        </p:spPr>
      </p:pic>
      <p:sp>
        <p:nvSpPr>
          <p:cNvPr id="24" name="Text 19"/>
          <p:cNvSpPr txBox="1"/>
          <p:nvPr/>
        </p:nvSpPr>
        <p:spPr>
          <a:xfrm>
            <a:off x="5248656" y="2962656"/>
            <a:ext cx="2459736" cy="420624"/>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Yarn</a:t>
            </a:r>
            <a:endParaRPr lang="en-US" sz="1500" dirty="0"/>
          </a:p>
        </p:txBody>
      </p:sp>
      <p:sp>
        <p:nvSpPr>
          <p:cNvPr id="25" name="Text 20"/>
          <p:cNvSpPr txBox="1"/>
          <p:nvPr/>
        </p:nvSpPr>
        <p:spPr>
          <a:xfrm>
            <a:off x="4700016" y="3493008"/>
            <a:ext cx="3008376" cy="71323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Dikembangkan Meta dengan penekanan pada kecepatan, berkas lock yang stabil, dan fitur workspaces.</a:t>
            </a:r>
            <a:endParaRPr lang="en-US" sz="1080" dirty="0"/>
          </a:p>
        </p:txBody>
      </p:sp>
      <p:sp>
        <p:nvSpPr>
          <p:cNvPr id="26" name="Shape 21"/>
          <p:cNvSpPr/>
          <p:nvPr/>
        </p:nvSpPr>
        <p:spPr>
          <a:xfrm>
            <a:off x="8247888" y="2761488"/>
            <a:ext cx="3520440"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27" name="Image 3" descr="preencoded.png">    </p:cNvPr>
          <p:cNvPicPr>
            <a:picLocks noChangeAspect="1"/>
          </p:cNvPicPr>
          <p:nvPr/>
        </p:nvPicPr>
        <p:blipFill>
          <a:blip r:embed="rId4"/>
          <a:stretch>
            <a:fillRect/>
          </a:stretch>
        </p:blipFill>
        <p:spPr>
          <a:xfrm>
            <a:off x="8503920" y="2962656"/>
            <a:ext cx="420624" cy="420624"/>
          </a:xfrm>
          <a:prstGeom prst="rect">
            <a:avLst/>
          </a:prstGeom>
        </p:spPr>
      </p:pic>
      <p:sp>
        <p:nvSpPr>
          <p:cNvPr id="28" name="Text 22"/>
          <p:cNvSpPr txBox="1"/>
          <p:nvPr/>
        </p:nvSpPr>
        <p:spPr>
          <a:xfrm>
            <a:off x="9052560" y="2962656"/>
            <a:ext cx="2459736" cy="420624"/>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pnpm</a:t>
            </a:r>
            <a:endParaRPr lang="en-US" sz="1500" dirty="0"/>
          </a:p>
        </p:txBody>
      </p:sp>
      <p:sp>
        <p:nvSpPr>
          <p:cNvPr id="29" name="Text 23"/>
          <p:cNvSpPr txBox="1"/>
          <p:nvPr/>
        </p:nvSpPr>
        <p:spPr>
          <a:xfrm>
            <a:off x="8503920" y="3493008"/>
            <a:ext cx="3008376" cy="71323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Menyimpan paket pada satu penyimpanan bersama sehingga sangat hemat ruang disk dan cepat.</a:t>
            </a:r>
            <a:endParaRPr lang="en-US" sz="1080" dirty="0"/>
          </a:p>
        </p:txBody>
      </p:sp>
      <p:sp>
        <p:nvSpPr>
          <p:cNvPr id="30" name="Shape 24"/>
          <p:cNvSpPr/>
          <p:nvPr/>
        </p:nvSpPr>
        <p:spPr>
          <a:xfrm>
            <a:off x="640080" y="4517136"/>
            <a:ext cx="5577840" cy="1502359"/>
          </a:xfrm>
          <a:prstGeom prst="roundRect">
            <a:avLst>
              <a:gd name="adj" fmla="val 4260"/>
            </a:avLst>
          </a:prstGeom>
          <a:solidFill>
            <a:srgbClr val="0E2417"/>
          </a:solidFill>
          <a:ln w="12700">
            <a:solidFill>
              <a:srgbClr val="234A31"/>
            </a:solidFill>
            <a:prstDash val="solid"/>
          </a:ln>
        </p:spPr>
      </p:sp>
      <p:sp>
        <p:nvSpPr>
          <p:cNvPr id="31" name="Text 25"/>
          <p:cNvSpPr txBox="1"/>
          <p:nvPr/>
        </p:nvSpPr>
        <p:spPr>
          <a:xfrm>
            <a:off x="859536" y="4608576"/>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MEMASANG PAKET</a:t>
            </a:r>
            <a:endParaRPr lang="en-US" sz="950" dirty="0"/>
          </a:p>
        </p:txBody>
      </p:sp>
      <p:sp>
        <p:nvSpPr>
          <p:cNvPr id="32" name="Text 26"/>
          <p:cNvSpPr txBox="1"/>
          <p:nvPr/>
        </p:nvSpPr>
        <p:spPr>
          <a:xfrm>
            <a:off x="859536" y="4919472"/>
            <a:ext cx="5138928" cy="990295"/>
          </a:xfrm>
          <a:prstGeom prst="rect">
            <a:avLst/>
          </a:prstGeom>
          <a:noFill/>
          <a:ln/>
        </p:spPr>
        <p:txBody>
          <a:bodyPr wrap="square" lIns="0" tIns="0" rIns="0" bIns="0" rtlCol="0" anchor="t"/>
          <a:lstStyle/>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npm init -y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membuat package.json</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npm install express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dependensi produksi</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npm install -D nodemon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dependensi pengembangan</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npm install -g pm2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dipasang global di sistem</a:t>
            </a:r>
            <a:endParaRPr lang="en-US" sz="1100" dirty="0"/>
          </a:p>
          <a:p>
            <a:pPr indent="0" marL="0">
              <a:lnSpc>
                <a:spcPct val="106000"/>
              </a:lnSpc>
              <a:buNone/>
            </a:pPr>
            <a:r>
              <a:rPr lang="en-US" sz="1100" dirty="0">
                <a:solidFill>
                  <a:srgbClr val="DDE8DE"/>
                </a:solidFill>
                <a:latin typeface="Courier New" pitchFamily="34" charset="0"/>
                <a:ea typeface="Courier New" pitchFamily="34" charset="-122"/>
                <a:cs typeface="Courier New" pitchFamily="34" charset="-120"/>
              </a:rPr>
              <a:t>npm uninstall express       </a:t>
            </a:r>
            <a:pPr indent="0" marL="0">
              <a:lnSpc>
                <a:spcPct val="106000"/>
              </a:lnSpc>
              <a:buNone/>
            </a:pPr>
            <a:r>
              <a:rPr lang="en-US" sz="1100" dirty="0">
                <a:solidFill>
                  <a:srgbClr val="6E8A76"/>
                </a:solidFill>
                <a:latin typeface="Courier New" pitchFamily="34" charset="0"/>
                <a:ea typeface="Courier New" pitchFamily="34" charset="-122"/>
                <a:cs typeface="Courier New" pitchFamily="34" charset="-120"/>
              </a:rPr>
              <a:t># menghapus paket</a:t>
            </a:r>
            <a:endParaRPr lang="en-US" sz="1100" dirty="0"/>
          </a:p>
        </p:txBody>
      </p:sp>
      <p:sp>
        <p:nvSpPr>
          <p:cNvPr id="33" name="Shape 27"/>
          <p:cNvSpPr/>
          <p:nvPr/>
        </p:nvSpPr>
        <p:spPr>
          <a:xfrm>
            <a:off x="6492240" y="4645152"/>
            <a:ext cx="420624" cy="420624"/>
          </a:xfrm>
          <a:prstGeom prst="roundRect">
            <a:avLst>
              <a:gd name="adj" fmla="val 26087"/>
            </a:avLst>
          </a:prstGeom>
          <a:solidFill>
            <a:srgbClr val="FDF3D8"/>
          </a:solidFill>
          <a:ln w="12700">
            <a:solidFill>
              <a:srgbClr val="FDF3D8"/>
            </a:solidFill>
            <a:prstDash val="solid"/>
          </a:ln>
        </p:spPr>
      </p:sp>
      <p:pic>
        <p:nvPicPr>
          <p:cNvPr id="34" name="Image 4" descr="preencoded.png">    </p:cNvPr>
          <p:cNvPicPr>
            <a:picLocks noChangeAspect="1"/>
          </p:cNvPicPr>
          <p:nvPr/>
        </p:nvPicPr>
        <p:blipFill>
          <a:blip r:embed="rId5"/>
          <a:stretch>
            <a:fillRect/>
          </a:stretch>
        </p:blipFill>
        <p:spPr>
          <a:xfrm>
            <a:off x="6597396" y="4750308"/>
            <a:ext cx="210312" cy="210312"/>
          </a:xfrm>
          <a:prstGeom prst="rect">
            <a:avLst/>
          </a:prstGeom>
        </p:spPr>
      </p:pic>
      <p:sp>
        <p:nvSpPr>
          <p:cNvPr id="35" name="Text 28"/>
          <p:cNvSpPr txBox="1"/>
          <p:nvPr/>
        </p:nvSpPr>
        <p:spPr>
          <a:xfrm>
            <a:off x="7059168" y="4626864"/>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Perhatikan Kualitas Paket</a:t>
            </a:r>
            <a:endParaRPr lang="en-US" sz="1200" dirty="0"/>
          </a:p>
        </p:txBody>
      </p:sp>
      <p:sp>
        <p:nvSpPr>
          <p:cNvPr id="36" name="Text 29"/>
          <p:cNvSpPr txBox="1"/>
          <p:nvPr/>
        </p:nvSpPr>
        <p:spPr>
          <a:xfrm>
            <a:off x="7059168" y="4882896"/>
            <a:ext cx="4553712" cy="329184"/>
          </a:xfrm>
          <a:prstGeom prst="rect">
            <a:avLst/>
          </a:prstGeom>
          <a:noFill/>
          <a:ln/>
        </p:spPr>
        <p:txBody>
          <a:bodyPr wrap="square" lIns="0" tIns="0" rIns="0" bIns="0" rtlCol="0" anchor="t"/>
          <a:lstStyle/>
          <a:p>
            <a:pPr indent="0" marL="0">
              <a:lnSpc>
                <a:spcPct val="110000"/>
              </a:lnSpc>
              <a:buNone/>
            </a:pPr>
            <a:r>
              <a:rPr lang="en-US" sz="1000" dirty="0">
                <a:solidFill>
                  <a:srgbClr val="5F6F62"/>
                </a:solidFill>
                <a:latin typeface="Calibri" pitchFamily="34" charset="0"/>
                <a:ea typeface="Calibri" pitchFamily="34" charset="-122"/>
                <a:cs typeface="Calibri" pitchFamily="34" charset="-120"/>
              </a:rPr>
              <a:t>Periksa jumlah unduhan, tanggal pembaruan terakhir, dan lisensi sebelum memakai paket.</a:t>
            </a:r>
            <a:endParaRPr lang="en-US" sz="1000" dirty="0"/>
          </a:p>
        </p:txBody>
      </p:sp>
      <p:sp>
        <p:nvSpPr>
          <p:cNvPr id="37" name="Shape 30"/>
          <p:cNvSpPr/>
          <p:nvPr/>
        </p:nvSpPr>
        <p:spPr>
          <a:xfrm>
            <a:off x="6492240" y="5358384"/>
            <a:ext cx="420624" cy="420624"/>
          </a:xfrm>
          <a:prstGeom prst="roundRect">
            <a:avLst>
              <a:gd name="adj" fmla="val 26087"/>
            </a:avLst>
          </a:prstGeom>
          <a:solidFill>
            <a:srgbClr val="FDF3D8"/>
          </a:solidFill>
          <a:ln w="12700">
            <a:solidFill>
              <a:srgbClr val="FDF3D8"/>
            </a:solidFill>
            <a:prstDash val="solid"/>
          </a:ln>
        </p:spPr>
      </p:sp>
      <p:pic>
        <p:nvPicPr>
          <p:cNvPr id="38" name="Image 5" descr="preencoded.png">    </p:cNvPr>
          <p:cNvPicPr>
            <a:picLocks noChangeAspect="1"/>
          </p:cNvPicPr>
          <p:nvPr/>
        </p:nvPicPr>
        <p:blipFill>
          <a:blip r:embed="rId6"/>
          <a:stretch>
            <a:fillRect/>
          </a:stretch>
        </p:blipFill>
        <p:spPr>
          <a:xfrm>
            <a:off x="6597396" y="5463540"/>
            <a:ext cx="210312" cy="210312"/>
          </a:xfrm>
          <a:prstGeom prst="rect">
            <a:avLst/>
          </a:prstGeom>
        </p:spPr>
      </p:pic>
      <p:sp>
        <p:nvSpPr>
          <p:cNvPr id="39" name="Text 31"/>
          <p:cNvSpPr txBox="1"/>
          <p:nvPr/>
        </p:nvSpPr>
        <p:spPr>
          <a:xfrm>
            <a:off x="7059168" y="5340096"/>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Audit Keamanan</a:t>
            </a:r>
            <a:endParaRPr lang="en-US" sz="1200" dirty="0"/>
          </a:p>
        </p:txBody>
      </p:sp>
      <p:sp>
        <p:nvSpPr>
          <p:cNvPr id="40" name="Text 32"/>
          <p:cNvSpPr txBox="1"/>
          <p:nvPr/>
        </p:nvSpPr>
        <p:spPr>
          <a:xfrm>
            <a:off x="7059168" y="5596128"/>
            <a:ext cx="4553712" cy="329184"/>
          </a:xfrm>
          <a:prstGeom prst="rect">
            <a:avLst/>
          </a:prstGeom>
          <a:noFill/>
          <a:ln/>
        </p:spPr>
        <p:txBody>
          <a:bodyPr wrap="square" lIns="0" tIns="0" rIns="0" bIns="0" rtlCol="0" anchor="t"/>
          <a:lstStyle/>
          <a:p>
            <a:pPr indent="0" marL="0">
              <a:lnSpc>
                <a:spcPct val="110000"/>
              </a:lnSpc>
              <a:buNone/>
            </a:pPr>
            <a:r>
              <a:rPr lang="en-US" sz="1000" dirty="0">
                <a:solidFill>
                  <a:srgbClr val="5F6F62"/>
                </a:solidFill>
                <a:latin typeface="Calibri" pitchFamily="34" charset="0"/>
                <a:ea typeface="Calibri" pitchFamily="34" charset="-122"/>
                <a:cs typeface="Calibri" pitchFamily="34" charset="-120"/>
              </a:rPr>
              <a:t>Jalankan npm audit berkala untuk memeriksa kerentanan pada pohon dependensi.</a:t>
            </a:r>
            <a:endParaRPr lang="en-US" sz="1000" dirty="0"/>
          </a:p>
        </p:txBody>
      </p:sp>
      <p:sp>
        <p:nvSpPr>
          <p:cNvPr id="41" name="Text 3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2" name="Text 3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Mengenal package.json</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Kartu identitas sekaligus pusat konfigurasi sebuah proyek Node.js</a:t>
            </a:r>
            <a:endParaRPr lang="en-US" sz="1300" dirty="0"/>
          </a:p>
        </p:txBody>
      </p:sp>
      <p:sp>
        <p:nvSpPr>
          <p:cNvPr id="6" name="Shape 3"/>
          <p:cNvSpPr/>
          <p:nvPr/>
        </p:nvSpPr>
        <p:spPr>
          <a:xfrm>
            <a:off x="640080" y="1627632"/>
            <a:ext cx="6035040" cy="4036527"/>
          </a:xfrm>
          <a:prstGeom prst="roundRect">
            <a:avLst>
              <a:gd name="adj" fmla="val 1586"/>
            </a:avLst>
          </a:prstGeom>
          <a:solidFill>
            <a:srgbClr val="0E2417"/>
          </a:solidFill>
          <a:ln w="12700">
            <a:solidFill>
              <a:srgbClr val="234A31"/>
            </a:solidFill>
            <a:prstDash val="solid"/>
          </a:ln>
        </p:spPr>
      </p:sp>
      <p:sp>
        <p:nvSpPr>
          <p:cNvPr id="7" name="Text 4"/>
          <p:cNvSpPr txBox="1"/>
          <p:nvPr/>
        </p:nvSpPr>
        <p:spPr>
          <a:xfrm>
            <a:off x="859536" y="1719072"/>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CONTOH PACKAGE.JSON</a:t>
            </a:r>
            <a:endParaRPr lang="en-US" sz="950" dirty="0"/>
          </a:p>
        </p:txBody>
      </p:sp>
      <p:sp>
        <p:nvSpPr>
          <p:cNvPr id="8" name="Text 5"/>
          <p:cNvSpPr txBox="1"/>
          <p:nvPr/>
        </p:nvSpPr>
        <p:spPr>
          <a:xfrm>
            <a:off x="859536" y="2029968"/>
            <a:ext cx="5596128" cy="3524463"/>
          </a:xfrm>
          <a:prstGeom prst="rect">
            <a:avLst/>
          </a:prstGeom>
          <a:noFill/>
          <a:ln/>
        </p:spPr>
        <p:txBody>
          <a:bodyPr wrap="square" lIns="0" tIns="0" rIns="0" bIns="0" rtlCol="0" anchor="t"/>
          <a:lstStyle/>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"name"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"aplikasi-saya"</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"version"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"1.0.0"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"description"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"Contoh aplikasi Node.js"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"main"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"server.js"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"type"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"commonjs"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"scripts"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"start"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"node server.js"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"dev"</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"nodemon server.js"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"test"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"jest"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"dependencies"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"express"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"^4.19.2"</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"mongoose"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"~8.4.0"</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"devDependencies"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"nodemon"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"^3.1.0"</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"license"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"MIT"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949440" y="1700784"/>
            <a:ext cx="4663440" cy="585216"/>
          </a:xfrm>
          <a:prstGeom prst="roundRect">
            <a:avLst>
              <a:gd name="adj" fmla="val 10938"/>
            </a:avLst>
          </a:prstGeom>
          <a:solidFill>
            <a:srgbClr val="FFFFFF"/>
          </a:solidFill>
          <a:ln w="12700">
            <a:solidFill>
              <a:srgbClr val="E3EBDF"/>
            </a:solidFill>
            <a:prstDash val="solid"/>
          </a:ln>
        </p:spPr>
      </p:sp>
      <p:sp>
        <p:nvSpPr>
          <p:cNvPr id="10" name="Text 7"/>
          <p:cNvSpPr txBox="1"/>
          <p:nvPr/>
        </p:nvSpPr>
        <p:spPr>
          <a:xfrm>
            <a:off x="7150608" y="173736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name &amp; version</a:t>
            </a:r>
            <a:endParaRPr lang="en-US" sz="1050" dirty="0"/>
          </a:p>
        </p:txBody>
      </p:sp>
      <p:sp>
        <p:nvSpPr>
          <p:cNvPr id="11" name="Text 8"/>
          <p:cNvSpPr txBox="1"/>
          <p:nvPr/>
        </p:nvSpPr>
        <p:spPr>
          <a:xfrm>
            <a:off x="7150608" y="197510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Identitas unik paket. Wajib diisi bila paket akan diterbitkan ke registry NPM.</a:t>
            </a:r>
            <a:endParaRPr lang="en-US" sz="960" dirty="0"/>
          </a:p>
        </p:txBody>
      </p:sp>
      <p:sp>
        <p:nvSpPr>
          <p:cNvPr id="12" name="Shape 9"/>
          <p:cNvSpPr/>
          <p:nvPr/>
        </p:nvSpPr>
        <p:spPr>
          <a:xfrm>
            <a:off x="6949440" y="2340864"/>
            <a:ext cx="4663440" cy="585216"/>
          </a:xfrm>
          <a:prstGeom prst="roundRect">
            <a:avLst>
              <a:gd name="adj" fmla="val 10938"/>
            </a:avLst>
          </a:prstGeom>
          <a:solidFill>
            <a:srgbClr val="FFFFFF"/>
          </a:solidFill>
          <a:ln w="12700">
            <a:solidFill>
              <a:srgbClr val="E3EBDF"/>
            </a:solidFill>
            <a:prstDash val="solid"/>
          </a:ln>
        </p:spPr>
      </p:sp>
      <p:sp>
        <p:nvSpPr>
          <p:cNvPr id="13" name="Text 10"/>
          <p:cNvSpPr txBox="1"/>
          <p:nvPr/>
        </p:nvSpPr>
        <p:spPr>
          <a:xfrm>
            <a:off x="7150608" y="237744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main</a:t>
            </a:r>
            <a:endParaRPr lang="en-US" sz="1050" dirty="0"/>
          </a:p>
        </p:txBody>
      </p:sp>
      <p:sp>
        <p:nvSpPr>
          <p:cNvPr id="14" name="Text 11"/>
          <p:cNvSpPr txBox="1"/>
          <p:nvPr/>
        </p:nvSpPr>
        <p:spPr>
          <a:xfrm>
            <a:off x="7150608" y="261518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Berkas yang dimuat pertama kali ketika paket ini diimpor oleh proyek lain.</a:t>
            </a:r>
            <a:endParaRPr lang="en-US" sz="960" dirty="0"/>
          </a:p>
        </p:txBody>
      </p:sp>
      <p:sp>
        <p:nvSpPr>
          <p:cNvPr id="15" name="Shape 12"/>
          <p:cNvSpPr/>
          <p:nvPr/>
        </p:nvSpPr>
        <p:spPr>
          <a:xfrm>
            <a:off x="6949440" y="2980944"/>
            <a:ext cx="4663440" cy="585216"/>
          </a:xfrm>
          <a:prstGeom prst="roundRect">
            <a:avLst>
              <a:gd name="adj" fmla="val 10938"/>
            </a:avLst>
          </a:prstGeom>
          <a:solidFill>
            <a:srgbClr val="FFFFFF"/>
          </a:solidFill>
          <a:ln w="12700">
            <a:solidFill>
              <a:srgbClr val="E3EBDF"/>
            </a:solidFill>
            <a:prstDash val="solid"/>
          </a:ln>
        </p:spPr>
      </p:sp>
      <p:sp>
        <p:nvSpPr>
          <p:cNvPr id="16" name="Text 13"/>
          <p:cNvSpPr txBox="1"/>
          <p:nvPr/>
        </p:nvSpPr>
        <p:spPr>
          <a:xfrm>
            <a:off x="7150608" y="301752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type</a:t>
            </a:r>
            <a:endParaRPr lang="en-US" sz="1050" dirty="0"/>
          </a:p>
        </p:txBody>
      </p:sp>
      <p:sp>
        <p:nvSpPr>
          <p:cNvPr id="17" name="Text 14"/>
          <p:cNvSpPr txBox="1"/>
          <p:nvPr/>
        </p:nvSpPr>
        <p:spPr>
          <a:xfrm>
            <a:off x="7150608" y="325526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Menentukan sistem modul: commonjs atau module untuk ES Modules.</a:t>
            </a:r>
            <a:endParaRPr lang="en-US" sz="960" dirty="0"/>
          </a:p>
        </p:txBody>
      </p:sp>
      <p:sp>
        <p:nvSpPr>
          <p:cNvPr id="18" name="Shape 15"/>
          <p:cNvSpPr/>
          <p:nvPr/>
        </p:nvSpPr>
        <p:spPr>
          <a:xfrm>
            <a:off x="6949440" y="3621024"/>
            <a:ext cx="4663440" cy="585216"/>
          </a:xfrm>
          <a:prstGeom prst="roundRect">
            <a:avLst>
              <a:gd name="adj" fmla="val 10938"/>
            </a:avLst>
          </a:prstGeom>
          <a:solidFill>
            <a:srgbClr val="FFFFFF"/>
          </a:solidFill>
          <a:ln w="12700">
            <a:solidFill>
              <a:srgbClr val="E3EBDF"/>
            </a:solidFill>
            <a:prstDash val="solid"/>
          </a:ln>
        </p:spPr>
      </p:sp>
      <p:sp>
        <p:nvSpPr>
          <p:cNvPr id="19" name="Text 16"/>
          <p:cNvSpPr txBox="1"/>
          <p:nvPr/>
        </p:nvSpPr>
        <p:spPr>
          <a:xfrm>
            <a:off x="7150608" y="365760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scripts</a:t>
            </a:r>
            <a:endParaRPr lang="en-US" sz="1050" dirty="0"/>
          </a:p>
        </p:txBody>
      </p:sp>
      <p:sp>
        <p:nvSpPr>
          <p:cNvPr id="20" name="Text 17"/>
          <p:cNvSpPr txBox="1"/>
          <p:nvPr/>
        </p:nvSpPr>
        <p:spPr>
          <a:xfrm>
            <a:off x="7150608" y="389534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Perintah pintasan yang dijalankan dengan npm run, misalnya npm run dev.</a:t>
            </a:r>
            <a:endParaRPr lang="en-US" sz="960" dirty="0"/>
          </a:p>
        </p:txBody>
      </p:sp>
      <p:sp>
        <p:nvSpPr>
          <p:cNvPr id="21" name="Shape 18"/>
          <p:cNvSpPr/>
          <p:nvPr/>
        </p:nvSpPr>
        <p:spPr>
          <a:xfrm>
            <a:off x="6949440" y="4261104"/>
            <a:ext cx="4663440" cy="585216"/>
          </a:xfrm>
          <a:prstGeom prst="roundRect">
            <a:avLst>
              <a:gd name="adj" fmla="val 10938"/>
            </a:avLst>
          </a:prstGeom>
          <a:solidFill>
            <a:srgbClr val="FFFFFF"/>
          </a:solidFill>
          <a:ln w="12700">
            <a:solidFill>
              <a:srgbClr val="E3EBDF"/>
            </a:solidFill>
            <a:prstDash val="solid"/>
          </a:ln>
        </p:spPr>
      </p:sp>
      <p:sp>
        <p:nvSpPr>
          <p:cNvPr id="22" name="Text 19"/>
          <p:cNvSpPr txBox="1"/>
          <p:nvPr/>
        </p:nvSpPr>
        <p:spPr>
          <a:xfrm>
            <a:off x="7150608" y="429768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dependencies</a:t>
            </a:r>
            <a:endParaRPr lang="en-US" sz="1050" dirty="0"/>
          </a:p>
        </p:txBody>
      </p:sp>
      <p:sp>
        <p:nvSpPr>
          <p:cNvPr id="23" name="Text 20"/>
          <p:cNvSpPr txBox="1"/>
          <p:nvPr/>
        </p:nvSpPr>
        <p:spPr>
          <a:xfrm>
            <a:off x="7150608" y="453542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Paket yang dibutuhkan aplikasi saat berjalan di produksi.</a:t>
            </a:r>
            <a:endParaRPr lang="en-US" sz="960" dirty="0"/>
          </a:p>
        </p:txBody>
      </p:sp>
      <p:sp>
        <p:nvSpPr>
          <p:cNvPr id="24" name="Shape 21"/>
          <p:cNvSpPr/>
          <p:nvPr/>
        </p:nvSpPr>
        <p:spPr>
          <a:xfrm>
            <a:off x="6949440" y="4901184"/>
            <a:ext cx="4663440" cy="585216"/>
          </a:xfrm>
          <a:prstGeom prst="roundRect">
            <a:avLst>
              <a:gd name="adj" fmla="val 10938"/>
            </a:avLst>
          </a:prstGeom>
          <a:solidFill>
            <a:srgbClr val="FFFFFF"/>
          </a:solidFill>
          <a:ln w="12700">
            <a:solidFill>
              <a:srgbClr val="E3EBDF"/>
            </a:solidFill>
            <a:prstDash val="solid"/>
          </a:ln>
        </p:spPr>
      </p:sp>
      <p:sp>
        <p:nvSpPr>
          <p:cNvPr id="25" name="Text 22"/>
          <p:cNvSpPr txBox="1"/>
          <p:nvPr/>
        </p:nvSpPr>
        <p:spPr>
          <a:xfrm>
            <a:off x="7150608" y="493776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devDependencies</a:t>
            </a:r>
            <a:endParaRPr lang="en-US" sz="1050" dirty="0"/>
          </a:p>
        </p:txBody>
      </p:sp>
      <p:sp>
        <p:nvSpPr>
          <p:cNvPr id="26" name="Text 23"/>
          <p:cNvSpPr txBox="1"/>
          <p:nvPr/>
        </p:nvSpPr>
        <p:spPr>
          <a:xfrm>
            <a:off x="7150608" y="517550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Paket yang hanya dipakai selama pengembangan, seperti alat uji dan linter.</a:t>
            </a:r>
            <a:endParaRPr lang="en-US" sz="960" dirty="0"/>
          </a:p>
        </p:txBody>
      </p:sp>
      <p:sp>
        <p:nvSpPr>
          <p:cNvPr id="27" name="Shape 24"/>
          <p:cNvSpPr/>
          <p:nvPr/>
        </p:nvSpPr>
        <p:spPr>
          <a:xfrm>
            <a:off x="6949440" y="5541264"/>
            <a:ext cx="4663440" cy="585216"/>
          </a:xfrm>
          <a:prstGeom prst="roundRect">
            <a:avLst>
              <a:gd name="adj" fmla="val 10938"/>
            </a:avLst>
          </a:prstGeom>
          <a:solidFill>
            <a:srgbClr val="FFFFFF"/>
          </a:solidFill>
          <a:ln w="12700">
            <a:solidFill>
              <a:srgbClr val="E3EBDF"/>
            </a:solidFill>
            <a:prstDash val="solid"/>
          </a:ln>
        </p:spPr>
      </p:sp>
      <p:sp>
        <p:nvSpPr>
          <p:cNvPr id="28" name="Text 25"/>
          <p:cNvSpPr txBox="1"/>
          <p:nvPr/>
        </p:nvSpPr>
        <p:spPr>
          <a:xfrm>
            <a:off x="7150608" y="5577840"/>
            <a:ext cx="4297680" cy="237744"/>
          </a:xfrm>
          <a:prstGeom prst="rect">
            <a:avLst/>
          </a:prstGeom>
          <a:noFill/>
          <a:ln/>
        </p:spPr>
        <p:txBody>
          <a:bodyPr wrap="square" lIns="0" tIns="0" rIns="0" bIns="0" rtlCol="0" anchor="ctr"/>
          <a:lstStyle/>
          <a:p>
            <a:pPr indent="0" marL="0">
              <a:buNone/>
            </a:pPr>
            <a:r>
              <a:rPr lang="en-US" sz="1050" b="1" dirty="0">
                <a:solidFill>
                  <a:srgbClr val="3C873A"/>
                </a:solidFill>
                <a:latin typeface="Courier New" pitchFamily="34" charset="0"/>
                <a:ea typeface="Courier New" pitchFamily="34" charset="-122"/>
                <a:cs typeface="Courier New" pitchFamily="34" charset="-120"/>
              </a:rPr>
              <a:t>license</a:t>
            </a:r>
            <a:endParaRPr lang="en-US" sz="1050" dirty="0"/>
          </a:p>
        </p:txBody>
      </p:sp>
      <p:sp>
        <p:nvSpPr>
          <p:cNvPr id="29" name="Text 26"/>
          <p:cNvSpPr txBox="1"/>
          <p:nvPr/>
        </p:nvSpPr>
        <p:spPr>
          <a:xfrm>
            <a:off x="7150608" y="5815584"/>
            <a:ext cx="4297680" cy="274320"/>
          </a:xfrm>
          <a:prstGeom prst="rect">
            <a:avLst/>
          </a:prstGeom>
          <a:noFill/>
          <a:ln/>
        </p:spPr>
        <p:txBody>
          <a:bodyPr wrap="square" lIns="0" tIns="0" rIns="0" bIns="0" rtlCol="0" anchor="t"/>
          <a:lstStyle/>
          <a:p>
            <a:pPr indent="0" marL="0">
              <a:buNone/>
            </a:pPr>
            <a:r>
              <a:rPr lang="en-US" sz="960" dirty="0">
                <a:solidFill>
                  <a:srgbClr val="5F6F62"/>
                </a:solidFill>
                <a:latin typeface="Calibri" pitchFamily="34" charset="0"/>
                <a:ea typeface="Calibri" pitchFamily="34" charset="-122"/>
                <a:cs typeface="Calibri" pitchFamily="34" charset="-120"/>
              </a:rPr>
              <a:t>Menyatakan lisensi penggunaan kode, misalnya MIT, Apache-2.0, atau ISC.</a:t>
            </a:r>
            <a:endParaRPr lang="en-US" sz="960" dirty="0"/>
          </a:p>
        </p:txBody>
      </p:sp>
      <p:sp>
        <p:nvSpPr>
          <p:cNvPr id="30" name="Text 27"/>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1" name="Text 28"/>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Perintah NPM yang Sering Dipakai</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Referensi cepat untuk pekerjaan sehari-hari</a:t>
            </a:r>
            <a:endParaRPr lang="en-US" sz="1300" dirty="0"/>
          </a:p>
        </p:txBody>
      </p:sp>
      <p:sp>
        <p:nvSpPr>
          <p:cNvPr id="6" name="Shape 3"/>
          <p:cNvSpPr/>
          <p:nvPr/>
        </p:nvSpPr>
        <p:spPr>
          <a:xfrm>
            <a:off x="640080" y="1645920"/>
            <a:ext cx="5349240" cy="384048"/>
          </a:xfrm>
          <a:prstGeom prst="roundRect">
            <a:avLst>
              <a:gd name="adj" fmla="val 11905"/>
            </a:avLst>
          </a:prstGeom>
          <a:solidFill>
            <a:srgbClr val="0B2015"/>
          </a:solidFill>
          <a:ln w="12700">
            <a:solidFill>
              <a:srgbClr val="0B2015"/>
            </a:solidFill>
            <a:prstDash val="solid"/>
          </a:ln>
        </p:spPr>
      </p:sp>
      <p:sp>
        <p:nvSpPr>
          <p:cNvPr id="7" name="Text 4"/>
          <p:cNvSpPr txBox="1"/>
          <p:nvPr/>
        </p:nvSpPr>
        <p:spPr>
          <a:xfrm>
            <a:off x="841248" y="1645920"/>
            <a:ext cx="192024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Perintah</a:t>
            </a:r>
            <a:endParaRPr lang="en-US" sz="1050" dirty="0"/>
          </a:p>
        </p:txBody>
      </p:sp>
      <p:sp>
        <p:nvSpPr>
          <p:cNvPr id="8" name="Text 5"/>
          <p:cNvSpPr txBox="1"/>
          <p:nvPr/>
        </p:nvSpPr>
        <p:spPr>
          <a:xfrm>
            <a:off x="2788920" y="1645920"/>
            <a:ext cx="310896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Kegunaan</a:t>
            </a:r>
            <a:endParaRPr lang="en-US" sz="1050" dirty="0"/>
          </a:p>
        </p:txBody>
      </p:sp>
      <p:sp>
        <p:nvSpPr>
          <p:cNvPr id="9" name="Shape 6"/>
          <p:cNvSpPr/>
          <p:nvPr/>
        </p:nvSpPr>
        <p:spPr>
          <a:xfrm>
            <a:off x="640080" y="2066544"/>
            <a:ext cx="5349240" cy="384048"/>
          </a:xfrm>
          <a:prstGeom prst="roundRect">
            <a:avLst>
              <a:gd name="adj" fmla="val 11905"/>
            </a:avLst>
          </a:prstGeom>
          <a:solidFill>
            <a:srgbClr val="FFFFFF"/>
          </a:solidFill>
          <a:ln w="12700">
            <a:solidFill>
              <a:srgbClr val="E3EBDF"/>
            </a:solidFill>
            <a:prstDash val="solid"/>
          </a:ln>
        </p:spPr>
      </p:sp>
      <p:sp>
        <p:nvSpPr>
          <p:cNvPr id="10" name="Text 7"/>
          <p:cNvSpPr txBox="1"/>
          <p:nvPr/>
        </p:nvSpPr>
        <p:spPr>
          <a:xfrm>
            <a:off x="841248" y="2066544"/>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init -y</a:t>
            </a:r>
            <a:endParaRPr lang="en-US" sz="1050" dirty="0"/>
          </a:p>
        </p:txBody>
      </p:sp>
      <p:sp>
        <p:nvSpPr>
          <p:cNvPr id="11" name="Text 8"/>
          <p:cNvSpPr txBox="1"/>
          <p:nvPr/>
        </p:nvSpPr>
        <p:spPr>
          <a:xfrm>
            <a:off x="2788920" y="2066544"/>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Membuat package.json dengan nilai bawaan</a:t>
            </a:r>
            <a:endParaRPr lang="en-US" sz="1050" dirty="0"/>
          </a:p>
        </p:txBody>
      </p:sp>
      <p:sp>
        <p:nvSpPr>
          <p:cNvPr id="12" name="Shape 9"/>
          <p:cNvSpPr/>
          <p:nvPr/>
        </p:nvSpPr>
        <p:spPr>
          <a:xfrm>
            <a:off x="640080" y="2487168"/>
            <a:ext cx="5349240" cy="384048"/>
          </a:xfrm>
          <a:prstGeom prst="roundRect">
            <a:avLst>
              <a:gd name="adj" fmla="val 11905"/>
            </a:avLst>
          </a:prstGeom>
          <a:solidFill>
            <a:srgbClr val="EDF3E9"/>
          </a:solidFill>
          <a:ln w="12700">
            <a:solidFill>
              <a:srgbClr val="E3EBDF"/>
            </a:solidFill>
            <a:prstDash val="solid"/>
          </a:ln>
        </p:spPr>
      </p:sp>
      <p:sp>
        <p:nvSpPr>
          <p:cNvPr id="13" name="Text 10"/>
          <p:cNvSpPr txBox="1"/>
          <p:nvPr/>
        </p:nvSpPr>
        <p:spPr>
          <a:xfrm>
            <a:off x="841248" y="2487168"/>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install</a:t>
            </a:r>
            <a:endParaRPr lang="en-US" sz="1050" dirty="0"/>
          </a:p>
        </p:txBody>
      </p:sp>
      <p:sp>
        <p:nvSpPr>
          <p:cNvPr id="14" name="Text 11"/>
          <p:cNvSpPr txBox="1"/>
          <p:nvPr/>
        </p:nvSpPr>
        <p:spPr>
          <a:xfrm>
            <a:off x="2788920" y="2487168"/>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Memasang semua dependensi dari package.json</a:t>
            </a:r>
            <a:endParaRPr lang="en-US" sz="1050" dirty="0"/>
          </a:p>
        </p:txBody>
      </p:sp>
      <p:sp>
        <p:nvSpPr>
          <p:cNvPr id="15" name="Shape 12"/>
          <p:cNvSpPr/>
          <p:nvPr/>
        </p:nvSpPr>
        <p:spPr>
          <a:xfrm>
            <a:off x="640080" y="2907792"/>
            <a:ext cx="5349240" cy="384048"/>
          </a:xfrm>
          <a:prstGeom prst="roundRect">
            <a:avLst>
              <a:gd name="adj" fmla="val 11905"/>
            </a:avLst>
          </a:prstGeom>
          <a:solidFill>
            <a:srgbClr val="FFFFFF"/>
          </a:solidFill>
          <a:ln w="12700">
            <a:solidFill>
              <a:srgbClr val="E3EBDF"/>
            </a:solidFill>
            <a:prstDash val="solid"/>
          </a:ln>
        </p:spPr>
      </p:sp>
      <p:sp>
        <p:nvSpPr>
          <p:cNvPr id="16" name="Text 13"/>
          <p:cNvSpPr txBox="1"/>
          <p:nvPr/>
        </p:nvSpPr>
        <p:spPr>
          <a:xfrm>
            <a:off x="841248" y="2907792"/>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i &lt;paket&gt;</a:t>
            </a:r>
            <a:endParaRPr lang="en-US" sz="1050" dirty="0"/>
          </a:p>
        </p:txBody>
      </p:sp>
      <p:sp>
        <p:nvSpPr>
          <p:cNvPr id="17" name="Text 14"/>
          <p:cNvSpPr txBox="1"/>
          <p:nvPr/>
        </p:nvSpPr>
        <p:spPr>
          <a:xfrm>
            <a:off x="2788920" y="2907792"/>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Memasang paket tertentu ke dependencies</a:t>
            </a:r>
            <a:endParaRPr lang="en-US" sz="1050" dirty="0"/>
          </a:p>
        </p:txBody>
      </p:sp>
      <p:sp>
        <p:nvSpPr>
          <p:cNvPr id="18" name="Shape 15"/>
          <p:cNvSpPr/>
          <p:nvPr/>
        </p:nvSpPr>
        <p:spPr>
          <a:xfrm>
            <a:off x="640080" y="3328416"/>
            <a:ext cx="5349240" cy="384048"/>
          </a:xfrm>
          <a:prstGeom prst="roundRect">
            <a:avLst>
              <a:gd name="adj" fmla="val 11905"/>
            </a:avLst>
          </a:prstGeom>
          <a:solidFill>
            <a:srgbClr val="EDF3E9"/>
          </a:solidFill>
          <a:ln w="12700">
            <a:solidFill>
              <a:srgbClr val="E3EBDF"/>
            </a:solidFill>
            <a:prstDash val="solid"/>
          </a:ln>
        </p:spPr>
      </p:sp>
      <p:sp>
        <p:nvSpPr>
          <p:cNvPr id="19" name="Text 16"/>
          <p:cNvSpPr txBox="1"/>
          <p:nvPr/>
        </p:nvSpPr>
        <p:spPr>
          <a:xfrm>
            <a:off x="841248" y="3328416"/>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i -D &lt;paket&gt;</a:t>
            </a:r>
            <a:endParaRPr lang="en-US" sz="1050" dirty="0"/>
          </a:p>
        </p:txBody>
      </p:sp>
      <p:sp>
        <p:nvSpPr>
          <p:cNvPr id="20" name="Text 17"/>
          <p:cNvSpPr txBox="1"/>
          <p:nvPr/>
        </p:nvSpPr>
        <p:spPr>
          <a:xfrm>
            <a:off x="2788920" y="3328416"/>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Memasang paket ke devDependencies</a:t>
            </a:r>
            <a:endParaRPr lang="en-US" sz="1050" dirty="0"/>
          </a:p>
        </p:txBody>
      </p:sp>
      <p:sp>
        <p:nvSpPr>
          <p:cNvPr id="21" name="Shape 18"/>
          <p:cNvSpPr/>
          <p:nvPr/>
        </p:nvSpPr>
        <p:spPr>
          <a:xfrm>
            <a:off x="640080" y="3749040"/>
            <a:ext cx="5349240" cy="384048"/>
          </a:xfrm>
          <a:prstGeom prst="roundRect">
            <a:avLst>
              <a:gd name="adj" fmla="val 11905"/>
            </a:avLst>
          </a:prstGeom>
          <a:solidFill>
            <a:srgbClr val="FFFFFF"/>
          </a:solidFill>
          <a:ln w="12700">
            <a:solidFill>
              <a:srgbClr val="E3EBDF"/>
            </a:solidFill>
            <a:prstDash val="solid"/>
          </a:ln>
        </p:spPr>
      </p:sp>
      <p:sp>
        <p:nvSpPr>
          <p:cNvPr id="22" name="Text 19"/>
          <p:cNvSpPr txBox="1"/>
          <p:nvPr/>
        </p:nvSpPr>
        <p:spPr>
          <a:xfrm>
            <a:off x="841248" y="3749040"/>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i -g &lt;paket&gt;</a:t>
            </a:r>
            <a:endParaRPr lang="en-US" sz="1050" dirty="0"/>
          </a:p>
        </p:txBody>
      </p:sp>
      <p:sp>
        <p:nvSpPr>
          <p:cNvPr id="23" name="Text 20"/>
          <p:cNvSpPr txBox="1"/>
          <p:nvPr/>
        </p:nvSpPr>
        <p:spPr>
          <a:xfrm>
            <a:off x="2788920" y="3749040"/>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Memasang paket secara global di sistem</a:t>
            </a:r>
            <a:endParaRPr lang="en-US" sz="1050" dirty="0"/>
          </a:p>
        </p:txBody>
      </p:sp>
      <p:sp>
        <p:nvSpPr>
          <p:cNvPr id="24" name="Shape 21"/>
          <p:cNvSpPr/>
          <p:nvPr/>
        </p:nvSpPr>
        <p:spPr>
          <a:xfrm>
            <a:off x="640080" y="4169664"/>
            <a:ext cx="5349240" cy="384048"/>
          </a:xfrm>
          <a:prstGeom prst="roundRect">
            <a:avLst>
              <a:gd name="adj" fmla="val 11905"/>
            </a:avLst>
          </a:prstGeom>
          <a:solidFill>
            <a:srgbClr val="EDF3E9"/>
          </a:solidFill>
          <a:ln w="12700">
            <a:solidFill>
              <a:srgbClr val="E3EBDF"/>
            </a:solidFill>
            <a:prstDash val="solid"/>
          </a:ln>
        </p:spPr>
      </p:sp>
      <p:sp>
        <p:nvSpPr>
          <p:cNvPr id="25" name="Text 22"/>
          <p:cNvSpPr txBox="1"/>
          <p:nvPr/>
        </p:nvSpPr>
        <p:spPr>
          <a:xfrm>
            <a:off x="841248" y="4169664"/>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uninstall &lt;p&gt;</a:t>
            </a:r>
            <a:endParaRPr lang="en-US" sz="1050" dirty="0"/>
          </a:p>
        </p:txBody>
      </p:sp>
      <p:sp>
        <p:nvSpPr>
          <p:cNvPr id="26" name="Text 23"/>
          <p:cNvSpPr txBox="1"/>
          <p:nvPr/>
        </p:nvSpPr>
        <p:spPr>
          <a:xfrm>
            <a:off x="2788920" y="4169664"/>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Menghapus paket dari proyek</a:t>
            </a:r>
            <a:endParaRPr lang="en-US" sz="1050" dirty="0"/>
          </a:p>
        </p:txBody>
      </p:sp>
      <p:sp>
        <p:nvSpPr>
          <p:cNvPr id="27" name="Shape 24"/>
          <p:cNvSpPr/>
          <p:nvPr/>
        </p:nvSpPr>
        <p:spPr>
          <a:xfrm>
            <a:off x="640080" y="4590288"/>
            <a:ext cx="5349240" cy="384048"/>
          </a:xfrm>
          <a:prstGeom prst="roundRect">
            <a:avLst>
              <a:gd name="adj" fmla="val 11905"/>
            </a:avLst>
          </a:prstGeom>
          <a:solidFill>
            <a:srgbClr val="FFFFFF"/>
          </a:solidFill>
          <a:ln w="12700">
            <a:solidFill>
              <a:srgbClr val="E3EBDF"/>
            </a:solidFill>
            <a:prstDash val="solid"/>
          </a:ln>
        </p:spPr>
      </p:sp>
      <p:sp>
        <p:nvSpPr>
          <p:cNvPr id="28" name="Text 25"/>
          <p:cNvSpPr txBox="1"/>
          <p:nvPr/>
        </p:nvSpPr>
        <p:spPr>
          <a:xfrm>
            <a:off x="841248" y="4590288"/>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update</a:t>
            </a:r>
            <a:endParaRPr lang="en-US" sz="1050" dirty="0"/>
          </a:p>
        </p:txBody>
      </p:sp>
      <p:sp>
        <p:nvSpPr>
          <p:cNvPr id="29" name="Text 26"/>
          <p:cNvSpPr txBox="1"/>
          <p:nvPr/>
        </p:nvSpPr>
        <p:spPr>
          <a:xfrm>
            <a:off x="2788920" y="4590288"/>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Memperbarui paket sesuai rentang versi</a:t>
            </a:r>
            <a:endParaRPr lang="en-US" sz="1050" dirty="0"/>
          </a:p>
        </p:txBody>
      </p:sp>
      <p:sp>
        <p:nvSpPr>
          <p:cNvPr id="30" name="Shape 27"/>
          <p:cNvSpPr/>
          <p:nvPr/>
        </p:nvSpPr>
        <p:spPr>
          <a:xfrm>
            <a:off x="6263640" y="1645920"/>
            <a:ext cx="5349240" cy="384048"/>
          </a:xfrm>
          <a:prstGeom prst="roundRect">
            <a:avLst>
              <a:gd name="adj" fmla="val 11905"/>
            </a:avLst>
          </a:prstGeom>
          <a:solidFill>
            <a:srgbClr val="0B2015"/>
          </a:solidFill>
          <a:ln w="12700">
            <a:solidFill>
              <a:srgbClr val="0B2015"/>
            </a:solidFill>
            <a:prstDash val="solid"/>
          </a:ln>
        </p:spPr>
      </p:sp>
      <p:sp>
        <p:nvSpPr>
          <p:cNvPr id="31" name="Text 28"/>
          <p:cNvSpPr txBox="1"/>
          <p:nvPr/>
        </p:nvSpPr>
        <p:spPr>
          <a:xfrm>
            <a:off x="6464808" y="1645920"/>
            <a:ext cx="192024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Perintah</a:t>
            </a:r>
            <a:endParaRPr lang="en-US" sz="1050" dirty="0"/>
          </a:p>
        </p:txBody>
      </p:sp>
      <p:sp>
        <p:nvSpPr>
          <p:cNvPr id="32" name="Text 29"/>
          <p:cNvSpPr txBox="1"/>
          <p:nvPr/>
        </p:nvSpPr>
        <p:spPr>
          <a:xfrm>
            <a:off x="8412480" y="1645920"/>
            <a:ext cx="310896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Kegunaan</a:t>
            </a:r>
            <a:endParaRPr lang="en-US" sz="1050" dirty="0"/>
          </a:p>
        </p:txBody>
      </p:sp>
      <p:sp>
        <p:nvSpPr>
          <p:cNvPr id="33" name="Shape 30"/>
          <p:cNvSpPr/>
          <p:nvPr/>
        </p:nvSpPr>
        <p:spPr>
          <a:xfrm>
            <a:off x="6263640" y="2066544"/>
            <a:ext cx="5349240" cy="384048"/>
          </a:xfrm>
          <a:prstGeom prst="roundRect">
            <a:avLst>
              <a:gd name="adj" fmla="val 11905"/>
            </a:avLst>
          </a:prstGeom>
          <a:solidFill>
            <a:srgbClr val="FFFFFF"/>
          </a:solidFill>
          <a:ln w="12700">
            <a:solidFill>
              <a:srgbClr val="E3EBDF"/>
            </a:solidFill>
            <a:prstDash val="solid"/>
          </a:ln>
        </p:spPr>
      </p:sp>
      <p:sp>
        <p:nvSpPr>
          <p:cNvPr id="34" name="Text 31"/>
          <p:cNvSpPr txBox="1"/>
          <p:nvPr/>
        </p:nvSpPr>
        <p:spPr>
          <a:xfrm>
            <a:off x="6464808" y="2066544"/>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run &lt;skrip&gt;</a:t>
            </a:r>
            <a:endParaRPr lang="en-US" sz="1050" dirty="0"/>
          </a:p>
        </p:txBody>
      </p:sp>
      <p:sp>
        <p:nvSpPr>
          <p:cNvPr id="35" name="Text 32"/>
          <p:cNvSpPr txBox="1"/>
          <p:nvPr/>
        </p:nvSpPr>
        <p:spPr>
          <a:xfrm>
            <a:off x="8412480" y="2066544"/>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Menjalankan skrip dari bagian scripts</a:t>
            </a:r>
            <a:endParaRPr lang="en-US" sz="1050" dirty="0"/>
          </a:p>
        </p:txBody>
      </p:sp>
      <p:sp>
        <p:nvSpPr>
          <p:cNvPr id="36" name="Shape 33"/>
          <p:cNvSpPr/>
          <p:nvPr/>
        </p:nvSpPr>
        <p:spPr>
          <a:xfrm>
            <a:off x="6263640" y="2487168"/>
            <a:ext cx="5349240" cy="384048"/>
          </a:xfrm>
          <a:prstGeom prst="roundRect">
            <a:avLst>
              <a:gd name="adj" fmla="val 11905"/>
            </a:avLst>
          </a:prstGeom>
          <a:solidFill>
            <a:srgbClr val="EDF3E9"/>
          </a:solidFill>
          <a:ln w="12700">
            <a:solidFill>
              <a:srgbClr val="E3EBDF"/>
            </a:solidFill>
            <a:prstDash val="solid"/>
          </a:ln>
        </p:spPr>
      </p:sp>
      <p:sp>
        <p:nvSpPr>
          <p:cNvPr id="37" name="Text 34"/>
          <p:cNvSpPr txBox="1"/>
          <p:nvPr/>
        </p:nvSpPr>
        <p:spPr>
          <a:xfrm>
            <a:off x="6464808" y="2487168"/>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start</a:t>
            </a:r>
            <a:endParaRPr lang="en-US" sz="1050" dirty="0"/>
          </a:p>
        </p:txBody>
      </p:sp>
      <p:sp>
        <p:nvSpPr>
          <p:cNvPr id="38" name="Text 35"/>
          <p:cNvSpPr txBox="1"/>
          <p:nvPr/>
        </p:nvSpPr>
        <p:spPr>
          <a:xfrm>
            <a:off x="8412480" y="2487168"/>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Pintasan untuk menjalankan skrip start</a:t>
            </a:r>
            <a:endParaRPr lang="en-US" sz="1050" dirty="0"/>
          </a:p>
        </p:txBody>
      </p:sp>
      <p:sp>
        <p:nvSpPr>
          <p:cNvPr id="39" name="Shape 36"/>
          <p:cNvSpPr/>
          <p:nvPr/>
        </p:nvSpPr>
        <p:spPr>
          <a:xfrm>
            <a:off x="6263640" y="2907792"/>
            <a:ext cx="5349240" cy="384048"/>
          </a:xfrm>
          <a:prstGeom prst="roundRect">
            <a:avLst>
              <a:gd name="adj" fmla="val 11905"/>
            </a:avLst>
          </a:prstGeom>
          <a:solidFill>
            <a:srgbClr val="FFFFFF"/>
          </a:solidFill>
          <a:ln w="12700">
            <a:solidFill>
              <a:srgbClr val="E3EBDF"/>
            </a:solidFill>
            <a:prstDash val="solid"/>
          </a:ln>
        </p:spPr>
      </p:sp>
      <p:sp>
        <p:nvSpPr>
          <p:cNvPr id="40" name="Text 37"/>
          <p:cNvSpPr txBox="1"/>
          <p:nvPr/>
        </p:nvSpPr>
        <p:spPr>
          <a:xfrm>
            <a:off x="6464808" y="2907792"/>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test</a:t>
            </a:r>
            <a:endParaRPr lang="en-US" sz="1050" dirty="0"/>
          </a:p>
        </p:txBody>
      </p:sp>
      <p:sp>
        <p:nvSpPr>
          <p:cNvPr id="41" name="Text 38"/>
          <p:cNvSpPr txBox="1"/>
          <p:nvPr/>
        </p:nvSpPr>
        <p:spPr>
          <a:xfrm>
            <a:off x="8412480" y="2907792"/>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Pintasan untuk menjalankan skrip test</a:t>
            </a:r>
            <a:endParaRPr lang="en-US" sz="1050" dirty="0"/>
          </a:p>
        </p:txBody>
      </p:sp>
      <p:sp>
        <p:nvSpPr>
          <p:cNvPr id="42" name="Shape 39"/>
          <p:cNvSpPr/>
          <p:nvPr/>
        </p:nvSpPr>
        <p:spPr>
          <a:xfrm>
            <a:off x="6263640" y="3328416"/>
            <a:ext cx="5349240" cy="384048"/>
          </a:xfrm>
          <a:prstGeom prst="roundRect">
            <a:avLst>
              <a:gd name="adj" fmla="val 11905"/>
            </a:avLst>
          </a:prstGeom>
          <a:solidFill>
            <a:srgbClr val="EDF3E9"/>
          </a:solidFill>
          <a:ln w="12700">
            <a:solidFill>
              <a:srgbClr val="E3EBDF"/>
            </a:solidFill>
            <a:prstDash val="solid"/>
          </a:ln>
        </p:spPr>
      </p:sp>
      <p:sp>
        <p:nvSpPr>
          <p:cNvPr id="43" name="Text 40"/>
          <p:cNvSpPr txBox="1"/>
          <p:nvPr/>
        </p:nvSpPr>
        <p:spPr>
          <a:xfrm>
            <a:off x="6464808" y="3328416"/>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list</a:t>
            </a:r>
            <a:endParaRPr lang="en-US" sz="1050" dirty="0"/>
          </a:p>
        </p:txBody>
      </p:sp>
      <p:sp>
        <p:nvSpPr>
          <p:cNvPr id="44" name="Text 41"/>
          <p:cNvSpPr txBox="1"/>
          <p:nvPr/>
        </p:nvSpPr>
        <p:spPr>
          <a:xfrm>
            <a:off x="8412480" y="3328416"/>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Menampilkan pohon dependensi proyek</a:t>
            </a:r>
            <a:endParaRPr lang="en-US" sz="1050" dirty="0"/>
          </a:p>
        </p:txBody>
      </p:sp>
      <p:sp>
        <p:nvSpPr>
          <p:cNvPr id="45" name="Shape 42"/>
          <p:cNvSpPr/>
          <p:nvPr/>
        </p:nvSpPr>
        <p:spPr>
          <a:xfrm>
            <a:off x="6263640" y="3749040"/>
            <a:ext cx="5349240" cy="384048"/>
          </a:xfrm>
          <a:prstGeom prst="roundRect">
            <a:avLst>
              <a:gd name="adj" fmla="val 11905"/>
            </a:avLst>
          </a:prstGeom>
          <a:solidFill>
            <a:srgbClr val="FFFFFF"/>
          </a:solidFill>
          <a:ln w="12700">
            <a:solidFill>
              <a:srgbClr val="E3EBDF"/>
            </a:solidFill>
            <a:prstDash val="solid"/>
          </a:ln>
        </p:spPr>
      </p:sp>
      <p:sp>
        <p:nvSpPr>
          <p:cNvPr id="46" name="Text 43"/>
          <p:cNvSpPr txBox="1"/>
          <p:nvPr/>
        </p:nvSpPr>
        <p:spPr>
          <a:xfrm>
            <a:off x="6464808" y="3749040"/>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outdated</a:t>
            </a:r>
            <a:endParaRPr lang="en-US" sz="1050" dirty="0"/>
          </a:p>
        </p:txBody>
      </p:sp>
      <p:sp>
        <p:nvSpPr>
          <p:cNvPr id="47" name="Text 44"/>
          <p:cNvSpPr txBox="1"/>
          <p:nvPr/>
        </p:nvSpPr>
        <p:spPr>
          <a:xfrm>
            <a:off x="8412480" y="3749040"/>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Menampilkan paket yang sudah usang</a:t>
            </a:r>
            <a:endParaRPr lang="en-US" sz="1050" dirty="0"/>
          </a:p>
        </p:txBody>
      </p:sp>
      <p:sp>
        <p:nvSpPr>
          <p:cNvPr id="48" name="Shape 45"/>
          <p:cNvSpPr/>
          <p:nvPr/>
        </p:nvSpPr>
        <p:spPr>
          <a:xfrm>
            <a:off x="6263640" y="4169664"/>
            <a:ext cx="5349240" cy="384048"/>
          </a:xfrm>
          <a:prstGeom prst="roundRect">
            <a:avLst>
              <a:gd name="adj" fmla="val 11905"/>
            </a:avLst>
          </a:prstGeom>
          <a:solidFill>
            <a:srgbClr val="EDF3E9"/>
          </a:solidFill>
          <a:ln w="12700">
            <a:solidFill>
              <a:srgbClr val="E3EBDF"/>
            </a:solidFill>
            <a:prstDash val="solid"/>
          </a:ln>
        </p:spPr>
      </p:sp>
      <p:sp>
        <p:nvSpPr>
          <p:cNvPr id="49" name="Text 46"/>
          <p:cNvSpPr txBox="1"/>
          <p:nvPr/>
        </p:nvSpPr>
        <p:spPr>
          <a:xfrm>
            <a:off x="6464808" y="4169664"/>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npm audit fix</a:t>
            </a:r>
            <a:endParaRPr lang="en-US" sz="1050" dirty="0"/>
          </a:p>
        </p:txBody>
      </p:sp>
      <p:sp>
        <p:nvSpPr>
          <p:cNvPr id="50" name="Text 47"/>
          <p:cNvSpPr txBox="1"/>
          <p:nvPr/>
        </p:nvSpPr>
        <p:spPr>
          <a:xfrm>
            <a:off x="8412480" y="4169664"/>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Memperbaiki kerentanan keamanan otomatis</a:t>
            </a:r>
            <a:endParaRPr lang="en-US" sz="1050" dirty="0"/>
          </a:p>
        </p:txBody>
      </p:sp>
      <p:sp>
        <p:nvSpPr>
          <p:cNvPr id="51" name="Shape 48"/>
          <p:cNvSpPr/>
          <p:nvPr/>
        </p:nvSpPr>
        <p:spPr>
          <a:xfrm>
            <a:off x="6263640" y="4590288"/>
            <a:ext cx="5349240" cy="384048"/>
          </a:xfrm>
          <a:prstGeom prst="roundRect">
            <a:avLst>
              <a:gd name="adj" fmla="val 11905"/>
            </a:avLst>
          </a:prstGeom>
          <a:solidFill>
            <a:srgbClr val="FFFFFF"/>
          </a:solidFill>
          <a:ln w="12700">
            <a:solidFill>
              <a:srgbClr val="E3EBDF"/>
            </a:solidFill>
            <a:prstDash val="solid"/>
          </a:ln>
        </p:spPr>
      </p:sp>
      <p:sp>
        <p:nvSpPr>
          <p:cNvPr id="52" name="Text 49"/>
          <p:cNvSpPr txBox="1"/>
          <p:nvPr/>
        </p:nvSpPr>
        <p:spPr>
          <a:xfrm>
            <a:off x="6464808" y="4590288"/>
            <a:ext cx="1920240" cy="384048"/>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npx &lt;paket&gt;</a:t>
            </a:r>
            <a:endParaRPr lang="en-US" sz="1050" dirty="0"/>
          </a:p>
        </p:txBody>
      </p:sp>
      <p:sp>
        <p:nvSpPr>
          <p:cNvPr id="53" name="Text 50"/>
          <p:cNvSpPr txBox="1"/>
          <p:nvPr/>
        </p:nvSpPr>
        <p:spPr>
          <a:xfrm>
            <a:off x="8412480" y="4590288"/>
            <a:ext cx="3108960" cy="384048"/>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Menjalankan paket tanpa memasangnya</a:t>
            </a:r>
            <a:endParaRPr lang="en-US" sz="1050" dirty="0"/>
          </a:p>
        </p:txBody>
      </p:sp>
      <p:sp>
        <p:nvSpPr>
          <p:cNvPr id="54" name="Shape 51"/>
          <p:cNvSpPr/>
          <p:nvPr/>
        </p:nvSpPr>
        <p:spPr>
          <a:xfrm>
            <a:off x="640080" y="5266944"/>
            <a:ext cx="420624" cy="420624"/>
          </a:xfrm>
          <a:prstGeom prst="roundRect">
            <a:avLst>
              <a:gd name="adj" fmla="val 26087"/>
            </a:avLst>
          </a:prstGeom>
          <a:solidFill>
            <a:srgbClr val="E8F2E2"/>
          </a:solidFill>
          <a:ln w="12700">
            <a:solidFill>
              <a:srgbClr val="E8F2E2"/>
            </a:solidFill>
            <a:prstDash val="solid"/>
          </a:ln>
        </p:spPr>
      </p:sp>
      <p:pic>
        <p:nvPicPr>
          <p:cNvPr id="55" name="Image 1" descr="preencoded.png">    </p:cNvPr>
          <p:cNvPicPr>
            <a:picLocks noChangeAspect="1"/>
          </p:cNvPicPr>
          <p:nvPr/>
        </p:nvPicPr>
        <p:blipFill>
          <a:blip r:embed="rId2"/>
          <a:stretch>
            <a:fillRect/>
          </a:stretch>
        </p:blipFill>
        <p:spPr>
          <a:xfrm>
            <a:off x="745236" y="5372100"/>
            <a:ext cx="210312" cy="210312"/>
          </a:xfrm>
          <a:prstGeom prst="rect">
            <a:avLst/>
          </a:prstGeom>
        </p:spPr>
      </p:pic>
      <p:sp>
        <p:nvSpPr>
          <p:cNvPr id="56" name="Text 52"/>
          <p:cNvSpPr txBox="1"/>
          <p:nvPr/>
        </p:nvSpPr>
        <p:spPr>
          <a:xfrm>
            <a:off x="1207008" y="5248656"/>
            <a:ext cx="29535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npx</a:t>
            </a:r>
            <a:endParaRPr lang="en-US" sz="1250" dirty="0"/>
          </a:p>
        </p:txBody>
      </p:sp>
      <p:sp>
        <p:nvSpPr>
          <p:cNvPr id="57" name="Text 53"/>
          <p:cNvSpPr txBox="1"/>
          <p:nvPr/>
        </p:nvSpPr>
        <p:spPr>
          <a:xfrm>
            <a:off x="1207008" y="5504688"/>
            <a:ext cx="295351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Menjalankan paket sekali pakai tanpa instalasi permanen.</a:t>
            </a:r>
            <a:endParaRPr lang="en-US" sz="1030" dirty="0"/>
          </a:p>
        </p:txBody>
      </p:sp>
      <p:sp>
        <p:nvSpPr>
          <p:cNvPr id="58" name="Shape 54"/>
          <p:cNvSpPr/>
          <p:nvPr/>
        </p:nvSpPr>
        <p:spPr>
          <a:xfrm>
            <a:off x="4443984" y="5266944"/>
            <a:ext cx="420624" cy="420624"/>
          </a:xfrm>
          <a:prstGeom prst="roundRect">
            <a:avLst>
              <a:gd name="adj" fmla="val 26087"/>
            </a:avLst>
          </a:prstGeom>
          <a:solidFill>
            <a:srgbClr val="E8F2E2"/>
          </a:solidFill>
          <a:ln w="12700">
            <a:solidFill>
              <a:srgbClr val="E8F2E2"/>
            </a:solidFill>
            <a:prstDash val="solid"/>
          </a:ln>
        </p:spPr>
      </p:sp>
      <p:pic>
        <p:nvPicPr>
          <p:cNvPr id="59" name="Image 2" descr="preencoded.png">    </p:cNvPr>
          <p:cNvPicPr>
            <a:picLocks noChangeAspect="1"/>
          </p:cNvPicPr>
          <p:nvPr/>
        </p:nvPicPr>
        <p:blipFill>
          <a:blip r:embed="rId3"/>
          <a:stretch>
            <a:fillRect/>
          </a:stretch>
        </p:blipFill>
        <p:spPr>
          <a:xfrm>
            <a:off x="4549140" y="5372100"/>
            <a:ext cx="210312" cy="210312"/>
          </a:xfrm>
          <a:prstGeom prst="rect">
            <a:avLst/>
          </a:prstGeom>
        </p:spPr>
      </p:pic>
      <p:sp>
        <p:nvSpPr>
          <p:cNvPr id="60" name="Text 55"/>
          <p:cNvSpPr txBox="1"/>
          <p:nvPr/>
        </p:nvSpPr>
        <p:spPr>
          <a:xfrm>
            <a:off x="5010912" y="5248656"/>
            <a:ext cx="29535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package-lock.json</a:t>
            </a:r>
            <a:endParaRPr lang="en-US" sz="1250" dirty="0"/>
          </a:p>
        </p:txBody>
      </p:sp>
      <p:sp>
        <p:nvSpPr>
          <p:cNvPr id="61" name="Text 56"/>
          <p:cNvSpPr txBox="1"/>
          <p:nvPr/>
        </p:nvSpPr>
        <p:spPr>
          <a:xfrm>
            <a:off x="5010912" y="5504688"/>
            <a:ext cx="295351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Mengunci versi persis dependensi. Sertakan ke dalam Git.</a:t>
            </a:r>
            <a:endParaRPr lang="en-US" sz="1030" dirty="0"/>
          </a:p>
        </p:txBody>
      </p:sp>
      <p:sp>
        <p:nvSpPr>
          <p:cNvPr id="62" name="Shape 57"/>
          <p:cNvSpPr/>
          <p:nvPr/>
        </p:nvSpPr>
        <p:spPr>
          <a:xfrm>
            <a:off x="8247888" y="5266944"/>
            <a:ext cx="420624" cy="420624"/>
          </a:xfrm>
          <a:prstGeom prst="roundRect">
            <a:avLst>
              <a:gd name="adj" fmla="val 26087"/>
            </a:avLst>
          </a:prstGeom>
          <a:solidFill>
            <a:srgbClr val="E8F2E2"/>
          </a:solidFill>
          <a:ln w="12700">
            <a:solidFill>
              <a:srgbClr val="E8F2E2"/>
            </a:solidFill>
            <a:prstDash val="solid"/>
          </a:ln>
        </p:spPr>
      </p:sp>
      <p:pic>
        <p:nvPicPr>
          <p:cNvPr id="63" name="Image 3" descr="preencoded.png">    </p:cNvPr>
          <p:cNvPicPr>
            <a:picLocks noChangeAspect="1"/>
          </p:cNvPicPr>
          <p:nvPr/>
        </p:nvPicPr>
        <p:blipFill>
          <a:blip r:embed="rId4"/>
          <a:stretch>
            <a:fillRect/>
          </a:stretch>
        </p:blipFill>
        <p:spPr>
          <a:xfrm>
            <a:off x="8353044" y="5372100"/>
            <a:ext cx="210312" cy="210312"/>
          </a:xfrm>
          <a:prstGeom prst="rect">
            <a:avLst/>
          </a:prstGeom>
        </p:spPr>
      </p:pic>
      <p:sp>
        <p:nvSpPr>
          <p:cNvPr id="64" name="Text 58"/>
          <p:cNvSpPr txBox="1"/>
          <p:nvPr/>
        </p:nvSpPr>
        <p:spPr>
          <a:xfrm>
            <a:off x="8814816" y="5248656"/>
            <a:ext cx="29535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npm ci</a:t>
            </a:r>
            <a:endParaRPr lang="en-US" sz="1250" dirty="0"/>
          </a:p>
        </p:txBody>
      </p:sp>
      <p:sp>
        <p:nvSpPr>
          <p:cNvPr id="65" name="Text 59"/>
          <p:cNvSpPr txBox="1"/>
          <p:nvPr/>
        </p:nvSpPr>
        <p:spPr>
          <a:xfrm>
            <a:off x="8814816" y="5504688"/>
            <a:ext cx="2953512" cy="40233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Instalasi bersih dari lock file. Cocok untuk pipeline CI/CD.</a:t>
            </a:r>
            <a:endParaRPr lang="en-US" sz="1030" dirty="0"/>
          </a:p>
        </p:txBody>
      </p:sp>
      <p:sp>
        <p:nvSpPr>
          <p:cNvPr id="66" name="Text 60"/>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67" name="Text 6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Semantic Versioning</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Membaca arti nomor versi agar pembaruan paket tidak merusak aplikasi</a:t>
            </a:r>
            <a:endParaRPr lang="en-US" sz="1300" dirty="0"/>
          </a:p>
        </p:txBody>
      </p:sp>
      <p:sp>
        <p:nvSpPr>
          <p:cNvPr id="6" name="Shape 3"/>
          <p:cNvSpPr/>
          <p:nvPr/>
        </p:nvSpPr>
        <p:spPr>
          <a:xfrm>
            <a:off x="640080" y="1627632"/>
            <a:ext cx="5577840" cy="1737360"/>
          </a:xfrm>
          <a:prstGeom prst="roundRect">
            <a:avLst>
              <a:gd name="adj" fmla="val 4737"/>
            </a:avLst>
          </a:prstGeom>
          <a:solidFill>
            <a:srgbClr val="0B2015"/>
          </a:solidFill>
          <a:ln w="12700">
            <a:solidFill>
              <a:srgbClr val="0B2015"/>
            </a:solidFill>
            <a:prstDash val="solid"/>
          </a:ln>
        </p:spPr>
      </p:sp>
      <p:sp>
        <p:nvSpPr>
          <p:cNvPr id="7" name="Text 4"/>
          <p:cNvSpPr txBox="1"/>
          <p:nvPr/>
        </p:nvSpPr>
        <p:spPr>
          <a:xfrm>
            <a:off x="640080" y="1773936"/>
            <a:ext cx="5577840" cy="731520"/>
          </a:xfrm>
          <a:prstGeom prst="rect">
            <a:avLst/>
          </a:prstGeom>
          <a:noFill/>
          <a:ln/>
        </p:spPr>
        <p:txBody>
          <a:bodyPr wrap="square" lIns="0" tIns="0" rIns="0" bIns="0" rtlCol="0" anchor="ctr"/>
          <a:lstStyle/>
          <a:p>
            <a:pPr algn="ctr" indent="0" marL="0">
              <a:buNone/>
            </a:pPr>
            <a:r>
              <a:rPr lang="en-US" sz="3800" b="1" dirty="0">
                <a:solidFill>
                  <a:srgbClr val="8CC84B"/>
                </a:solidFill>
                <a:latin typeface="Courier New" pitchFamily="34" charset="0"/>
                <a:ea typeface="Courier New" pitchFamily="34" charset="-122"/>
                <a:cs typeface="Courier New" pitchFamily="34" charset="-120"/>
              </a:rPr>
              <a:t>4 . 19 . 2</a:t>
            </a:r>
            <a:endParaRPr lang="en-US" sz="3800" dirty="0"/>
          </a:p>
        </p:txBody>
      </p:sp>
      <p:sp>
        <p:nvSpPr>
          <p:cNvPr id="8" name="Text 5"/>
          <p:cNvSpPr txBox="1"/>
          <p:nvPr/>
        </p:nvSpPr>
        <p:spPr>
          <a:xfrm>
            <a:off x="731520" y="2523744"/>
            <a:ext cx="1280160" cy="274320"/>
          </a:xfrm>
          <a:prstGeom prst="rect">
            <a:avLst/>
          </a:prstGeom>
          <a:noFill/>
          <a:ln/>
        </p:spPr>
        <p:txBody>
          <a:bodyPr wrap="square" lIns="0" tIns="0" rIns="0" bIns="0" rtlCol="0" anchor="ctr"/>
          <a:lstStyle/>
          <a:p>
            <a:pPr algn="ctr" indent="0" marL="0">
              <a:buNone/>
            </a:pPr>
            <a:r>
              <a:rPr lang="en-US" sz="1100" b="1" spc="120" kern="0" dirty="0">
                <a:solidFill>
                  <a:srgbClr val="9CC7A6"/>
                </a:solidFill>
                <a:latin typeface="Calibri" pitchFamily="34" charset="0"/>
                <a:ea typeface="Calibri" pitchFamily="34" charset="-122"/>
                <a:cs typeface="Calibri" pitchFamily="34" charset="-120"/>
              </a:rPr>
              <a:t>MAJOR</a:t>
            </a:r>
            <a:endParaRPr lang="en-US" sz="1100" dirty="0"/>
          </a:p>
        </p:txBody>
      </p:sp>
      <p:sp>
        <p:nvSpPr>
          <p:cNvPr id="9" name="Text 6"/>
          <p:cNvSpPr txBox="1"/>
          <p:nvPr/>
        </p:nvSpPr>
        <p:spPr>
          <a:xfrm>
            <a:off x="2788920" y="2523744"/>
            <a:ext cx="1280160" cy="274320"/>
          </a:xfrm>
          <a:prstGeom prst="rect">
            <a:avLst/>
          </a:prstGeom>
          <a:noFill/>
          <a:ln/>
        </p:spPr>
        <p:txBody>
          <a:bodyPr wrap="square" lIns="0" tIns="0" rIns="0" bIns="0" rtlCol="0" anchor="ctr"/>
          <a:lstStyle/>
          <a:p>
            <a:pPr algn="ctr" indent="0" marL="0">
              <a:buNone/>
            </a:pPr>
            <a:r>
              <a:rPr lang="en-US" sz="1100" b="1" spc="120" kern="0" dirty="0">
                <a:solidFill>
                  <a:srgbClr val="9CC7A6"/>
                </a:solidFill>
                <a:latin typeface="Calibri" pitchFamily="34" charset="0"/>
                <a:ea typeface="Calibri" pitchFamily="34" charset="-122"/>
                <a:cs typeface="Calibri" pitchFamily="34" charset="-120"/>
              </a:rPr>
              <a:t>MINOR</a:t>
            </a:r>
            <a:endParaRPr lang="en-US" sz="1100" dirty="0"/>
          </a:p>
        </p:txBody>
      </p:sp>
      <p:sp>
        <p:nvSpPr>
          <p:cNvPr id="10" name="Text 7"/>
          <p:cNvSpPr txBox="1"/>
          <p:nvPr/>
        </p:nvSpPr>
        <p:spPr>
          <a:xfrm>
            <a:off x="4434840" y="2523744"/>
            <a:ext cx="1280160" cy="274320"/>
          </a:xfrm>
          <a:prstGeom prst="rect">
            <a:avLst/>
          </a:prstGeom>
          <a:noFill/>
          <a:ln/>
        </p:spPr>
        <p:txBody>
          <a:bodyPr wrap="square" lIns="0" tIns="0" rIns="0" bIns="0" rtlCol="0" anchor="ctr"/>
          <a:lstStyle/>
          <a:p>
            <a:pPr algn="ctr" indent="0" marL="0">
              <a:buNone/>
            </a:pPr>
            <a:r>
              <a:rPr lang="en-US" sz="1100" b="1" spc="120" kern="0" dirty="0">
                <a:solidFill>
                  <a:srgbClr val="9CC7A6"/>
                </a:solidFill>
                <a:latin typeface="Calibri" pitchFamily="34" charset="0"/>
                <a:ea typeface="Calibri" pitchFamily="34" charset="-122"/>
                <a:cs typeface="Calibri" pitchFamily="34" charset="-120"/>
              </a:rPr>
              <a:t>PATCH</a:t>
            </a:r>
            <a:endParaRPr lang="en-US" sz="1100" dirty="0"/>
          </a:p>
        </p:txBody>
      </p:sp>
      <p:sp>
        <p:nvSpPr>
          <p:cNvPr id="11" name="Text 8"/>
          <p:cNvSpPr txBox="1"/>
          <p:nvPr/>
        </p:nvSpPr>
        <p:spPr>
          <a:xfrm>
            <a:off x="914400" y="2871216"/>
            <a:ext cx="5120640" cy="182880"/>
          </a:xfrm>
          <a:prstGeom prst="rect">
            <a:avLst/>
          </a:prstGeom>
          <a:noFill/>
          <a:ln/>
        </p:spPr>
        <p:txBody>
          <a:bodyPr wrap="square" lIns="0" tIns="0" rIns="0" bIns="0" rtlCol="0" anchor="ctr"/>
          <a:lstStyle/>
          <a:p>
            <a:pPr indent="0" marL="0">
              <a:buNone/>
            </a:pPr>
            <a:r>
              <a:rPr lang="en-US" sz="960" b="1" dirty="0">
                <a:solidFill>
                  <a:srgbClr val="8CC84B"/>
                </a:solidFill>
                <a:latin typeface="Courier New" pitchFamily="34" charset="0"/>
                <a:ea typeface="Courier New" pitchFamily="34" charset="-122"/>
                <a:cs typeface="Courier New" pitchFamily="34" charset="-120"/>
              </a:rPr>
              <a:t>MAJOR — </a:t>
            </a:r>
            <a:pPr indent="0" marL="0">
              <a:buNone/>
            </a:pPr>
            <a:r>
              <a:rPr lang="en-US" sz="960" dirty="0">
                <a:solidFill>
                  <a:srgbClr val="BCD6C1"/>
                </a:solidFill>
                <a:latin typeface="Calibri" pitchFamily="34" charset="0"/>
                <a:ea typeface="Calibri" pitchFamily="34" charset="-122"/>
                <a:cs typeface="Calibri" pitchFamily="34" charset="-120"/>
              </a:rPr>
              <a:t>Perubahan yang merusak kompatibilitas</a:t>
            </a:r>
            <a:endParaRPr lang="en-US" sz="960" dirty="0"/>
          </a:p>
        </p:txBody>
      </p:sp>
      <p:sp>
        <p:nvSpPr>
          <p:cNvPr id="12" name="Text 9"/>
          <p:cNvSpPr txBox="1"/>
          <p:nvPr/>
        </p:nvSpPr>
        <p:spPr>
          <a:xfrm>
            <a:off x="914400" y="3044952"/>
            <a:ext cx="5120640" cy="182880"/>
          </a:xfrm>
          <a:prstGeom prst="rect">
            <a:avLst/>
          </a:prstGeom>
          <a:noFill/>
          <a:ln/>
        </p:spPr>
        <p:txBody>
          <a:bodyPr wrap="square" lIns="0" tIns="0" rIns="0" bIns="0" rtlCol="0" anchor="ctr"/>
          <a:lstStyle/>
          <a:p>
            <a:pPr indent="0" marL="0">
              <a:buNone/>
            </a:pPr>
            <a:r>
              <a:rPr lang="en-US" sz="960" b="1" dirty="0">
                <a:solidFill>
                  <a:srgbClr val="8CC84B"/>
                </a:solidFill>
                <a:latin typeface="Courier New" pitchFamily="34" charset="0"/>
                <a:ea typeface="Courier New" pitchFamily="34" charset="-122"/>
                <a:cs typeface="Courier New" pitchFamily="34" charset="-120"/>
              </a:rPr>
              <a:t>MINOR — </a:t>
            </a:r>
            <a:pPr indent="0" marL="0">
              <a:buNone/>
            </a:pPr>
            <a:r>
              <a:rPr lang="en-US" sz="960" dirty="0">
                <a:solidFill>
                  <a:srgbClr val="BCD6C1"/>
                </a:solidFill>
                <a:latin typeface="Calibri" pitchFamily="34" charset="0"/>
                <a:ea typeface="Calibri" pitchFamily="34" charset="-122"/>
                <a:cs typeface="Calibri" pitchFamily="34" charset="-120"/>
              </a:rPr>
              <a:t>Fitur baru namun tetap kompatibel</a:t>
            </a:r>
            <a:endParaRPr lang="en-US" sz="960" dirty="0"/>
          </a:p>
        </p:txBody>
      </p:sp>
      <p:sp>
        <p:nvSpPr>
          <p:cNvPr id="13" name="Text 10"/>
          <p:cNvSpPr txBox="1"/>
          <p:nvPr/>
        </p:nvSpPr>
        <p:spPr>
          <a:xfrm>
            <a:off x="914400" y="3218688"/>
            <a:ext cx="5120640" cy="182880"/>
          </a:xfrm>
          <a:prstGeom prst="rect">
            <a:avLst/>
          </a:prstGeom>
          <a:noFill/>
          <a:ln/>
        </p:spPr>
        <p:txBody>
          <a:bodyPr wrap="square" lIns="0" tIns="0" rIns="0" bIns="0" rtlCol="0" anchor="ctr"/>
          <a:lstStyle/>
          <a:p>
            <a:pPr indent="0" marL="0">
              <a:buNone/>
            </a:pPr>
            <a:r>
              <a:rPr lang="en-US" sz="960" b="1" dirty="0">
                <a:solidFill>
                  <a:srgbClr val="8CC84B"/>
                </a:solidFill>
                <a:latin typeface="Courier New" pitchFamily="34" charset="0"/>
                <a:ea typeface="Courier New" pitchFamily="34" charset="-122"/>
                <a:cs typeface="Courier New" pitchFamily="34" charset="-120"/>
              </a:rPr>
              <a:t>PATCH — </a:t>
            </a:r>
            <a:pPr indent="0" marL="0">
              <a:buNone/>
            </a:pPr>
            <a:r>
              <a:rPr lang="en-US" sz="960" dirty="0">
                <a:solidFill>
                  <a:srgbClr val="BCD6C1"/>
                </a:solidFill>
                <a:latin typeface="Calibri" pitchFamily="34" charset="0"/>
                <a:ea typeface="Calibri" pitchFamily="34" charset="-122"/>
                <a:cs typeface="Calibri" pitchFamily="34" charset="-120"/>
              </a:rPr>
              <a:t>Perbaikan bug tanpa fitur baru</a:t>
            </a:r>
            <a:endParaRPr lang="en-US" sz="960" dirty="0"/>
          </a:p>
        </p:txBody>
      </p:sp>
      <p:sp>
        <p:nvSpPr>
          <p:cNvPr id="14" name="Shape 11"/>
          <p:cNvSpPr/>
          <p:nvPr/>
        </p:nvSpPr>
        <p:spPr>
          <a:xfrm>
            <a:off x="6492240" y="1627632"/>
            <a:ext cx="5120640" cy="438912"/>
          </a:xfrm>
          <a:prstGeom prst="roundRect">
            <a:avLst>
              <a:gd name="adj" fmla="val 10417"/>
            </a:avLst>
          </a:prstGeom>
          <a:solidFill>
            <a:srgbClr val="0B2015"/>
          </a:solidFill>
          <a:ln w="12700">
            <a:solidFill>
              <a:srgbClr val="0B2015"/>
            </a:solidFill>
            <a:prstDash val="solid"/>
          </a:ln>
        </p:spPr>
      </p:sp>
      <p:sp>
        <p:nvSpPr>
          <p:cNvPr id="15" name="Text 12"/>
          <p:cNvSpPr txBox="1"/>
          <p:nvPr/>
        </p:nvSpPr>
        <p:spPr>
          <a:xfrm>
            <a:off x="6693408" y="1627632"/>
            <a:ext cx="1572768" cy="43891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Notasi</a:t>
            </a:r>
            <a:endParaRPr lang="en-US" sz="1050" dirty="0"/>
          </a:p>
        </p:txBody>
      </p:sp>
      <p:sp>
        <p:nvSpPr>
          <p:cNvPr id="16" name="Text 13"/>
          <p:cNvSpPr txBox="1"/>
          <p:nvPr/>
        </p:nvSpPr>
        <p:spPr>
          <a:xfrm>
            <a:off x="8321040" y="1627632"/>
            <a:ext cx="3108960" cy="438912"/>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Versi yang diizinkan</a:t>
            </a:r>
            <a:endParaRPr lang="en-US" sz="1050" dirty="0"/>
          </a:p>
        </p:txBody>
      </p:sp>
      <p:sp>
        <p:nvSpPr>
          <p:cNvPr id="17" name="Shape 14"/>
          <p:cNvSpPr/>
          <p:nvPr/>
        </p:nvSpPr>
        <p:spPr>
          <a:xfrm>
            <a:off x="6492240" y="2112264"/>
            <a:ext cx="5120640" cy="438912"/>
          </a:xfrm>
          <a:prstGeom prst="roundRect">
            <a:avLst>
              <a:gd name="adj" fmla="val 10417"/>
            </a:avLst>
          </a:prstGeom>
          <a:solidFill>
            <a:srgbClr val="FFFFFF"/>
          </a:solidFill>
          <a:ln w="12700">
            <a:solidFill>
              <a:srgbClr val="E3EBDF"/>
            </a:solidFill>
            <a:prstDash val="solid"/>
          </a:ln>
        </p:spPr>
      </p:sp>
      <p:sp>
        <p:nvSpPr>
          <p:cNvPr id="18" name="Text 15"/>
          <p:cNvSpPr txBox="1"/>
          <p:nvPr/>
        </p:nvSpPr>
        <p:spPr>
          <a:xfrm>
            <a:off x="6693408" y="2112264"/>
            <a:ext cx="1572768" cy="438912"/>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4.19.2</a:t>
            </a:r>
            <a:endParaRPr lang="en-US" sz="1050" dirty="0"/>
          </a:p>
        </p:txBody>
      </p:sp>
      <p:sp>
        <p:nvSpPr>
          <p:cNvPr id="19" name="Text 16"/>
          <p:cNvSpPr txBox="1"/>
          <p:nvPr/>
        </p:nvSpPr>
        <p:spPr>
          <a:xfrm>
            <a:off x="8321040" y="2112264"/>
            <a:ext cx="3108960" cy="438912"/>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Persis versi tersebut, tidak berubah</a:t>
            </a:r>
            <a:endParaRPr lang="en-US" sz="1050" dirty="0"/>
          </a:p>
        </p:txBody>
      </p:sp>
      <p:sp>
        <p:nvSpPr>
          <p:cNvPr id="20" name="Shape 17"/>
          <p:cNvSpPr/>
          <p:nvPr/>
        </p:nvSpPr>
        <p:spPr>
          <a:xfrm>
            <a:off x="6492240" y="2596896"/>
            <a:ext cx="5120640" cy="438912"/>
          </a:xfrm>
          <a:prstGeom prst="roundRect">
            <a:avLst>
              <a:gd name="adj" fmla="val 10417"/>
            </a:avLst>
          </a:prstGeom>
          <a:solidFill>
            <a:srgbClr val="EDF3E9"/>
          </a:solidFill>
          <a:ln w="12700">
            <a:solidFill>
              <a:srgbClr val="E3EBDF"/>
            </a:solidFill>
            <a:prstDash val="solid"/>
          </a:ln>
        </p:spPr>
      </p:sp>
      <p:sp>
        <p:nvSpPr>
          <p:cNvPr id="21" name="Text 18"/>
          <p:cNvSpPr txBox="1"/>
          <p:nvPr/>
        </p:nvSpPr>
        <p:spPr>
          <a:xfrm>
            <a:off x="6693408" y="2596896"/>
            <a:ext cx="1572768" cy="438912"/>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^4.19.2</a:t>
            </a:r>
            <a:endParaRPr lang="en-US" sz="1050" dirty="0"/>
          </a:p>
        </p:txBody>
      </p:sp>
      <p:sp>
        <p:nvSpPr>
          <p:cNvPr id="22" name="Text 19"/>
          <p:cNvSpPr txBox="1"/>
          <p:nvPr/>
        </p:nvSpPr>
        <p:spPr>
          <a:xfrm>
            <a:off x="8321040" y="2596896"/>
            <a:ext cx="3108960" cy="438912"/>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4.19.2 sampai di bawah 5.0.0</a:t>
            </a:r>
            <a:endParaRPr lang="en-US" sz="1050" dirty="0"/>
          </a:p>
        </p:txBody>
      </p:sp>
      <p:sp>
        <p:nvSpPr>
          <p:cNvPr id="23" name="Shape 20"/>
          <p:cNvSpPr/>
          <p:nvPr/>
        </p:nvSpPr>
        <p:spPr>
          <a:xfrm>
            <a:off x="6492240" y="3081528"/>
            <a:ext cx="5120640" cy="438912"/>
          </a:xfrm>
          <a:prstGeom prst="roundRect">
            <a:avLst>
              <a:gd name="adj" fmla="val 10417"/>
            </a:avLst>
          </a:prstGeom>
          <a:solidFill>
            <a:srgbClr val="FFFFFF"/>
          </a:solidFill>
          <a:ln w="12700">
            <a:solidFill>
              <a:srgbClr val="E3EBDF"/>
            </a:solidFill>
            <a:prstDash val="solid"/>
          </a:ln>
        </p:spPr>
      </p:sp>
      <p:sp>
        <p:nvSpPr>
          <p:cNvPr id="24" name="Text 21"/>
          <p:cNvSpPr txBox="1"/>
          <p:nvPr/>
        </p:nvSpPr>
        <p:spPr>
          <a:xfrm>
            <a:off x="6693408" y="3081528"/>
            <a:ext cx="1572768" cy="438912"/>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~4.19.2</a:t>
            </a:r>
            <a:endParaRPr lang="en-US" sz="1050" dirty="0"/>
          </a:p>
        </p:txBody>
      </p:sp>
      <p:sp>
        <p:nvSpPr>
          <p:cNvPr id="25" name="Text 22"/>
          <p:cNvSpPr txBox="1"/>
          <p:nvPr/>
        </p:nvSpPr>
        <p:spPr>
          <a:xfrm>
            <a:off x="8321040" y="3081528"/>
            <a:ext cx="3108960" cy="438912"/>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4.19.2 sampai di bawah 4.20.0</a:t>
            </a:r>
            <a:endParaRPr lang="en-US" sz="1050" dirty="0"/>
          </a:p>
        </p:txBody>
      </p:sp>
      <p:sp>
        <p:nvSpPr>
          <p:cNvPr id="26" name="Shape 23"/>
          <p:cNvSpPr/>
          <p:nvPr/>
        </p:nvSpPr>
        <p:spPr>
          <a:xfrm>
            <a:off x="6492240" y="3566160"/>
            <a:ext cx="5120640" cy="438912"/>
          </a:xfrm>
          <a:prstGeom prst="roundRect">
            <a:avLst>
              <a:gd name="adj" fmla="val 10417"/>
            </a:avLst>
          </a:prstGeom>
          <a:solidFill>
            <a:srgbClr val="EDF3E9"/>
          </a:solidFill>
          <a:ln w="12700">
            <a:solidFill>
              <a:srgbClr val="E3EBDF"/>
            </a:solidFill>
            <a:prstDash val="solid"/>
          </a:ln>
        </p:spPr>
      </p:sp>
      <p:sp>
        <p:nvSpPr>
          <p:cNvPr id="27" name="Text 24"/>
          <p:cNvSpPr txBox="1"/>
          <p:nvPr/>
        </p:nvSpPr>
        <p:spPr>
          <a:xfrm>
            <a:off x="6693408" y="3566160"/>
            <a:ext cx="1572768" cy="438912"/>
          </a:xfrm>
          <a:prstGeom prst="rect">
            <a:avLst/>
          </a:prstGeom>
          <a:noFill/>
          <a:ln/>
        </p:spPr>
        <p:txBody>
          <a:bodyPr wrap="square" lIns="0" tIns="0" rIns="0" bIns="0" rtlCol="0" anchor="ctr"/>
          <a:lstStyle/>
          <a:p>
            <a:pPr indent="0" marL="0">
              <a:buNone/>
            </a:pPr>
            <a:r>
              <a:rPr lang="en-US" sz="1050" dirty="0">
                <a:solidFill>
                  <a:srgbClr val="16241B"/>
                </a:solidFill>
                <a:latin typeface="Courier New" pitchFamily="34" charset="0"/>
                <a:ea typeface="Courier New" pitchFamily="34" charset="-122"/>
                <a:cs typeface="Courier New" pitchFamily="34" charset="-120"/>
              </a:rPr>
              <a:t>latest</a:t>
            </a:r>
            <a:endParaRPr lang="en-US" sz="1050" dirty="0"/>
          </a:p>
        </p:txBody>
      </p:sp>
      <p:sp>
        <p:nvSpPr>
          <p:cNvPr id="28" name="Text 25"/>
          <p:cNvSpPr txBox="1"/>
          <p:nvPr/>
        </p:nvSpPr>
        <p:spPr>
          <a:xfrm>
            <a:off x="8321040" y="3566160"/>
            <a:ext cx="3108960" cy="438912"/>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Selalu versi terbaru, berisiko tinggi</a:t>
            </a:r>
            <a:endParaRPr lang="en-US" sz="1050" dirty="0"/>
          </a:p>
        </p:txBody>
      </p:sp>
      <p:sp>
        <p:nvSpPr>
          <p:cNvPr id="29" name="Shape 26"/>
          <p:cNvSpPr/>
          <p:nvPr/>
        </p:nvSpPr>
        <p:spPr>
          <a:xfrm>
            <a:off x="640080" y="3913632"/>
            <a:ext cx="3520440" cy="1517904"/>
          </a:xfrm>
          <a:prstGeom prst="roundRect">
            <a:avLst>
              <a:gd name="adj" fmla="val 54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0" name="Shape 27"/>
          <p:cNvSpPr/>
          <p:nvPr/>
        </p:nvSpPr>
        <p:spPr>
          <a:xfrm>
            <a:off x="896112" y="4133088"/>
            <a:ext cx="457200" cy="457200"/>
          </a:xfrm>
          <a:prstGeom prst="roundRect">
            <a:avLst>
              <a:gd name="adj" fmla="val 26000"/>
            </a:avLst>
          </a:prstGeom>
          <a:solidFill>
            <a:srgbClr val="E8F2E2"/>
          </a:solidFill>
          <a:ln w="12700">
            <a:solidFill>
              <a:srgbClr val="E8F2E2"/>
            </a:solidFill>
            <a:prstDash val="solid"/>
          </a:ln>
        </p:spPr>
      </p:sp>
      <p:pic>
        <p:nvPicPr>
          <p:cNvPr id="31" name="Image 1" descr="preencoded.png">    </p:cNvPr>
          <p:cNvPicPr>
            <a:picLocks noChangeAspect="1"/>
          </p:cNvPicPr>
          <p:nvPr/>
        </p:nvPicPr>
        <p:blipFill>
          <a:blip r:embed="rId2"/>
          <a:stretch>
            <a:fillRect/>
          </a:stretch>
        </p:blipFill>
        <p:spPr>
          <a:xfrm>
            <a:off x="1010412" y="4247388"/>
            <a:ext cx="228600" cy="228600"/>
          </a:xfrm>
          <a:prstGeom prst="rect">
            <a:avLst/>
          </a:prstGeom>
        </p:spPr>
      </p:pic>
      <p:sp>
        <p:nvSpPr>
          <p:cNvPr id="32" name="Text 28"/>
          <p:cNvSpPr txBox="1"/>
          <p:nvPr/>
        </p:nvSpPr>
        <p:spPr>
          <a:xfrm>
            <a:off x="1499616" y="4133088"/>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Tanda Sisipan (^)</a:t>
            </a:r>
            <a:endParaRPr lang="en-US" sz="1250" dirty="0"/>
          </a:p>
        </p:txBody>
      </p:sp>
      <p:sp>
        <p:nvSpPr>
          <p:cNvPr id="33" name="Text 29"/>
          <p:cNvSpPr txBox="1"/>
          <p:nvPr/>
        </p:nvSpPr>
        <p:spPr>
          <a:xfrm>
            <a:off x="896112" y="4700016"/>
            <a:ext cx="3008376" cy="566928"/>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Bawaan NPM. Mengizinkan pembaruan minor dan patch, sehingga fitur baru masuk tanpa merusak kode.</a:t>
            </a:r>
            <a:endParaRPr lang="en-US" sz="1050" dirty="0"/>
          </a:p>
        </p:txBody>
      </p:sp>
      <p:sp>
        <p:nvSpPr>
          <p:cNvPr id="34" name="Shape 30"/>
          <p:cNvSpPr/>
          <p:nvPr/>
        </p:nvSpPr>
        <p:spPr>
          <a:xfrm>
            <a:off x="4443984" y="3913632"/>
            <a:ext cx="3520440" cy="1517904"/>
          </a:xfrm>
          <a:prstGeom prst="roundRect">
            <a:avLst>
              <a:gd name="adj" fmla="val 54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5" name="Shape 31"/>
          <p:cNvSpPr/>
          <p:nvPr/>
        </p:nvSpPr>
        <p:spPr>
          <a:xfrm>
            <a:off x="4700016" y="4133088"/>
            <a:ext cx="457200" cy="457200"/>
          </a:xfrm>
          <a:prstGeom prst="roundRect">
            <a:avLst>
              <a:gd name="adj" fmla="val 26000"/>
            </a:avLst>
          </a:prstGeom>
          <a:solidFill>
            <a:srgbClr val="E5EEFB"/>
          </a:solidFill>
          <a:ln w="12700">
            <a:solidFill>
              <a:srgbClr val="E5EEFB"/>
            </a:solidFill>
            <a:prstDash val="solid"/>
          </a:ln>
        </p:spPr>
      </p:sp>
      <p:pic>
        <p:nvPicPr>
          <p:cNvPr id="36" name="Image 2" descr="preencoded.png">    </p:cNvPr>
          <p:cNvPicPr>
            <a:picLocks noChangeAspect="1"/>
          </p:cNvPicPr>
          <p:nvPr/>
        </p:nvPicPr>
        <p:blipFill>
          <a:blip r:embed="rId3"/>
          <a:stretch>
            <a:fillRect/>
          </a:stretch>
        </p:blipFill>
        <p:spPr>
          <a:xfrm>
            <a:off x="4814316" y="4247388"/>
            <a:ext cx="228600" cy="228600"/>
          </a:xfrm>
          <a:prstGeom prst="rect">
            <a:avLst/>
          </a:prstGeom>
        </p:spPr>
      </p:pic>
      <p:sp>
        <p:nvSpPr>
          <p:cNvPr id="37" name="Text 32"/>
          <p:cNvSpPr txBox="1"/>
          <p:nvPr/>
        </p:nvSpPr>
        <p:spPr>
          <a:xfrm>
            <a:off x="5303520" y="4133088"/>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Tanda Tilde (~)</a:t>
            </a:r>
            <a:endParaRPr lang="en-US" sz="1250" dirty="0"/>
          </a:p>
        </p:txBody>
      </p:sp>
      <p:sp>
        <p:nvSpPr>
          <p:cNvPr id="38" name="Text 33"/>
          <p:cNvSpPr txBox="1"/>
          <p:nvPr/>
        </p:nvSpPr>
        <p:spPr>
          <a:xfrm>
            <a:off x="4700016" y="4700016"/>
            <a:ext cx="3008376" cy="566928"/>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Hanya mengizinkan pembaruan patch. Pilihan konservatif untuk proyek yang mengutamakan kestabilan.</a:t>
            </a:r>
            <a:endParaRPr lang="en-US" sz="1050" dirty="0"/>
          </a:p>
        </p:txBody>
      </p:sp>
      <p:sp>
        <p:nvSpPr>
          <p:cNvPr id="39" name="Shape 34"/>
          <p:cNvSpPr/>
          <p:nvPr/>
        </p:nvSpPr>
        <p:spPr>
          <a:xfrm>
            <a:off x="8247888" y="3913632"/>
            <a:ext cx="3520440" cy="1517904"/>
          </a:xfrm>
          <a:prstGeom prst="roundRect">
            <a:avLst>
              <a:gd name="adj" fmla="val 54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0" name="Shape 35"/>
          <p:cNvSpPr/>
          <p:nvPr/>
        </p:nvSpPr>
        <p:spPr>
          <a:xfrm>
            <a:off x="8503920" y="4133088"/>
            <a:ext cx="457200" cy="457200"/>
          </a:xfrm>
          <a:prstGeom prst="roundRect">
            <a:avLst>
              <a:gd name="adj" fmla="val 26000"/>
            </a:avLst>
          </a:prstGeom>
          <a:solidFill>
            <a:srgbClr val="FDF3D8"/>
          </a:solidFill>
          <a:ln w="12700">
            <a:solidFill>
              <a:srgbClr val="FDF3D8"/>
            </a:solidFill>
            <a:prstDash val="solid"/>
          </a:ln>
        </p:spPr>
      </p:sp>
      <p:pic>
        <p:nvPicPr>
          <p:cNvPr id="41" name="Image 3" descr="preencoded.png">    </p:cNvPr>
          <p:cNvPicPr>
            <a:picLocks noChangeAspect="1"/>
          </p:cNvPicPr>
          <p:nvPr/>
        </p:nvPicPr>
        <p:blipFill>
          <a:blip r:embed="rId4"/>
          <a:stretch>
            <a:fillRect/>
          </a:stretch>
        </p:blipFill>
        <p:spPr>
          <a:xfrm>
            <a:off x="8618220" y="4247388"/>
            <a:ext cx="228600" cy="228600"/>
          </a:xfrm>
          <a:prstGeom prst="rect">
            <a:avLst/>
          </a:prstGeom>
        </p:spPr>
      </p:pic>
      <p:sp>
        <p:nvSpPr>
          <p:cNvPr id="42" name="Text 36"/>
          <p:cNvSpPr txBox="1"/>
          <p:nvPr/>
        </p:nvSpPr>
        <p:spPr>
          <a:xfrm>
            <a:off x="9107424" y="4133088"/>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Versi Pra-rilis</a:t>
            </a:r>
            <a:endParaRPr lang="en-US" sz="1250" dirty="0"/>
          </a:p>
        </p:txBody>
      </p:sp>
      <p:sp>
        <p:nvSpPr>
          <p:cNvPr id="43" name="Text 37"/>
          <p:cNvSpPr txBox="1"/>
          <p:nvPr/>
        </p:nvSpPr>
        <p:spPr>
          <a:xfrm>
            <a:off x="8503920" y="4700016"/>
            <a:ext cx="3008376" cy="566928"/>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Akhiran seperti 5.0.0-beta.1 menandakan versi uji coba yang belum layak dipakai di produksi.</a:t>
            </a:r>
            <a:endParaRPr lang="en-US" sz="1050" dirty="0"/>
          </a:p>
        </p:txBody>
      </p:sp>
      <p:sp>
        <p:nvSpPr>
          <p:cNvPr id="44" name="Text 38"/>
          <p:cNvSpPr txBox="1"/>
          <p:nvPr/>
        </p:nvSpPr>
        <p:spPr>
          <a:xfrm>
            <a:off x="640080" y="5577840"/>
            <a:ext cx="10972800" cy="36576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Jalankan npm outdated untuk melihat paket yang tertinggal, lalu perbarui bertahap dan uji aplikasi setiap kali menaikkan versi MAJOR.</a:t>
            </a:r>
            <a:endParaRPr lang="en-US" sz="1100" dirty="0"/>
          </a:p>
        </p:txBody>
      </p:sp>
      <p:sp>
        <p:nvSpPr>
          <p:cNvPr id="45" name="Text 3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6" name="Text 4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05</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Pemrograman Asinkron</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Menguasai cara Node.js menangani operasi yang membutuhkan waktu, dari callback klasik hingga async/await modern.</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Callback, callback hell, dan cara menghindarinya</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Promise beserta tiga keadaannya</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Async/await, EventEmitter, Stream, dan Buffer</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Callback dan Callback Hell</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Pola asinkron paling awal di Node.js beserta kelemahannya</a:t>
            </a:r>
            <a:endParaRPr lang="en-US" sz="1300" dirty="0"/>
          </a:p>
        </p:txBody>
      </p:sp>
      <p:sp>
        <p:nvSpPr>
          <p:cNvPr id="6" name="Shape 3"/>
          <p:cNvSpPr/>
          <p:nvPr/>
        </p:nvSpPr>
        <p:spPr>
          <a:xfrm>
            <a:off x="640080" y="1609344"/>
            <a:ext cx="5349240" cy="960120"/>
          </a:xfrm>
          <a:prstGeom prst="roundRect">
            <a:avLst>
              <a:gd name="adj" fmla="val 857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42336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Apa Itu Callback?</a:t>
            </a:r>
            <a:endParaRPr lang="en-US" sz="1300" dirty="0"/>
          </a:p>
        </p:txBody>
      </p:sp>
      <p:sp>
        <p:nvSpPr>
          <p:cNvPr id="10" name="Text 6"/>
          <p:cNvSpPr txBox="1"/>
          <p:nvPr/>
        </p:nvSpPr>
        <p:spPr>
          <a:xfrm>
            <a:off x="896112" y="2395728"/>
            <a:ext cx="4837176" cy="9144"/>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Fungsi yang dikirim sebagai argumen ke fungsi lain, lalu dijalankan setelah operasi selesai. Node.js memakai konvensi error-first: argumen pertama selalu berisi error.</a:t>
            </a:r>
            <a:endParaRPr lang="en-US" sz="1080" dirty="0"/>
          </a:p>
        </p:txBody>
      </p:sp>
      <p:sp>
        <p:nvSpPr>
          <p:cNvPr id="11" name="Shape 7"/>
          <p:cNvSpPr/>
          <p:nvPr/>
        </p:nvSpPr>
        <p:spPr>
          <a:xfrm>
            <a:off x="640080" y="2697480"/>
            <a:ext cx="5349240" cy="2097634"/>
          </a:xfrm>
          <a:prstGeom prst="roundRect">
            <a:avLst>
              <a:gd name="adj" fmla="val 3051"/>
            </a:avLst>
          </a:prstGeom>
          <a:solidFill>
            <a:srgbClr val="0E2417"/>
          </a:solidFill>
          <a:ln w="12700">
            <a:solidFill>
              <a:srgbClr val="234A31"/>
            </a:solidFill>
            <a:prstDash val="solid"/>
          </a:ln>
        </p:spPr>
      </p:sp>
      <p:sp>
        <p:nvSpPr>
          <p:cNvPr id="12" name="Text 8"/>
          <p:cNvSpPr txBox="1"/>
          <p:nvPr/>
        </p:nvSpPr>
        <p:spPr>
          <a:xfrm>
            <a:off x="859536" y="2788920"/>
            <a:ext cx="49103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POLA ERROR-FIRST CALLBACK</a:t>
            </a:r>
            <a:endParaRPr lang="en-US" sz="950" dirty="0"/>
          </a:p>
        </p:txBody>
      </p:sp>
      <p:sp>
        <p:nvSpPr>
          <p:cNvPr id="13" name="Text 9"/>
          <p:cNvSpPr txBox="1"/>
          <p:nvPr/>
        </p:nvSpPr>
        <p:spPr>
          <a:xfrm>
            <a:off x="859536" y="3099816"/>
            <a:ext cx="4910328" cy="1585570"/>
          </a:xfrm>
          <a:prstGeom prst="rect">
            <a:avLst/>
          </a:prstGeom>
          <a:noFill/>
          <a:ln/>
        </p:spPr>
        <p:txBody>
          <a:bodyPr wrap="square" lIns="0" tIns="0" rIns="0" bIns="0" rtlCol="0" anchor="t"/>
          <a:lstStyle/>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fs.readFile(</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'data.txt'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'utf8'</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(err, data) =&gt;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(err)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.error(</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'Gagal membaca:'</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err.message);</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'Isi berkas:'</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data);</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p:txBody>
      </p:sp>
      <p:sp>
        <p:nvSpPr>
          <p:cNvPr id="14" name="Shape 10"/>
          <p:cNvSpPr/>
          <p:nvPr/>
        </p:nvSpPr>
        <p:spPr>
          <a:xfrm>
            <a:off x="6263640" y="1609344"/>
            <a:ext cx="5349240" cy="402336"/>
          </a:xfrm>
          <a:prstGeom prst="roundRect">
            <a:avLst>
              <a:gd name="adj" fmla="val 18182"/>
            </a:avLst>
          </a:prstGeom>
          <a:solidFill>
            <a:srgbClr val="C0392B"/>
          </a:solidFill>
          <a:ln w="12700">
            <a:solidFill>
              <a:srgbClr val="C0392B"/>
            </a:solidFill>
            <a:prstDash val="solid"/>
          </a:ln>
        </p:spPr>
      </p:sp>
      <p:sp>
        <p:nvSpPr>
          <p:cNvPr id="15" name="Text 11"/>
          <p:cNvSpPr txBox="1"/>
          <p:nvPr/>
        </p:nvSpPr>
        <p:spPr>
          <a:xfrm>
            <a:off x="6492240" y="1609344"/>
            <a:ext cx="4937760" cy="402336"/>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Callback Hell — Piramida Kesengsaraan</a:t>
            </a:r>
            <a:endParaRPr lang="en-US" sz="1250" dirty="0"/>
          </a:p>
        </p:txBody>
      </p:sp>
      <p:sp>
        <p:nvSpPr>
          <p:cNvPr id="16" name="Shape 12"/>
          <p:cNvSpPr/>
          <p:nvPr/>
        </p:nvSpPr>
        <p:spPr>
          <a:xfrm>
            <a:off x="6263640" y="2121408"/>
            <a:ext cx="5349240" cy="2274040"/>
          </a:xfrm>
          <a:prstGeom prst="roundRect">
            <a:avLst>
              <a:gd name="adj" fmla="val 2815"/>
            </a:avLst>
          </a:prstGeom>
          <a:solidFill>
            <a:srgbClr val="0E2417"/>
          </a:solidFill>
          <a:ln w="12700">
            <a:solidFill>
              <a:srgbClr val="234A31"/>
            </a:solidFill>
            <a:prstDash val="solid"/>
          </a:ln>
        </p:spPr>
      </p:sp>
      <p:sp>
        <p:nvSpPr>
          <p:cNvPr id="17" name="Text 13"/>
          <p:cNvSpPr txBox="1"/>
          <p:nvPr/>
        </p:nvSpPr>
        <p:spPr>
          <a:xfrm>
            <a:off x="6483096" y="2322576"/>
            <a:ext cx="4910328" cy="1963144"/>
          </a:xfrm>
          <a:prstGeom prst="rect">
            <a:avLst/>
          </a:prstGeom>
          <a:noFill/>
          <a:ln/>
        </p:spPr>
        <p:txBody>
          <a:bodyPr wrap="square" lIns="0" tIns="0" rIns="0" bIns="0" rtlCol="0" anchor="t"/>
          <a:lstStyle/>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ambilPengguna(id, (err, user)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ambilPesanan(user, (err, pesanan)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ambilProduk(pesanan, (err, produk)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hitungTotal(produk, (err, total)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kirimEmail(total, (err, hasil)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'Selesai'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18" name="Shape 14"/>
          <p:cNvSpPr/>
          <p:nvPr/>
        </p:nvSpPr>
        <p:spPr>
          <a:xfrm>
            <a:off x="640080" y="4937760"/>
            <a:ext cx="3520440" cy="1179576"/>
          </a:xfrm>
          <a:prstGeom prst="roundRect">
            <a:avLst>
              <a:gd name="adj" fmla="val 697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9" name="Shape 15"/>
          <p:cNvSpPr/>
          <p:nvPr/>
        </p:nvSpPr>
        <p:spPr>
          <a:xfrm>
            <a:off x="896112" y="5157216"/>
            <a:ext cx="457200" cy="457200"/>
          </a:xfrm>
          <a:prstGeom prst="roundRect">
            <a:avLst>
              <a:gd name="adj" fmla="val 26000"/>
            </a:avLst>
          </a:prstGeom>
          <a:solidFill>
            <a:srgbClr val="FBE9E7"/>
          </a:solidFill>
          <a:ln w="12700">
            <a:solidFill>
              <a:srgbClr val="FBE9E7"/>
            </a:solidFill>
            <a:prstDash val="solid"/>
          </a:ln>
        </p:spPr>
      </p:sp>
      <p:pic>
        <p:nvPicPr>
          <p:cNvPr id="20" name="Image 2" descr="preencoded.png">    </p:cNvPr>
          <p:cNvPicPr>
            <a:picLocks noChangeAspect="1"/>
          </p:cNvPicPr>
          <p:nvPr/>
        </p:nvPicPr>
        <p:blipFill>
          <a:blip r:embed="rId3"/>
          <a:stretch>
            <a:fillRect/>
          </a:stretch>
        </p:blipFill>
        <p:spPr>
          <a:xfrm>
            <a:off x="1010412" y="5271516"/>
            <a:ext cx="228600" cy="228600"/>
          </a:xfrm>
          <a:prstGeom prst="rect">
            <a:avLst/>
          </a:prstGeom>
        </p:spPr>
      </p:pic>
      <p:sp>
        <p:nvSpPr>
          <p:cNvPr id="21" name="Text 16"/>
          <p:cNvSpPr txBox="1"/>
          <p:nvPr/>
        </p:nvSpPr>
        <p:spPr>
          <a:xfrm>
            <a:off x="1499616" y="5157216"/>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Sulit Dibaca</a:t>
            </a:r>
            <a:endParaRPr lang="en-US" sz="1250" dirty="0"/>
          </a:p>
        </p:txBody>
      </p:sp>
      <p:sp>
        <p:nvSpPr>
          <p:cNvPr id="22" name="Text 17"/>
          <p:cNvSpPr txBox="1"/>
          <p:nvPr/>
        </p:nvSpPr>
        <p:spPr>
          <a:xfrm>
            <a:off x="896112" y="5724144"/>
            <a:ext cx="3008376" cy="228600"/>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Indentasi makin dalam sehingga alur program sukar diikuti.</a:t>
            </a:r>
            <a:endParaRPr lang="en-US" sz="1030" dirty="0"/>
          </a:p>
        </p:txBody>
      </p:sp>
      <p:sp>
        <p:nvSpPr>
          <p:cNvPr id="23" name="Shape 18"/>
          <p:cNvSpPr/>
          <p:nvPr/>
        </p:nvSpPr>
        <p:spPr>
          <a:xfrm>
            <a:off x="4443984" y="4937760"/>
            <a:ext cx="3520440" cy="1179576"/>
          </a:xfrm>
          <a:prstGeom prst="roundRect">
            <a:avLst>
              <a:gd name="adj" fmla="val 697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4" name="Shape 19"/>
          <p:cNvSpPr/>
          <p:nvPr/>
        </p:nvSpPr>
        <p:spPr>
          <a:xfrm>
            <a:off x="4700016" y="5157216"/>
            <a:ext cx="457200" cy="457200"/>
          </a:xfrm>
          <a:prstGeom prst="roundRect">
            <a:avLst>
              <a:gd name="adj" fmla="val 26000"/>
            </a:avLst>
          </a:prstGeom>
          <a:solidFill>
            <a:srgbClr val="FBE9E7"/>
          </a:solidFill>
          <a:ln w="12700">
            <a:solidFill>
              <a:srgbClr val="FBE9E7"/>
            </a:solidFill>
            <a:prstDash val="solid"/>
          </a:ln>
        </p:spPr>
      </p:sp>
      <p:pic>
        <p:nvPicPr>
          <p:cNvPr id="25" name="Image 3" descr="preencoded.png">    </p:cNvPr>
          <p:cNvPicPr>
            <a:picLocks noChangeAspect="1"/>
          </p:cNvPicPr>
          <p:nvPr/>
        </p:nvPicPr>
        <p:blipFill>
          <a:blip r:embed="rId4"/>
          <a:stretch>
            <a:fillRect/>
          </a:stretch>
        </p:blipFill>
        <p:spPr>
          <a:xfrm>
            <a:off x="4814316" y="5271516"/>
            <a:ext cx="228600" cy="228600"/>
          </a:xfrm>
          <a:prstGeom prst="rect">
            <a:avLst/>
          </a:prstGeom>
        </p:spPr>
      </p:pic>
      <p:sp>
        <p:nvSpPr>
          <p:cNvPr id="26" name="Text 20"/>
          <p:cNvSpPr txBox="1"/>
          <p:nvPr/>
        </p:nvSpPr>
        <p:spPr>
          <a:xfrm>
            <a:off x="5303520" y="5157216"/>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Error Berulang</a:t>
            </a:r>
            <a:endParaRPr lang="en-US" sz="1250" dirty="0"/>
          </a:p>
        </p:txBody>
      </p:sp>
      <p:sp>
        <p:nvSpPr>
          <p:cNvPr id="27" name="Text 21"/>
          <p:cNvSpPr txBox="1"/>
          <p:nvPr/>
        </p:nvSpPr>
        <p:spPr>
          <a:xfrm>
            <a:off x="4700016" y="5724144"/>
            <a:ext cx="3008376" cy="228600"/>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Tiap tingkat memeriksa error terpisah dan mudah terlewat.</a:t>
            </a:r>
            <a:endParaRPr lang="en-US" sz="1030" dirty="0"/>
          </a:p>
        </p:txBody>
      </p:sp>
      <p:sp>
        <p:nvSpPr>
          <p:cNvPr id="28" name="Shape 22"/>
          <p:cNvSpPr/>
          <p:nvPr/>
        </p:nvSpPr>
        <p:spPr>
          <a:xfrm>
            <a:off x="8247888" y="4937760"/>
            <a:ext cx="3520440" cy="1179576"/>
          </a:xfrm>
          <a:prstGeom prst="roundRect">
            <a:avLst>
              <a:gd name="adj" fmla="val 697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9" name="Shape 23"/>
          <p:cNvSpPr/>
          <p:nvPr/>
        </p:nvSpPr>
        <p:spPr>
          <a:xfrm>
            <a:off x="8503920" y="5157216"/>
            <a:ext cx="457200" cy="457200"/>
          </a:xfrm>
          <a:prstGeom prst="roundRect">
            <a:avLst>
              <a:gd name="adj" fmla="val 26000"/>
            </a:avLst>
          </a:prstGeom>
          <a:solidFill>
            <a:srgbClr val="E8F2E2"/>
          </a:solidFill>
          <a:ln w="12700">
            <a:solidFill>
              <a:srgbClr val="E8F2E2"/>
            </a:solidFill>
            <a:prstDash val="solid"/>
          </a:ln>
        </p:spPr>
      </p:sp>
      <p:pic>
        <p:nvPicPr>
          <p:cNvPr id="30" name="Image 4" descr="preencoded.png">    </p:cNvPr>
          <p:cNvPicPr>
            <a:picLocks noChangeAspect="1"/>
          </p:cNvPicPr>
          <p:nvPr/>
        </p:nvPicPr>
        <p:blipFill>
          <a:blip r:embed="rId5"/>
          <a:stretch>
            <a:fillRect/>
          </a:stretch>
        </p:blipFill>
        <p:spPr>
          <a:xfrm>
            <a:off x="8618220" y="5271516"/>
            <a:ext cx="228600" cy="228600"/>
          </a:xfrm>
          <a:prstGeom prst="rect">
            <a:avLst/>
          </a:prstGeom>
        </p:spPr>
      </p:pic>
      <p:sp>
        <p:nvSpPr>
          <p:cNvPr id="31" name="Text 24"/>
          <p:cNvSpPr txBox="1"/>
          <p:nvPr/>
        </p:nvSpPr>
        <p:spPr>
          <a:xfrm>
            <a:off x="9107424" y="5157216"/>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Solusinya</a:t>
            </a:r>
            <a:endParaRPr lang="en-US" sz="1250" dirty="0"/>
          </a:p>
        </p:txBody>
      </p:sp>
      <p:sp>
        <p:nvSpPr>
          <p:cNvPr id="32" name="Text 25"/>
          <p:cNvSpPr txBox="1"/>
          <p:nvPr/>
        </p:nvSpPr>
        <p:spPr>
          <a:xfrm>
            <a:off x="8503920" y="5724144"/>
            <a:ext cx="3008376" cy="228600"/>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Pakai Promise atau async/await agar kode kembali mendatar.</a:t>
            </a:r>
            <a:endParaRPr lang="en-US" sz="1030" dirty="0"/>
          </a:p>
        </p:txBody>
      </p:sp>
      <p:sp>
        <p:nvSpPr>
          <p:cNvPr id="33" name="Text 26"/>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4" name="Text 27"/>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Promise</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Objek yang mewakili hasil operasi asinkron di masa depan</a:t>
            </a:r>
            <a:endParaRPr lang="en-US" sz="1300" dirty="0"/>
          </a:p>
        </p:txBody>
      </p:sp>
      <p:sp>
        <p:nvSpPr>
          <p:cNvPr id="6" name="Shape 3"/>
          <p:cNvSpPr/>
          <p:nvPr/>
        </p:nvSpPr>
        <p:spPr>
          <a:xfrm>
            <a:off x="640080" y="1609344"/>
            <a:ext cx="3520440" cy="1261872"/>
          </a:xfrm>
          <a:prstGeom prst="roundRect">
            <a:avLst>
              <a:gd name="adj" fmla="val 65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FDF3D8"/>
          </a:solidFill>
          <a:ln w="12700">
            <a:solidFill>
              <a:srgbClr val="FDF3D8"/>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Pending</a:t>
            </a:r>
            <a:endParaRPr lang="en-US" sz="1300" dirty="0"/>
          </a:p>
        </p:txBody>
      </p:sp>
      <p:sp>
        <p:nvSpPr>
          <p:cNvPr id="10" name="Text 6"/>
          <p:cNvSpPr txBox="1"/>
          <p:nvPr/>
        </p:nvSpPr>
        <p:spPr>
          <a:xfrm>
            <a:off x="896112" y="2395728"/>
            <a:ext cx="3008376" cy="310896"/>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Operasi masih berjalan, hasil belum tersedia.</a:t>
            </a:r>
            <a:endParaRPr lang="en-US" sz="1080" dirty="0"/>
          </a:p>
        </p:txBody>
      </p:sp>
      <p:sp>
        <p:nvSpPr>
          <p:cNvPr id="11" name="Shape 7"/>
          <p:cNvSpPr/>
          <p:nvPr/>
        </p:nvSpPr>
        <p:spPr>
          <a:xfrm>
            <a:off x="4443984" y="1609344"/>
            <a:ext cx="3520440" cy="1261872"/>
          </a:xfrm>
          <a:prstGeom prst="roundRect">
            <a:avLst>
              <a:gd name="adj" fmla="val 65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4700016" y="1828800"/>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4814316" y="1943100"/>
            <a:ext cx="228600" cy="228600"/>
          </a:xfrm>
          <a:prstGeom prst="rect">
            <a:avLst/>
          </a:prstGeom>
        </p:spPr>
      </p:pic>
      <p:sp>
        <p:nvSpPr>
          <p:cNvPr id="14" name="Text 9"/>
          <p:cNvSpPr txBox="1"/>
          <p:nvPr/>
        </p:nvSpPr>
        <p:spPr>
          <a:xfrm>
            <a:off x="5303520" y="1828800"/>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Fulfilled</a:t>
            </a:r>
            <a:endParaRPr lang="en-US" sz="1300" dirty="0"/>
          </a:p>
        </p:txBody>
      </p:sp>
      <p:sp>
        <p:nvSpPr>
          <p:cNvPr id="15" name="Text 10"/>
          <p:cNvSpPr txBox="1"/>
          <p:nvPr/>
        </p:nvSpPr>
        <p:spPr>
          <a:xfrm>
            <a:off x="4700016" y="2395728"/>
            <a:ext cx="3008376" cy="310896"/>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Operasi berhasil dan menghasilkan sebuah nilai.</a:t>
            </a:r>
            <a:endParaRPr lang="en-US" sz="1080" dirty="0"/>
          </a:p>
        </p:txBody>
      </p:sp>
      <p:sp>
        <p:nvSpPr>
          <p:cNvPr id="16" name="Shape 11"/>
          <p:cNvSpPr/>
          <p:nvPr/>
        </p:nvSpPr>
        <p:spPr>
          <a:xfrm>
            <a:off x="8247888" y="1609344"/>
            <a:ext cx="3520440" cy="1261872"/>
          </a:xfrm>
          <a:prstGeom prst="roundRect">
            <a:avLst>
              <a:gd name="adj" fmla="val 6522"/>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8503920" y="1828800"/>
            <a:ext cx="457200" cy="457200"/>
          </a:xfrm>
          <a:prstGeom prst="roundRect">
            <a:avLst>
              <a:gd name="adj" fmla="val 26000"/>
            </a:avLst>
          </a:prstGeom>
          <a:solidFill>
            <a:srgbClr val="FBE9E7"/>
          </a:solidFill>
          <a:ln w="12700">
            <a:solidFill>
              <a:srgbClr val="FBE9E7"/>
            </a:solidFill>
            <a:prstDash val="solid"/>
          </a:ln>
        </p:spPr>
      </p:sp>
      <p:pic>
        <p:nvPicPr>
          <p:cNvPr id="18" name="Image 3" descr="preencoded.png">    </p:cNvPr>
          <p:cNvPicPr>
            <a:picLocks noChangeAspect="1"/>
          </p:cNvPicPr>
          <p:nvPr/>
        </p:nvPicPr>
        <p:blipFill>
          <a:blip r:embed="rId4"/>
          <a:stretch>
            <a:fillRect/>
          </a:stretch>
        </p:blipFill>
        <p:spPr>
          <a:xfrm>
            <a:off x="8618220" y="1943100"/>
            <a:ext cx="228600" cy="228600"/>
          </a:xfrm>
          <a:prstGeom prst="rect">
            <a:avLst/>
          </a:prstGeom>
        </p:spPr>
      </p:pic>
      <p:sp>
        <p:nvSpPr>
          <p:cNvPr id="19" name="Text 13"/>
          <p:cNvSpPr txBox="1"/>
          <p:nvPr/>
        </p:nvSpPr>
        <p:spPr>
          <a:xfrm>
            <a:off x="9107424" y="1828800"/>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Rejected</a:t>
            </a:r>
            <a:endParaRPr lang="en-US" sz="1300" dirty="0"/>
          </a:p>
        </p:txBody>
      </p:sp>
      <p:sp>
        <p:nvSpPr>
          <p:cNvPr id="20" name="Text 14"/>
          <p:cNvSpPr txBox="1"/>
          <p:nvPr/>
        </p:nvSpPr>
        <p:spPr>
          <a:xfrm>
            <a:off x="8503920" y="2395728"/>
            <a:ext cx="3008376" cy="310896"/>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Operasi gagal dan menghasilkan sebuah error.</a:t>
            </a:r>
            <a:endParaRPr lang="en-US" sz="1080" dirty="0"/>
          </a:p>
        </p:txBody>
      </p:sp>
      <p:sp>
        <p:nvSpPr>
          <p:cNvPr id="21" name="Shape 15"/>
          <p:cNvSpPr/>
          <p:nvPr/>
        </p:nvSpPr>
        <p:spPr>
          <a:xfrm>
            <a:off x="640080" y="2926080"/>
            <a:ext cx="5577840" cy="2822168"/>
          </a:xfrm>
          <a:prstGeom prst="roundRect">
            <a:avLst>
              <a:gd name="adj" fmla="val 2268"/>
            </a:avLst>
          </a:prstGeom>
          <a:solidFill>
            <a:srgbClr val="0E2417"/>
          </a:solidFill>
          <a:ln w="12700">
            <a:solidFill>
              <a:srgbClr val="234A31"/>
            </a:solidFill>
            <a:prstDash val="solid"/>
          </a:ln>
        </p:spPr>
      </p:sp>
      <p:sp>
        <p:nvSpPr>
          <p:cNvPr id="22" name="Text 16"/>
          <p:cNvSpPr txBox="1"/>
          <p:nvPr/>
        </p:nvSpPr>
        <p:spPr>
          <a:xfrm>
            <a:off x="859536" y="3017520"/>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MEMBUAT DAN MEMAKAI PROMISE</a:t>
            </a:r>
            <a:endParaRPr lang="en-US" sz="950" dirty="0"/>
          </a:p>
        </p:txBody>
      </p:sp>
      <p:sp>
        <p:nvSpPr>
          <p:cNvPr id="23" name="Text 17"/>
          <p:cNvSpPr txBox="1"/>
          <p:nvPr/>
        </p:nvSpPr>
        <p:spPr>
          <a:xfrm>
            <a:off x="859536" y="3328416"/>
            <a:ext cx="5138928" cy="2310104"/>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ambilData(id)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((resolve, reject)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setTimeout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(id &gt;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resolve({ id, nama: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'Budi'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else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reject(</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Error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'ID tidak valid'</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1000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ambilData(</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.then(user =&gt;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.log(user.nama))</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catch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(err =&gt;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.error(err.message))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finally</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=&gt;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'Selesai'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24" name="Shape 18"/>
          <p:cNvSpPr/>
          <p:nvPr/>
        </p:nvSpPr>
        <p:spPr>
          <a:xfrm>
            <a:off x="6492240" y="2926080"/>
            <a:ext cx="5120640" cy="2648688"/>
          </a:xfrm>
          <a:prstGeom prst="roundRect">
            <a:avLst>
              <a:gd name="adj" fmla="val 2417"/>
            </a:avLst>
          </a:prstGeom>
          <a:solidFill>
            <a:srgbClr val="0E2417"/>
          </a:solidFill>
          <a:ln w="12700">
            <a:solidFill>
              <a:srgbClr val="234A31"/>
            </a:solidFill>
            <a:prstDash val="solid"/>
          </a:ln>
        </p:spPr>
      </p:sp>
      <p:sp>
        <p:nvSpPr>
          <p:cNvPr id="25" name="Text 19"/>
          <p:cNvSpPr txBox="1"/>
          <p:nvPr/>
        </p:nvSpPr>
        <p:spPr>
          <a:xfrm>
            <a:off x="6711696" y="3017520"/>
            <a:ext cx="46817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METODE STATIS PROMISE</a:t>
            </a:r>
            <a:endParaRPr lang="en-US" sz="950" dirty="0"/>
          </a:p>
        </p:txBody>
      </p:sp>
      <p:sp>
        <p:nvSpPr>
          <p:cNvPr id="26" name="Text 20"/>
          <p:cNvSpPr txBox="1"/>
          <p:nvPr/>
        </p:nvSpPr>
        <p:spPr>
          <a:xfrm>
            <a:off x="6711696" y="3328416"/>
            <a:ext cx="4681728" cy="2136624"/>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Menunggu semua selesai; gagal bila satu gagal</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.all([p1, p2, p3])</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.then(([a, b, c]) =&gt;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 b, c));</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Menunggu semua selesai apa pun hasilnya</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.allSettled([p1, p2]);</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Mengambil hasil pertama yang selesai</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.race([p1, p2]);</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Mengambil keberhasilan pertama</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.any([p1, p2]);</a:t>
            </a:r>
            <a:endParaRPr lang="en-US" sz="1020" dirty="0"/>
          </a:p>
        </p:txBody>
      </p:sp>
      <p:sp>
        <p:nvSpPr>
          <p:cNvPr id="27" name="Shape 21"/>
          <p:cNvSpPr/>
          <p:nvPr/>
        </p:nvSpPr>
        <p:spPr>
          <a:xfrm>
            <a:off x="640080" y="5577840"/>
            <a:ext cx="10972800" cy="530352"/>
          </a:xfrm>
          <a:prstGeom prst="roundRect">
            <a:avLst>
              <a:gd name="adj" fmla="val 13793"/>
            </a:avLst>
          </a:prstGeom>
          <a:solidFill>
            <a:srgbClr val="E8F2E2"/>
          </a:solidFill>
          <a:ln w="12700">
            <a:solidFill>
              <a:srgbClr val="D2E5C8"/>
            </a:solidFill>
            <a:prstDash val="solid"/>
          </a:ln>
        </p:spPr>
      </p:sp>
      <p:sp>
        <p:nvSpPr>
          <p:cNvPr id="28" name="Text 22"/>
          <p:cNvSpPr txBox="1"/>
          <p:nvPr/>
        </p:nvSpPr>
        <p:spPr>
          <a:xfrm>
            <a:off x="896112" y="5577840"/>
            <a:ext cx="10515600" cy="530352"/>
          </a:xfrm>
          <a:prstGeom prst="rect">
            <a:avLst/>
          </a:prstGeom>
          <a:noFill/>
          <a:ln/>
        </p:spPr>
        <p:txBody>
          <a:bodyPr wrap="square" lIns="0" tIns="0" rIns="0" bIns="0" rtlCol="0" anchor="ctr"/>
          <a:lstStyle/>
          <a:p>
            <a:pPr indent="0" marL="0">
              <a:buNone/>
            </a:pPr>
            <a:r>
              <a:rPr lang="en-US" sz="1150" dirty="0">
                <a:solidFill>
                  <a:srgbClr val="2C4433"/>
                </a:solidFill>
                <a:latin typeface="Calibri" pitchFamily="34" charset="0"/>
                <a:ea typeface="Calibri" pitchFamily="34" charset="-122"/>
                <a:cs typeface="Calibri" pitchFamily="34" charset="-120"/>
              </a:rPr>
              <a:t>Promise membuat rantai operasi asinkron menjadi mendatar: setiap .then() mengembalikan Promise baru sehingga dapat disambung tanpa menjorok ke dalam.</a:t>
            </a:r>
            <a:endParaRPr lang="en-US" sz="1150" dirty="0"/>
          </a:p>
        </p:txBody>
      </p:sp>
      <p:sp>
        <p:nvSpPr>
          <p:cNvPr id="29" name="Text 2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0" name="Text 2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Async / Await</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Menulis kode asinkron dengan gaya yang terbaca seperti kode sinkron</a:t>
            </a:r>
            <a:endParaRPr lang="en-US" sz="1300" dirty="0"/>
          </a:p>
        </p:txBody>
      </p:sp>
      <p:sp>
        <p:nvSpPr>
          <p:cNvPr id="6" name="Shape 3"/>
          <p:cNvSpPr/>
          <p:nvPr/>
        </p:nvSpPr>
        <p:spPr>
          <a:xfrm>
            <a:off x="640080" y="1627632"/>
            <a:ext cx="5577840" cy="3169128"/>
          </a:xfrm>
          <a:prstGeom prst="roundRect">
            <a:avLst>
              <a:gd name="adj" fmla="val 2020"/>
            </a:avLst>
          </a:prstGeom>
          <a:solidFill>
            <a:srgbClr val="0E2417"/>
          </a:solidFill>
          <a:ln w="12700">
            <a:solidFill>
              <a:srgbClr val="234A31"/>
            </a:solidFill>
            <a:prstDash val="solid"/>
          </a:ln>
        </p:spPr>
      </p:sp>
      <p:sp>
        <p:nvSpPr>
          <p:cNvPr id="7" name="Text 4"/>
          <p:cNvSpPr txBox="1"/>
          <p:nvPr/>
        </p:nvSpPr>
        <p:spPr>
          <a:xfrm>
            <a:off x="859536" y="171907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DASAR ASYNC/AWAIT</a:t>
            </a:r>
            <a:endParaRPr lang="en-US" sz="950" dirty="0"/>
          </a:p>
        </p:txBody>
      </p:sp>
      <p:sp>
        <p:nvSpPr>
          <p:cNvPr id="8" name="Text 5"/>
          <p:cNvSpPr txBox="1"/>
          <p:nvPr/>
        </p:nvSpPr>
        <p:spPr>
          <a:xfrm>
            <a:off x="859536" y="2029968"/>
            <a:ext cx="5138928" cy="2657064"/>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async membuat fungsi selalu mengembalikan Promise</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async</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tampilkanPengguna(id)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try</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await menunggu Promise selesai</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user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ambilData(id);</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pesanan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ambilPesanan(user.id);</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.log(user.nama, pesanan.length);</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user, pesanan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catch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(err)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.error(</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'Terjadi galat:'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err.message);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throw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err;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finally</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'Proses selesai'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492240" y="1627632"/>
            <a:ext cx="5120640" cy="2648688"/>
          </a:xfrm>
          <a:prstGeom prst="roundRect">
            <a:avLst>
              <a:gd name="adj" fmla="val 2417"/>
            </a:avLst>
          </a:prstGeom>
          <a:solidFill>
            <a:srgbClr val="0E2417"/>
          </a:solidFill>
          <a:ln w="12700">
            <a:solidFill>
              <a:srgbClr val="234A31"/>
            </a:solidFill>
            <a:prstDash val="solid"/>
          </a:ln>
        </p:spPr>
      </p:sp>
      <p:sp>
        <p:nvSpPr>
          <p:cNvPr id="10" name="Text 7"/>
          <p:cNvSpPr txBox="1"/>
          <p:nvPr/>
        </p:nvSpPr>
        <p:spPr>
          <a:xfrm>
            <a:off x="6711696" y="1719072"/>
            <a:ext cx="46817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PARALEL VS BERURUTAN</a:t>
            </a:r>
            <a:endParaRPr lang="en-US" sz="950" dirty="0"/>
          </a:p>
        </p:txBody>
      </p:sp>
      <p:sp>
        <p:nvSpPr>
          <p:cNvPr id="11" name="Text 8"/>
          <p:cNvSpPr txBox="1"/>
          <p:nvPr/>
        </p:nvSpPr>
        <p:spPr>
          <a:xfrm>
            <a:off x="6711696" y="2029968"/>
            <a:ext cx="4681728" cy="2136624"/>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Berurutan — total 3 detik</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tugas1();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1 detik</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tugas2();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1 detik</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tugas3();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1 detik</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Paralel — total 1 detik</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 b, c]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Promise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.all([</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tugas1(), tugas2(), tugas3()</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Top-level await (hanya di ES Modules)</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data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fetch(</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'https://api.contoh'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12" name="Shape 9"/>
          <p:cNvSpPr/>
          <p:nvPr/>
        </p:nvSpPr>
        <p:spPr>
          <a:xfrm>
            <a:off x="640080" y="4718304"/>
            <a:ext cx="3520440" cy="1280160"/>
          </a:xfrm>
          <a:prstGeom prst="roundRect">
            <a:avLst>
              <a:gd name="adj" fmla="val 642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3" name="Shape 10"/>
          <p:cNvSpPr/>
          <p:nvPr/>
        </p:nvSpPr>
        <p:spPr>
          <a:xfrm>
            <a:off x="896112" y="4937760"/>
            <a:ext cx="457200" cy="457200"/>
          </a:xfrm>
          <a:prstGeom prst="roundRect">
            <a:avLst>
              <a:gd name="adj" fmla="val 26000"/>
            </a:avLst>
          </a:prstGeom>
          <a:solidFill>
            <a:srgbClr val="E8F2E2"/>
          </a:solidFill>
          <a:ln w="12700">
            <a:solidFill>
              <a:srgbClr val="E8F2E2"/>
            </a:solidFill>
            <a:prstDash val="solid"/>
          </a:ln>
        </p:spPr>
      </p:sp>
      <p:pic>
        <p:nvPicPr>
          <p:cNvPr id="14" name="Image 1" descr="preencoded.png">    </p:cNvPr>
          <p:cNvPicPr>
            <a:picLocks noChangeAspect="1"/>
          </p:cNvPicPr>
          <p:nvPr/>
        </p:nvPicPr>
        <p:blipFill>
          <a:blip r:embed="rId2"/>
          <a:stretch>
            <a:fillRect/>
          </a:stretch>
        </p:blipFill>
        <p:spPr>
          <a:xfrm>
            <a:off x="1010412" y="5052060"/>
            <a:ext cx="228600" cy="228600"/>
          </a:xfrm>
          <a:prstGeom prst="rect">
            <a:avLst/>
          </a:prstGeom>
        </p:spPr>
      </p:pic>
      <p:sp>
        <p:nvSpPr>
          <p:cNvPr id="15" name="Text 11"/>
          <p:cNvSpPr txBox="1"/>
          <p:nvPr/>
        </p:nvSpPr>
        <p:spPr>
          <a:xfrm>
            <a:off x="1499616" y="493776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Selalu Kembalikan Promise</a:t>
            </a:r>
            <a:endParaRPr lang="en-US" sz="1250" dirty="0"/>
          </a:p>
        </p:txBody>
      </p:sp>
      <p:sp>
        <p:nvSpPr>
          <p:cNvPr id="16" name="Text 12"/>
          <p:cNvSpPr txBox="1"/>
          <p:nvPr/>
        </p:nvSpPr>
        <p:spPr>
          <a:xfrm>
            <a:off x="896112" y="5504688"/>
            <a:ext cx="3008376" cy="32918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Fungsi bertanda async otomatis membungkus nilai kembaliannya menjadi Promise.</a:t>
            </a:r>
            <a:endParaRPr lang="en-US" sz="1030" dirty="0"/>
          </a:p>
        </p:txBody>
      </p:sp>
      <p:sp>
        <p:nvSpPr>
          <p:cNvPr id="17" name="Shape 13"/>
          <p:cNvSpPr/>
          <p:nvPr/>
        </p:nvSpPr>
        <p:spPr>
          <a:xfrm>
            <a:off x="4443984" y="4718304"/>
            <a:ext cx="3520440" cy="1280160"/>
          </a:xfrm>
          <a:prstGeom prst="roundRect">
            <a:avLst>
              <a:gd name="adj" fmla="val 642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8" name="Shape 14"/>
          <p:cNvSpPr/>
          <p:nvPr/>
        </p:nvSpPr>
        <p:spPr>
          <a:xfrm>
            <a:off x="4700016" y="4937760"/>
            <a:ext cx="457200" cy="457200"/>
          </a:xfrm>
          <a:prstGeom prst="roundRect">
            <a:avLst>
              <a:gd name="adj" fmla="val 26000"/>
            </a:avLst>
          </a:prstGeom>
          <a:solidFill>
            <a:srgbClr val="E8F2E2"/>
          </a:solidFill>
          <a:ln w="12700">
            <a:solidFill>
              <a:srgbClr val="E8F2E2"/>
            </a:solidFill>
            <a:prstDash val="solid"/>
          </a:ln>
        </p:spPr>
      </p:sp>
      <p:pic>
        <p:nvPicPr>
          <p:cNvPr id="19" name="Image 2" descr="preencoded.png">    </p:cNvPr>
          <p:cNvPicPr>
            <a:picLocks noChangeAspect="1"/>
          </p:cNvPicPr>
          <p:nvPr/>
        </p:nvPicPr>
        <p:blipFill>
          <a:blip r:embed="rId3"/>
          <a:stretch>
            <a:fillRect/>
          </a:stretch>
        </p:blipFill>
        <p:spPr>
          <a:xfrm>
            <a:off x="4814316" y="5052060"/>
            <a:ext cx="228600" cy="228600"/>
          </a:xfrm>
          <a:prstGeom prst="rect">
            <a:avLst/>
          </a:prstGeom>
        </p:spPr>
      </p:pic>
      <p:sp>
        <p:nvSpPr>
          <p:cNvPr id="20" name="Text 15"/>
          <p:cNvSpPr txBox="1"/>
          <p:nvPr/>
        </p:nvSpPr>
        <p:spPr>
          <a:xfrm>
            <a:off x="5303520" y="493776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Gunakan try/catch</a:t>
            </a:r>
            <a:endParaRPr lang="en-US" sz="1250" dirty="0"/>
          </a:p>
        </p:txBody>
      </p:sp>
      <p:sp>
        <p:nvSpPr>
          <p:cNvPr id="21" name="Text 16"/>
          <p:cNvSpPr txBox="1"/>
          <p:nvPr/>
        </p:nvSpPr>
        <p:spPr>
          <a:xfrm>
            <a:off x="4700016" y="5504688"/>
            <a:ext cx="3008376" cy="32918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Penanganan error kembali memakai blok try/catch yang sudah dikenal luas.</a:t>
            </a:r>
            <a:endParaRPr lang="en-US" sz="1030" dirty="0"/>
          </a:p>
        </p:txBody>
      </p:sp>
      <p:sp>
        <p:nvSpPr>
          <p:cNvPr id="22" name="Shape 17"/>
          <p:cNvSpPr/>
          <p:nvPr/>
        </p:nvSpPr>
        <p:spPr>
          <a:xfrm>
            <a:off x="8247888" y="4718304"/>
            <a:ext cx="3520440" cy="1280160"/>
          </a:xfrm>
          <a:prstGeom prst="roundRect">
            <a:avLst>
              <a:gd name="adj" fmla="val 642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3" name="Shape 18"/>
          <p:cNvSpPr/>
          <p:nvPr/>
        </p:nvSpPr>
        <p:spPr>
          <a:xfrm>
            <a:off x="8503920" y="4937760"/>
            <a:ext cx="457200" cy="457200"/>
          </a:xfrm>
          <a:prstGeom prst="roundRect">
            <a:avLst>
              <a:gd name="adj" fmla="val 26000"/>
            </a:avLst>
          </a:prstGeom>
          <a:solidFill>
            <a:srgbClr val="E8F2E2"/>
          </a:solidFill>
          <a:ln w="12700">
            <a:solidFill>
              <a:srgbClr val="E8F2E2"/>
            </a:solidFill>
            <a:prstDash val="solid"/>
          </a:ln>
        </p:spPr>
      </p:sp>
      <p:pic>
        <p:nvPicPr>
          <p:cNvPr id="24" name="Image 3" descr="preencoded.png">    </p:cNvPr>
          <p:cNvPicPr>
            <a:picLocks noChangeAspect="1"/>
          </p:cNvPicPr>
          <p:nvPr/>
        </p:nvPicPr>
        <p:blipFill>
          <a:blip r:embed="rId4"/>
          <a:stretch>
            <a:fillRect/>
          </a:stretch>
        </p:blipFill>
        <p:spPr>
          <a:xfrm>
            <a:off x="8618220" y="5052060"/>
            <a:ext cx="228600" cy="228600"/>
          </a:xfrm>
          <a:prstGeom prst="rect">
            <a:avLst/>
          </a:prstGeom>
        </p:spPr>
      </p:pic>
      <p:sp>
        <p:nvSpPr>
          <p:cNvPr id="25" name="Text 19"/>
          <p:cNvSpPr txBox="1"/>
          <p:nvPr/>
        </p:nvSpPr>
        <p:spPr>
          <a:xfrm>
            <a:off x="9107424" y="493776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Waspadai await Berurutan</a:t>
            </a:r>
            <a:endParaRPr lang="en-US" sz="1250" dirty="0"/>
          </a:p>
        </p:txBody>
      </p:sp>
      <p:sp>
        <p:nvSpPr>
          <p:cNvPr id="26" name="Text 20"/>
          <p:cNvSpPr txBox="1"/>
          <p:nvPr/>
        </p:nvSpPr>
        <p:spPr>
          <a:xfrm>
            <a:off x="8503920" y="5504688"/>
            <a:ext cx="3008376" cy="32918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Jangan meng-await operasi yang sebenarnya bisa berjalan bersamaan.</a:t>
            </a:r>
            <a:endParaRPr lang="en-US" sz="1030" dirty="0"/>
          </a:p>
        </p:txBody>
      </p:sp>
      <p:sp>
        <p:nvSpPr>
          <p:cNvPr id="27" name="Text 2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28" name="Text 2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Perbandingan Tiga Pola Asinkron</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Menyelesaikan masalah yang sama dengan gaya penulisan berbeda</a:t>
            </a:r>
            <a:endParaRPr lang="en-US" sz="1300" dirty="0"/>
          </a:p>
        </p:txBody>
      </p:sp>
      <p:sp>
        <p:nvSpPr>
          <p:cNvPr id="6" name="Shape 3"/>
          <p:cNvSpPr/>
          <p:nvPr/>
        </p:nvSpPr>
        <p:spPr>
          <a:xfrm>
            <a:off x="640080" y="1609344"/>
            <a:ext cx="3520440" cy="402336"/>
          </a:xfrm>
          <a:prstGeom prst="roundRect">
            <a:avLst>
              <a:gd name="adj" fmla="val 18182"/>
            </a:avLst>
          </a:prstGeom>
          <a:solidFill>
            <a:srgbClr val="5A6B5D"/>
          </a:solidFill>
          <a:ln w="12700">
            <a:solidFill>
              <a:srgbClr val="5A6B5D"/>
            </a:solidFill>
            <a:prstDash val="solid"/>
          </a:ln>
        </p:spPr>
      </p:sp>
      <p:sp>
        <p:nvSpPr>
          <p:cNvPr id="7" name="Text 4"/>
          <p:cNvSpPr txBox="1"/>
          <p:nvPr/>
        </p:nvSpPr>
        <p:spPr>
          <a:xfrm>
            <a:off x="640080" y="1609344"/>
            <a:ext cx="352044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Callback</a:t>
            </a:r>
            <a:endParaRPr lang="en-US" sz="1250" dirty="0"/>
          </a:p>
        </p:txBody>
      </p:sp>
      <p:sp>
        <p:nvSpPr>
          <p:cNvPr id="8" name="Shape 5"/>
          <p:cNvSpPr/>
          <p:nvPr/>
        </p:nvSpPr>
        <p:spPr>
          <a:xfrm>
            <a:off x="640080" y="2103120"/>
            <a:ext cx="3520440" cy="1700784"/>
          </a:xfrm>
          <a:prstGeom prst="roundRect">
            <a:avLst>
              <a:gd name="adj" fmla="val 3763"/>
            </a:avLst>
          </a:prstGeom>
          <a:solidFill>
            <a:srgbClr val="0E2417"/>
          </a:solidFill>
          <a:ln w="12700">
            <a:solidFill>
              <a:srgbClr val="234A31"/>
            </a:solidFill>
            <a:prstDash val="solid"/>
          </a:ln>
        </p:spPr>
      </p:sp>
      <p:sp>
        <p:nvSpPr>
          <p:cNvPr id="9" name="Text 6"/>
          <p:cNvSpPr txBox="1"/>
          <p:nvPr/>
        </p:nvSpPr>
        <p:spPr>
          <a:xfrm>
            <a:off x="859536" y="2304288"/>
            <a:ext cx="3081528" cy="1389888"/>
          </a:xfrm>
          <a:prstGeom prst="rect">
            <a:avLst/>
          </a:prstGeom>
          <a:noFill/>
          <a:ln/>
        </p:spPr>
        <p:txBody>
          <a:bodyPr wrap="square" lIns="0" tIns="0" rIns="0" bIns="0" rtlCol="0" anchor="t"/>
          <a:lstStyle/>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ambilUser(</a:t>
            </a:r>
            <a:pPr indent="0" marL="0">
              <a:lnSpc>
                <a:spcPct val="106000"/>
              </a:lnSpc>
              <a:buNone/>
            </a:pPr>
            <a:r>
              <a:rPr lang="en-US" sz="94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(e, u) =&gt;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(e)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tangani(e);</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ambilPesanan(u, (e2, p) =&gt;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(e2)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tangani(e2);</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.log(p);</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a:t>
            </a:r>
            <a:endParaRPr lang="en-US" sz="940" dirty="0"/>
          </a:p>
        </p:txBody>
      </p:sp>
      <p:sp>
        <p:nvSpPr>
          <p:cNvPr id="10" name="Shape 7"/>
          <p:cNvSpPr/>
          <p:nvPr/>
        </p:nvSpPr>
        <p:spPr>
          <a:xfrm>
            <a:off x="4443984" y="1609344"/>
            <a:ext cx="3520440" cy="402336"/>
          </a:xfrm>
          <a:prstGeom prst="roundRect">
            <a:avLst>
              <a:gd name="adj" fmla="val 18182"/>
            </a:avLst>
          </a:prstGeom>
          <a:solidFill>
            <a:srgbClr val="3B7DD8"/>
          </a:solidFill>
          <a:ln w="12700">
            <a:solidFill>
              <a:srgbClr val="3B7DD8"/>
            </a:solidFill>
            <a:prstDash val="solid"/>
          </a:ln>
        </p:spPr>
      </p:sp>
      <p:sp>
        <p:nvSpPr>
          <p:cNvPr id="11" name="Text 8"/>
          <p:cNvSpPr txBox="1"/>
          <p:nvPr/>
        </p:nvSpPr>
        <p:spPr>
          <a:xfrm>
            <a:off x="4443984" y="1609344"/>
            <a:ext cx="352044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Promise</a:t>
            </a:r>
            <a:endParaRPr lang="en-US" sz="1250" dirty="0"/>
          </a:p>
        </p:txBody>
      </p:sp>
      <p:sp>
        <p:nvSpPr>
          <p:cNvPr id="12" name="Shape 9"/>
          <p:cNvSpPr/>
          <p:nvPr/>
        </p:nvSpPr>
        <p:spPr>
          <a:xfrm>
            <a:off x="4443984" y="2103120"/>
            <a:ext cx="3520440" cy="1700784"/>
          </a:xfrm>
          <a:prstGeom prst="roundRect">
            <a:avLst>
              <a:gd name="adj" fmla="val 3763"/>
            </a:avLst>
          </a:prstGeom>
          <a:solidFill>
            <a:srgbClr val="0E2417"/>
          </a:solidFill>
          <a:ln w="12700">
            <a:solidFill>
              <a:srgbClr val="234A31"/>
            </a:solidFill>
            <a:prstDash val="solid"/>
          </a:ln>
        </p:spPr>
      </p:sp>
      <p:sp>
        <p:nvSpPr>
          <p:cNvPr id="13" name="Text 10"/>
          <p:cNvSpPr txBox="1"/>
          <p:nvPr/>
        </p:nvSpPr>
        <p:spPr>
          <a:xfrm>
            <a:off x="4663440" y="2304288"/>
            <a:ext cx="3081528" cy="1389888"/>
          </a:xfrm>
          <a:prstGeom prst="rect">
            <a:avLst/>
          </a:prstGeom>
          <a:noFill/>
          <a:ln/>
        </p:spPr>
        <p:txBody>
          <a:bodyPr wrap="square" lIns="0" tIns="0" rIns="0" bIns="0" rtlCol="0" anchor="t"/>
          <a:lstStyle/>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ambilUser(</a:t>
            </a:r>
            <a:pPr indent="0" marL="0">
              <a:lnSpc>
                <a:spcPct val="106000"/>
              </a:lnSpc>
              <a:buNone/>
            </a:pPr>
            <a:r>
              <a:rPr lang="en-US" sz="94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.then(u =&gt; ambilPesanan(u))</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.then(p =&gt; </a:t>
            </a:r>
            <a:pPr indent="0" marL="0">
              <a:lnSpc>
                <a:spcPct val="106000"/>
              </a:lnSpc>
              <a:buNone/>
            </a:pPr>
            <a:r>
              <a:rPr lang="en-US" sz="94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.log(p))</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catch</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(e =&gt; tangani(e));</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endParaRPr lang="en-US" sz="940" dirty="0"/>
          </a:p>
        </p:txBody>
      </p:sp>
      <p:sp>
        <p:nvSpPr>
          <p:cNvPr id="14" name="Shape 11"/>
          <p:cNvSpPr/>
          <p:nvPr/>
        </p:nvSpPr>
        <p:spPr>
          <a:xfrm>
            <a:off x="8247888" y="1609344"/>
            <a:ext cx="3520440" cy="402336"/>
          </a:xfrm>
          <a:prstGeom prst="roundRect">
            <a:avLst>
              <a:gd name="adj" fmla="val 18182"/>
            </a:avLst>
          </a:prstGeom>
          <a:solidFill>
            <a:srgbClr val="3C873A"/>
          </a:solidFill>
          <a:ln w="12700">
            <a:solidFill>
              <a:srgbClr val="3C873A"/>
            </a:solidFill>
            <a:prstDash val="solid"/>
          </a:ln>
        </p:spPr>
      </p:sp>
      <p:sp>
        <p:nvSpPr>
          <p:cNvPr id="15" name="Text 12"/>
          <p:cNvSpPr txBox="1"/>
          <p:nvPr/>
        </p:nvSpPr>
        <p:spPr>
          <a:xfrm>
            <a:off x="8247888" y="1609344"/>
            <a:ext cx="3520440"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Async / Await</a:t>
            </a:r>
            <a:endParaRPr lang="en-US" sz="1250" dirty="0"/>
          </a:p>
        </p:txBody>
      </p:sp>
      <p:sp>
        <p:nvSpPr>
          <p:cNvPr id="16" name="Shape 13"/>
          <p:cNvSpPr/>
          <p:nvPr/>
        </p:nvSpPr>
        <p:spPr>
          <a:xfrm>
            <a:off x="8247888" y="2103120"/>
            <a:ext cx="3520440" cy="1700784"/>
          </a:xfrm>
          <a:prstGeom prst="roundRect">
            <a:avLst>
              <a:gd name="adj" fmla="val 3763"/>
            </a:avLst>
          </a:prstGeom>
          <a:solidFill>
            <a:srgbClr val="0E2417"/>
          </a:solidFill>
          <a:ln w="12700">
            <a:solidFill>
              <a:srgbClr val="234A31"/>
            </a:solidFill>
            <a:prstDash val="solid"/>
          </a:ln>
        </p:spPr>
      </p:sp>
      <p:sp>
        <p:nvSpPr>
          <p:cNvPr id="17" name="Text 14"/>
          <p:cNvSpPr txBox="1"/>
          <p:nvPr/>
        </p:nvSpPr>
        <p:spPr>
          <a:xfrm>
            <a:off x="8467344" y="2304288"/>
            <a:ext cx="3081528" cy="1389888"/>
          </a:xfrm>
          <a:prstGeom prst="rect">
            <a:avLst/>
          </a:prstGeom>
          <a:noFill/>
          <a:ln/>
        </p:spPr>
        <p:txBody>
          <a:bodyPr wrap="square" lIns="0" tIns="0" rIns="0" bIns="0" rtlCol="0" anchor="t"/>
          <a:lstStyle/>
          <a:p>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try</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u =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ambilUser(</a:t>
            </a:r>
            <a:pPr indent="0" marL="0">
              <a:lnSpc>
                <a:spcPct val="106000"/>
              </a:lnSpc>
              <a:buNone/>
            </a:pPr>
            <a:r>
              <a:rPr lang="en-US" sz="94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p =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ambilPesanan(u);</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.log(p);</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40" dirty="0">
                <a:solidFill>
                  <a:srgbClr val="8CC84B"/>
                </a:solidFill>
                <a:latin typeface="Courier New" pitchFamily="34" charset="0"/>
                <a:ea typeface="Courier New" pitchFamily="34" charset="-122"/>
                <a:cs typeface="Courier New" pitchFamily="34" charset="-120"/>
              </a:rPr>
              <a:t>catch</a:t>
            </a:r>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(e) {</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  tangani(e);</a:t>
            </a:r>
            <a:endParaRPr lang="en-US" sz="940" dirty="0"/>
          </a:p>
          <a:p>
            <a:pPr indent="0" marL="0">
              <a:lnSpc>
                <a:spcPct val="106000"/>
              </a:lnSpc>
              <a:buNone/>
            </a:pPr>
            <a:r>
              <a:rPr lang="en-US" sz="940" dirty="0">
                <a:solidFill>
                  <a:srgbClr val="DDE8DE"/>
                </a:solidFill>
                <a:latin typeface="Courier New" pitchFamily="34" charset="0"/>
                <a:ea typeface="Courier New" pitchFamily="34" charset="-122"/>
                <a:cs typeface="Courier New" pitchFamily="34" charset="-120"/>
              </a:rPr>
              <a:t>}</a:t>
            </a:r>
            <a:endParaRPr lang="en-US" sz="940" dirty="0"/>
          </a:p>
        </p:txBody>
      </p:sp>
      <p:sp>
        <p:nvSpPr>
          <p:cNvPr id="18" name="Shape 15"/>
          <p:cNvSpPr/>
          <p:nvPr/>
        </p:nvSpPr>
        <p:spPr>
          <a:xfrm>
            <a:off x="640080" y="4023360"/>
            <a:ext cx="10972800" cy="365760"/>
          </a:xfrm>
          <a:prstGeom prst="roundRect">
            <a:avLst>
              <a:gd name="adj" fmla="val 12500"/>
            </a:avLst>
          </a:prstGeom>
          <a:solidFill>
            <a:srgbClr val="0B2015"/>
          </a:solidFill>
          <a:ln w="12700">
            <a:solidFill>
              <a:srgbClr val="0B2015"/>
            </a:solidFill>
            <a:prstDash val="solid"/>
          </a:ln>
        </p:spPr>
      </p:sp>
      <p:sp>
        <p:nvSpPr>
          <p:cNvPr id="19" name="Text 16"/>
          <p:cNvSpPr txBox="1"/>
          <p:nvPr/>
        </p:nvSpPr>
        <p:spPr>
          <a:xfrm>
            <a:off x="841248" y="4023360"/>
            <a:ext cx="2286000" cy="365760"/>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Aspek</a:t>
            </a:r>
            <a:endParaRPr lang="en-US" sz="1080" dirty="0"/>
          </a:p>
        </p:txBody>
      </p:sp>
      <p:sp>
        <p:nvSpPr>
          <p:cNvPr id="20" name="Text 17"/>
          <p:cNvSpPr txBox="1"/>
          <p:nvPr/>
        </p:nvSpPr>
        <p:spPr>
          <a:xfrm>
            <a:off x="3200400" y="4023360"/>
            <a:ext cx="2743200" cy="365760"/>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Callback</a:t>
            </a:r>
            <a:endParaRPr lang="en-US" sz="1080" dirty="0"/>
          </a:p>
        </p:txBody>
      </p:sp>
      <p:sp>
        <p:nvSpPr>
          <p:cNvPr id="21" name="Text 18"/>
          <p:cNvSpPr txBox="1"/>
          <p:nvPr/>
        </p:nvSpPr>
        <p:spPr>
          <a:xfrm>
            <a:off x="6035040" y="4023360"/>
            <a:ext cx="2743200" cy="365760"/>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Promise</a:t>
            </a:r>
            <a:endParaRPr lang="en-US" sz="1080" dirty="0"/>
          </a:p>
        </p:txBody>
      </p:sp>
      <p:sp>
        <p:nvSpPr>
          <p:cNvPr id="22" name="Text 19"/>
          <p:cNvSpPr txBox="1"/>
          <p:nvPr/>
        </p:nvSpPr>
        <p:spPr>
          <a:xfrm>
            <a:off x="8869680" y="4023360"/>
            <a:ext cx="2560320" cy="365760"/>
          </a:xfrm>
          <a:prstGeom prst="rect">
            <a:avLst/>
          </a:prstGeom>
          <a:noFill/>
          <a:ln/>
        </p:spPr>
        <p:txBody>
          <a:bodyPr wrap="square" lIns="0" tIns="0" rIns="0" bIns="0" rtlCol="0" anchor="ctr"/>
          <a:lstStyle/>
          <a:p>
            <a:pPr indent="0" marL="0">
              <a:buNone/>
            </a:pPr>
            <a:r>
              <a:rPr lang="en-US" sz="1080" b="1" dirty="0">
                <a:solidFill>
                  <a:srgbClr val="FFFFFF"/>
                </a:solidFill>
                <a:latin typeface="Calibri" pitchFamily="34" charset="0"/>
                <a:ea typeface="Calibri" pitchFamily="34" charset="-122"/>
                <a:cs typeface="Calibri" pitchFamily="34" charset="-120"/>
              </a:rPr>
              <a:t>Async / Await</a:t>
            </a:r>
            <a:endParaRPr lang="en-US" sz="1080" dirty="0"/>
          </a:p>
        </p:txBody>
      </p:sp>
      <p:sp>
        <p:nvSpPr>
          <p:cNvPr id="23" name="Shape 20"/>
          <p:cNvSpPr/>
          <p:nvPr/>
        </p:nvSpPr>
        <p:spPr>
          <a:xfrm>
            <a:off x="640080" y="4425696"/>
            <a:ext cx="10972800" cy="365760"/>
          </a:xfrm>
          <a:prstGeom prst="roundRect">
            <a:avLst>
              <a:gd name="adj" fmla="val 12500"/>
            </a:avLst>
          </a:prstGeom>
          <a:solidFill>
            <a:srgbClr val="FFFFFF"/>
          </a:solidFill>
          <a:ln w="12700">
            <a:solidFill>
              <a:srgbClr val="E3EBDF"/>
            </a:solidFill>
            <a:prstDash val="solid"/>
          </a:ln>
        </p:spPr>
      </p:sp>
      <p:sp>
        <p:nvSpPr>
          <p:cNvPr id="24" name="Text 21"/>
          <p:cNvSpPr txBox="1"/>
          <p:nvPr/>
        </p:nvSpPr>
        <p:spPr>
          <a:xfrm>
            <a:off x="841248" y="4425696"/>
            <a:ext cx="2286000" cy="365760"/>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Keterbacaan</a:t>
            </a:r>
            <a:endParaRPr lang="en-US" sz="1080" dirty="0"/>
          </a:p>
        </p:txBody>
      </p:sp>
      <p:sp>
        <p:nvSpPr>
          <p:cNvPr id="25" name="Text 22"/>
          <p:cNvSpPr txBox="1"/>
          <p:nvPr/>
        </p:nvSpPr>
        <p:spPr>
          <a:xfrm>
            <a:off x="3200400" y="4425696"/>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Rendah bila bersarang</a:t>
            </a:r>
            <a:endParaRPr lang="en-US" sz="1080" dirty="0"/>
          </a:p>
        </p:txBody>
      </p:sp>
      <p:sp>
        <p:nvSpPr>
          <p:cNvPr id="26" name="Text 23"/>
          <p:cNvSpPr txBox="1"/>
          <p:nvPr/>
        </p:nvSpPr>
        <p:spPr>
          <a:xfrm>
            <a:off x="6035040" y="4425696"/>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Cukup baik</a:t>
            </a:r>
            <a:endParaRPr lang="en-US" sz="1080" dirty="0"/>
          </a:p>
        </p:txBody>
      </p:sp>
      <p:sp>
        <p:nvSpPr>
          <p:cNvPr id="27" name="Text 24"/>
          <p:cNvSpPr txBox="1"/>
          <p:nvPr/>
        </p:nvSpPr>
        <p:spPr>
          <a:xfrm>
            <a:off x="8869680" y="4425696"/>
            <a:ext cx="256032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Paling baik</a:t>
            </a:r>
            <a:endParaRPr lang="en-US" sz="1080" dirty="0"/>
          </a:p>
        </p:txBody>
      </p:sp>
      <p:sp>
        <p:nvSpPr>
          <p:cNvPr id="28" name="Shape 25"/>
          <p:cNvSpPr/>
          <p:nvPr/>
        </p:nvSpPr>
        <p:spPr>
          <a:xfrm>
            <a:off x="640080" y="4828032"/>
            <a:ext cx="10972800" cy="365760"/>
          </a:xfrm>
          <a:prstGeom prst="roundRect">
            <a:avLst>
              <a:gd name="adj" fmla="val 12500"/>
            </a:avLst>
          </a:prstGeom>
          <a:solidFill>
            <a:srgbClr val="EDF3E9"/>
          </a:solidFill>
          <a:ln w="12700">
            <a:solidFill>
              <a:srgbClr val="E3EBDF"/>
            </a:solidFill>
            <a:prstDash val="solid"/>
          </a:ln>
        </p:spPr>
      </p:sp>
      <p:sp>
        <p:nvSpPr>
          <p:cNvPr id="29" name="Text 26"/>
          <p:cNvSpPr txBox="1"/>
          <p:nvPr/>
        </p:nvSpPr>
        <p:spPr>
          <a:xfrm>
            <a:off x="841248" y="4828032"/>
            <a:ext cx="2286000" cy="365760"/>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Penanganan error</a:t>
            </a:r>
            <a:endParaRPr lang="en-US" sz="1080" dirty="0"/>
          </a:p>
        </p:txBody>
      </p:sp>
      <p:sp>
        <p:nvSpPr>
          <p:cNvPr id="30" name="Text 27"/>
          <p:cNvSpPr txBox="1"/>
          <p:nvPr/>
        </p:nvSpPr>
        <p:spPr>
          <a:xfrm>
            <a:off x="3200400" y="4828032"/>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Manual di tiap tingkat</a:t>
            </a:r>
            <a:endParaRPr lang="en-US" sz="1080" dirty="0"/>
          </a:p>
        </p:txBody>
      </p:sp>
      <p:sp>
        <p:nvSpPr>
          <p:cNvPr id="31" name="Text 28"/>
          <p:cNvSpPr txBox="1"/>
          <p:nvPr/>
        </p:nvSpPr>
        <p:spPr>
          <a:xfrm>
            <a:off x="6035040" y="4828032"/>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Terpusat di .catch()</a:t>
            </a:r>
            <a:endParaRPr lang="en-US" sz="1080" dirty="0"/>
          </a:p>
        </p:txBody>
      </p:sp>
      <p:sp>
        <p:nvSpPr>
          <p:cNvPr id="32" name="Text 29"/>
          <p:cNvSpPr txBox="1"/>
          <p:nvPr/>
        </p:nvSpPr>
        <p:spPr>
          <a:xfrm>
            <a:off x="8869680" y="4828032"/>
            <a:ext cx="256032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try / catch biasa</a:t>
            </a:r>
            <a:endParaRPr lang="en-US" sz="1080" dirty="0"/>
          </a:p>
        </p:txBody>
      </p:sp>
      <p:sp>
        <p:nvSpPr>
          <p:cNvPr id="33" name="Shape 30"/>
          <p:cNvSpPr/>
          <p:nvPr/>
        </p:nvSpPr>
        <p:spPr>
          <a:xfrm>
            <a:off x="640080" y="5230368"/>
            <a:ext cx="10972800" cy="365760"/>
          </a:xfrm>
          <a:prstGeom prst="roundRect">
            <a:avLst>
              <a:gd name="adj" fmla="val 12500"/>
            </a:avLst>
          </a:prstGeom>
          <a:solidFill>
            <a:srgbClr val="FFFFFF"/>
          </a:solidFill>
          <a:ln w="12700">
            <a:solidFill>
              <a:srgbClr val="E3EBDF"/>
            </a:solidFill>
            <a:prstDash val="solid"/>
          </a:ln>
        </p:spPr>
      </p:sp>
      <p:sp>
        <p:nvSpPr>
          <p:cNvPr id="34" name="Text 31"/>
          <p:cNvSpPr txBox="1"/>
          <p:nvPr/>
        </p:nvSpPr>
        <p:spPr>
          <a:xfrm>
            <a:off x="841248" y="5230368"/>
            <a:ext cx="2286000" cy="365760"/>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Alur bersarang</a:t>
            </a:r>
            <a:endParaRPr lang="en-US" sz="1080" dirty="0"/>
          </a:p>
        </p:txBody>
      </p:sp>
      <p:sp>
        <p:nvSpPr>
          <p:cNvPr id="35" name="Text 32"/>
          <p:cNvSpPr txBox="1"/>
          <p:nvPr/>
        </p:nvSpPr>
        <p:spPr>
          <a:xfrm>
            <a:off x="3200400" y="5230368"/>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Menjorok makin dalam</a:t>
            </a:r>
            <a:endParaRPr lang="en-US" sz="1080" dirty="0"/>
          </a:p>
        </p:txBody>
      </p:sp>
      <p:sp>
        <p:nvSpPr>
          <p:cNvPr id="36" name="Text 33"/>
          <p:cNvSpPr txBox="1"/>
          <p:nvPr/>
        </p:nvSpPr>
        <p:spPr>
          <a:xfrm>
            <a:off x="6035040" y="5230368"/>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Mendatar berantai</a:t>
            </a:r>
            <a:endParaRPr lang="en-US" sz="1080" dirty="0"/>
          </a:p>
        </p:txBody>
      </p:sp>
      <p:sp>
        <p:nvSpPr>
          <p:cNvPr id="37" name="Text 34"/>
          <p:cNvSpPr txBox="1"/>
          <p:nvPr/>
        </p:nvSpPr>
        <p:spPr>
          <a:xfrm>
            <a:off x="8869680" y="5230368"/>
            <a:ext cx="256032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Mendatar dan lurus</a:t>
            </a:r>
            <a:endParaRPr lang="en-US" sz="1080" dirty="0"/>
          </a:p>
        </p:txBody>
      </p:sp>
      <p:sp>
        <p:nvSpPr>
          <p:cNvPr id="38" name="Shape 35"/>
          <p:cNvSpPr/>
          <p:nvPr/>
        </p:nvSpPr>
        <p:spPr>
          <a:xfrm>
            <a:off x="640080" y="5632704"/>
            <a:ext cx="10972800" cy="365760"/>
          </a:xfrm>
          <a:prstGeom prst="roundRect">
            <a:avLst>
              <a:gd name="adj" fmla="val 12500"/>
            </a:avLst>
          </a:prstGeom>
          <a:solidFill>
            <a:srgbClr val="EDF3E9"/>
          </a:solidFill>
          <a:ln w="12700">
            <a:solidFill>
              <a:srgbClr val="E3EBDF"/>
            </a:solidFill>
            <a:prstDash val="solid"/>
          </a:ln>
        </p:spPr>
      </p:sp>
      <p:sp>
        <p:nvSpPr>
          <p:cNvPr id="39" name="Text 36"/>
          <p:cNvSpPr txBox="1"/>
          <p:nvPr/>
        </p:nvSpPr>
        <p:spPr>
          <a:xfrm>
            <a:off x="841248" y="5632704"/>
            <a:ext cx="2286000" cy="365760"/>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Ketersediaan</a:t>
            </a:r>
            <a:endParaRPr lang="en-US" sz="1080" dirty="0"/>
          </a:p>
        </p:txBody>
      </p:sp>
      <p:sp>
        <p:nvSpPr>
          <p:cNvPr id="40" name="Text 37"/>
          <p:cNvSpPr txBox="1"/>
          <p:nvPr/>
        </p:nvSpPr>
        <p:spPr>
          <a:xfrm>
            <a:off x="3200400" y="5632704"/>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Sejak awal Node.js</a:t>
            </a:r>
            <a:endParaRPr lang="en-US" sz="1080" dirty="0"/>
          </a:p>
        </p:txBody>
      </p:sp>
      <p:sp>
        <p:nvSpPr>
          <p:cNvPr id="41" name="Text 38"/>
          <p:cNvSpPr txBox="1"/>
          <p:nvPr/>
        </p:nvSpPr>
        <p:spPr>
          <a:xfrm>
            <a:off x="6035040" y="5632704"/>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Sejak ES2015</a:t>
            </a:r>
            <a:endParaRPr lang="en-US" sz="1080" dirty="0"/>
          </a:p>
        </p:txBody>
      </p:sp>
      <p:sp>
        <p:nvSpPr>
          <p:cNvPr id="42" name="Text 39"/>
          <p:cNvSpPr txBox="1"/>
          <p:nvPr/>
        </p:nvSpPr>
        <p:spPr>
          <a:xfrm>
            <a:off x="8869680" y="5632704"/>
            <a:ext cx="256032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Sejak ES2017</a:t>
            </a:r>
            <a:endParaRPr lang="en-US" sz="1080" dirty="0"/>
          </a:p>
        </p:txBody>
      </p:sp>
      <p:sp>
        <p:nvSpPr>
          <p:cNvPr id="43" name="Shape 40"/>
          <p:cNvSpPr/>
          <p:nvPr/>
        </p:nvSpPr>
        <p:spPr>
          <a:xfrm>
            <a:off x="640080" y="6035040"/>
            <a:ext cx="10972800" cy="365760"/>
          </a:xfrm>
          <a:prstGeom prst="roundRect">
            <a:avLst>
              <a:gd name="adj" fmla="val 12500"/>
            </a:avLst>
          </a:prstGeom>
          <a:solidFill>
            <a:srgbClr val="FFFFFF"/>
          </a:solidFill>
          <a:ln w="12700">
            <a:solidFill>
              <a:srgbClr val="E3EBDF"/>
            </a:solidFill>
            <a:prstDash val="solid"/>
          </a:ln>
        </p:spPr>
      </p:sp>
      <p:sp>
        <p:nvSpPr>
          <p:cNvPr id="44" name="Text 41"/>
          <p:cNvSpPr txBox="1"/>
          <p:nvPr/>
        </p:nvSpPr>
        <p:spPr>
          <a:xfrm>
            <a:off x="841248" y="6035040"/>
            <a:ext cx="2286000" cy="365760"/>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Rekomendasi</a:t>
            </a:r>
            <a:endParaRPr lang="en-US" sz="1080" dirty="0"/>
          </a:p>
        </p:txBody>
      </p:sp>
      <p:sp>
        <p:nvSpPr>
          <p:cNvPr id="45" name="Text 42"/>
          <p:cNvSpPr txBox="1"/>
          <p:nvPr/>
        </p:nvSpPr>
        <p:spPr>
          <a:xfrm>
            <a:off x="3200400" y="6035040"/>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Hanya untuk API lama</a:t>
            </a:r>
            <a:endParaRPr lang="en-US" sz="1080" dirty="0"/>
          </a:p>
        </p:txBody>
      </p:sp>
      <p:sp>
        <p:nvSpPr>
          <p:cNvPr id="46" name="Text 43"/>
          <p:cNvSpPr txBox="1"/>
          <p:nvPr/>
        </p:nvSpPr>
        <p:spPr>
          <a:xfrm>
            <a:off x="6035040" y="6035040"/>
            <a:ext cx="274320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Untuk operasi paralel</a:t>
            </a:r>
            <a:endParaRPr lang="en-US" sz="1080" dirty="0"/>
          </a:p>
        </p:txBody>
      </p:sp>
      <p:sp>
        <p:nvSpPr>
          <p:cNvPr id="47" name="Text 44"/>
          <p:cNvSpPr txBox="1"/>
          <p:nvPr/>
        </p:nvSpPr>
        <p:spPr>
          <a:xfrm>
            <a:off x="8869680" y="6035040"/>
            <a:ext cx="2560320" cy="365760"/>
          </a:xfrm>
          <a:prstGeom prst="rect">
            <a:avLst/>
          </a:prstGeom>
          <a:noFill/>
          <a:ln/>
        </p:spPr>
        <p:txBody>
          <a:bodyPr wrap="square" lIns="0" tIns="0" rIns="0" bIns="0" rtlCol="0" anchor="ctr"/>
          <a:lstStyle/>
          <a:p>
            <a:pPr indent="0" marL="0">
              <a:buNone/>
            </a:pPr>
            <a:r>
              <a:rPr lang="en-US" sz="1080" dirty="0">
                <a:solidFill>
                  <a:srgbClr val="16241B"/>
                </a:solidFill>
                <a:latin typeface="Calibri" pitchFamily="34" charset="0"/>
                <a:ea typeface="Calibri" pitchFamily="34" charset="-122"/>
                <a:cs typeface="Calibri" pitchFamily="34" charset="-120"/>
              </a:rPr>
              <a:t>Pilihan utama kode baru</a:t>
            </a:r>
            <a:endParaRPr lang="en-US" sz="1080" dirty="0"/>
          </a:p>
        </p:txBody>
      </p:sp>
      <p:sp>
        <p:nvSpPr>
          <p:cNvPr id="48" name="Text 45"/>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9" name="Text 46"/>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EventEmitter dan Pola Event-Driven</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Fondasi arsitektur Node.js: bereaksi terhadap peristiwa</a:t>
            </a:r>
            <a:endParaRPr lang="en-US" sz="1300" dirty="0"/>
          </a:p>
        </p:txBody>
      </p:sp>
      <p:sp>
        <p:nvSpPr>
          <p:cNvPr id="6" name="Shape 3"/>
          <p:cNvSpPr/>
          <p:nvPr/>
        </p:nvSpPr>
        <p:spPr>
          <a:xfrm>
            <a:off x="640080" y="1609344"/>
            <a:ext cx="5577840" cy="1225296"/>
          </a:xfrm>
          <a:prstGeom prst="roundRect">
            <a:avLst>
              <a:gd name="adj" fmla="val 671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44622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Konsep Dasar</a:t>
            </a:r>
            <a:endParaRPr lang="en-US" sz="1300" dirty="0"/>
          </a:p>
        </p:txBody>
      </p:sp>
      <p:sp>
        <p:nvSpPr>
          <p:cNvPr id="10" name="Text 6"/>
          <p:cNvSpPr txBox="1"/>
          <p:nvPr/>
        </p:nvSpPr>
        <p:spPr>
          <a:xfrm>
            <a:off x="896112" y="2395728"/>
            <a:ext cx="5065776" cy="274320"/>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Sebuah objek memancarkan peristiwa bernama, dan objek lain mendaftarkan pendengar untuk bereaksi. Modul http, stream, dan fs dibangun di atas pola ini.</a:t>
            </a:r>
            <a:endParaRPr lang="en-US" sz="1080" dirty="0"/>
          </a:p>
        </p:txBody>
      </p:sp>
      <p:sp>
        <p:nvSpPr>
          <p:cNvPr id="11" name="Shape 7"/>
          <p:cNvSpPr/>
          <p:nvPr/>
        </p:nvSpPr>
        <p:spPr>
          <a:xfrm>
            <a:off x="640080" y="2907792"/>
            <a:ext cx="5577840" cy="3342607"/>
          </a:xfrm>
          <a:prstGeom prst="roundRect">
            <a:avLst>
              <a:gd name="adj" fmla="val 1915"/>
            </a:avLst>
          </a:prstGeom>
          <a:solidFill>
            <a:srgbClr val="0E2417"/>
          </a:solidFill>
          <a:ln w="12700">
            <a:solidFill>
              <a:srgbClr val="234A31"/>
            </a:solidFill>
            <a:prstDash val="solid"/>
          </a:ln>
        </p:spPr>
      </p:sp>
      <p:sp>
        <p:nvSpPr>
          <p:cNvPr id="12" name="Text 8"/>
          <p:cNvSpPr txBox="1"/>
          <p:nvPr/>
        </p:nvSpPr>
        <p:spPr>
          <a:xfrm>
            <a:off x="859536" y="299923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MEMBUAT EVENT EMITTER</a:t>
            </a:r>
            <a:endParaRPr lang="en-US" sz="950" dirty="0"/>
          </a:p>
        </p:txBody>
      </p:sp>
      <p:sp>
        <p:nvSpPr>
          <p:cNvPr id="13" name="Text 9"/>
          <p:cNvSpPr txBox="1"/>
          <p:nvPr/>
        </p:nvSpPr>
        <p:spPr>
          <a:xfrm>
            <a:off x="859536" y="3310128"/>
            <a:ext cx="5138928" cy="2830543"/>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EventEmitter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'events'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class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Pesanan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extends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EventEmitter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buat(item)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 proses penyimpanan pesanan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this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.emit(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'dibuat'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item);</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pesanan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Pesanan();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pesanan.on(</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'dibuat'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(item)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'Pesanan baru:'</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item);</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pesanan.buat({ nama: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'Kopi'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jumlah: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p:txBody>
      </p:sp>
      <p:sp>
        <p:nvSpPr>
          <p:cNvPr id="14" name="Shape 10"/>
          <p:cNvSpPr/>
          <p:nvPr/>
        </p:nvSpPr>
        <p:spPr>
          <a:xfrm>
            <a:off x="6492240" y="1609344"/>
            <a:ext cx="5120640" cy="365760"/>
          </a:xfrm>
          <a:prstGeom prst="roundRect">
            <a:avLst>
              <a:gd name="adj" fmla="val 12500"/>
            </a:avLst>
          </a:prstGeom>
          <a:solidFill>
            <a:srgbClr val="0B2015"/>
          </a:solidFill>
          <a:ln w="12700">
            <a:solidFill>
              <a:srgbClr val="0B2015"/>
            </a:solidFill>
            <a:prstDash val="solid"/>
          </a:ln>
        </p:spPr>
      </p:sp>
      <p:sp>
        <p:nvSpPr>
          <p:cNvPr id="15" name="Text 11"/>
          <p:cNvSpPr txBox="1"/>
          <p:nvPr/>
        </p:nvSpPr>
        <p:spPr>
          <a:xfrm>
            <a:off x="6675120" y="1609344"/>
            <a:ext cx="1965960" cy="365760"/>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Metode</a:t>
            </a:r>
            <a:endParaRPr lang="en-US" sz="1020" dirty="0"/>
          </a:p>
        </p:txBody>
      </p:sp>
      <p:sp>
        <p:nvSpPr>
          <p:cNvPr id="16" name="Text 12"/>
          <p:cNvSpPr txBox="1"/>
          <p:nvPr/>
        </p:nvSpPr>
        <p:spPr>
          <a:xfrm>
            <a:off x="8686800" y="1609344"/>
            <a:ext cx="2743200" cy="365760"/>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Kegunaan</a:t>
            </a:r>
            <a:endParaRPr lang="en-US" sz="1020" dirty="0"/>
          </a:p>
        </p:txBody>
      </p:sp>
      <p:sp>
        <p:nvSpPr>
          <p:cNvPr id="17" name="Shape 13"/>
          <p:cNvSpPr/>
          <p:nvPr/>
        </p:nvSpPr>
        <p:spPr>
          <a:xfrm>
            <a:off x="6492240" y="2011680"/>
            <a:ext cx="5120640" cy="365760"/>
          </a:xfrm>
          <a:prstGeom prst="roundRect">
            <a:avLst>
              <a:gd name="adj" fmla="val 12500"/>
            </a:avLst>
          </a:prstGeom>
          <a:solidFill>
            <a:srgbClr val="FFFFFF"/>
          </a:solidFill>
          <a:ln w="12700">
            <a:solidFill>
              <a:srgbClr val="E3EBDF"/>
            </a:solidFill>
            <a:prstDash val="solid"/>
          </a:ln>
        </p:spPr>
      </p:sp>
      <p:sp>
        <p:nvSpPr>
          <p:cNvPr id="18" name="Text 14"/>
          <p:cNvSpPr txBox="1"/>
          <p:nvPr/>
        </p:nvSpPr>
        <p:spPr>
          <a:xfrm>
            <a:off x="6675120" y="2011680"/>
            <a:ext cx="1965960" cy="365760"/>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on(nama, fn)</a:t>
            </a:r>
            <a:endParaRPr lang="en-US" sz="1020" dirty="0"/>
          </a:p>
        </p:txBody>
      </p:sp>
      <p:sp>
        <p:nvSpPr>
          <p:cNvPr id="19" name="Text 15"/>
          <p:cNvSpPr txBox="1"/>
          <p:nvPr/>
        </p:nvSpPr>
        <p:spPr>
          <a:xfrm>
            <a:off x="8686800" y="2011680"/>
            <a:ext cx="2743200" cy="365760"/>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Mendaftarkan pendengar peristiwa</a:t>
            </a:r>
            <a:endParaRPr lang="en-US" sz="1020" dirty="0"/>
          </a:p>
        </p:txBody>
      </p:sp>
      <p:sp>
        <p:nvSpPr>
          <p:cNvPr id="20" name="Shape 16"/>
          <p:cNvSpPr/>
          <p:nvPr/>
        </p:nvSpPr>
        <p:spPr>
          <a:xfrm>
            <a:off x="6492240" y="2414016"/>
            <a:ext cx="5120640" cy="365760"/>
          </a:xfrm>
          <a:prstGeom prst="roundRect">
            <a:avLst>
              <a:gd name="adj" fmla="val 12500"/>
            </a:avLst>
          </a:prstGeom>
          <a:solidFill>
            <a:srgbClr val="EDF3E9"/>
          </a:solidFill>
          <a:ln w="12700">
            <a:solidFill>
              <a:srgbClr val="E3EBDF"/>
            </a:solidFill>
            <a:prstDash val="solid"/>
          </a:ln>
        </p:spPr>
      </p:sp>
      <p:sp>
        <p:nvSpPr>
          <p:cNvPr id="21" name="Text 17"/>
          <p:cNvSpPr txBox="1"/>
          <p:nvPr/>
        </p:nvSpPr>
        <p:spPr>
          <a:xfrm>
            <a:off x="6675120" y="2414016"/>
            <a:ext cx="1965960" cy="365760"/>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once(nama, fn)</a:t>
            </a:r>
            <a:endParaRPr lang="en-US" sz="1020" dirty="0"/>
          </a:p>
        </p:txBody>
      </p:sp>
      <p:sp>
        <p:nvSpPr>
          <p:cNvPr id="22" name="Text 18"/>
          <p:cNvSpPr txBox="1"/>
          <p:nvPr/>
        </p:nvSpPr>
        <p:spPr>
          <a:xfrm>
            <a:off x="8686800" y="2414016"/>
            <a:ext cx="2743200" cy="365760"/>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Pendengar yang berjalan sekali saja</a:t>
            </a:r>
            <a:endParaRPr lang="en-US" sz="1020" dirty="0"/>
          </a:p>
        </p:txBody>
      </p:sp>
      <p:sp>
        <p:nvSpPr>
          <p:cNvPr id="23" name="Shape 19"/>
          <p:cNvSpPr/>
          <p:nvPr/>
        </p:nvSpPr>
        <p:spPr>
          <a:xfrm>
            <a:off x="6492240" y="2816352"/>
            <a:ext cx="5120640" cy="365760"/>
          </a:xfrm>
          <a:prstGeom prst="roundRect">
            <a:avLst>
              <a:gd name="adj" fmla="val 12500"/>
            </a:avLst>
          </a:prstGeom>
          <a:solidFill>
            <a:srgbClr val="FFFFFF"/>
          </a:solidFill>
          <a:ln w="12700">
            <a:solidFill>
              <a:srgbClr val="E3EBDF"/>
            </a:solidFill>
            <a:prstDash val="solid"/>
          </a:ln>
        </p:spPr>
      </p:sp>
      <p:sp>
        <p:nvSpPr>
          <p:cNvPr id="24" name="Text 20"/>
          <p:cNvSpPr txBox="1"/>
          <p:nvPr/>
        </p:nvSpPr>
        <p:spPr>
          <a:xfrm>
            <a:off x="6675120" y="2816352"/>
            <a:ext cx="1965960" cy="365760"/>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emit(nama, ...)</a:t>
            </a:r>
            <a:endParaRPr lang="en-US" sz="1020" dirty="0"/>
          </a:p>
        </p:txBody>
      </p:sp>
      <p:sp>
        <p:nvSpPr>
          <p:cNvPr id="25" name="Text 21"/>
          <p:cNvSpPr txBox="1"/>
          <p:nvPr/>
        </p:nvSpPr>
        <p:spPr>
          <a:xfrm>
            <a:off x="8686800" y="2816352"/>
            <a:ext cx="2743200" cy="365760"/>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Memancarkan peristiwa ke pendengar</a:t>
            </a:r>
            <a:endParaRPr lang="en-US" sz="1020" dirty="0"/>
          </a:p>
        </p:txBody>
      </p:sp>
      <p:sp>
        <p:nvSpPr>
          <p:cNvPr id="26" name="Shape 22"/>
          <p:cNvSpPr/>
          <p:nvPr/>
        </p:nvSpPr>
        <p:spPr>
          <a:xfrm>
            <a:off x="6492240" y="3218688"/>
            <a:ext cx="5120640" cy="365760"/>
          </a:xfrm>
          <a:prstGeom prst="roundRect">
            <a:avLst>
              <a:gd name="adj" fmla="val 12500"/>
            </a:avLst>
          </a:prstGeom>
          <a:solidFill>
            <a:srgbClr val="EDF3E9"/>
          </a:solidFill>
          <a:ln w="12700">
            <a:solidFill>
              <a:srgbClr val="E3EBDF"/>
            </a:solidFill>
            <a:prstDash val="solid"/>
          </a:ln>
        </p:spPr>
      </p:sp>
      <p:sp>
        <p:nvSpPr>
          <p:cNvPr id="27" name="Text 23"/>
          <p:cNvSpPr txBox="1"/>
          <p:nvPr/>
        </p:nvSpPr>
        <p:spPr>
          <a:xfrm>
            <a:off x="6675120" y="3218688"/>
            <a:ext cx="1965960" cy="365760"/>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off(nama, fn)</a:t>
            </a:r>
            <a:endParaRPr lang="en-US" sz="1020" dirty="0"/>
          </a:p>
        </p:txBody>
      </p:sp>
      <p:sp>
        <p:nvSpPr>
          <p:cNvPr id="28" name="Text 24"/>
          <p:cNvSpPr txBox="1"/>
          <p:nvPr/>
        </p:nvSpPr>
        <p:spPr>
          <a:xfrm>
            <a:off x="8686800" y="3218688"/>
            <a:ext cx="2743200" cy="365760"/>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Menghapus satu pendengar tertentu</a:t>
            </a:r>
            <a:endParaRPr lang="en-US" sz="1020" dirty="0"/>
          </a:p>
        </p:txBody>
      </p:sp>
      <p:sp>
        <p:nvSpPr>
          <p:cNvPr id="29" name="Shape 25"/>
          <p:cNvSpPr/>
          <p:nvPr/>
        </p:nvSpPr>
        <p:spPr>
          <a:xfrm>
            <a:off x="6492240" y="3621024"/>
            <a:ext cx="5120640" cy="365760"/>
          </a:xfrm>
          <a:prstGeom prst="roundRect">
            <a:avLst>
              <a:gd name="adj" fmla="val 12500"/>
            </a:avLst>
          </a:prstGeom>
          <a:solidFill>
            <a:srgbClr val="FFFFFF"/>
          </a:solidFill>
          <a:ln w="12700">
            <a:solidFill>
              <a:srgbClr val="E3EBDF"/>
            </a:solidFill>
            <a:prstDash val="solid"/>
          </a:ln>
        </p:spPr>
      </p:sp>
      <p:sp>
        <p:nvSpPr>
          <p:cNvPr id="30" name="Text 26"/>
          <p:cNvSpPr txBox="1"/>
          <p:nvPr/>
        </p:nvSpPr>
        <p:spPr>
          <a:xfrm>
            <a:off x="6675120" y="3621024"/>
            <a:ext cx="1965960" cy="365760"/>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listenerCount(n)</a:t>
            </a:r>
            <a:endParaRPr lang="en-US" sz="1020" dirty="0"/>
          </a:p>
        </p:txBody>
      </p:sp>
      <p:sp>
        <p:nvSpPr>
          <p:cNvPr id="31" name="Text 27"/>
          <p:cNvSpPr txBox="1"/>
          <p:nvPr/>
        </p:nvSpPr>
        <p:spPr>
          <a:xfrm>
            <a:off x="8686800" y="3621024"/>
            <a:ext cx="2743200" cy="365760"/>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Menghitung jumlah pendengar aktif</a:t>
            </a:r>
            <a:endParaRPr lang="en-US" sz="1020" dirty="0"/>
          </a:p>
        </p:txBody>
      </p:sp>
      <p:sp>
        <p:nvSpPr>
          <p:cNvPr id="32" name="Shape 28"/>
          <p:cNvSpPr/>
          <p:nvPr/>
        </p:nvSpPr>
        <p:spPr>
          <a:xfrm>
            <a:off x="6492240" y="4224528"/>
            <a:ext cx="420624" cy="420624"/>
          </a:xfrm>
          <a:prstGeom prst="roundRect">
            <a:avLst>
              <a:gd name="adj" fmla="val 26087"/>
            </a:avLst>
          </a:prstGeom>
          <a:solidFill>
            <a:srgbClr val="E8F2E2"/>
          </a:solidFill>
          <a:ln w="12700">
            <a:solidFill>
              <a:srgbClr val="E8F2E2"/>
            </a:solidFill>
            <a:prstDash val="solid"/>
          </a:ln>
        </p:spPr>
      </p:sp>
      <p:pic>
        <p:nvPicPr>
          <p:cNvPr id="33" name="Image 2" descr="preencoded.png">    </p:cNvPr>
          <p:cNvPicPr>
            <a:picLocks noChangeAspect="1"/>
          </p:cNvPicPr>
          <p:nvPr/>
        </p:nvPicPr>
        <p:blipFill>
          <a:blip r:embed="rId3"/>
          <a:stretch>
            <a:fillRect/>
          </a:stretch>
        </p:blipFill>
        <p:spPr>
          <a:xfrm>
            <a:off x="6597396" y="4329684"/>
            <a:ext cx="210312" cy="210312"/>
          </a:xfrm>
          <a:prstGeom prst="rect">
            <a:avLst/>
          </a:prstGeom>
        </p:spPr>
      </p:pic>
      <p:sp>
        <p:nvSpPr>
          <p:cNvPr id="34" name="Text 29"/>
          <p:cNvSpPr txBox="1"/>
          <p:nvPr/>
        </p:nvSpPr>
        <p:spPr>
          <a:xfrm>
            <a:off x="7059168" y="4206240"/>
            <a:ext cx="45537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Server HTTP</a:t>
            </a:r>
            <a:endParaRPr lang="en-US" sz="1250" dirty="0"/>
          </a:p>
        </p:txBody>
      </p:sp>
      <p:sp>
        <p:nvSpPr>
          <p:cNvPr id="35" name="Text 30"/>
          <p:cNvSpPr txBox="1"/>
          <p:nvPr/>
        </p:nvSpPr>
        <p:spPr>
          <a:xfrm>
            <a:off x="7059168" y="4462272"/>
            <a:ext cx="4553712" cy="32918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Objek server memancarkan peristiwa request dan connection untuk setiap koneksi masuk.</a:t>
            </a:r>
            <a:endParaRPr lang="en-US" sz="1030" dirty="0"/>
          </a:p>
        </p:txBody>
      </p:sp>
      <p:sp>
        <p:nvSpPr>
          <p:cNvPr id="36" name="Shape 31"/>
          <p:cNvSpPr/>
          <p:nvPr/>
        </p:nvSpPr>
        <p:spPr>
          <a:xfrm>
            <a:off x="6492240" y="4882896"/>
            <a:ext cx="420624" cy="420624"/>
          </a:xfrm>
          <a:prstGeom prst="roundRect">
            <a:avLst>
              <a:gd name="adj" fmla="val 26087"/>
            </a:avLst>
          </a:prstGeom>
          <a:solidFill>
            <a:srgbClr val="E8F2E2"/>
          </a:solidFill>
          <a:ln w="12700">
            <a:solidFill>
              <a:srgbClr val="E8F2E2"/>
            </a:solidFill>
            <a:prstDash val="solid"/>
          </a:ln>
        </p:spPr>
      </p:sp>
      <p:pic>
        <p:nvPicPr>
          <p:cNvPr id="37" name="Image 3" descr="preencoded.png">    </p:cNvPr>
          <p:cNvPicPr>
            <a:picLocks noChangeAspect="1"/>
          </p:cNvPicPr>
          <p:nvPr/>
        </p:nvPicPr>
        <p:blipFill>
          <a:blip r:embed="rId4"/>
          <a:stretch>
            <a:fillRect/>
          </a:stretch>
        </p:blipFill>
        <p:spPr>
          <a:xfrm>
            <a:off x="6597396" y="4988052"/>
            <a:ext cx="210312" cy="210312"/>
          </a:xfrm>
          <a:prstGeom prst="rect">
            <a:avLst/>
          </a:prstGeom>
        </p:spPr>
      </p:pic>
      <p:sp>
        <p:nvSpPr>
          <p:cNvPr id="38" name="Text 32"/>
          <p:cNvSpPr txBox="1"/>
          <p:nvPr/>
        </p:nvSpPr>
        <p:spPr>
          <a:xfrm>
            <a:off x="7059168" y="4864608"/>
            <a:ext cx="45537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Stream</a:t>
            </a:r>
            <a:endParaRPr lang="en-US" sz="1250" dirty="0"/>
          </a:p>
        </p:txBody>
      </p:sp>
      <p:sp>
        <p:nvSpPr>
          <p:cNvPr id="39" name="Text 33"/>
          <p:cNvSpPr txBox="1"/>
          <p:nvPr/>
        </p:nvSpPr>
        <p:spPr>
          <a:xfrm>
            <a:off x="7059168" y="5120640"/>
            <a:ext cx="4553712" cy="32918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Stream memancarkan data, end, dan error selama proses pembacaan berlangsung.</a:t>
            </a:r>
            <a:endParaRPr lang="en-US" sz="1030" dirty="0"/>
          </a:p>
        </p:txBody>
      </p:sp>
      <p:sp>
        <p:nvSpPr>
          <p:cNvPr id="40" name="Shape 34"/>
          <p:cNvSpPr/>
          <p:nvPr/>
        </p:nvSpPr>
        <p:spPr>
          <a:xfrm>
            <a:off x="6492240" y="5541264"/>
            <a:ext cx="420624" cy="420624"/>
          </a:xfrm>
          <a:prstGeom prst="roundRect">
            <a:avLst>
              <a:gd name="adj" fmla="val 26087"/>
            </a:avLst>
          </a:prstGeom>
          <a:solidFill>
            <a:srgbClr val="E8F2E2"/>
          </a:solidFill>
          <a:ln w="12700">
            <a:solidFill>
              <a:srgbClr val="E8F2E2"/>
            </a:solidFill>
            <a:prstDash val="solid"/>
          </a:ln>
        </p:spPr>
      </p:sp>
      <p:pic>
        <p:nvPicPr>
          <p:cNvPr id="41" name="Image 4" descr="preencoded.png">    </p:cNvPr>
          <p:cNvPicPr>
            <a:picLocks noChangeAspect="1"/>
          </p:cNvPicPr>
          <p:nvPr/>
        </p:nvPicPr>
        <p:blipFill>
          <a:blip r:embed="rId5"/>
          <a:stretch>
            <a:fillRect/>
          </a:stretch>
        </p:blipFill>
        <p:spPr>
          <a:xfrm>
            <a:off x="6597396" y="5646420"/>
            <a:ext cx="210312" cy="210312"/>
          </a:xfrm>
          <a:prstGeom prst="rect">
            <a:avLst/>
          </a:prstGeom>
        </p:spPr>
      </p:pic>
      <p:sp>
        <p:nvSpPr>
          <p:cNvPr id="42" name="Text 35"/>
          <p:cNvSpPr txBox="1"/>
          <p:nvPr/>
        </p:nvSpPr>
        <p:spPr>
          <a:xfrm>
            <a:off x="7059168" y="5522976"/>
            <a:ext cx="45537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Aplikasi Real-Time</a:t>
            </a:r>
            <a:endParaRPr lang="en-US" sz="1250" dirty="0"/>
          </a:p>
        </p:txBody>
      </p:sp>
      <p:sp>
        <p:nvSpPr>
          <p:cNvPr id="43" name="Text 36"/>
          <p:cNvSpPr txBox="1"/>
          <p:nvPr/>
        </p:nvSpPr>
        <p:spPr>
          <a:xfrm>
            <a:off x="7059168" y="5779008"/>
            <a:ext cx="4553712" cy="329184"/>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Menjadi dasar pustaka seperti Socket.IO untuk komunikasi dua arah.</a:t>
            </a:r>
            <a:endParaRPr lang="en-US" sz="1030" dirty="0"/>
          </a:p>
        </p:txBody>
      </p:sp>
      <p:sp>
        <p:nvSpPr>
          <p:cNvPr id="44" name="Text 37"/>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5" name="Text 38"/>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Stream dan Buffer</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Mengolah data berukuran besar tanpa membebani memori</a:t>
            </a:r>
            <a:endParaRPr lang="en-US" sz="1300" dirty="0"/>
          </a:p>
        </p:txBody>
      </p:sp>
      <p:sp>
        <p:nvSpPr>
          <p:cNvPr id="6" name="Shape 3"/>
          <p:cNvSpPr/>
          <p:nvPr/>
        </p:nvSpPr>
        <p:spPr>
          <a:xfrm>
            <a:off x="640080" y="1609344"/>
            <a:ext cx="2542032" cy="1426464"/>
          </a:xfrm>
          <a:prstGeom prst="roundRect">
            <a:avLst>
              <a:gd name="adj" fmla="val 576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Readable</a:t>
            </a:r>
            <a:endParaRPr lang="en-US" sz="1300" dirty="0"/>
          </a:p>
        </p:txBody>
      </p:sp>
      <p:sp>
        <p:nvSpPr>
          <p:cNvPr id="10" name="Text 6"/>
          <p:cNvSpPr txBox="1"/>
          <p:nvPr/>
        </p:nvSpPr>
        <p:spPr>
          <a:xfrm>
            <a:off x="896112" y="2395728"/>
            <a:ext cx="2029968" cy="47548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Sumber data yang dapat dibaca, misalnya berkas atau permintaan HTTP masuk.</a:t>
            </a:r>
            <a:endParaRPr lang="en-US" sz="1030" dirty="0"/>
          </a:p>
        </p:txBody>
      </p:sp>
      <p:sp>
        <p:nvSpPr>
          <p:cNvPr id="11" name="Shape 7"/>
          <p:cNvSpPr/>
          <p:nvPr/>
        </p:nvSpPr>
        <p:spPr>
          <a:xfrm>
            <a:off x="3447288" y="1609344"/>
            <a:ext cx="2542032" cy="1426464"/>
          </a:xfrm>
          <a:prstGeom prst="roundRect">
            <a:avLst>
              <a:gd name="adj" fmla="val 576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3703320" y="1828800"/>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3817620" y="1943100"/>
            <a:ext cx="228600" cy="228600"/>
          </a:xfrm>
          <a:prstGeom prst="rect">
            <a:avLst/>
          </a:prstGeom>
        </p:spPr>
      </p:pic>
      <p:sp>
        <p:nvSpPr>
          <p:cNvPr id="14" name="Text 9"/>
          <p:cNvSpPr txBox="1"/>
          <p:nvPr/>
        </p:nvSpPr>
        <p:spPr>
          <a:xfrm>
            <a:off x="4306824"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Writable</a:t>
            </a:r>
            <a:endParaRPr lang="en-US" sz="1300" dirty="0"/>
          </a:p>
        </p:txBody>
      </p:sp>
      <p:sp>
        <p:nvSpPr>
          <p:cNvPr id="15" name="Text 10"/>
          <p:cNvSpPr txBox="1"/>
          <p:nvPr/>
        </p:nvSpPr>
        <p:spPr>
          <a:xfrm>
            <a:off x="3703320" y="2395728"/>
            <a:ext cx="2029968" cy="47548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Tujuan penulisan data, misalnya berkas keluaran atau respons HTTP.</a:t>
            </a:r>
            <a:endParaRPr lang="en-US" sz="1030" dirty="0"/>
          </a:p>
        </p:txBody>
      </p:sp>
      <p:sp>
        <p:nvSpPr>
          <p:cNvPr id="16" name="Shape 11"/>
          <p:cNvSpPr/>
          <p:nvPr/>
        </p:nvSpPr>
        <p:spPr>
          <a:xfrm>
            <a:off x="6254496" y="1609344"/>
            <a:ext cx="2542032" cy="1426464"/>
          </a:xfrm>
          <a:prstGeom prst="roundRect">
            <a:avLst>
              <a:gd name="adj" fmla="val 576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6510528" y="1828800"/>
            <a:ext cx="457200" cy="457200"/>
          </a:xfrm>
          <a:prstGeom prst="roundRect">
            <a:avLst>
              <a:gd name="adj" fmla="val 26000"/>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6624828" y="1943100"/>
            <a:ext cx="228600" cy="228600"/>
          </a:xfrm>
          <a:prstGeom prst="rect">
            <a:avLst/>
          </a:prstGeom>
        </p:spPr>
      </p:pic>
      <p:sp>
        <p:nvSpPr>
          <p:cNvPr id="19" name="Text 13"/>
          <p:cNvSpPr txBox="1"/>
          <p:nvPr/>
        </p:nvSpPr>
        <p:spPr>
          <a:xfrm>
            <a:off x="7114032"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Duplex</a:t>
            </a:r>
            <a:endParaRPr lang="en-US" sz="1300" dirty="0"/>
          </a:p>
        </p:txBody>
      </p:sp>
      <p:sp>
        <p:nvSpPr>
          <p:cNvPr id="20" name="Text 14"/>
          <p:cNvSpPr txBox="1"/>
          <p:nvPr/>
        </p:nvSpPr>
        <p:spPr>
          <a:xfrm>
            <a:off x="6510528" y="2395728"/>
            <a:ext cx="2029968" cy="47548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Dapat membaca sekaligus menulis, misalnya socket TCP.</a:t>
            </a:r>
            <a:endParaRPr lang="en-US" sz="1030" dirty="0"/>
          </a:p>
        </p:txBody>
      </p:sp>
      <p:sp>
        <p:nvSpPr>
          <p:cNvPr id="21" name="Shape 15"/>
          <p:cNvSpPr/>
          <p:nvPr/>
        </p:nvSpPr>
        <p:spPr>
          <a:xfrm>
            <a:off x="9061704" y="1609344"/>
            <a:ext cx="2542032" cy="1426464"/>
          </a:xfrm>
          <a:prstGeom prst="roundRect">
            <a:avLst>
              <a:gd name="adj" fmla="val 5769"/>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6"/>
          <p:cNvSpPr/>
          <p:nvPr/>
        </p:nvSpPr>
        <p:spPr>
          <a:xfrm>
            <a:off x="9317736" y="1828800"/>
            <a:ext cx="457200" cy="457200"/>
          </a:xfrm>
          <a:prstGeom prst="roundRect">
            <a:avLst>
              <a:gd name="adj" fmla="val 26000"/>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9432036" y="1943100"/>
            <a:ext cx="228600" cy="228600"/>
          </a:xfrm>
          <a:prstGeom prst="rect">
            <a:avLst/>
          </a:prstGeom>
        </p:spPr>
      </p:pic>
      <p:sp>
        <p:nvSpPr>
          <p:cNvPr id="24" name="Text 17"/>
          <p:cNvSpPr txBox="1"/>
          <p:nvPr/>
        </p:nvSpPr>
        <p:spPr>
          <a:xfrm>
            <a:off x="9921240"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Transform</a:t>
            </a:r>
            <a:endParaRPr lang="en-US" sz="1300" dirty="0"/>
          </a:p>
        </p:txBody>
      </p:sp>
      <p:sp>
        <p:nvSpPr>
          <p:cNvPr id="25" name="Text 18"/>
          <p:cNvSpPr txBox="1"/>
          <p:nvPr/>
        </p:nvSpPr>
        <p:spPr>
          <a:xfrm>
            <a:off x="9317736" y="2395728"/>
            <a:ext cx="2029968" cy="475488"/>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Duplex yang mengubah data saat melewatinya, misalnya kompresi zlib.</a:t>
            </a:r>
            <a:endParaRPr lang="en-US" sz="1030" dirty="0"/>
          </a:p>
        </p:txBody>
      </p:sp>
      <p:sp>
        <p:nvSpPr>
          <p:cNvPr id="26" name="Shape 19"/>
          <p:cNvSpPr/>
          <p:nvPr/>
        </p:nvSpPr>
        <p:spPr>
          <a:xfrm>
            <a:off x="640080" y="3127248"/>
            <a:ext cx="5577840" cy="2475208"/>
          </a:xfrm>
          <a:prstGeom prst="roundRect">
            <a:avLst>
              <a:gd name="adj" fmla="val 2586"/>
            </a:avLst>
          </a:prstGeom>
          <a:solidFill>
            <a:srgbClr val="0E2417"/>
          </a:solidFill>
          <a:ln w="12700">
            <a:solidFill>
              <a:srgbClr val="234A31"/>
            </a:solidFill>
            <a:prstDash val="solid"/>
          </a:ln>
        </p:spPr>
      </p:sp>
      <p:sp>
        <p:nvSpPr>
          <p:cNvPr id="27" name="Text 20"/>
          <p:cNvSpPr txBox="1"/>
          <p:nvPr/>
        </p:nvSpPr>
        <p:spPr>
          <a:xfrm>
            <a:off x="859536" y="3218688"/>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MENYALIN BERKAS BESAR DENGAN STREAM</a:t>
            </a:r>
            <a:endParaRPr lang="en-US" sz="950" dirty="0"/>
          </a:p>
        </p:txBody>
      </p:sp>
      <p:sp>
        <p:nvSpPr>
          <p:cNvPr id="28" name="Text 21"/>
          <p:cNvSpPr txBox="1"/>
          <p:nvPr/>
        </p:nvSpPr>
        <p:spPr>
          <a:xfrm>
            <a:off x="859536" y="3529584"/>
            <a:ext cx="5138928" cy="1963144"/>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zlib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'zlib'</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Hemat memori: data mengalir sepotong demi sepotong</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fs.createReadStream(</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'besar.txt'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.pipe(zlib.createGzip())</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.pipe(fs.createWriteStream(</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'besar.txt.gz'</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.on(</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'finish'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=&gt;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'Selesai'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Tanpa stream: seluruh berkas masuk ke memori</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const data = fs.readFileSync('besar.txt');</a:t>
            </a:r>
            <a:endParaRPr lang="en-US" sz="1020" dirty="0"/>
          </a:p>
        </p:txBody>
      </p:sp>
      <p:sp>
        <p:nvSpPr>
          <p:cNvPr id="29" name="Shape 22"/>
          <p:cNvSpPr/>
          <p:nvPr/>
        </p:nvSpPr>
        <p:spPr>
          <a:xfrm>
            <a:off x="6492240" y="3127248"/>
            <a:ext cx="51206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0" name="Shape 23"/>
          <p:cNvSpPr/>
          <p:nvPr/>
        </p:nvSpPr>
        <p:spPr>
          <a:xfrm>
            <a:off x="6748272" y="3346704"/>
            <a:ext cx="457200" cy="457200"/>
          </a:xfrm>
          <a:prstGeom prst="roundRect">
            <a:avLst>
              <a:gd name="adj" fmla="val 26000"/>
            </a:avLst>
          </a:prstGeom>
          <a:solidFill>
            <a:srgbClr val="E8F2E2"/>
          </a:solidFill>
          <a:ln w="12700">
            <a:solidFill>
              <a:srgbClr val="E8F2E2"/>
            </a:solidFill>
            <a:prstDash val="solid"/>
          </a:ln>
        </p:spPr>
      </p:sp>
      <p:pic>
        <p:nvPicPr>
          <p:cNvPr id="31" name="Image 5" descr="preencoded.png">    </p:cNvPr>
          <p:cNvPicPr>
            <a:picLocks noChangeAspect="1"/>
          </p:cNvPicPr>
          <p:nvPr/>
        </p:nvPicPr>
        <p:blipFill>
          <a:blip r:embed="rId6"/>
          <a:stretch>
            <a:fillRect/>
          </a:stretch>
        </p:blipFill>
        <p:spPr>
          <a:xfrm>
            <a:off x="6862572" y="3461004"/>
            <a:ext cx="228600" cy="228600"/>
          </a:xfrm>
          <a:prstGeom prst="rect">
            <a:avLst/>
          </a:prstGeom>
        </p:spPr>
      </p:pic>
      <p:sp>
        <p:nvSpPr>
          <p:cNvPr id="32" name="Text 24"/>
          <p:cNvSpPr txBox="1"/>
          <p:nvPr/>
        </p:nvSpPr>
        <p:spPr>
          <a:xfrm>
            <a:off x="7351776" y="3346704"/>
            <a:ext cx="40050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Buffer</a:t>
            </a:r>
            <a:endParaRPr lang="en-US" sz="1300" dirty="0"/>
          </a:p>
        </p:txBody>
      </p:sp>
      <p:sp>
        <p:nvSpPr>
          <p:cNvPr id="33" name="Text 25"/>
          <p:cNvSpPr txBox="1"/>
          <p:nvPr/>
        </p:nvSpPr>
        <p:spPr>
          <a:xfrm>
            <a:off x="6748272" y="3913632"/>
            <a:ext cx="4608576" cy="34747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Wadah penyimpanan data biner mentah dengan ukuran tetap di luar heap V8. Stream mengalirkan data dalam bentuk potongan Buffer.</a:t>
            </a:r>
            <a:endParaRPr lang="en-US" sz="1080" dirty="0"/>
          </a:p>
        </p:txBody>
      </p:sp>
      <p:sp>
        <p:nvSpPr>
          <p:cNvPr id="34" name="Shape 26"/>
          <p:cNvSpPr/>
          <p:nvPr/>
        </p:nvSpPr>
        <p:spPr>
          <a:xfrm>
            <a:off x="6492240" y="4553712"/>
            <a:ext cx="5120640" cy="1059680"/>
          </a:xfrm>
          <a:prstGeom prst="roundRect">
            <a:avLst>
              <a:gd name="adj" fmla="val 6040"/>
            </a:avLst>
          </a:prstGeom>
          <a:solidFill>
            <a:srgbClr val="0E2417"/>
          </a:solidFill>
          <a:ln w="12700">
            <a:solidFill>
              <a:srgbClr val="234A31"/>
            </a:solidFill>
            <a:prstDash val="solid"/>
          </a:ln>
        </p:spPr>
      </p:sp>
      <p:sp>
        <p:nvSpPr>
          <p:cNvPr id="35" name="Text 27"/>
          <p:cNvSpPr txBox="1"/>
          <p:nvPr/>
        </p:nvSpPr>
        <p:spPr>
          <a:xfrm>
            <a:off x="6711696" y="4754880"/>
            <a:ext cx="4681728" cy="748784"/>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buf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Buffer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from</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'Halo Node'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.log(buf.length);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9</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.log(buf.toString());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Halo Node</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.log(buf.toString(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'hex'</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36" name="Text 28"/>
          <p:cNvSpPr txBox="1"/>
          <p:nvPr/>
        </p:nvSpPr>
        <p:spPr>
          <a:xfrm>
            <a:off x="640080" y="5669280"/>
            <a:ext cx="5577840" cy="457200"/>
          </a:xfrm>
          <a:prstGeom prst="rect">
            <a:avLst/>
          </a:prstGeom>
          <a:noFill/>
          <a:ln/>
        </p:spPr>
        <p:txBody>
          <a:bodyPr wrap="square" lIns="0" tIns="0" rIns="0" bIns="0" rtlCol="0" anchor="ctr"/>
          <a:lstStyle/>
          <a:p>
            <a:pPr indent="0" marL="0">
              <a:lnSpc>
                <a:spcPct val="110000"/>
              </a:lnSpc>
              <a:buNone/>
            </a:pPr>
            <a:r>
              <a:rPr lang="en-US" sz="1080" dirty="0">
                <a:solidFill>
                  <a:srgbClr val="5F6F62"/>
                </a:solidFill>
                <a:latin typeface="Calibri" pitchFamily="34" charset="0"/>
                <a:ea typeface="Calibri" pitchFamily="34" charset="-122"/>
                <a:cs typeface="Calibri" pitchFamily="34" charset="-120"/>
              </a:rPr>
              <a:t>Gunakan stream ketika menangani berkas besar, unggahan pengguna, atau respons API yang panjang agar penggunaan memori tetap stabil.</a:t>
            </a:r>
            <a:endParaRPr lang="en-US" sz="1080" dirty="0"/>
          </a:p>
        </p:txBody>
      </p:sp>
      <p:sp>
        <p:nvSpPr>
          <p:cNvPr id="37" name="Text 2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8" name="Text 3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06</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Membangun Aplikasi</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Menerapkan seluruh konsep sebelumnya untuk membangun server, REST API, dan koneksi basis data yang siap dipakai.</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Modul fs dan server HTTP bawaan Node.js</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Express.js, routing, dan middleware</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REST API, basis data, konfigurasi, dan penanganan galat</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Modul File System (fs)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Membaca dan menulis berkas dengan tiga gaya penulisan</a:t>
            </a:r>
            <a:endParaRPr lang="en-US" sz="1300" dirty="0"/>
          </a:p>
        </p:txBody>
      </p:sp>
      <p:sp>
        <p:nvSpPr>
          <p:cNvPr id="6" name="Shape 3"/>
          <p:cNvSpPr/>
          <p:nvPr/>
        </p:nvSpPr>
        <p:spPr>
          <a:xfrm>
            <a:off x="640080" y="1627632"/>
            <a:ext cx="5577840" cy="3516087"/>
          </a:xfrm>
          <a:prstGeom prst="roundRect">
            <a:avLst>
              <a:gd name="adj" fmla="val 1820"/>
            </a:avLst>
          </a:prstGeom>
          <a:solidFill>
            <a:srgbClr val="0E2417"/>
          </a:solidFill>
          <a:ln w="12700">
            <a:solidFill>
              <a:srgbClr val="234A31"/>
            </a:solidFill>
            <a:prstDash val="solid"/>
          </a:ln>
        </p:spPr>
      </p:sp>
      <p:sp>
        <p:nvSpPr>
          <p:cNvPr id="7" name="Text 4"/>
          <p:cNvSpPr txBox="1"/>
          <p:nvPr/>
        </p:nvSpPr>
        <p:spPr>
          <a:xfrm>
            <a:off x="859536" y="171907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TIGA GAYA API MODUL FS</a:t>
            </a:r>
            <a:endParaRPr lang="en-US" sz="950" dirty="0"/>
          </a:p>
        </p:txBody>
      </p:sp>
      <p:sp>
        <p:nvSpPr>
          <p:cNvPr id="8" name="Text 5"/>
          <p:cNvSpPr txBox="1"/>
          <p:nvPr/>
        </p:nvSpPr>
        <p:spPr>
          <a:xfrm>
            <a:off x="859536" y="2029968"/>
            <a:ext cx="5138928" cy="3004023"/>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1. Sinkron — memblokir, hindari di server</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fs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'fs'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isi = fs.readFileSync(</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'data.txt'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'utf8'</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2. Callback — gaya klasik Node.js</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fs.readFile(</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'data.txt'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'utf8'</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(err, isi)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(err)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.error(err);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.log(isi);</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3. Promise — gaya modern yang disarankan</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fsp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'fs/promises'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async</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baca()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isi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fsp.readFile(</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'data.txt'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'utf8'</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.log(isi);</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492240" y="1627632"/>
            <a:ext cx="5120640" cy="402336"/>
          </a:xfrm>
          <a:prstGeom prst="roundRect">
            <a:avLst>
              <a:gd name="adj" fmla="val 11364"/>
            </a:avLst>
          </a:prstGeom>
          <a:solidFill>
            <a:srgbClr val="0B2015"/>
          </a:solidFill>
          <a:ln w="12700">
            <a:solidFill>
              <a:srgbClr val="0B2015"/>
            </a:solidFill>
            <a:prstDash val="solid"/>
          </a:ln>
        </p:spPr>
      </p:sp>
      <p:sp>
        <p:nvSpPr>
          <p:cNvPr id="10" name="Text 7"/>
          <p:cNvSpPr txBox="1"/>
          <p:nvPr/>
        </p:nvSpPr>
        <p:spPr>
          <a:xfrm>
            <a:off x="6675120" y="1627632"/>
            <a:ext cx="2011680" cy="402336"/>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Operasi</a:t>
            </a:r>
            <a:endParaRPr lang="en-US" sz="1020" dirty="0"/>
          </a:p>
        </p:txBody>
      </p:sp>
      <p:sp>
        <p:nvSpPr>
          <p:cNvPr id="11" name="Text 8"/>
          <p:cNvSpPr txBox="1"/>
          <p:nvPr/>
        </p:nvSpPr>
        <p:spPr>
          <a:xfrm>
            <a:off x="8732520" y="1627632"/>
            <a:ext cx="2697480" cy="402336"/>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Kegunaan</a:t>
            </a:r>
            <a:endParaRPr lang="en-US" sz="1020" dirty="0"/>
          </a:p>
        </p:txBody>
      </p:sp>
      <p:sp>
        <p:nvSpPr>
          <p:cNvPr id="12" name="Shape 9"/>
          <p:cNvSpPr/>
          <p:nvPr/>
        </p:nvSpPr>
        <p:spPr>
          <a:xfrm>
            <a:off x="6492240" y="2075688"/>
            <a:ext cx="5120640" cy="402336"/>
          </a:xfrm>
          <a:prstGeom prst="roundRect">
            <a:avLst>
              <a:gd name="adj" fmla="val 11364"/>
            </a:avLst>
          </a:prstGeom>
          <a:solidFill>
            <a:srgbClr val="FFFFFF"/>
          </a:solidFill>
          <a:ln w="12700">
            <a:solidFill>
              <a:srgbClr val="E3EBDF"/>
            </a:solidFill>
            <a:prstDash val="solid"/>
          </a:ln>
        </p:spPr>
      </p:sp>
      <p:sp>
        <p:nvSpPr>
          <p:cNvPr id="13" name="Text 10"/>
          <p:cNvSpPr txBox="1"/>
          <p:nvPr/>
        </p:nvSpPr>
        <p:spPr>
          <a:xfrm>
            <a:off x="6675120" y="2075688"/>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readFile</a:t>
            </a:r>
            <a:endParaRPr lang="en-US" sz="1020" dirty="0"/>
          </a:p>
        </p:txBody>
      </p:sp>
      <p:sp>
        <p:nvSpPr>
          <p:cNvPr id="14" name="Text 11"/>
          <p:cNvSpPr txBox="1"/>
          <p:nvPr/>
        </p:nvSpPr>
        <p:spPr>
          <a:xfrm>
            <a:off x="8732520" y="2075688"/>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Membaca seluruh isi berkas</a:t>
            </a:r>
            <a:endParaRPr lang="en-US" sz="1020" dirty="0"/>
          </a:p>
        </p:txBody>
      </p:sp>
      <p:sp>
        <p:nvSpPr>
          <p:cNvPr id="15" name="Shape 12"/>
          <p:cNvSpPr/>
          <p:nvPr/>
        </p:nvSpPr>
        <p:spPr>
          <a:xfrm>
            <a:off x="6492240" y="2523744"/>
            <a:ext cx="5120640" cy="402336"/>
          </a:xfrm>
          <a:prstGeom prst="roundRect">
            <a:avLst>
              <a:gd name="adj" fmla="val 11364"/>
            </a:avLst>
          </a:prstGeom>
          <a:solidFill>
            <a:srgbClr val="EDF3E9"/>
          </a:solidFill>
          <a:ln w="12700">
            <a:solidFill>
              <a:srgbClr val="E3EBDF"/>
            </a:solidFill>
            <a:prstDash val="solid"/>
          </a:ln>
        </p:spPr>
      </p:sp>
      <p:sp>
        <p:nvSpPr>
          <p:cNvPr id="16" name="Text 13"/>
          <p:cNvSpPr txBox="1"/>
          <p:nvPr/>
        </p:nvSpPr>
        <p:spPr>
          <a:xfrm>
            <a:off x="6675120" y="2523744"/>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writeFile</a:t>
            </a:r>
            <a:endParaRPr lang="en-US" sz="1020" dirty="0"/>
          </a:p>
        </p:txBody>
      </p:sp>
      <p:sp>
        <p:nvSpPr>
          <p:cNvPr id="17" name="Text 14"/>
          <p:cNvSpPr txBox="1"/>
          <p:nvPr/>
        </p:nvSpPr>
        <p:spPr>
          <a:xfrm>
            <a:off x="8732520" y="2523744"/>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Menulis dan menimpa isi berkas</a:t>
            </a:r>
            <a:endParaRPr lang="en-US" sz="1020" dirty="0"/>
          </a:p>
        </p:txBody>
      </p:sp>
      <p:sp>
        <p:nvSpPr>
          <p:cNvPr id="18" name="Shape 15"/>
          <p:cNvSpPr/>
          <p:nvPr/>
        </p:nvSpPr>
        <p:spPr>
          <a:xfrm>
            <a:off x="6492240" y="2971800"/>
            <a:ext cx="5120640" cy="402336"/>
          </a:xfrm>
          <a:prstGeom prst="roundRect">
            <a:avLst>
              <a:gd name="adj" fmla="val 11364"/>
            </a:avLst>
          </a:prstGeom>
          <a:solidFill>
            <a:srgbClr val="FFFFFF"/>
          </a:solidFill>
          <a:ln w="12700">
            <a:solidFill>
              <a:srgbClr val="E3EBDF"/>
            </a:solidFill>
            <a:prstDash val="solid"/>
          </a:ln>
        </p:spPr>
      </p:sp>
      <p:sp>
        <p:nvSpPr>
          <p:cNvPr id="19" name="Text 16"/>
          <p:cNvSpPr txBox="1"/>
          <p:nvPr/>
        </p:nvSpPr>
        <p:spPr>
          <a:xfrm>
            <a:off x="6675120" y="2971800"/>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appendFile</a:t>
            </a:r>
            <a:endParaRPr lang="en-US" sz="1020" dirty="0"/>
          </a:p>
        </p:txBody>
      </p:sp>
      <p:sp>
        <p:nvSpPr>
          <p:cNvPr id="20" name="Text 17"/>
          <p:cNvSpPr txBox="1"/>
          <p:nvPr/>
        </p:nvSpPr>
        <p:spPr>
          <a:xfrm>
            <a:off x="8732520" y="2971800"/>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Menambahkan data di akhir berkas</a:t>
            </a:r>
            <a:endParaRPr lang="en-US" sz="1020" dirty="0"/>
          </a:p>
        </p:txBody>
      </p:sp>
      <p:sp>
        <p:nvSpPr>
          <p:cNvPr id="21" name="Shape 18"/>
          <p:cNvSpPr/>
          <p:nvPr/>
        </p:nvSpPr>
        <p:spPr>
          <a:xfrm>
            <a:off x="6492240" y="3419856"/>
            <a:ext cx="5120640" cy="402336"/>
          </a:xfrm>
          <a:prstGeom prst="roundRect">
            <a:avLst>
              <a:gd name="adj" fmla="val 11364"/>
            </a:avLst>
          </a:prstGeom>
          <a:solidFill>
            <a:srgbClr val="EDF3E9"/>
          </a:solidFill>
          <a:ln w="12700">
            <a:solidFill>
              <a:srgbClr val="E3EBDF"/>
            </a:solidFill>
            <a:prstDash val="solid"/>
          </a:ln>
        </p:spPr>
      </p:sp>
      <p:sp>
        <p:nvSpPr>
          <p:cNvPr id="22" name="Text 19"/>
          <p:cNvSpPr txBox="1"/>
          <p:nvPr/>
        </p:nvSpPr>
        <p:spPr>
          <a:xfrm>
            <a:off x="6675120" y="3419856"/>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unlink</a:t>
            </a:r>
            <a:endParaRPr lang="en-US" sz="1020" dirty="0"/>
          </a:p>
        </p:txBody>
      </p:sp>
      <p:sp>
        <p:nvSpPr>
          <p:cNvPr id="23" name="Text 20"/>
          <p:cNvSpPr txBox="1"/>
          <p:nvPr/>
        </p:nvSpPr>
        <p:spPr>
          <a:xfrm>
            <a:off x="8732520" y="3419856"/>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Menghapus sebuah berkas</a:t>
            </a:r>
            <a:endParaRPr lang="en-US" sz="1020" dirty="0"/>
          </a:p>
        </p:txBody>
      </p:sp>
      <p:sp>
        <p:nvSpPr>
          <p:cNvPr id="24" name="Shape 21"/>
          <p:cNvSpPr/>
          <p:nvPr/>
        </p:nvSpPr>
        <p:spPr>
          <a:xfrm>
            <a:off x="6492240" y="3867912"/>
            <a:ext cx="5120640" cy="402336"/>
          </a:xfrm>
          <a:prstGeom prst="roundRect">
            <a:avLst>
              <a:gd name="adj" fmla="val 11364"/>
            </a:avLst>
          </a:prstGeom>
          <a:solidFill>
            <a:srgbClr val="FFFFFF"/>
          </a:solidFill>
          <a:ln w="12700">
            <a:solidFill>
              <a:srgbClr val="E3EBDF"/>
            </a:solidFill>
            <a:prstDash val="solid"/>
          </a:ln>
        </p:spPr>
      </p:sp>
      <p:sp>
        <p:nvSpPr>
          <p:cNvPr id="25" name="Text 22"/>
          <p:cNvSpPr txBox="1"/>
          <p:nvPr/>
        </p:nvSpPr>
        <p:spPr>
          <a:xfrm>
            <a:off x="6675120" y="3867912"/>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mkdir</a:t>
            </a:r>
            <a:endParaRPr lang="en-US" sz="1020" dirty="0"/>
          </a:p>
        </p:txBody>
      </p:sp>
      <p:sp>
        <p:nvSpPr>
          <p:cNvPr id="26" name="Text 23"/>
          <p:cNvSpPr txBox="1"/>
          <p:nvPr/>
        </p:nvSpPr>
        <p:spPr>
          <a:xfrm>
            <a:off x="8732520" y="3867912"/>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Membuat folder baru</a:t>
            </a:r>
            <a:endParaRPr lang="en-US" sz="1020" dirty="0"/>
          </a:p>
        </p:txBody>
      </p:sp>
      <p:sp>
        <p:nvSpPr>
          <p:cNvPr id="27" name="Shape 24"/>
          <p:cNvSpPr/>
          <p:nvPr/>
        </p:nvSpPr>
        <p:spPr>
          <a:xfrm>
            <a:off x="6492240" y="4315968"/>
            <a:ext cx="5120640" cy="402336"/>
          </a:xfrm>
          <a:prstGeom prst="roundRect">
            <a:avLst>
              <a:gd name="adj" fmla="val 11364"/>
            </a:avLst>
          </a:prstGeom>
          <a:solidFill>
            <a:srgbClr val="EDF3E9"/>
          </a:solidFill>
          <a:ln w="12700">
            <a:solidFill>
              <a:srgbClr val="E3EBDF"/>
            </a:solidFill>
            <a:prstDash val="solid"/>
          </a:ln>
        </p:spPr>
      </p:sp>
      <p:sp>
        <p:nvSpPr>
          <p:cNvPr id="28" name="Text 25"/>
          <p:cNvSpPr txBox="1"/>
          <p:nvPr/>
        </p:nvSpPr>
        <p:spPr>
          <a:xfrm>
            <a:off x="6675120" y="4315968"/>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readdir</a:t>
            </a:r>
            <a:endParaRPr lang="en-US" sz="1020" dirty="0"/>
          </a:p>
        </p:txBody>
      </p:sp>
      <p:sp>
        <p:nvSpPr>
          <p:cNvPr id="29" name="Text 26"/>
          <p:cNvSpPr txBox="1"/>
          <p:nvPr/>
        </p:nvSpPr>
        <p:spPr>
          <a:xfrm>
            <a:off x="8732520" y="4315968"/>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Membaca daftar isi folder</a:t>
            </a:r>
            <a:endParaRPr lang="en-US" sz="1020" dirty="0"/>
          </a:p>
        </p:txBody>
      </p:sp>
      <p:sp>
        <p:nvSpPr>
          <p:cNvPr id="30" name="Shape 27"/>
          <p:cNvSpPr/>
          <p:nvPr/>
        </p:nvSpPr>
        <p:spPr>
          <a:xfrm>
            <a:off x="6492240" y="4764024"/>
            <a:ext cx="5120640" cy="402336"/>
          </a:xfrm>
          <a:prstGeom prst="roundRect">
            <a:avLst>
              <a:gd name="adj" fmla="val 11364"/>
            </a:avLst>
          </a:prstGeom>
          <a:solidFill>
            <a:srgbClr val="FFFFFF"/>
          </a:solidFill>
          <a:ln w="12700">
            <a:solidFill>
              <a:srgbClr val="E3EBDF"/>
            </a:solidFill>
            <a:prstDash val="solid"/>
          </a:ln>
        </p:spPr>
      </p:sp>
      <p:sp>
        <p:nvSpPr>
          <p:cNvPr id="31" name="Text 28"/>
          <p:cNvSpPr txBox="1"/>
          <p:nvPr/>
        </p:nvSpPr>
        <p:spPr>
          <a:xfrm>
            <a:off x="6675120" y="4764024"/>
            <a:ext cx="2011680" cy="402336"/>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stat</a:t>
            </a:r>
            <a:endParaRPr lang="en-US" sz="1020" dirty="0"/>
          </a:p>
        </p:txBody>
      </p:sp>
      <p:sp>
        <p:nvSpPr>
          <p:cNvPr id="32" name="Text 29"/>
          <p:cNvSpPr txBox="1"/>
          <p:nvPr/>
        </p:nvSpPr>
        <p:spPr>
          <a:xfrm>
            <a:off x="8732520" y="4764024"/>
            <a:ext cx="2697480" cy="402336"/>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Membaca metadata berkas</a:t>
            </a:r>
            <a:endParaRPr lang="en-US" sz="1020" dirty="0"/>
          </a:p>
        </p:txBody>
      </p:sp>
      <p:sp>
        <p:nvSpPr>
          <p:cNvPr id="33" name="Shape 30"/>
          <p:cNvSpPr/>
          <p:nvPr/>
        </p:nvSpPr>
        <p:spPr>
          <a:xfrm>
            <a:off x="6492240" y="5358384"/>
            <a:ext cx="5120640" cy="705917"/>
          </a:xfrm>
          <a:prstGeom prst="roundRect">
            <a:avLst>
              <a:gd name="adj" fmla="val 9067"/>
            </a:avLst>
          </a:prstGeom>
          <a:solidFill>
            <a:srgbClr val="0E2417"/>
          </a:solidFill>
          <a:ln w="12700">
            <a:solidFill>
              <a:srgbClr val="234A31"/>
            </a:solidFill>
            <a:prstDash val="solid"/>
          </a:ln>
        </p:spPr>
      </p:sp>
      <p:sp>
        <p:nvSpPr>
          <p:cNvPr id="34" name="Text 31"/>
          <p:cNvSpPr txBox="1"/>
          <p:nvPr/>
        </p:nvSpPr>
        <p:spPr>
          <a:xfrm>
            <a:off x="6711696" y="5559552"/>
            <a:ext cx="4681728" cy="395021"/>
          </a:xfrm>
          <a:prstGeom prst="rect">
            <a:avLst/>
          </a:prstGeom>
          <a:noFill/>
          <a:ln/>
        </p:spPr>
        <p:txBody>
          <a:bodyPr wrap="square" lIns="0" tIns="0" rIns="0" bIns="0" rtlCol="0" anchor="t"/>
          <a:lstStyle/>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path =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'path'</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path.join(</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__dirname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'data'</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'file.txt'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p:txBody>
      </p:sp>
      <p:sp>
        <p:nvSpPr>
          <p:cNvPr id="35" name="Text 32"/>
          <p:cNvSpPr txBox="1"/>
          <p:nvPr/>
        </p:nvSpPr>
        <p:spPr>
          <a:xfrm>
            <a:off x="640080" y="5120640"/>
            <a:ext cx="5577840" cy="457200"/>
          </a:xfrm>
          <a:prstGeom prst="rect">
            <a:avLst/>
          </a:prstGeom>
          <a:noFill/>
          <a:ln/>
        </p:spPr>
        <p:txBody>
          <a:bodyPr wrap="square" lIns="0" tIns="0" rIns="0" bIns="0" rtlCol="0" anchor="ctr"/>
          <a:lstStyle/>
          <a:p>
            <a:pPr indent="0" marL="0">
              <a:lnSpc>
                <a:spcPct val="110000"/>
              </a:lnSpc>
              <a:buNone/>
            </a:pPr>
            <a:r>
              <a:rPr lang="en-US" sz="1080" dirty="0">
                <a:solidFill>
                  <a:srgbClr val="5F6F62"/>
                </a:solidFill>
                <a:latin typeface="Calibri" pitchFamily="34" charset="0"/>
                <a:ea typeface="Calibri" pitchFamily="34" charset="-122"/>
                <a:cs typeface="Calibri" pitchFamily="34" charset="-120"/>
              </a:rPr>
              <a:t>Gunakan modul path untuk menyusun jalur berkas agar kode tetap berjalan di Windows maupun Linux.</a:t>
            </a:r>
            <a:endParaRPr lang="en-US" sz="1080" dirty="0"/>
          </a:p>
        </p:txBody>
      </p:sp>
      <p:sp>
        <p:nvSpPr>
          <p:cNvPr id="36" name="Text 3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7" name="Text 3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Server HTTP Bawaan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Membangun server tanpa framework untuk memahami dasarnya</a:t>
            </a:r>
            <a:endParaRPr lang="en-US" sz="1300" dirty="0"/>
          </a:p>
        </p:txBody>
      </p:sp>
      <p:sp>
        <p:nvSpPr>
          <p:cNvPr id="6" name="Shape 3"/>
          <p:cNvSpPr/>
          <p:nvPr/>
        </p:nvSpPr>
        <p:spPr>
          <a:xfrm>
            <a:off x="640080" y="1627632"/>
            <a:ext cx="6035040" cy="4383487"/>
          </a:xfrm>
          <a:prstGeom prst="roundRect">
            <a:avLst>
              <a:gd name="adj" fmla="val 1460"/>
            </a:avLst>
          </a:prstGeom>
          <a:solidFill>
            <a:srgbClr val="0E2417"/>
          </a:solidFill>
          <a:ln w="12700">
            <a:solidFill>
              <a:srgbClr val="234A31"/>
            </a:solidFill>
            <a:prstDash val="solid"/>
          </a:ln>
        </p:spPr>
      </p:sp>
      <p:sp>
        <p:nvSpPr>
          <p:cNvPr id="7" name="Text 4"/>
          <p:cNvSpPr txBox="1"/>
          <p:nvPr/>
        </p:nvSpPr>
        <p:spPr>
          <a:xfrm>
            <a:off x="859536" y="1719072"/>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SERVER DENGAN ROUTING SEDERHANA</a:t>
            </a:r>
            <a:endParaRPr lang="en-US" sz="950" dirty="0"/>
          </a:p>
        </p:txBody>
      </p:sp>
      <p:sp>
        <p:nvSpPr>
          <p:cNvPr id="8" name="Text 5"/>
          <p:cNvSpPr txBox="1"/>
          <p:nvPr/>
        </p:nvSpPr>
        <p:spPr>
          <a:xfrm>
            <a:off x="859536" y="2029968"/>
            <a:ext cx="5596128" cy="3871423"/>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http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'http'</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server = http.createServer((req, res)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url, method } = req;</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(url ===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&amp;&amp; method ===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'GET'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res.writeHead(</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'Content-Type'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'text/html'</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res.end(</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'&lt;h1&gt;Beranda&lt;/h1&gt;'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else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(url ===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'/api'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&amp;&amp; method ===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'GET'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res.writeHead(</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'Content-Type'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'application/json'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res.end(</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JSON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.stringify({ pesan: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'Halo API'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else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res.writeHead(</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404</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res.end(</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'Halaman tidak ditemukan'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server.listen(</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3000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949440" y="1737360"/>
            <a:ext cx="420624" cy="420624"/>
          </a:xfrm>
          <a:prstGeom prst="roundRect">
            <a:avLst>
              <a:gd name="adj" fmla="val 26087"/>
            </a:avLst>
          </a:prstGeom>
          <a:solidFill>
            <a:srgbClr val="E8F2E2"/>
          </a:solidFill>
          <a:ln w="12700">
            <a:solidFill>
              <a:srgbClr val="E8F2E2"/>
            </a:solidFill>
            <a:prstDash val="solid"/>
          </a:ln>
        </p:spPr>
      </p:sp>
      <p:pic>
        <p:nvPicPr>
          <p:cNvPr id="10" name="Image 1" descr="preencoded.png">    </p:cNvPr>
          <p:cNvPicPr>
            <a:picLocks noChangeAspect="1"/>
          </p:cNvPicPr>
          <p:nvPr/>
        </p:nvPicPr>
        <p:blipFill>
          <a:blip r:embed="rId2"/>
          <a:stretch>
            <a:fillRect/>
          </a:stretch>
        </p:blipFill>
        <p:spPr>
          <a:xfrm>
            <a:off x="7054596" y="1842516"/>
            <a:ext cx="210312" cy="210312"/>
          </a:xfrm>
          <a:prstGeom prst="rect">
            <a:avLst/>
          </a:prstGeom>
        </p:spPr>
      </p:pic>
      <p:sp>
        <p:nvSpPr>
          <p:cNvPr id="11" name="Text 7"/>
          <p:cNvSpPr txBox="1"/>
          <p:nvPr/>
        </p:nvSpPr>
        <p:spPr>
          <a:xfrm>
            <a:off x="7516368" y="1719072"/>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Objek req</a:t>
            </a:r>
            <a:endParaRPr lang="en-US" sz="1200" dirty="0"/>
          </a:p>
        </p:txBody>
      </p:sp>
      <p:sp>
        <p:nvSpPr>
          <p:cNvPr id="12" name="Text 8"/>
          <p:cNvSpPr txBox="1"/>
          <p:nvPr/>
        </p:nvSpPr>
        <p:spPr>
          <a:xfrm>
            <a:off x="7516368" y="1975104"/>
            <a:ext cx="40965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Informasi permintaan: url, method, headers, dan badan permintaan.</a:t>
            </a:r>
            <a:endParaRPr lang="en-US" sz="980" dirty="0"/>
          </a:p>
        </p:txBody>
      </p:sp>
      <p:sp>
        <p:nvSpPr>
          <p:cNvPr id="13" name="Shape 9"/>
          <p:cNvSpPr/>
          <p:nvPr/>
        </p:nvSpPr>
        <p:spPr>
          <a:xfrm>
            <a:off x="6949440" y="2578608"/>
            <a:ext cx="420624" cy="420624"/>
          </a:xfrm>
          <a:prstGeom prst="roundRect">
            <a:avLst>
              <a:gd name="adj" fmla="val 26087"/>
            </a:avLst>
          </a:prstGeom>
          <a:solidFill>
            <a:srgbClr val="E8F2E2"/>
          </a:solidFill>
          <a:ln w="12700">
            <a:solidFill>
              <a:srgbClr val="E8F2E2"/>
            </a:solidFill>
            <a:prstDash val="solid"/>
          </a:ln>
        </p:spPr>
      </p:sp>
      <p:pic>
        <p:nvPicPr>
          <p:cNvPr id="14" name="Image 2" descr="preencoded.png">    </p:cNvPr>
          <p:cNvPicPr>
            <a:picLocks noChangeAspect="1"/>
          </p:cNvPicPr>
          <p:nvPr/>
        </p:nvPicPr>
        <p:blipFill>
          <a:blip r:embed="rId3"/>
          <a:stretch>
            <a:fillRect/>
          </a:stretch>
        </p:blipFill>
        <p:spPr>
          <a:xfrm>
            <a:off x="7054596" y="2683764"/>
            <a:ext cx="210312" cy="210312"/>
          </a:xfrm>
          <a:prstGeom prst="rect">
            <a:avLst/>
          </a:prstGeom>
        </p:spPr>
      </p:pic>
      <p:sp>
        <p:nvSpPr>
          <p:cNvPr id="15" name="Text 10"/>
          <p:cNvSpPr txBox="1"/>
          <p:nvPr/>
        </p:nvSpPr>
        <p:spPr>
          <a:xfrm>
            <a:off x="7516368" y="256032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Objek res</a:t>
            </a:r>
            <a:endParaRPr lang="en-US" sz="1200" dirty="0"/>
          </a:p>
        </p:txBody>
      </p:sp>
      <p:sp>
        <p:nvSpPr>
          <p:cNvPr id="16" name="Text 11"/>
          <p:cNvSpPr txBox="1"/>
          <p:nvPr/>
        </p:nvSpPr>
        <p:spPr>
          <a:xfrm>
            <a:off x="7516368" y="2816352"/>
            <a:ext cx="40965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Mengirim balasan: writeHead untuk status, end untuk isi respons.</a:t>
            </a:r>
            <a:endParaRPr lang="en-US" sz="980" dirty="0"/>
          </a:p>
        </p:txBody>
      </p:sp>
      <p:sp>
        <p:nvSpPr>
          <p:cNvPr id="17" name="Shape 12"/>
          <p:cNvSpPr/>
          <p:nvPr/>
        </p:nvSpPr>
        <p:spPr>
          <a:xfrm>
            <a:off x="6949440" y="3419856"/>
            <a:ext cx="420624" cy="420624"/>
          </a:xfrm>
          <a:prstGeom prst="roundRect">
            <a:avLst>
              <a:gd name="adj" fmla="val 26087"/>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7054596" y="3525012"/>
            <a:ext cx="210312" cy="210312"/>
          </a:xfrm>
          <a:prstGeom prst="rect">
            <a:avLst/>
          </a:prstGeom>
        </p:spPr>
      </p:pic>
      <p:sp>
        <p:nvSpPr>
          <p:cNvPr id="19" name="Text 13"/>
          <p:cNvSpPr txBox="1"/>
          <p:nvPr/>
        </p:nvSpPr>
        <p:spPr>
          <a:xfrm>
            <a:off x="7516368" y="340156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Routing Manual</a:t>
            </a:r>
            <a:endParaRPr lang="en-US" sz="1200" dirty="0"/>
          </a:p>
        </p:txBody>
      </p:sp>
      <p:sp>
        <p:nvSpPr>
          <p:cNvPr id="20" name="Text 14"/>
          <p:cNvSpPr txBox="1"/>
          <p:nvPr/>
        </p:nvSpPr>
        <p:spPr>
          <a:xfrm>
            <a:off x="7516368" y="3657600"/>
            <a:ext cx="40965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Percabangan url dan method harus ditulis sendiri satu per satu.</a:t>
            </a:r>
            <a:endParaRPr lang="en-US" sz="980" dirty="0"/>
          </a:p>
        </p:txBody>
      </p:sp>
      <p:sp>
        <p:nvSpPr>
          <p:cNvPr id="21" name="Shape 15"/>
          <p:cNvSpPr/>
          <p:nvPr/>
        </p:nvSpPr>
        <p:spPr>
          <a:xfrm>
            <a:off x="6949440" y="4261104"/>
            <a:ext cx="420624" cy="420624"/>
          </a:xfrm>
          <a:prstGeom prst="roundRect">
            <a:avLst>
              <a:gd name="adj" fmla="val 26087"/>
            </a:avLst>
          </a:prstGeom>
          <a:solidFill>
            <a:srgbClr val="E8F2E2"/>
          </a:solidFill>
          <a:ln w="12700">
            <a:solidFill>
              <a:srgbClr val="E8F2E2"/>
            </a:solidFill>
            <a:prstDash val="solid"/>
          </a:ln>
        </p:spPr>
      </p:sp>
      <p:pic>
        <p:nvPicPr>
          <p:cNvPr id="22" name="Image 4" descr="preencoded.png">    </p:cNvPr>
          <p:cNvPicPr>
            <a:picLocks noChangeAspect="1"/>
          </p:cNvPicPr>
          <p:nvPr/>
        </p:nvPicPr>
        <p:blipFill>
          <a:blip r:embed="rId5"/>
          <a:stretch>
            <a:fillRect/>
          </a:stretch>
        </p:blipFill>
        <p:spPr>
          <a:xfrm>
            <a:off x="7054596" y="4366260"/>
            <a:ext cx="210312" cy="210312"/>
          </a:xfrm>
          <a:prstGeom prst="rect">
            <a:avLst/>
          </a:prstGeom>
        </p:spPr>
      </p:pic>
      <p:sp>
        <p:nvSpPr>
          <p:cNvPr id="23" name="Text 16"/>
          <p:cNvSpPr txBox="1"/>
          <p:nvPr/>
        </p:nvSpPr>
        <p:spPr>
          <a:xfrm>
            <a:off x="7516368" y="424281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Keterbatasan</a:t>
            </a:r>
            <a:endParaRPr lang="en-US" sz="1200" dirty="0"/>
          </a:p>
        </p:txBody>
      </p:sp>
      <p:sp>
        <p:nvSpPr>
          <p:cNvPr id="24" name="Text 17"/>
          <p:cNvSpPr txBox="1"/>
          <p:nvPr/>
        </p:nvSpPr>
        <p:spPr>
          <a:xfrm>
            <a:off x="7516368" y="4498848"/>
            <a:ext cx="40965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Parsing body, kueri, unggahan, dan cookie harus dibuat manual.</a:t>
            </a:r>
            <a:endParaRPr lang="en-US" sz="980" dirty="0"/>
          </a:p>
        </p:txBody>
      </p:sp>
      <p:sp>
        <p:nvSpPr>
          <p:cNvPr id="25" name="Shape 18"/>
          <p:cNvSpPr/>
          <p:nvPr/>
        </p:nvSpPr>
        <p:spPr>
          <a:xfrm>
            <a:off x="6949440" y="5102352"/>
            <a:ext cx="420624" cy="420624"/>
          </a:xfrm>
          <a:prstGeom prst="roundRect">
            <a:avLst>
              <a:gd name="adj" fmla="val 26087"/>
            </a:avLst>
          </a:prstGeom>
          <a:solidFill>
            <a:srgbClr val="E8F2E2"/>
          </a:solidFill>
          <a:ln w="12700">
            <a:solidFill>
              <a:srgbClr val="E8F2E2"/>
            </a:solidFill>
            <a:prstDash val="solid"/>
          </a:ln>
        </p:spPr>
      </p:sp>
      <p:pic>
        <p:nvPicPr>
          <p:cNvPr id="26" name="Image 5" descr="preencoded.png">    </p:cNvPr>
          <p:cNvPicPr>
            <a:picLocks noChangeAspect="1"/>
          </p:cNvPicPr>
          <p:nvPr/>
        </p:nvPicPr>
        <p:blipFill>
          <a:blip r:embed="rId6"/>
          <a:stretch>
            <a:fillRect/>
          </a:stretch>
        </p:blipFill>
        <p:spPr>
          <a:xfrm>
            <a:off x="7054596" y="5207508"/>
            <a:ext cx="210312" cy="210312"/>
          </a:xfrm>
          <a:prstGeom prst="rect">
            <a:avLst/>
          </a:prstGeom>
        </p:spPr>
      </p:pic>
      <p:sp>
        <p:nvSpPr>
          <p:cNvPr id="27" name="Text 19"/>
          <p:cNvSpPr txBox="1"/>
          <p:nvPr/>
        </p:nvSpPr>
        <p:spPr>
          <a:xfrm>
            <a:off x="7516368" y="5084064"/>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Karena Itulah Express</a:t>
            </a:r>
            <a:endParaRPr lang="en-US" sz="1200" dirty="0"/>
          </a:p>
        </p:txBody>
      </p:sp>
      <p:sp>
        <p:nvSpPr>
          <p:cNvPr id="28" name="Text 20"/>
          <p:cNvSpPr txBox="1"/>
          <p:nvPr/>
        </p:nvSpPr>
        <p:spPr>
          <a:xfrm>
            <a:off x="7516368" y="5340096"/>
            <a:ext cx="40965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Express menyediakan semua kebutuhan itu dalam bentuk siap pakai.</a:t>
            </a:r>
            <a:endParaRPr lang="en-US" sz="980" dirty="0"/>
          </a:p>
        </p:txBody>
      </p:sp>
      <p:sp>
        <p:nvSpPr>
          <p:cNvPr id="29" name="Text 2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0" name="Text 2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1A1A1A"/>
          </a:solidFill>
          <a:ln w="12700">
            <a:solidFill>
              <a:srgbClr val="1A1A1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Express.js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Framework web minimalis yang paling banyak dipakai di ekosistem Node.js</a:t>
            </a:r>
            <a:endParaRPr lang="en-US" sz="1300" dirty="0"/>
          </a:p>
        </p:txBody>
      </p:sp>
      <p:sp>
        <p:nvSpPr>
          <p:cNvPr id="6" name="Shape 3"/>
          <p:cNvSpPr/>
          <p:nvPr/>
        </p:nvSpPr>
        <p:spPr>
          <a:xfrm>
            <a:off x="640080" y="1609344"/>
            <a:ext cx="5577840" cy="1225296"/>
          </a:xfrm>
          <a:prstGeom prst="roundRect">
            <a:avLst>
              <a:gd name="adj" fmla="val 671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44622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Apa Itu Express?</a:t>
            </a:r>
            <a:endParaRPr lang="en-US" sz="1300" dirty="0"/>
          </a:p>
        </p:txBody>
      </p:sp>
      <p:sp>
        <p:nvSpPr>
          <p:cNvPr id="10" name="Text 6"/>
          <p:cNvSpPr txBox="1"/>
          <p:nvPr/>
        </p:nvSpPr>
        <p:spPr>
          <a:xfrm>
            <a:off x="896112" y="2395728"/>
            <a:ext cx="5065776" cy="274320"/>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Framework tipis di atas modul http yang menyediakan routing, middleware, penyajian berkas statis, dan integrasi mesin templat.</a:t>
            </a:r>
            <a:endParaRPr lang="en-US" sz="1080" dirty="0"/>
          </a:p>
        </p:txBody>
      </p:sp>
      <p:sp>
        <p:nvSpPr>
          <p:cNvPr id="11" name="Shape 7"/>
          <p:cNvSpPr/>
          <p:nvPr/>
        </p:nvSpPr>
        <p:spPr>
          <a:xfrm>
            <a:off x="640080" y="2907792"/>
            <a:ext cx="5577840" cy="3516087"/>
          </a:xfrm>
          <a:prstGeom prst="roundRect">
            <a:avLst>
              <a:gd name="adj" fmla="val 1820"/>
            </a:avLst>
          </a:prstGeom>
          <a:solidFill>
            <a:srgbClr val="0E2417"/>
          </a:solidFill>
          <a:ln w="12700">
            <a:solidFill>
              <a:srgbClr val="234A31"/>
            </a:solidFill>
            <a:prstDash val="solid"/>
          </a:ln>
        </p:spPr>
      </p:sp>
      <p:sp>
        <p:nvSpPr>
          <p:cNvPr id="12" name="Text 8"/>
          <p:cNvSpPr txBox="1"/>
          <p:nvPr/>
        </p:nvSpPr>
        <p:spPr>
          <a:xfrm>
            <a:off x="859536" y="299923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APLIKASI EXPRESS PERTAMA</a:t>
            </a:r>
            <a:endParaRPr lang="en-US" sz="950" dirty="0"/>
          </a:p>
        </p:txBody>
      </p:sp>
      <p:sp>
        <p:nvSpPr>
          <p:cNvPr id="13" name="Text 9"/>
          <p:cNvSpPr txBox="1"/>
          <p:nvPr/>
        </p:nvSpPr>
        <p:spPr>
          <a:xfrm>
            <a:off x="859536" y="3310128"/>
            <a:ext cx="5138928" cy="3004023"/>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express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'express'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app = express();</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Middleware bawaan untuk membaca JSON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app.use(express.json());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app.use(express.static(</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'public'</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app.get(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(req, res)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res.send(</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'Halo dari Express'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app.get(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'/api/users/:id'</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(req, res)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res.json({ id: req.params.id, nama: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'Budi'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app.listen(</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3000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=&gt;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'Server siap di port 3000'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14" name="Shape 10"/>
          <p:cNvSpPr/>
          <p:nvPr/>
        </p:nvSpPr>
        <p:spPr>
          <a:xfrm>
            <a:off x="6492240" y="1737360"/>
            <a:ext cx="420624" cy="420624"/>
          </a:xfrm>
          <a:prstGeom prst="roundRect">
            <a:avLst>
              <a:gd name="adj" fmla="val 26087"/>
            </a:avLst>
          </a:prstGeom>
          <a:solidFill>
            <a:srgbClr val="E8F2E2"/>
          </a:solidFill>
          <a:ln w="12700">
            <a:solidFill>
              <a:srgbClr val="E8F2E2"/>
            </a:solidFill>
            <a:prstDash val="solid"/>
          </a:ln>
        </p:spPr>
      </p:sp>
      <p:pic>
        <p:nvPicPr>
          <p:cNvPr id="15" name="Image 2" descr="preencoded.png">    </p:cNvPr>
          <p:cNvPicPr>
            <a:picLocks noChangeAspect="1"/>
          </p:cNvPicPr>
          <p:nvPr/>
        </p:nvPicPr>
        <p:blipFill>
          <a:blip r:embed="rId3"/>
          <a:stretch>
            <a:fillRect/>
          </a:stretch>
        </p:blipFill>
        <p:spPr>
          <a:xfrm>
            <a:off x="6597396" y="1842516"/>
            <a:ext cx="210312" cy="210312"/>
          </a:xfrm>
          <a:prstGeom prst="rect">
            <a:avLst/>
          </a:prstGeom>
        </p:spPr>
      </p:pic>
      <p:sp>
        <p:nvSpPr>
          <p:cNvPr id="16" name="Text 11"/>
          <p:cNvSpPr txBox="1"/>
          <p:nvPr/>
        </p:nvSpPr>
        <p:spPr>
          <a:xfrm>
            <a:off x="7059168" y="1719072"/>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Routing Ringkas</a:t>
            </a:r>
            <a:endParaRPr lang="en-US" sz="1200" dirty="0"/>
          </a:p>
        </p:txBody>
      </p:sp>
      <p:sp>
        <p:nvSpPr>
          <p:cNvPr id="17" name="Text 12"/>
          <p:cNvSpPr txBox="1"/>
          <p:nvPr/>
        </p:nvSpPr>
        <p:spPr>
          <a:xfrm>
            <a:off x="7059168" y="1975104"/>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app.get, app.post, app.put, dan app.delete memetakan alamat ke fungsi.</a:t>
            </a:r>
            <a:endParaRPr lang="en-US" sz="980" dirty="0"/>
          </a:p>
        </p:txBody>
      </p:sp>
      <p:sp>
        <p:nvSpPr>
          <p:cNvPr id="18" name="Shape 13"/>
          <p:cNvSpPr/>
          <p:nvPr/>
        </p:nvSpPr>
        <p:spPr>
          <a:xfrm>
            <a:off x="6492240" y="2578608"/>
            <a:ext cx="420624" cy="420624"/>
          </a:xfrm>
          <a:prstGeom prst="roundRect">
            <a:avLst>
              <a:gd name="adj" fmla="val 26087"/>
            </a:avLst>
          </a:prstGeom>
          <a:solidFill>
            <a:srgbClr val="E8F2E2"/>
          </a:solidFill>
          <a:ln w="12700">
            <a:solidFill>
              <a:srgbClr val="E8F2E2"/>
            </a:solidFill>
            <a:prstDash val="solid"/>
          </a:ln>
        </p:spPr>
      </p:sp>
      <p:pic>
        <p:nvPicPr>
          <p:cNvPr id="19" name="Image 3" descr="preencoded.png">    </p:cNvPr>
          <p:cNvPicPr>
            <a:picLocks noChangeAspect="1"/>
          </p:cNvPicPr>
          <p:nvPr/>
        </p:nvPicPr>
        <p:blipFill>
          <a:blip r:embed="rId4"/>
          <a:stretch>
            <a:fillRect/>
          </a:stretch>
        </p:blipFill>
        <p:spPr>
          <a:xfrm>
            <a:off x="6597396" y="2683764"/>
            <a:ext cx="210312" cy="210312"/>
          </a:xfrm>
          <a:prstGeom prst="rect">
            <a:avLst/>
          </a:prstGeom>
        </p:spPr>
      </p:pic>
      <p:sp>
        <p:nvSpPr>
          <p:cNvPr id="20" name="Text 14"/>
          <p:cNvSpPr txBox="1"/>
          <p:nvPr/>
        </p:nvSpPr>
        <p:spPr>
          <a:xfrm>
            <a:off x="7059168" y="2560320"/>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Middleware</a:t>
            </a:r>
            <a:endParaRPr lang="en-US" sz="1200" dirty="0"/>
          </a:p>
        </p:txBody>
      </p:sp>
      <p:sp>
        <p:nvSpPr>
          <p:cNvPr id="21" name="Text 15"/>
          <p:cNvSpPr txBox="1"/>
          <p:nvPr/>
        </p:nvSpPr>
        <p:spPr>
          <a:xfrm>
            <a:off x="7059168" y="2816352"/>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Fungsi berlapis yang memproses permintaan sebelum penangan akhir.</a:t>
            </a:r>
            <a:endParaRPr lang="en-US" sz="980" dirty="0"/>
          </a:p>
        </p:txBody>
      </p:sp>
      <p:sp>
        <p:nvSpPr>
          <p:cNvPr id="22" name="Shape 16"/>
          <p:cNvSpPr/>
          <p:nvPr/>
        </p:nvSpPr>
        <p:spPr>
          <a:xfrm>
            <a:off x="6492240" y="3419856"/>
            <a:ext cx="420624" cy="420624"/>
          </a:xfrm>
          <a:prstGeom prst="roundRect">
            <a:avLst>
              <a:gd name="adj" fmla="val 26087"/>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6597396" y="3525012"/>
            <a:ext cx="210312" cy="210312"/>
          </a:xfrm>
          <a:prstGeom prst="rect">
            <a:avLst/>
          </a:prstGeom>
        </p:spPr>
      </p:pic>
      <p:sp>
        <p:nvSpPr>
          <p:cNvPr id="24" name="Text 17"/>
          <p:cNvSpPr txBox="1"/>
          <p:nvPr/>
        </p:nvSpPr>
        <p:spPr>
          <a:xfrm>
            <a:off x="7059168" y="3401568"/>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Ekosistem Luas</a:t>
            </a:r>
            <a:endParaRPr lang="en-US" sz="1200" dirty="0"/>
          </a:p>
        </p:txBody>
      </p:sp>
      <p:sp>
        <p:nvSpPr>
          <p:cNvPr id="25" name="Text 18"/>
          <p:cNvSpPr txBox="1"/>
          <p:nvPr/>
        </p:nvSpPr>
        <p:spPr>
          <a:xfrm>
            <a:off x="7059168" y="3657600"/>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Ribuan middleware siap pakai: cors, helmet, morgan, dan multer.</a:t>
            </a:r>
            <a:endParaRPr lang="en-US" sz="980" dirty="0"/>
          </a:p>
        </p:txBody>
      </p:sp>
      <p:sp>
        <p:nvSpPr>
          <p:cNvPr id="26" name="Shape 19"/>
          <p:cNvSpPr/>
          <p:nvPr/>
        </p:nvSpPr>
        <p:spPr>
          <a:xfrm>
            <a:off x="6492240" y="4261104"/>
            <a:ext cx="420624" cy="420624"/>
          </a:xfrm>
          <a:prstGeom prst="roundRect">
            <a:avLst>
              <a:gd name="adj" fmla="val 26087"/>
            </a:avLst>
          </a:prstGeom>
          <a:solidFill>
            <a:srgbClr val="E8F2E2"/>
          </a:solidFill>
          <a:ln w="12700">
            <a:solidFill>
              <a:srgbClr val="E8F2E2"/>
            </a:solidFill>
            <a:prstDash val="solid"/>
          </a:ln>
        </p:spPr>
      </p:sp>
      <p:pic>
        <p:nvPicPr>
          <p:cNvPr id="27" name="Image 5" descr="preencoded.png">    </p:cNvPr>
          <p:cNvPicPr>
            <a:picLocks noChangeAspect="1"/>
          </p:cNvPicPr>
          <p:nvPr/>
        </p:nvPicPr>
        <p:blipFill>
          <a:blip r:embed="rId6"/>
          <a:stretch>
            <a:fillRect/>
          </a:stretch>
        </p:blipFill>
        <p:spPr>
          <a:xfrm>
            <a:off x="6597396" y="4366260"/>
            <a:ext cx="210312" cy="210312"/>
          </a:xfrm>
          <a:prstGeom prst="rect">
            <a:avLst/>
          </a:prstGeom>
        </p:spPr>
      </p:pic>
      <p:sp>
        <p:nvSpPr>
          <p:cNvPr id="28" name="Text 20"/>
          <p:cNvSpPr txBox="1"/>
          <p:nvPr/>
        </p:nvSpPr>
        <p:spPr>
          <a:xfrm>
            <a:off x="7059168" y="4242816"/>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Mesin Templat</a:t>
            </a:r>
            <a:endParaRPr lang="en-US" sz="1200" dirty="0"/>
          </a:p>
        </p:txBody>
      </p:sp>
      <p:sp>
        <p:nvSpPr>
          <p:cNvPr id="29" name="Text 21"/>
          <p:cNvSpPr txBox="1"/>
          <p:nvPr/>
        </p:nvSpPr>
        <p:spPr>
          <a:xfrm>
            <a:off x="7059168" y="4498848"/>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Mendukung EJS, Pug, dan Handlebars untuk merender halaman.</a:t>
            </a:r>
            <a:endParaRPr lang="en-US" sz="980" dirty="0"/>
          </a:p>
        </p:txBody>
      </p:sp>
      <p:sp>
        <p:nvSpPr>
          <p:cNvPr id="30" name="Shape 22"/>
          <p:cNvSpPr/>
          <p:nvPr/>
        </p:nvSpPr>
        <p:spPr>
          <a:xfrm>
            <a:off x="6492240" y="5102352"/>
            <a:ext cx="420624" cy="420624"/>
          </a:xfrm>
          <a:prstGeom prst="roundRect">
            <a:avLst>
              <a:gd name="adj" fmla="val 26087"/>
            </a:avLst>
          </a:prstGeom>
          <a:solidFill>
            <a:srgbClr val="E8F2E2"/>
          </a:solidFill>
          <a:ln w="12700">
            <a:solidFill>
              <a:srgbClr val="E8F2E2"/>
            </a:solidFill>
            <a:prstDash val="solid"/>
          </a:ln>
        </p:spPr>
      </p:sp>
      <p:pic>
        <p:nvPicPr>
          <p:cNvPr id="31" name="Image 6" descr="preencoded.png">    </p:cNvPr>
          <p:cNvPicPr>
            <a:picLocks noChangeAspect="1"/>
          </p:cNvPicPr>
          <p:nvPr/>
        </p:nvPicPr>
        <p:blipFill>
          <a:blip r:embed="rId7"/>
          <a:stretch>
            <a:fillRect/>
          </a:stretch>
        </p:blipFill>
        <p:spPr>
          <a:xfrm>
            <a:off x="6597396" y="5207508"/>
            <a:ext cx="210312" cy="210312"/>
          </a:xfrm>
          <a:prstGeom prst="rect">
            <a:avLst/>
          </a:prstGeom>
        </p:spPr>
      </p:pic>
      <p:sp>
        <p:nvSpPr>
          <p:cNvPr id="32" name="Text 23"/>
          <p:cNvSpPr txBox="1"/>
          <p:nvPr/>
        </p:nvSpPr>
        <p:spPr>
          <a:xfrm>
            <a:off x="7059168" y="5084064"/>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Ringan</a:t>
            </a:r>
            <a:endParaRPr lang="en-US" sz="1200" dirty="0"/>
          </a:p>
        </p:txBody>
      </p:sp>
      <p:sp>
        <p:nvSpPr>
          <p:cNvPr id="33" name="Text 24"/>
          <p:cNvSpPr txBox="1"/>
          <p:nvPr/>
        </p:nvSpPr>
        <p:spPr>
          <a:xfrm>
            <a:off x="7059168" y="5340096"/>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Tidak memaksakan struktur folder sehingga fleksibel di segala skala.</a:t>
            </a:r>
            <a:endParaRPr lang="en-US" sz="980" dirty="0"/>
          </a:p>
        </p:txBody>
      </p:sp>
      <p:sp>
        <p:nvSpPr>
          <p:cNvPr id="34" name="Text 25"/>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5" name="Text 26"/>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Routing dan Middleware</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Cara permintaan mengalir melewati lapisan-lapisan fungsi</a:t>
            </a:r>
            <a:endParaRPr lang="en-US" sz="1300" dirty="0"/>
          </a:p>
        </p:txBody>
      </p:sp>
      <p:sp>
        <p:nvSpPr>
          <p:cNvPr id="6" name="Shape 3"/>
          <p:cNvSpPr/>
          <p:nvPr/>
        </p:nvSpPr>
        <p:spPr>
          <a:xfrm>
            <a:off x="640080" y="1627632"/>
            <a:ext cx="1673352" cy="640080"/>
          </a:xfrm>
          <a:prstGeom prst="roundRect">
            <a:avLst>
              <a:gd name="adj" fmla="val 12857"/>
            </a:avLst>
          </a:prstGeom>
          <a:solidFill>
            <a:srgbClr val="0B2015"/>
          </a:solidFill>
          <a:ln w="12700">
            <a:solidFill>
              <a:srgbClr val="0B2015"/>
            </a:solidFill>
            <a:prstDash val="solid"/>
          </a:ln>
        </p:spPr>
      </p:sp>
      <p:sp>
        <p:nvSpPr>
          <p:cNvPr id="7" name="Text 4"/>
          <p:cNvSpPr txBox="1"/>
          <p:nvPr/>
        </p:nvSpPr>
        <p:spPr>
          <a:xfrm>
            <a:off x="640080" y="1627632"/>
            <a:ext cx="1673352"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Permintaan</a:t>
            </a:r>
            <a:endParaRPr lang="en-US" sz="1150" dirty="0"/>
          </a:p>
        </p:txBody>
      </p:sp>
      <p:pic>
        <p:nvPicPr>
          <p:cNvPr id="8" name="Image 1" descr="preencoded.png">    </p:cNvPr>
          <p:cNvPicPr>
            <a:picLocks noChangeAspect="1"/>
          </p:cNvPicPr>
          <p:nvPr/>
        </p:nvPicPr>
        <p:blipFill>
          <a:blip r:embed="rId2"/>
          <a:stretch>
            <a:fillRect/>
          </a:stretch>
        </p:blipFill>
        <p:spPr>
          <a:xfrm>
            <a:off x="2318004" y="1865376"/>
            <a:ext cx="164592" cy="164592"/>
          </a:xfrm>
          <a:prstGeom prst="rect">
            <a:avLst/>
          </a:prstGeom>
        </p:spPr>
      </p:pic>
      <p:sp>
        <p:nvSpPr>
          <p:cNvPr id="9" name="Shape 5"/>
          <p:cNvSpPr/>
          <p:nvPr/>
        </p:nvSpPr>
        <p:spPr>
          <a:xfrm>
            <a:off x="2487168" y="1627632"/>
            <a:ext cx="1673352" cy="640080"/>
          </a:xfrm>
          <a:prstGeom prst="roundRect">
            <a:avLst>
              <a:gd name="adj" fmla="val 12857"/>
            </a:avLst>
          </a:prstGeom>
          <a:solidFill>
            <a:srgbClr val="3C873A"/>
          </a:solidFill>
          <a:ln w="12700">
            <a:solidFill>
              <a:srgbClr val="3C873A"/>
            </a:solidFill>
            <a:prstDash val="solid"/>
          </a:ln>
        </p:spPr>
      </p:sp>
      <p:sp>
        <p:nvSpPr>
          <p:cNvPr id="10" name="Text 6"/>
          <p:cNvSpPr txBox="1"/>
          <p:nvPr/>
        </p:nvSpPr>
        <p:spPr>
          <a:xfrm>
            <a:off x="2487168" y="1627632"/>
            <a:ext cx="1673352"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Logger</a:t>
            </a:r>
            <a:endParaRPr lang="en-US" sz="1150" dirty="0"/>
          </a:p>
        </p:txBody>
      </p:sp>
      <p:pic>
        <p:nvPicPr>
          <p:cNvPr id="11" name="Image 2" descr="preencoded.png">    </p:cNvPr>
          <p:cNvPicPr>
            <a:picLocks noChangeAspect="1"/>
          </p:cNvPicPr>
          <p:nvPr/>
        </p:nvPicPr>
        <p:blipFill>
          <a:blip r:embed="rId3"/>
          <a:stretch>
            <a:fillRect/>
          </a:stretch>
        </p:blipFill>
        <p:spPr>
          <a:xfrm>
            <a:off x="4165092" y="1865376"/>
            <a:ext cx="164592" cy="164592"/>
          </a:xfrm>
          <a:prstGeom prst="rect">
            <a:avLst/>
          </a:prstGeom>
        </p:spPr>
      </p:pic>
      <p:sp>
        <p:nvSpPr>
          <p:cNvPr id="12" name="Shape 7"/>
          <p:cNvSpPr/>
          <p:nvPr/>
        </p:nvSpPr>
        <p:spPr>
          <a:xfrm>
            <a:off x="4334256" y="1627632"/>
            <a:ext cx="1673352" cy="640080"/>
          </a:xfrm>
          <a:prstGeom prst="roundRect">
            <a:avLst>
              <a:gd name="adj" fmla="val 12857"/>
            </a:avLst>
          </a:prstGeom>
          <a:solidFill>
            <a:srgbClr val="3C873A"/>
          </a:solidFill>
          <a:ln w="12700">
            <a:solidFill>
              <a:srgbClr val="3C873A"/>
            </a:solidFill>
            <a:prstDash val="solid"/>
          </a:ln>
        </p:spPr>
      </p:sp>
      <p:sp>
        <p:nvSpPr>
          <p:cNvPr id="13" name="Text 8"/>
          <p:cNvSpPr txBox="1"/>
          <p:nvPr/>
        </p:nvSpPr>
        <p:spPr>
          <a:xfrm>
            <a:off x="4334256" y="1627632"/>
            <a:ext cx="1673352"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Autentikasi</a:t>
            </a:r>
            <a:endParaRPr lang="en-US" sz="1150" dirty="0"/>
          </a:p>
        </p:txBody>
      </p:sp>
      <p:pic>
        <p:nvPicPr>
          <p:cNvPr id="14" name="Image 3" descr="preencoded.png">    </p:cNvPr>
          <p:cNvPicPr>
            <a:picLocks noChangeAspect="1"/>
          </p:cNvPicPr>
          <p:nvPr/>
        </p:nvPicPr>
        <p:blipFill>
          <a:blip r:embed="rId4"/>
          <a:stretch>
            <a:fillRect/>
          </a:stretch>
        </p:blipFill>
        <p:spPr>
          <a:xfrm>
            <a:off x="6012180" y="1865376"/>
            <a:ext cx="164592" cy="164592"/>
          </a:xfrm>
          <a:prstGeom prst="rect">
            <a:avLst/>
          </a:prstGeom>
        </p:spPr>
      </p:pic>
      <p:sp>
        <p:nvSpPr>
          <p:cNvPr id="15" name="Shape 9"/>
          <p:cNvSpPr/>
          <p:nvPr/>
        </p:nvSpPr>
        <p:spPr>
          <a:xfrm>
            <a:off x="6181344" y="1627632"/>
            <a:ext cx="1673352" cy="640080"/>
          </a:xfrm>
          <a:prstGeom prst="roundRect">
            <a:avLst>
              <a:gd name="adj" fmla="val 12857"/>
            </a:avLst>
          </a:prstGeom>
          <a:solidFill>
            <a:srgbClr val="3C873A"/>
          </a:solidFill>
          <a:ln w="12700">
            <a:solidFill>
              <a:srgbClr val="3C873A"/>
            </a:solidFill>
            <a:prstDash val="solid"/>
          </a:ln>
        </p:spPr>
      </p:sp>
      <p:sp>
        <p:nvSpPr>
          <p:cNvPr id="16" name="Text 10"/>
          <p:cNvSpPr txBox="1"/>
          <p:nvPr/>
        </p:nvSpPr>
        <p:spPr>
          <a:xfrm>
            <a:off x="6181344" y="1627632"/>
            <a:ext cx="1673352"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Validasi</a:t>
            </a:r>
            <a:endParaRPr lang="en-US" sz="1150" dirty="0"/>
          </a:p>
        </p:txBody>
      </p:sp>
      <p:pic>
        <p:nvPicPr>
          <p:cNvPr id="17" name="Image 4" descr="preencoded.png">    </p:cNvPr>
          <p:cNvPicPr>
            <a:picLocks noChangeAspect="1"/>
          </p:cNvPicPr>
          <p:nvPr/>
        </p:nvPicPr>
        <p:blipFill>
          <a:blip r:embed="rId5"/>
          <a:stretch>
            <a:fillRect/>
          </a:stretch>
        </p:blipFill>
        <p:spPr>
          <a:xfrm>
            <a:off x="7859268" y="1865376"/>
            <a:ext cx="164592" cy="164592"/>
          </a:xfrm>
          <a:prstGeom prst="rect">
            <a:avLst/>
          </a:prstGeom>
        </p:spPr>
      </p:pic>
      <p:sp>
        <p:nvSpPr>
          <p:cNvPr id="18" name="Shape 11"/>
          <p:cNvSpPr/>
          <p:nvPr/>
        </p:nvSpPr>
        <p:spPr>
          <a:xfrm>
            <a:off x="8028432" y="1627632"/>
            <a:ext cx="1673352" cy="640080"/>
          </a:xfrm>
          <a:prstGeom prst="roundRect">
            <a:avLst>
              <a:gd name="adj" fmla="val 12857"/>
            </a:avLst>
          </a:prstGeom>
          <a:solidFill>
            <a:srgbClr val="3C873A"/>
          </a:solidFill>
          <a:ln w="12700">
            <a:solidFill>
              <a:srgbClr val="3C873A"/>
            </a:solidFill>
            <a:prstDash val="solid"/>
          </a:ln>
        </p:spPr>
      </p:sp>
      <p:sp>
        <p:nvSpPr>
          <p:cNvPr id="19" name="Text 12"/>
          <p:cNvSpPr txBox="1"/>
          <p:nvPr/>
        </p:nvSpPr>
        <p:spPr>
          <a:xfrm>
            <a:off x="8028432" y="1627632"/>
            <a:ext cx="1673352"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Controller</a:t>
            </a:r>
            <a:endParaRPr lang="en-US" sz="1150" dirty="0"/>
          </a:p>
        </p:txBody>
      </p:sp>
      <p:pic>
        <p:nvPicPr>
          <p:cNvPr id="20" name="Image 5" descr="preencoded.png">    </p:cNvPr>
          <p:cNvPicPr>
            <a:picLocks noChangeAspect="1"/>
          </p:cNvPicPr>
          <p:nvPr/>
        </p:nvPicPr>
        <p:blipFill>
          <a:blip r:embed="rId6"/>
          <a:stretch>
            <a:fillRect/>
          </a:stretch>
        </p:blipFill>
        <p:spPr>
          <a:xfrm>
            <a:off x="9706356" y="1865376"/>
            <a:ext cx="164592" cy="164592"/>
          </a:xfrm>
          <a:prstGeom prst="rect">
            <a:avLst/>
          </a:prstGeom>
        </p:spPr>
      </p:pic>
      <p:sp>
        <p:nvSpPr>
          <p:cNvPr id="21" name="Shape 13"/>
          <p:cNvSpPr/>
          <p:nvPr/>
        </p:nvSpPr>
        <p:spPr>
          <a:xfrm>
            <a:off x="9875520" y="1627632"/>
            <a:ext cx="1673352" cy="640080"/>
          </a:xfrm>
          <a:prstGeom prst="roundRect">
            <a:avLst>
              <a:gd name="adj" fmla="val 12857"/>
            </a:avLst>
          </a:prstGeom>
          <a:solidFill>
            <a:srgbClr val="0B2015"/>
          </a:solidFill>
          <a:ln w="12700">
            <a:solidFill>
              <a:srgbClr val="0B2015"/>
            </a:solidFill>
            <a:prstDash val="solid"/>
          </a:ln>
        </p:spPr>
      </p:sp>
      <p:sp>
        <p:nvSpPr>
          <p:cNvPr id="22" name="Text 14"/>
          <p:cNvSpPr txBox="1"/>
          <p:nvPr/>
        </p:nvSpPr>
        <p:spPr>
          <a:xfrm>
            <a:off x="9875520" y="1627632"/>
            <a:ext cx="1673352" cy="64008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Respons</a:t>
            </a:r>
            <a:endParaRPr lang="en-US" sz="1150" dirty="0"/>
          </a:p>
        </p:txBody>
      </p:sp>
      <p:sp>
        <p:nvSpPr>
          <p:cNvPr id="23" name="Shape 15"/>
          <p:cNvSpPr/>
          <p:nvPr/>
        </p:nvSpPr>
        <p:spPr>
          <a:xfrm>
            <a:off x="640080" y="2450592"/>
            <a:ext cx="5577840" cy="3516087"/>
          </a:xfrm>
          <a:prstGeom prst="roundRect">
            <a:avLst>
              <a:gd name="adj" fmla="val 1820"/>
            </a:avLst>
          </a:prstGeom>
          <a:solidFill>
            <a:srgbClr val="0E2417"/>
          </a:solidFill>
          <a:ln w="12700">
            <a:solidFill>
              <a:srgbClr val="234A31"/>
            </a:solidFill>
            <a:prstDash val="solid"/>
          </a:ln>
        </p:spPr>
      </p:sp>
      <p:sp>
        <p:nvSpPr>
          <p:cNvPr id="24" name="Text 16"/>
          <p:cNvSpPr txBox="1"/>
          <p:nvPr/>
        </p:nvSpPr>
        <p:spPr>
          <a:xfrm>
            <a:off x="859536" y="254203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MEMBUAT MIDDLEWARE</a:t>
            </a:r>
            <a:endParaRPr lang="en-US" sz="950" dirty="0"/>
          </a:p>
        </p:txBody>
      </p:sp>
      <p:sp>
        <p:nvSpPr>
          <p:cNvPr id="25" name="Text 17"/>
          <p:cNvSpPr txBox="1"/>
          <p:nvPr/>
        </p:nvSpPr>
        <p:spPr>
          <a:xfrm>
            <a:off x="859536" y="2852928"/>
            <a:ext cx="5138928" cy="3004023"/>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Middleware global untuk semua permintaan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app.use((req, res, next)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`${req.method} ${req.url}`</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next();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wajib, agar lanjut ke lapisan berikut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Middleware khusus satu rute</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cekToken(req, res, next)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(!req.headers.authorization)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res.status(</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401</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).json({ pesan: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'Ditolak'</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next();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app.get(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'/profil'</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cekToken, (req, res)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res.json({ nama: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'Budi'</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26" name="Shape 18"/>
          <p:cNvSpPr/>
          <p:nvPr/>
        </p:nvSpPr>
        <p:spPr>
          <a:xfrm>
            <a:off x="6492240" y="2450592"/>
            <a:ext cx="5120640" cy="2301728"/>
          </a:xfrm>
          <a:prstGeom prst="roundRect">
            <a:avLst>
              <a:gd name="adj" fmla="val 2781"/>
            </a:avLst>
          </a:prstGeom>
          <a:solidFill>
            <a:srgbClr val="0E2417"/>
          </a:solidFill>
          <a:ln w="12700">
            <a:solidFill>
              <a:srgbClr val="234A31"/>
            </a:solidFill>
            <a:prstDash val="solid"/>
          </a:ln>
        </p:spPr>
      </p:sp>
      <p:sp>
        <p:nvSpPr>
          <p:cNvPr id="27" name="Text 19"/>
          <p:cNvSpPr txBox="1"/>
          <p:nvPr/>
        </p:nvSpPr>
        <p:spPr>
          <a:xfrm>
            <a:off x="6711696" y="2542032"/>
            <a:ext cx="46817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ROUTER TERPISAH</a:t>
            </a:r>
            <a:endParaRPr lang="en-US" sz="950" dirty="0"/>
          </a:p>
        </p:txBody>
      </p:sp>
      <p:sp>
        <p:nvSpPr>
          <p:cNvPr id="28" name="Text 20"/>
          <p:cNvSpPr txBox="1"/>
          <p:nvPr/>
        </p:nvSpPr>
        <p:spPr>
          <a:xfrm>
            <a:off x="6711696" y="2852928"/>
            <a:ext cx="4681728" cy="1789664"/>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routes/users.js</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router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'express'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).Router();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router.get(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getSemua);</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router.post(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buatBaru);</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router.get(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'/:id'</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getSatu);</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module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exports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router;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server.js</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users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'./routes/users'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app.use(</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'/api/users'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users);</a:t>
            </a:r>
            <a:endParaRPr lang="en-US" sz="1020" dirty="0"/>
          </a:p>
        </p:txBody>
      </p:sp>
      <p:sp>
        <p:nvSpPr>
          <p:cNvPr id="29" name="Shape 21"/>
          <p:cNvSpPr/>
          <p:nvPr/>
        </p:nvSpPr>
        <p:spPr>
          <a:xfrm>
            <a:off x="6492240" y="4736592"/>
            <a:ext cx="420624" cy="420624"/>
          </a:xfrm>
          <a:prstGeom prst="roundRect">
            <a:avLst>
              <a:gd name="adj" fmla="val 26087"/>
            </a:avLst>
          </a:prstGeom>
          <a:solidFill>
            <a:srgbClr val="E8F2E2"/>
          </a:solidFill>
          <a:ln w="12700">
            <a:solidFill>
              <a:srgbClr val="E8F2E2"/>
            </a:solidFill>
            <a:prstDash val="solid"/>
          </a:ln>
        </p:spPr>
      </p:sp>
      <p:pic>
        <p:nvPicPr>
          <p:cNvPr id="30" name="Image 6" descr="preencoded.png">    </p:cNvPr>
          <p:cNvPicPr>
            <a:picLocks noChangeAspect="1"/>
          </p:cNvPicPr>
          <p:nvPr/>
        </p:nvPicPr>
        <p:blipFill>
          <a:blip r:embed="rId7"/>
          <a:stretch>
            <a:fillRect/>
          </a:stretch>
        </p:blipFill>
        <p:spPr>
          <a:xfrm>
            <a:off x="6597396" y="4841748"/>
            <a:ext cx="210312" cy="210312"/>
          </a:xfrm>
          <a:prstGeom prst="rect">
            <a:avLst/>
          </a:prstGeom>
        </p:spPr>
      </p:pic>
      <p:sp>
        <p:nvSpPr>
          <p:cNvPr id="31" name="Text 22"/>
          <p:cNvSpPr txBox="1"/>
          <p:nvPr/>
        </p:nvSpPr>
        <p:spPr>
          <a:xfrm>
            <a:off x="7059168" y="4718304"/>
            <a:ext cx="45537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Middleware Aplikasi</a:t>
            </a:r>
            <a:endParaRPr lang="en-US" sz="1250" dirty="0"/>
          </a:p>
        </p:txBody>
      </p:sp>
      <p:sp>
        <p:nvSpPr>
          <p:cNvPr id="32" name="Text 23"/>
          <p:cNvSpPr txBox="1"/>
          <p:nvPr/>
        </p:nvSpPr>
        <p:spPr>
          <a:xfrm>
            <a:off x="7059168" y="4974336"/>
            <a:ext cx="4553712" cy="21945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Dipasang dengan app.use, berlaku untuk semua permintaan.</a:t>
            </a:r>
            <a:endParaRPr lang="en-US" sz="1030" dirty="0"/>
          </a:p>
        </p:txBody>
      </p:sp>
      <p:sp>
        <p:nvSpPr>
          <p:cNvPr id="33" name="Shape 24"/>
          <p:cNvSpPr/>
          <p:nvPr/>
        </p:nvSpPr>
        <p:spPr>
          <a:xfrm>
            <a:off x="6492240" y="5212080"/>
            <a:ext cx="420624" cy="420624"/>
          </a:xfrm>
          <a:prstGeom prst="roundRect">
            <a:avLst>
              <a:gd name="adj" fmla="val 26087"/>
            </a:avLst>
          </a:prstGeom>
          <a:solidFill>
            <a:srgbClr val="E8F2E2"/>
          </a:solidFill>
          <a:ln w="12700">
            <a:solidFill>
              <a:srgbClr val="E8F2E2"/>
            </a:solidFill>
            <a:prstDash val="solid"/>
          </a:ln>
        </p:spPr>
      </p:sp>
      <p:pic>
        <p:nvPicPr>
          <p:cNvPr id="34" name="Image 7" descr="preencoded.png">    </p:cNvPr>
          <p:cNvPicPr>
            <a:picLocks noChangeAspect="1"/>
          </p:cNvPicPr>
          <p:nvPr/>
        </p:nvPicPr>
        <p:blipFill>
          <a:blip r:embed="rId8"/>
          <a:stretch>
            <a:fillRect/>
          </a:stretch>
        </p:blipFill>
        <p:spPr>
          <a:xfrm>
            <a:off x="6597396" y="5317236"/>
            <a:ext cx="210312" cy="210312"/>
          </a:xfrm>
          <a:prstGeom prst="rect">
            <a:avLst/>
          </a:prstGeom>
        </p:spPr>
      </p:pic>
      <p:sp>
        <p:nvSpPr>
          <p:cNvPr id="35" name="Text 25"/>
          <p:cNvSpPr txBox="1"/>
          <p:nvPr/>
        </p:nvSpPr>
        <p:spPr>
          <a:xfrm>
            <a:off x="7059168" y="5193792"/>
            <a:ext cx="45537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Middleware Router</a:t>
            </a:r>
            <a:endParaRPr lang="en-US" sz="1250" dirty="0"/>
          </a:p>
        </p:txBody>
      </p:sp>
      <p:sp>
        <p:nvSpPr>
          <p:cNvPr id="36" name="Text 26"/>
          <p:cNvSpPr txBox="1"/>
          <p:nvPr/>
        </p:nvSpPr>
        <p:spPr>
          <a:xfrm>
            <a:off x="7059168" y="5449824"/>
            <a:ext cx="4553712" cy="21945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Berlaku hanya pada sekelompok rute pada sebuah router.</a:t>
            </a:r>
            <a:endParaRPr lang="en-US" sz="1030" dirty="0"/>
          </a:p>
        </p:txBody>
      </p:sp>
      <p:sp>
        <p:nvSpPr>
          <p:cNvPr id="37" name="Shape 27"/>
          <p:cNvSpPr/>
          <p:nvPr/>
        </p:nvSpPr>
        <p:spPr>
          <a:xfrm>
            <a:off x="6492240" y="5687568"/>
            <a:ext cx="420624" cy="420624"/>
          </a:xfrm>
          <a:prstGeom prst="roundRect">
            <a:avLst>
              <a:gd name="adj" fmla="val 26087"/>
            </a:avLst>
          </a:prstGeom>
          <a:solidFill>
            <a:srgbClr val="E8F2E2"/>
          </a:solidFill>
          <a:ln w="12700">
            <a:solidFill>
              <a:srgbClr val="E8F2E2"/>
            </a:solidFill>
            <a:prstDash val="solid"/>
          </a:ln>
        </p:spPr>
      </p:sp>
      <p:pic>
        <p:nvPicPr>
          <p:cNvPr id="38" name="Image 8" descr="preencoded.png">    </p:cNvPr>
          <p:cNvPicPr>
            <a:picLocks noChangeAspect="1"/>
          </p:cNvPicPr>
          <p:nvPr/>
        </p:nvPicPr>
        <p:blipFill>
          <a:blip r:embed="rId9"/>
          <a:stretch>
            <a:fillRect/>
          </a:stretch>
        </p:blipFill>
        <p:spPr>
          <a:xfrm>
            <a:off x="6597396" y="5792724"/>
            <a:ext cx="210312" cy="210312"/>
          </a:xfrm>
          <a:prstGeom prst="rect">
            <a:avLst/>
          </a:prstGeom>
        </p:spPr>
      </p:pic>
      <p:sp>
        <p:nvSpPr>
          <p:cNvPr id="39" name="Text 28"/>
          <p:cNvSpPr txBox="1"/>
          <p:nvPr/>
        </p:nvSpPr>
        <p:spPr>
          <a:xfrm>
            <a:off x="7059168" y="5669280"/>
            <a:ext cx="45537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Middleware Error</a:t>
            </a:r>
            <a:endParaRPr lang="en-US" sz="1250" dirty="0"/>
          </a:p>
        </p:txBody>
      </p:sp>
      <p:sp>
        <p:nvSpPr>
          <p:cNvPr id="40" name="Text 29"/>
          <p:cNvSpPr txBox="1"/>
          <p:nvPr/>
        </p:nvSpPr>
        <p:spPr>
          <a:xfrm>
            <a:off x="7059168" y="5925312"/>
            <a:ext cx="4553712" cy="219456"/>
          </a:xfrm>
          <a:prstGeom prst="rect">
            <a:avLst/>
          </a:prstGeom>
          <a:noFill/>
          <a:ln/>
        </p:spPr>
        <p:txBody>
          <a:bodyPr wrap="square" lIns="0" tIns="0" rIns="0" bIns="0" rtlCol="0" anchor="t"/>
          <a:lstStyle/>
          <a:p>
            <a:pPr indent="0" marL="0">
              <a:lnSpc>
                <a:spcPct val="110000"/>
              </a:lnSpc>
              <a:buNone/>
            </a:pPr>
            <a:r>
              <a:rPr lang="en-US" sz="1030" dirty="0">
                <a:solidFill>
                  <a:srgbClr val="5F6F62"/>
                </a:solidFill>
                <a:latin typeface="Calibri" pitchFamily="34" charset="0"/>
                <a:ea typeface="Calibri" pitchFamily="34" charset="-122"/>
                <a:cs typeface="Calibri" pitchFamily="34" charset="-120"/>
              </a:rPr>
              <a:t>Punya empat parameter dan didaftarkan paling akhir.</a:t>
            </a:r>
            <a:endParaRPr lang="en-US" sz="1030" dirty="0"/>
          </a:p>
        </p:txBody>
      </p:sp>
      <p:sp>
        <p:nvSpPr>
          <p:cNvPr id="41" name="Text 30"/>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2" name="Text 3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Membangun REST API (CRUD)</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Empat operasi dasar yang dipetakan ke metode HTTP</a:t>
            </a:r>
            <a:endParaRPr lang="en-US" sz="1300" dirty="0"/>
          </a:p>
        </p:txBody>
      </p:sp>
      <p:sp>
        <p:nvSpPr>
          <p:cNvPr id="6" name="Shape 3"/>
          <p:cNvSpPr/>
          <p:nvPr/>
        </p:nvSpPr>
        <p:spPr>
          <a:xfrm>
            <a:off x="640080" y="1627632"/>
            <a:ext cx="6035040" cy="420624"/>
          </a:xfrm>
          <a:prstGeom prst="roundRect">
            <a:avLst>
              <a:gd name="adj" fmla="val 10870"/>
            </a:avLst>
          </a:prstGeom>
          <a:solidFill>
            <a:srgbClr val="0B2015"/>
          </a:solidFill>
          <a:ln w="12700">
            <a:solidFill>
              <a:srgbClr val="0B2015"/>
            </a:solidFill>
            <a:prstDash val="solid"/>
          </a:ln>
        </p:spPr>
      </p:sp>
      <p:sp>
        <p:nvSpPr>
          <p:cNvPr id="7" name="Text 4"/>
          <p:cNvSpPr txBox="1"/>
          <p:nvPr/>
        </p:nvSpPr>
        <p:spPr>
          <a:xfrm>
            <a:off x="822960" y="1627632"/>
            <a:ext cx="1005840" cy="420624"/>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Metode</a:t>
            </a:r>
            <a:endParaRPr lang="en-US" sz="1020" dirty="0"/>
          </a:p>
        </p:txBody>
      </p:sp>
      <p:sp>
        <p:nvSpPr>
          <p:cNvPr id="8" name="Text 5"/>
          <p:cNvSpPr txBox="1"/>
          <p:nvPr/>
        </p:nvSpPr>
        <p:spPr>
          <a:xfrm>
            <a:off x="1874520" y="1627632"/>
            <a:ext cx="1965960" cy="420624"/>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Endpoint</a:t>
            </a:r>
            <a:endParaRPr lang="en-US" sz="1020" dirty="0"/>
          </a:p>
        </p:txBody>
      </p:sp>
      <p:sp>
        <p:nvSpPr>
          <p:cNvPr id="9" name="Text 6"/>
          <p:cNvSpPr txBox="1"/>
          <p:nvPr/>
        </p:nvSpPr>
        <p:spPr>
          <a:xfrm>
            <a:off x="3886200" y="1627632"/>
            <a:ext cx="1143000" cy="420624"/>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Aksi</a:t>
            </a:r>
            <a:endParaRPr lang="en-US" sz="1020" dirty="0"/>
          </a:p>
        </p:txBody>
      </p:sp>
      <p:sp>
        <p:nvSpPr>
          <p:cNvPr id="10" name="Text 7"/>
          <p:cNvSpPr txBox="1"/>
          <p:nvPr/>
        </p:nvSpPr>
        <p:spPr>
          <a:xfrm>
            <a:off x="5074920" y="1627632"/>
            <a:ext cx="1463040" cy="420624"/>
          </a:xfrm>
          <a:prstGeom prst="rect">
            <a:avLst/>
          </a:prstGeom>
          <a:noFill/>
          <a:ln/>
        </p:spPr>
        <p:txBody>
          <a:bodyPr wrap="square" lIns="0" tIns="0" rIns="0" bIns="0" rtlCol="0" anchor="ctr"/>
          <a:lstStyle/>
          <a:p>
            <a:pPr indent="0" marL="0">
              <a:buNone/>
            </a:pPr>
            <a:r>
              <a:rPr lang="en-US" sz="1020" b="1" dirty="0">
                <a:solidFill>
                  <a:srgbClr val="FFFFFF"/>
                </a:solidFill>
                <a:latin typeface="Calibri" pitchFamily="34" charset="0"/>
                <a:ea typeface="Calibri" pitchFamily="34" charset="-122"/>
                <a:cs typeface="Calibri" pitchFamily="34" charset="-120"/>
              </a:rPr>
              <a:t>Status Sukses</a:t>
            </a:r>
            <a:endParaRPr lang="en-US" sz="1020" dirty="0"/>
          </a:p>
        </p:txBody>
      </p:sp>
      <p:sp>
        <p:nvSpPr>
          <p:cNvPr id="11" name="Shape 8"/>
          <p:cNvSpPr/>
          <p:nvPr/>
        </p:nvSpPr>
        <p:spPr>
          <a:xfrm>
            <a:off x="640080" y="2093976"/>
            <a:ext cx="6035040" cy="420624"/>
          </a:xfrm>
          <a:prstGeom prst="roundRect">
            <a:avLst>
              <a:gd name="adj" fmla="val 10870"/>
            </a:avLst>
          </a:prstGeom>
          <a:solidFill>
            <a:srgbClr val="FFFFFF"/>
          </a:solidFill>
          <a:ln w="12700">
            <a:solidFill>
              <a:srgbClr val="E3EBDF"/>
            </a:solidFill>
            <a:prstDash val="solid"/>
          </a:ln>
        </p:spPr>
      </p:sp>
      <p:sp>
        <p:nvSpPr>
          <p:cNvPr id="12" name="Text 9"/>
          <p:cNvSpPr txBox="1"/>
          <p:nvPr/>
        </p:nvSpPr>
        <p:spPr>
          <a:xfrm>
            <a:off x="822960" y="2093976"/>
            <a:ext cx="10058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GET</a:t>
            </a:r>
            <a:endParaRPr lang="en-US" sz="1020" dirty="0"/>
          </a:p>
        </p:txBody>
      </p:sp>
      <p:sp>
        <p:nvSpPr>
          <p:cNvPr id="13" name="Text 10"/>
          <p:cNvSpPr txBox="1"/>
          <p:nvPr/>
        </p:nvSpPr>
        <p:spPr>
          <a:xfrm>
            <a:off x="1874520" y="2093976"/>
            <a:ext cx="1965960" cy="420624"/>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/api/produk</a:t>
            </a:r>
            <a:endParaRPr lang="en-US" sz="1020" dirty="0"/>
          </a:p>
        </p:txBody>
      </p:sp>
      <p:sp>
        <p:nvSpPr>
          <p:cNvPr id="14" name="Text 11"/>
          <p:cNvSpPr txBox="1"/>
          <p:nvPr/>
        </p:nvSpPr>
        <p:spPr>
          <a:xfrm>
            <a:off x="3886200" y="2093976"/>
            <a:ext cx="114300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Baca semua</a:t>
            </a:r>
            <a:endParaRPr lang="en-US" sz="1020" dirty="0"/>
          </a:p>
        </p:txBody>
      </p:sp>
      <p:sp>
        <p:nvSpPr>
          <p:cNvPr id="15" name="Text 12"/>
          <p:cNvSpPr txBox="1"/>
          <p:nvPr/>
        </p:nvSpPr>
        <p:spPr>
          <a:xfrm>
            <a:off x="5074920" y="2093976"/>
            <a:ext cx="14630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200 OK</a:t>
            </a:r>
            <a:endParaRPr lang="en-US" sz="1020" dirty="0"/>
          </a:p>
        </p:txBody>
      </p:sp>
      <p:sp>
        <p:nvSpPr>
          <p:cNvPr id="16" name="Shape 13"/>
          <p:cNvSpPr/>
          <p:nvPr/>
        </p:nvSpPr>
        <p:spPr>
          <a:xfrm>
            <a:off x="640080" y="2560320"/>
            <a:ext cx="6035040" cy="420624"/>
          </a:xfrm>
          <a:prstGeom prst="roundRect">
            <a:avLst>
              <a:gd name="adj" fmla="val 10870"/>
            </a:avLst>
          </a:prstGeom>
          <a:solidFill>
            <a:srgbClr val="EDF3E9"/>
          </a:solidFill>
          <a:ln w="12700">
            <a:solidFill>
              <a:srgbClr val="E3EBDF"/>
            </a:solidFill>
            <a:prstDash val="solid"/>
          </a:ln>
        </p:spPr>
      </p:sp>
      <p:sp>
        <p:nvSpPr>
          <p:cNvPr id="17" name="Text 14"/>
          <p:cNvSpPr txBox="1"/>
          <p:nvPr/>
        </p:nvSpPr>
        <p:spPr>
          <a:xfrm>
            <a:off x="822960" y="2560320"/>
            <a:ext cx="10058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GET</a:t>
            </a:r>
            <a:endParaRPr lang="en-US" sz="1020" dirty="0"/>
          </a:p>
        </p:txBody>
      </p:sp>
      <p:sp>
        <p:nvSpPr>
          <p:cNvPr id="18" name="Text 15"/>
          <p:cNvSpPr txBox="1"/>
          <p:nvPr/>
        </p:nvSpPr>
        <p:spPr>
          <a:xfrm>
            <a:off x="1874520" y="2560320"/>
            <a:ext cx="1965960" cy="420624"/>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/api/produk/:id</a:t>
            </a:r>
            <a:endParaRPr lang="en-US" sz="1020" dirty="0"/>
          </a:p>
        </p:txBody>
      </p:sp>
      <p:sp>
        <p:nvSpPr>
          <p:cNvPr id="19" name="Text 16"/>
          <p:cNvSpPr txBox="1"/>
          <p:nvPr/>
        </p:nvSpPr>
        <p:spPr>
          <a:xfrm>
            <a:off x="3886200" y="2560320"/>
            <a:ext cx="114300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Baca satu</a:t>
            </a:r>
            <a:endParaRPr lang="en-US" sz="1020" dirty="0"/>
          </a:p>
        </p:txBody>
      </p:sp>
      <p:sp>
        <p:nvSpPr>
          <p:cNvPr id="20" name="Text 17"/>
          <p:cNvSpPr txBox="1"/>
          <p:nvPr/>
        </p:nvSpPr>
        <p:spPr>
          <a:xfrm>
            <a:off x="5074920" y="2560320"/>
            <a:ext cx="14630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200 OK</a:t>
            </a:r>
            <a:endParaRPr lang="en-US" sz="1020" dirty="0"/>
          </a:p>
        </p:txBody>
      </p:sp>
      <p:sp>
        <p:nvSpPr>
          <p:cNvPr id="21" name="Shape 18"/>
          <p:cNvSpPr/>
          <p:nvPr/>
        </p:nvSpPr>
        <p:spPr>
          <a:xfrm>
            <a:off x="640080" y="3026664"/>
            <a:ext cx="6035040" cy="420624"/>
          </a:xfrm>
          <a:prstGeom prst="roundRect">
            <a:avLst>
              <a:gd name="adj" fmla="val 10870"/>
            </a:avLst>
          </a:prstGeom>
          <a:solidFill>
            <a:srgbClr val="FFFFFF"/>
          </a:solidFill>
          <a:ln w="12700">
            <a:solidFill>
              <a:srgbClr val="E3EBDF"/>
            </a:solidFill>
            <a:prstDash val="solid"/>
          </a:ln>
        </p:spPr>
      </p:sp>
      <p:sp>
        <p:nvSpPr>
          <p:cNvPr id="22" name="Text 19"/>
          <p:cNvSpPr txBox="1"/>
          <p:nvPr/>
        </p:nvSpPr>
        <p:spPr>
          <a:xfrm>
            <a:off x="822960" y="3026664"/>
            <a:ext cx="10058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POST</a:t>
            </a:r>
            <a:endParaRPr lang="en-US" sz="1020" dirty="0"/>
          </a:p>
        </p:txBody>
      </p:sp>
      <p:sp>
        <p:nvSpPr>
          <p:cNvPr id="23" name="Text 20"/>
          <p:cNvSpPr txBox="1"/>
          <p:nvPr/>
        </p:nvSpPr>
        <p:spPr>
          <a:xfrm>
            <a:off x="1874520" y="3026664"/>
            <a:ext cx="1965960" cy="420624"/>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/api/produk</a:t>
            </a:r>
            <a:endParaRPr lang="en-US" sz="1020" dirty="0"/>
          </a:p>
        </p:txBody>
      </p:sp>
      <p:sp>
        <p:nvSpPr>
          <p:cNvPr id="24" name="Text 21"/>
          <p:cNvSpPr txBox="1"/>
          <p:nvPr/>
        </p:nvSpPr>
        <p:spPr>
          <a:xfrm>
            <a:off x="3886200" y="3026664"/>
            <a:ext cx="114300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Buat baru</a:t>
            </a:r>
            <a:endParaRPr lang="en-US" sz="1020" dirty="0"/>
          </a:p>
        </p:txBody>
      </p:sp>
      <p:sp>
        <p:nvSpPr>
          <p:cNvPr id="25" name="Text 22"/>
          <p:cNvSpPr txBox="1"/>
          <p:nvPr/>
        </p:nvSpPr>
        <p:spPr>
          <a:xfrm>
            <a:off x="5074920" y="3026664"/>
            <a:ext cx="14630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201 Created</a:t>
            </a:r>
            <a:endParaRPr lang="en-US" sz="1020" dirty="0"/>
          </a:p>
        </p:txBody>
      </p:sp>
      <p:sp>
        <p:nvSpPr>
          <p:cNvPr id="26" name="Shape 23"/>
          <p:cNvSpPr/>
          <p:nvPr/>
        </p:nvSpPr>
        <p:spPr>
          <a:xfrm>
            <a:off x="640080" y="3493008"/>
            <a:ext cx="6035040" cy="420624"/>
          </a:xfrm>
          <a:prstGeom prst="roundRect">
            <a:avLst>
              <a:gd name="adj" fmla="val 10870"/>
            </a:avLst>
          </a:prstGeom>
          <a:solidFill>
            <a:srgbClr val="EDF3E9"/>
          </a:solidFill>
          <a:ln w="12700">
            <a:solidFill>
              <a:srgbClr val="E3EBDF"/>
            </a:solidFill>
            <a:prstDash val="solid"/>
          </a:ln>
        </p:spPr>
      </p:sp>
      <p:sp>
        <p:nvSpPr>
          <p:cNvPr id="27" name="Text 24"/>
          <p:cNvSpPr txBox="1"/>
          <p:nvPr/>
        </p:nvSpPr>
        <p:spPr>
          <a:xfrm>
            <a:off x="822960" y="3493008"/>
            <a:ext cx="10058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PUT</a:t>
            </a:r>
            <a:endParaRPr lang="en-US" sz="1020" dirty="0"/>
          </a:p>
        </p:txBody>
      </p:sp>
      <p:sp>
        <p:nvSpPr>
          <p:cNvPr id="28" name="Text 25"/>
          <p:cNvSpPr txBox="1"/>
          <p:nvPr/>
        </p:nvSpPr>
        <p:spPr>
          <a:xfrm>
            <a:off x="1874520" y="3493008"/>
            <a:ext cx="1965960" cy="420624"/>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/api/produk/:id</a:t>
            </a:r>
            <a:endParaRPr lang="en-US" sz="1020" dirty="0"/>
          </a:p>
        </p:txBody>
      </p:sp>
      <p:sp>
        <p:nvSpPr>
          <p:cNvPr id="29" name="Text 26"/>
          <p:cNvSpPr txBox="1"/>
          <p:nvPr/>
        </p:nvSpPr>
        <p:spPr>
          <a:xfrm>
            <a:off x="3886200" y="3493008"/>
            <a:ext cx="114300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Ubah penuh</a:t>
            </a:r>
            <a:endParaRPr lang="en-US" sz="1020" dirty="0"/>
          </a:p>
        </p:txBody>
      </p:sp>
      <p:sp>
        <p:nvSpPr>
          <p:cNvPr id="30" name="Text 27"/>
          <p:cNvSpPr txBox="1"/>
          <p:nvPr/>
        </p:nvSpPr>
        <p:spPr>
          <a:xfrm>
            <a:off x="5074920" y="3493008"/>
            <a:ext cx="14630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200 OK</a:t>
            </a:r>
            <a:endParaRPr lang="en-US" sz="1020" dirty="0"/>
          </a:p>
        </p:txBody>
      </p:sp>
      <p:sp>
        <p:nvSpPr>
          <p:cNvPr id="31" name="Shape 28"/>
          <p:cNvSpPr/>
          <p:nvPr/>
        </p:nvSpPr>
        <p:spPr>
          <a:xfrm>
            <a:off x="640080" y="3959352"/>
            <a:ext cx="6035040" cy="420624"/>
          </a:xfrm>
          <a:prstGeom prst="roundRect">
            <a:avLst>
              <a:gd name="adj" fmla="val 10870"/>
            </a:avLst>
          </a:prstGeom>
          <a:solidFill>
            <a:srgbClr val="FFFFFF"/>
          </a:solidFill>
          <a:ln w="12700">
            <a:solidFill>
              <a:srgbClr val="E3EBDF"/>
            </a:solidFill>
            <a:prstDash val="solid"/>
          </a:ln>
        </p:spPr>
      </p:sp>
      <p:sp>
        <p:nvSpPr>
          <p:cNvPr id="32" name="Text 29"/>
          <p:cNvSpPr txBox="1"/>
          <p:nvPr/>
        </p:nvSpPr>
        <p:spPr>
          <a:xfrm>
            <a:off x="822960" y="3959352"/>
            <a:ext cx="10058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PATCH</a:t>
            </a:r>
            <a:endParaRPr lang="en-US" sz="1020" dirty="0"/>
          </a:p>
        </p:txBody>
      </p:sp>
      <p:sp>
        <p:nvSpPr>
          <p:cNvPr id="33" name="Text 30"/>
          <p:cNvSpPr txBox="1"/>
          <p:nvPr/>
        </p:nvSpPr>
        <p:spPr>
          <a:xfrm>
            <a:off x="1874520" y="3959352"/>
            <a:ext cx="1965960" cy="420624"/>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/api/produk/:id</a:t>
            </a:r>
            <a:endParaRPr lang="en-US" sz="1020" dirty="0"/>
          </a:p>
        </p:txBody>
      </p:sp>
      <p:sp>
        <p:nvSpPr>
          <p:cNvPr id="34" name="Text 31"/>
          <p:cNvSpPr txBox="1"/>
          <p:nvPr/>
        </p:nvSpPr>
        <p:spPr>
          <a:xfrm>
            <a:off x="3886200" y="3959352"/>
            <a:ext cx="114300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Ubah sebagian</a:t>
            </a:r>
            <a:endParaRPr lang="en-US" sz="1020" dirty="0"/>
          </a:p>
        </p:txBody>
      </p:sp>
      <p:sp>
        <p:nvSpPr>
          <p:cNvPr id="35" name="Text 32"/>
          <p:cNvSpPr txBox="1"/>
          <p:nvPr/>
        </p:nvSpPr>
        <p:spPr>
          <a:xfrm>
            <a:off x="5074920" y="3959352"/>
            <a:ext cx="14630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200 OK</a:t>
            </a:r>
            <a:endParaRPr lang="en-US" sz="1020" dirty="0"/>
          </a:p>
        </p:txBody>
      </p:sp>
      <p:sp>
        <p:nvSpPr>
          <p:cNvPr id="36" name="Shape 33"/>
          <p:cNvSpPr/>
          <p:nvPr/>
        </p:nvSpPr>
        <p:spPr>
          <a:xfrm>
            <a:off x="640080" y="4425696"/>
            <a:ext cx="6035040" cy="420624"/>
          </a:xfrm>
          <a:prstGeom prst="roundRect">
            <a:avLst>
              <a:gd name="adj" fmla="val 10870"/>
            </a:avLst>
          </a:prstGeom>
          <a:solidFill>
            <a:srgbClr val="EDF3E9"/>
          </a:solidFill>
          <a:ln w="12700">
            <a:solidFill>
              <a:srgbClr val="E3EBDF"/>
            </a:solidFill>
            <a:prstDash val="solid"/>
          </a:ln>
        </p:spPr>
      </p:sp>
      <p:sp>
        <p:nvSpPr>
          <p:cNvPr id="37" name="Text 34"/>
          <p:cNvSpPr txBox="1"/>
          <p:nvPr/>
        </p:nvSpPr>
        <p:spPr>
          <a:xfrm>
            <a:off x="822960" y="4425696"/>
            <a:ext cx="10058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DELETE</a:t>
            </a:r>
            <a:endParaRPr lang="en-US" sz="1020" dirty="0"/>
          </a:p>
        </p:txBody>
      </p:sp>
      <p:sp>
        <p:nvSpPr>
          <p:cNvPr id="38" name="Text 35"/>
          <p:cNvSpPr txBox="1"/>
          <p:nvPr/>
        </p:nvSpPr>
        <p:spPr>
          <a:xfrm>
            <a:off x="1874520" y="4425696"/>
            <a:ext cx="1965960" cy="420624"/>
          </a:xfrm>
          <a:prstGeom prst="rect">
            <a:avLst/>
          </a:prstGeom>
          <a:noFill/>
          <a:ln/>
        </p:spPr>
        <p:txBody>
          <a:bodyPr wrap="square" lIns="0" tIns="0" rIns="0" bIns="0" rtlCol="0" anchor="ctr"/>
          <a:lstStyle/>
          <a:p>
            <a:pPr indent="0" marL="0">
              <a:buNone/>
            </a:pPr>
            <a:r>
              <a:rPr lang="en-US" sz="1020" dirty="0">
                <a:solidFill>
                  <a:srgbClr val="16241B"/>
                </a:solidFill>
                <a:latin typeface="Courier New" pitchFamily="34" charset="0"/>
                <a:ea typeface="Courier New" pitchFamily="34" charset="-122"/>
                <a:cs typeface="Courier New" pitchFamily="34" charset="-120"/>
              </a:rPr>
              <a:t>/api/produk/:id</a:t>
            </a:r>
            <a:endParaRPr lang="en-US" sz="1020" dirty="0"/>
          </a:p>
        </p:txBody>
      </p:sp>
      <p:sp>
        <p:nvSpPr>
          <p:cNvPr id="39" name="Text 36"/>
          <p:cNvSpPr txBox="1"/>
          <p:nvPr/>
        </p:nvSpPr>
        <p:spPr>
          <a:xfrm>
            <a:off x="3886200" y="4425696"/>
            <a:ext cx="114300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Hapus</a:t>
            </a:r>
            <a:endParaRPr lang="en-US" sz="1020" dirty="0"/>
          </a:p>
        </p:txBody>
      </p:sp>
      <p:sp>
        <p:nvSpPr>
          <p:cNvPr id="40" name="Text 37"/>
          <p:cNvSpPr txBox="1"/>
          <p:nvPr/>
        </p:nvSpPr>
        <p:spPr>
          <a:xfrm>
            <a:off x="5074920" y="4425696"/>
            <a:ext cx="1463040" cy="420624"/>
          </a:xfrm>
          <a:prstGeom prst="rect">
            <a:avLst/>
          </a:prstGeom>
          <a:noFill/>
          <a:ln/>
        </p:spPr>
        <p:txBody>
          <a:bodyPr wrap="square" lIns="0" tIns="0" rIns="0" bIns="0" rtlCol="0" anchor="ctr"/>
          <a:lstStyle/>
          <a:p>
            <a:pPr indent="0" marL="0">
              <a:buNone/>
            </a:pPr>
            <a:r>
              <a:rPr lang="en-US" sz="1020" dirty="0">
                <a:solidFill>
                  <a:srgbClr val="16241B"/>
                </a:solidFill>
                <a:latin typeface="Calibri" pitchFamily="34" charset="0"/>
                <a:ea typeface="Calibri" pitchFamily="34" charset="-122"/>
                <a:cs typeface="Calibri" pitchFamily="34" charset="-120"/>
              </a:rPr>
              <a:t>204 No Content</a:t>
            </a:r>
            <a:endParaRPr lang="en-US" sz="1020" dirty="0"/>
          </a:p>
        </p:txBody>
      </p:sp>
      <p:sp>
        <p:nvSpPr>
          <p:cNvPr id="41" name="Shape 38"/>
          <p:cNvSpPr/>
          <p:nvPr/>
        </p:nvSpPr>
        <p:spPr>
          <a:xfrm>
            <a:off x="640080" y="4791456"/>
            <a:ext cx="6035040" cy="1046074"/>
          </a:xfrm>
          <a:prstGeom prst="roundRect">
            <a:avLst>
              <a:gd name="adj" fmla="val 6119"/>
            </a:avLst>
          </a:prstGeom>
          <a:solidFill>
            <a:srgbClr val="0E2417"/>
          </a:solidFill>
          <a:ln w="12700">
            <a:solidFill>
              <a:srgbClr val="234A31"/>
            </a:solidFill>
            <a:prstDash val="solid"/>
          </a:ln>
        </p:spPr>
      </p:sp>
      <p:sp>
        <p:nvSpPr>
          <p:cNvPr id="42" name="Text 39"/>
          <p:cNvSpPr txBox="1"/>
          <p:nvPr/>
        </p:nvSpPr>
        <p:spPr>
          <a:xfrm>
            <a:off x="859536" y="4992624"/>
            <a:ext cx="5596128" cy="735178"/>
          </a:xfrm>
          <a:prstGeom prst="rect">
            <a:avLst/>
          </a:prstGeom>
          <a:noFill/>
          <a:ln/>
        </p:spPr>
        <p:txBody>
          <a:bodyPr wrap="square" lIns="0" tIns="0" rIns="0" bIns="0" rtlCol="0" anchor="t"/>
          <a:lstStyle/>
          <a:p>
            <a:pPr indent="0" marL="0">
              <a:lnSpc>
                <a:spcPct val="106000"/>
              </a:lnSpc>
              <a:buNone/>
            </a:pPr>
            <a:r>
              <a:rPr lang="en-US" sz="1000" dirty="0">
                <a:solidFill>
                  <a:srgbClr val="6E8A76"/>
                </a:solidFill>
                <a:latin typeface="Courier New" pitchFamily="34" charset="0"/>
                <a:ea typeface="Courier New" pitchFamily="34" charset="-122"/>
                <a:cs typeface="Courier New" pitchFamily="34" charset="-120"/>
              </a:rPr>
              <a:t>// Kode status yang sering dipakai</a:t>
            </a:r>
            <a:endParaRPr lang="en-US" sz="1000" dirty="0"/>
          </a:p>
          <a:p>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200</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OK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400</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Bad Request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404</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Not Found</a:t>
            </a:r>
            <a:endParaRPr lang="en-US" sz="1000" dirty="0"/>
          </a:p>
          <a:p>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201</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Created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401</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Unauthorized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409</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Conflict</a:t>
            </a:r>
            <a:endParaRPr lang="en-US" sz="1000" dirty="0"/>
          </a:p>
          <a:p>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204</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No Content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403</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Forbidden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500</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Server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Error</a:t>
            </a:r>
            <a:endParaRPr lang="en-US" sz="1000" dirty="0"/>
          </a:p>
        </p:txBody>
      </p:sp>
      <p:sp>
        <p:nvSpPr>
          <p:cNvPr id="43" name="Shape 40"/>
          <p:cNvSpPr/>
          <p:nvPr/>
        </p:nvSpPr>
        <p:spPr>
          <a:xfrm>
            <a:off x="6949440" y="1627632"/>
            <a:ext cx="4663440" cy="4158984"/>
          </a:xfrm>
          <a:prstGeom prst="roundRect">
            <a:avLst>
              <a:gd name="adj" fmla="val 1539"/>
            </a:avLst>
          </a:prstGeom>
          <a:solidFill>
            <a:srgbClr val="0E2417"/>
          </a:solidFill>
          <a:ln w="12700">
            <a:solidFill>
              <a:srgbClr val="234A31"/>
            </a:solidFill>
            <a:prstDash val="solid"/>
          </a:ln>
        </p:spPr>
      </p:sp>
      <p:sp>
        <p:nvSpPr>
          <p:cNvPr id="44" name="Text 41"/>
          <p:cNvSpPr txBox="1"/>
          <p:nvPr/>
        </p:nvSpPr>
        <p:spPr>
          <a:xfrm>
            <a:off x="7168896" y="1719072"/>
            <a:ext cx="42245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CONTROLLER CRUD</a:t>
            </a:r>
            <a:endParaRPr lang="en-US" sz="950" dirty="0"/>
          </a:p>
        </p:txBody>
      </p:sp>
      <p:sp>
        <p:nvSpPr>
          <p:cNvPr id="45" name="Text 42"/>
          <p:cNvSpPr txBox="1"/>
          <p:nvPr/>
        </p:nvSpPr>
        <p:spPr>
          <a:xfrm>
            <a:off x="7168896" y="2029968"/>
            <a:ext cx="4224528" cy="3646920"/>
          </a:xfrm>
          <a:prstGeom prst="rect">
            <a:avLst/>
          </a:prstGeom>
          <a:noFill/>
          <a:ln/>
        </p:spPr>
        <p:txBody>
          <a:bodyPr wrap="square" lIns="0" tIns="0" rIns="0" bIns="0" rtlCol="0" anchor="t"/>
          <a:lstStyle/>
          <a:p>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produk =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endParaRPr lang="en-US" sz="960" dirty="0"/>
          </a:p>
          <a:p>
            <a:pPr indent="0" marL="0">
              <a:lnSpc>
                <a:spcPct val="106000"/>
              </a:lnSpc>
              <a:buNone/>
            </a:pPr>
            <a:r>
              <a:rPr lang="en-US" sz="960" dirty="0">
                <a:solidFill>
                  <a:srgbClr val="6E8A76"/>
                </a:solidFill>
                <a:latin typeface="Courier New" pitchFamily="34" charset="0"/>
                <a:ea typeface="Courier New" pitchFamily="34" charset="-122"/>
                <a:cs typeface="Courier New" pitchFamily="34" charset="-120"/>
              </a:rPr>
              <a:t>// READ semua</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app.get(</a:t>
            </a:r>
            <a:pPr indent="0" marL="0">
              <a:lnSpc>
                <a:spcPct val="106000"/>
              </a:lnSpc>
              <a:buNone/>
            </a:pPr>
            <a:r>
              <a:rPr lang="en-US" sz="960" dirty="0">
                <a:solidFill>
                  <a:srgbClr val="E5C07B"/>
                </a:solidFill>
                <a:latin typeface="Courier New" pitchFamily="34" charset="0"/>
                <a:ea typeface="Courier New" pitchFamily="34" charset="-122"/>
                <a:cs typeface="Courier New" pitchFamily="34" charset="-120"/>
              </a:rPr>
              <a:t>'/api/produk'</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(req, res) =&gt;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res.json(produk);</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endParaRPr lang="en-US" sz="960" dirty="0"/>
          </a:p>
          <a:p>
            <a:pPr indent="0" marL="0">
              <a:lnSpc>
                <a:spcPct val="106000"/>
              </a:lnSpc>
              <a:buNone/>
            </a:pPr>
            <a:r>
              <a:rPr lang="en-US" sz="960" dirty="0">
                <a:solidFill>
                  <a:srgbClr val="6E8A76"/>
                </a:solidFill>
                <a:latin typeface="Courier New" pitchFamily="34" charset="0"/>
                <a:ea typeface="Courier New" pitchFamily="34" charset="-122"/>
                <a:cs typeface="Courier New" pitchFamily="34" charset="-120"/>
              </a:rPr>
              <a:t>// CREATE</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app.post(</a:t>
            </a:r>
            <a:pPr indent="0" marL="0">
              <a:lnSpc>
                <a:spcPct val="106000"/>
              </a:lnSpc>
              <a:buNone/>
            </a:pPr>
            <a:r>
              <a:rPr lang="en-US" sz="960" dirty="0">
                <a:solidFill>
                  <a:srgbClr val="E5C07B"/>
                </a:solidFill>
                <a:latin typeface="Courier New" pitchFamily="34" charset="0"/>
                <a:ea typeface="Courier New" pitchFamily="34" charset="-122"/>
                <a:cs typeface="Courier New" pitchFamily="34" charset="-120"/>
              </a:rPr>
              <a:t>'/api/produk'</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(req, res) =&gt;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baru = { id: Date.now(), ...req.body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produk.push(baru);</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res.status(</a:t>
            </a:r>
            <a:pPr indent="0" marL="0">
              <a:lnSpc>
                <a:spcPct val="106000"/>
              </a:lnSpc>
              <a:buNone/>
            </a:pPr>
            <a:r>
              <a:rPr lang="en-US" sz="960" dirty="0">
                <a:solidFill>
                  <a:srgbClr val="D9A05B"/>
                </a:solidFill>
                <a:latin typeface="Courier New" pitchFamily="34" charset="0"/>
                <a:ea typeface="Courier New" pitchFamily="34" charset="-122"/>
                <a:cs typeface="Courier New" pitchFamily="34" charset="-120"/>
              </a:rPr>
              <a:t>201</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).json(baru);</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endParaRPr lang="en-US" sz="960" dirty="0"/>
          </a:p>
          <a:p>
            <a:pPr indent="0" marL="0">
              <a:lnSpc>
                <a:spcPct val="106000"/>
              </a:lnSpc>
              <a:buNone/>
            </a:pPr>
            <a:r>
              <a:rPr lang="en-US" sz="960" dirty="0">
                <a:solidFill>
                  <a:srgbClr val="6E8A76"/>
                </a:solidFill>
                <a:latin typeface="Courier New" pitchFamily="34" charset="0"/>
                <a:ea typeface="Courier New" pitchFamily="34" charset="-122"/>
                <a:cs typeface="Courier New" pitchFamily="34" charset="-120"/>
              </a:rPr>
              <a:t>// UPDATE</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app.put(</a:t>
            </a:r>
            <a:pPr indent="0" marL="0">
              <a:lnSpc>
                <a:spcPct val="106000"/>
              </a:lnSpc>
              <a:buNone/>
            </a:pPr>
            <a:r>
              <a:rPr lang="en-US" sz="960" dirty="0">
                <a:solidFill>
                  <a:srgbClr val="E5C07B"/>
                </a:solidFill>
                <a:latin typeface="Courier New" pitchFamily="34" charset="0"/>
                <a:ea typeface="Courier New" pitchFamily="34" charset="-122"/>
                <a:cs typeface="Courier New" pitchFamily="34" charset="-120"/>
              </a:rPr>
              <a:t>'/api/produk/:id'</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(req, res) =&gt;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i = produk.findIndex(</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p =&gt; p.id == req.params.id);</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(i === -</a:t>
            </a:r>
            <a:pPr indent="0" marL="0">
              <a:lnSpc>
                <a:spcPct val="106000"/>
              </a:lnSpc>
              <a:buNone/>
            </a:pPr>
            <a:r>
              <a:rPr lang="en-US" sz="96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res.status(</a:t>
            </a:r>
            <a:pPr indent="0" marL="0">
              <a:lnSpc>
                <a:spcPct val="106000"/>
              </a:lnSpc>
              <a:buNone/>
            </a:pPr>
            <a:r>
              <a:rPr lang="en-US" sz="960" dirty="0">
                <a:solidFill>
                  <a:srgbClr val="D9A05B"/>
                </a:solidFill>
                <a:latin typeface="Courier New" pitchFamily="34" charset="0"/>
                <a:ea typeface="Courier New" pitchFamily="34" charset="-122"/>
                <a:cs typeface="Courier New" pitchFamily="34" charset="-120"/>
              </a:rPr>
              <a:t>404</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).json({});</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produk[i] = { ...produk[i], ...req.body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res.json(produk[i]);</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t>
            </a:r>
            <a:endParaRPr lang="en-US" sz="960" dirty="0"/>
          </a:p>
        </p:txBody>
      </p:sp>
      <p:sp>
        <p:nvSpPr>
          <p:cNvPr id="46" name="Text 4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7" name="Text 4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Menghubungkan Node.js ke Basis Data</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Pilihan basis data dan pustaka penghubung yang populer</a:t>
            </a:r>
            <a:endParaRPr lang="en-US" sz="1300" dirty="0"/>
          </a:p>
        </p:txBody>
      </p:sp>
      <p:sp>
        <p:nvSpPr>
          <p:cNvPr id="6" name="Shape 3"/>
          <p:cNvSpPr/>
          <p:nvPr/>
        </p:nvSpPr>
        <p:spPr>
          <a:xfrm>
            <a:off x="640080" y="1609344"/>
            <a:ext cx="2542032" cy="1920240"/>
          </a:xfrm>
          <a:prstGeom prst="roundRect">
            <a:avLst>
              <a:gd name="adj" fmla="val 428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7" name="Image 1" descr="preencoded.png">    </p:cNvPr>
          <p:cNvPicPr>
            <a:picLocks noChangeAspect="1"/>
          </p:cNvPicPr>
          <p:nvPr/>
        </p:nvPicPr>
        <p:blipFill>
          <a:blip r:embed="rId2"/>
          <a:stretch>
            <a:fillRect/>
          </a:stretch>
        </p:blipFill>
        <p:spPr>
          <a:xfrm>
            <a:off x="877824" y="1810512"/>
            <a:ext cx="420624" cy="420624"/>
          </a:xfrm>
          <a:prstGeom prst="rect">
            <a:avLst/>
          </a:prstGeom>
        </p:spPr>
      </p:pic>
      <p:sp>
        <p:nvSpPr>
          <p:cNvPr id="8" name="Text 4"/>
          <p:cNvSpPr txBox="1"/>
          <p:nvPr/>
        </p:nvSpPr>
        <p:spPr>
          <a:xfrm>
            <a:off x="1426464" y="1810512"/>
            <a:ext cx="1517904" cy="420624"/>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MongoDB</a:t>
            </a:r>
            <a:endParaRPr lang="en-US" sz="1400" dirty="0"/>
          </a:p>
        </p:txBody>
      </p:sp>
      <p:sp>
        <p:nvSpPr>
          <p:cNvPr id="9" name="Text 5"/>
          <p:cNvSpPr txBox="1"/>
          <p:nvPr/>
        </p:nvSpPr>
        <p:spPr>
          <a:xfrm>
            <a:off x="877824" y="2340864"/>
            <a:ext cx="2066544" cy="69494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Basis data dokumen berbasis JSON. Paling populer di ekosistem Node.js.</a:t>
            </a:r>
            <a:endParaRPr lang="en-US" sz="1030" dirty="0"/>
          </a:p>
        </p:txBody>
      </p:sp>
      <p:sp>
        <p:nvSpPr>
          <p:cNvPr id="10" name="Shape 6"/>
          <p:cNvSpPr/>
          <p:nvPr/>
        </p:nvSpPr>
        <p:spPr>
          <a:xfrm>
            <a:off x="877824" y="3054096"/>
            <a:ext cx="2066544" cy="329184"/>
          </a:xfrm>
          <a:prstGeom prst="roundRect">
            <a:avLst>
              <a:gd name="adj" fmla="val 16667"/>
            </a:avLst>
          </a:prstGeom>
          <a:solidFill>
            <a:srgbClr val="0E2417"/>
          </a:solidFill>
          <a:ln w="12700">
            <a:solidFill>
              <a:srgbClr val="0E2417"/>
            </a:solidFill>
            <a:prstDash val="solid"/>
          </a:ln>
        </p:spPr>
      </p:sp>
      <p:sp>
        <p:nvSpPr>
          <p:cNvPr id="11" name="Text 7"/>
          <p:cNvSpPr txBox="1"/>
          <p:nvPr/>
        </p:nvSpPr>
        <p:spPr>
          <a:xfrm>
            <a:off x="877824" y="3054096"/>
            <a:ext cx="2066544" cy="329184"/>
          </a:xfrm>
          <a:prstGeom prst="rect">
            <a:avLst/>
          </a:prstGeom>
          <a:noFill/>
          <a:ln/>
        </p:spPr>
        <p:txBody>
          <a:bodyPr wrap="square" lIns="0" tIns="0" rIns="0" bIns="0" rtlCol="0" anchor="ctr"/>
          <a:lstStyle/>
          <a:p>
            <a:pPr algn="ctr" indent="0" marL="0">
              <a:buNone/>
            </a:pPr>
            <a:r>
              <a:rPr lang="en-US" sz="980" dirty="0">
                <a:solidFill>
                  <a:srgbClr val="C6E3B4"/>
                </a:solidFill>
                <a:latin typeface="Courier New" pitchFamily="34" charset="0"/>
                <a:ea typeface="Courier New" pitchFamily="34" charset="-122"/>
                <a:cs typeface="Courier New" pitchFamily="34" charset="-120"/>
              </a:rPr>
              <a:t>mongoose</a:t>
            </a:r>
            <a:endParaRPr lang="en-US" sz="980" dirty="0"/>
          </a:p>
        </p:txBody>
      </p:sp>
      <p:sp>
        <p:nvSpPr>
          <p:cNvPr id="12" name="Shape 8"/>
          <p:cNvSpPr/>
          <p:nvPr/>
        </p:nvSpPr>
        <p:spPr>
          <a:xfrm>
            <a:off x="3447288" y="1609344"/>
            <a:ext cx="2542032" cy="1920240"/>
          </a:xfrm>
          <a:prstGeom prst="roundRect">
            <a:avLst>
              <a:gd name="adj" fmla="val 428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3" name="Image 2" descr="preencoded.png">    </p:cNvPr>
          <p:cNvPicPr>
            <a:picLocks noChangeAspect="1"/>
          </p:cNvPicPr>
          <p:nvPr/>
        </p:nvPicPr>
        <p:blipFill>
          <a:blip r:embed="rId3"/>
          <a:stretch>
            <a:fillRect/>
          </a:stretch>
        </p:blipFill>
        <p:spPr>
          <a:xfrm>
            <a:off x="3685032" y="1810512"/>
            <a:ext cx="420624" cy="420624"/>
          </a:xfrm>
          <a:prstGeom prst="rect">
            <a:avLst/>
          </a:prstGeom>
        </p:spPr>
      </p:pic>
      <p:sp>
        <p:nvSpPr>
          <p:cNvPr id="14" name="Text 9"/>
          <p:cNvSpPr txBox="1"/>
          <p:nvPr/>
        </p:nvSpPr>
        <p:spPr>
          <a:xfrm>
            <a:off x="4233672" y="1810512"/>
            <a:ext cx="1517904" cy="420624"/>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PostgreSQL</a:t>
            </a:r>
            <a:endParaRPr lang="en-US" sz="1400" dirty="0"/>
          </a:p>
        </p:txBody>
      </p:sp>
      <p:sp>
        <p:nvSpPr>
          <p:cNvPr id="15" name="Text 10"/>
          <p:cNvSpPr txBox="1"/>
          <p:nvPr/>
        </p:nvSpPr>
        <p:spPr>
          <a:xfrm>
            <a:off x="3685032" y="2340864"/>
            <a:ext cx="2066544" cy="69494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Basis data relasional bersumber terbuka dengan fitur sangat lengkap.</a:t>
            </a:r>
            <a:endParaRPr lang="en-US" sz="1030" dirty="0"/>
          </a:p>
        </p:txBody>
      </p:sp>
      <p:sp>
        <p:nvSpPr>
          <p:cNvPr id="16" name="Shape 11"/>
          <p:cNvSpPr/>
          <p:nvPr/>
        </p:nvSpPr>
        <p:spPr>
          <a:xfrm>
            <a:off x="3685032" y="3054096"/>
            <a:ext cx="2066544" cy="329184"/>
          </a:xfrm>
          <a:prstGeom prst="roundRect">
            <a:avLst>
              <a:gd name="adj" fmla="val 16667"/>
            </a:avLst>
          </a:prstGeom>
          <a:solidFill>
            <a:srgbClr val="0E2417"/>
          </a:solidFill>
          <a:ln w="12700">
            <a:solidFill>
              <a:srgbClr val="0E2417"/>
            </a:solidFill>
            <a:prstDash val="solid"/>
          </a:ln>
        </p:spPr>
      </p:sp>
      <p:sp>
        <p:nvSpPr>
          <p:cNvPr id="17" name="Text 12"/>
          <p:cNvSpPr txBox="1"/>
          <p:nvPr/>
        </p:nvSpPr>
        <p:spPr>
          <a:xfrm>
            <a:off x="3685032" y="3054096"/>
            <a:ext cx="2066544" cy="329184"/>
          </a:xfrm>
          <a:prstGeom prst="rect">
            <a:avLst/>
          </a:prstGeom>
          <a:noFill/>
          <a:ln/>
        </p:spPr>
        <p:txBody>
          <a:bodyPr wrap="square" lIns="0" tIns="0" rIns="0" bIns="0" rtlCol="0" anchor="ctr"/>
          <a:lstStyle/>
          <a:p>
            <a:pPr algn="ctr" indent="0" marL="0">
              <a:buNone/>
            </a:pPr>
            <a:r>
              <a:rPr lang="en-US" sz="980" dirty="0">
                <a:solidFill>
                  <a:srgbClr val="C6E3B4"/>
                </a:solidFill>
                <a:latin typeface="Courier New" pitchFamily="34" charset="0"/>
                <a:ea typeface="Courier New" pitchFamily="34" charset="-122"/>
                <a:cs typeface="Courier New" pitchFamily="34" charset="-120"/>
              </a:rPr>
              <a:t>pg / prisma</a:t>
            </a:r>
            <a:endParaRPr lang="en-US" sz="980" dirty="0"/>
          </a:p>
        </p:txBody>
      </p:sp>
      <p:sp>
        <p:nvSpPr>
          <p:cNvPr id="18" name="Shape 13"/>
          <p:cNvSpPr/>
          <p:nvPr/>
        </p:nvSpPr>
        <p:spPr>
          <a:xfrm>
            <a:off x="6254496" y="1609344"/>
            <a:ext cx="2542032" cy="1920240"/>
          </a:xfrm>
          <a:prstGeom prst="roundRect">
            <a:avLst>
              <a:gd name="adj" fmla="val 428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9" name="Image 3" descr="preencoded.png">    </p:cNvPr>
          <p:cNvPicPr>
            <a:picLocks noChangeAspect="1"/>
          </p:cNvPicPr>
          <p:nvPr/>
        </p:nvPicPr>
        <p:blipFill>
          <a:blip r:embed="rId4"/>
          <a:stretch>
            <a:fillRect/>
          </a:stretch>
        </p:blipFill>
        <p:spPr>
          <a:xfrm>
            <a:off x="6492240" y="1810512"/>
            <a:ext cx="420624" cy="420624"/>
          </a:xfrm>
          <a:prstGeom prst="rect">
            <a:avLst/>
          </a:prstGeom>
        </p:spPr>
      </p:pic>
      <p:sp>
        <p:nvSpPr>
          <p:cNvPr id="20" name="Text 14"/>
          <p:cNvSpPr txBox="1"/>
          <p:nvPr/>
        </p:nvSpPr>
        <p:spPr>
          <a:xfrm>
            <a:off x="7040880" y="1810512"/>
            <a:ext cx="1517904" cy="420624"/>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MySQL</a:t>
            </a:r>
            <a:endParaRPr lang="en-US" sz="1400" dirty="0"/>
          </a:p>
        </p:txBody>
      </p:sp>
      <p:sp>
        <p:nvSpPr>
          <p:cNvPr id="21" name="Text 15"/>
          <p:cNvSpPr txBox="1"/>
          <p:nvPr/>
        </p:nvSpPr>
        <p:spPr>
          <a:xfrm>
            <a:off x="6492240" y="2340864"/>
            <a:ext cx="2066544" cy="69494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Basis data relasional yang paling luas dipakai di layanan hosting.</a:t>
            </a:r>
            <a:endParaRPr lang="en-US" sz="1030" dirty="0"/>
          </a:p>
        </p:txBody>
      </p:sp>
      <p:sp>
        <p:nvSpPr>
          <p:cNvPr id="22" name="Shape 16"/>
          <p:cNvSpPr/>
          <p:nvPr/>
        </p:nvSpPr>
        <p:spPr>
          <a:xfrm>
            <a:off x="6492240" y="3054096"/>
            <a:ext cx="2066544" cy="329184"/>
          </a:xfrm>
          <a:prstGeom prst="roundRect">
            <a:avLst>
              <a:gd name="adj" fmla="val 16667"/>
            </a:avLst>
          </a:prstGeom>
          <a:solidFill>
            <a:srgbClr val="0E2417"/>
          </a:solidFill>
          <a:ln w="12700">
            <a:solidFill>
              <a:srgbClr val="0E2417"/>
            </a:solidFill>
            <a:prstDash val="solid"/>
          </a:ln>
        </p:spPr>
      </p:sp>
      <p:sp>
        <p:nvSpPr>
          <p:cNvPr id="23" name="Text 17"/>
          <p:cNvSpPr txBox="1"/>
          <p:nvPr/>
        </p:nvSpPr>
        <p:spPr>
          <a:xfrm>
            <a:off x="6492240" y="3054096"/>
            <a:ext cx="2066544" cy="329184"/>
          </a:xfrm>
          <a:prstGeom prst="rect">
            <a:avLst/>
          </a:prstGeom>
          <a:noFill/>
          <a:ln/>
        </p:spPr>
        <p:txBody>
          <a:bodyPr wrap="square" lIns="0" tIns="0" rIns="0" bIns="0" rtlCol="0" anchor="ctr"/>
          <a:lstStyle/>
          <a:p>
            <a:pPr algn="ctr" indent="0" marL="0">
              <a:buNone/>
            </a:pPr>
            <a:r>
              <a:rPr lang="en-US" sz="980" dirty="0">
                <a:solidFill>
                  <a:srgbClr val="C6E3B4"/>
                </a:solidFill>
                <a:latin typeface="Courier New" pitchFamily="34" charset="0"/>
                <a:ea typeface="Courier New" pitchFamily="34" charset="-122"/>
                <a:cs typeface="Courier New" pitchFamily="34" charset="-120"/>
              </a:rPr>
              <a:t>mysql2 / sequelize</a:t>
            </a:r>
            <a:endParaRPr lang="en-US" sz="980" dirty="0"/>
          </a:p>
        </p:txBody>
      </p:sp>
      <p:sp>
        <p:nvSpPr>
          <p:cNvPr id="24" name="Shape 18"/>
          <p:cNvSpPr/>
          <p:nvPr/>
        </p:nvSpPr>
        <p:spPr>
          <a:xfrm>
            <a:off x="9061704" y="1609344"/>
            <a:ext cx="2542032" cy="1920240"/>
          </a:xfrm>
          <a:prstGeom prst="roundRect">
            <a:avLst>
              <a:gd name="adj" fmla="val 428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25" name="Image 4" descr="preencoded.png">    </p:cNvPr>
          <p:cNvPicPr>
            <a:picLocks noChangeAspect="1"/>
          </p:cNvPicPr>
          <p:nvPr/>
        </p:nvPicPr>
        <p:blipFill>
          <a:blip r:embed="rId5"/>
          <a:stretch>
            <a:fillRect/>
          </a:stretch>
        </p:blipFill>
        <p:spPr>
          <a:xfrm>
            <a:off x="9299448" y="1810512"/>
            <a:ext cx="420624" cy="420624"/>
          </a:xfrm>
          <a:prstGeom prst="rect">
            <a:avLst/>
          </a:prstGeom>
        </p:spPr>
      </p:pic>
      <p:sp>
        <p:nvSpPr>
          <p:cNvPr id="26" name="Text 19"/>
          <p:cNvSpPr txBox="1"/>
          <p:nvPr/>
        </p:nvSpPr>
        <p:spPr>
          <a:xfrm>
            <a:off x="9848088" y="1810512"/>
            <a:ext cx="1517904" cy="420624"/>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Redis</a:t>
            </a:r>
            <a:endParaRPr lang="en-US" sz="1400" dirty="0"/>
          </a:p>
        </p:txBody>
      </p:sp>
      <p:sp>
        <p:nvSpPr>
          <p:cNvPr id="27" name="Text 20"/>
          <p:cNvSpPr txBox="1"/>
          <p:nvPr/>
        </p:nvSpPr>
        <p:spPr>
          <a:xfrm>
            <a:off x="9299448" y="2340864"/>
            <a:ext cx="2066544" cy="69494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Penyimpanan dalam memori untuk cache, sesi, dan antrean pekerjaan.</a:t>
            </a:r>
            <a:endParaRPr lang="en-US" sz="1030" dirty="0"/>
          </a:p>
        </p:txBody>
      </p:sp>
      <p:sp>
        <p:nvSpPr>
          <p:cNvPr id="28" name="Shape 21"/>
          <p:cNvSpPr/>
          <p:nvPr/>
        </p:nvSpPr>
        <p:spPr>
          <a:xfrm>
            <a:off x="9299448" y="3054096"/>
            <a:ext cx="2066544" cy="329184"/>
          </a:xfrm>
          <a:prstGeom prst="roundRect">
            <a:avLst>
              <a:gd name="adj" fmla="val 16667"/>
            </a:avLst>
          </a:prstGeom>
          <a:solidFill>
            <a:srgbClr val="0E2417"/>
          </a:solidFill>
          <a:ln w="12700">
            <a:solidFill>
              <a:srgbClr val="0E2417"/>
            </a:solidFill>
            <a:prstDash val="solid"/>
          </a:ln>
        </p:spPr>
      </p:sp>
      <p:sp>
        <p:nvSpPr>
          <p:cNvPr id="29" name="Text 22"/>
          <p:cNvSpPr txBox="1"/>
          <p:nvPr/>
        </p:nvSpPr>
        <p:spPr>
          <a:xfrm>
            <a:off x="9299448" y="3054096"/>
            <a:ext cx="2066544" cy="329184"/>
          </a:xfrm>
          <a:prstGeom prst="rect">
            <a:avLst/>
          </a:prstGeom>
          <a:noFill/>
          <a:ln/>
        </p:spPr>
        <p:txBody>
          <a:bodyPr wrap="square" lIns="0" tIns="0" rIns="0" bIns="0" rtlCol="0" anchor="ctr"/>
          <a:lstStyle/>
          <a:p>
            <a:pPr algn="ctr" indent="0" marL="0">
              <a:buNone/>
            </a:pPr>
            <a:r>
              <a:rPr lang="en-US" sz="980" dirty="0">
                <a:solidFill>
                  <a:srgbClr val="C6E3B4"/>
                </a:solidFill>
                <a:latin typeface="Courier New" pitchFamily="34" charset="0"/>
                <a:ea typeface="Courier New" pitchFamily="34" charset="-122"/>
                <a:cs typeface="Courier New" pitchFamily="34" charset="-120"/>
              </a:rPr>
              <a:t>ioredis</a:t>
            </a:r>
            <a:endParaRPr lang="en-US" sz="980" dirty="0"/>
          </a:p>
        </p:txBody>
      </p:sp>
      <p:sp>
        <p:nvSpPr>
          <p:cNvPr id="30" name="Shape 23"/>
          <p:cNvSpPr/>
          <p:nvPr/>
        </p:nvSpPr>
        <p:spPr>
          <a:xfrm>
            <a:off x="640080" y="3712464"/>
            <a:ext cx="5577840" cy="2267712"/>
          </a:xfrm>
          <a:prstGeom prst="roundRect">
            <a:avLst>
              <a:gd name="adj" fmla="val 2823"/>
            </a:avLst>
          </a:prstGeom>
          <a:solidFill>
            <a:srgbClr val="0E2417"/>
          </a:solidFill>
          <a:ln w="12700">
            <a:solidFill>
              <a:srgbClr val="234A31"/>
            </a:solidFill>
            <a:prstDash val="solid"/>
          </a:ln>
        </p:spPr>
      </p:sp>
      <p:sp>
        <p:nvSpPr>
          <p:cNvPr id="31" name="Text 24"/>
          <p:cNvSpPr txBox="1"/>
          <p:nvPr/>
        </p:nvSpPr>
        <p:spPr>
          <a:xfrm>
            <a:off x="859536" y="3803904"/>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MONGODB DENGAN MONGOOSE</a:t>
            </a:r>
            <a:endParaRPr lang="en-US" sz="950" dirty="0"/>
          </a:p>
        </p:txBody>
      </p:sp>
      <p:sp>
        <p:nvSpPr>
          <p:cNvPr id="32" name="Text 25"/>
          <p:cNvSpPr txBox="1"/>
          <p:nvPr/>
        </p:nvSpPr>
        <p:spPr>
          <a:xfrm>
            <a:off x="859536" y="4114800"/>
            <a:ext cx="5138928" cy="1755648"/>
          </a:xfrm>
          <a:prstGeom prst="rect">
            <a:avLst/>
          </a:prstGeom>
          <a:noFill/>
          <a:ln/>
        </p:spPr>
        <p:txBody>
          <a:bodyPr wrap="square" lIns="0" tIns="0" rIns="0" bIns="0" rtlCol="0" anchor="t"/>
          <a:lstStyle/>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mongoose =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'mongoose'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mongoose.connect(</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.env.MONGO_URI);</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Produk = mongoose.model(</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'Produk'</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nama: String, harga: Number</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baru =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Produk.create({</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nama: </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'Kopi'</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harga: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25000</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semua =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Produk.find();</a:t>
            </a:r>
            <a:endParaRPr lang="en-US" sz="1000" dirty="0"/>
          </a:p>
        </p:txBody>
      </p:sp>
      <p:sp>
        <p:nvSpPr>
          <p:cNvPr id="33" name="Shape 26"/>
          <p:cNvSpPr/>
          <p:nvPr/>
        </p:nvSpPr>
        <p:spPr>
          <a:xfrm>
            <a:off x="6492240" y="3712464"/>
            <a:ext cx="5120640" cy="2267712"/>
          </a:xfrm>
          <a:prstGeom prst="roundRect">
            <a:avLst>
              <a:gd name="adj" fmla="val 2823"/>
            </a:avLst>
          </a:prstGeom>
          <a:solidFill>
            <a:srgbClr val="0E2417"/>
          </a:solidFill>
          <a:ln w="12700">
            <a:solidFill>
              <a:srgbClr val="234A31"/>
            </a:solidFill>
            <a:prstDash val="solid"/>
          </a:ln>
        </p:spPr>
      </p:sp>
      <p:sp>
        <p:nvSpPr>
          <p:cNvPr id="34" name="Text 27"/>
          <p:cNvSpPr txBox="1"/>
          <p:nvPr/>
        </p:nvSpPr>
        <p:spPr>
          <a:xfrm>
            <a:off x="6711696" y="3803904"/>
            <a:ext cx="46817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POSTGRESQL DENGAN PG</a:t>
            </a:r>
            <a:endParaRPr lang="en-US" sz="950" dirty="0"/>
          </a:p>
        </p:txBody>
      </p:sp>
      <p:sp>
        <p:nvSpPr>
          <p:cNvPr id="35" name="Text 28"/>
          <p:cNvSpPr txBox="1"/>
          <p:nvPr/>
        </p:nvSpPr>
        <p:spPr>
          <a:xfrm>
            <a:off x="6711696" y="4114800"/>
            <a:ext cx="4681728" cy="1755648"/>
          </a:xfrm>
          <a:prstGeom prst="rect">
            <a:avLst/>
          </a:prstGeom>
          <a:noFill/>
          <a:ln/>
        </p:spPr>
        <p:txBody>
          <a:bodyPr wrap="square" lIns="0" tIns="0" rIns="0" bIns="0" rtlCol="0" anchor="t"/>
          <a:lstStyle/>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 Pool } =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'pg'</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pool =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Pool({</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connectionString: </a:t>
            </a:r>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.env.DATABASE_URL</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hasil =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pool.query(</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'SELECT * FROM produk WHERE harga &gt; $1'</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20000</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.log(hasil.rows);</a:t>
            </a:r>
            <a:endParaRPr lang="en-US" sz="1000" dirty="0"/>
          </a:p>
        </p:txBody>
      </p:sp>
      <p:sp>
        <p:nvSpPr>
          <p:cNvPr id="36" name="Text 2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7" name="Text 3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ECD53F"/>
          </a:solidFill>
          <a:ln w="12700">
            <a:solidFill>
              <a:srgbClr val="ECD53F"/>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Variabel Lingkungan dan Konfigurasi</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Memisahkan konfigurasi dari kode agar aman dan mudah dipindahkan</a:t>
            </a:r>
            <a:endParaRPr lang="en-US" sz="1300" dirty="0"/>
          </a:p>
        </p:txBody>
      </p:sp>
      <p:sp>
        <p:nvSpPr>
          <p:cNvPr id="6" name="Shape 3"/>
          <p:cNvSpPr/>
          <p:nvPr/>
        </p:nvSpPr>
        <p:spPr>
          <a:xfrm>
            <a:off x="640080" y="1627632"/>
            <a:ext cx="5577840" cy="1459840"/>
          </a:xfrm>
          <a:prstGeom prst="roundRect">
            <a:avLst>
              <a:gd name="adj" fmla="val 4385"/>
            </a:avLst>
          </a:prstGeom>
          <a:solidFill>
            <a:srgbClr val="0E2417"/>
          </a:solidFill>
          <a:ln w="12700">
            <a:solidFill>
              <a:srgbClr val="234A31"/>
            </a:solidFill>
            <a:prstDash val="solid"/>
          </a:ln>
        </p:spPr>
      </p:sp>
      <p:sp>
        <p:nvSpPr>
          <p:cNvPr id="7" name="Text 4"/>
          <p:cNvSpPr txBox="1"/>
          <p:nvPr/>
        </p:nvSpPr>
        <p:spPr>
          <a:xfrm>
            <a:off x="859536" y="171907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BERKAS .ENV</a:t>
            </a:r>
            <a:endParaRPr lang="en-US" sz="950" dirty="0"/>
          </a:p>
        </p:txBody>
      </p:sp>
      <p:sp>
        <p:nvSpPr>
          <p:cNvPr id="8" name="Text 5"/>
          <p:cNvSpPr txBox="1"/>
          <p:nvPr/>
        </p:nvSpPr>
        <p:spPr>
          <a:xfrm>
            <a:off x="859536" y="2029968"/>
            <a:ext cx="5138928" cy="947776"/>
          </a:xfrm>
          <a:prstGeom prst="rect">
            <a:avLst/>
          </a:prstGeom>
          <a:noFill/>
          <a:ln/>
        </p:spPr>
        <p:txBody>
          <a:bodyPr wrap="square" lIns="0" tIns="0" rIns="0" bIns="0" rtlCol="0" anchor="t"/>
          <a:lstStyle/>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PORT=</a:t>
            </a:r>
            <a:pPr indent="0" marL="0">
              <a:lnSpc>
                <a:spcPct val="106000"/>
              </a:lnSpc>
              <a:buNone/>
            </a:pPr>
            <a:r>
              <a:rPr lang="en-US" sz="1050" dirty="0">
                <a:solidFill>
                  <a:srgbClr val="D9A05B"/>
                </a:solidFill>
                <a:latin typeface="Courier New" pitchFamily="34" charset="0"/>
                <a:ea typeface="Courier New" pitchFamily="34" charset="-122"/>
                <a:cs typeface="Courier New" pitchFamily="34" charset="-120"/>
              </a:rPr>
              <a:t>3000</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NODE_ENV=development</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DATABASE_URL=postgres:</a:t>
            </a:r>
            <a:pPr indent="0" marL="0">
              <a:lnSpc>
                <a:spcPct val="106000"/>
              </a:lnSpc>
              <a:buNone/>
            </a:pPr>
            <a:r>
              <a:rPr lang="en-US" sz="1050" dirty="0">
                <a:solidFill>
                  <a:srgbClr val="6E8A76"/>
                </a:solidFill>
                <a:latin typeface="Courier New" pitchFamily="34" charset="0"/>
                <a:ea typeface="Courier New" pitchFamily="34" charset="-122"/>
                <a:cs typeface="Courier New" pitchFamily="34" charset="-120"/>
              </a:rPr>
              <a:t>//user:sandi@localhost/db</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JWT_SECRET=kunci-rahasia-yang-panjang</a:t>
            </a:r>
            <a:endParaRPr lang="en-US" sz="1050" dirty="0"/>
          </a:p>
          <a:p>
            <a:pPr indent="0" marL="0">
              <a:lnSpc>
                <a:spcPct val="106000"/>
              </a:lnSpc>
              <a:buNone/>
            </a:pPr>
            <a:r>
              <a:rPr lang="en-US" sz="1050" dirty="0">
                <a:solidFill>
                  <a:srgbClr val="DDE8DE"/>
                </a:solidFill>
                <a:latin typeface="Courier New" pitchFamily="34" charset="0"/>
                <a:ea typeface="Courier New" pitchFamily="34" charset="-122"/>
                <a:cs typeface="Courier New" pitchFamily="34" charset="-120"/>
              </a:rPr>
              <a:t>API_KEY=abcdef123456</a:t>
            </a:r>
            <a:endParaRPr lang="en-US" sz="1050" dirty="0"/>
          </a:p>
        </p:txBody>
      </p:sp>
      <p:sp>
        <p:nvSpPr>
          <p:cNvPr id="9" name="Shape 6"/>
          <p:cNvSpPr/>
          <p:nvPr/>
        </p:nvSpPr>
        <p:spPr>
          <a:xfrm>
            <a:off x="640080" y="3127248"/>
            <a:ext cx="5577840" cy="2995648"/>
          </a:xfrm>
          <a:prstGeom prst="roundRect">
            <a:avLst>
              <a:gd name="adj" fmla="val 2137"/>
            </a:avLst>
          </a:prstGeom>
          <a:solidFill>
            <a:srgbClr val="0E2417"/>
          </a:solidFill>
          <a:ln w="12700">
            <a:solidFill>
              <a:srgbClr val="234A31"/>
            </a:solidFill>
            <a:prstDash val="solid"/>
          </a:ln>
        </p:spPr>
      </p:sp>
      <p:sp>
        <p:nvSpPr>
          <p:cNvPr id="10" name="Text 7"/>
          <p:cNvSpPr txBox="1"/>
          <p:nvPr/>
        </p:nvSpPr>
        <p:spPr>
          <a:xfrm>
            <a:off x="859536" y="3218688"/>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MEMAKAINYA DI DALAM KODE</a:t>
            </a:r>
            <a:endParaRPr lang="en-US" sz="950" dirty="0"/>
          </a:p>
        </p:txBody>
      </p:sp>
      <p:sp>
        <p:nvSpPr>
          <p:cNvPr id="11" name="Text 8"/>
          <p:cNvSpPr txBox="1"/>
          <p:nvPr/>
        </p:nvSpPr>
        <p:spPr>
          <a:xfrm>
            <a:off x="859536" y="3529584"/>
            <a:ext cx="5138928" cy="2483584"/>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Sejak Node.js 20 tersedia tanpa paket tambahan:</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node --env-file=.env server.js</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Cara klasik dengan paket dotenv</a:t>
            </a:r>
            <a:endParaRPr lang="en-US" sz="1020" dirty="0"/>
          </a:p>
          <a:p>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'dotenv'</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).config();</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PORT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.env.PORT ||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3000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secret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.env.JWT_SECRET;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(!secret)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throw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Error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'JWT_SECRET belum diatur'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app.listen(PORT);</a:t>
            </a:r>
            <a:endParaRPr lang="en-US" sz="1020" dirty="0"/>
          </a:p>
        </p:txBody>
      </p:sp>
      <p:sp>
        <p:nvSpPr>
          <p:cNvPr id="12" name="Shape 9"/>
          <p:cNvSpPr/>
          <p:nvPr/>
        </p:nvSpPr>
        <p:spPr>
          <a:xfrm>
            <a:off x="6492240" y="1737360"/>
            <a:ext cx="420624" cy="420624"/>
          </a:xfrm>
          <a:prstGeom prst="roundRect">
            <a:avLst>
              <a:gd name="adj" fmla="val 26087"/>
            </a:avLst>
          </a:prstGeom>
          <a:solidFill>
            <a:srgbClr val="FBE9E7"/>
          </a:solidFill>
          <a:ln w="12700">
            <a:solidFill>
              <a:srgbClr val="FBE9E7"/>
            </a:solidFill>
            <a:prstDash val="solid"/>
          </a:ln>
        </p:spPr>
      </p:sp>
      <p:pic>
        <p:nvPicPr>
          <p:cNvPr id="13" name="Image 1" descr="preencoded.png">    </p:cNvPr>
          <p:cNvPicPr>
            <a:picLocks noChangeAspect="1"/>
          </p:cNvPicPr>
          <p:nvPr/>
        </p:nvPicPr>
        <p:blipFill>
          <a:blip r:embed="rId2"/>
          <a:stretch>
            <a:fillRect/>
          </a:stretch>
        </p:blipFill>
        <p:spPr>
          <a:xfrm>
            <a:off x="6597396" y="1842516"/>
            <a:ext cx="210312" cy="210312"/>
          </a:xfrm>
          <a:prstGeom prst="rect">
            <a:avLst/>
          </a:prstGeom>
        </p:spPr>
      </p:pic>
      <p:sp>
        <p:nvSpPr>
          <p:cNvPr id="14" name="Text 10"/>
          <p:cNvSpPr txBox="1"/>
          <p:nvPr/>
        </p:nvSpPr>
        <p:spPr>
          <a:xfrm>
            <a:off x="7059168" y="1719072"/>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Jangan Pernah Dikirim ke Git</a:t>
            </a:r>
            <a:endParaRPr lang="en-US" sz="1200" dirty="0"/>
          </a:p>
        </p:txBody>
      </p:sp>
      <p:sp>
        <p:nvSpPr>
          <p:cNvPr id="15" name="Text 11"/>
          <p:cNvSpPr txBox="1"/>
          <p:nvPr/>
        </p:nvSpPr>
        <p:spPr>
          <a:xfrm>
            <a:off x="7059168" y="1975104"/>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Masukkan .env ke .gitignore. Kebocoran kredensial insiden paling umum.</a:t>
            </a:r>
            <a:endParaRPr lang="en-US" sz="980" dirty="0"/>
          </a:p>
        </p:txBody>
      </p:sp>
      <p:sp>
        <p:nvSpPr>
          <p:cNvPr id="16" name="Shape 12"/>
          <p:cNvSpPr/>
          <p:nvPr/>
        </p:nvSpPr>
        <p:spPr>
          <a:xfrm>
            <a:off x="6492240" y="2578608"/>
            <a:ext cx="420624" cy="420624"/>
          </a:xfrm>
          <a:prstGeom prst="roundRect">
            <a:avLst>
              <a:gd name="adj" fmla="val 26087"/>
            </a:avLst>
          </a:prstGeom>
          <a:solidFill>
            <a:srgbClr val="E8F2E2"/>
          </a:solidFill>
          <a:ln w="12700">
            <a:solidFill>
              <a:srgbClr val="E8F2E2"/>
            </a:solidFill>
            <a:prstDash val="solid"/>
          </a:ln>
        </p:spPr>
      </p:sp>
      <p:pic>
        <p:nvPicPr>
          <p:cNvPr id="17" name="Image 2" descr="preencoded.png">    </p:cNvPr>
          <p:cNvPicPr>
            <a:picLocks noChangeAspect="1"/>
          </p:cNvPicPr>
          <p:nvPr/>
        </p:nvPicPr>
        <p:blipFill>
          <a:blip r:embed="rId3"/>
          <a:stretch>
            <a:fillRect/>
          </a:stretch>
        </p:blipFill>
        <p:spPr>
          <a:xfrm>
            <a:off x="6597396" y="2683764"/>
            <a:ext cx="210312" cy="210312"/>
          </a:xfrm>
          <a:prstGeom prst="rect">
            <a:avLst/>
          </a:prstGeom>
        </p:spPr>
      </p:pic>
      <p:sp>
        <p:nvSpPr>
          <p:cNvPr id="18" name="Text 13"/>
          <p:cNvSpPr txBox="1"/>
          <p:nvPr/>
        </p:nvSpPr>
        <p:spPr>
          <a:xfrm>
            <a:off x="7059168" y="2560320"/>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Sediakan .env.example</a:t>
            </a:r>
            <a:endParaRPr lang="en-US" sz="1200" dirty="0"/>
          </a:p>
        </p:txBody>
      </p:sp>
      <p:sp>
        <p:nvSpPr>
          <p:cNvPr id="19" name="Text 14"/>
          <p:cNvSpPr txBox="1"/>
          <p:nvPr/>
        </p:nvSpPr>
        <p:spPr>
          <a:xfrm>
            <a:off x="7059168" y="2816352"/>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Berkas contoh berisi nama variabel tanpa nilai rahasia untuk tim baru.</a:t>
            </a:r>
            <a:endParaRPr lang="en-US" sz="980" dirty="0"/>
          </a:p>
        </p:txBody>
      </p:sp>
      <p:sp>
        <p:nvSpPr>
          <p:cNvPr id="20" name="Shape 15"/>
          <p:cNvSpPr/>
          <p:nvPr/>
        </p:nvSpPr>
        <p:spPr>
          <a:xfrm>
            <a:off x="6492240" y="3419856"/>
            <a:ext cx="420624" cy="420624"/>
          </a:xfrm>
          <a:prstGeom prst="roundRect">
            <a:avLst>
              <a:gd name="adj" fmla="val 26087"/>
            </a:avLst>
          </a:prstGeom>
          <a:solidFill>
            <a:srgbClr val="E8F2E2"/>
          </a:solidFill>
          <a:ln w="12700">
            <a:solidFill>
              <a:srgbClr val="E8F2E2"/>
            </a:solidFill>
            <a:prstDash val="solid"/>
          </a:ln>
        </p:spPr>
      </p:sp>
      <p:pic>
        <p:nvPicPr>
          <p:cNvPr id="21" name="Image 3" descr="preencoded.png">    </p:cNvPr>
          <p:cNvPicPr>
            <a:picLocks noChangeAspect="1"/>
          </p:cNvPicPr>
          <p:nvPr/>
        </p:nvPicPr>
        <p:blipFill>
          <a:blip r:embed="rId4"/>
          <a:stretch>
            <a:fillRect/>
          </a:stretch>
        </p:blipFill>
        <p:spPr>
          <a:xfrm>
            <a:off x="6597396" y="3525012"/>
            <a:ext cx="210312" cy="210312"/>
          </a:xfrm>
          <a:prstGeom prst="rect">
            <a:avLst/>
          </a:prstGeom>
        </p:spPr>
      </p:pic>
      <p:sp>
        <p:nvSpPr>
          <p:cNvPr id="22" name="Text 16"/>
          <p:cNvSpPr txBox="1"/>
          <p:nvPr/>
        </p:nvSpPr>
        <p:spPr>
          <a:xfrm>
            <a:off x="7059168" y="3401568"/>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Validasi Saat Startup</a:t>
            </a:r>
            <a:endParaRPr lang="en-US" sz="1200" dirty="0"/>
          </a:p>
        </p:txBody>
      </p:sp>
      <p:sp>
        <p:nvSpPr>
          <p:cNvPr id="23" name="Text 17"/>
          <p:cNvSpPr txBox="1"/>
          <p:nvPr/>
        </p:nvSpPr>
        <p:spPr>
          <a:xfrm>
            <a:off x="7059168" y="3657600"/>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Periksa variabel wajib saat aplikasi mulai agar galat ketahuan awal.</a:t>
            </a:r>
            <a:endParaRPr lang="en-US" sz="980" dirty="0"/>
          </a:p>
        </p:txBody>
      </p:sp>
      <p:sp>
        <p:nvSpPr>
          <p:cNvPr id="24" name="Shape 18"/>
          <p:cNvSpPr/>
          <p:nvPr/>
        </p:nvSpPr>
        <p:spPr>
          <a:xfrm>
            <a:off x="6492240" y="4261104"/>
            <a:ext cx="420624" cy="420624"/>
          </a:xfrm>
          <a:prstGeom prst="roundRect">
            <a:avLst>
              <a:gd name="adj" fmla="val 26087"/>
            </a:avLst>
          </a:prstGeom>
          <a:solidFill>
            <a:srgbClr val="E5EEFB"/>
          </a:solidFill>
          <a:ln w="12700">
            <a:solidFill>
              <a:srgbClr val="E5EEFB"/>
            </a:solidFill>
            <a:prstDash val="solid"/>
          </a:ln>
        </p:spPr>
      </p:sp>
      <p:pic>
        <p:nvPicPr>
          <p:cNvPr id="25" name="Image 4" descr="preencoded.png">    </p:cNvPr>
          <p:cNvPicPr>
            <a:picLocks noChangeAspect="1"/>
          </p:cNvPicPr>
          <p:nvPr/>
        </p:nvPicPr>
        <p:blipFill>
          <a:blip r:embed="rId5"/>
          <a:stretch>
            <a:fillRect/>
          </a:stretch>
        </p:blipFill>
        <p:spPr>
          <a:xfrm>
            <a:off x="6597396" y="4366260"/>
            <a:ext cx="210312" cy="210312"/>
          </a:xfrm>
          <a:prstGeom prst="rect">
            <a:avLst/>
          </a:prstGeom>
        </p:spPr>
      </p:pic>
      <p:sp>
        <p:nvSpPr>
          <p:cNvPr id="26" name="Text 19"/>
          <p:cNvSpPr txBox="1"/>
          <p:nvPr/>
        </p:nvSpPr>
        <p:spPr>
          <a:xfrm>
            <a:off x="7059168" y="4242816"/>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Pisahkan per Lingkungan</a:t>
            </a:r>
            <a:endParaRPr lang="en-US" sz="1200" dirty="0"/>
          </a:p>
        </p:txBody>
      </p:sp>
      <p:sp>
        <p:nvSpPr>
          <p:cNvPr id="27" name="Text 20"/>
          <p:cNvSpPr txBox="1"/>
          <p:nvPr/>
        </p:nvSpPr>
        <p:spPr>
          <a:xfrm>
            <a:off x="7059168" y="4498848"/>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Konfigurasi berbeda untuk development, staging, dan production.</a:t>
            </a:r>
            <a:endParaRPr lang="en-US" sz="980" dirty="0"/>
          </a:p>
        </p:txBody>
      </p:sp>
      <p:sp>
        <p:nvSpPr>
          <p:cNvPr id="28" name="Shape 21"/>
          <p:cNvSpPr/>
          <p:nvPr/>
        </p:nvSpPr>
        <p:spPr>
          <a:xfrm>
            <a:off x="6492240" y="5102352"/>
            <a:ext cx="420624" cy="420624"/>
          </a:xfrm>
          <a:prstGeom prst="roundRect">
            <a:avLst>
              <a:gd name="adj" fmla="val 26087"/>
            </a:avLst>
          </a:prstGeom>
          <a:solidFill>
            <a:srgbClr val="E5EEFB"/>
          </a:solidFill>
          <a:ln w="12700">
            <a:solidFill>
              <a:srgbClr val="E5EEFB"/>
            </a:solidFill>
            <a:prstDash val="solid"/>
          </a:ln>
        </p:spPr>
      </p:sp>
      <p:pic>
        <p:nvPicPr>
          <p:cNvPr id="29" name="Image 5" descr="preencoded.png">    </p:cNvPr>
          <p:cNvPicPr>
            <a:picLocks noChangeAspect="1"/>
          </p:cNvPicPr>
          <p:nvPr/>
        </p:nvPicPr>
        <p:blipFill>
          <a:blip r:embed="rId6"/>
          <a:stretch>
            <a:fillRect/>
          </a:stretch>
        </p:blipFill>
        <p:spPr>
          <a:xfrm>
            <a:off x="6597396" y="5207508"/>
            <a:ext cx="210312" cy="210312"/>
          </a:xfrm>
          <a:prstGeom prst="rect">
            <a:avLst/>
          </a:prstGeom>
        </p:spPr>
      </p:pic>
      <p:sp>
        <p:nvSpPr>
          <p:cNvPr id="30" name="Text 22"/>
          <p:cNvSpPr txBox="1"/>
          <p:nvPr/>
        </p:nvSpPr>
        <p:spPr>
          <a:xfrm>
            <a:off x="7059168" y="5084064"/>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Gunakan Secret Manager</a:t>
            </a:r>
            <a:endParaRPr lang="en-US" sz="1200" dirty="0"/>
          </a:p>
        </p:txBody>
      </p:sp>
      <p:sp>
        <p:nvSpPr>
          <p:cNvPr id="31" name="Text 23"/>
          <p:cNvSpPr txBox="1"/>
          <p:nvPr/>
        </p:nvSpPr>
        <p:spPr>
          <a:xfrm>
            <a:off x="7059168" y="5340096"/>
            <a:ext cx="45537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Di produksi, simpan rahasia pada layanan khusus seperti Vault.</a:t>
            </a:r>
            <a:endParaRPr lang="en-US" sz="980" dirty="0"/>
          </a:p>
        </p:txBody>
      </p:sp>
      <p:sp>
        <p:nvSpPr>
          <p:cNvPr id="32" name="Text 24"/>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3" name="Text 25"/>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Penanganan Galat (Error Handling)</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Menjaga aplikasi tetap hidup dan memberi pesan yang jelas</a:t>
            </a:r>
            <a:endParaRPr lang="en-US" sz="1300" dirty="0"/>
          </a:p>
        </p:txBody>
      </p:sp>
      <p:sp>
        <p:nvSpPr>
          <p:cNvPr id="6" name="Shape 3"/>
          <p:cNvSpPr/>
          <p:nvPr/>
        </p:nvSpPr>
        <p:spPr>
          <a:xfrm>
            <a:off x="640080" y="1627632"/>
            <a:ext cx="6035040" cy="4556967"/>
          </a:xfrm>
          <a:prstGeom prst="roundRect">
            <a:avLst>
              <a:gd name="adj" fmla="val 1405"/>
            </a:avLst>
          </a:prstGeom>
          <a:solidFill>
            <a:srgbClr val="0E2417"/>
          </a:solidFill>
          <a:ln w="12700">
            <a:solidFill>
              <a:srgbClr val="234A31"/>
            </a:solidFill>
            <a:prstDash val="solid"/>
          </a:ln>
        </p:spPr>
      </p:sp>
      <p:sp>
        <p:nvSpPr>
          <p:cNvPr id="7" name="Text 4"/>
          <p:cNvSpPr txBox="1"/>
          <p:nvPr/>
        </p:nvSpPr>
        <p:spPr>
          <a:xfrm>
            <a:off x="859536" y="1719072"/>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MIDDLEWARE GALAT TERPUSAT DI EXPRESS</a:t>
            </a:r>
            <a:endParaRPr lang="en-US" sz="950" dirty="0"/>
          </a:p>
        </p:txBody>
      </p:sp>
      <p:sp>
        <p:nvSpPr>
          <p:cNvPr id="8" name="Text 5"/>
          <p:cNvSpPr txBox="1"/>
          <p:nvPr/>
        </p:nvSpPr>
        <p:spPr>
          <a:xfrm>
            <a:off x="859536" y="2029968"/>
            <a:ext cx="5596128" cy="4044903"/>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Kelas galat khusus aplikasi</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class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AppError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extends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Error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constructor(pesan, status)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super(pesan);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this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.status = status;</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app.get(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'/produk/:id'</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async</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(req, res, next)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try</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cari(req.params.id);</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throw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AppError(</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'Tidak ditemukan'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404</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res.json(p);</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catch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(err)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next(err);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diteruskan ke middleware galat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Middleware galat: empat parameter, ditaruh terakhir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app.use((err, req, res, next)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status = err.status ||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500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res.status(status).json({ pesan: err.message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949440" y="1737360"/>
            <a:ext cx="420624" cy="420624"/>
          </a:xfrm>
          <a:prstGeom prst="roundRect">
            <a:avLst>
              <a:gd name="adj" fmla="val 26087"/>
            </a:avLst>
          </a:prstGeom>
          <a:solidFill>
            <a:srgbClr val="E8F2E2"/>
          </a:solidFill>
          <a:ln w="12700">
            <a:solidFill>
              <a:srgbClr val="E8F2E2"/>
            </a:solidFill>
            <a:prstDash val="solid"/>
          </a:ln>
        </p:spPr>
      </p:sp>
      <p:pic>
        <p:nvPicPr>
          <p:cNvPr id="10" name="Image 1" descr="preencoded.png">    </p:cNvPr>
          <p:cNvPicPr>
            <a:picLocks noChangeAspect="1"/>
          </p:cNvPicPr>
          <p:nvPr/>
        </p:nvPicPr>
        <p:blipFill>
          <a:blip r:embed="rId2"/>
          <a:stretch>
            <a:fillRect/>
          </a:stretch>
        </p:blipFill>
        <p:spPr>
          <a:xfrm>
            <a:off x="7054596" y="1842516"/>
            <a:ext cx="210312" cy="210312"/>
          </a:xfrm>
          <a:prstGeom prst="rect">
            <a:avLst/>
          </a:prstGeom>
        </p:spPr>
      </p:pic>
      <p:sp>
        <p:nvSpPr>
          <p:cNvPr id="11" name="Text 7"/>
          <p:cNvSpPr txBox="1"/>
          <p:nvPr/>
        </p:nvSpPr>
        <p:spPr>
          <a:xfrm>
            <a:off x="7516368" y="1719072"/>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Galat Operasional</a:t>
            </a:r>
            <a:endParaRPr lang="en-US" sz="1200" dirty="0"/>
          </a:p>
        </p:txBody>
      </p:sp>
      <p:sp>
        <p:nvSpPr>
          <p:cNvPr id="12" name="Text 8"/>
          <p:cNvSpPr txBox="1"/>
          <p:nvPr/>
        </p:nvSpPr>
        <p:spPr>
          <a:xfrm>
            <a:off x="7516368" y="1975104"/>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Wajar terjadi: masukan tidak valid atau data tidak ditemukan.</a:t>
            </a:r>
            <a:endParaRPr lang="en-US" sz="960" dirty="0"/>
          </a:p>
        </p:txBody>
      </p:sp>
      <p:sp>
        <p:nvSpPr>
          <p:cNvPr id="13" name="Shape 9"/>
          <p:cNvSpPr/>
          <p:nvPr/>
        </p:nvSpPr>
        <p:spPr>
          <a:xfrm>
            <a:off x="6949440" y="2578608"/>
            <a:ext cx="420624" cy="420624"/>
          </a:xfrm>
          <a:prstGeom prst="roundRect">
            <a:avLst>
              <a:gd name="adj" fmla="val 26087"/>
            </a:avLst>
          </a:prstGeom>
          <a:solidFill>
            <a:srgbClr val="E8F2E2"/>
          </a:solidFill>
          <a:ln w="12700">
            <a:solidFill>
              <a:srgbClr val="E8F2E2"/>
            </a:solidFill>
            <a:prstDash val="solid"/>
          </a:ln>
        </p:spPr>
      </p:sp>
      <p:pic>
        <p:nvPicPr>
          <p:cNvPr id="14" name="Image 2" descr="preencoded.png">    </p:cNvPr>
          <p:cNvPicPr>
            <a:picLocks noChangeAspect="1"/>
          </p:cNvPicPr>
          <p:nvPr/>
        </p:nvPicPr>
        <p:blipFill>
          <a:blip r:embed="rId3"/>
          <a:stretch>
            <a:fillRect/>
          </a:stretch>
        </p:blipFill>
        <p:spPr>
          <a:xfrm>
            <a:off x="7054596" y="2683764"/>
            <a:ext cx="210312" cy="210312"/>
          </a:xfrm>
          <a:prstGeom prst="rect">
            <a:avLst/>
          </a:prstGeom>
        </p:spPr>
      </p:pic>
      <p:sp>
        <p:nvSpPr>
          <p:cNvPr id="15" name="Text 10"/>
          <p:cNvSpPr txBox="1"/>
          <p:nvPr/>
        </p:nvSpPr>
        <p:spPr>
          <a:xfrm>
            <a:off x="7516368" y="256032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Galat Pemrograman</a:t>
            </a:r>
            <a:endParaRPr lang="en-US" sz="1200" dirty="0"/>
          </a:p>
        </p:txBody>
      </p:sp>
      <p:sp>
        <p:nvSpPr>
          <p:cNvPr id="16" name="Text 11"/>
          <p:cNvSpPr txBox="1"/>
          <p:nvPr/>
        </p:nvSpPr>
        <p:spPr>
          <a:xfrm>
            <a:off x="7516368" y="2816352"/>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Bug pada kode. Perbaiki penyebabnya, jangan sekadar ditutupi.</a:t>
            </a:r>
            <a:endParaRPr lang="en-US" sz="960" dirty="0"/>
          </a:p>
        </p:txBody>
      </p:sp>
      <p:sp>
        <p:nvSpPr>
          <p:cNvPr id="17" name="Shape 12"/>
          <p:cNvSpPr/>
          <p:nvPr/>
        </p:nvSpPr>
        <p:spPr>
          <a:xfrm>
            <a:off x="6949440" y="3419856"/>
            <a:ext cx="420624" cy="420624"/>
          </a:xfrm>
          <a:prstGeom prst="roundRect">
            <a:avLst>
              <a:gd name="adj" fmla="val 26087"/>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7054596" y="3525012"/>
            <a:ext cx="210312" cy="210312"/>
          </a:xfrm>
          <a:prstGeom prst="rect">
            <a:avLst/>
          </a:prstGeom>
        </p:spPr>
      </p:pic>
      <p:sp>
        <p:nvSpPr>
          <p:cNvPr id="19" name="Text 13"/>
          <p:cNvSpPr txBox="1"/>
          <p:nvPr/>
        </p:nvSpPr>
        <p:spPr>
          <a:xfrm>
            <a:off x="7516368" y="340156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Jaring Pengaman Global</a:t>
            </a:r>
            <a:endParaRPr lang="en-US" sz="1200" dirty="0"/>
          </a:p>
        </p:txBody>
      </p:sp>
      <p:sp>
        <p:nvSpPr>
          <p:cNvPr id="20" name="Text 14"/>
          <p:cNvSpPr txBox="1"/>
          <p:nvPr/>
        </p:nvSpPr>
        <p:spPr>
          <a:xfrm>
            <a:off x="7516368" y="3657600"/>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Tangkap uncaughtException, catat log, lalu hentikan proses rapi.</a:t>
            </a:r>
            <a:endParaRPr lang="en-US" sz="960" dirty="0"/>
          </a:p>
        </p:txBody>
      </p:sp>
      <p:sp>
        <p:nvSpPr>
          <p:cNvPr id="21" name="Shape 15"/>
          <p:cNvSpPr/>
          <p:nvPr/>
        </p:nvSpPr>
        <p:spPr>
          <a:xfrm>
            <a:off x="6949440" y="4261104"/>
            <a:ext cx="420624" cy="420624"/>
          </a:xfrm>
          <a:prstGeom prst="roundRect">
            <a:avLst>
              <a:gd name="adj" fmla="val 26087"/>
            </a:avLst>
          </a:prstGeom>
          <a:solidFill>
            <a:srgbClr val="E8F2E2"/>
          </a:solidFill>
          <a:ln w="12700">
            <a:solidFill>
              <a:srgbClr val="E8F2E2"/>
            </a:solidFill>
            <a:prstDash val="solid"/>
          </a:ln>
        </p:spPr>
      </p:sp>
      <p:pic>
        <p:nvPicPr>
          <p:cNvPr id="22" name="Image 4" descr="preencoded.png">    </p:cNvPr>
          <p:cNvPicPr>
            <a:picLocks noChangeAspect="1"/>
          </p:cNvPicPr>
          <p:nvPr/>
        </p:nvPicPr>
        <p:blipFill>
          <a:blip r:embed="rId5"/>
          <a:stretch>
            <a:fillRect/>
          </a:stretch>
        </p:blipFill>
        <p:spPr>
          <a:xfrm>
            <a:off x="7054596" y="4366260"/>
            <a:ext cx="210312" cy="210312"/>
          </a:xfrm>
          <a:prstGeom prst="rect">
            <a:avLst/>
          </a:prstGeom>
        </p:spPr>
      </p:pic>
      <p:sp>
        <p:nvSpPr>
          <p:cNvPr id="23" name="Text 16"/>
          <p:cNvSpPr txBox="1"/>
          <p:nvPr/>
        </p:nvSpPr>
        <p:spPr>
          <a:xfrm>
            <a:off x="7516368" y="424281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Jangan Bocorkan Detail</a:t>
            </a:r>
            <a:endParaRPr lang="en-US" sz="1200" dirty="0"/>
          </a:p>
        </p:txBody>
      </p:sp>
      <p:sp>
        <p:nvSpPr>
          <p:cNvPr id="24" name="Text 17"/>
          <p:cNvSpPr txBox="1"/>
          <p:nvPr/>
        </p:nvSpPr>
        <p:spPr>
          <a:xfrm>
            <a:off x="7516368" y="4498848"/>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Jangan kirim stack trace ke klien pada lingkungan produksi.</a:t>
            </a:r>
            <a:endParaRPr lang="en-US" sz="960" dirty="0"/>
          </a:p>
        </p:txBody>
      </p:sp>
      <p:sp>
        <p:nvSpPr>
          <p:cNvPr id="25" name="Shape 18"/>
          <p:cNvSpPr/>
          <p:nvPr/>
        </p:nvSpPr>
        <p:spPr>
          <a:xfrm>
            <a:off x="6949440" y="5102352"/>
            <a:ext cx="420624" cy="420624"/>
          </a:xfrm>
          <a:prstGeom prst="roundRect">
            <a:avLst>
              <a:gd name="adj" fmla="val 26087"/>
            </a:avLst>
          </a:prstGeom>
          <a:solidFill>
            <a:srgbClr val="E8F2E2"/>
          </a:solidFill>
          <a:ln w="12700">
            <a:solidFill>
              <a:srgbClr val="E8F2E2"/>
            </a:solidFill>
            <a:prstDash val="solid"/>
          </a:ln>
        </p:spPr>
      </p:sp>
      <p:pic>
        <p:nvPicPr>
          <p:cNvPr id="26" name="Image 5" descr="preencoded.png">    </p:cNvPr>
          <p:cNvPicPr>
            <a:picLocks noChangeAspect="1"/>
          </p:cNvPicPr>
          <p:nvPr/>
        </p:nvPicPr>
        <p:blipFill>
          <a:blip r:embed="rId6"/>
          <a:stretch>
            <a:fillRect/>
          </a:stretch>
        </p:blipFill>
        <p:spPr>
          <a:xfrm>
            <a:off x="7054596" y="5207508"/>
            <a:ext cx="210312" cy="210312"/>
          </a:xfrm>
          <a:prstGeom prst="rect">
            <a:avLst/>
          </a:prstGeom>
        </p:spPr>
      </p:pic>
      <p:sp>
        <p:nvSpPr>
          <p:cNvPr id="27" name="Text 19"/>
          <p:cNvSpPr txBox="1"/>
          <p:nvPr/>
        </p:nvSpPr>
        <p:spPr>
          <a:xfrm>
            <a:off x="7516368" y="5084064"/>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Catat dan Pantau</a:t>
            </a:r>
            <a:endParaRPr lang="en-US" sz="1200" dirty="0"/>
          </a:p>
        </p:txBody>
      </p:sp>
      <p:sp>
        <p:nvSpPr>
          <p:cNvPr id="28" name="Text 20"/>
          <p:cNvSpPr txBox="1"/>
          <p:nvPr/>
        </p:nvSpPr>
        <p:spPr>
          <a:xfrm>
            <a:off x="7516368" y="5340096"/>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Pakai Winston atau Pino, serta pemantauan galat seperti Sentry.</a:t>
            </a:r>
            <a:endParaRPr lang="en-US" sz="960" dirty="0"/>
          </a:p>
        </p:txBody>
      </p:sp>
      <p:sp>
        <p:nvSpPr>
          <p:cNvPr id="29" name="Text 2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0" name="Text 2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07</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Topik Lanjutan</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Kemampuan yang dibutuhkan aplikasi nyata: mengamankan pengguna, berkomunikasi secara langsung, mengelola berkas dan cache, hingga menata arsitektur berskala besar.</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Autentikasi dan otorisasi: bcrypt, JWT, dan peran pengguna</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Komunikasi real-time dengan WebSocket dan Socket.IO</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Validasi, unggah berkas, caching Redis, TypeScript, dan microservice</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Autentikasi: Menyimpan Kata Sandi</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Kata sandi tidak pernah boleh disimpan dalam bentuk aslinya</a:t>
            </a:r>
            <a:endParaRPr lang="en-US" sz="1300" dirty="0"/>
          </a:p>
        </p:txBody>
      </p:sp>
      <p:sp>
        <p:nvSpPr>
          <p:cNvPr id="6" name="Shape 3"/>
          <p:cNvSpPr/>
          <p:nvPr/>
        </p:nvSpPr>
        <p:spPr>
          <a:xfrm>
            <a:off x="640080" y="1609344"/>
            <a:ext cx="3520440" cy="1335024"/>
          </a:xfrm>
          <a:prstGeom prst="roundRect">
            <a:avLst>
              <a:gd name="adj" fmla="val 6164"/>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FBE9E7"/>
          </a:solidFill>
          <a:ln w="12700">
            <a:solidFill>
              <a:srgbClr val="FBE9E7"/>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Plain Text</a:t>
            </a:r>
            <a:endParaRPr lang="en-US" sz="1300" dirty="0"/>
          </a:p>
        </p:txBody>
      </p:sp>
      <p:sp>
        <p:nvSpPr>
          <p:cNvPr id="10" name="Text 6"/>
          <p:cNvSpPr txBox="1"/>
          <p:nvPr/>
        </p:nvSpPr>
        <p:spPr>
          <a:xfrm>
            <a:off x="896112" y="2395728"/>
            <a:ext cx="3008376" cy="384048"/>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Kata sandi disimpan apa adanya. Bocor satu basis data berarti bocor semua akun.</a:t>
            </a:r>
            <a:endParaRPr lang="en-US" sz="1050" dirty="0"/>
          </a:p>
        </p:txBody>
      </p:sp>
      <p:sp>
        <p:nvSpPr>
          <p:cNvPr id="11" name="Shape 7"/>
          <p:cNvSpPr/>
          <p:nvPr/>
        </p:nvSpPr>
        <p:spPr>
          <a:xfrm>
            <a:off x="4443984" y="1609344"/>
            <a:ext cx="3520440" cy="1335024"/>
          </a:xfrm>
          <a:prstGeom prst="roundRect">
            <a:avLst>
              <a:gd name="adj" fmla="val 6164"/>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4700016" y="1828800"/>
            <a:ext cx="457200" cy="457200"/>
          </a:xfrm>
          <a:prstGeom prst="roundRect">
            <a:avLst>
              <a:gd name="adj" fmla="val 26000"/>
            </a:avLst>
          </a:prstGeom>
          <a:solidFill>
            <a:srgbClr val="FDF3D8"/>
          </a:solidFill>
          <a:ln w="12700">
            <a:solidFill>
              <a:srgbClr val="FDF3D8"/>
            </a:solidFill>
            <a:prstDash val="solid"/>
          </a:ln>
        </p:spPr>
      </p:sp>
      <p:pic>
        <p:nvPicPr>
          <p:cNvPr id="13" name="Image 2" descr="preencoded.png">    </p:cNvPr>
          <p:cNvPicPr>
            <a:picLocks noChangeAspect="1"/>
          </p:cNvPicPr>
          <p:nvPr/>
        </p:nvPicPr>
        <p:blipFill>
          <a:blip r:embed="rId3"/>
          <a:stretch>
            <a:fillRect/>
          </a:stretch>
        </p:blipFill>
        <p:spPr>
          <a:xfrm>
            <a:off x="4814316" y="1943100"/>
            <a:ext cx="228600" cy="228600"/>
          </a:xfrm>
          <a:prstGeom prst="rect">
            <a:avLst/>
          </a:prstGeom>
        </p:spPr>
      </p:pic>
      <p:sp>
        <p:nvSpPr>
          <p:cNvPr id="14" name="Text 9"/>
          <p:cNvSpPr txBox="1"/>
          <p:nvPr/>
        </p:nvSpPr>
        <p:spPr>
          <a:xfrm>
            <a:off x="5303520" y="1828800"/>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MD5 / SHA-1</a:t>
            </a:r>
            <a:endParaRPr lang="en-US" sz="1300" dirty="0"/>
          </a:p>
        </p:txBody>
      </p:sp>
      <p:sp>
        <p:nvSpPr>
          <p:cNvPr id="15" name="Text 10"/>
          <p:cNvSpPr txBox="1"/>
          <p:nvPr/>
        </p:nvSpPr>
        <p:spPr>
          <a:xfrm>
            <a:off x="4700016" y="2395728"/>
            <a:ext cx="3008376" cy="384048"/>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Terlalu cepat dihitung sehingga mudah ditebak dengan serangan tabel pelangi.</a:t>
            </a:r>
            <a:endParaRPr lang="en-US" sz="1050" dirty="0"/>
          </a:p>
        </p:txBody>
      </p:sp>
      <p:sp>
        <p:nvSpPr>
          <p:cNvPr id="16" name="Shape 11"/>
          <p:cNvSpPr/>
          <p:nvPr/>
        </p:nvSpPr>
        <p:spPr>
          <a:xfrm>
            <a:off x="8247888" y="1609344"/>
            <a:ext cx="3520440" cy="1335024"/>
          </a:xfrm>
          <a:prstGeom prst="roundRect">
            <a:avLst>
              <a:gd name="adj" fmla="val 6164"/>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8503920" y="1828800"/>
            <a:ext cx="457200" cy="457200"/>
          </a:xfrm>
          <a:prstGeom prst="roundRect">
            <a:avLst>
              <a:gd name="adj" fmla="val 26000"/>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8618220" y="1943100"/>
            <a:ext cx="228600" cy="228600"/>
          </a:xfrm>
          <a:prstGeom prst="rect">
            <a:avLst/>
          </a:prstGeom>
        </p:spPr>
      </p:pic>
      <p:sp>
        <p:nvSpPr>
          <p:cNvPr id="19" name="Text 13"/>
          <p:cNvSpPr txBox="1"/>
          <p:nvPr/>
        </p:nvSpPr>
        <p:spPr>
          <a:xfrm>
            <a:off x="9107424" y="1828800"/>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bcrypt / argon2</a:t>
            </a:r>
            <a:endParaRPr lang="en-US" sz="1300" dirty="0"/>
          </a:p>
        </p:txBody>
      </p:sp>
      <p:sp>
        <p:nvSpPr>
          <p:cNvPr id="20" name="Text 14"/>
          <p:cNvSpPr txBox="1"/>
          <p:nvPr/>
        </p:nvSpPr>
        <p:spPr>
          <a:xfrm>
            <a:off x="8503920" y="2395728"/>
            <a:ext cx="3008376" cy="384048"/>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Sengaja dibuat lambat dan memakai salt acak. Inilah pilihan yang benar.</a:t>
            </a:r>
            <a:endParaRPr lang="en-US" sz="1050" dirty="0"/>
          </a:p>
        </p:txBody>
      </p:sp>
      <p:sp>
        <p:nvSpPr>
          <p:cNvPr id="21" name="Shape 15"/>
          <p:cNvSpPr/>
          <p:nvPr/>
        </p:nvSpPr>
        <p:spPr>
          <a:xfrm>
            <a:off x="640080" y="3127248"/>
            <a:ext cx="6035040" cy="3169128"/>
          </a:xfrm>
          <a:prstGeom prst="roundRect">
            <a:avLst>
              <a:gd name="adj" fmla="val 2020"/>
            </a:avLst>
          </a:prstGeom>
          <a:solidFill>
            <a:srgbClr val="0E2417"/>
          </a:solidFill>
          <a:ln w="12700">
            <a:solidFill>
              <a:srgbClr val="234A31"/>
            </a:solidFill>
            <a:prstDash val="solid"/>
          </a:ln>
        </p:spPr>
      </p:sp>
      <p:sp>
        <p:nvSpPr>
          <p:cNvPr id="22" name="Text 16"/>
          <p:cNvSpPr txBox="1"/>
          <p:nvPr/>
        </p:nvSpPr>
        <p:spPr>
          <a:xfrm>
            <a:off x="859536" y="3218688"/>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HASHING DAN VERIFIKASI DENGAN BCRYPT</a:t>
            </a:r>
            <a:endParaRPr lang="en-US" sz="950" dirty="0"/>
          </a:p>
        </p:txBody>
      </p:sp>
      <p:sp>
        <p:nvSpPr>
          <p:cNvPr id="23" name="Text 17"/>
          <p:cNvSpPr txBox="1"/>
          <p:nvPr/>
        </p:nvSpPr>
        <p:spPr>
          <a:xfrm>
            <a:off x="859536" y="3529584"/>
            <a:ext cx="5596128" cy="2657064"/>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bcrypt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'bcrypt'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 Saat pengguna mendaftar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SALT_ROUNDS =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12</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hash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bcrypt.hash(sandiAsli, SALT_ROUNDS);</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User.create({ email, sandi: hash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 Saat pengguna masuk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user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User.findOne({ email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cocok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bcrypt.compare(sandiAsli, user.sandi);</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(!cocok)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Pesan sengaja dibuat umum agar tidak membocorkan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res.status(</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401</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).json({ pesan: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'Kredensial salah'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24" name="Shape 18"/>
          <p:cNvSpPr/>
          <p:nvPr/>
        </p:nvSpPr>
        <p:spPr>
          <a:xfrm>
            <a:off x="6949440" y="3200400"/>
            <a:ext cx="420624" cy="420624"/>
          </a:xfrm>
          <a:prstGeom prst="roundRect">
            <a:avLst>
              <a:gd name="adj" fmla="val 26087"/>
            </a:avLst>
          </a:prstGeom>
          <a:solidFill>
            <a:srgbClr val="E8F2E2"/>
          </a:solidFill>
          <a:ln w="12700">
            <a:solidFill>
              <a:srgbClr val="E8F2E2"/>
            </a:solidFill>
            <a:prstDash val="solid"/>
          </a:ln>
        </p:spPr>
      </p:sp>
      <p:pic>
        <p:nvPicPr>
          <p:cNvPr id="25" name="Image 4" descr="preencoded.png">    </p:cNvPr>
          <p:cNvPicPr>
            <a:picLocks noChangeAspect="1"/>
          </p:cNvPicPr>
          <p:nvPr/>
        </p:nvPicPr>
        <p:blipFill>
          <a:blip r:embed="rId5"/>
          <a:stretch>
            <a:fillRect/>
          </a:stretch>
        </p:blipFill>
        <p:spPr>
          <a:xfrm>
            <a:off x="7054596" y="3305556"/>
            <a:ext cx="210312" cy="210312"/>
          </a:xfrm>
          <a:prstGeom prst="rect">
            <a:avLst/>
          </a:prstGeom>
        </p:spPr>
      </p:pic>
      <p:sp>
        <p:nvSpPr>
          <p:cNvPr id="26" name="Text 19"/>
          <p:cNvSpPr txBox="1"/>
          <p:nvPr/>
        </p:nvSpPr>
        <p:spPr>
          <a:xfrm>
            <a:off x="7516368" y="3182112"/>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Salt Otomatis</a:t>
            </a:r>
            <a:endParaRPr lang="en-US" sz="1200" dirty="0"/>
          </a:p>
        </p:txBody>
      </p:sp>
      <p:sp>
        <p:nvSpPr>
          <p:cNvPr id="27" name="Text 20"/>
          <p:cNvSpPr txBox="1"/>
          <p:nvPr/>
        </p:nvSpPr>
        <p:spPr>
          <a:xfrm>
            <a:off x="7516368" y="3438144"/>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bcrypt menyisipkan salt acak pada setiap hash, sehingga dua sandi sama menghasilkan hash berbeda.</a:t>
            </a:r>
            <a:endParaRPr lang="en-US" sz="960" dirty="0"/>
          </a:p>
        </p:txBody>
      </p:sp>
      <p:sp>
        <p:nvSpPr>
          <p:cNvPr id="28" name="Shape 21"/>
          <p:cNvSpPr/>
          <p:nvPr/>
        </p:nvSpPr>
        <p:spPr>
          <a:xfrm>
            <a:off x="6949440" y="3785616"/>
            <a:ext cx="420624" cy="420624"/>
          </a:xfrm>
          <a:prstGeom prst="roundRect">
            <a:avLst>
              <a:gd name="adj" fmla="val 26087"/>
            </a:avLst>
          </a:prstGeom>
          <a:solidFill>
            <a:srgbClr val="E8F2E2"/>
          </a:solidFill>
          <a:ln w="12700">
            <a:solidFill>
              <a:srgbClr val="E8F2E2"/>
            </a:solidFill>
            <a:prstDash val="solid"/>
          </a:ln>
        </p:spPr>
      </p:sp>
      <p:pic>
        <p:nvPicPr>
          <p:cNvPr id="29" name="Image 5" descr="preencoded.png">    </p:cNvPr>
          <p:cNvPicPr>
            <a:picLocks noChangeAspect="1"/>
          </p:cNvPicPr>
          <p:nvPr/>
        </p:nvPicPr>
        <p:blipFill>
          <a:blip r:embed="rId6"/>
          <a:stretch>
            <a:fillRect/>
          </a:stretch>
        </p:blipFill>
        <p:spPr>
          <a:xfrm>
            <a:off x="7054596" y="3890772"/>
            <a:ext cx="210312" cy="210312"/>
          </a:xfrm>
          <a:prstGeom prst="rect">
            <a:avLst/>
          </a:prstGeom>
        </p:spPr>
      </p:pic>
      <p:sp>
        <p:nvSpPr>
          <p:cNvPr id="30" name="Text 22"/>
          <p:cNvSpPr txBox="1"/>
          <p:nvPr/>
        </p:nvSpPr>
        <p:spPr>
          <a:xfrm>
            <a:off x="7516368" y="376732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Cost Factor</a:t>
            </a:r>
            <a:endParaRPr lang="en-US" sz="1200" dirty="0"/>
          </a:p>
        </p:txBody>
      </p:sp>
      <p:sp>
        <p:nvSpPr>
          <p:cNvPr id="31" name="Text 23"/>
          <p:cNvSpPr txBox="1"/>
          <p:nvPr/>
        </p:nvSpPr>
        <p:spPr>
          <a:xfrm>
            <a:off x="7516368" y="4023360"/>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Angka 10 hingga 12 adalah keseimbangan wajar antara keamanan dan kecepatan respons.</a:t>
            </a:r>
            <a:endParaRPr lang="en-US" sz="960" dirty="0"/>
          </a:p>
        </p:txBody>
      </p:sp>
      <p:sp>
        <p:nvSpPr>
          <p:cNvPr id="32" name="Shape 24"/>
          <p:cNvSpPr/>
          <p:nvPr/>
        </p:nvSpPr>
        <p:spPr>
          <a:xfrm>
            <a:off x="6949440" y="4370832"/>
            <a:ext cx="420624" cy="420624"/>
          </a:xfrm>
          <a:prstGeom prst="roundRect">
            <a:avLst>
              <a:gd name="adj" fmla="val 26087"/>
            </a:avLst>
          </a:prstGeom>
          <a:solidFill>
            <a:srgbClr val="E8F2E2"/>
          </a:solidFill>
          <a:ln w="12700">
            <a:solidFill>
              <a:srgbClr val="E8F2E2"/>
            </a:solidFill>
            <a:prstDash val="solid"/>
          </a:ln>
        </p:spPr>
      </p:sp>
      <p:pic>
        <p:nvPicPr>
          <p:cNvPr id="33" name="Image 6" descr="preencoded.png">    </p:cNvPr>
          <p:cNvPicPr>
            <a:picLocks noChangeAspect="1"/>
          </p:cNvPicPr>
          <p:nvPr/>
        </p:nvPicPr>
        <p:blipFill>
          <a:blip r:embed="rId7"/>
          <a:stretch>
            <a:fillRect/>
          </a:stretch>
        </p:blipFill>
        <p:spPr>
          <a:xfrm>
            <a:off x="7054596" y="4475988"/>
            <a:ext cx="210312" cy="210312"/>
          </a:xfrm>
          <a:prstGeom prst="rect">
            <a:avLst/>
          </a:prstGeom>
        </p:spPr>
      </p:pic>
      <p:sp>
        <p:nvSpPr>
          <p:cNvPr id="34" name="Text 25"/>
          <p:cNvSpPr txBox="1"/>
          <p:nvPr/>
        </p:nvSpPr>
        <p:spPr>
          <a:xfrm>
            <a:off x="7516368" y="4352544"/>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Jangan Bocorkan Petunjuk</a:t>
            </a:r>
            <a:endParaRPr lang="en-US" sz="1200" dirty="0"/>
          </a:p>
        </p:txBody>
      </p:sp>
      <p:sp>
        <p:nvSpPr>
          <p:cNvPr id="35" name="Text 26"/>
          <p:cNvSpPr txBox="1"/>
          <p:nvPr/>
        </p:nvSpPr>
        <p:spPr>
          <a:xfrm>
            <a:off x="7516368" y="4608576"/>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Balas dengan pesan seragam agar penyerang tidak tahu email mana yang terdaftar.</a:t>
            </a:r>
            <a:endParaRPr lang="en-US" sz="960" dirty="0"/>
          </a:p>
        </p:txBody>
      </p:sp>
      <p:sp>
        <p:nvSpPr>
          <p:cNvPr id="36" name="Shape 27"/>
          <p:cNvSpPr/>
          <p:nvPr/>
        </p:nvSpPr>
        <p:spPr>
          <a:xfrm>
            <a:off x="6949440" y="4956048"/>
            <a:ext cx="420624" cy="420624"/>
          </a:xfrm>
          <a:prstGeom prst="roundRect">
            <a:avLst>
              <a:gd name="adj" fmla="val 26087"/>
            </a:avLst>
          </a:prstGeom>
          <a:solidFill>
            <a:srgbClr val="E8F2E2"/>
          </a:solidFill>
          <a:ln w="12700">
            <a:solidFill>
              <a:srgbClr val="E8F2E2"/>
            </a:solidFill>
            <a:prstDash val="solid"/>
          </a:ln>
        </p:spPr>
      </p:sp>
      <p:pic>
        <p:nvPicPr>
          <p:cNvPr id="37" name="Image 7" descr="preencoded.png">    </p:cNvPr>
          <p:cNvPicPr>
            <a:picLocks noChangeAspect="1"/>
          </p:cNvPicPr>
          <p:nvPr/>
        </p:nvPicPr>
        <p:blipFill>
          <a:blip r:embed="rId8"/>
          <a:stretch>
            <a:fillRect/>
          </a:stretch>
        </p:blipFill>
        <p:spPr>
          <a:xfrm>
            <a:off x="7054596" y="5061204"/>
            <a:ext cx="210312" cy="210312"/>
          </a:xfrm>
          <a:prstGeom prst="rect">
            <a:avLst/>
          </a:prstGeom>
        </p:spPr>
      </p:pic>
      <p:sp>
        <p:nvSpPr>
          <p:cNvPr id="38" name="Text 28"/>
          <p:cNvSpPr txBox="1"/>
          <p:nvPr/>
        </p:nvSpPr>
        <p:spPr>
          <a:xfrm>
            <a:off x="7516368" y="493776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Batasi Percobaan Masuk</a:t>
            </a:r>
            <a:endParaRPr lang="en-US" sz="1200" dirty="0"/>
          </a:p>
        </p:txBody>
      </p:sp>
      <p:sp>
        <p:nvSpPr>
          <p:cNvPr id="39" name="Text 29"/>
          <p:cNvSpPr txBox="1"/>
          <p:nvPr/>
        </p:nvSpPr>
        <p:spPr>
          <a:xfrm>
            <a:off x="7516368" y="5193792"/>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Terapkan rate limit dan penguncian sementara untuk menghambat serangan brute force.</a:t>
            </a:r>
            <a:endParaRPr lang="en-US" sz="960" dirty="0"/>
          </a:p>
        </p:txBody>
      </p:sp>
      <p:sp>
        <p:nvSpPr>
          <p:cNvPr id="40" name="Shape 30"/>
          <p:cNvSpPr/>
          <p:nvPr/>
        </p:nvSpPr>
        <p:spPr>
          <a:xfrm>
            <a:off x="6949440" y="5541264"/>
            <a:ext cx="420624" cy="420624"/>
          </a:xfrm>
          <a:prstGeom prst="roundRect">
            <a:avLst>
              <a:gd name="adj" fmla="val 26087"/>
            </a:avLst>
          </a:prstGeom>
          <a:solidFill>
            <a:srgbClr val="E8F2E2"/>
          </a:solidFill>
          <a:ln w="12700">
            <a:solidFill>
              <a:srgbClr val="E8F2E2"/>
            </a:solidFill>
            <a:prstDash val="solid"/>
          </a:ln>
        </p:spPr>
      </p:sp>
      <p:pic>
        <p:nvPicPr>
          <p:cNvPr id="41" name="Image 8" descr="preencoded.png">    </p:cNvPr>
          <p:cNvPicPr>
            <a:picLocks noChangeAspect="1"/>
          </p:cNvPicPr>
          <p:nvPr/>
        </p:nvPicPr>
        <p:blipFill>
          <a:blip r:embed="rId9"/>
          <a:stretch>
            <a:fillRect/>
          </a:stretch>
        </p:blipFill>
        <p:spPr>
          <a:xfrm>
            <a:off x="7054596" y="5646420"/>
            <a:ext cx="210312" cy="210312"/>
          </a:xfrm>
          <a:prstGeom prst="rect">
            <a:avLst/>
          </a:prstGeom>
        </p:spPr>
      </p:pic>
      <p:sp>
        <p:nvSpPr>
          <p:cNvPr id="42" name="Text 31"/>
          <p:cNvSpPr txBox="1"/>
          <p:nvPr/>
        </p:nvSpPr>
        <p:spPr>
          <a:xfrm>
            <a:off x="7516368" y="552297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Wajibkan Sandi Kuat</a:t>
            </a:r>
            <a:endParaRPr lang="en-US" sz="1200" dirty="0"/>
          </a:p>
        </p:txBody>
      </p:sp>
      <p:sp>
        <p:nvSpPr>
          <p:cNvPr id="43" name="Text 32"/>
          <p:cNvSpPr txBox="1"/>
          <p:nvPr/>
        </p:nvSpPr>
        <p:spPr>
          <a:xfrm>
            <a:off x="7516368" y="5779008"/>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Tetapkan panjang minimum dan periksa terhadap daftar sandi yang sering bocor.</a:t>
            </a:r>
            <a:endParaRPr lang="en-US" sz="960" dirty="0"/>
          </a:p>
        </p:txBody>
      </p:sp>
      <p:sp>
        <p:nvSpPr>
          <p:cNvPr id="44" name="Text 3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5" name="Text 3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000000"/>
          </a:solidFill>
          <a:ln w="12700">
            <a:solidFill>
              <a:srgbClr val="000000"/>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JSON Web Token (JWT)</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Token mandiri untuk menjaga sesi pengguna tanpa menyimpan state di server</a:t>
            </a:r>
            <a:endParaRPr lang="en-US" sz="1300" dirty="0"/>
          </a:p>
        </p:txBody>
      </p:sp>
      <p:sp>
        <p:nvSpPr>
          <p:cNvPr id="6" name="Shape 3"/>
          <p:cNvSpPr/>
          <p:nvPr/>
        </p:nvSpPr>
        <p:spPr>
          <a:xfrm>
            <a:off x="640080" y="1609344"/>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5EEFB"/>
          </a:solidFill>
          <a:ln w="12700">
            <a:solidFill>
              <a:srgbClr val="E5EEFB"/>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Header</a:t>
            </a:r>
            <a:endParaRPr lang="en-US" sz="1300" dirty="0"/>
          </a:p>
        </p:txBody>
      </p:sp>
      <p:sp>
        <p:nvSpPr>
          <p:cNvPr id="10" name="Text 6"/>
          <p:cNvSpPr txBox="1"/>
          <p:nvPr/>
        </p:nvSpPr>
        <p:spPr>
          <a:xfrm>
            <a:off x="896112" y="2395728"/>
            <a:ext cx="3008376" cy="530352"/>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Jenis token dan algoritma tanda tangan.</a:t>
            </a:r>
            <a:endParaRPr lang="en-US" sz="1050" dirty="0"/>
          </a:p>
        </p:txBody>
      </p:sp>
      <p:sp>
        <p:nvSpPr>
          <p:cNvPr id="11" name="Shape 7"/>
          <p:cNvSpPr/>
          <p:nvPr/>
        </p:nvSpPr>
        <p:spPr>
          <a:xfrm>
            <a:off x="896112" y="2743200"/>
            <a:ext cx="3008376" cy="310896"/>
          </a:xfrm>
          <a:prstGeom prst="roundRect">
            <a:avLst>
              <a:gd name="adj" fmla="val 17647"/>
            </a:avLst>
          </a:prstGeom>
          <a:solidFill>
            <a:srgbClr val="0E2417"/>
          </a:solidFill>
          <a:ln w="12700">
            <a:solidFill>
              <a:srgbClr val="0E2417"/>
            </a:solidFill>
            <a:prstDash val="solid"/>
          </a:ln>
        </p:spPr>
      </p:sp>
      <p:sp>
        <p:nvSpPr>
          <p:cNvPr id="12" name="Text 8"/>
          <p:cNvSpPr txBox="1"/>
          <p:nvPr/>
        </p:nvSpPr>
        <p:spPr>
          <a:xfrm>
            <a:off x="896112" y="2743200"/>
            <a:ext cx="3008376" cy="310896"/>
          </a:xfrm>
          <a:prstGeom prst="rect">
            <a:avLst/>
          </a:prstGeom>
          <a:noFill/>
          <a:ln/>
        </p:spPr>
        <p:txBody>
          <a:bodyPr wrap="square" lIns="0" tIns="0" rIns="0" bIns="0" rtlCol="0" anchor="ctr"/>
          <a:lstStyle/>
          <a:p>
            <a:pPr algn="ctr" indent="0" marL="0">
              <a:buNone/>
            </a:pPr>
            <a:r>
              <a:rPr lang="en-US" sz="940" dirty="0">
                <a:solidFill>
                  <a:srgbClr val="C6E3B4"/>
                </a:solidFill>
                <a:latin typeface="Courier New" pitchFamily="34" charset="0"/>
                <a:ea typeface="Courier New" pitchFamily="34" charset="-122"/>
                <a:cs typeface="Courier New" pitchFamily="34" charset="-120"/>
              </a:rPr>
              <a:t>{ "alg": "HS256" }</a:t>
            </a:r>
            <a:endParaRPr lang="en-US" sz="940" dirty="0"/>
          </a:p>
        </p:txBody>
      </p:sp>
      <p:sp>
        <p:nvSpPr>
          <p:cNvPr id="13" name="Shape 9"/>
          <p:cNvSpPr/>
          <p:nvPr/>
        </p:nvSpPr>
        <p:spPr>
          <a:xfrm>
            <a:off x="4443984" y="1609344"/>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4" name="Shape 10"/>
          <p:cNvSpPr/>
          <p:nvPr/>
        </p:nvSpPr>
        <p:spPr>
          <a:xfrm>
            <a:off x="4700016" y="1828800"/>
            <a:ext cx="457200" cy="457200"/>
          </a:xfrm>
          <a:prstGeom prst="roundRect">
            <a:avLst>
              <a:gd name="adj" fmla="val 26000"/>
            </a:avLst>
          </a:prstGeom>
          <a:solidFill>
            <a:srgbClr val="FDF3D8"/>
          </a:solidFill>
          <a:ln w="12700">
            <a:solidFill>
              <a:srgbClr val="FDF3D8"/>
            </a:solidFill>
            <a:prstDash val="solid"/>
          </a:ln>
        </p:spPr>
      </p:sp>
      <p:pic>
        <p:nvPicPr>
          <p:cNvPr id="15" name="Image 2" descr="preencoded.png">    </p:cNvPr>
          <p:cNvPicPr>
            <a:picLocks noChangeAspect="1"/>
          </p:cNvPicPr>
          <p:nvPr/>
        </p:nvPicPr>
        <p:blipFill>
          <a:blip r:embed="rId3"/>
          <a:stretch>
            <a:fillRect/>
          </a:stretch>
        </p:blipFill>
        <p:spPr>
          <a:xfrm>
            <a:off x="4814316" y="1943100"/>
            <a:ext cx="228600" cy="228600"/>
          </a:xfrm>
          <a:prstGeom prst="rect">
            <a:avLst/>
          </a:prstGeom>
        </p:spPr>
      </p:pic>
      <p:sp>
        <p:nvSpPr>
          <p:cNvPr id="16" name="Text 11"/>
          <p:cNvSpPr txBox="1"/>
          <p:nvPr/>
        </p:nvSpPr>
        <p:spPr>
          <a:xfrm>
            <a:off x="5303520" y="1828800"/>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Payload</a:t>
            </a:r>
            <a:endParaRPr lang="en-US" sz="1300" dirty="0"/>
          </a:p>
        </p:txBody>
      </p:sp>
      <p:sp>
        <p:nvSpPr>
          <p:cNvPr id="17" name="Text 12"/>
          <p:cNvSpPr txBox="1"/>
          <p:nvPr/>
        </p:nvSpPr>
        <p:spPr>
          <a:xfrm>
            <a:off x="4700016" y="2395728"/>
            <a:ext cx="3008376" cy="530352"/>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Klaim seperti id pengguna dan masa berlaku.</a:t>
            </a:r>
            <a:endParaRPr lang="en-US" sz="1050" dirty="0"/>
          </a:p>
        </p:txBody>
      </p:sp>
      <p:sp>
        <p:nvSpPr>
          <p:cNvPr id="18" name="Shape 13"/>
          <p:cNvSpPr/>
          <p:nvPr/>
        </p:nvSpPr>
        <p:spPr>
          <a:xfrm>
            <a:off x="4700016" y="2743200"/>
            <a:ext cx="3008376" cy="310896"/>
          </a:xfrm>
          <a:prstGeom prst="roundRect">
            <a:avLst>
              <a:gd name="adj" fmla="val 17647"/>
            </a:avLst>
          </a:prstGeom>
          <a:solidFill>
            <a:srgbClr val="0E2417"/>
          </a:solidFill>
          <a:ln w="12700">
            <a:solidFill>
              <a:srgbClr val="0E2417"/>
            </a:solidFill>
            <a:prstDash val="solid"/>
          </a:ln>
        </p:spPr>
      </p:sp>
      <p:sp>
        <p:nvSpPr>
          <p:cNvPr id="19" name="Text 14"/>
          <p:cNvSpPr txBox="1"/>
          <p:nvPr/>
        </p:nvSpPr>
        <p:spPr>
          <a:xfrm>
            <a:off x="4700016" y="2743200"/>
            <a:ext cx="3008376" cy="310896"/>
          </a:xfrm>
          <a:prstGeom prst="rect">
            <a:avLst/>
          </a:prstGeom>
          <a:noFill/>
          <a:ln/>
        </p:spPr>
        <p:txBody>
          <a:bodyPr wrap="square" lIns="0" tIns="0" rIns="0" bIns="0" rtlCol="0" anchor="ctr"/>
          <a:lstStyle/>
          <a:p>
            <a:pPr algn="ctr" indent="0" marL="0">
              <a:buNone/>
            </a:pPr>
            <a:r>
              <a:rPr lang="en-US" sz="940" dirty="0">
                <a:solidFill>
                  <a:srgbClr val="C6E3B4"/>
                </a:solidFill>
                <a:latin typeface="Courier New" pitchFamily="34" charset="0"/>
                <a:ea typeface="Courier New" pitchFamily="34" charset="-122"/>
                <a:cs typeface="Courier New" pitchFamily="34" charset="-120"/>
              </a:rPr>
              <a:t>{ "sub": 7, "role": "admin" }</a:t>
            </a:r>
            <a:endParaRPr lang="en-US" sz="940" dirty="0"/>
          </a:p>
        </p:txBody>
      </p:sp>
      <p:sp>
        <p:nvSpPr>
          <p:cNvPr id="20" name="Shape 15"/>
          <p:cNvSpPr/>
          <p:nvPr/>
        </p:nvSpPr>
        <p:spPr>
          <a:xfrm>
            <a:off x="8247888" y="1609344"/>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1" name="Shape 16"/>
          <p:cNvSpPr/>
          <p:nvPr/>
        </p:nvSpPr>
        <p:spPr>
          <a:xfrm>
            <a:off x="8503920" y="1828800"/>
            <a:ext cx="457200" cy="457200"/>
          </a:xfrm>
          <a:prstGeom prst="roundRect">
            <a:avLst>
              <a:gd name="adj" fmla="val 26000"/>
            </a:avLst>
          </a:prstGeom>
          <a:solidFill>
            <a:srgbClr val="E8F2E2"/>
          </a:solidFill>
          <a:ln w="12700">
            <a:solidFill>
              <a:srgbClr val="E8F2E2"/>
            </a:solidFill>
            <a:prstDash val="solid"/>
          </a:ln>
        </p:spPr>
      </p:sp>
      <p:pic>
        <p:nvPicPr>
          <p:cNvPr id="22" name="Image 3" descr="preencoded.png">    </p:cNvPr>
          <p:cNvPicPr>
            <a:picLocks noChangeAspect="1"/>
          </p:cNvPicPr>
          <p:nvPr/>
        </p:nvPicPr>
        <p:blipFill>
          <a:blip r:embed="rId4"/>
          <a:stretch>
            <a:fillRect/>
          </a:stretch>
        </p:blipFill>
        <p:spPr>
          <a:xfrm>
            <a:off x="8618220" y="1943100"/>
            <a:ext cx="228600" cy="228600"/>
          </a:xfrm>
          <a:prstGeom prst="rect">
            <a:avLst/>
          </a:prstGeom>
        </p:spPr>
      </p:pic>
      <p:sp>
        <p:nvSpPr>
          <p:cNvPr id="23" name="Text 17"/>
          <p:cNvSpPr txBox="1"/>
          <p:nvPr/>
        </p:nvSpPr>
        <p:spPr>
          <a:xfrm>
            <a:off x="9107424" y="1828800"/>
            <a:ext cx="2404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Signature</a:t>
            </a:r>
            <a:endParaRPr lang="en-US" sz="1300" dirty="0"/>
          </a:p>
        </p:txBody>
      </p:sp>
      <p:sp>
        <p:nvSpPr>
          <p:cNvPr id="24" name="Text 18"/>
          <p:cNvSpPr txBox="1"/>
          <p:nvPr/>
        </p:nvSpPr>
        <p:spPr>
          <a:xfrm>
            <a:off x="8503920" y="2395728"/>
            <a:ext cx="3008376" cy="530352"/>
          </a:xfrm>
          <a:prstGeom prst="rect">
            <a:avLst/>
          </a:prstGeom>
          <a:noFill/>
          <a:ln/>
        </p:spPr>
        <p:txBody>
          <a:bodyPr wrap="square" lIns="0" tIns="0" rIns="0" bIns="0" rtlCol="0" anchor="t"/>
          <a:lstStyle/>
          <a:p>
            <a:pPr indent="0" marL="0">
              <a:lnSpc>
                <a:spcPct val="112000"/>
              </a:lnSpc>
              <a:buNone/>
            </a:pPr>
            <a:r>
              <a:rPr lang="en-US" sz="1050" dirty="0">
                <a:solidFill>
                  <a:srgbClr val="5F6F62"/>
                </a:solidFill>
                <a:latin typeface="Calibri" pitchFamily="34" charset="0"/>
                <a:ea typeface="Calibri" pitchFamily="34" charset="-122"/>
                <a:cs typeface="Calibri" pitchFamily="34" charset="-120"/>
              </a:rPr>
              <a:t>Bukti kriptografis bahwa token belum diubah.</a:t>
            </a:r>
            <a:endParaRPr lang="en-US" sz="1050" dirty="0"/>
          </a:p>
        </p:txBody>
      </p:sp>
      <p:sp>
        <p:nvSpPr>
          <p:cNvPr id="25" name="Shape 19"/>
          <p:cNvSpPr/>
          <p:nvPr/>
        </p:nvSpPr>
        <p:spPr>
          <a:xfrm>
            <a:off x="8503920" y="2743200"/>
            <a:ext cx="3008376" cy="310896"/>
          </a:xfrm>
          <a:prstGeom prst="roundRect">
            <a:avLst>
              <a:gd name="adj" fmla="val 17647"/>
            </a:avLst>
          </a:prstGeom>
          <a:solidFill>
            <a:srgbClr val="0E2417"/>
          </a:solidFill>
          <a:ln w="12700">
            <a:solidFill>
              <a:srgbClr val="0E2417"/>
            </a:solidFill>
            <a:prstDash val="solid"/>
          </a:ln>
        </p:spPr>
      </p:sp>
      <p:sp>
        <p:nvSpPr>
          <p:cNvPr id="26" name="Text 20"/>
          <p:cNvSpPr txBox="1"/>
          <p:nvPr/>
        </p:nvSpPr>
        <p:spPr>
          <a:xfrm>
            <a:off x="8503920" y="2743200"/>
            <a:ext cx="3008376" cy="310896"/>
          </a:xfrm>
          <a:prstGeom prst="rect">
            <a:avLst/>
          </a:prstGeom>
          <a:noFill/>
          <a:ln/>
        </p:spPr>
        <p:txBody>
          <a:bodyPr wrap="square" lIns="0" tIns="0" rIns="0" bIns="0" rtlCol="0" anchor="ctr"/>
          <a:lstStyle/>
          <a:p>
            <a:pPr algn="ctr" indent="0" marL="0">
              <a:buNone/>
            </a:pPr>
            <a:r>
              <a:rPr lang="en-US" sz="940" dirty="0">
                <a:solidFill>
                  <a:srgbClr val="C6E3B4"/>
                </a:solidFill>
                <a:latin typeface="Courier New" pitchFamily="34" charset="0"/>
                <a:ea typeface="Courier New" pitchFamily="34" charset="-122"/>
                <a:cs typeface="Courier New" pitchFamily="34" charset="-120"/>
              </a:rPr>
              <a:t>HMACSHA256(...)</a:t>
            </a:r>
            <a:endParaRPr lang="en-US" sz="940" dirty="0"/>
          </a:p>
        </p:txBody>
      </p:sp>
      <p:sp>
        <p:nvSpPr>
          <p:cNvPr id="27" name="Shape 21"/>
          <p:cNvSpPr/>
          <p:nvPr/>
        </p:nvSpPr>
        <p:spPr>
          <a:xfrm>
            <a:off x="640080" y="3200400"/>
            <a:ext cx="6035040" cy="3016057"/>
          </a:xfrm>
          <a:prstGeom prst="roundRect">
            <a:avLst>
              <a:gd name="adj" fmla="val 2122"/>
            </a:avLst>
          </a:prstGeom>
          <a:solidFill>
            <a:srgbClr val="0E2417"/>
          </a:solidFill>
          <a:ln w="12700">
            <a:solidFill>
              <a:srgbClr val="234A31"/>
            </a:solidFill>
            <a:prstDash val="solid"/>
          </a:ln>
        </p:spPr>
      </p:sp>
      <p:sp>
        <p:nvSpPr>
          <p:cNvPr id="28" name="Text 22"/>
          <p:cNvSpPr txBox="1"/>
          <p:nvPr/>
        </p:nvSpPr>
        <p:spPr>
          <a:xfrm>
            <a:off x="859536" y="3291840"/>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MEMBUAT DAN MEMERIKSA TOKEN</a:t>
            </a:r>
            <a:endParaRPr lang="en-US" sz="950" dirty="0"/>
          </a:p>
        </p:txBody>
      </p:sp>
      <p:sp>
        <p:nvSpPr>
          <p:cNvPr id="29" name="Text 23"/>
          <p:cNvSpPr txBox="1"/>
          <p:nvPr/>
        </p:nvSpPr>
        <p:spPr>
          <a:xfrm>
            <a:off x="859536" y="3602736"/>
            <a:ext cx="5596128" cy="2503993"/>
          </a:xfrm>
          <a:prstGeom prst="rect">
            <a:avLst/>
          </a:prstGeom>
          <a:noFill/>
          <a:ln/>
        </p:spPr>
        <p:txBody>
          <a:bodyPr wrap="square" lIns="0" tIns="0" rIns="0" bIns="0" rtlCol="0" anchor="t"/>
          <a:lstStyle/>
          <a:p>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jwt = </a:t>
            </a:r>
            <a:pPr indent="0" marL="0">
              <a:lnSpc>
                <a:spcPct val="106000"/>
              </a:lnSpc>
              <a:buNone/>
            </a:pPr>
            <a:r>
              <a:rPr lang="en-US" sz="96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960" dirty="0">
                <a:solidFill>
                  <a:srgbClr val="E5C07B"/>
                </a:solidFill>
                <a:latin typeface="Courier New" pitchFamily="34" charset="0"/>
                <a:ea typeface="Courier New" pitchFamily="34" charset="-122"/>
                <a:cs typeface="Courier New" pitchFamily="34" charset="-120"/>
              </a:rPr>
              <a:t>'jsonwebtoken'</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endParaRPr lang="en-US" sz="960" dirty="0"/>
          </a:p>
          <a:p>
            <a:pPr indent="0" marL="0">
              <a:lnSpc>
                <a:spcPct val="106000"/>
              </a:lnSpc>
              <a:buNone/>
            </a:pPr>
            <a:r>
              <a:rPr lang="en-US" sz="960" dirty="0">
                <a:solidFill>
                  <a:srgbClr val="6E8A76"/>
                </a:solidFill>
                <a:latin typeface="Courier New" pitchFamily="34" charset="0"/>
                <a:ea typeface="Courier New" pitchFamily="34" charset="-122"/>
                <a:cs typeface="Courier New" pitchFamily="34" charset="-120"/>
              </a:rPr>
              <a:t>// Diterbitkan setelah kredensial terbukti benar</a:t>
            </a:r>
            <a:endParaRPr lang="en-US" sz="960" dirty="0"/>
          </a:p>
          <a:p>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token = jwt.sign(</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 sub: user.id, role: user.role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6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.env.JWT_SECRET,</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 expiresIn: </a:t>
            </a:r>
            <a:pPr indent="0" marL="0">
              <a:lnSpc>
                <a:spcPct val="106000"/>
              </a:lnSpc>
              <a:buNone/>
            </a:pPr>
            <a:r>
              <a:rPr lang="en-US" sz="960" dirty="0">
                <a:solidFill>
                  <a:srgbClr val="E5C07B"/>
                </a:solidFill>
                <a:latin typeface="Courier New" pitchFamily="34" charset="0"/>
                <a:ea typeface="Courier New" pitchFamily="34" charset="-122"/>
                <a:cs typeface="Courier New" pitchFamily="34" charset="-120"/>
              </a:rPr>
              <a:t>'15m'</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endParaRPr lang="en-US" sz="960" dirty="0"/>
          </a:p>
          <a:p>
            <a:pPr indent="0" marL="0">
              <a:lnSpc>
                <a:spcPct val="106000"/>
              </a:lnSpc>
              <a:buNone/>
            </a:pPr>
            <a:r>
              <a:rPr lang="en-US" sz="960" dirty="0">
                <a:solidFill>
                  <a:srgbClr val="6E8A76"/>
                </a:solidFill>
                <a:latin typeface="Courier New" pitchFamily="34" charset="0"/>
                <a:ea typeface="Courier New" pitchFamily="34" charset="-122"/>
                <a:cs typeface="Courier New" pitchFamily="34" charset="-120"/>
              </a:rPr>
              <a:t>// Middleware pemeriksa token</a:t>
            </a:r>
            <a:endParaRPr lang="en-US" sz="960" dirty="0"/>
          </a:p>
          <a:p>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auth(req, res, next)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t = req.headers.authorization?.split(</a:t>
            </a:r>
            <a:pPr indent="0" marL="0">
              <a:lnSpc>
                <a:spcPct val="106000"/>
              </a:lnSpc>
              <a:buNone/>
            </a:pPr>
            <a:r>
              <a:rPr lang="en-US" sz="960" dirty="0">
                <a:solidFill>
                  <a:srgbClr val="E5C07B"/>
                </a:solidFill>
                <a:latin typeface="Courier New" pitchFamily="34" charset="0"/>
                <a:ea typeface="Courier New" pitchFamily="34" charset="-122"/>
                <a:cs typeface="Courier New" pitchFamily="34" charset="-120"/>
              </a:rPr>
              <a:t>' '</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96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try</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 req.user = jwt.verify(t, </a:t>
            </a:r>
            <a:pPr indent="0" marL="0">
              <a:lnSpc>
                <a:spcPct val="106000"/>
              </a:lnSpc>
              <a:buNone/>
            </a:pPr>
            <a:r>
              <a:rPr lang="en-US" sz="96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.env.JWT_SECRET); next();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catch</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96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res.status(</a:t>
            </a:r>
            <a:pPr indent="0" marL="0">
              <a:lnSpc>
                <a:spcPct val="106000"/>
              </a:lnSpc>
              <a:buNone/>
            </a:pPr>
            <a:r>
              <a:rPr lang="en-US" sz="960" dirty="0">
                <a:solidFill>
                  <a:srgbClr val="D9A05B"/>
                </a:solidFill>
                <a:latin typeface="Courier New" pitchFamily="34" charset="0"/>
                <a:ea typeface="Courier New" pitchFamily="34" charset="-122"/>
                <a:cs typeface="Courier New" pitchFamily="34" charset="-120"/>
              </a:rPr>
              <a:t>401</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).json({ pesan: </a:t>
            </a:r>
            <a:pPr indent="0" marL="0">
              <a:lnSpc>
                <a:spcPct val="106000"/>
              </a:lnSpc>
              <a:buNone/>
            </a:pPr>
            <a:r>
              <a:rPr lang="en-US" sz="960" dirty="0">
                <a:solidFill>
                  <a:srgbClr val="E5C07B"/>
                </a:solidFill>
                <a:latin typeface="Courier New" pitchFamily="34" charset="0"/>
                <a:ea typeface="Courier New" pitchFamily="34" charset="-122"/>
                <a:cs typeface="Courier New" pitchFamily="34" charset="-120"/>
              </a:rPr>
              <a:t>'Token salah'</a:t>
            </a:r>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 }); }</a:t>
            </a:r>
            <a:endParaRPr lang="en-US" sz="960" dirty="0"/>
          </a:p>
          <a:p>
            <a:pPr indent="0" marL="0">
              <a:lnSpc>
                <a:spcPct val="106000"/>
              </a:lnSpc>
              <a:buNone/>
            </a:pPr>
            <a:r>
              <a:rPr lang="en-US" sz="960" dirty="0">
                <a:solidFill>
                  <a:srgbClr val="DDE8DE"/>
                </a:solidFill>
                <a:latin typeface="Courier New" pitchFamily="34" charset="0"/>
                <a:ea typeface="Courier New" pitchFamily="34" charset="-122"/>
                <a:cs typeface="Courier New" pitchFamily="34" charset="-120"/>
              </a:rPr>
              <a:t>}</a:t>
            </a:r>
            <a:endParaRPr lang="en-US" sz="960" dirty="0"/>
          </a:p>
        </p:txBody>
      </p:sp>
      <p:sp>
        <p:nvSpPr>
          <p:cNvPr id="30" name="Text 24"/>
          <p:cNvSpPr txBox="1"/>
          <p:nvPr/>
        </p:nvSpPr>
        <p:spPr>
          <a:xfrm>
            <a:off x="6949440" y="3255264"/>
            <a:ext cx="4663440" cy="310896"/>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Alur Autentikasi Berbasis Token</a:t>
            </a:r>
            <a:endParaRPr lang="en-US" sz="1300" dirty="0"/>
          </a:p>
        </p:txBody>
      </p:sp>
      <p:sp>
        <p:nvSpPr>
          <p:cNvPr id="31" name="Shape 25"/>
          <p:cNvSpPr/>
          <p:nvPr/>
        </p:nvSpPr>
        <p:spPr>
          <a:xfrm>
            <a:off x="6949440" y="3675888"/>
            <a:ext cx="329184" cy="329184"/>
          </a:xfrm>
          <a:prstGeom prst="roundRect">
            <a:avLst>
              <a:gd name="adj" fmla="val 27778"/>
            </a:avLst>
          </a:prstGeom>
          <a:solidFill>
            <a:srgbClr val="3C873A"/>
          </a:solidFill>
          <a:ln w="12700">
            <a:solidFill>
              <a:srgbClr val="3C873A"/>
            </a:solidFill>
            <a:prstDash val="solid"/>
          </a:ln>
        </p:spPr>
      </p:sp>
      <p:sp>
        <p:nvSpPr>
          <p:cNvPr id="32" name="Text 26"/>
          <p:cNvSpPr txBox="1"/>
          <p:nvPr/>
        </p:nvSpPr>
        <p:spPr>
          <a:xfrm>
            <a:off x="6949440" y="36758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33" name="Text 27"/>
          <p:cNvSpPr txBox="1"/>
          <p:nvPr/>
        </p:nvSpPr>
        <p:spPr>
          <a:xfrm>
            <a:off x="7406640" y="3657600"/>
            <a:ext cx="4206240" cy="365760"/>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Pengguna mengirim email dan kata sandi ke endpoint login.</a:t>
            </a:r>
            <a:endParaRPr lang="en-US" sz="1050" dirty="0"/>
          </a:p>
        </p:txBody>
      </p:sp>
      <p:sp>
        <p:nvSpPr>
          <p:cNvPr id="34" name="Shape 28"/>
          <p:cNvSpPr/>
          <p:nvPr/>
        </p:nvSpPr>
        <p:spPr>
          <a:xfrm>
            <a:off x="6949440" y="4133088"/>
            <a:ext cx="329184" cy="329184"/>
          </a:xfrm>
          <a:prstGeom prst="roundRect">
            <a:avLst>
              <a:gd name="adj" fmla="val 27778"/>
            </a:avLst>
          </a:prstGeom>
          <a:solidFill>
            <a:srgbClr val="3C873A"/>
          </a:solidFill>
          <a:ln w="12700">
            <a:solidFill>
              <a:srgbClr val="3C873A"/>
            </a:solidFill>
            <a:prstDash val="solid"/>
          </a:ln>
        </p:spPr>
      </p:sp>
      <p:sp>
        <p:nvSpPr>
          <p:cNvPr id="35" name="Text 29"/>
          <p:cNvSpPr txBox="1"/>
          <p:nvPr/>
        </p:nvSpPr>
        <p:spPr>
          <a:xfrm>
            <a:off x="6949440" y="41330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6" name="Text 30"/>
          <p:cNvSpPr txBox="1"/>
          <p:nvPr/>
        </p:nvSpPr>
        <p:spPr>
          <a:xfrm>
            <a:off x="7406640" y="4114800"/>
            <a:ext cx="4206240" cy="365760"/>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Server memverifikasi dengan bcrypt lalu menerbitkan token.</a:t>
            </a:r>
            <a:endParaRPr lang="en-US" sz="1050" dirty="0"/>
          </a:p>
        </p:txBody>
      </p:sp>
      <p:sp>
        <p:nvSpPr>
          <p:cNvPr id="37" name="Shape 31"/>
          <p:cNvSpPr/>
          <p:nvPr/>
        </p:nvSpPr>
        <p:spPr>
          <a:xfrm>
            <a:off x="6949440" y="4590288"/>
            <a:ext cx="329184" cy="329184"/>
          </a:xfrm>
          <a:prstGeom prst="roundRect">
            <a:avLst>
              <a:gd name="adj" fmla="val 27778"/>
            </a:avLst>
          </a:prstGeom>
          <a:solidFill>
            <a:srgbClr val="3C873A"/>
          </a:solidFill>
          <a:ln w="12700">
            <a:solidFill>
              <a:srgbClr val="3C873A"/>
            </a:solidFill>
            <a:prstDash val="solid"/>
          </a:ln>
        </p:spPr>
      </p:sp>
      <p:sp>
        <p:nvSpPr>
          <p:cNvPr id="38" name="Text 32"/>
          <p:cNvSpPr txBox="1"/>
          <p:nvPr/>
        </p:nvSpPr>
        <p:spPr>
          <a:xfrm>
            <a:off x="6949440" y="45902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9" name="Text 33"/>
          <p:cNvSpPr txBox="1"/>
          <p:nvPr/>
        </p:nvSpPr>
        <p:spPr>
          <a:xfrm>
            <a:off x="7406640" y="4572000"/>
            <a:ext cx="4206240" cy="365760"/>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Klien menyimpan token dan menyertakannya di header Authorization.</a:t>
            </a:r>
            <a:endParaRPr lang="en-US" sz="1050" dirty="0"/>
          </a:p>
        </p:txBody>
      </p:sp>
      <p:sp>
        <p:nvSpPr>
          <p:cNvPr id="40" name="Shape 34"/>
          <p:cNvSpPr/>
          <p:nvPr/>
        </p:nvSpPr>
        <p:spPr>
          <a:xfrm>
            <a:off x="6949440" y="5047488"/>
            <a:ext cx="329184" cy="329184"/>
          </a:xfrm>
          <a:prstGeom prst="roundRect">
            <a:avLst>
              <a:gd name="adj" fmla="val 27778"/>
            </a:avLst>
          </a:prstGeom>
          <a:solidFill>
            <a:srgbClr val="3C873A"/>
          </a:solidFill>
          <a:ln w="12700">
            <a:solidFill>
              <a:srgbClr val="3C873A"/>
            </a:solidFill>
            <a:prstDash val="solid"/>
          </a:ln>
        </p:spPr>
      </p:sp>
      <p:sp>
        <p:nvSpPr>
          <p:cNvPr id="41" name="Text 35"/>
          <p:cNvSpPr txBox="1"/>
          <p:nvPr/>
        </p:nvSpPr>
        <p:spPr>
          <a:xfrm>
            <a:off x="6949440" y="50474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42" name="Text 36"/>
          <p:cNvSpPr txBox="1"/>
          <p:nvPr/>
        </p:nvSpPr>
        <p:spPr>
          <a:xfrm>
            <a:off x="7406640" y="5029200"/>
            <a:ext cx="4206240" cy="365760"/>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Server memeriksa tanda tangan token pada setiap permintaan.</a:t>
            </a:r>
            <a:endParaRPr lang="en-US" sz="1050" dirty="0"/>
          </a:p>
        </p:txBody>
      </p:sp>
      <p:sp>
        <p:nvSpPr>
          <p:cNvPr id="43" name="Shape 37"/>
          <p:cNvSpPr/>
          <p:nvPr/>
        </p:nvSpPr>
        <p:spPr>
          <a:xfrm>
            <a:off x="6949440" y="5504688"/>
            <a:ext cx="329184" cy="329184"/>
          </a:xfrm>
          <a:prstGeom prst="roundRect">
            <a:avLst>
              <a:gd name="adj" fmla="val 27778"/>
            </a:avLst>
          </a:prstGeom>
          <a:solidFill>
            <a:srgbClr val="3C873A"/>
          </a:solidFill>
          <a:ln w="12700">
            <a:solidFill>
              <a:srgbClr val="3C873A"/>
            </a:solidFill>
            <a:prstDash val="solid"/>
          </a:ln>
        </p:spPr>
      </p:sp>
      <p:sp>
        <p:nvSpPr>
          <p:cNvPr id="44" name="Text 38"/>
          <p:cNvSpPr txBox="1"/>
          <p:nvPr/>
        </p:nvSpPr>
        <p:spPr>
          <a:xfrm>
            <a:off x="6949440" y="55046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45" name="Text 39"/>
          <p:cNvSpPr txBox="1"/>
          <p:nvPr/>
        </p:nvSpPr>
        <p:spPr>
          <a:xfrm>
            <a:off x="7406640" y="5486400"/>
            <a:ext cx="4206240" cy="365760"/>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Token kedaluwarsa; klien menukar refresh token untuk yang baru.</a:t>
            </a:r>
            <a:endParaRPr lang="en-US" sz="1050" dirty="0"/>
          </a:p>
        </p:txBody>
      </p:sp>
      <p:sp>
        <p:nvSpPr>
          <p:cNvPr id="46" name="Text 40"/>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7" name="Text 4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Session vs Token dan Otorisasi Peran</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Memilih mekanisme sesi dan mengatur siapa boleh melakukan apa</a:t>
            </a:r>
            <a:endParaRPr lang="en-US" sz="1300" dirty="0"/>
          </a:p>
        </p:txBody>
      </p:sp>
      <p:sp>
        <p:nvSpPr>
          <p:cNvPr id="6" name="Shape 3"/>
          <p:cNvSpPr/>
          <p:nvPr/>
        </p:nvSpPr>
        <p:spPr>
          <a:xfrm>
            <a:off x="640080" y="1627632"/>
            <a:ext cx="6035040" cy="365760"/>
          </a:xfrm>
          <a:prstGeom prst="roundRect">
            <a:avLst>
              <a:gd name="adj" fmla="val 12500"/>
            </a:avLst>
          </a:prstGeom>
          <a:solidFill>
            <a:srgbClr val="0B2015"/>
          </a:solidFill>
          <a:ln w="12700">
            <a:solidFill>
              <a:srgbClr val="0B2015"/>
            </a:solidFill>
            <a:prstDash val="solid"/>
          </a:ln>
        </p:spPr>
      </p:sp>
      <p:sp>
        <p:nvSpPr>
          <p:cNvPr id="7" name="Text 4"/>
          <p:cNvSpPr txBox="1"/>
          <p:nvPr/>
        </p:nvSpPr>
        <p:spPr>
          <a:xfrm>
            <a:off x="841248" y="1627632"/>
            <a:ext cx="182880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Aspek</a:t>
            </a:r>
            <a:endParaRPr lang="en-US" sz="1050" dirty="0"/>
          </a:p>
        </p:txBody>
      </p:sp>
      <p:sp>
        <p:nvSpPr>
          <p:cNvPr id="8" name="Text 5"/>
          <p:cNvSpPr txBox="1"/>
          <p:nvPr/>
        </p:nvSpPr>
        <p:spPr>
          <a:xfrm>
            <a:off x="2743200" y="1627632"/>
            <a:ext cx="192024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Session + Cookie</a:t>
            </a:r>
            <a:endParaRPr lang="en-US" sz="1050" dirty="0"/>
          </a:p>
        </p:txBody>
      </p:sp>
      <p:sp>
        <p:nvSpPr>
          <p:cNvPr id="9" name="Text 6"/>
          <p:cNvSpPr txBox="1"/>
          <p:nvPr/>
        </p:nvSpPr>
        <p:spPr>
          <a:xfrm>
            <a:off x="4709160" y="1627632"/>
            <a:ext cx="1920240" cy="36576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JWT</a:t>
            </a:r>
            <a:endParaRPr lang="en-US" sz="1050" dirty="0"/>
          </a:p>
        </p:txBody>
      </p:sp>
      <p:sp>
        <p:nvSpPr>
          <p:cNvPr id="10" name="Shape 7"/>
          <p:cNvSpPr/>
          <p:nvPr/>
        </p:nvSpPr>
        <p:spPr>
          <a:xfrm>
            <a:off x="640080" y="2020824"/>
            <a:ext cx="6035040" cy="365760"/>
          </a:xfrm>
          <a:prstGeom prst="roundRect">
            <a:avLst>
              <a:gd name="adj" fmla="val 12500"/>
            </a:avLst>
          </a:prstGeom>
          <a:solidFill>
            <a:srgbClr val="FFFFFF"/>
          </a:solidFill>
          <a:ln w="12700">
            <a:solidFill>
              <a:srgbClr val="E3EBDF"/>
            </a:solidFill>
            <a:prstDash val="solid"/>
          </a:ln>
        </p:spPr>
      </p:sp>
      <p:sp>
        <p:nvSpPr>
          <p:cNvPr id="11" name="Text 8"/>
          <p:cNvSpPr txBox="1"/>
          <p:nvPr/>
        </p:nvSpPr>
        <p:spPr>
          <a:xfrm>
            <a:off x="841248" y="2020824"/>
            <a:ext cx="1828800" cy="365760"/>
          </a:xfrm>
          <a:prstGeom prst="rect">
            <a:avLst/>
          </a:prstGeom>
          <a:noFill/>
          <a:ln/>
        </p:spPr>
        <p:txBody>
          <a:bodyPr wrap="square" lIns="0" tIns="0" rIns="0" bIns="0" rtlCol="0" anchor="ctr"/>
          <a:lstStyle/>
          <a:p>
            <a:pPr indent="0" marL="0">
              <a:buNone/>
            </a:pPr>
            <a:r>
              <a:rPr lang="en-US" sz="1050" b="1" dirty="0">
                <a:solidFill>
                  <a:srgbClr val="16241B"/>
                </a:solidFill>
                <a:latin typeface="Calibri" pitchFamily="34" charset="0"/>
                <a:ea typeface="Calibri" pitchFamily="34" charset="-122"/>
                <a:cs typeface="Calibri" pitchFamily="34" charset="-120"/>
              </a:rPr>
              <a:t>Penyimpanan</a:t>
            </a:r>
            <a:endParaRPr lang="en-US" sz="1050" dirty="0"/>
          </a:p>
        </p:txBody>
      </p:sp>
      <p:sp>
        <p:nvSpPr>
          <p:cNvPr id="12" name="Text 9"/>
          <p:cNvSpPr txBox="1"/>
          <p:nvPr/>
        </p:nvSpPr>
        <p:spPr>
          <a:xfrm>
            <a:off x="2743200" y="2020824"/>
            <a:ext cx="1920240" cy="365760"/>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State di server</a:t>
            </a:r>
            <a:endParaRPr lang="en-US" sz="1050" dirty="0"/>
          </a:p>
        </p:txBody>
      </p:sp>
      <p:sp>
        <p:nvSpPr>
          <p:cNvPr id="13" name="Text 10"/>
          <p:cNvSpPr txBox="1"/>
          <p:nvPr/>
        </p:nvSpPr>
        <p:spPr>
          <a:xfrm>
            <a:off x="4709160" y="2020824"/>
            <a:ext cx="1920240" cy="365760"/>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Mandiri di klien</a:t>
            </a:r>
            <a:endParaRPr lang="en-US" sz="1050" dirty="0"/>
          </a:p>
        </p:txBody>
      </p:sp>
      <p:sp>
        <p:nvSpPr>
          <p:cNvPr id="14" name="Shape 11"/>
          <p:cNvSpPr/>
          <p:nvPr/>
        </p:nvSpPr>
        <p:spPr>
          <a:xfrm>
            <a:off x="640080" y="2414016"/>
            <a:ext cx="6035040" cy="365760"/>
          </a:xfrm>
          <a:prstGeom prst="roundRect">
            <a:avLst>
              <a:gd name="adj" fmla="val 12500"/>
            </a:avLst>
          </a:prstGeom>
          <a:solidFill>
            <a:srgbClr val="EDF3E9"/>
          </a:solidFill>
          <a:ln w="12700">
            <a:solidFill>
              <a:srgbClr val="E3EBDF"/>
            </a:solidFill>
            <a:prstDash val="solid"/>
          </a:ln>
        </p:spPr>
      </p:sp>
      <p:sp>
        <p:nvSpPr>
          <p:cNvPr id="15" name="Text 12"/>
          <p:cNvSpPr txBox="1"/>
          <p:nvPr/>
        </p:nvSpPr>
        <p:spPr>
          <a:xfrm>
            <a:off x="841248" y="2414016"/>
            <a:ext cx="1828800" cy="365760"/>
          </a:xfrm>
          <a:prstGeom prst="rect">
            <a:avLst/>
          </a:prstGeom>
          <a:noFill/>
          <a:ln/>
        </p:spPr>
        <p:txBody>
          <a:bodyPr wrap="square" lIns="0" tIns="0" rIns="0" bIns="0" rtlCol="0" anchor="ctr"/>
          <a:lstStyle/>
          <a:p>
            <a:pPr indent="0" marL="0">
              <a:buNone/>
            </a:pPr>
            <a:r>
              <a:rPr lang="en-US" sz="1050" b="1" dirty="0">
                <a:solidFill>
                  <a:srgbClr val="16241B"/>
                </a:solidFill>
                <a:latin typeface="Calibri" pitchFamily="34" charset="0"/>
                <a:ea typeface="Calibri" pitchFamily="34" charset="-122"/>
                <a:cs typeface="Calibri" pitchFamily="34" charset="-120"/>
              </a:rPr>
              <a:t>Skalabilitas</a:t>
            </a:r>
            <a:endParaRPr lang="en-US" sz="1050" dirty="0"/>
          </a:p>
        </p:txBody>
      </p:sp>
      <p:sp>
        <p:nvSpPr>
          <p:cNvPr id="16" name="Text 13"/>
          <p:cNvSpPr txBox="1"/>
          <p:nvPr/>
        </p:nvSpPr>
        <p:spPr>
          <a:xfrm>
            <a:off x="2743200" y="2414016"/>
            <a:ext cx="1920240" cy="365760"/>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Butuh store bersama</a:t>
            </a:r>
            <a:endParaRPr lang="en-US" sz="1050" dirty="0"/>
          </a:p>
        </p:txBody>
      </p:sp>
      <p:sp>
        <p:nvSpPr>
          <p:cNvPr id="17" name="Text 14"/>
          <p:cNvSpPr txBox="1"/>
          <p:nvPr/>
        </p:nvSpPr>
        <p:spPr>
          <a:xfrm>
            <a:off x="4709160" y="2414016"/>
            <a:ext cx="1920240" cy="365760"/>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Mudah lintas server</a:t>
            </a:r>
            <a:endParaRPr lang="en-US" sz="1050" dirty="0"/>
          </a:p>
        </p:txBody>
      </p:sp>
      <p:sp>
        <p:nvSpPr>
          <p:cNvPr id="18" name="Shape 15"/>
          <p:cNvSpPr/>
          <p:nvPr/>
        </p:nvSpPr>
        <p:spPr>
          <a:xfrm>
            <a:off x="640080" y="2807208"/>
            <a:ext cx="6035040" cy="365760"/>
          </a:xfrm>
          <a:prstGeom prst="roundRect">
            <a:avLst>
              <a:gd name="adj" fmla="val 12500"/>
            </a:avLst>
          </a:prstGeom>
          <a:solidFill>
            <a:srgbClr val="FFFFFF"/>
          </a:solidFill>
          <a:ln w="12700">
            <a:solidFill>
              <a:srgbClr val="E3EBDF"/>
            </a:solidFill>
            <a:prstDash val="solid"/>
          </a:ln>
        </p:spPr>
      </p:sp>
      <p:sp>
        <p:nvSpPr>
          <p:cNvPr id="19" name="Text 16"/>
          <p:cNvSpPr txBox="1"/>
          <p:nvPr/>
        </p:nvSpPr>
        <p:spPr>
          <a:xfrm>
            <a:off x="841248" y="2807208"/>
            <a:ext cx="1828800" cy="365760"/>
          </a:xfrm>
          <a:prstGeom prst="rect">
            <a:avLst/>
          </a:prstGeom>
          <a:noFill/>
          <a:ln/>
        </p:spPr>
        <p:txBody>
          <a:bodyPr wrap="square" lIns="0" tIns="0" rIns="0" bIns="0" rtlCol="0" anchor="ctr"/>
          <a:lstStyle/>
          <a:p>
            <a:pPr indent="0" marL="0">
              <a:buNone/>
            </a:pPr>
            <a:r>
              <a:rPr lang="en-US" sz="1050" b="1" dirty="0">
                <a:solidFill>
                  <a:srgbClr val="16241B"/>
                </a:solidFill>
                <a:latin typeface="Calibri" pitchFamily="34" charset="0"/>
                <a:ea typeface="Calibri" pitchFamily="34" charset="-122"/>
                <a:cs typeface="Calibri" pitchFamily="34" charset="-120"/>
              </a:rPr>
              <a:t>Pencabutan</a:t>
            </a:r>
            <a:endParaRPr lang="en-US" sz="1050" dirty="0"/>
          </a:p>
        </p:txBody>
      </p:sp>
      <p:sp>
        <p:nvSpPr>
          <p:cNvPr id="20" name="Text 17"/>
          <p:cNvSpPr txBox="1"/>
          <p:nvPr/>
        </p:nvSpPr>
        <p:spPr>
          <a:xfrm>
            <a:off x="2743200" y="2807208"/>
            <a:ext cx="1920240" cy="365760"/>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Langsung dan mudah</a:t>
            </a:r>
            <a:endParaRPr lang="en-US" sz="1050" dirty="0"/>
          </a:p>
        </p:txBody>
      </p:sp>
      <p:sp>
        <p:nvSpPr>
          <p:cNvPr id="21" name="Text 18"/>
          <p:cNvSpPr txBox="1"/>
          <p:nvPr/>
        </p:nvSpPr>
        <p:spPr>
          <a:xfrm>
            <a:off x="4709160" y="2807208"/>
            <a:ext cx="1920240" cy="365760"/>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Sulit sebelum kedaluwarsa</a:t>
            </a:r>
            <a:endParaRPr lang="en-US" sz="1050" dirty="0"/>
          </a:p>
        </p:txBody>
      </p:sp>
      <p:sp>
        <p:nvSpPr>
          <p:cNvPr id="22" name="Shape 19"/>
          <p:cNvSpPr/>
          <p:nvPr/>
        </p:nvSpPr>
        <p:spPr>
          <a:xfrm>
            <a:off x="640080" y="3200400"/>
            <a:ext cx="6035040" cy="365760"/>
          </a:xfrm>
          <a:prstGeom prst="roundRect">
            <a:avLst>
              <a:gd name="adj" fmla="val 12500"/>
            </a:avLst>
          </a:prstGeom>
          <a:solidFill>
            <a:srgbClr val="EDF3E9"/>
          </a:solidFill>
          <a:ln w="12700">
            <a:solidFill>
              <a:srgbClr val="E3EBDF"/>
            </a:solidFill>
            <a:prstDash val="solid"/>
          </a:ln>
        </p:spPr>
      </p:sp>
      <p:sp>
        <p:nvSpPr>
          <p:cNvPr id="23" name="Text 20"/>
          <p:cNvSpPr txBox="1"/>
          <p:nvPr/>
        </p:nvSpPr>
        <p:spPr>
          <a:xfrm>
            <a:off x="841248" y="3200400"/>
            <a:ext cx="1828800" cy="365760"/>
          </a:xfrm>
          <a:prstGeom prst="rect">
            <a:avLst/>
          </a:prstGeom>
          <a:noFill/>
          <a:ln/>
        </p:spPr>
        <p:txBody>
          <a:bodyPr wrap="square" lIns="0" tIns="0" rIns="0" bIns="0" rtlCol="0" anchor="ctr"/>
          <a:lstStyle/>
          <a:p>
            <a:pPr indent="0" marL="0">
              <a:buNone/>
            </a:pPr>
            <a:r>
              <a:rPr lang="en-US" sz="1050" b="1" dirty="0">
                <a:solidFill>
                  <a:srgbClr val="16241B"/>
                </a:solidFill>
                <a:latin typeface="Calibri" pitchFamily="34" charset="0"/>
                <a:ea typeface="Calibri" pitchFamily="34" charset="-122"/>
                <a:cs typeface="Calibri" pitchFamily="34" charset="-120"/>
              </a:rPr>
              <a:t>Ukuran data</a:t>
            </a:r>
            <a:endParaRPr lang="en-US" sz="1050" dirty="0"/>
          </a:p>
        </p:txBody>
      </p:sp>
      <p:sp>
        <p:nvSpPr>
          <p:cNvPr id="24" name="Text 21"/>
          <p:cNvSpPr txBox="1"/>
          <p:nvPr/>
        </p:nvSpPr>
        <p:spPr>
          <a:xfrm>
            <a:off x="2743200" y="3200400"/>
            <a:ext cx="1920240" cy="365760"/>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Hanya id sesi</a:t>
            </a:r>
            <a:endParaRPr lang="en-US" sz="1050" dirty="0"/>
          </a:p>
        </p:txBody>
      </p:sp>
      <p:sp>
        <p:nvSpPr>
          <p:cNvPr id="25" name="Text 22"/>
          <p:cNvSpPr txBox="1"/>
          <p:nvPr/>
        </p:nvSpPr>
        <p:spPr>
          <a:xfrm>
            <a:off x="4709160" y="3200400"/>
            <a:ext cx="1920240" cy="365760"/>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Lebih besar tiap permintaan</a:t>
            </a:r>
            <a:endParaRPr lang="en-US" sz="1050" dirty="0"/>
          </a:p>
        </p:txBody>
      </p:sp>
      <p:sp>
        <p:nvSpPr>
          <p:cNvPr id="26" name="Shape 23"/>
          <p:cNvSpPr/>
          <p:nvPr/>
        </p:nvSpPr>
        <p:spPr>
          <a:xfrm>
            <a:off x="640080" y="3593592"/>
            <a:ext cx="6035040" cy="365760"/>
          </a:xfrm>
          <a:prstGeom prst="roundRect">
            <a:avLst>
              <a:gd name="adj" fmla="val 12500"/>
            </a:avLst>
          </a:prstGeom>
          <a:solidFill>
            <a:srgbClr val="FFFFFF"/>
          </a:solidFill>
          <a:ln w="12700">
            <a:solidFill>
              <a:srgbClr val="E3EBDF"/>
            </a:solidFill>
            <a:prstDash val="solid"/>
          </a:ln>
        </p:spPr>
      </p:sp>
      <p:sp>
        <p:nvSpPr>
          <p:cNvPr id="27" name="Text 24"/>
          <p:cNvSpPr txBox="1"/>
          <p:nvPr/>
        </p:nvSpPr>
        <p:spPr>
          <a:xfrm>
            <a:off x="841248" y="3593592"/>
            <a:ext cx="1828800" cy="365760"/>
          </a:xfrm>
          <a:prstGeom prst="rect">
            <a:avLst/>
          </a:prstGeom>
          <a:noFill/>
          <a:ln/>
        </p:spPr>
        <p:txBody>
          <a:bodyPr wrap="square" lIns="0" tIns="0" rIns="0" bIns="0" rtlCol="0" anchor="ctr"/>
          <a:lstStyle/>
          <a:p>
            <a:pPr indent="0" marL="0">
              <a:buNone/>
            </a:pPr>
            <a:r>
              <a:rPr lang="en-US" sz="1050" b="1" dirty="0">
                <a:solidFill>
                  <a:srgbClr val="16241B"/>
                </a:solidFill>
                <a:latin typeface="Calibri" pitchFamily="34" charset="0"/>
                <a:ea typeface="Calibri" pitchFamily="34" charset="-122"/>
                <a:cs typeface="Calibri" pitchFamily="34" charset="-120"/>
              </a:rPr>
              <a:t>Cocok untuk</a:t>
            </a:r>
            <a:endParaRPr lang="en-US" sz="1050" dirty="0"/>
          </a:p>
        </p:txBody>
      </p:sp>
      <p:sp>
        <p:nvSpPr>
          <p:cNvPr id="28" name="Text 25"/>
          <p:cNvSpPr txBox="1"/>
          <p:nvPr/>
        </p:nvSpPr>
        <p:spPr>
          <a:xfrm>
            <a:off x="2743200" y="3593592"/>
            <a:ext cx="1920240" cy="365760"/>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Aplikasi web klasik</a:t>
            </a:r>
            <a:endParaRPr lang="en-US" sz="1050" dirty="0"/>
          </a:p>
        </p:txBody>
      </p:sp>
      <p:sp>
        <p:nvSpPr>
          <p:cNvPr id="29" name="Text 26"/>
          <p:cNvSpPr txBox="1"/>
          <p:nvPr/>
        </p:nvSpPr>
        <p:spPr>
          <a:xfrm>
            <a:off x="4709160" y="3593592"/>
            <a:ext cx="1920240" cy="365760"/>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API dan aplikasi mobile</a:t>
            </a:r>
            <a:endParaRPr lang="en-US" sz="1050" dirty="0"/>
          </a:p>
        </p:txBody>
      </p:sp>
      <p:sp>
        <p:nvSpPr>
          <p:cNvPr id="30" name="Shape 27"/>
          <p:cNvSpPr/>
          <p:nvPr/>
        </p:nvSpPr>
        <p:spPr>
          <a:xfrm>
            <a:off x="640080" y="4096512"/>
            <a:ext cx="6035040" cy="2097634"/>
          </a:xfrm>
          <a:prstGeom prst="roundRect">
            <a:avLst>
              <a:gd name="adj" fmla="val 3051"/>
            </a:avLst>
          </a:prstGeom>
          <a:solidFill>
            <a:srgbClr val="0E2417"/>
          </a:solidFill>
          <a:ln w="12700">
            <a:solidFill>
              <a:srgbClr val="234A31"/>
            </a:solidFill>
            <a:prstDash val="solid"/>
          </a:ln>
        </p:spPr>
      </p:sp>
      <p:sp>
        <p:nvSpPr>
          <p:cNvPr id="31" name="Text 28"/>
          <p:cNvSpPr txBox="1"/>
          <p:nvPr/>
        </p:nvSpPr>
        <p:spPr>
          <a:xfrm>
            <a:off x="859536" y="4187952"/>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OTORISASI BERBASIS PERAN</a:t>
            </a:r>
            <a:endParaRPr lang="en-US" sz="950" dirty="0"/>
          </a:p>
        </p:txBody>
      </p:sp>
      <p:sp>
        <p:nvSpPr>
          <p:cNvPr id="32" name="Text 29"/>
          <p:cNvSpPr txBox="1"/>
          <p:nvPr/>
        </p:nvSpPr>
        <p:spPr>
          <a:xfrm>
            <a:off x="859536" y="4498848"/>
            <a:ext cx="5596128" cy="1585570"/>
          </a:xfrm>
          <a:prstGeom prst="rect">
            <a:avLst/>
          </a:prstGeom>
          <a:noFill/>
          <a:ln/>
        </p:spPr>
        <p:txBody>
          <a:bodyPr wrap="square" lIns="0" tIns="0" rIns="0" bIns="0" rtlCol="0" anchor="t"/>
          <a:lstStyle/>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butuhPeran(...peran)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(req, res, next) =&gt;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(!peran.includes(req.user.role))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res.status(</a:t>
            </a:r>
            <a:pPr indent="0" marL="0">
              <a:lnSpc>
                <a:spcPct val="106000"/>
              </a:lnSpc>
              <a:buNone/>
            </a:pPr>
            <a:r>
              <a:rPr lang="en-US" sz="1000" dirty="0">
                <a:solidFill>
                  <a:srgbClr val="D9A05B"/>
                </a:solidFill>
                <a:latin typeface="Courier New" pitchFamily="34" charset="0"/>
                <a:ea typeface="Courier New" pitchFamily="34" charset="-122"/>
                <a:cs typeface="Courier New" pitchFamily="34" charset="-120"/>
              </a:rPr>
              <a:t>403</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).json({ pesan: </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'Akses ditolak'</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next();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app.</a:t>
            </a:r>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delete</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'/produk/:id'</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auth, butuhPeran(</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'admin'</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hapus);</a:t>
            </a:r>
            <a:endParaRPr lang="en-US" sz="1000" dirty="0"/>
          </a:p>
        </p:txBody>
      </p:sp>
      <p:sp>
        <p:nvSpPr>
          <p:cNvPr id="33" name="Shape 30"/>
          <p:cNvSpPr/>
          <p:nvPr/>
        </p:nvSpPr>
        <p:spPr>
          <a:xfrm>
            <a:off x="6949440" y="1700784"/>
            <a:ext cx="420624" cy="420624"/>
          </a:xfrm>
          <a:prstGeom prst="roundRect">
            <a:avLst>
              <a:gd name="adj" fmla="val 26087"/>
            </a:avLst>
          </a:prstGeom>
          <a:solidFill>
            <a:srgbClr val="E8F2E2"/>
          </a:solidFill>
          <a:ln w="12700">
            <a:solidFill>
              <a:srgbClr val="E8F2E2"/>
            </a:solidFill>
            <a:prstDash val="solid"/>
          </a:ln>
        </p:spPr>
      </p:sp>
      <p:pic>
        <p:nvPicPr>
          <p:cNvPr id="34" name="Image 1" descr="preencoded.png">    </p:cNvPr>
          <p:cNvPicPr>
            <a:picLocks noChangeAspect="1"/>
          </p:cNvPicPr>
          <p:nvPr/>
        </p:nvPicPr>
        <p:blipFill>
          <a:blip r:embed="rId2"/>
          <a:stretch>
            <a:fillRect/>
          </a:stretch>
        </p:blipFill>
        <p:spPr>
          <a:xfrm>
            <a:off x="7054596" y="1805940"/>
            <a:ext cx="210312" cy="210312"/>
          </a:xfrm>
          <a:prstGeom prst="rect">
            <a:avLst/>
          </a:prstGeom>
        </p:spPr>
      </p:pic>
      <p:sp>
        <p:nvSpPr>
          <p:cNvPr id="35" name="Text 31"/>
          <p:cNvSpPr txBox="1"/>
          <p:nvPr/>
        </p:nvSpPr>
        <p:spPr>
          <a:xfrm>
            <a:off x="7516368" y="168249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Simpan Token dengan Aman</a:t>
            </a:r>
            <a:endParaRPr lang="en-US" sz="1200" dirty="0"/>
          </a:p>
        </p:txBody>
      </p:sp>
      <p:sp>
        <p:nvSpPr>
          <p:cNvPr id="36" name="Text 32"/>
          <p:cNvSpPr txBox="1"/>
          <p:nvPr/>
        </p:nvSpPr>
        <p:spPr>
          <a:xfrm>
            <a:off x="7516368" y="1938528"/>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Cookie httpOnly dan secure lebih tahan pencurian dibanding localStorage yang rawan XSS.</a:t>
            </a:r>
            <a:endParaRPr lang="en-US" sz="960" dirty="0"/>
          </a:p>
        </p:txBody>
      </p:sp>
      <p:sp>
        <p:nvSpPr>
          <p:cNvPr id="37" name="Shape 33"/>
          <p:cNvSpPr/>
          <p:nvPr/>
        </p:nvSpPr>
        <p:spPr>
          <a:xfrm>
            <a:off x="6949440" y="2414016"/>
            <a:ext cx="420624" cy="420624"/>
          </a:xfrm>
          <a:prstGeom prst="roundRect">
            <a:avLst>
              <a:gd name="adj" fmla="val 26087"/>
            </a:avLst>
          </a:prstGeom>
          <a:solidFill>
            <a:srgbClr val="E8F2E2"/>
          </a:solidFill>
          <a:ln w="12700">
            <a:solidFill>
              <a:srgbClr val="E8F2E2"/>
            </a:solidFill>
            <a:prstDash val="solid"/>
          </a:ln>
        </p:spPr>
      </p:sp>
      <p:pic>
        <p:nvPicPr>
          <p:cNvPr id="38" name="Image 2" descr="preencoded.png">    </p:cNvPr>
          <p:cNvPicPr>
            <a:picLocks noChangeAspect="1"/>
          </p:cNvPicPr>
          <p:nvPr/>
        </p:nvPicPr>
        <p:blipFill>
          <a:blip r:embed="rId3"/>
          <a:stretch>
            <a:fillRect/>
          </a:stretch>
        </p:blipFill>
        <p:spPr>
          <a:xfrm>
            <a:off x="7054596" y="2519172"/>
            <a:ext cx="210312" cy="210312"/>
          </a:xfrm>
          <a:prstGeom prst="rect">
            <a:avLst/>
          </a:prstGeom>
        </p:spPr>
      </p:pic>
      <p:sp>
        <p:nvSpPr>
          <p:cNvPr id="39" name="Text 34"/>
          <p:cNvSpPr txBox="1"/>
          <p:nvPr/>
        </p:nvSpPr>
        <p:spPr>
          <a:xfrm>
            <a:off x="7516368" y="239572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Gunakan Refresh Token</a:t>
            </a:r>
            <a:endParaRPr lang="en-US" sz="1200" dirty="0"/>
          </a:p>
        </p:txBody>
      </p:sp>
      <p:sp>
        <p:nvSpPr>
          <p:cNvPr id="40" name="Text 35"/>
          <p:cNvSpPr txBox="1"/>
          <p:nvPr/>
        </p:nvSpPr>
        <p:spPr>
          <a:xfrm>
            <a:off x="7516368" y="2651760"/>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Access token berumur pendek, refresh token berumur panjang dan dapat dicabut kapan saja.</a:t>
            </a:r>
            <a:endParaRPr lang="en-US" sz="960" dirty="0"/>
          </a:p>
        </p:txBody>
      </p:sp>
      <p:sp>
        <p:nvSpPr>
          <p:cNvPr id="41" name="Shape 36"/>
          <p:cNvSpPr/>
          <p:nvPr/>
        </p:nvSpPr>
        <p:spPr>
          <a:xfrm>
            <a:off x="6949440" y="3127248"/>
            <a:ext cx="420624" cy="420624"/>
          </a:xfrm>
          <a:prstGeom prst="roundRect">
            <a:avLst>
              <a:gd name="adj" fmla="val 26087"/>
            </a:avLst>
          </a:prstGeom>
          <a:solidFill>
            <a:srgbClr val="E8F2E2"/>
          </a:solidFill>
          <a:ln w="12700">
            <a:solidFill>
              <a:srgbClr val="E8F2E2"/>
            </a:solidFill>
            <a:prstDash val="solid"/>
          </a:ln>
        </p:spPr>
      </p:sp>
      <p:pic>
        <p:nvPicPr>
          <p:cNvPr id="42" name="Image 3" descr="preencoded.png">    </p:cNvPr>
          <p:cNvPicPr>
            <a:picLocks noChangeAspect="1"/>
          </p:cNvPicPr>
          <p:nvPr/>
        </p:nvPicPr>
        <p:blipFill>
          <a:blip r:embed="rId4"/>
          <a:stretch>
            <a:fillRect/>
          </a:stretch>
        </p:blipFill>
        <p:spPr>
          <a:xfrm>
            <a:off x="7054596" y="3232404"/>
            <a:ext cx="210312" cy="210312"/>
          </a:xfrm>
          <a:prstGeom prst="rect">
            <a:avLst/>
          </a:prstGeom>
        </p:spPr>
      </p:pic>
      <p:sp>
        <p:nvSpPr>
          <p:cNvPr id="43" name="Text 37"/>
          <p:cNvSpPr txBox="1"/>
          <p:nvPr/>
        </p:nvSpPr>
        <p:spPr>
          <a:xfrm>
            <a:off x="7516368" y="310896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Daftar Cabut Token</a:t>
            </a:r>
            <a:endParaRPr lang="en-US" sz="1200" dirty="0"/>
          </a:p>
        </p:txBody>
      </p:sp>
      <p:sp>
        <p:nvSpPr>
          <p:cNvPr id="44" name="Text 38"/>
          <p:cNvSpPr txBox="1"/>
          <p:nvPr/>
        </p:nvSpPr>
        <p:spPr>
          <a:xfrm>
            <a:off x="7516368" y="3364992"/>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Simpan daftar token yang dicabut di Redis untuk menangani logout dan penonaktifan akun.</a:t>
            </a:r>
            <a:endParaRPr lang="en-US" sz="960" dirty="0"/>
          </a:p>
        </p:txBody>
      </p:sp>
      <p:sp>
        <p:nvSpPr>
          <p:cNvPr id="45" name="Shape 39"/>
          <p:cNvSpPr/>
          <p:nvPr/>
        </p:nvSpPr>
        <p:spPr>
          <a:xfrm>
            <a:off x="6949440" y="3840480"/>
            <a:ext cx="420624" cy="420624"/>
          </a:xfrm>
          <a:prstGeom prst="roundRect">
            <a:avLst>
              <a:gd name="adj" fmla="val 26087"/>
            </a:avLst>
          </a:prstGeom>
          <a:solidFill>
            <a:srgbClr val="E8F2E2"/>
          </a:solidFill>
          <a:ln w="12700">
            <a:solidFill>
              <a:srgbClr val="E8F2E2"/>
            </a:solidFill>
            <a:prstDash val="solid"/>
          </a:ln>
        </p:spPr>
      </p:sp>
      <p:pic>
        <p:nvPicPr>
          <p:cNvPr id="46" name="Image 4" descr="preencoded.png">    </p:cNvPr>
          <p:cNvPicPr>
            <a:picLocks noChangeAspect="1"/>
          </p:cNvPicPr>
          <p:nvPr/>
        </p:nvPicPr>
        <p:blipFill>
          <a:blip r:embed="rId5"/>
          <a:stretch>
            <a:fillRect/>
          </a:stretch>
        </p:blipFill>
        <p:spPr>
          <a:xfrm>
            <a:off x="7054596" y="3945636"/>
            <a:ext cx="210312" cy="210312"/>
          </a:xfrm>
          <a:prstGeom prst="rect">
            <a:avLst/>
          </a:prstGeom>
        </p:spPr>
      </p:pic>
      <p:sp>
        <p:nvSpPr>
          <p:cNvPr id="47" name="Text 40"/>
          <p:cNvSpPr txBox="1"/>
          <p:nvPr/>
        </p:nvSpPr>
        <p:spPr>
          <a:xfrm>
            <a:off x="7516368" y="3822192"/>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Otentikasi vs Otorisasi</a:t>
            </a:r>
            <a:endParaRPr lang="en-US" sz="1200" dirty="0"/>
          </a:p>
        </p:txBody>
      </p:sp>
      <p:sp>
        <p:nvSpPr>
          <p:cNvPr id="48" name="Text 41"/>
          <p:cNvSpPr txBox="1"/>
          <p:nvPr/>
        </p:nvSpPr>
        <p:spPr>
          <a:xfrm>
            <a:off x="7516368" y="4078224"/>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Otentikasi memastikan siapa Anda; otorisasi menentukan apa yang boleh Anda lakukan.</a:t>
            </a:r>
            <a:endParaRPr lang="en-US" sz="960" dirty="0"/>
          </a:p>
        </p:txBody>
      </p:sp>
      <p:sp>
        <p:nvSpPr>
          <p:cNvPr id="49" name="Shape 42"/>
          <p:cNvSpPr/>
          <p:nvPr/>
        </p:nvSpPr>
        <p:spPr>
          <a:xfrm>
            <a:off x="6949440" y="4553712"/>
            <a:ext cx="420624" cy="420624"/>
          </a:xfrm>
          <a:prstGeom prst="roundRect">
            <a:avLst>
              <a:gd name="adj" fmla="val 26087"/>
            </a:avLst>
          </a:prstGeom>
          <a:solidFill>
            <a:srgbClr val="E8F2E2"/>
          </a:solidFill>
          <a:ln w="12700">
            <a:solidFill>
              <a:srgbClr val="E8F2E2"/>
            </a:solidFill>
            <a:prstDash val="solid"/>
          </a:ln>
        </p:spPr>
      </p:sp>
      <p:pic>
        <p:nvPicPr>
          <p:cNvPr id="50" name="Image 5" descr="preencoded.png">    </p:cNvPr>
          <p:cNvPicPr>
            <a:picLocks noChangeAspect="1"/>
          </p:cNvPicPr>
          <p:nvPr/>
        </p:nvPicPr>
        <p:blipFill>
          <a:blip r:embed="rId6"/>
          <a:stretch>
            <a:fillRect/>
          </a:stretch>
        </p:blipFill>
        <p:spPr>
          <a:xfrm>
            <a:off x="7054596" y="4658868"/>
            <a:ext cx="210312" cy="210312"/>
          </a:xfrm>
          <a:prstGeom prst="rect">
            <a:avLst/>
          </a:prstGeom>
        </p:spPr>
      </p:pic>
      <p:sp>
        <p:nvSpPr>
          <p:cNvPr id="51" name="Text 43"/>
          <p:cNvSpPr txBox="1"/>
          <p:nvPr/>
        </p:nvSpPr>
        <p:spPr>
          <a:xfrm>
            <a:off x="7516368" y="4535424"/>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Periksa di Sisi Server</a:t>
            </a:r>
            <a:endParaRPr lang="en-US" sz="1200" dirty="0"/>
          </a:p>
        </p:txBody>
      </p:sp>
      <p:sp>
        <p:nvSpPr>
          <p:cNvPr id="52" name="Text 44"/>
          <p:cNvSpPr txBox="1"/>
          <p:nvPr/>
        </p:nvSpPr>
        <p:spPr>
          <a:xfrm>
            <a:off x="7516368" y="4791456"/>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Menyembunyikan tombol di antarmuka bukan pengamanan. Validasi hak akses wajib di server.</a:t>
            </a:r>
            <a:endParaRPr lang="en-US" sz="960" dirty="0"/>
          </a:p>
        </p:txBody>
      </p:sp>
      <p:sp>
        <p:nvSpPr>
          <p:cNvPr id="53" name="Shape 45"/>
          <p:cNvSpPr/>
          <p:nvPr/>
        </p:nvSpPr>
        <p:spPr>
          <a:xfrm>
            <a:off x="6949440" y="5266944"/>
            <a:ext cx="420624" cy="420624"/>
          </a:xfrm>
          <a:prstGeom prst="roundRect">
            <a:avLst>
              <a:gd name="adj" fmla="val 26087"/>
            </a:avLst>
          </a:prstGeom>
          <a:solidFill>
            <a:srgbClr val="E8F2E2"/>
          </a:solidFill>
          <a:ln w="12700">
            <a:solidFill>
              <a:srgbClr val="E8F2E2"/>
            </a:solidFill>
            <a:prstDash val="solid"/>
          </a:ln>
        </p:spPr>
      </p:sp>
      <p:pic>
        <p:nvPicPr>
          <p:cNvPr id="54" name="Image 6" descr="preencoded.png">    </p:cNvPr>
          <p:cNvPicPr>
            <a:picLocks noChangeAspect="1"/>
          </p:cNvPicPr>
          <p:nvPr/>
        </p:nvPicPr>
        <p:blipFill>
          <a:blip r:embed="rId7"/>
          <a:stretch>
            <a:fillRect/>
          </a:stretch>
        </p:blipFill>
        <p:spPr>
          <a:xfrm>
            <a:off x="7054596" y="5372100"/>
            <a:ext cx="210312" cy="210312"/>
          </a:xfrm>
          <a:prstGeom prst="rect">
            <a:avLst/>
          </a:prstGeom>
        </p:spPr>
      </p:pic>
      <p:sp>
        <p:nvSpPr>
          <p:cNvPr id="55" name="Text 46"/>
          <p:cNvSpPr txBox="1"/>
          <p:nvPr/>
        </p:nvSpPr>
        <p:spPr>
          <a:xfrm>
            <a:off x="7516368" y="524865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Rahasia yang Kuat</a:t>
            </a:r>
            <a:endParaRPr lang="en-US" sz="1200" dirty="0"/>
          </a:p>
        </p:txBody>
      </p:sp>
      <p:sp>
        <p:nvSpPr>
          <p:cNvPr id="56" name="Text 47"/>
          <p:cNvSpPr txBox="1"/>
          <p:nvPr/>
        </p:nvSpPr>
        <p:spPr>
          <a:xfrm>
            <a:off x="7516368" y="5504688"/>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JWT_SECRET harus panjang, acak, dan berbeda untuk setiap lingkungan.</a:t>
            </a:r>
            <a:endParaRPr lang="en-US" sz="960" dirty="0"/>
          </a:p>
        </p:txBody>
      </p:sp>
      <p:sp>
        <p:nvSpPr>
          <p:cNvPr id="57" name="Text 48"/>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8" name="Text 49"/>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Komunikasi Real-Time: WebSocket</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Ketika permintaan-respons biasa tidak lagi mencukupi</a:t>
            </a:r>
            <a:endParaRPr lang="en-US" sz="1300" dirty="0"/>
          </a:p>
        </p:txBody>
      </p:sp>
      <p:sp>
        <p:nvSpPr>
          <p:cNvPr id="6" name="Shape 3"/>
          <p:cNvSpPr/>
          <p:nvPr/>
        </p:nvSpPr>
        <p:spPr>
          <a:xfrm>
            <a:off x="640080" y="1627632"/>
            <a:ext cx="5349240" cy="3200400"/>
          </a:xfrm>
          <a:prstGeom prst="roundRect">
            <a:avLst>
              <a:gd name="adj" fmla="val 257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75488" cy="475488"/>
          </a:xfrm>
          <a:prstGeom prst="roundRect">
            <a:avLst>
              <a:gd name="adj" fmla="val 25000"/>
            </a:avLst>
          </a:prstGeom>
          <a:solidFill>
            <a:srgbClr val="5A6B5D"/>
          </a:solidFill>
          <a:ln w="12700">
            <a:solidFill>
              <a:srgbClr val="5A6B5D"/>
            </a:solidFill>
            <a:prstDash val="solid"/>
          </a:ln>
        </p:spPr>
      </p:sp>
      <p:pic>
        <p:nvPicPr>
          <p:cNvPr id="8" name="Image 1" descr="preencoded.png">    </p:cNvPr>
          <p:cNvPicPr>
            <a:picLocks noChangeAspect="1"/>
          </p:cNvPicPr>
          <p:nvPr/>
        </p:nvPicPr>
        <p:blipFill>
          <a:blip r:embed="rId2"/>
          <a:stretch>
            <a:fillRect/>
          </a:stretch>
        </p:blipFill>
        <p:spPr>
          <a:xfrm>
            <a:off x="1014984" y="1947672"/>
            <a:ext cx="237744" cy="237744"/>
          </a:xfrm>
          <a:prstGeom prst="rect">
            <a:avLst/>
          </a:prstGeom>
        </p:spPr>
      </p:pic>
      <p:sp>
        <p:nvSpPr>
          <p:cNvPr id="9" name="Text 5"/>
          <p:cNvSpPr txBox="1"/>
          <p:nvPr/>
        </p:nvSpPr>
        <p:spPr>
          <a:xfrm>
            <a:off x="1517904" y="1828800"/>
            <a:ext cx="4206240" cy="475488"/>
          </a:xfrm>
          <a:prstGeom prst="rect">
            <a:avLst/>
          </a:prstGeom>
          <a:noFill/>
          <a:ln/>
        </p:spPr>
        <p:txBody>
          <a:bodyPr wrap="square" lIns="0" tIns="0" rIns="0" bIns="0" rtlCol="0" anchor="ctr"/>
          <a:lstStyle/>
          <a:p>
            <a:pPr indent="0" marL="0">
              <a:buNone/>
            </a:pPr>
            <a:r>
              <a:rPr lang="en-US" sz="1450" b="1" dirty="0">
                <a:solidFill>
                  <a:srgbClr val="16241B"/>
                </a:solidFill>
                <a:latin typeface="Arial" pitchFamily="34" charset="0"/>
                <a:ea typeface="Arial" pitchFamily="34" charset="-122"/>
                <a:cs typeface="Arial" pitchFamily="34" charset="-120"/>
              </a:rPr>
              <a:t>HTTP — Permintaan &amp; Respons</a:t>
            </a:r>
            <a:endParaRPr lang="en-US" sz="1450" dirty="0"/>
          </a:p>
        </p:txBody>
      </p:sp>
      <p:sp>
        <p:nvSpPr>
          <p:cNvPr id="10" name="Text 6"/>
          <p:cNvSpPr txBox="1"/>
          <p:nvPr/>
        </p:nvSpPr>
        <p:spPr>
          <a:xfrm>
            <a:off x="896112" y="2487168"/>
            <a:ext cx="1783080" cy="420624"/>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Arah komunikasi</a:t>
            </a:r>
            <a:endParaRPr lang="en-US" sz="1050" dirty="0"/>
          </a:p>
        </p:txBody>
      </p:sp>
      <p:sp>
        <p:nvSpPr>
          <p:cNvPr id="11" name="Text 7"/>
          <p:cNvSpPr txBox="1"/>
          <p:nvPr/>
        </p:nvSpPr>
        <p:spPr>
          <a:xfrm>
            <a:off x="2706624" y="2487168"/>
            <a:ext cx="3017520" cy="42062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Selalu dimulai oleh klien</a:t>
            </a:r>
            <a:endParaRPr lang="en-US" sz="1080" dirty="0"/>
          </a:p>
        </p:txBody>
      </p:sp>
      <p:sp>
        <p:nvSpPr>
          <p:cNvPr id="12" name="Text 8"/>
          <p:cNvSpPr txBox="1"/>
          <p:nvPr/>
        </p:nvSpPr>
        <p:spPr>
          <a:xfrm>
            <a:off x="896112" y="2944368"/>
            <a:ext cx="1783080" cy="420624"/>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Koneksi</a:t>
            </a:r>
            <a:endParaRPr lang="en-US" sz="1050" dirty="0"/>
          </a:p>
        </p:txBody>
      </p:sp>
      <p:sp>
        <p:nvSpPr>
          <p:cNvPr id="13" name="Text 9"/>
          <p:cNvSpPr txBox="1"/>
          <p:nvPr/>
        </p:nvSpPr>
        <p:spPr>
          <a:xfrm>
            <a:off x="2706624" y="2944368"/>
            <a:ext cx="3017520" cy="42062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Dibuka lalu ditutup tiap kali</a:t>
            </a:r>
            <a:endParaRPr lang="en-US" sz="1080" dirty="0"/>
          </a:p>
        </p:txBody>
      </p:sp>
      <p:sp>
        <p:nvSpPr>
          <p:cNvPr id="14" name="Text 10"/>
          <p:cNvSpPr txBox="1"/>
          <p:nvPr/>
        </p:nvSpPr>
        <p:spPr>
          <a:xfrm>
            <a:off x="896112" y="3401568"/>
            <a:ext cx="1783080" cy="420624"/>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Beban header</a:t>
            </a:r>
            <a:endParaRPr lang="en-US" sz="1050" dirty="0"/>
          </a:p>
        </p:txBody>
      </p:sp>
      <p:sp>
        <p:nvSpPr>
          <p:cNvPr id="15" name="Text 11"/>
          <p:cNvSpPr txBox="1"/>
          <p:nvPr/>
        </p:nvSpPr>
        <p:spPr>
          <a:xfrm>
            <a:off x="2706624" y="3401568"/>
            <a:ext cx="3017520" cy="42062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Dikirim ulang setiap permintaan</a:t>
            </a:r>
            <a:endParaRPr lang="en-US" sz="1080" dirty="0"/>
          </a:p>
        </p:txBody>
      </p:sp>
      <p:sp>
        <p:nvSpPr>
          <p:cNvPr id="16" name="Text 12"/>
          <p:cNvSpPr txBox="1"/>
          <p:nvPr/>
        </p:nvSpPr>
        <p:spPr>
          <a:xfrm>
            <a:off x="896112" y="3858768"/>
            <a:ext cx="1783080" cy="420624"/>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Data baru</a:t>
            </a:r>
            <a:endParaRPr lang="en-US" sz="1050" dirty="0"/>
          </a:p>
        </p:txBody>
      </p:sp>
      <p:sp>
        <p:nvSpPr>
          <p:cNvPr id="17" name="Text 13"/>
          <p:cNvSpPr txBox="1"/>
          <p:nvPr/>
        </p:nvSpPr>
        <p:spPr>
          <a:xfrm>
            <a:off x="2706624" y="3858768"/>
            <a:ext cx="3017520" cy="42062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Klien harus bertanya berulang</a:t>
            </a:r>
            <a:endParaRPr lang="en-US" sz="1080" dirty="0"/>
          </a:p>
        </p:txBody>
      </p:sp>
      <p:sp>
        <p:nvSpPr>
          <p:cNvPr id="18" name="Text 14"/>
          <p:cNvSpPr txBox="1"/>
          <p:nvPr/>
        </p:nvSpPr>
        <p:spPr>
          <a:xfrm>
            <a:off x="896112" y="4315968"/>
            <a:ext cx="1783080" cy="420624"/>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Cocok untuk</a:t>
            </a:r>
            <a:endParaRPr lang="en-US" sz="1050" dirty="0"/>
          </a:p>
        </p:txBody>
      </p:sp>
      <p:sp>
        <p:nvSpPr>
          <p:cNvPr id="19" name="Text 15"/>
          <p:cNvSpPr txBox="1"/>
          <p:nvPr/>
        </p:nvSpPr>
        <p:spPr>
          <a:xfrm>
            <a:off x="2706624" y="4315968"/>
            <a:ext cx="3017520" cy="42062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REST API dan halaman web</a:t>
            </a:r>
            <a:endParaRPr lang="en-US" sz="1080" dirty="0"/>
          </a:p>
        </p:txBody>
      </p:sp>
      <p:sp>
        <p:nvSpPr>
          <p:cNvPr id="20" name="Shape 16"/>
          <p:cNvSpPr/>
          <p:nvPr/>
        </p:nvSpPr>
        <p:spPr>
          <a:xfrm>
            <a:off x="6263640" y="1627632"/>
            <a:ext cx="5349240" cy="3200400"/>
          </a:xfrm>
          <a:prstGeom prst="roundRect">
            <a:avLst>
              <a:gd name="adj" fmla="val 257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1" name="Shape 17"/>
          <p:cNvSpPr/>
          <p:nvPr/>
        </p:nvSpPr>
        <p:spPr>
          <a:xfrm>
            <a:off x="6519672" y="1828800"/>
            <a:ext cx="475488" cy="475488"/>
          </a:xfrm>
          <a:prstGeom prst="roundRect">
            <a:avLst>
              <a:gd name="adj" fmla="val 25000"/>
            </a:avLst>
          </a:prstGeom>
          <a:solidFill>
            <a:srgbClr val="3C873A"/>
          </a:solidFill>
          <a:ln w="12700">
            <a:solidFill>
              <a:srgbClr val="3C873A"/>
            </a:solidFill>
            <a:prstDash val="solid"/>
          </a:ln>
        </p:spPr>
      </p:sp>
      <p:pic>
        <p:nvPicPr>
          <p:cNvPr id="22" name="Image 2" descr="preencoded.png">    </p:cNvPr>
          <p:cNvPicPr>
            <a:picLocks noChangeAspect="1"/>
          </p:cNvPicPr>
          <p:nvPr/>
        </p:nvPicPr>
        <p:blipFill>
          <a:blip r:embed="rId3"/>
          <a:stretch>
            <a:fillRect/>
          </a:stretch>
        </p:blipFill>
        <p:spPr>
          <a:xfrm>
            <a:off x="6638544" y="1947672"/>
            <a:ext cx="237744" cy="237744"/>
          </a:xfrm>
          <a:prstGeom prst="rect">
            <a:avLst/>
          </a:prstGeom>
        </p:spPr>
      </p:pic>
      <p:sp>
        <p:nvSpPr>
          <p:cNvPr id="23" name="Text 18"/>
          <p:cNvSpPr txBox="1"/>
          <p:nvPr/>
        </p:nvSpPr>
        <p:spPr>
          <a:xfrm>
            <a:off x="7141464" y="1828800"/>
            <a:ext cx="4206240" cy="475488"/>
          </a:xfrm>
          <a:prstGeom prst="rect">
            <a:avLst/>
          </a:prstGeom>
          <a:noFill/>
          <a:ln/>
        </p:spPr>
        <p:txBody>
          <a:bodyPr wrap="square" lIns="0" tIns="0" rIns="0" bIns="0" rtlCol="0" anchor="ctr"/>
          <a:lstStyle/>
          <a:p>
            <a:pPr indent="0" marL="0">
              <a:buNone/>
            </a:pPr>
            <a:r>
              <a:rPr lang="en-US" sz="1450" b="1" dirty="0">
                <a:solidFill>
                  <a:srgbClr val="16241B"/>
                </a:solidFill>
                <a:latin typeface="Arial" pitchFamily="34" charset="0"/>
                <a:ea typeface="Arial" pitchFamily="34" charset="-122"/>
                <a:cs typeface="Arial" pitchFamily="34" charset="-120"/>
              </a:rPr>
              <a:t>WebSocket — Dua Arah</a:t>
            </a:r>
            <a:endParaRPr lang="en-US" sz="1450" dirty="0"/>
          </a:p>
        </p:txBody>
      </p:sp>
      <p:sp>
        <p:nvSpPr>
          <p:cNvPr id="24" name="Text 19"/>
          <p:cNvSpPr txBox="1"/>
          <p:nvPr/>
        </p:nvSpPr>
        <p:spPr>
          <a:xfrm>
            <a:off x="6519672" y="2487168"/>
            <a:ext cx="1783080" cy="420624"/>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Arah komunikasi</a:t>
            </a:r>
            <a:endParaRPr lang="en-US" sz="1050" dirty="0"/>
          </a:p>
        </p:txBody>
      </p:sp>
      <p:sp>
        <p:nvSpPr>
          <p:cNvPr id="25" name="Text 20"/>
          <p:cNvSpPr txBox="1"/>
          <p:nvPr/>
        </p:nvSpPr>
        <p:spPr>
          <a:xfrm>
            <a:off x="8330184" y="2487168"/>
            <a:ext cx="3017520" cy="42062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Klien dan server sama-sama aktif</a:t>
            </a:r>
            <a:endParaRPr lang="en-US" sz="1080" dirty="0"/>
          </a:p>
        </p:txBody>
      </p:sp>
      <p:sp>
        <p:nvSpPr>
          <p:cNvPr id="26" name="Text 21"/>
          <p:cNvSpPr txBox="1"/>
          <p:nvPr/>
        </p:nvSpPr>
        <p:spPr>
          <a:xfrm>
            <a:off x="6519672" y="2944368"/>
            <a:ext cx="1783080" cy="420624"/>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Koneksi</a:t>
            </a:r>
            <a:endParaRPr lang="en-US" sz="1050" dirty="0"/>
          </a:p>
        </p:txBody>
      </p:sp>
      <p:sp>
        <p:nvSpPr>
          <p:cNvPr id="27" name="Text 22"/>
          <p:cNvSpPr txBox="1"/>
          <p:nvPr/>
        </p:nvSpPr>
        <p:spPr>
          <a:xfrm>
            <a:off x="8330184" y="2944368"/>
            <a:ext cx="3017520" cy="42062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Satu koneksi tetap terbuka</a:t>
            </a:r>
            <a:endParaRPr lang="en-US" sz="1080" dirty="0"/>
          </a:p>
        </p:txBody>
      </p:sp>
      <p:sp>
        <p:nvSpPr>
          <p:cNvPr id="28" name="Text 23"/>
          <p:cNvSpPr txBox="1"/>
          <p:nvPr/>
        </p:nvSpPr>
        <p:spPr>
          <a:xfrm>
            <a:off x="6519672" y="3401568"/>
            <a:ext cx="1783080" cy="420624"/>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Beban header</a:t>
            </a:r>
            <a:endParaRPr lang="en-US" sz="1050" dirty="0"/>
          </a:p>
        </p:txBody>
      </p:sp>
      <p:sp>
        <p:nvSpPr>
          <p:cNvPr id="29" name="Text 24"/>
          <p:cNvSpPr txBox="1"/>
          <p:nvPr/>
        </p:nvSpPr>
        <p:spPr>
          <a:xfrm>
            <a:off x="8330184" y="3401568"/>
            <a:ext cx="3017520" cy="42062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Hanya sekali saat jabat tangan</a:t>
            </a:r>
            <a:endParaRPr lang="en-US" sz="1080" dirty="0"/>
          </a:p>
        </p:txBody>
      </p:sp>
      <p:sp>
        <p:nvSpPr>
          <p:cNvPr id="30" name="Text 25"/>
          <p:cNvSpPr txBox="1"/>
          <p:nvPr/>
        </p:nvSpPr>
        <p:spPr>
          <a:xfrm>
            <a:off x="6519672" y="3858768"/>
            <a:ext cx="1783080" cy="420624"/>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Data baru</a:t>
            </a:r>
            <a:endParaRPr lang="en-US" sz="1050" dirty="0"/>
          </a:p>
        </p:txBody>
      </p:sp>
      <p:sp>
        <p:nvSpPr>
          <p:cNvPr id="31" name="Text 26"/>
          <p:cNvSpPr txBox="1"/>
          <p:nvPr/>
        </p:nvSpPr>
        <p:spPr>
          <a:xfrm>
            <a:off x="8330184" y="3858768"/>
            <a:ext cx="3017520" cy="42062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Server langsung mendorong data</a:t>
            </a:r>
            <a:endParaRPr lang="en-US" sz="1080" dirty="0"/>
          </a:p>
        </p:txBody>
      </p:sp>
      <p:sp>
        <p:nvSpPr>
          <p:cNvPr id="32" name="Text 27"/>
          <p:cNvSpPr txBox="1"/>
          <p:nvPr/>
        </p:nvSpPr>
        <p:spPr>
          <a:xfrm>
            <a:off x="6519672" y="4315968"/>
            <a:ext cx="1783080" cy="420624"/>
          </a:xfrm>
          <a:prstGeom prst="rect">
            <a:avLst/>
          </a:prstGeom>
          <a:noFill/>
          <a:ln/>
        </p:spPr>
        <p:txBody>
          <a:bodyPr wrap="square" lIns="0" tIns="0" rIns="0" bIns="0" rtlCol="0" anchor="ctr"/>
          <a:lstStyle/>
          <a:p>
            <a:pPr indent="0" marL="0">
              <a:buNone/>
            </a:pPr>
            <a:r>
              <a:rPr lang="en-US" sz="1050" dirty="0">
                <a:solidFill>
                  <a:srgbClr val="5F6F62"/>
                </a:solidFill>
                <a:latin typeface="Calibri" pitchFamily="34" charset="0"/>
                <a:ea typeface="Calibri" pitchFamily="34" charset="-122"/>
                <a:cs typeface="Calibri" pitchFamily="34" charset="-120"/>
              </a:rPr>
              <a:t>Cocok untuk</a:t>
            </a:r>
            <a:endParaRPr lang="en-US" sz="1050" dirty="0"/>
          </a:p>
        </p:txBody>
      </p:sp>
      <p:sp>
        <p:nvSpPr>
          <p:cNvPr id="33" name="Text 28"/>
          <p:cNvSpPr txBox="1"/>
          <p:nvPr/>
        </p:nvSpPr>
        <p:spPr>
          <a:xfrm>
            <a:off x="8330184" y="4315968"/>
            <a:ext cx="3017520" cy="420624"/>
          </a:xfrm>
          <a:prstGeom prst="rect">
            <a:avLst/>
          </a:prstGeom>
          <a:noFill/>
          <a:ln/>
        </p:spPr>
        <p:txBody>
          <a:bodyPr wrap="square" lIns="0" tIns="0" rIns="0" bIns="0" rtlCol="0" anchor="ctr"/>
          <a:lstStyle/>
          <a:p>
            <a:pPr indent="0" marL="0">
              <a:buNone/>
            </a:pPr>
            <a:r>
              <a:rPr lang="en-US" sz="1080" b="1" dirty="0">
                <a:solidFill>
                  <a:srgbClr val="16241B"/>
                </a:solidFill>
                <a:latin typeface="Calibri" pitchFamily="34" charset="0"/>
                <a:ea typeface="Calibri" pitchFamily="34" charset="-122"/>
                <a:cs typeface="Calibri" pitchFamily="34" charset="-120"/>
              </a:rPr>
              <a:t>Obrolan, notifikasi, papan langsung</a:t>
            </a:r>
            <a:endParaRPr lang="en-US" sz="1080" dirty="0"/>
          </a:p>
        </p:txBody>
      </p:sp>
      <p:sp>
        <p:nvSpPr>
          <p:cNvPr id="34" name="Shape 29"/>
          <p:cNvSpPr/>
          <p:nvPr/>
        </p:nvSpPr>
        <p:spPr>
          <a:xfrm>
            <a:off x="640080" y="4956048"/>
            <a:ext cx="3520440" cy="1161288"/>
          </a:xfrm>
          <a:prstGeom prst="roundRect">
            <a:avLst>
              <a:gd name="adj" fmla="val 708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5" name="Shape 30"/>
          <p:cNvSpPr/>
          <p:nvPr/>
        </p:nvSpPr>
        <p:spPr>
          <a:xfrm>
            <a:off x="896112" y="5175504"/>
            <a:ext cx="457200" cy="457200"/>
          </a:xfrm>
          <a:prstGeom prst="roundRect">
            <a:avLst>
              <a:gd name="adj" fmla="val 26000"/>
            </a:avLst>
          </a:prstGeom>
          <a:solidFill>
            <a:srgbClr val="E8F2E2"/>
          </a:solidFill>
          <a:ln w="12700">
            <a:solidFill>
              <a:srgbClr val="E8F2E2"/>
            </a:solidFill>
            <a:prstDash val="solid"/>
          </a:ln>
        </p:spPr>
      </p:sp>
      <p:pic>
        <p:nvPicPr>
          <p:cNvPr id="36" name="Image 3" descr="preencoded.png">    </p:cNvPr>
          <p:cNvPicPr>
            <a:picLocks noChangeAspect="1"/>
          </p:cNvPicPr>
          <p:nvPr/>
        </p:nvPicPr>
        <p:blipFill>
          <a:blip r:embed="rId4"/>
          <a:stretch>
            <a:fillRect/>
          </a:stretch>
        </p:blipFill>
        <p:spPr>
          <a:xfrm>
            <a:off x="1010412" y="5289804"/>
            <a:ext cx="228600" cy="228600"/>
          </a:xfrm>
          <a:prstGeom prst="rect">
            <a:avLst/>
          </a:prstGeom>
        </p:spPr>
      </p:pic>
      <p:sp>
        <p:nvSpPr>
          <p:cNvPr id="37" name="Text 31"/>
          <p:cNvSpPr txBox="1"/>
          <p:nvPr/>
        </p:nvSpPr>
        <p:spPr>
          <a:xfrm>
            <a:off x="1499616" y="51755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Obrolan &amp; Kolaborasi</a:t>
            </a:r>
            <a:endParaRPr lang="en-US" sz="1250" dirty="0"/>
          </a:p>
        </p:txBody>
      </p:sp>
      <p:sp>
        <p:nvSpPr>
          <p:cNvPr id="38" name="Text 32"/>
          <p:cNvSpPr txBox="1"/>
          <p:nvPr/>
        </p:nvSpPr>
        <p:spPr>
          <a:xfrm>
            <a:off x="896112" y="5742432"/>
            <a:ext cx="3008376" cy="21031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Pesan instan, komentar langsung, dan dokumen yang disunting bersama.</a:t>
            </a:r>
            <a:endParaRPr lang="en-US" sz="1020" dirty="0"/>
          </a:p>
        </p:txBody>
      </p:sp>
      <p:sp>
        <p:nvSpPr>
          <p:cNvPr id="39" name="Shape 33"/>
          <p:cNvSpPr/>
          <p:nvPr/>
        </p:nvSpPr>
        <p:spPr>
          <a:xfrm>
            <a:off x="4443984" y="4956048"/>
            <a:ext cx="3520440" cy="1161288"/>
          </a:xfrm>
          <a:prstGeom prst="roundRect">
            <a:avLst>
              <a:gd name="adj" fmla="val 708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0" name="Shape 34"/>
          <p:cNvSpPr/>
          <p:nvPr/>
        </p:nvSpPr>
        <p:spPr>
          <a:xfrm>
            <a:off x="4700016" y="5175504"/>
            <a:ext cx="457200" cy="457200"/>
          </a:xfrm>
          <a:prstGeom prst="roundRect">
            <a:avLst>
              <a:gd name="adj" fmla="val 26000"/>
            </a:avLst>
          </a:prstGeom>
          <a:solidFill>
            <a:srgbClr val="E8F2E2"/>
          </a:solidFill>
          <a:ln w="12700">
            <a:solidFill>
              <a:srgbClr val="E8F2E2"/>
            </a:solidFill>
            <a:prstDash val="solid"/>
          </a:ln>
        </p:spPr>
      </p:sp>
      <p:pic>
        <p:nvPicPr>
          <p:cNvPr id="41" name="Image 4" descr="preencoded.png">    </p:cNvPr>
          <p:cNvPicPr>
            <a:picLocks noChangeAspect="1"/>
          </p:cNvPicPr>
          <p:nvPr/>
        </p:nvPicPr>
        <p:blipFill>
          <a:blip r:embed="rId5"/>
          <a:stretch>
            <a:fillRect/>
          </a:stretch>
        </p:blipFill>
        <p:spPr>
          <a:xfrm>
            <a:off x="4814316" y="5289804"/>
            <a:ext cx="228600" cy="228600"/>
          </a:xfrm>
          <a:prstGeom prst="rect">
            <a:avLst/>
          </a:prstGeom>
        </p:spPr>
      </p:pic>
      <p:sp>
        <p:nvSpPr>
          <p:cNvPr id="42" name="Text 35"/>
          <p:cNvSpPr txBox="1"/>
          <p:nvPr/>
        </p:nvSpPr>
        <p:spPr>
          <a:xfrm>
            <a:off x="5303520" y="51755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Notifikasi Langsung</a:t>
            </a:r>
            <a:endParaRPr lang="en-US" sz="1250" dirty="0"/>
          </a:p>
        </p:txBody>
      </p:sp>
      <p:sp>
        <p:nvSpPr>
          <p:cNvPr id="43" name="Text 36"/>
          <p:cNvSpPr txBox="1"/>
          <p:nvPr/>
        </p:nvSpPr>
        <p:spPr>
          <a:xfrm>
            <a:off x="4700016" y="5742432"/>
            <a:ext cx="3008376" cy="21031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Pemberitahuan pesanan, peringatan sistem, dan pembaruan status.</a:t>
            </a:r>
            <a:endParaRPr lang="en-US" sz="1020" dirty="0"/>
          </a:p>
        </p:txBody>
      </p:sp>
      <p:sp>
        <p:nvSpPr>
          <p:cNvPr id="44" name="Shape 37"/>
          <p:cNvSpPr/>
          <p:nvPr/>
        </p:nvSpPr>
        <p:spPr>
          <a:xfrm>
            <a:off x="8247888" y="4956048"/>
            <a:ext cx="3520440" cy="1161288"/>
          </a:xfrm>
          <a:prstGeom prst="roundRect">
            <a:avLst>
              <a:gd name="adj" fmla="val 708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5" name="Shape 38"/>
          <p:cNvSpPr/>
          <p:nvPr/>
        </p:nvSpPr>
        <p:spPr>
          <a:xfrm>
            <a:off x="8503920" y="5175504"/>
            <a:ext cx="457200" cy="457200"/>
          </a:xfrm>
          <a:prstGeom prst="roundRect">
            <a:avLst>
              <a:gd name="adj" fmla="val 26000"/>
            </a:avLst>
          </a:prstGeom>
          <a:solidFill>
            <a:srgbClr val="E8F2E2"/>
          </a:solidFill>
          <a:ln w="12700">
            <a:solidFill>
              <a:srgbClr val="E8F2E2"/>
            </a:solidFill>
            <a:prstDash val="solid"/>
          </a:ln>
        </p:spPr>
      </p:sp>
      <p:pic>
        <p:nvPicPr>
          <p:cNvPr id="46" name="Image 5" descr="preencoded.png">    </p:cNvPr>
          <p:cNvPicPr>
            <a:picLocks noChangeAspect="1"/>
          </p:cNvPicPr>
          <p:nvPr/>
        </p:nvPicPr>
        <p:blipFill>
          <a:blip r:embed="rId6"/>
          <a:stretch>
            <a:fillRect/>
          </a:stretch>
        </p:blipFill>
        <p:spPr>
          <a:xfrm>
            <a:off x="8618220" y="5289804"/>
            <a:ext cx="228600" cy="228600"/>
          </a:xfrm>
          <a:prstGeom prst="rect">
            <a:avLst/>
          </a:prstGeom>
        </p:spPr>
      </p:pic>
      <p:sp>
        <p:nvSpPr>
          <p:cNvPr id="47" name="Text 39"/>
          <p:cNvSpPr txBox="1"/>
          <p:nvPr/>
        </p:nvSpPr>
        <p:spPr>
          <a:xfrm>
            <a:off x="9107424" y="51755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Papan Data Langsung</a:t>
            </a:r>
            <a:endParaRPr lang="en-US" sz="1250" dirty="0"/>
          </a:p>
        </p:txBody>
      </p:sp>
      <p:sp>
        <p:nvSpPr>
          <p:cNvPr id="48" name="Text 40"/>
          <p:cNvSpPr txBox="1"/>
          <p:nvPr/>
        </p:nvSpPr>
        <p:spPr>
          <a:xfrm>
            <a:off x="8503920" y="5742432"/>
            <a:ext cx="3008376" cy="21031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Harga saham, pemantauan sensor, skor pertandingan, dan analitik.</a:t>
            </a:r>
            <a:endParaRPr lang="en-US" sz="1020" dirty="0"/>
          </a:p>
        </p:txBody>
      </p:sp>
      <p:sp>
        <p:nvSpPr>
          <p:cNvPr id="49" name="Text 4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0" name="Text 4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010101"/>
          </a:solidFill>
          <a:ln w="12700">
            <a:solidFill>
              <a:srgbClr val="010101"/>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Socket.IO</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Pustaka real-time paling populer di ekosistem Node.js</a:t>
            </a:r>
            <a:endParaRPr lang="en-US" sz="1300" dirty="0"/>
          </a:p>
        </p:txBody>
      </p:sp>
      <p:sp>
        <p:nvSpPr>
          <p:cNvPr id="6" name="Shape 3"/>
          <p:cNvSpPr/>
          <p:nvPr/>
        </p:nvSpPr>
        <p:spPr>
          <a:xfrm>
            <a:off x="640080" y="1627632"/>
            <a:ext cx="6035040" cy="4210007"/>
          </a:xfrm>
          <a:prstGeom prst="roundRect">
            <a:avLst>
              <a:gd name="adj" fmla="val 1520"/>
            </a:avLst>
          </a:prstGeom>
          <a:solidFill>
            <a:srgbClr val="0E2417"/>
          </a:solidFill>
          <a:ln w="12700">
            <a:solidFill>
              <a:srgbClr val="234A31"/>
            </a:solidFill>
            <a:prstDash val="solid"/>
          </a:ln>
        </p:spPr>
      </p:sp>
      <p:sp>
        <p:nvSpPr>
          <p:cNvPr id="7" name="Text 4"/>
          <p:cNvSpPr txBox="1"/>
          <p:nvPr/>
        </p:nvSpPr>
        <p:spPr>
          <a:xfrm>
            <a:off x="859536" y="1719072"/>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SISI SERVER</a:t>
            </a:r>
            <a:endParaRPr lang="en-US" sz="950" dirty="0"/>
          </a:p>
        </p:txBody>
      </p:sp>
      <p:sp>
        <p:nvSpPr>
          <p:cNvPr id="8" name="Text 5"/>
          <p:cNvSpPr txBox="1"/>
          <p:nvPr/>
        </p:nvSpPr>
        <p:spPr>
          <a:xfrm>
            <a:off x="859536" y="2029968"/>
            <a:ext cx="5596128" cy="3697943"/>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http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'http'</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Server }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'socket.io'</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server = http.createServer(app);</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io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Server(server, { cors: { origin: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io.on(</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'connection'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(socket)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'Klien terhubung:'</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socket.id);</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Menerima peristiwa dari klien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socket.on(</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'pesan:kirim'</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(data)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Kirim ke semua klien termasuk pengirim</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io.emit(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'pesan:baru'</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data);</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socket.on(</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'disconnect'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'Klien terputus'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server.listen(</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3000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949440" y="1627632"/>
            <a:ext cx="4663440" cy="2097634"/>
          </a:xfrm>
          <a:prstGeom prst="roundRect">
            <a:avLst>
              <a:gd name="adj" fmla="val 3051"/>
            </a:avLst>
          </a:prstGeom>
          <a:solidFill>
            <a:srgbClr val="0E2417"/>
          </a:solidFill>
          <a:ln w="12700">
            <a:solidFill>
              <a:srgbClr val="234A31"/>
            </a:solidFill>
            <a:prstDash val="solid"/>
          </a:ln>
        </p:spPr>
      </p:sp>
      <p:sp>
        <p:nvSpPr>
          <p:cNvPr id="10" name="Text 7"/>
          <p:cNvSpPr txBox="1"/>
          <p:nvPr/>
        </p:nvSpPr>
        <p:spPr>
          <a:xfrm>
            <a:off x="7168896" y="1719072"/>
            <a:ext cx="42245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SISI KLIEN</a:t>
            </a:r>
            <a:endParaRPr lang="en-US" sz="950" dirty="0"/>
          </a:p>
        </p:txBody>
      </p:sp>
      <p:sp>
        <p:nvSpPr>
          <p:cNvPr id="11" name="Text 8"/>
          <p:cNvSpPr txBox="1"/>
          <p:nvPr/>
        </p:nvSpPr>
        <p:spPr>
          <a:xfrm>
            <a:off x="7168896" y="2029968"/>
            <a:ext cx="4224528" cy="1585570"/>
          </a:xfrm>
          <a:prstGeom prst="rect">
            <a:avLst/>
          </a:prstGeom>
          <a:noFill/>
          <a:ln/>
        </p:spPr>
        <p:txBody>
          <a:bodyPr wrap="square" lIns="0" tIns="0" rIns="0" bIns="0" rtlCol="0" anchor="t"/>
          <a:lstStyle/>
          <a:p>
            <a:pPr indent="0" marL="0">
              <a:lnSpc>
                <a:spcPct val="106000"/>
              </a:lnSpc>
              <a:buNone/>
            </a:pPr>
            <a:r>
              <a:rPr lang="en-US" sz="100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socket = io(</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'http://localhost:3000'</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socket.emit(</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'pesan:kirim'</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teks: </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'Halo semua'</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socket.on(</a:t>
            </a:r>
            <a:pPr indent="0" marL="0">
              <a:lnSpc>
                <a:spcPct val="106000"/>
              </a:lnSpc>
              <a:buNone/>
            </a:pPr>
            <a:r>
              <a:rPr lang="en-US" sz="1000" dirty="0">
                <a:solidFill>
                  <a:srgbClr val="E5C07B"/>
                </a:solidFill>
                <a:latin typeface="Courier New" pitchFamily="34" charset="0"/>
                <a:ea typeface="Courier New" pitchFamily="34" charset="-122"/>
                <a:cs typeface="Courier New" pitchFamily="34" charset="-120"/>
              </a:rPr>
              <a:t>'pesan:baru'</a:t>
            </a:r>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(data) =&gt; {</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  tampilkan(data.teks);</a:t>
            </a:r>
            <a:endParaRPr lang="en-US" sz="1000" dirty="0"/>
          </a:p>
          <a:p>
            <a:pPr indent="0" marL="0">
              <a:lnSpc>
                <a:spcPct val="106000"/>
              </a:lnSpc>
              <a:buNone/>
            </a:pPr>
            <a:r>
              <a:rPr lang="en-US" sz="1000" dirty="0">
                <a:solidFill>
                  <a:srgbClr val="DDE8DE"/>
                </a:solidFill>
                <a:latin typeface="Courier New" pitchFamily="34" charset="0"/>
                <a:ea typeface="Courier New" pitchFamily="34" charset="-122"/>
                <a:cs typeface="Courier New" pitchFamily="34" charset="-120"/>
              </a:rPr>
              <a:t>});</a:t>
            </a:r>
            <a:endParaRPr lang="en-US" sz="1000" dirty="0"/>
          </a:p>
        </p:txBody>
      </p:sp>
      <p:sp>
        <p:nvSpPr>
          <p:cNvPr id="12" name="Shape 9"/>
          <p:cNvSpPr/>
          <p:nvPr/>
        </p:nvSpPr>
        <p:spPr>
          <a:xfrm>
            <a:off x="6949440" y="3877056"/>
            <a:ext cx="420624" cy="420624"/>
          </a:xfrm>
          <a:prstGeom prst="roundRect">
            <a:avLst>
              <a:gd name="adj" fmla="val 26087"/>
            </a:avLst>
          </a:prstGeom>
          <a:solidFill>
            <a:srgbClr val="E8F2E2"/>
          </a:solidFill>
          <a:ln w="12700">
            <a:solidFill>
              <a:srgbClr val="E8F2E2"/>
            </a:solidFill>
            <a:prstDash val="solid"/>
          </a:ln>
        </p:spPr>
      </p:sp>
      <p:pic>
        <p:nvPicPr>
          <p:cNvPr id="13" name="Image 1" descr="preencoded.png">    </p:cNvPr>
          <p:cNvPicPr>
            <a:picLocks noChangeAspect="1"/>
          </p:cNvPicPr>
          <p:nvPr/>
        </p:nvPicPr>
        <p:blipFill>
          <a:blip r:embed="rId2"/>
          <a:stretch>
            <a:fillRect/>
          </a:stretch>
        </p:blipFill>
        <p:spPr>
          <a:xfrm>
            <a:off x="7054596" y="3982212"/>
            <a:ext cx="210312" cy="210312"/>
          </a:xfrm>
          <a:prstGeom prst="rect">
            <a:avLst/>
          </a:prstGeom>
        </p:spPr>
      </p:pic>
      <p:sp>
        <p:nvSpPr>
          <p:cNvPr id="14" name="Text 10"/>
          <p:cNvSpPr txBox="1"/>
          <p:nvPr/>
        </p:nvSpPr>
        <p:spPr>
          <a:xfrm>
            <a:off x="7516368" y="385876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Sambung Ulang Otomatis</a:t>
            </a:r>
            <a:endParaRPr lang="en-US" sz="1200" dirty="0"/>
          </a:p>
        </p:txBody>
      </p:sp>
      <p:sp>
        <p:nvSpPr>
          <p:cNvPr id="15" name="Text 11"/>
          <p:cNvSpPr txBox="1"/>
          <p:nvPr/>
        </p:nvSpPr>
        <p:spPr>
          <a:xfrm>
            <a:off x="7516368" y="4114800"/>
            <a:ext cx="40965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Koneksi yang terputus dipulihkan sendiri tanpa kode tambahan.</a:t>
            </a:r>
            <a:endParaRPr lang="en-US" sz="980" dirty="0"/>
          </a:p>
        </p:txBody>
      </p:sp>
      <p:sp>
        <p:nvSpPr>
          <p:cNvPr id="16" name="Shape 12"/>
          <p:cNvSpPr/>
          <p:nvPr/>
        </p:nvSpPr>
        <p:spPr>
          <a:xfrm>
            <a:off x="6949440" y="4590288"/>
            <a:ext cx="420624" cy="420624"/>
          </a:xfrm>
          <a:prstGeom prst="roundRect">
            <a:avLst>
              <a:gd name="adj" fmla="val 26087"/>
            </a:avLst>
          </a:prstGeom>
          <a:solidFill>
            <a:srgbClr val="E8F2E2"/>
          </a:solidFill>
          <a:ln w="12700">
            <a:solidFill>
              <a:srgbClr val="E8F2E2"/>
            </a:solidFill>
            <a:prstDash val="solid"/>
          </a:ln>
        </p:spPr>
      </p:sp>
      <p:pic>
        <p:nvPicPr>
          <p:cNvPr id="17" name="Image 2" descr="preencoded.png">    </p:cNvPr>
          <p:cNvPicPr>
            <a:picLocks noChangeAspect="1"/>
          </p:cNvPicPr>
          <p:nvPr/>
        </p:nvPicPr>
        <p:blipFill>
          <a:blip r:embed="rId3"/>
          <a:stretch>
            <a:fillRect/>
          </a:stretch>
        </p:blipFill>
        <p:spPr>
          <a:xfrm>
            <a:off x="7054596" y="4695444"/>
            <a:ext cx="210312" cy="210312"/>
          </a:xfrm>
          <a:prstGeom prst="rect">
            <a:avLst/>
          </a:prstGeom>
        </p:spPr>
      </p:pic>
      <p:sp>
        <p:nvSpPr>
          <p:cNvPr id="18" name="Text 13"/>
          <p:cNvSpPr txBox="1"/>
          <p:nvPr/>
        </p:nvSpPr>
        <p:spPr>
          <a:xfrm>
            <a:off x="7516368" y="457200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Cadangan Transport</a:t>
            </a:r>
            <a:endParaRPr lang="en-US" sz="1200" dirty="0"/>
          </a:p>
        </p:txBody>
      </p:sp>
      <p:sp>
        <p:nvSpPr>
          <p:cNvPr id="19" name="Text 14"/>
          <p:cNvSpPr txBox="1"/>
          <p:nvPr/>
        </p:nvSpPr>
        <p:spPr>
          <a:xfrm>
            <a:off x="7516368" y="4828032"/>
            <a:ext cx="40965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Beralih ke long polling bila WebSocket diblokir oleh jaringan.</a:t>
            </a:r>
            <a:endParaRPr lang="en-US" sz="980" dirty="0"/>
          </a:p>
        </p:txBody>
      </p:sp>
      <p:sp>
        <p:nvSpPr>
          <p:cNvPr id="20" name="Shape 15"/>
          <p:cNvSpPr/>
          <p:nvPr/>
        </p:nvSpPr>
        <p:spPr>
          <a:xfrm>
            <a:off x="6949440" y="5303520"/>
            <a:ext cx="420624" cy="420624"/>
          </a:xfrm>
          <a:prstGeom prst="roundRect">
            <a:avLst>
              <a:gd name="adj" fmla="val 26087"/>
            </a:avLst>
          </a:prstGeom>
          <a:solidFill>
            <a:srgbClr val="E8F2E2"/>
          </a:solidFill>
          <a:ln w="12700">
            <a:solidFill>
              <a:srgbClr val="E8F2E2"/>
            </a:solidFill>
            <a:prstDash val="solid"/>
          </a:ln>
        </p:spPr>
      </p:sp>
      <p:pic>
        <p:nvPicPr>
          <p:cNvPr id="21" name="Image 3" descr="preencoded.png">    </p:cNvPr>
          <p:cNvPicPr>
            <a:picLocks noChangeAspect="1"/>
          </p:cNvPicPr>
          <p:nvPr/>
        </p:nvPicPr>
        <p:blipFill>
          <a:blip r:embed="rId4"/>
          <a:stretch>
            <a:fillRect/>
          </a:stretch>
        </p:blipFill>
        <p:spPr>
          <a:xfrm>
            <a:off x="7054596" y="5408676"/>
            <a:ext cx="210312" cy="210312"/>
          </a:xfrm>
          <a:prstGeom prst="rect">
            <a:avLst/>
          </a:prstGeom>
        </p:spPr>
      </p:pic>
      <p:sp>
        <p:nvSpPr>
          <p:cNvPr id="22" name="Text 16"/>
          <p:cNvSpPr txBox="1"/>
          <p:nvPr/>
        </p:nvSpPr>
        <p:spPr>
          <a:xfrm>
            <a:off x="7516368" y="5285232"/>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Emit Fleksibel</a:t>
            </a:r>
            <a:endParaRPr lang="en-US" sz="1200" dirty="0"/>
          </a:p>
        </p:txBody>
      </p:sp>
      <p:sp>
        <p:nvSpPr>
          <p:cNvPr id="23" name="Text 17"/>
          <p:cNvSpPr txBox="1"/>
          <p:nvPr/>
        </p:nvSpPr>
        <p:spPr>
          <a:xfrm>
            <a:off x="7516368" y="5541264"/>
            <a:ext cx="4096512" cy="329184"/>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Kirim ke satu klien, semua klien, atau sekelompok klien tertentu.</a:t>
            </a:r>
            <a:endParaRPr lang="en-US" sz="980" dirty="0"/>
          </a:p>
        </p:txBody>
      </p:sp>
      <p:sp>
        <p:nvSpPr>
          <p:cNvPr id="24" name="Text 18"/>
          <p:cNvSpPr txBox="1"/>
          <p:nvPr/>
        </p:nvSpPr>
        <p:spPr>
          <a:xfrm>
            <a:off x="6949440" y="5669280"/>
            <a:ext cx="4663440" cy="420624"/>
          </a:xfrm>
          <a:prstGeom prst="rect">
            <a:avLst/>
          </a:prstGeom>
          <a:noFill/>
          <a:ln/>
        </p:spPr>
        <p:txBody>
          <a:bodyPr wrap="square" lIns="0" tIns="0" rIns="0" bIns="0" rtlCol="0" anchor="ctr"/>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Penamaan peristiwa sebaiknya konsisten, misalnya sumber:aksi seperti pesan:baru atau pesanan:diperbarui.</a:t>
            </a:r>
            <a:endParaRPr lang="en-US" sz="980" dirty="0"/>
          </a:p>
        </p:txBody>
      </p:sp>
      <p:sp>
        <p:nvSpPr>
          <p:cNvPr id="25" name="Text 1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26" name="Text 2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Pola Real-Time Lanjutan</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Mengelompokkan koneksi dan menskalakan ke banyak server</a:t>
            </a:r>
            <a:endParaRPr lang="en-US" sz="1300" dirty="0"/>
          </a:p>
        </p:txBody>
      </p:sp>
      <p:sp>
        <p:nvSpPr>
          <p:cNvPr id="6" name="Shape 3"/>
          <p:cNvSpPr/>
          <p:nvPr/>
        </p:nvSpPr>
        <p:spPr>
          <a:xfrm>
            <a:off x="640080" y="1609344"/>
            <a:ext cx="6035040" cy="1133856"/>
          </a:xfrm>
          <a:prstGeom prst="roundRect">
            <a:avLst>
              <a:gd name="adj" fmla="val 725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49194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Room dan Namespace</a:t>
            </a:r>
            <a:endParaRPr lang="en-US" sz="1300" dirty="0"/>
          </a:p>
        </p:txBody>
      </p:sp>
      <p:sp>
        <p:nvSpPr>
          <p:cNvPr id="10" name="Text 6"/>
          <p:cNvSpPr txBox="1"/>
          <p:nvPr/>
        </p:nvSpPr>
        <p:spPr>
          <a:xfrm>
            <a:off x="896112" y="2395728"/>
            <a:ext cx="5522976" cy="182880"/>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Room mengelompokkan koneksi agar pesan hanya sampai ke penerima yang relevan. Namespace memisahkan jalur komunikasi yang berbeda dalam satu server.</a:t>
            </a:r>
            <a:endParaRPr lang="en-US" sz="1080" dirty="0"/>
          </a:p>
        </p:txBody>
      </p:sp>
      <p:sp>
        <p:nvSpPr>
          <p:cNvPr id="11" name="Shape 7"/>
          <p:cNvSpPr/>
          <p:nvPr/>
        </p:nvSpPr>
        <p:spPr>
          <a:xfrm>
            <a:off x="640080" y="2852928"/>
            <a:ext cx="6035040" cy="3516087"/>
          </a:xfrm>
          <a:prstGeom prst="roundRect">
            <a:avLst>
              <a:gd name="adj" fmla="val 1820"/>
            </a:avLst>
          </a:prstGeom>
          <a:solidFill>
            <a:srgbClr val="0E2417"/>
          </a:solidFill>
          <a:ln w="12700">
            <a:solidFill>
              <a:srgbClr val="234A31"/>
            </a:solidFill>
            <a:prstDash val="solid"/>
          </a:ln>
        </p:spPr>
      </p:sp>
      <p:sp>
        <p:nvSpPr>
          <p:cNvPr id="12" name="Text 8"/>
          <p:cNvSpPr txBox="1"/>
          <p:nvPr/>
        </p:nvSpPr>
        <p:spPr>
          <a:xfrm>
            <a:off x="859536" y="2944368"/>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ROOM, NAMESPACE, DAN BROADCAST</a:t>
            </a:r>
            <a:endParaRPr lang="en-US" sz="950" dirty="0"/>
          </a:p>
        </p:txBody>
      </p:sp>
      <p:sp>
        <p:nvSpPr>
          <p:cNvPr id="13" name="Text 9"/>
          <p:cNvSpPr txBox="1"/>
          <p:nvPr/>
        </p:nvSpPr>
        <p:spPr>
          <a:xfrm>
            <a:off x="859536" y="3255264"/>
            <a:ext cx="5596128" cy="3004023"/>
          </a:xfrm>
          <a:prstGeom prst="rect">
            <a:avLst/>
          </a:prstGeom>
          <a:noFill/>
          <a:ln/>
        </p:spPr>
        <p:txBody>
          <a:bodyPr wrap="square" lIns="0" tIns="0" rIns="0" bIns="0" rtlCol="0" anchor="t"/>
          <a:lstStyle/>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io.on(</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'connection'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(socket)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Masuk ke room tertentu</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socket.join(</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'ruang-'</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idRuang);</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Kirim hanya ke anggota room</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io.to(</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'ruang-'</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idRuang).emit(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'pesan:baru'</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data);</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Kirim ke semua kecuali pengirim</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socket.broadcast.emit(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'pengguna:masuk'</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socket.id);</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Kirim ke satu klien saja</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socket.emit(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'sambutan'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pesan: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'Selamat datang'</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Namespace terpisah untuk fitur berbeda</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admin = io.of(</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'/admin'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admin.on(</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'connection'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 =&gt; { /* ... */ });</a:t>
            </a:r>
            <a:endParaRPr lang="en-US" sz="1020" dirty="0"/>
          </a:p>
        </p:txBody>
      </p:sp>
      <p:sp>
        <p:nvSpPr>
          <p:cNvPr id="14" name="Shape 10"/>
          <p:cNvSpPr/>
          <p:nvPr/>
        </p:nvSpPr>
        <p:spPr>
          <a:xfrm>
            <a:off x="6949440" y="1609344"/>
            <a:ext cx="4663440"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5" name="Shape 11"/>
          <p:cNvSpPr/>
          <p:nvPr/>
        </p:nvSpPr>
        <p:spPr>
          <a:xfrm>
            <a:off x="7205472" y="1828800"/>
            <a:ext cx="457200" cy="457200"/>
          </a:xfrm>
          <a:prstGeom prst="roundRect">
            <a:avLst>
              <a:gd name="adj" fmla="val 26000"/>
            </a:avLst>
          </a:prstGeom>
          <a:solidFill>
            <a:srgbClr val="E8F2E2"/>
          </a:solidFill>
          <a:ln w="12700">
            <a:solidFill>
              <a:srgbClr val="E8F2E2"/>
            </a:solidFill>
            <a:prstDash val="solid"/>
          </a:ln>
        </p:spPr>
      </p:sp>
      <p:pic>
        <p:nvPicPr>
          <p:cNvPr id="16" name="Image 2" descr="preencoded.png">    </p:cNvPr>
          <p:cNvPicPr>
            <a:picLocks noChangeAspect="1"/>
          </p:cNvPicPr>
          <p:nvPr/>
        </p:nvPicPr>
        <p:blipFill>
          <a:blip r:embed="rId3"/>
          <a:stretch>
            <a:fillRect/>
          </a:stretch>
        </p:blipFill>
        <p:spPr>
          <a:xfrm>
            <a:off x="7319772" y="1943100"/>
            <a:ext cx="228600" cy="228600"/>
          </a:xfrm>
          <a:prstGeom prst="rect">
            <a:avLst/>
          </a:prstGeom>
        </p:spPr>
      </p:pic>
      <p:sp>
        <p:nvSpPr>
          <p:cNvPr id="17" name="Text 12"/>
          <p:cNvSpPr txBox="1"/>
          <p:nvPr/>
        </p:nvSpPr>
        <p:spPr>
          <a:xfrm>
            <a:off x="7808976" y="1828800"/>
            <a:ext cx="35478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Skala Banyak Server</a:t>
            </a:r>
            <a:endParaRPr lang="en-US" sz="1300" dirty="0"/>
          </a:p>
        </p:txBody>
      </p:sp>
      <p:sp>
        <p:nvSpPr>
          <p:cNvPr id="18" name="Text 13"/>
          <p:cNvSpPr txBox="1"/>
          <p:nvPr/>
        </p:nvSpPr>
        <p:spPr>
          <a:xfrm>
            <a:off x="7205472" y="2395728"/>
            <a:ext cx="4151376" cy="62179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Bila aplikasi berjalan di beberapa proses atau server, koneksi tersebar di mesin berbeda. Adapter Redis menyalurkan peristiwa antarserver agar semua klien tetap menerima pesan.</a:t>
            </a:r>
            <a:endParaRPr lang="en-US" sz="1020" dirty="0"/>
          </a:p>
        </p:txBody>
      </p:sp>
      <p:sp>
        <p:nvSpPr>
          <p:cNvPr id="19" name="Shape 14"/>
          <p:cNvSpPr/>
          <p:nvPr/>
        </p:nvSpPr>
        <p:spPr>
          <a:xfrm>
            <a:off x="6949440" y="3310128"/>
            <a:ext cx="4663440" cy="865790"/>
          </a:xfrm>
          <a:prstGeom prst="roundRect">
            <a:avLst>
              <a:gd name="adj" fmla="val 7393"/>
            </a:avLst>
          </a:prstGeom>
          <a:solidFill>
            <a:srgbClr val="0E2417"/>
          </a:solidFill>
          <a:ln w="12700">
            <a:solidFill>
              <a:srgbClr val="234A31"/>
            </a:solidFill>
            <a:prstDash val="solid"/>
          </a:ln>
        </p:spPr>
      </p:sp>
      <p:sp>
        <p:nvSpPr>
          <p:cNvPr id="20" name="Text 15"/>
          <p:cNvSpPr txBox="1"/>
          <p:nvPr/>
        </p:nvSpPr>
        <p:spPr>
          <a:xfrm>
            <a:off x="7168896" y="3511296"/>
            <a:ext cx="4224528" cy="554894"/>
          </a:xfrm>
          <a:prstGeom prst="rect">
            <a:avLst/>
          </a:prstGeom>
          <a:noFill/>
          <a:ln/>
        </p:spPr>
        <p:txBody>
          <a:bodyPr wrap="square" lIns="0" tIns="0" rIns="0" bIns="0" rtlCol="0" anchor="t"/>
          <a:lstStyle/>
          <a:p>
            <a:pPr indent="0" marL="0">
              <a:lnSpc>
                <a:spcPct val="106000"/>
              </a:lnSpc>
              <a:buNone/>
            </a:pPr>
            <a:r>
              <a:rPr lang="en-US" sz="98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 { createAdapter } =</a:t>
            </a:r>
            <a:endParaRPr lang="en-US" sz="980" dirty="0"/>
          </a:p>
          <a:p>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8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'@socket.io/redis-adapter'</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a:t>
            </a:r>
            <a:endParaRPr lang="en-US" sz="980" dirty="0"/>
          </a:p>
          <a:p>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io.adapter(createAdapter(pub, sub));</a:t>
            </a:r>
            <a:endParaRPr lang="en-US" sz="980" dirty="0"/>
          </a:p>
        </p:txBody>
      </p:sp>
      <p:sp>
        <p:nvSpPr>
          <p:cNvPr id="21" name="Shape 16"/>
          <p:cNvSpPr/>
          <p:nvPr/>
        </p:nvSpPr>
        <p:spPr>
          <a:xfrm>
            <a:off x="6949440" y="4315968"/>
            <a:ext cx="420624" cy="420624"/>
          </a:xfrm>
          <a:prstGeom prst="roundRect">
            <a:avLst>
              <a:gd name="adj" fmla="val 26087"/>
            </a:avLst>
          </a:prstGeom>
          <a:solidFill>
            <a:srgbClr val="E8F2E2"/>
          </a:solidFill>
          <a:ln w="12700">
            <a:solidFill>
              <a:srgbClr val="E8F2E2"/>
            </a:solidFill>
            <a:prstDash val="solid"/>
          </a:ln>
        </p:spPr>
      </p:sp>
      <p:pic>
        <p:nvPicPr>
          <p:cNvPr id="22" name="Image 3" descr="preencoded.png">    </p:cNvPr>
          <p:cNvPicPr>
            <a:picLocks noChangeAspect="1"/>
          </p:cNvPicPr>
          <p:nvPr/>
        </p:nvPicPr>
        <p:blipFill>
          <a:blip r:embed="rId4"/>
          <a:stretch>
            <a:fillRect/>
          </a:stretch>
        </p:blipFill>
        <p:spPr>
          <a:xfrm>
            <a:off x="7054596" y="4421124"/>
            <a:ext cx="210312" cy="210312"/>
          </a:xfrm>
          <a:prstGeom prst="rect">
            <a:avLst/>
          </a:prstGeom>
        </p:spPr>
      </p:pic>
      <p:sp>
        <p:nvSpPr>
          <p:cNvPr id="23" name="Text 17"/>
          <p:cNvSpPr txBox="1"/>
          <p:nvPr/>
        </p:nvSpPr>
        <p:spPr>
          <a:xfrm>
            <a:off x="7516368" y="429768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Autentikasi Koneksi</a:t>
            </a:r>
            <a:endParaRPr lang="en-US" sz="1200" dirty="0"/>
          </a:p>
        </p:txBody>
      </p:sp>
      <p:sp>
        <p:nvSpPr>
          <p:cNvPr id="24" name="Text 18"/>
          <p:cNvSpPr txBox="1"/>
          <p:nvPr/>
        </p:nvSpPr>
        <p:spPr>
          <a:xfrm>
            <a:off x="7516368" y="4553712"/>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Verifikasi token pada middleware io.use sebelum koneksi diterima.</a:t>
            </a:r>
            <a:endParaRPr lang="en-US" sz="960" dirty="0"/>
          </a:p>
        </p:txBody>
      </p:sp>
      <p:sp>
        <p:nvSpPr>
          <p:cNvPr id="25" name="Shape 19"/>
          <p:cNvSpPr/>
          <p:nvPr/>
        </p:nvSpPr>
        <p:spPr>
          <a:xfrm>
            <a:off x="6949440" y="4956048"/>
            <a:ext cx="420624" cy="420624"/>
          </a:xfrm>
          <a:prstGeom prst="roundRect">
            <a:avLst>
              <a:gd name="adj" fmla="val 26087"/>
            </a:avLst>
          </a:prstGeom>
          <a:solidFill>
            <a:srgbClr val="E8F2E2"/>
          </a:solidFill>
          <a:ln w="12700">
            <a:solidFill>
              <a:srgbClr val="E8F2E2"/>
            </a:solidFill>
            <a:prstDash val="solid"/>
          </a:ln>
        </p:spPr>
      </p:sp>
      <p:pic>
        <p:nvPicPr>
          <p:cNvPr id="26" name="Image 4" descr="preencoded.png">    </p:cNvPr>
          <p:cNvPicPr>
            <a:picLocks noChangeAspect="1"/>
          </p:cNvPicPr>
          <p:nvPr/>
        </p:nvPicPr>
        <p:blipFill>
          <a:blip r:embed="rId5"/>
          <a:stretch>
            <a:fillRect/>
          </a:stretch>
        </p:blipFill>
        <p:spPr>
          <a:xfrm>
            <a:off x="7054596" y="5061204"/>
            <a:ext cx="210312" cy="210312"/>
          </a:xfrm>
          <a:prstGeom prst="rect">
            <a:avLst/>
          </a:prstGeom>
        </p:spPr>
      </p:pic>
      <p:sp>
        <p:nvSpPr>
          <p:cNvPr id="27" name="Text 20"/>
          <p:cNvSpPr txBox="1"/>
          <p:nvPr/>
        </p:nvSpPr>
        <p:spPr>
          <a:xfrm>
            <a:off x="7516368" y="493776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Batasi Laju Peristiwa</a:t>
            </a:r>
            <a:endParaRPr lang="en-US" sz="1200" dirty="0"/>
          </a:p>
        </p:txBody>
      </p:sp>
      <p:sp>
        <p:nvSpPr>
          <p:cNvPr id="28" name="Text 21"/>
          <p:cNvSpPr txBox="1"/>
          <p:nvPr/>
        </p:nvSpPr>
        <p:spPr>
          <a:xfrm>
            <a:off x="7516368" y="5193792"/>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Cegah klien mengirim peristiwa berlebihan yang membebani server.</a:t>
            </a:r>
            <a:endParaRPr lang="en-US" sz="960" dirty="0"/>
          </a:p>
        </p:txBody>
      </p:sp>
      <p:sp>
        <p:nvSpPr>
          <p:cNvPr id="29" name="Shape 22"/>
          <p:cNvSpPr/>
          <p:nvPr/>
        </p:nvSpPr>
        <p:spPr>
          <a:xfrm>
            <a:off x="6949440" y="5596128"/>
            <a:ext cx="420624" cy="420624"/>
          </a:xfrm>
          <a:prstGeom prst="roundRect">
            <a:avLst>
              <a:gd name="adj" fmla="val 26087"/>
            </a:avLst>
          </a:prstGeom>
          <a:solidFill>
            <a:srgbClr val="E8F2E2"/>
          </a:solidFill>
          <a:ln w="12700">
            <a:solidFill>
              <a:srgbClr val="E8F2E2"/>
            </a:solidFill>
            <a:prstDash val="solid"/>
          </a:ln>
        </p:spPr>
      </p:sp>
      <p:pic>
        <p:nvPicPr>
          <p:cNvPr id="30" name="Image 5" descr="preencoded.png">    </p:cNvPr>
          <p:cNvPicPr>
            <a:picLocks noChangeAspect="1"/>
          </p:cNvPicPr>
          <p:nvPr/>
        </p:nvPicPr>
        <p:blipFill>
          <a:blip r:embed="rId6"/>
          <a:stretch>
            <a:fillRect/>
          </a:stretch>
        </p:blipFill>
        <p:spPr>
          <a:xfrm>
            <a:off x="7054596" y="5701284"/>
            <a:ext cx="210312" cy="210312"/>
          </a:xfrm>
          <a:prstGeom prst="rect">
            <a:avLst/>
          </a:prstGeom>
        </p:spPr>
      </p:pic>
      <p:sp>
        <p:nvSpPr>
          <p:cNvPr id="31" name="Text 23"/>
          <p:cNvSpPr txBox="1"/>
          <p:nvPr/>
        </p:nvSpPr>
        <p:spPr>
          <a:xfrm>
            <a:off x="7516368" y="557784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Bersihkan Pendengar</a:t>
            </a:r>
            <a:endParaRPr lang="en-US" sz="1200" dirty="0"/>
          </a:p>
        </p:txBody>
      </p:sp>
      <p:sp>
        <p:nvSpPr>
          <p:cNvPr id="32" name="Text 24"/>
          <p:cNvSpPr txBox="1"/>
          <p:nvPr/>
        </p:nvSpPr>
        <p:spPr>
          <a:xfrm>
            <a:off x="7516368" y="5833872"/>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Lepas pendengar saat disconnect agar tidak terjadi kebocoran memori.</a:t>
            </a:r>
            <a:endParaRPr lang="en-US" sz="960" dirty="0"/>
          </a:p>
        </p:txBody>
      </p:sp>
      <p:sp>
        <p:nvSpPr>
          <p:cNvPr id="33" name="Text 25"/>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4" name="Text 26"/>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E67B1"/>
          </a:solidFill>
          <a:ln w="12700">
            <a:solidFill>
              <a:srgbClr val="3E67B1"/>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Validasi Masukan</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Jangan pernah mempercayai data yang datang dari klien</a:t>
            </a:r>
            <a:endParaRPr lang="en-US" sz="1300" dirty="0"/>
          </a:p>
        </p:txBody>
      </p:sp>
      <p:sp>
        <p:nvSpPr>
          <p:cNvPr id="6" name="Shape 3"/>
          <p:cNvSpPr/>
          <p:nvPr/>
        </p:nvSpPr>
        <p:spPr>
          <a:xfrm>
            <a:off x="640080" y="1627632"/>
            <a:ext cx="6035040" cy="4210007"/>
          </a:xfrm>
          <a:prstGeom prst="roundRect">
            <a:avLst>
              <a:gd name="adj" fmla="val 1520"/>
            </a:avLst>
          </a:prstGeom>
          <a:solidFill>
            <a:srgbClr val="0E2417"/>
          </a:solidFill>
          <a:ln w="12700">
            <a:solidFill>
              <a:srgbClr val="234A31"/>
            </a:solidFill>
            <a:prstDash val="solid"/>
          </a:ln>
        </p:spPr>
      </p:sp>
      <p:sp>
        <p:nvSpPr>
          <p:cNvPr id="7" name="Text 4"/>
          <p:cNvSpPr txBox="1"/>
          <p:nvPr/>
        </p:nvSpPr>
        <p:spPr>
          <a:xfrm>
            <a:off x="859536" y="1719072"/>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VALIDASI DENGAN ZOD</a:t>
            </a:r>
            <a:endParaRPr lang="en-US" sz="950" dirty="0"/>
          </a:p>
        </p:txBody>
      </p:sp>
      <p:sp>
        <p:nvSpPr>
          <p:cNvPr id="8" name="Text 5"/>
          <p:cNvSpPr txBox="1"/>
          <p:nvPr/>
        </p:nvSpPr>
        <p:spPr>
          <a:xfrm>
            <a:off x="859536" y="2029968"/>
            <a:ext cx="5596128" cy="3697943"/>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z }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'zod'</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skemaProduk = z.object({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nama: z.string().min(</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3</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).max(</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100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harga: z.number().positive(),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stok: z.number().int().nonnegative(),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email: z.string().email(),</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kategori: z.enum([</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'minuman'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'makanan'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Middleware validasi yang dapat dipakai ulang</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validasi = (skema) =&gt; (req, res, next)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hasil = skema.safeParse(req.body);</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(!hasil.success)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res.status(</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400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).json({ galat: hasil.error.issues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req.body = hasil.data;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data sudah bersih</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next();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app.post(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'/produk'</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validasi(skemaProduk), buatProduk);</a:t>
            </a:r>
            <a:endParaRPr lang="en-US" sz="1020" dirty="0"/>
          </a:p>
        </p:txBody>
      </p:sp>
      <p:sp>
        <p:nvSpPr>
          <p:cNvPr id="9" name="Shape 6"/>
          <p:cNvSpPr/>
          <p:nvPr/>
        </p:nvSpPr>
        <p:spPr>
          <a:xfrm>
            <a:off x="6949440" y="1700784"/>
            <a:ext cx="420624" cy="420624"/>
          </a:xfrm>
          <a:prstGeom prst="roundRect">
            <a:avLst>
              <a:gd name="adj" fmla="val 26087"/>
            </a:avLst>
          </a:prstGeom>
          <a:solidFill>
            <a:srgbClr val="E8F2E2"/>
          </a:solidFill>
          <a:ln w="12700">
            <a:solidFill>
              <a:srgbClr val="E8F2E2"/>
            </a:solidFill>
            <a:prstDash val="solid"/>
          </a:ln>
        </p:spPr>
      </p:sp>
      <p:pic>
        <p:nvPicPr>
          <p:cNvPr id="10" name="Image 1" descr="preencoded.png">    </p:cNvPr>
          <p:cNvPicPr>
            <a:picLocks noChangeAspect="1"/>
          </p:cNvPicPr>
          <p:nvPr/>
        </p:nvPicPr>
        <p:blipFill>
          <a:blip r:embed="rId2"/>
          <a:stretch>
            <a:fillRect/>
          </a:stretch>
        </p:blipFill>
        <p:spPr>
          <a:xfrm>
            <a:off x="7054596" y="1805940"/>
            <a:ext cx="210312" cy="210312"/>
          </a:xfrm>
          <a:prstGeom prst="rect">
            <a:avLst/>
          </a:prstGeom>
        </p:spPr>
      </p:pic>
      <p:sp>
        <p:nvSpPr>
          <p:cNvPr id="11" name="Text 7"/>
          <p:cNvSpPr txBox="1"/>
          <p:nvPr/>
        </p:nvSpPr>
        <p:spPr>
          <a:xfrm>
            <a:off x="7516368" y="1682496"/>
            <a:ext cx="40965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Zod</a:t>
            </a:r>
            <a:endParaRPr lang="en-US" sz="1250" dirty="0"/>
          </a:p>
        </p:txBody>
      </p:sp>
      <p:sp>
        <p:nvSpPr>
          <p:cNvPr id="12" name="Text 8"/>
          <p:cNvSpPr txBox="1"/>
          <p:nvPr/>
        </p:nvSpPr>
        <p:spPr>
          <a:xfrm>
            <a:off x="7516368" y="1938528"/>
            <a:ext cx="4096512" cy="31089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Menyatu dengan TypeScript: tipe otomatis diturunkan dari skema.</a:t>
            </a:r>
            <a:endParaRPr lang="en-US" sz="980" dirty="0"/>
          </a:p>
        </p:txBody>
      </p:sp>
      <p:sp>
        <p:nvSpPr>
          <p:cNvPr id="13" name="Shape 9"/>
          <p:cNvSpPr/>
          <p:nvPr/>
        </p:nvSpPr>
        <p:spPr>
          <a:xfrm>
            <a:off x="6949440" y="2395728"/>
            <a:ext cx="420624" cy="420624"/>
          </a:xfrm>
          <a:prstGeom prst="roundRect">
            <a:avLst>
              <a:gd name="adj" fmla="val 26087"/>
            </a:avLst>
          </a:prstGeom>
          <a:solidFill>
            <a:srgbClr val="E8F2E2"/>
          </a:solidFill>
          <a:ln w="12700">
            <a:solidFill>
              <a:srgbClr val="E8F2E2"/>
            </a:solidFill>
            <a:prstDash val="solid"/>
          </a:ln>
        </p:spPr>
      </p:sp>
      <p:pic>
        <p:nvPicPr>
          <p:cNvPr id="14" name="Image 2" descr="preencoded.png">    </p:cNvPr>
          <p:cNvPicPr>
            <a:picLocks noChangeAspect="1"/>
          </p:cNvPicPr>
          <p:nvPr/>
        </p:nvPicPr>
        <p:blipFill>
          <a:blip r:embed="rId3"/>
          <a:stretch>
            <a:fillRect/>
          </a:stretch>
        </p:blipFill>
        <p:spPr>
          <a:xfrm>
            <a:off x="7054596" y="2500884"/>
            <a:ext cx="210312" cy="210312"/>
          </a:xfrm>
          <a:prstGeom prst="rect">
            <a:avLst/>
          </a:prstGeom>
        </p:spPr>
      </p:pic>
      <p:sp>
        <p:nvSpPr>
          <p:cNvPr id="15" name="Text 10"/>
          <p:cNvSpPr txBox="1"/>
          <p:nvPr/>
        </p:nvSpPr>
        <p:spPr>
          <a:xfrm>
            <a:off x="7516368" y="2377440"/>
            <a:ext cx="40965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Joi</a:t>
            </a:r>
            <a:endParaRPr lang="en-US" sz="1250" dirty="0"/>
          </a:p>
        </p:txBody>
      </p:sp>
      <p:sp>
        <p:nvSpPr>
          <p:cNvPr id="16" name="Text 11"/>
          <p:cNvSpPr txBox="1"/>
          <p:nvPr/>
        </p:nvSpPr>
        <p:spPr>
          <a:xfrm>
            <a:off x="7516368" y="2633472"/>
            <a:ext cx="4096512" cy="31089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Matang dan kaya fitur, populer di proyek JavaScript murni.</a:t>
            </a:r>
            <a:endParaRPr lang="en-US" sz="980" dirty="0"/>
          </a:p>
        </p:txBody>
      </p:sp>
      <p:sp>
        <p:nvSpPr>
          <p:cNvPr id="17" name="Shape 12"/>
          <p:cNvSpPr/>
          <p:nvPr/>
        </p:nvSpPr>
        <p:spPr>
          <a:xfrm>
            <a:off x="6949440" y="3090672"/>
            <a:ext cx="420624" cy="420624"/>
          </a:xfrm>
          <a:prstGeom prst="roundRect">
            <a:avLst>
              <a:gd name="adj" fmla="val 26087"/>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7054596" y="3195828"/>
            <a:ext cx="210312" cy="210312"/>
          </a:xfrm>
          <a:prstGeom prst="rect">
            <a:avLst/>
          </a:prstGeom>
        </p:spPr>
      </p:pic>
      <p:sp>
        <p:nvSpPr>
          <p:cNvPr id="19" name="Text 13"/>
          <p:cNvSpPr txBox="1"/>
          <p:nvPr/>
        </p:nvSpPr>
        <p:spPr>
          <a:xfrm>
            <a:off x="7516368" y="3072384"/>
            <a:ext cx="40965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express-validator</a:t>
            </a:r>
            <a:endParaRPr lang="en-US" sz="1250" dirty="0"/>
          </a:p>
        </p:txBody>
      </p:sp>
      <p:sp>
        <p:nvSpPr>
          <p:cNvPr id="20" name="Text 14"/>
          <p:cNvSpPr txBox="1"/>
          <p:nvPr/>
        </p:nvSpPr>
        <p:spPr>
          <a:xfrm>
            <a:off x="7516368" y="3328416"/>
            <a:ext cx="4096512" cy="31089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Terintegrasi rapat dengan Express dalam bentuk rantai middleware.</a:t>
            </a:r>
            <a:endParaRPr lang="en-US" sz="980" dirty="0"/>
          </a:p>
        </p:txBody>
      </p:sp>
      <p:sp>
        <p:nvSpPr>
          <p:cNvPr id="21" name="Shape 15"/>
          <p:cNvSpPr/>
          <p:nvPr/>
        </p:nvSpPr>
        <p:spPr>
          <a:xfrm>
            <a:off x="6949440" y="3858768"/>
            <a:ext cx="420624" cy="420624"/>
          </a:xfrm>
          <a:prstGeom prst="roundRect">
            <a:avLst>
              <a:gd name="adj" fmla="val 26087"/>
            </a:avLst>
          </a:prstGeom>
          <a:solidFill>
            <a:srgbClr val="E8F2E2"/>
          </a:solidFill>
          <a:ln w="12700">
            <a:solidFill>
              <a:srgbClr val="E8F2E2"/>
            </a:solidFill>
            <a:prstDash val="solid"/>
          </a:ln>
        </p:spPr>
      </p:sp>
      <p:pic>
        <p:nvPicPr>
          <p:cNvPr id="22" name="Image 4" descr="preencoded.png">    </p:cNvPr>
          <p:cNvPicPr>
            <a:picLocks noChangeAspect="1"/>
          </p:cNvPicPr>
          <p:nvPr/>
        </p:nvPicPr>
        <p:blipFill>
          <a:blip r:embed="rId5"/>
          <a:stretch>
            <a:fillRect/>
          </a:stretch>
        </p:blipFill>
        <p:spPr>
          <a:xfrm>
            <a:off x="7054596" y="3963924"/>
            <a:ext cx="210312" cy="210312"/>
          </a:xfrm>
          <a:prstGeom prst="rect">
            <a:avLst/>
          </a:prstGeom>
        </p:spPr>
      </p:pic>
      <p:sp>
        <p:nvSpPr>
          <p:cNvPr id="23" name="Text 16"/>
          <p:cNvSpPr txBox="1"/>
          <p:nvPr/>
        </p:nvSpPr>
        <p:spPr>
          <a:xfrm>
            <a:off x="7516368" y="384048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Validasi di Server</a:t>
            </a:r>
            <a:endParaRPr lang="en-US" sz="1200" dirty="0"/>
          </a:p>
        </p:txBody>
      </p:sp>
      <p:sp>
        <p:nvSpPr>
          <p:cNvPr id="24" name="Text 17"/>
          <p:cNvSpPr txBox="1"/>
          <p:nvPr/>
        </p:nvSpPr>
        <p:spPr>
          <a:xfrm>
            <a:off x="7516368" y="4096512"/>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Validasi di peramban hanya untuk kenyamanan, bukan keamanan.</a:t>
            </a:r>
            <a:endParaRPr lang="en-US" sz="960" dirty="0"/>
          </a:p>
        </p:txBody>
      </p:sp>
      <p:sp>
        <p:nvSpPr>
          <p:cNvPr id="25" name="Shape 18"/>
          <p:cNvSpPr/>
          <p:nvPr/>
        </p:nvSpPr>
        <p:spPr>
          <a:xfrm>
            <a:off x="6949440" y="4425696"/>
            <a:ext cx="420624" cy="420624"/>
          </a:xfrm>
          <a:prstGeom prst="roundRect">
            <a:avLst>
              <a:gd name="adj" fmla="val 26087"/>
            </a:avLst>
          </a:prstGeom>
          <a:solidFill>
            <a:srgbClr val="E8F2E2"/>
          </a:solidFill>
          <a:ln w="12700">
            <a:solidFill>
              <a:srgbClr val="E8F2E2"/>
            </a:solidFill>
            <a:prstDash val="solid"/>
          </a:ln>
        </p:spPr>
      </p:sp>
      <p:pic>
        <p:nvPicPr>
          <p:cNvPr id="26" name="Image 5" descr="preencoded.png">    </p:cNvPr>
          <p:cNvPicPr>
            <a:picLocks noChangeAspect="1"/>
          </p:cNvPicPr>
          <p:nvPr/>
        </p:nvPicPr>
        <p:blipFill>
          <a:blip r:embed="rId6"/>
          <a:stretch>
            <a:fillRect/>
          </a:stretch>
        </p:blipFill>
        <p:spPr>
          <a:xfrm>
            <a:off x="7054596" y="4530852"/>
            <a:ext cx="210312" cy="210312"/>
          </a:xfrm>
          <a:prstGeom prst="rect">
            <a:avLst/>
          </a:prstGeom>
        </p:spPr>
      </p:pic>
      <p:sp>
        <p:nvSpPr>
          <p:cNvPr id="27" name="Text 19"/>
          <p:cNvSpPr txBox="1"/>
          <p:nvPr/>
        </p:nvSpPr>
        <p:spPr>
          <a:xfrm>
            <a:off x="7516368" y="440740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Terima Daftar Putih</a:t>
            </a:r>
            <a:endParaRPr lang="en-US" sz="1200" dirty="0"/>
          </a:p>
        </p:txBody>
      </p:sp>
      <p:sp>
        <p:nvSpPr>
          <p:cNvPr id="28" name="Text 20"/>
          <p:cNvSpPr txBox="1"/>
          <p:nvPr/>
        </p:nvSpPr>
        <p:spPr>
          <a:xfrm>
            <a:off x="7516368" y="4663440"/>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Tetapkan field yang boleh masuk, jangan sekadar menyaring yang dilarang.</a:t>
            </a:r>
            <a:endParaRPr lang="en-US" sz="960" dirty="0"/>
          </a:p>
        </p:txBody>
      </p:sp>
      <p:sp>
        <p:nvSpPr>
          <p:cNvPr id="29" name="Shape 21"/>
          <p:cNvSpPr/>
          <p:nvPr/>
        </p:nvSpPr>
        <p:spPr>
          <a:xfrm>
            <a:off x="6949440" y="4992624"/>
            <a:ext cx="420624" cy="420624"/>
          </a:xfrm>
          <a:prstGeom prst="roundRect">
            <a:avLst>
              <a:gd name="adj" fmla="val 26087"/>
            </a:avLst>
          </a:prstGeom>
          <a:solidFill>
            <a:srgbClr val="E8F2E2"/>
          </a:solidFill>
          <a:ln w="12700">
            <a:solidFill>
              <a:srgbClr val="E8F2E2"/>
            </a:solidFill>
            <a:prstDash val="solid"/>
          </a:ln>
        </p:spPr>
      </p:sp>
      <p:pic>
        <p:nvPicPr>
          <p:cNvPr id="30" name="Image 6" descr="preencoded.png">    </p:cNvPr>
          <p:cNvPicPr>
            <a:picLocks noChangeAspect="1"/>
          </p:cNvPicPr>
          <p:nvPr/>
        </p:nvPicPr>
        <p:blipFill>
          <a:blip r:embed="rId7"/>
          <a:stretch>
            <a:fillRect/>
          </a:stretch>
        </p:blipFill>
        <p:spPr>
          <a:xfrm>
            <a:off x="7054596" y="5097780"/>
            <a:ext cx="210312" cy="210312"/>
          </a:xfrm>
          <a:prstGeom prst="rect">
            <a:avLst/>
          </a:prstGeom>
        </p:spPr>
      </p:pic>
      <p:sp>
        <p:nvSpPr>
          <p:cNvPr id="31" name="Text 22"/>
          <p:cNvSpPr txBox="1"/>
          <p:nvPr/>
        </p:nvSpPr>
        <p:spPr>
          <a:xfrm>
            <a:off x="7516368" y="497433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Normalkan Data</a:t>
            </a:r>
            <a:endParaRPr lang="en-US" sz="1200" dirty="0"/>
          </a:p>
        </p:txBody>
      </p:sp>
      <p:sp>
        <p:nvSpPr>
          <p:cNvPr id="32" name="Text 23"/>
          <p:cNvSpPr txBox="1"/>
          <p:nvPr/>
        </p:nvSpPr>
        <p:spPr>
          <a:xfrm>
            <a:off x="7516368" y="5230368"/>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Pangkas spasi, samakan huruf, dan ubah tipe sebelum disimpan.</a:t>
            </a:r>
            <a:endParaRPr lang="en-US" sz="960" dirty="0"/>
          </a:p>
        </p:txBody>
      </p:sp>
      <p:sp>
        <p:nvSpPr>
          <p:cNvPr id="33" name="Shape 24"/>
          <p:cNvSpPr/>
          <p:nvPr/>
        </p:nvSpPr>
        <p:spPr>
          <a:xfrm>
            <a:off x="6949440" y="5559552"/>
            <a:ext cx="420624" cy="420624"/>
          </a:xfrm>
          <a:prstGeom prst="roundRect">
            <a:avLst>
              <a:gd name="adj" fmla="val 26087"/>
            </a:avLst>
          </a:prstGeom>
          <a:solidFill>
            <a:srgbClr val="E8F2E2"/>
          </a:solidFill>
          <a:ln w="12700">
            <a:solidFill>
              <a:srgbClr val="E8F2E2"/>
            </a:solidFill>
            <a:prstDash val="solid"/>
          </a:ln>
        </p:spPr>
      </p:sp>
      <p:pic>
        <p:nvPicPr>
          <p:cNvPr id="34" name="Image 7" descr="preencoded.png">    </p:cNvPr>
          <p:cNvPicPr>
            <a:picLocks noChangeAspect="1"/>
          </p:cNvPicPr>
          <p:nvPr/>
        </p:nvPicPr>
        <p:blipFill>
          <a:blip r:embed="rId8"/>
          <a:stretch>
            <a:fillRect/>
          </a:stretch>
        </p:blipFill>
        <p:spPr>
          <a:xfrm>
            <a:off x="7054596" y="5664708"/>
            <a:ext cx="210312" cy="210312"/>
          </a:xfrm>
          <a:prstGeom prst="rect">
            <a:avLst/>
          </a:prstGeom>
        </p:spPr>
      </p:pic>
      <p:sp>
        <p:nvSpPr>
          <p:cNvPr id="35" name="Text 25"/>
          <p:cNvSpPr txBox="1"/>
          <p:nvPr/>
        </p:nvSpPr>
        <p:spPr>
          <a:xfrm>
            <a:off x="7516368" y="5541264"/>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Pesan Galat Jelas</a:t>
            </a:r>
            <a:endParaRPr lang="en-US" sz="1200" dirty="0"/>
          </a:p>
        </p:txBody>
      </p:sp>
      <p:sp>
        <p:nvSpPr>
          <p:cNvPr id="36" name="Text 26"/>
          <p:cNvSpPr txBox="1"/>
          <p:nvPr/>
        </p:nvSpPr>
        <p:spPr>
          <a:xfrm>
            <a:off x="7516368" y="5797296"/>
            <a:ext cx="40965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Sebutkan field mana yang salah agar pengguna tahu cara memperbaikinya.</a:t>
            </a:r>
            <a:endParaRPr lang="en-US" sz="960" dirty="0"/>
          </a:p>
        </p:txBody>
      </p:sp>
      <p:sp>
        <p:nvSpPr>
          <p:cNvPr id="37" name="Text 27"/>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8" name="Text 28"/>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Unggah Berkas dengan Multer</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Menangani formulir multipart secara aman</a:t>
            </a:r>
            <a:endParaRPr lang="en-US" sz="1300" dirty="0"/>
          </a:p>
        </p:txBody>
      </p:sp>
      <p:sp>
        <p:nvSpPr>
          <p:cNvPr id="6" name="Shape 3"/>
          <p:cNvSpPr/>
          <p:nvPr/>
        </p:nvSpPr>
        <p:spPr>
          <a:xfrm>
            <a:off x="640080" y="1627632"/>
            <a:ext cx="6035040" cy="4383487"/>
          </a:xfrm>
          <a:prstGeom prst="roundRect">
            <a:avLst>
              <a:gd name="adj" fmla="val 1460"/>
            </a:avLst>
          </a:prstGeom>
          <a:solidFill>
            <a:srgbClr val="0E2417"/>
          </a:solidFill>
          <a:ln w="12700">
            <a:solidFill>
              <a:srgbClr val="234A31"/>
            </a:solidFill>
            <a:prstDash val="solid"/>
          </a:ln>
        </p:spPr>
      </p:sp>
      <p:sp>
        <p:nvSpPr>
          <p:cNvPr id="7" name="Text 4"/>
          <p:cNvSpPr txBox="1"/>
          <p:nvPr/>
        </p:nvSpPr>
        <p:spPr>
          <a:xfrm>
            <a:off x="859536" y="1719072"/>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KONFIGURASI MULTER</a:t>
            </a:r>
            <a:endParaRPr lang="en-US" sz="950" dirty="0"/>
          </a:p>
        </p:txBody>
      </p:sp>
      <p:sp>
        <p:nvSpPr>
          <p:cNvPr id="8" name="Text 5"/>
          <p:cNvSpPr txBox="1"/>
          <p:nvPr/>
        </p:nvSpPr>
        <p:spPr>
          <a:xfrm>
            <a:off x="859536" y="2029968"/>
            <a:ext cx="5596128" cy="3871423"/>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multer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'multer'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path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'path'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storage = multer.diskStorage({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destination: (req, file, cb) =&gt; cb(</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null</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'uploads/'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filename: (req, file, cb)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Nama acak, jangan pakai nama asli dari pengguna</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ext = path.extname(file.originalname);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cb(</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null</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Date.now() +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Math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.random() + ext);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upload = multer({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storage,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limits: { fileSize: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1024</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1024</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maksimal 2 MB</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fileFilter: (req, file, cb)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boleh =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'image/jpeg'</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'image/png'</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'image/webp'</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cb(</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null</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boleh.includes(file.mimetype));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app.post(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'/foto'</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upload.single(</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'foto'</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(req, res)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res.json({ berkas: req.file.filename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949440" y="1700784"/>
            <a:ext cx="420624" cy="420624"/>
          </a:xfrm>
          <a:prstGeom prst="roundRect">
            <a:avLst>
              <a:gd name="adj" fmla="val 26087"/>
            </a:avLst>
          </a:prstGeom>
          <a:solidFill>
            <a:srgbClr val="E8F2E2"/>
          </a:solidFill>
          <a:ln w="12700">
            <a:solidFill>
              <a:srgbClr val="E8F2E2"/>
            </a:solidFill>
            <a:prstDash val="solid"/>
          </a:ln>
        </p:spPr>
      </p:sp>
      <p:pic>
        <p:nvPicPr>
          <p:cNvPr id="10" name="Image 1" descr="preencoded.png">    </p:cNvPr>
          <p:cNvPicPr>
            <a:picLocks noChangeAspect="1"/>
          </p:cNvPicPr>
          <p:nvPr/>
        </p:nvPicPr>
        <p:blipFill>
          <a:blip r:embed="rId2"/>
          <a:stretch>
            <a:fillRect/>
          </a:stretch>
        </p:blipFill>
        <p:spPr>
          <a:xfrm>
            <a:off x="7054596" y="1805940"/>
            <a:ext cx="210312" cy="210312"/>
          </a:xfrm>
          <a:prstGeom prst="rect">
            <a:avLst/>
          </a:prstGeom>
        </p:spPr>
      </p:pic>
      <p:sp>
        <p:nvSpPr>
          <p:cNvPr id="11" name="Text 7"/>
          <p:cNvSpPr txBox="1"/>
          <p:nvPr/>
        </p:nvSpPr>
        <p:spPr>
          <a:xfrm>
            <a:off x="7516368" y="168249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Batasi Ukuran</a:t>
            </a:r>
            <a:endParaRPr lang="en-US" sz="1200" dirty="0"/>
          </a:p>
        </p:txBody>
      </p:sp>
      <p:sp>
        <p:nvSpPr>
          <p:cNvPr id="12" name="Text 8"/>
          <p:cNvSpPr txBox="1"/>
          <p:nvPr/>
        </p:nvSpPr>
        <p:spPr>
          <a:xfrm>
            <a:off x="7516368" y="1938528"/>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Tanpa batas ukuran, satu unggahan raksasa dapat menghabiskan disk dan memori.</a:t>
            </a:r>
            <a:endParaRPr lang="en-US" sz="960" dirty="0"/>
          </a:p>
        </p:txBody>
      </p:sp>
      <p:sp>
        <p:nvSpPr>
          <p:cNvPr id="13" name="Shape 9"/>
          <p:cNvSpPr/>
          <p:nvPr/>
        </p:nvSpPr>
        <p:spPr>
          <a:xfrm>
            <a:off x="6949440" y="2414016"/>
            <a:ext cx="420624" cy="420624"/>
          </a:xfrm>
          <a:prstGeom prst="roundRect">
            <a:avLst>
              <a:gd name="adj" fmla="val 26087"/>
            </a:avLst>
          </a:prstGeom>
          <a:solidFill>
            <a:srgbClr val="E8F2E2"/>
          </a:solidFill>
          <a:ln w="12700">
            <a:solidFill>
              <a:srgbClr val="E8F2E2"/>
            </a:solidFill>
            <a:prstDash val="solid"/>
          </a:ln>
        </p:spPr>
      </p:sp>
      <p:pic>
        <p:nvPicPr>
          <p:cNvPr id="14" name="Image 2" descr="preencoded.png">    </p:cNvPr>
          <p:cNvPicPr>
            <a:picLocks noChangeAspect="1"/>
          </p:cNvPicPr>
          <p:nvPr/>
        </p:nvPicPr>
        <p:blipFill>
          <a:blip r:embed="rId3"/>
          <a:stretch>
            <a:fillRect/>
          </a:stretch>
        </p:blipFill>
        <p:spPr>
          <a:xfrm>
            <a:off x="7054596" y="2519172"/>
            <a:ext cx="210312" cy="210312"/>
          </a:xfrm>
          <a:prstGeom prst="rect">
            <a:avLst/>
          </a:prstGeom>
        </p:spPr>
      </p:pic>
      <p:sp>
        <p:nvSpPr>
          <p:cNvPr id="15" name="Text 10"/>
          <p:cNvSpPr txBox="1"/>
          <p:nvPr/>
        </p:nvSpPr>
        <p:spPr>
          <a:xfrm>
            <a:off x="7516368" y="239572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Periksa Tipe Berkas</a:t>
            </a:r>
            <a:endParaRPr lang="en-US" sz="1200" dirty="0"/>
          </a:p>
        </p:txBody>
      </p:sp>
      <p:sp>
        <p:nvSpPr>
          <p:cNvPr id="16" name="Text 11"/>
          <p:cNvSpPr txBox="1"/>
          <p:nvPr/>
        </p:nvSpPr>
        <p:spPr>
          <a:xfrm>
            <a:off x="7516368" y="2651760"/>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Saring berdasarkan MIME type dan ekstensi; jangan percaya nama asli berkas.</a:t>
            </a:r>
            <a:endParaRPr lang="en-US" sz="960" dirty="0"/>
          </a:p>
        </p:txBody>
      </p:sp>
      <p:sp>
        <p:nvSpPr>
          <p:cNvPr id="17" name="Shape 12"/>
          <p:cNvSpPr/>
          <p:nvPr/>
        </p:nvSpPr>
        <p:spPr>
          <a:xfrm>
            <a:off x="6949440" y="3127248"/>
            <a:ext cx="420624" cy="420624"/>
          </a:xfrm>
          <a:prstGeom prst="roundRect">
            <a:avLst>
              <a:gd name="adj" fmla="val 26087"/>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7054596" y="3232404"/>
            <a:ext cx="210312" cy="210312"/>
          </a:xfrm>
          <a:prstGeom prst="rect">
            <a:avLst/>
          </a:prstGeom>
        </p:spPr>
      </p:pic>
      <p:sp>
        <p:nvSpPr>
          <p:cNvPr id="19" name="Text 13"/>
          <p:cNvSpPr txBox="1"/>
          <p:nvPr/>
        </p:nvSpPr>
        <p:spPr>
          <a:xfrm>
            <a:off x="7516368" y="310896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Ganti Nama Berkas</a:t>
            </a:r>
            <a:endParaRPr lang="en-US" sz="1200" dirty="0"/>
          </a:p>
        </p:txBody>
      </p:sp>
      <p:sp>
        <p:nvSpPr>
          <p:cNvPr id="20" name="Text 14"/>
          <p:cNvSpPr txBox="1"/>
          <p:nvPr/>
        </p:nvSpPr>
        <p:spPr>
          <a:xfrm>
            <a:off x="7516368" y="3364992"/>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Nama dari pengguna dapat berisi jalur berbahaya seperti titik titik garis miring.</a:t>
            </a:r>
            <a:endParaRPr lang="en-US" sz="960" dirty="0"/>
          </a:p>
        </p:txBody>
      </p:sp>
      <p:sp>
        <p:nvSpPr>
          <p:cNvPr id="21" name="Shape 15"/>
          <p:cNvSpPr/>
          <p:nvPr/>
        </p:nvSpPr>
        <p:spPr>
          <a:xfrm>
            <a:off x="6949440" y="3840480"/>
            <a:ext cx="420624" cy="420624"/>
          </a:xfrm>
          <a:prstGeom prst="roundRect">
            <a:avLst>
              <a:gd name="adj" fmla="val 26087"/>
            </a:avLst>
          </a:prstGeom>
          <a:solidFill>
            <a:srgbClr val="E8F2E2"/>
          </a:solidFill>
          <a:ln w="12700">
            <a:solidFill>
              <a:srgbClr val="E8F2E2"/>
            </a:solidFill>
            <a:prstDash val="solid"/>
          </a:ln>
        </p:spPr>
      </p:sp>
      <p:pic>
        <p:nvPicPr>
          <p:cNvPr id="22" name="Image 4" descr="preencoded.png">    </p:cNvPr>
          <p:cNvPicPr>
            <a:picLocks noChangeAspect="1"/>
          </p:cNvPicPr>
          <p:nvPr/>
        </p:nvPicPr>
        <p:blipFill>
          <a:blip r:embed="rId5"/>
          <a:stretch>
            <a:fillRect/>
          </a:stretch>
        </p:blipFill>
        <p:spPr>
          <a:xfrm>
            <a:off x="7054596" y="3945636"/>
            <a:ext cx="210312" cy="210312"/>
          </a:xfrm>
          <a:prstGeom prst="rect">
            <a:avLst/>
          </a:prstGeom>
        </p:spPr>
      </p:pic>
      <p:sp>
        <p:nvSpPr>
          <p:cNvPr id="23" name="Text 16"/>
          <p:cNvSpPr txBox="1"/>
          <p:nvPr/>
        </p:nvSpPr>
        <p:spPr>
          <a:xfrm>
            <a:off x="7516368" y="3822192"/>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Simpan di Luar Webroot</a:t>
            </a:r>
            <a:endParaRPr lang="en-US" sz="1200" dirty="0"/>
          </a:p>
        </p:txBody>
      </p:sp>
      <p:sp>
        <p:nvSpPr>
          <p:cNvPr id="24" name="Text 17"/>
          <p:cNvSpPr txBox="1"/>
          <p:nvPr/>
        </p:nvSpPr>
        <p:spPr>
          <a:xfrm>
            <a:off x="7516368" y="4078224"/>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Berkas yang dapat dieksekusi tidak boleh berada di folder yang bisa diakses langsung.</a:t>
            </a:r>
            <a:endParaRPr lang="en-US" sz="960" dirty="0"/>
          </a:p>
        </p:txBody>
      </p:sp>
      <p:sp>
        <p:nvSpPr>
          <p:cNvPr id="25" name="Shape 18"/>
          <p:cNvSpPr/>
          <p:nvPr/>
        </p:nvSpPr>
        <p:spPr>
          <a:xfrm>
            <a:off x="6949440" y="4553712"/>
            <a:ext cx="420624" cy="420624"/>
          </a:xfrm>
          <a:prstGeom prst="roundRect">
            <a:avLst>
              <a:gd name="adj" fmla="val 26087"/>
            </a:avLst>
          </a:prstGeom>
          <a:solidFill>
            <a:srgbClr val="E8F2E2"/>
          </a:solidFill>
          <a:ln w="12700">
            <a:solidFill>
              <a:srgbClr val="E8F2E2"/>
            </a:solidFill>
            <a:prstDash val="solid"/>
          </a:ln>
        </p:spPr>
      </p:sp>
      <p:pic>
        <p:nvPicPr>
          <p:cNvPr id="26" name="Image 5" descr="preencoded.png">    </p:cNvPr>
          <p:cNvPicPr>
            <a:picLocks noChangeAspect="1"/>
          </p:cNvPicPr>
          <p:nvPr/>
        </p:nvPicPr>
        <p:blipFill>
          <a:blip r:embed="rId6"/>
          <a:stretch>
            <a:fillRect/>
          </a:stretch>
        </p:blipFill>
        <p:spPr>
          <a:xfrm>
            <a:off x="7054596" y="4658868"/>
            <a:ext cx="210312" cy="210312"/>
          </a:xfrm>
          <a:prstGeom prst="rect">
            <a:avLst/>
          </a:prstGeom>
        </p:spPr>
      </p:pic>
      <p:sp>
        <p:nvSpPr>
          <p:cNvPr id="27" name="Text 19"/>
          <p:cNvSpPr txBox="1"/>
          <p:nvPr/>
        </p:nvSpPr>
        <p:spPr>
          <a:xfrm>
            <a:off x="7516368" y="4535424"/>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Gunakan Penyimpanan Objek</a:t>
            </a:r>
            <a:endParaRPr lang="en-US" sz="1200" dirty="0"/>
          </a:p>
        </p:txBody>
      </p:sp>
      <p:sp>
        <p:nvSpPr>
          <p:cNvPr id="28" name="Text 20"/>
          <p:cNvSpPr txBox="1"/>
          <p:nvPr/>
        </p:nvSpPr>
        <p:spPr>
          <a:xfrm>
            <a:off x="7516368" y="4791456"/>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Di produksi, simpan berkas di S3 atau layanan sejenis, bukan di disk server aplikasi.</a:t>
            </a:r>
            <a:endParaRPr lang="en-US" sz="960" dirty="0"/>
          </a:p>
        </p:txBody>
      </p:sp>
      <p:sp>
        <p:nvSpPr>
          <p:cNvPr id="29" name="Shape 21"/>
          <p:cNvSpPr/>
          <p:nvPr/>
        </p:nvSpPr>
        <p:spPr>
          <a:xfrm>
            <a:off x="6949440" y="5266944"/>
            <a:ext cx="420624" cy="420624"/>
          </a:xfrm>
          <a:prstGeom prst="roundRect">
            <a:avLst>
              <a:gd name="adj" fmla="val 26087"/>
            </a:avLst>
          </a:prstGeom>
          <a:solidFill>
            <a:srgbClr val="E8F2E2"/>
          </a:solidFill>
          <a:ln w="12700">
            <a:solidFill>
              <a:srgbClr val="E8F2E2"/>
            </a:solidFill>
            <a:prstDash val="solid"/>
          </a:ln>
        </p:spPr>
      </p:sp>
      <p:pic>
        <p:nvPicPr>
          <p:cNvPr id="30" name="Image 6" descr="preencoded.png">    </p:cNvPr>
          <p:cNvPicPr>
            <a:picLocks noChangeAspect="1"/>
          </p:cNvPicPr>
          <p:nvPr/>
        </p:nvPicPr>
        <p:blipFill>
          <a:blip r:embed="rId7"/>
          <a:stretch>
            <a:fillRect/>
          </a:stretch>
        </p:blipFill>
        <p:spPr>
          <a:xfrm>
            <a:off x="7054596" y="5372100"/>
            <a:ext cx="210312" cy="210312"/>
          </a:xfrm>
          <a:prstGeom prst="rect">
            <a:avLst/>
          </a:prstGeom>
        </p:spPr>
      </p:pic>
      <p:sp>
        <p:nvSpPr>
          <p:cNvPr id="31" name="Text 22"/>
          <p:cNvSpPr txBox="1"/>
          <p:nvPr/>
        </p:nvSpPr>
        <p:spPr>
          <a:xfrm>
            <a:off x="7516368" y="524865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Olah di Latar Belakang</a:t>
            </a:r>
            <a:endParaRPr lang="en-US" sz="1200" dirty="0"/>
          </a:p>
        </p:txBody>
      </p:sp>
      <p:sp>
        <p:nvSpPr>
          <p:cNvPr id="32" name="Text 23"/>
          <p:cNvSpPr txBox="1"/>
          <p:nvPr/>
        </p:nvSpPr>
        <p:spPr>
          <a:xfrm>
            <a:off x="7516368" y="5504688"/>
            <a:ext cx="4096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Pengubahan ukuran gambar sebaiknya dijalankan lewat antrean, bukan saat permintaan.</a:t>
            </a:r>
            <a:endParaRPr lang="en-US" sz="960" dirty="0"/>
          </a:p>
        </p:txBody>
      </p:sp>
      <p:sp>
        <p:nvSpPr>
          <p:cNvPr id="33" name="Text 24"/>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4" name="Text 25"/>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DC382D"/>
          </a:solidFill>
          <a:ln w="12700">
            <a:solidFill>
              <a:srgbClr val="DC382D"/>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Caching dengan Redis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Mempercepat respons dan meringankan beban basis data</a:t>
            </a:r>
            <a:endParaRPr lang="en-US" sz="1300" dirty="0"/>
          </a:p>
        </p:txBody>
      </p:sp>
      <p:sp>
        <p:nvSpPr>
          <p:cNvPr id="6" name="Shape 3"/>
          <p:cNvSpPr/>
          <p:nvPr/>
        </p:nvSpPr>
        <p:spPr>
          <a:xfrm>
            <a:off x="640080" y="1627632"/>
            <a:ext cx="1673352" cy="603504"/>
          </a:xfrm>
          <a:prstGeom prst="roundRect">
            <a:avLst>
              <a:gd name="adj" fmla="val 13636"/>
            </a:avLst>
          </a:prstGeom>
          <a:solidFill>
            <a:srgbClr val="0B2015"/>
          </a:solidFill>
          <a:ln w="12700">
            <a:solidFill>
              <a:srgbClr val="0B2015"/>
            </a:solidFill>
            <a:prstDash val="solid"/>
          </a:ln>
        </p:spPr>
      </p:sp>
      <p:sp>
        <p:nvSpPr>
          <p:cNvPr id="7" name="Text 4"/>
          <p:cNvSpPr txBox="1"/>
          <p:nvPr/>
        </p:nvSpPr>
        <p:spPr>
          <a:xfrm>
            <a:off x="640080" y="1627632"/>
            <a:ext cx="1673352" cy="60350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Permintaan</a:t>
            </a:r>
            <a:endParaRPr lang="en-US" sz="1050" dirty="0"/>
          </a:p>
        </p:txBody>
      </p:sp>
      <p:pic>
        <p:nvPicPr>
          <p:cNvPr id="8" name="Image 1" descr="preencoded.png">    </p:cNvPr>
          <p:cNvPicPr>
            <a:picLocks noChangeAspect="1"/>
          </p:cNvPicPr>
          <p:nvPr/>
        </p:nvPicPr>
        <p:blipFill>
          <a:blip r:embed="rId2"/>
          <a:stretch>
            <a:fillRect/>
          </a:stretch>
        </p:blipFill>
        <p:spPr>
          <a:xfrm>
            <a:off x="2318004" y="1847088"/>
            <a:ext cx="164592" cy="164592"/>
          </a:xfrm>
          <a:prstGeom prst="rect">
            <a:avLst/>
          </a:prstGeom>
        </p:spPr>
      </p:pic>
      <p:sp>
        <p:nvSpPr>
          <p:cNvPr id="9" name="Shape 5"/>
          <p:cNvSpPr/>
          <p:nvPr/>
        </p:nvSpPr>
        <p:spPr>
          <a:xfrm>
            <a:off x="2487168" y="1627632"/>
            <a:ext cx="1673352" cy="603504"/>
          </a:xfrm>
          <a:prstGeom prst="roundRect">
            <a:avLst>
              <a:gd name="adj" fmla="val 13636"/>
            </a:avLst>
          </a:prstGeom>
          <a:solidFill>
            <a:srgbClr val="3C873A"/>
          </a:solidFill>
          <a:ln w="12700">
            <a:solidFill>
              <a:srgbClr val="3C873A"/>
            </a:solidFill>
            <a:prstDash val="solid"/>
          </a:ln>
        </p:spPr>
      </p:sp>
      <p:sp>
        <p:nvSpPr>
          <p:cNvPr id="10" name="Text 6"/>
          <p:cNvSpPr txBox="1"/>
          <p:nvPr/>
        </p:nvSpPr>
        <p:spPr>
          <a:xfrm>
            <a:off x="2487168" y="1627632"/>
            <a:ext cx="1673352" cy="60350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Cek Cache</a:t>
            </a:r>
            <a:endParaRPr lang="en-US" sz="1050" dirty="0"/>
          </a:p>
        </p:txBody>
      </p:sp>
      <p:pic>
        <p:nvPicPr>
          <p:cNvPr id="11" name="Image 2" descr="preencoded.png">    </p:cNvPr>
          <p:cNvPicPr>
            <a:picLocks noChangeAspect="1"/>
          </p:cNvPicPr>
          <p:nvPr/>
        </p:nvPicPr>
        <p:blipFill>
          <a:blip r:embed="rId3"/>
          <a:stretch>
            <a:fillRect/>
          </a:stretch>
        </p:blipFill>
        <p:spPr>
          <a:xfrm>
            <a:off x="4165092" y="1847088"/>
            <a:ext cx="164592" cy="164592"/>
          </a:xfrm>
          <a:prstGeom prst="rect">
            <a:avLst/>
          </a:prstGeom>
        </p:spPr>
      </p:pic>
      <p:sp>
        <p:nvSpPr>
          <p:cNvPr id="12" name="Shape 7"/>
          <p:cNvSpPr/>
          <p:nvPr/>
        </p:nvSpPr>
        <p:spPr>
          <a:xfrm>
            <a:off x="4334256" y="1627632"/>
            <a:ext cx="1673352" cy="603504"/>
          </a:xfrm>
          <a:prstGeom prst="roundRect">
            <a:avLst>
              <a:gd name="adj" fmla="val 13636"/>
            </a:avLst>
          </a:prstGeom>
          <a:solidFill>
            <a:srgbClr val="3C873A"/>
          </a:solidFill>
          <a:ln w="12700">
            <a:solidFill>
              <a:srgbClr val="3C873A"/>
            </a:solidFill>
            <a:prstDash val="solid"/>
          </a:ln>
        </p:spPr>
      </p:sp>
      <p:sp>
        <p:nvSpPr>
          <p:cNvPr id="13" name="Text 8"/>
          <p:cNvSpPr txBox="1"/>
          <p:nvPr/>
        </p:nvSpPr>
        <p:spPr>
          <a:xfrm>
            <a:off x="4334256" y="1627632"/>
            <a:ext cx="1673352" cy="60350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Ada? Kirim</a:t>
            </a:r>
            <a:endParaRPr lang="en-US" sz="1050" dirty="0"/>
          </a:p>
        </p:txBody>
      </p:sp>
      <p:pic>
        <p:nvPicPr>
          <p:cNvPr id="14" name="Image 3" descr="preencoded.png">    </p:cNvPr>
          <p:cNvPicPr>
            <a:picLocks noChangeAspect="1"/>
          </p:cNvPicPr>
          <p:nvPr/>
        </p:nvPicPr>
        <p:blipFill>
          <a:blip r:embed="rId4"/>
          <a:stretch>
            <a:fillRect/>
          </a:stretch>
        </p:blipFill>
        <p:spPr>
          <a:xfrm>
            <a:off x="6012180" y="1847088"/>
            <a:ext cx="164592" cy="164592"/>
          </a:xfrm>
          <a:prstGeom prst="rect">
            <a:avLst/>
          </a:prstGeom>
        </p:spPr>
      </p:pic>
      <p:sp>
        <p:nvSpPr>
          <p:cNvPr id="15" name="Shape 9"/>
          <p:cNvSpPr/>
          <p:nvPr/>
        </p:nvSpPr>
        <p:spPr>
          <a:xfrm>
            <a:off x="6181344" y="1627632"/>
            <a:ext cx="1673352" cy="603504"/>
          </a:xfrm>
          <a:prstGeom prst="roundRect">
            <a:avLst>
              <a:gd name="adj" fmla="val 13636"/>
            </a:avLst>
          </a:prstGeom>
          <a:solidFill>
            <a:srgbClr val="3C873A"/>
          </a:solidFill>
          <a:ln w="12700">
            <a:solidFill>
              <a:srgbClr val="3C873A"/>
            </a:solidFill>
            <a:prstDash val="solid"/>
          </a:ln>
        </p:spPr>
      </p:sp>
      <p:sp>
        <p:nvSpPr>
          <p:cNvPr id="16" name="Text 10"/>
          <p:cNvSpPr txBox="1"/>
          <p:nvPr/>
        </p:nvSpPr>
        <p:spPr>
          <a:xfrm>
            <a:off x="6181344" y="1627632"/>
            <a:ext cx="1673352" cy="60350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Kosong? Kueri DB</a:t>
            </a:r>
            <a:endParaRPr lang="en-US" sz="1050" dirty="0"/>
          </a:p>
        </p:txBody>
      </p:sp>
      <p:pic>
        <p:nvPicPr>
          <p:cNvPr id="17" name="Image 4" descr="preencoded.png">    </p:cNvPr>
          <p:cNvPicPr>
            <a:picLocks noChangeAspect="1"/>
          </p:cNvPicPr>
          <p:nvPr/>
        </p:nvPicPr>
        <p:blipFill>
          <a:blip r:embed="rId5"/>
          <a:stretch>
            <a:fillRect/>
          </a:stretch>
        </p:blipFill>
        <p:spPr>
          <a:xfrm>
            <a:off x="7859268" y="1847088"/>
            <a:ext cx="164592" cy="164592"/>
          </a:xfrm>
          <a:prstGeom prst="rect">
            <a:avLst/>
          </a:prstGeom>
        </p:spPr>
      </p:pic>
      <p:sp>
        <p:nvSpPr>
          <p:cNvPr id="18" name="Shape 11"/>
          <p:cNvSpPr/>
          <p:nvPr/>
        </p:nvSpPr>
        <p:spPr>
          <a:xfrm>
            <a:off x="8028432" y="1627632"/>
            <a:ext cx="1673352" cy="603504"/>
          </a:xfrm>
          <a:prstGeom prst="roundRect">
            <a:avLst>
              <a:gd name="adj" fmla="val 13636"/>
            </a:avLst>
          </a:prstGeom>
          <a:solidFill>
            <a:srgbClr val="3C873A"/>
          </a:solidFill>
          <a:ln w="12700">
            <a:solidFill>
              <a:srgbClr val="3C873A"/>
            </a:solidFill>
            <a:prstDash val="solid"/>
          </a:ln>
        </p:spPr>
      </p:sp>
      <p:sp>
        <p:nvSpPr>
          <p:cNvPr id="19" name="Text 12"/>
          <p:cNvSpPr txBox="1"/>
          <p:nvPr/>
        </p:nvSpPr>
        <p:spPr>
          <a:xfrm>
            <a:off x="8028432" y="1627632"/>
            <a:ext cx="1673352" cy="60350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Simpan ke Cache</a:t>
            </a:r>
            <a:endParaRPr lang="en-US" sz="1050" dirty="0"/>
          </a:p>
        </p:txBody>
      </p:sp>
      <p:pic>
        <p:nvPicPr>
          <p:cNvPr id="20" name="Image 5" descr="preencoded.png">    </p:cNvPr>
          <p:cNvPicPr>
            <a:picLocks noChangeAspect="1"/>
          </p:cNvPicPr>
          <p:nvPr/>
        </p:nvPicPr>
        <p:blipFill>
          <a:blip r:embed="rId6"/>
          <a:stretch>
            <a:fillRect/>
          </a:stretch>
        </p:blipFill>
        <p:spPr>
          <a:xfrm>
            <a:off x="9706356" y="1847088"/>
            <a:ext cx="164592" cy="164592"/>
          </a:xfrm>
          <a:prstGeom prst="rect">
            <a:avLst/>
          </a:prstGeom>
        </p:spPr>
      </p:pic>
      <p:sp>
        <p:nvSpPr>
          <p:cNvPr id="21" name="Shape 13"/>
          <p:cNvSpPr/>
          <p:nvPr/>
        </p:nvSpPr>
        <p:spPr>
          <a:xfrm>
            <a:off x="9875520" y="1627632"/>
            <a:ext cx="1673352" cy="603504"/>
          </a:xfrm>
          <a:prstGeom prst="roundRect">
            <a:avLst>
              <a:gd name="adj" fmla="val 13636"/>
            </a:avLst>
          </a:prstGeom>
          <a:solidFill>
            <a:srgbClr val="0B2015"/>
          </a:solidFill>
          <a:ln w="12700">
            <a:solidFill>
              <a:srgbClr val="0B2015"/>
            </a:solidFill>
            <a:prstDash val="solid"/>
          </a:ln>
        </p:spPr>
      </p:sp>
      <p:sp>
        <p:nvSpPr>
          <p:cNvPr id="22" name="Text 14"/>
          <p:cNvSpPr txBox="1"/>
          <p:nvPr/>
        </p:nvSpPr>
        <p:spPr>
          <a:xfrm>
            <a:off x="9875520" y="1627632"/>
            <a:ext cx="1673352" cy="603504"/>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Kirim Respons</a:t>
            </a:r>
            <a:endParaRPr lang="en-US" sz="1050" dirty="0"/>
          </a:p>
        </p:txBody>
      </p:sp>
      <p:sp>
        <p:nvSpPr>
          <p:cNvPr id="23" name="Shape 15"/>
          <p:cNvSpPr/>
          <p:nvPr/>
        </p:nvSpPr>
        <p:spPr>
          <a:xfrm>
            <a:off x="640080" y="2432304"/>
            <a:ext cx="6035040" cy="4036527"/>
          </a:xfrm>
          <a:prstGeom prst="roundRect">
            <a:avLst>
              <a:gd name="adj" fmla="val 1586"/>
            </a:avLst>
          </a:prstGeom>
          <a:solidFill>
            <a:srgbClr val="0E2417"/>
          </a:solidFill>
          <a:ln w="12700">
            <a:solidFill>
              <a:srgbClr val="234A31"/>
            </a:solidFill>
            <a:prstDash val="solid"/>
          </a:ln>
        </p:spPr>
      </p:sp>
      <p:sp>
        <p:nvSpPr>
          <p:cNvPr id="24" name="Text 16"/>
          <p:cNvSpPr txBox="1"/>
          <p:nvPr/>
        </p:nvSpPr>
        <p:spPr>
          <a:xfrm>
            <a:off x="859536" y="2523744"/>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POLA CACHE-ASIDE</a:t>
            </a:r>
            <a:endParaRPr lang="en-US" sz="950" dirty="0"/>
          </a:p>
        </p:txBody>
      </p:sp>
      <p:sp>
        <p:nvSpPr>
          <p:cNvPr id="25" name="Text 17"/>
          <p:cNvSpPr txBox="1"/>
          <p:nvPr/>
        </p:nvSpPr>
        <p:spPr>
          <a:xfrm>
            <a:off x="859536" y="2834640"/>
            <a:ext cx="5596128" cy="3524463"/>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Redis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'ioredis'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redis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Redis(</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process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.env.REDIS_URL);</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async</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ambilProduk(id)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kunci =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`produk:${id}`</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cache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redis.get(kunci);</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(cache)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JSON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.parse(cache);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cache hit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data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Produk.findById(id);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cache miss</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redis.set(kunci,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JSON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.stringify(data),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'EX'</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300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data;</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Batalkan cache ketika data berubah</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async</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ubahProduk(id, isi)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data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Produk.update(id, isi);</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redis.del(</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`produk:${id}`</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data;</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26" name="Shape 18"/>
          <p:cNvSpPr/>
          <p:nvPr/>
        </p:nvSpPr>
        <p:spPr>
          <a:xfrm>
            <a:off x="6949440" y="2505456"/>
            <a:ext cx="420624" cy="420624"/>
          </a:xfrm>
          <a:prstGeom prst="roundRect">
            <a:avLst>
              <a:gd name="adj" fmla="val 26087"/>
            </a:avLst>
          </a:prstGeom>
          <a:solidFill>
            <a:srgbClr val="E8F2E2"/>
          </a:solidFill>
          <a:ln w="12700">
            <a:solidFill>
              <a:srgbClr val="E8F2E2"/>
            </a:solidFill>
            <a:prstDash val="solid"/>
          </a:ln>
        </p:spPr>
      </p:sp>
      <p:pic>
        <p:nvPicPr>
          <p:cNvPr id="27" name="Image 6" descr="preencoded.png">    </p:cNvPr>
          <p:cNvPicPr>
            <a:picLocks noChangeAspect="1"/>
          </p:cNvPicPr>
          <p:nvPr/>
        </p:nvPicPr>
        <p:blipFill>
          <a:blip r:embed="rId7"/>
          <a:stretch>
            <a:fillRect/>
          </a:stretch>
        </p:blipFill>
        <p:spPr>
          <a:xfrm>
            <a:off x="7054596" y="2610612"/>
            <a:ext cx="210312" cy="210312"/>
          </a:xfrm>
          <a:prstGeom prst="rect">
            <a:avLst/>
          </a:prstGeom>
        </p:spPr>
      </p:pic>
      <p:sp>
        <p:nvSpPr>
          <p:cNvPr id="28" name="Text 19"/>
          <p:cNvSpPr txBox="1"/>
          <p:nvPr/>
        </p:nvSpPr>
        <p:spPr>
          <a:xfrm>
            <a:off x="7516368" y="248716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Cache Hasil Kueri</a:t>
            </a:r>
            <a:endParaRPr lang="en-US" sz="1200" dirty="0"/>
          </a:p>
        </p:txBody>
      </p:sp>
      <p:sp>
        <p:nvSpPr>
          <p:cNvPr id="29" name="Text 20"/>
          <p:cNvSpPr txBox="1"/>
          <p:nvPr/>
        </p:nvSpPr>
        <p:spPr>
          <a:xfrm>
            <a:off x="7516368" y="2743200"/>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Data yang sering dibaca namun jarang berubah, seperti katalog dan konfigurasi.</a:t>
            </a:r>
            <a:endParaRPr lang="en-US" sz="960" dirty="0"/>
          </a:p>
        </p:txBody>
      </p:sp>
      <p:sp>
        <p:nvSpPr>
          <p:cNvPr id="30" name="Shape 21"/>
          <p:cNvSpPr/>
          <p:nvPr/>
        </p:nvSpPr>
        <p:spPr>
          <a:xfrm>
            <a:off x="6949440" y="3108960"/>
            <a:ext cx="420624" cy="420624"/>
          </a:xfrm>
          <a:prstGeom prst="roundRect">
            <a:avLst>
              <a:gd name="adj" fmla="val 26087"/>
            </a:avLst>
          </a:prstGeom>
          <a:solidFill>
            <a:srgbClr val="E8F2E2"/>
          </a:solidFill>
          <a:ln w="12700">
            <a:solidFill>
              <a:srgbClr val="E8F2E2"/>
            </a:solidFill>
            <a:prstDash val="solid"/>
          </a:ln>
        </p:spPr>
      </p:sp>
      <p:pic>
        <p:nvPicPr>
          <p:cNvPr id="31" name="Image 7" descr="preencoded.png">    </p:cNvPr>
          <p:cNvPicPr>
            <a:picLocks noChangeAspect="1"/>
          </p:cNvPicPr>
          <p:nvPr/>
        </p:nvPicPr>
        <p:blipFill>
          <a:blip r:embed="rId8"/>
          <a:stretch>
            <a:fillRect/>
          </a:stretch>
        </p:blipFill>
        <p:spPr>
          <a:xfrm>
            <a:off x="7054596" y="3214116"/>
            <a:ext cx="210312" cy="210312"/>
          </a:xfrm>
          <a:prstGeom prst="rect">
            <a:avLst/>
          </a:prstGeom>
        </p:spPr>
      </p:pic>
      <p:sp>
        <p:nvSpPr>
          <p:cNvPr id="32" name="Text 22"/>
          <p:cNvSpPr txBox="1"/>
          <p:nvPr/>
        </p:nvSpPr>
        <p:spPr>
          <a:xfrm>
            <a:off x="7516368" y="3090672"/>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Penyimpanan Sesi</a:t>
            </a:r>
            <a:endParaRPr lang="en-US" sz="1200" dirty="0"/>
          </a:p>
        </p:txBody>
      </p:sp>
      <p:sp>
        <p:nvSpPr>
          <p:cNvPr id="33" name="Text 23"/>
          <p:cNvSpPr txBox="1"/>
          <p:nvPr/>
        </p:nvSpPr>
        <p:spPr>
          <a:xfrm>
            <a:off x="7516368" y="3346704"/>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Menyimpan sesi pengguna agar dapat dibagi antarserver dalam mode cluster.</a:t>
            </a:r>
            <a:endParaRPr lang="en-US" sz="960" dirty="0"/>
          </a:p>
        </p:txBody>
      </p:sp>
      <p:sp>
        <p:nvSpPr>
          <p:cNvPr id="34" name="Shape 24"/>
          <p:cNvSpPr/>
          <p:nvPr/>
        </p:nvSpPr>
        <p:spPr>
          <a:xfrm>
            <a:off x="6949440" y="3712464"/>
            <a:ext cx="420624" cy="420624"/>
          </a:xfrm>
          <a:prstGeom prst="roundRect">
            <a:avLst>
              <a:gd name="adj" fmla="val 26087"/>
            </a:avLst>
          </a:prstGeom>
          <a:solidFill>
            <a:srgbClr val="E8F2E2"/>
          </a:solidFill>
          <a:ln w="12700">
            <a:solidFill>
              <a:srgbClr val="E8F2E2"/>
            </a:solidFill>
            <a:prstDash val="solid"/>
          </a:ln>
        </p:spPr>
      </p:sp>
      <p:pic>
        <p:nvPicPr>
          <p:cNvPr id="35" name="Image 8" descr="preencoded.png">    </p:cNvPr>
          <p:cNvPicPr>
            <a:picLocks noChangeAspect="1"/>
          </p:cNvPicPr>
          <p:nvPr/>
        </p:nvPicPr>
        <p:blipFill>
          <a:blip r:embed="rId9"/>
          <a:stretch>
            <a:fillRect/>
          </a:stretch>
        </p:blipFill>
        <p:spPr>
          <a:xfrm>
            <a:off x="7054596" y="3817620"/>
            <a:ext cx="210312" cy="210312"/>
          </a:xfrm>
          <a:prstGeom prst="rect">
            <a:avLst/>
          </a:prstGeom>
        </p:spPr>
      </p:pic>
      <p:sp>
        <p:nvSpPr>
          <p:cNvPr id="36" name="Text 25"/>
          <p:cNvSpPr txBox="1"/>
          <p:nvPr/>
        </p:nvSpPr>
        <p:spPr>
          <a:xfrm>
            <a:off x="7516368" y="369417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Rate Limiting</a:t>
            </a:r>
            <a:endParaRPr lang="en-US" sz="1200" dirty="0"/>
          </a:p>
        </p:txBody>
      </p:sp>
      <p:sp>
        <p:nvSpPr>
          <p:cNvPr id="37" name="Text 26"/>
          <p:cNvSpPr txBox="1"/>
          <p:nvPr/>
        </p:nvSpPr>
        <p:spPr>
          <a:xfrm>
            <a:off x="7516368" y="3950208"/>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Menghitung jumlah permintaan per pengguna dengan penghitung yang kedaluwarsa.</a:t>
            </a:r>
            <a:endParaRPr lang="en-US" sz="960" dirty="0"/>
          </a:p>
        </p:txBody>
      </p:sp>
      <p:sp>
        <p:nvSpPr>
          <p:cNvPr id="38" name="Shape 27"/>
          <p:cNvSpPr/>
          <p:nvPr/>
        </p:nvSpPr>
        <p:spPr>
          <a:xfrm>
            <a:off x="6949440" y="4315968"/>
            <a:ext cx="420624" cy="420624"/>
          </a:xfrm>
          <a:prstGeom prst="roundRect">
            <a:avLst>
              <a:gd name="adj" fmla="val 26087"/>
            </a:avLst>
          </a:prstGeom>
          <a:solidFill>
            <a:srgbClr val="E8F2E2"/>
          </a:solidFill>
          <a:ln w="12700">
            <a:solidFill>
              <a:srgbClr val="E8F2E2"/>
            </a:solidFill>
            <a:prstDash val="solid"/>
          </a:ln>
        </p:spPr>
      </p:sp>
      <p:pic>
        <p:nvPicPr>
          <p:cNvPr id="39" name="Image 9" descr="preencoded.png">    </p:cNvPr>
          <p:cNvPicPr>
            <a:picLocks noChangeAspect="1"/>
          </p:cNvPicPr>
          <p:nvPr/>
        </p:nvPicPr>
        <p:blipFill>
          <a:blip r:embed="rId10"/>
          <a:stretch>
            <a:fillRect/>
          </a:stretch>
        </p:blipFill>
        <p:spPr>
          <a:xfrm>
            <a:off x="7054596" y="4421124"/>
            <a:ext cx="210312" cy="210312"/>
          </a:xfrm>
          <a:prstGeom prst="rect">
            <a:avLst/>
          </a:prstGeom>
        </p:spPr>
      </p:pic>
      <p:sp>
        <p:nvSpPr>
          <p:cNvPr id="40" name="Text 28"/>
          <p:cNvSpPr txBox="1"/>
          <p:nvPr/>
        </p:nvSpPr>
        <p:spPr>
          <a:xfrm>
            <a:off x="7516368" y="429768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Antrean Pekerjaan</a:t>
            </a:r>
            <a:endParaRPr lang="en-US" sz="1200" dirty="0"/>
          </a:p>
        </p:txBody>
      </p:sp>
      <p:sp>
        <p:nvSpPr>
          <p:cNvPr id="41" name="Text 29"/>
          <p:cNvSpPr txBox="1"/>
          <p:nvPr/>
        </p:nvSpPr>
        <p:spPr>
          <a:xfrm>
            <a:off x="7516368" y="4553712"/>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Menjadi tulang punggung pustaka antrean seperti BullMQ.</a:t>
            </a:r>
            <a:endParaRPr lang="en-US" sz="960" dirty="0"/>
          </a:p>
        </p:txBody>
      </p:sp>
      <p:sp>
        <p:nvSpPr>
          <p:cNvPr id="42" name="Shape 30"/>
          <p:cNvSpPr/>
          <p:nvPr/>
        </p:nvSpPr>
        <p:spPr>
          <a:xfrm>
            <a:off x="6949440" y="4919472"/>
            <a:ext cx="420624" cy="420624"/>
          </a:xfrm>
          <a:prstGeom prst="roundRect">
            <a:avLst>
              <a:gd name="adj" fmla="val 26087"/>
            </a:avLst>
          </a:prstGeom>
          <a:solidFill>
            <a:srgbClr val="E8F2E2"/>
          </a:solidFill>
          <a:ln w="12700">
            <a:solidFill>
              <a:srgbClr val="E8F2E2"/>
            </a:solidFill>
            <a:prstDash val="solid"/>
          </a:ln>
        </p:spPr>
      </p:sp>
      <p:pic>
        <p:nvPicPr>
          <p:cNvPr id="43" name="Image 10" descr="preencoded.png">    </p:cNvPr>
          <p:cNvPicPr>
            <a:picLocks noChangeAspect="1"/>
          </p:cNvPicPr>
          <p:nvPr/>
        </p:nvPicPr>
        <p:blipFill>
          <a:blip r:embed="rId11"/>
          <a:stretch>
            <a:fillRect/>
          </a:stretch>
        </p:blipFill>
        <p:spPr>
          <a:xfrm>
            <a:off x="7054596" y="5024628"/>
            <a:ext cx="210312" cy="210312"/>
          </a:xfrm>
          <a:prstGeom prst="rect">
            <a:avLst/>
          </a:prstGeom>
        </p:spPr>
      </p:pic>
      <p:sp>
        <p:nvSpPr>
          <p:cNvPr id="44" name="Text 31"/>
          <p:cNvSpPr txBox="1"/>
          <p:nvPr/>
        </p:nvSpPr>
        <p:spPr>
          <a:xfrm>
            <a:off x="7516368" y="4901184"/>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Tentukan TTL</a:t>
            </a:r>
            <a:endParaRPr lang="en-US" sz="1200" dirty="0"/>
          </a:p>
        </p:txBody>
      </p:sp>
      <p:sp>
        <p:nvSpPr>
          <p:cNvPr id="45" name="Text 32"/>
          <p:cNvSpPr txBox="1"/>
          <p:nvPr/>
        </p:nvSpPr>
        <p:spPr>
          <a:xfrm>
            <a:off x="7516368" y="5157216"/>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Selalu beri masa berlaku agar data basi tidak bertahan selamanya.</a:t>
            </a:r>
            <a:endParaRPr lang="en-US" sz="960" dirty="0"/>
          </a:p>
        </p:txBody>
      </p:sp>
      <p:sp>
        <p:nvSpPr>
          <p:cNvPr id="46" name="Shape 33"/>
          <p:cNvSpPr/>
          <p:nvPr/>
        </p:nvSpPr>
        <p:spPr>
          <a:xfrm>
            <a:off x="6949440" y="5522976"/>
            <a:ext cx="420624" cy="420624"/>
          </a:xfrm>
          <a:prstGeom prst="roundRect">
            <a:avLst>
              <a:gd name="adj" fmla="val 26087"/>
            </a:avLst>
          </a:prstGeom>
          <a:solidFill>
            <a:srgbClr val="E8F2E2"/>
          </a:solidFill>
          <a:ln w="12700">
            <a:solidFill>
              <a:srgbClr val="E8F2E2"/>
            </a:solidFill>
            <a:prstDash val="solid"/>
          </a:ln>
        </p:spPr>
      </p:sp>
      <p:pic>
        <p:nvPicPr>
          <p:cNvPr id="47" name="Image 11" descr="preencoded.png">    </p:cNvPr>
          <p:cNvPicPr>
            <a:picLocks noChangeAspect="1"/>
          </p:cNvPicPr>
          <p:nvPr/>
        </p:nvPicPr>
        <p:blipFill>
          <a:blip r:embed="rId12"/>
          <a:stretch>
            <a:fillRect/>
          </a:stretch>
        </p:blipFill>
        <p:spPr>
          <a:xfrm>
            <a:off x="7054596" y="5628132"/>
            <a:ext cx="210312" cy="210312"/>
          </a:xfrm>
          <a:prstGeom prst="rect">
            <a:avLst/>
          </a:prstGeom>
        </p:spPr>
      </p:pic>
      <p:sp>
        <p:nvSpPr>
          <p:cNvPr id="48" name="Text 34"/>
          <p:cNvSpPr txBox="1"/>
          <p:nvPr/>
        </p:nvSpPr>
        <p:spPr>
          <a:xfrm>
            <a:off x="7516368" y="550468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Rencanakan Invalidasi</a:t>
            </a:r>
            <a:endParaRPr lang="en-US" sz="1200" dirty="0"/>
          </a:p>
        </p:txBody>
      </p:sp>
      <p:sp>
        <p:nvSpPr>
          <p:cNvPr id="49" name="Text 35"/>
          <p:cNvSpPr txBox="1"/>
          <p:nvPr/>
        </p:nvSpPr>
        <p:spPr>
          <a:xfrm>
            <a:off x="7516368" y="5760720"/>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Menentukan kapan cache dihapus sering lebih sulit daripada membuatnya.</a:t>
            </a:r>
            <a:endParaRPr lang="en-US" sz="960" dirty="0"/>
          </a:p>
        </p:txBody>
      </p:sp>
      <p:sp>
        <p:nvSpPr>
          <p:cNvPr id="50" name="Text 36"/>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1" name="Text 37"/>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178C6"/>
          </a:solidFill>
          <a:ln w="12700">
            <a:solidFill>
              <a:srgbClr val="3178C6"/>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TypeScript untuk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Menangkap kesalahan sebelum program dijalankan</a:t>
            </a:r>
            <a:endParaRPr lang="en-US" sz="1300" dirty="0"/>
          </a:p>
        </p:txBody>
      </p:sp>
      <p:sp>
        <p:nvSpPr>
          <p:cNvPr id="6" name="Shape 3"/>
          <p:cNvSpPr/>
          <p:nvPr/>
        </p:nvSpPr>
        <p:spPr>
          <a:xfrm>
            <a:off x="640080" y="1627632"/>
            <a:ext cx="6035040" cy="4036527"/>
          </a:xfrm>
          <a:prstGeom prst="roundRect">
            <a:avLst>
              <a:gd name="adj" fmla="val 1586"/>
            </a:avLst>
          </a:prstGeom>
          <a:solidFill>
            <a:srgbClr val="0E2417"/>
          </a:solidFill>
          <a:ln w="12700">
            <a:solidFill>
              <a:srgbClr val="234A31"/>
            </a:solidFill>
            <a:prstDash val="solid"/>
          </a:ln>
        </p:spPr>
      </p:sp>
      <p:sp>
        <p:nvSpPr>
          <p:cNvPr id="7" name="Text 4"/>
          <p:cNvSpPr txBox="1"/>
          <p:nvPr/>
        </p:nvSpPr>
        <p:spPr>
          <a:xfrm>
            <a:off x="859536" y="1719072"/>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CONTOH KODE BERTIPE</a:t>
            </a:r>
            <a:endParaRPr lang="en-US" sz="950" dirty="0"/>
          </a:p>
        </p:txBody>
      </p:sp>
      <p:sp>
        <p:nvSpPr>
          <p:cNvPr id="8" name="Text 5"/>
          <p:cNvSpPr txBox="1"/>
          <p:nvPr/>
        </p:nvSpPr>
        <p:spPr>
          <a:xfrm>
            <a:off x="859536" y="2029968"/>
            <a:ext cx="5596128" cy="3524463"/>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import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express, { Request, Response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from</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'express'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interface Produk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id: number;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nama: string;</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harga: number;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kategori?: string;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opsional</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daftar: Produk[] =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function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cari(id: number): Produk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undefined</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daftar.find((p) =&gt; p.id === id);</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app.get(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'/produk/:id'</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(req: Request, res: Response)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produk = cari(Number(req.params.id));</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(!produk)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return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res.status(</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404</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).json({});</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res.json(produk);</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949440" y="1627632"/>
            <a:ext cx="4663440" cy="2400373"/>
          </a:xfrm>
          <a:prstGeom prst="roundRect">
            <a:avLst>
              <a:gd name="adj" fmla="val 2667"/>
            </a:avLst>
          </a:prstGeom>
          <a:solidFill>
            <a:srgbClr val="0E2417"/>
          </a:solidFill>
          <a:ln w="12700">
            <a:solidFill>
              <a:srgbClr val="234A31"/>
            </a:solidFill>
            <a:prstDash val="solid"/>
          </a:ln>
        </p:spPr>
      </p:sp>
      <p:sp>
        <p:nvSpPr>
          <p:cNvPr id="10" name="Text 7"/>
          <p:cNvSpPr txBox="1"/>
          <p:nvPr/>
        </p:nvSpPr>
        <p:spPr>
          <a:xfrm>
            <a:off x="7168896" y="1719072"/>
            <a:ext cx="42245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PENYIAPAN</a:t>
            </a:r>
            <a:endParaRPr lang="en-US" sz="950" dirty="0"/>
          </a:p>
        </p:txBody>
      </p:sp>
      <p:sp>
        <p:nvSpPr>
          <p:cNvPr id="11" name="Text 8"/>
          <p:cNvSpPr txBox="1"/>
          <p:nvPr/>
        </p:nvSpPr>
        <p:spPr>
          <a:xfrm>
            <a:off x="7168896" y="2029968"/>
            <a:ext cx="4224528" cy="1888309"/>
          </a:xfrm>
          <a:prstGeom prst="rect">
            <a:avLst/>
          </a:prstGeom>
          <a:noFill/>
          <a:ln/>
        </p:spPr>
        <p:txBody>
          <a:bodyPr wrap="square" lIns="0" tIns="0" rIns="0" bIns="0" rtlCol="0" anchor="t"/>
          <a:lstStyle/>
          <a:p>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npm i -D typescript tsx @types/node @types/express</a:t>
            </a:r>
            <a:endParaRPr lang="en-US" sz="980" dirty="0"/>
          </a:p>
          <a:p>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npx tsc --init</a:t>
            </a:r>
            <a:endParaRPr lang="en-US" sz="980" dirty="0"/>
          </a:p>
          <a:p>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 </a:t>
            </a:r>
            <a:endParaRPr lang="en-US" sz="980" dirty="0"/>
          </a:p>
          <a:p>
            <a:pPr indent="0" marL="0">
              <a:lnSpc>
                <a:spcPct val="106000"/>
              </a:lnSpc>
              <a:buNone/>
            </a:pPr>
            <a:r>
              <a:rPr lang="en-US" sz="980" dirty="0">
                <a:solidFill>
                  <a:srgbClr val="6E8A76"/>
                </a:solidFill>
                <a:latin typeface="Courier New" pitchFamily="34" charset="0"/>
                <a:ea typeface="Courier New" pitchFamily="34" charset="-122"/>
                <a:cs typeface="Courier New" pitchFamily="34" charset="-120"/>
              </a:rPr>
              <a:t>// tsconfig.json (inti)</a:t>
            </a:r>
            <a:endParaRPr lang="en-US" sz="980" dirty="0"/>
          </a:p>
          <a:p>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"target"</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"ES2022"</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"module"</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"NodeNext"</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a:t>
            </a:r>
            <a:endParaRPr lang="en-US" sz="980" dirty="0"/>
          </a:p>
          <a:p>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"strict"</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80" dirty="0">
                <a:solidFill>
                  <a:srgbClr val="8CC84B"/>
                </a:solidFill>
                <a:latin typeface="Courier New" pitchFamily="34" charset="0"/>
                <a:ea typeface="Courier New" pitchFamily="34" charset="-122"/>
                <a:cs typeface="Courier New" pitchFamily="34" charset="-120"/>
              </a:rPr>
              <a:t>true</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"outDir"</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"dist"</a:t>
            </a:r>
            <a:endParaRPr lang="en-US" sz="980" dirty="0"/>
          </a:p>
          <a:p>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 </a:t>
            </a:r>
            <a:endParaRPr lang="en-US" sz="980" dirty="0"/>
          </a:p>
          <a:p>
            <a:pPr indent="0" marL="0">
              <a:lnSpc>
                <a:spcPct val="106000"/>
              </a:lnSpc>
              <a:buNone/>
            </a:pPr>
            <a:r>
              <a:rPr lang="en-US" sz="980" dirty="0">
                <a:solidFill>
                  <a:srgbClr val="6E8A76"/>
                </a:solidFill>
                <a:latin typeface="Courier New" pitchFamily="34" charset="0"/>
                <a:ea typeface="Courier New" pitchFamily="34" charset="-122"/>
                <a:cs typeface="Courier New" pitchFamily="34" charset="-120"/>
              </a:rPr>
              <a:t>// package.json scripts</a:t>
            </a:r>
            <a:endParaRPr lang="en-US" sz="980" dirty="0"/>
          </a:p>
          <a:p>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"dev"</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"tsx watch src/server.ts"</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a:t>
            </a:r>
            <a:endParaRPr lang="en-US" sz="980" dirty="0"/>
          </a:p>
          <a:p>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"build"</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"tsc"</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a:t>
            </a:r>
            <a:endParaRPr lang="en-US" sz="980" dirty="0"/>
          </a:p>
          <a:p>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"start"</a:t>
            </a:r>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980" dirty="0">
                <a:solidFill>
                  <a:srgbClr val="E5C07B"/>
                </a:solidFill>
                <a:latin typeface="Courier New" pitchFamily="34" charset="0"/>
                <a:ea typeface="Courier New" pitchFamily="34" charset="-122"/>
                <a:cs typeface="Courier New" pitchFamily="34" charset="-120"/>
              </a:rPr>
              <a:t>"node dist/server.js"</a:t>
            </a:r>
            <a:endParaRPr lang="en-US" sz="980" dirty="0"/>
          </a:p>
        </p:txBody>
      </p:sp>
      <p:sp>
        <p:nvSpPr>
          <p:cNvPr id="12" name="Shape 9"/>
          <p:cNvSpPr/>
          <p:nvPr/>
        </p:nvSpPr>
        <p:spPr>
          <a:xfrm>
            <a:off x="6949440" y="4224528"/>
            <a:ext cx="420624" cy="420624"/>
          </a:xfrm>
          <a:prstGeom prst="roundRect">
            <a:avLst>
              <a:gd name="adj" fmla="val 26087"/>
            </a:avLst>
          </a:prstGeom>
          <a:solidFill>
            <a:srgbClr val="E8F2E2"/>
          </a:solidFill>
          <a:ln w="12700">
            <a:solidFill>
              <a:srgbClr val="E8F2E2"/>
            </a:solidFill>
            <a:prstDash val="solid"/>
          </a:ln>
        </p:spPr>
      </p:sp>
      <p:pic>
        <p:nvPicPr>
          <p:cNvPr id="13" name="Image 1" descr="preencoded.png">    </p:cNvPr>
          <p:cNvPicPr>
            <a:picLocks noChangeAspect="1"/>
          </p:cNvPicPr>
          <p:nvPr/>
        </p:nvPicPr>
        <p:blipFill>
          <a:blip r:embed="rId2"/>
          <a:stretch>
            <a:fillRect/>
          </a:stretch>
        </p:blipFill>
        <p:spPr>
          <a:xfrm>
            <a:off x="7054596" y="4329684"/>
            <a:ext cx="210312" cy="210312"/>
          </a:xfrm>
          <a:prstGeom prst="rect">
            <a:avLst/>
          </a:prstGeom>
        </p:spPr>
      </p:pic>
      <p:sp>
        <p:nvSpPr>
          <p:cNvPr id="14" name="Text 10"/>
          <p:cNvSpPr txBox="1"/>
          <p:nvPr/>
        </p:nvSpPr>
        <p:spPr>
          <a:xfrm>
            <a:off x="7516368" y="420624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Bug Tertangkap Lebih Awal</a:t>
            </a:r>
            <a:endParaRPr lang="en-US" sz="1200" dirty="0"/>
          </a:p>
        </p:txBody>
      </p:sp>
      <p:sp>
        <p:nvSpPr>
          <p:cNvPr id="15" name="Text 11"/>
          <p:cNvSpPr txBox="1"/>
          <p:nvPr/>
        </p:nvSpPr>
        <p:spPr>
          <a:xfrm>
            <a:off x="7516368" y="4462272"/>
            <a:ext cx="4096512" cy="23774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Kesalahan tipe ditemukan saat menulis kode, bukan saat pengguna memakainya.</a:t>
            </a:r>
            <a:endParaRPr lang="en-US" sz="960" dirty="0"/>
          </a:p>
        </p:txBody>
      </p:sp>
      <p:sp>
        <p:nvSpPr>
          <p:cNvPr id="16" name="Shape 12"/>
          <p:cNvSpPr/>
          <p:nvPr/>
        </p:nvSpPr>
        <p:spPr>
          <a:xfrm>
            <a:off x="6949440" y="4718304"/>
            <a:ext cx="420624" cy="420624"/>
          </a:xfrm>
          <a:prstGeom prst="roundRect">
            <a:avLst>
              <a:gd name="adj" fmla="val 26087"/>
            </a:avLst>
          </a:prstGeom>
          <a:solidFill>
            <a:srgbClr val="E8F2E2"/>
          </a:solidFill>
          <a:ln w="12700">
            <a:solidFill>
              <a:srgbClr val="E8F2E2"/>
            </a:solidFill>
            <a:prstDash val="solid"/>
          </a:ln>
        </p:spPr>
      </p:sp>
      <p:pic>
        <p:nvPicPr>
          <p:cNvPr id="17" name="Image 2" descr="preencoded.png">    </p:cNvPr>
          <p:cNvPicPr>
            <a:picLocks noChangeAspect="1"/>
          </p:cNvPicPr>
          <p:nvPr/>
        </p:nvPicPr>
        <p:blipFill>
          <a:blip r:embed="rId3"/>
          <a:stretch>
            <a:fillRect/>
          </a:stretch>
        </p:blipFill>
        <p:spPr>
          <a:xfrm>
            <a:off x="7054596" y="4823460"/>
            <a:ext cx="210312" cy="210312"/>
          </a:xfrm>
          <a:prstGeom prst="rect">
            <a:avLst/>
          </a:prstGeom>
        </p:spPr>
      </p:pic>
      <p:sp>
        <p:nvSpPr>
          <p:cNvPr id="18" name="Text 13"/>
          <p:cNvSpPr txBox="1"/>
          <p:nvPr/>
        </p:nvSpPr>
        <p:spPr>
          <a:xfrm>
            <a:off x="7516368" y="470001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Pelengkapan Otomatis</a:t>
            </a:r>
            <a:endParaRPr lang="en-US" sz="1200" dirty="0"/>
          </a:p>
        </p:txBody>
      </p:sp>
      <p:sp>
        <p:nvSpPr>
          <p:cNvPr id="19" name="Text 14"/>
          <p:cNvSpPr txBox="1"/>
          <p:nvPr/>
        </p:nvSpPr>
        <p:spPr>
          <a:xfrm>
            <a:off x="7516368" y="4956048"/>
            <a:ext cx="4096512" cy="23774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Editor mengetahui bentuk data sehingga saran kode jauh lebih akurat.</a:t>
            </a:r>
            <a:endParaRPr lang="en-US" sz="960" dirty="0"/>
          </a:p>
        </p:txBody>
      </p:sp>
      <p:sp>
        <p:nvSpPr>
          <p:cNvPr id="20" name="Shape 15"/>
          <p:cNvSpPr/>
          <p:nvPr/>
        </p:nvSpPr>
        <p:spPr>
          <a:xfrm>
            <a:off x="6949440" y="5212080"/>
            <a:ext cx="420624" cy="420624"/>
          </a:xfrm>
          <a:prstGeom prst="roundRect">
            <a:avLst>
              <a:gd name="adj" fmla="val 26087"/>
            </a:avLst>
          </a:prstGeom>
          <a:solidFill>
            <a:srgbClr val="E8F2E2"/>
          </a:solidFill>
          <a:ln w="12700">
            <a:solidFill>
              <a:srgbClr val="E8F2E2"/>
            </a:solidFill>
            <a:prstDash val="solid"/>
          </a:ln>
        </p:spPr>
      </p:sp>
      <p:pic>
        <p:nvPicPr>
          <p:cNvPr id="21" name="Image 3" descr="preencoded.png">    </p:cNvPr>
          <p:cNvPicPr>
            <a:picLocks noChangeAspect="1"/>
          </p:cNvPicPr>
          <p:nvPr/>
        </p:nvPicPr>
        <p:blipFill>
          <a:blip r:embed="rId4"/>
          <a:stretch>
            <a:fillRect/>
          </a:stretch>
        </p:blipFill>
        <p:spPr>
          <a:xfrm>
            <a:off x="7054596" y="5317236"/>
            <a:ext cx="210312" cy="210312"/>
          </a:xfrm>
          <a:prstGeom prst="rect">
            <a:avLst/>
          </a:prstGeom>
        </p:spPr>
      </p:pic>
      <p:sp>
        <p:nvSpPr>
          <p:cNvPr id="22" name="Text 16"/>
          <p:cNvSpPr txBox="1"/>
          <p:nvPr/>
        </p:nvSpPr>
        <p:spPr>
          <a:xfrm>
            <a:off x="7516368" y="5193792"/>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Dokumentasi Hidup</a:t>
            </a:r>
            <a:endParaRPr lang="en-US" sz="1200" dirty="0"/>
          </a:p>
        </p:txBody>
      </p:sp>
      <p:sp>
        <p:nvSpPr>
          <p:cNvPr id="23" name="Text 17"/>
          <p:cNvSpPr txBox="1"/>
          <p:nvPr/>
        </p:nvSpPr>
        <p:spPr>
          <a:xfrm>
            <a:off x="7516368" y="5449824"/>
            <a:ext cx="4096512" cy="23774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Tipe menjelaskan bentuk data tanpa perlu komentar yang mudah usang.</a:t>
            </a:r>
            <a:endParaRPr lang="en-US" sz="960" dirty="0"/>
          </a:p>
        </p:txBody>
      </p:sp>
      <p:sp>
        <p:nvSpPr>
          <p:cNvPr id="24" name="Shape 18"/>
          <p:cNvSpPr/>
          <p:nvPr/>
        </p:nvSpPr>
        <p:spPr>
          <a:xfrm>
            <a:off x="6949440" y="5705856"/>
            <a:ext cx="420624" cy="420624"/>
          </a:xfrm>
          <a:prstGeom prst="roundRect">
            <a:avLst>
              <a:gd name="adj" fmla="val 26087"/>
            </a:avLst>
          </a:prstGeom>
          <a:solidFill>
            <a:srgbClr val="E8F2E2"/>
          </a:solidFill>
          <a:ln w="12700">
            <a:solidFill>
              <a:srgbClr val="E8F2E2"/>
            </a:solidFill>
            <a:prstDash val="solid"/>
          </a:ln>
        </p:spPr>
      </p:sp>
      <p:pic>
        <p:nvPicPr>
          <p:cNvPr id="25" name="Image 4" descr="preencoded.png">    </p:cNvPr>
          <p:cNvPicPr>
            <a:picLocks noChangeAspect="1"/>
          </p:cNvPicPr>
          <p:nvPr/>
        </p:nvPicPr>
        <p:blipFill>
          <a:blip r:embed="rId5"/>
          <a:stretch>
            <a:fillRect/>
          </a:stretch>
        </p:blipFill>
        <p:spPr>
          <a:xfrm>
            <a:off x="7054596" y="5811012"/>
            <a:ext cx="210312" cy="210312"/>
          </a:xfrm>
          <a:prstGeom prst="rect">
            <a:avLst/>
          </a:prstGeom>
        </p:spPr>
      </p:pic>
      <p:sp>
        <p:nvSpPr>
          <p:cNvPr id="26" name="Text 19"/>
          <p:cNvSpPr txBox="1"/>
          <p:nvPr/>
        </p:nvSpPr>
        <p:spPr>
          <a:xfrm>
            <a:off x="7516368" y="568756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Biayanya</a:t>
            </a:r>
            <a:endParaRPr lang="en-US" sz="1200" dirty="0"/>
          </a:p>
        </p:txBody>
      </p:sp>
      <p:sp>
        <p:nvSpPr>
          <p:cNvPr id="27" name="Text 20"/>
          <p:cNvSpPr txBox="1"/>
          <p:nvPr/>
        </p:nvSpPr>
        <p:spPr>
          <a:xfrm>
            <a:off x="7516368" y="5943600"/>
            <a:ext cx="4096512" cy="23774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Ada langkah kompilasi dan waktu belajar tambahan bagi tim yang baru mengenalnya.</a:t>
            </a:r>
            <a:endParaRPr lang="en-US" sz="960" dirty="0"/>
          </a:p>
        </p:txBody>
      </p:sp>
      <p:sp>
        <p:nvSpPr>
          <p:cNvPr id="28" name="Text 2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29" name="Text 2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Arsitektur Berlapis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Menata kode agar mudah diuji, diubah, dan dirawat</a:t>
            </a:r>
            <a:endParaRPr lang="en-US" sz="1300" dirty="0"/>
          </a:p>
        </p:txBody>
      </p:sp>
      <p:sp>
        <p:nvSpPr>
          <p:cNvPr id="6" name="Shape 3"/>
          <p:cNvSpPr/>
          <p:nvPr/>
        </p:nvSpPr>
        <p:spPr>
          <a:xfrm>
            <a:off x="640080" y="1645920"/>
            <a:ext cx="6035040" cy="859536"/>
          </a:xfrm>
          <a:prstGeom prst="roundRect">
            <a:avLst>
              <a:gd name="adj" fmla="val 9574"/>
            </a:avLst>
          </a:prstGeom>
          <a:solidFill>
            <a:srgbClr val="1E4A2E"/>
          </a:solidFill>
          <a:ln w="12700">
            <a:solidFill>
              <a:srgbClr val="1E4A2E"/>
            </a:solidFill>
            <a:prstDash val="solid"/>
          </a:ln>
        </p:spPr>
      </p:sp>
      <p:pic>
        <p:nvPicPr>
          <p:cNvPr id="7" name="Image 1" descr="preencoded.png">    </p:cNvPr>
          <p:cNvPicPr>
            <a:picLocks noChangeAspect="1"/>
          </p:cNvPicPr>
          <p:nvPr/>
        </p:nvPicPr>
        <p:blipFill>
          <a:blip r:embed="rId2"/>
          <a:stretch>
            <a:fillRect/>
          </a:stretch>
        </p:blipFill>
        <p:spPr>
          <a:xfrm>
            <a:off x="896112" y="1892808"/>
            <a:ext cx="365760" cy="365760"/>
          </a:xfrm>
          <a:prstGeom prst="rect">
            <a:avLst/>
          </a:prstGeom>
        </p:spPr>
      </p:pic>
      <p:sp>
        <p:nvSpPr>
          <p:cNvPr id="8" name="Text 4"/>
          <p:cNvSpPr txBox="1"/>
          <p:nvPr/>
        </p:nvSpPr>
        <p:spPr>
          <a:xfrm>
            <a:off x="1444752" y="1755648"/>
            <a:ext cx="5029200" cy="32918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Route</a:t>
            </a:r>
            <a:endParaRPr lang="en-US" sz="1400" dirty="0"/>
          </a:p>
        </p:txBody>
      </p:sp>
      <p:sp>
        <p:nvSpPr>
          <p:cNvPr id="9" name="Text 5"/>
          <p:cNvSpPr txBox="1"/>
          <p:nvPr/>
        </p:nvSpPr>
        <p:spPr>
          <a:xfrm>
            <a:off x="1444752" y="2084832"/>
            <a:ext cx="5029200" cy="310896"/>
          </a:xfrm>
          <a:prstGeom prst="rect">
            <a:avLst/>
          </a:prstGeom>
          <a:noFill/>
          <a:ln/>
        </p:spPr>
        <p:txBody>
          <a:bodyPr wrap="square" lIns="0" tIns="0" rIns="0" bIns="0" rtlCol="0" anchor="ctr"/>
          <a:lstStyle/>
          <a:p>
            <a:pPr indent="0" marL="0">
              <a:buNone/>
            </a:pPr>
            <a:r>
              <a:rPr lang="en-US" sz="1030" dirty="0">
                <a:solidFill>
                  <a:srgbClr val="DCEBDD"/>
                </a:solidFill>
                <a:latin typeface="Calibri" pitchFamily="34" charset="0"/>
                <a:ea typeface="Calibri" pitchFamily="34" charset="-122"/>
                <a:cs typeface="Calibri" pitchFamily="34" charset="-120"/>
              </a:rPr>
              <a:t>Menentukan alamat dan metode HTTP, lalu meneruskan ke controller.</a:t>
            </a:r>
            <a:endParaRPr lang="en-US" sz="1030" dirty="0"/>
          </a:p>
        </p:txBody>
      </p:sp>
      <p:sp>
        <p:nvSpPr>
          <p:cNvPr id="10" name="Shape 6"/>
          <p:cNvSpPr/>
          <p:nvPr/>
        </p:nvSpPr>
        <p:spPr>
          <a:xfrm>
            <a:off x="640080" y="2596896"/>
            <a:ext cx="6035040" cy="859536"/>
          </a:xfrm>
          <a:prstGeom prst="roundRect">
            <a:avLst>
              <a:gd name="adj" fmla="val 9574"/>
            </a:avLst>
          </a:prstGeom>
          <a:solidFill>
            <a:srgbClr val="2C5F3A"/>
          </a:solidFill>
          <a:ln w="12700">
            <a:solidFill>
              <a:srgbClr val="2C5F3A"/>
            </a:solidFill>
            <a:prstDash val="solid"/>
          </a:ln>
        </p:spPr>
      </p:sp>
      <p:pic>
        <p:nvPicPr>
          <p:cNvPr id="11" name="Image 2" descr="preencoded.png">    </p:cNvPr>
          <p:cNvPicPr>
            <a:picLocks noChangeAspect="1"/>
          </p:cNvPicPr>
          <p:nvPr/>
        </p:nvPicPr>
        <p:blipFill>
          <a:blip r:embed="rId3"/>
          <a:stretch>
            <a:fillRect/>
          </a:stretch>
        </p:blipFill>
        <p:spPr>
          <a:xfrm>
            <a:off x="896112" y="2843784"/>
            <a:ext cx="365760" cy="365760"/>
          </a:xfrm>
          <a:prstGeom prst="rect">
            <a:avLst/>
          </a:prstGeom>
        </p:spPr>
      </p:pic>
      <p:sp>
        <p:nvSpPr>
          <p:cNvPr id="12" name="Text 7"/>
          <p:cNvSpPr txBox="1"/>
          <p:nvPr/>
        </p:nvSpPr>
        <p:spPr>
          <a:xfrm>
            <a:off x="1444752" y="2706624"/>
            <a:ext cx="5029200" cy="32918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Controller</a:t>
            </a:r>
            <a:endParaRPr lang="en-US" sz="1400" dirty="0"/>
          </a:p>
        </p:txBody>
      </p:sp>
      <p:sp>
        <p:nvSpPr>
          <p:cNvPr id="13" name="Text 8"/>
          <p:cNvSpPr txBox="1"/>
          <p:nvPr/>
        </p:nvSpPr>
        <p:spPr>
          <a:xfrm>
            <a:off x="1444752" y="3035808"/>
            <a:ext cx="5029200" cy="310896"/>
          </a:xfrm>
          <a:prstGeom prst="rect">
            <a:avLst/>
          </a:prstGeom>
          <a:noFill/>
          <a:ln/>
        </p:spPr>
        <p:txBody>
          <a:bodyPr wrap="square" lIns="0" tIns="0" rIns="0" bIns="0" rtlCol="0" anchor="ctr"/>
          <a:lstStyle/>
          <a:p>
            <a:pPr indent="0" marL="0">
              <a:buNone/>
            </a:pPr>
            <a:r>
              <a:rPr lang="en-US" sz="1030" dirty="0">
                <a:solidFill>
                  <a:srgbClr val="DCEBDD"/>
                </a:solidFill>
                <a:latin typeface="Calibri" pitchFamily="34" charset="0"/>
                <a:ea typeface="Calibri" pitchFamily="34" charset="-122"/>
                <a:cs typeface="Calibri" pitchFamily="34" charset="-120"/>
              </a:rPr>
              <a:t>Membaca permintaan, memanggil service, dan menyusun respons.</a:t>
            </a:r>
            <a:endParaRPr lang="en-US" sz="1030" dirty="0"/>
          </a:p>
        </p:txBody>
      </p:sp>
      <p:sp>
        <p:nvSpPr>
          <p:cNvPr id="14" name="Shape 9"/>
          <p:cNvSpPr/>
          <p:nvPr/>
        </p:nvSpPr>
        <p:spPr>
          <a:xfrm>
            <a:off x="640080" y="3547872"/>
            <a:ext cx="6035040" cy="859536"/>
          </a:xfrm>
          <a:prstGeom prst="roundRect">
            <a:avLst>
              <a:gd name="adj" fmla="val 9574"/>
            </a:avLst>
          </a:prstGeom>
          <a:solidFill>
            <a:srgbClr val="3C873A"/>
          </a:solidFill>
          <a:ln w="12700">
            <a:solidFill>
              <a:srgbClr val="3C873A"/>
            </a:solidFill>
            <a:prstDash val="solid"/>
          </a:ln>
        </p:spPr>
      </p:sp>
      <p:pic>
        <p:nvPicPr>
          <p:cNvPr id="15" name="Image 3" descr="preencoded.png">    </p:cNvPr>
          <p:cNvPicPr>
            <a:picLocks noChangeAspect="1"/>
          </p:cNvPicPr>
          <p:nvPr/>
        </p:nvPicPr>
        <p:blipFill>
          <a:blip r:embed="rId4"/>
          <a:stretch>
            <a:fillRect/>
          </a:stretch>
        </p:blipFill>
        <p:spPr>
          <a:xfrm>
            <a:off x="896112" y="3794760"/>
            <a:ext cx="365760" cy="365760"/>
          </a:xfrm>
          <a:prstGeom prst="rect">
            <a:avLst/>
          </a:prstGeom>
        </p:spPr>
      </p:pic>
      <p:sp>
        <p:nvSpPr>
          <p:cNvPr id="16" name="Text 10"/>
          <p:cNvSpPr txBox="1"/>
          <p:nvPr/>
        </p:nvSpPr>
        <p:spPr>
          <a:xfrm>
            <a:off x="1444752" y="3657600"/>
            <a:ext cx="5029200" cy="32918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Service</a:t>
            </a:r>
            <a:endParaRPr lang="en-US" sz="1400" dirty="0"/>
          </a:p>
        </p:txBody>
      </p:sp>
      <p:sp>
        <p:nvSpPr>
          <p:cNvPr id="17" name="Text 11"/>
          <p:cNvSpPr txBox="1"/>
          <p:nvPr/>
        </p:nvSpPr>
        <p:spPr>
          <a:xfrm>
            <a:off x="1444752" y="3986784"/>
            <a:ext cx="5029200" cy="310896"/>
          </a:xfrm>
          <a:prstGeom prst="rect">
            <a:avLst/>
          </a:prstGeom>
          <a:noFill/>
          <a:ln/>
        </p:spPr>
        <p:txBody>
          <a:bodyPr wrap="square" lIns="0" tIns="0" rIns="0" bIns="0" rtlCol="0" anchor="ctr"/>
          <a:lstStyle/>
          <a:p>
            <a:pPr indent="0" marL="0">
              <a:buNone/>
            </a:pPr>
            <a:r>
              <a:rPr lang="en-US" sz="1030" dirty="0">
                <a:solidFill>
                  <a:srgbClr val="DCEBDD"/>
                </a:solidFill>
                <a:latin typeface="Calibri" pitchFamily="34" charset="0"/>
                <a:ea typeface="Calibri" pitchFamily="34" charset="-122"/>
                <a:cs typeface="Calibri" pitchFamily="34" charset="-120"/>
              </a:rPr>
              <a:t>Memuat aturan bisnis. Tidak tahu apa pun tentang HTTP.</a:t>
            </a:r>
            <a:endParaRPr lang="en-US" sz="1030" dirty="0"/>
          </a:p>
        </p:txBody>
      </p:sp>
      <p:sp>
        <p:nvSpPr>
          <p:cNvPr id="18" name="Shape 12"/>
          <p:cNvSpPr/>
          <p:nvPr/>
        </p:nvSpPr>
        <p:spPr>
          <a:xfrm>
            <a:off x="640080" y="4498848"/>
            <a:ext cx="6035040" cy="859536"/>
          </a:xfrm>
          <a:prstGeom prst="roundRect">
            <a:avLst>
              <a:gd name="adj" fmla="val 9574"/>
            </a:avLst>
          </a:prstGeom>
          <a:solidFill>
            <a:srgbClr val="5D9E4B"/>
          </a:solidFill>
          <a:ln w="12700">
            <a:solidFill>
              <a:srgbClr val="5D9E4B"/>
            </a:solidFill>
            <a:prstDash val="solid"/>
          </a:ln>
        </p:spPr>
      </p:sp>
      <p:pic>
        <p:nvPicPr>
          <p:cNvPr id="19" name="Image 4" descr="preencoded.png">    </p:cNvPr>
          <p:cNvPicPr>
            <a:picLocks noChangeAspect="1"/>
          </p:cNvPicPr>
          <p:nvPr/>
        </p:nvPicPr>
        <p:blipFill>
          <a:blip r:embed="rId5"/>
          <a:stretch>
            <a:fillRect/>
          </a:stretch>
        </p:blipFill>
        <p:spPr>
          <a:xfrm>
            <a:off x="896112" y="4745736"/>
            <a:ext cx="365760" cy="365760"/>
          </a:xfrm>
          <a:prstGeom prst="rect">
            <a:avLst/>
          </a:prstGeom>
        </p:spPr>
      </p:pic>
      <p:sp>
        <p:nvSpPr>
          <p:cNvPr id="20" name="Text 13"/>
          <p:cNvSpPr txBox="1"/>
          <p:nvPr/>
        </p:nvSpPr>
        <p:spPr>
          <a:xfrm>
            <a:off x="1444752" y="4608576"/>
            <a:ext cx="5029200" cy="329184"/>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Repository</a:t>
            </a:r>
            <a:endParaRPr lang="en-US" sz="1400" dirty="0"/>
          </a:p>
        </p:txBody>
      </p:sp>
      <p:sp>
        <p:nvSpPr>
          <p:cNvPr id="21" name="Text 14"/>
          <p:cNvSpPr txBox="1"/>
          <p:nvPr/>
        </p:nvSpPr>
        <p:spPr>
          <a:xfrm>
            <a:off x="1444752" y="4937760"/>
            <a:ext cx="5029200" cy="310896"/>
          </a:xfrm>
          <a:prstGeom prst="rect">
            <a:avLst/>
          </a:prstGeom>
          <a:noFill/>
          <a:ln/>
        </p:spPr>
        <p:txBody>
          <a:bodyPr wrap="square" lIns="0" tIns="0" rIns="0" bIns="0" rtlCol="0" anchor="ctr"/>
          <a:lstStyle/>
          <a:p>
            <a:pPr indent="0" marL="0">
              <a:buNone/>
            </a:pPr>
            <a:r>
              <a:rPr lang="en-US" sz="1030" dirty="0">
                <a:solidFill>
                  <a:srgbClr val="DCEBDD"/>
                </a:solidFill>
                <a:latin typeface="Calibri" pitchFamily="34" charset="0"/>
                <a:ea typeface="Calibri" pitchFamily="34" charset="-122"/>
                <a:cs typeface="Calibri" pitchFamily="34" charset="-120"/>
              </a:rPr>
              <a:t>Satu-satunya lapisan yang berbicara langsung dengan basis data.</a:t>
            </a:r>
            <a:endParaRPr lang="en-US" sz="1030" dirty="0"/>
          </a:p>
        </p:txBody>
      </p:sp>
      <p:sp>
        <p:nvSpPr>
          <p:cNvPr id="22" name="Shape 15"/>
          <p:cNvSpPr/>
          <p:nvPr/>
        </p:nvSpPr>
        <p:spPr>
          <a:xfrm>
            <a:off x="640080" y="5468112"/>
            <a:ext cx="6035040" cy="532437"/>
          </a:xfrm>
          <a:prstGeom prst="roundRect">
            <a:avLst>
              <a:gd name="adj" fmla="val 12022"/>
            </a:avLst>
          </a:prstGeom>
          <a:solidFill>
            <a:srgbClr val="0E2417"/>
          </a:solidFill>
          <a:ln w="12700">
            <a:solidFill>
              <a:srgbClr val="234A31"/>
            </a:solidFill>
            <a:prstDash val="solid"/>
          </a:ln>
        </p:spPr>
      </p:sp>
      <p:sp>
        <p:nvSpPr>
          <p:cNvPr id="23" name="Text 16"/>
          <p:cNvSpPr txBox="1"/>
          <p:nvPr/>
        </p:nvSpPr>
        <p:spPr>
          <a:xfrm>
            <a:off x="859536" y="5669280"/>
            <a:ext cx="5596128" cy="221541"/>
          </a:xfrm>
          <a:prstGeom prst="rect">
            <a:avLst/>
          </a:prstGeom>
          <a:noFill/>
          <a:ln/>
        </p:spPr>
        <p:txBody>
          <a:bodyPr wrap="square" lIns="0" tIns="0" rIns="0" bIns="0" rtlCol="0" anchor="t"/>
          <a:lstStyle/>
          <a:p>
            <a:pPr indent="0" marL="0">
              <a:lnSpc>
                <a:spcPct val="106000"/>
              </a:lnSpc>
              <a:buNone/>
            </a:pPr>
            <a:r>
              <a:rPr lang="en-US" sz="980" dirty="0">
                <a:solidFill>
                  <a:srgbClr val="DDE8DE"/>
                </a:solidFill>
                <a:latin typeface="Courier New" pitchFamily="34" charset="0"/>
                <a:ea typeface="Courier New" pitchFamily="34" charset="-122"/>
                <a:cs typeface="Courier New" pitchFamily="34" charset="-120"/>
              </a:rPr>
              <a:t>Route -&gt; Controller -&gt; Service -&gt; Repository -&gt; Basis Data</a:t>
            </a:r>
            <a:endParaRPr lang="en-US" sz="980" dirty="0"/>
          </a:p>
        </p:txBody>
      </p:sp>
      <p:sp>
        <p:nvSpPr>
          <p:cNvPr id="24" name="Shape 17"/>
          <p:cNvSpPr/>
          <p:nvPr/>
        </p:nvSpPr>
        <p:spPr>
          <a:xfrm>
            <a:off x="6949440" y="1700784"/>
            <a:ext cx="420624" cy="420624"/>
          </a:xfrm>
          <a:prstGeom prst="roundRect">
            <a:avLst>
              <a:gd name="adj" fmla="val 26087"/>
            </a:avLst>
          </a:prstGeom>
          <a:solidFill>
            <a:srgbClr val="E8F2E2"/>
          </a:solidFill>
          <a:ln w="12700">
            <a:solidFill>
              <a:srgbClr val="E8F2E2"/>
            </a:solidFill>
            <a:prstDash val="solid"/>
          </a:ln>
        </p:spPr>
      </p:sp>
      <p:pic>
        <p:nvPicPr>
          <p:cNvPr id="25" name="Image 5" descr="preencoded.png">    </p:cNvPr>
          <p:cNvPicPr>
            <a:picLocks noChangeAspect="1"/>
          </p:cNvPicPr>
          <p:nvPr/>
        </p:nvPicPr>
        <p:blipFill>
          <a:blip r:embed="rId6"/>
          <a:stretch>
            <a:fillRect/>
          </a:stretch>
        </p:blipFill>
        <p:spPr>
          <a:xfrm>
            <a:off x="7054596" y="1805940"/>
            <a:ext cx="210312" cy="210312"/>
          </a:xfrm>
          <a:prstGeom prst="rect">
            <a:avLst/>
          </a:prstGeom>
        </p:spPr>
      </p:pic>
      <p:sp>
        <p:nvSpPr>
          <p:cNvPr id="26" name="Text 18"/>
          <p:cNvSpPr txBox="1"/>
          <p:nvPr/>
        </p:nvSpPr>
        <p:spPr>
          <a:xfrm>
            <a:off x="7516368" y="168249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Arah Ketergantungan Satu Jalur</a:t>
            </a:r>
            <a:endParaRPr lang="en-US" sz="1200" dirty="0"/>
          </a:p>
        </p:txBody>
      </p:sp>
      <p:sp>
        <p:nvSpPr>
          <p:cNvPr id="27" name="Text 19"/>
          <p:cNvSpPr txBox="1"/>
          <p:nvPr/>
        </p:nvSpPr>
        <p:spPr>
          <a:xfrm>
            <a:off x="7516368" y="1938528"/>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Lapisan atas boleh memanggil lapisan bawah, tidak pernah sebaliknya.</a:t>
            </a:r>
            <a:endParaRPr lang="en-US" sz="960" dirty="0"/>
          </a:p>
        </p:txBody>
      </p:sp>
      <p:sp>
        <p:nvSpPr>
          <p:cNvPr id="28" name="Shape 20"/>
          <p:cNvSpPr/>
          <p:nvPr/>
        </p:nvSpPr>
        <p:spPr>
          <a:xfrm>
            <a:off x="6949440" y="2414016"/>
            <a:ext cx="420624" cy="420624"/>
          </a:xfrm>
          <a:prstGeom prst="roundRect">
            <a:avLst>
              <a:gd name="adj" fmla="val 26087"/>
            </a:avLst>
          </a:prstGeom>
          <a:solidFill>
            <a:srgbClr val="E8F2E2"/>
          </a:solidFill>
          <a:ln w="12700">
            <a:solidFill>
              <a:srgbClr val="E8F2E2"/>
            </a:solidFill>
            <a:prstDash val="solid"/>
          </a:ln>
        </p:spPr>
      </p:sp>
      <p:pic>
        <p:nvPicPr>
          <p:cNvPr id="29" name="Image 6" descr="preencoded.png">    </p:cNvPr>
          <p:cNvPicPr>
            <a:picLocks noChangeAspect="1"/>
          </p:cNvPicPr>
          <p:nvPr/>
        </p:nvPicPr>
        <p:blipFill>
          <a:blip r:embed="rId7"/>
          <a:stretch>
            <a:fillRect/>
          </a:stretch>
        </p:blipFill>
        <p:spPr>
          <a:xfrm>
            <a:off x="7054596" y="2519172"/>
            <a:ext cx="210312" cy="210312"/>
          </a:xfrm>
          <a:prstGeom prst="rect">
            <a:avLst/>
          </a:prstGeom>
        </p:spPr>
      </p:pic>
      <p:sp>
        <p:nvSpPr>
          <p:cNvPr id="30" name="Text 21"/>
          <p:cNvSpPr txBox="1"/>
          <p:nvPr/>
        </p:nvSpPr>
        <p:spPr>
          <a:xfrm>
            <a:off x="7516368" y="239572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Mudah Diuji</a:t>
            </a:r>
            <a:endParaRPr lang="en-US" sz="1200" dirty="0"/>
          </a:p>
        </p:txBody>
      </p:sp>
      <p:sp>
        <p:nvSpPr>
          <p:cNvPr id="31" name="Text 22"/>
          <p:cNvSpPr txBox="1"/>
          <p:nvPr/>
        </p:nvSpPr>
        <p:spPr>
          <a:xfrm>
            <a:off x="7516368" y="2651760"/>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Service dapat diuji tanpa menjalankan server maupun basis data sungguhan.</a:t>
            </a:r>
            <a:endParaRPr lang="en-US" sz="960" dirty="0"/>
          </a:p>
        </p:txBody>
      </p:sp>
      <p:sp>
        <p:nvSpPr>
          <p:cNvPr id="32" name="Shape 23"/>
          <p:cNvSpPr/>
          <p:nvPr/>
        </p:nvSpPr>
        <p:spPr>
          <a:xfrm>
            <a:off x="6949440" y="3127248"/>
            <a:ext cx="420624" cy="420624"/>
          </a:xfrm>
          <a:prstGeom prst="roundRect">
            <a:avLst>
              <a:gd name="adj" fmla="val 26087"/>
            </a:avLst>
          </a:prstGeom>
          <a:solidFill>
            <a:srgbClr val="E8F2E2"/>
          </a:solidFill>
          <a:ln w="12700">
            <a:solidFill>
              <a:srgbClr val="E8F2E2"/>
            </a:solidFill>
            <a:prstDash val="solid"/>
          </a:ln>
        </p:spPr>
      </p:sp>
      <p:pic>
        <p:nvPicPr>
          <p:cNvPr id="33" name="Image 7" descr="preencoded.png">    </p:cNvPr>
          <p:cNvPicPr>
            <a:picLocks noChangeAspect="1"/>
          </p:cNvPicPr>
          <p:nvPr/>
        </p:nvPicPr>
        <p:blipFill>
          <a:blip r:embed="rId8"/>
          <a:stretch>
            <a:fillRect/>
          </a:stretch>
        </p:blipFill>
        <p:spPr>
          <a:xfrm>
            <a:off x="7054596" y="3232404"/>
            <a:ext cx="210312" cy="210312"/>
          </a:xfrm>
          <a:prstGeom prst="rect">
            <a:avLst/>
          </a:prstGeom>
        </p:spPr>
      </p:pic>
      <p:sp>
        <p:nvSpPr>
          <p:cNvPr id="34" name="Text 24"/>
          <p:cNvSpPr txBox="1"/>
          <p:nvPr/>
        </p:nvSpPr>
        <p:spPr>
          <a:xfrm>
            <a:off x="7516368" y="310896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Mudah Diganti</a:t>
            </a:r>
            <a:endParaRPr lang="en-US" sz="1200" dirty="0"/>
          </a:p>
        </p:txBody>
      </p:sp>
      <p:sp>
        <p:nvSpPr>
          <p:cNvPr id="35" name="Text 25"/>
          <p:cNvSpPr txBox="1"/>
          <p:nvPr/>
        </p:nvSpPr>
        <p:spPr>
          <a:xfrm>
            <a:off x="7516368" y="3364992"/>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Berpindah dari MongoDB ke PostgreSQL cukup mengubah lapisan repository.</a:t>
            </a:r>
            <a:endParaRPr lang="en-US" sz="960" dirty="0"/>
          </a:p>
        </p:txBody>
      </p:sp>
      <p:sp>
        <p:nvSpPr>
          <p:cNvPr id="36" name="Shape 26"/>
          <p:cNvSpPr/>
          <p:nvPr/>
        </p:nvSpPr>
        <p:spPr>
          <a:xfrm>
            <a:off x="6949440" y="3840480"/>
            <a:ext cx="420624" cy="420624"/>
          </a:xfrm>
          <a:prstGeom prst="roundRect">
            <a:avLst>
              <a:gd name="adj" fmla="val 26087"/>
            </a:avLst>
          </a:prstGeom>
          <a:solidFill>
            <a:srgbClr val="E8F2E2"/>
          </a:solidFill>
          <a:ln w="12700">
            <a:solidFill>
              <a:srgbClr val="E8F2E2"/>
            </a:solidFill>
            <a:prstDash val="solid"/>
          </a:ln>
        </p:spPr>
      </p:sp>
      <p:pic>
        <p:nvPicPr>
          <p:cNvPr id="37" name="Image 8" descr="preencoded.png">    </p:cNvPr>
          <p:cNvPicPr>
            <a:picLocks noChangeAspect="1"/>
          </p:cNvPicPr>
          <p:nvPr/>
        </p:nvPicPr>
        <p:blipFill>
          <a:blip r:embed="rId9"/>
          <a:stretch>
            <a:fillRect/>
          </a:stretch>
        </p:blipFill>
        <p:spPr>
          <a:xfrm>
            <a:off x="7054596" y="3945636"/>
            <a:ext cx="210312" cy="210312"/>
          </a:xfrm>
          <a:prstGeom prst="rect">
            <a:avLst/>
          </a:prstGeom>
        </p:spPr>
      </p:pic>
      <p:sp>
        <p:nvSpPr>
          <p:cNvPr id="38" name="Text 27"/>
          <p:cNvSpPr txBox="1"/>
          <p:nvPr/>
        </p:nvSpPr>
        <p:spPr>
          <a:xfrm>
            <a:off x="7516368" y="3822192"/>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Model dan DTO</a:t>
            </a:r>
            <a:endParaRPr lang="en-US" sz="1200" dirty="0"/>
          </a:p>
        </p:txBody>
      </p:sp>
      <p:sp>
        <p:nvSpPr>
          <p:cNvPr id="39" name="Text 28"/>
          <p:cNvSpPr txBox="1"/>
          <p:nvPr/>
        </p:nvSpPr>
        <p:spPr>
          <a:xfrm>
            <a:off x="7516368" y="4078224"/>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Pisahkan bentuk data internal dari bentuk yang dikirim ke klien.</a:t>
            </a:r>
            <a:endParaRPr lang="en-US" sz="960" dirty="0"/>
          </a:p>
        </p:txBody>
      </p:sp>
      <p:sp>
        <p:nvSpPr>
          <p:cNvPr id="40" name="Shape 29"/>
          <p:cNvSpPr/>
          <p:nvPr/>
        </p:nvSpPr>
        <p:spPr>
          <a:xfrm>
            <a:off x="6949440" y="4553712"/>
            <a:ext cx="420624" cy="420624"/>
          </a:xfrm>
          <a:prstGeom prst="roundRect">
            <a:avLst>
              <a:gd name="adj" fmla="val 26087"/>
            </a:avLst>
          </a:prstGeom>
          <a:solidFill>
            <a:srgbClr val="E8F2E2"/>
          </a:solidFill>
          <a:ln w="12700">
            <a:solidFill>
              <a:srgbClr val="E8F2E2"/>
            </a:solidFill>
            <a:prstDash val="solid"/>
          </a:ln>
        </p:spPr>
      </p:sp>
      <p:pic>
        <p:nvPicPr>
          <p:cNvPr id="41" name="Image 9" descr="preencoded.png">    </p:cNvPr>
          <p:cNvPicPr>
            <a:picLocks noChangeAspect="1"/>
          </p:cNvPicPr>
          <p:nvPr/>
        </p:nvPicPr>
        <p:blipFill>
          <a:blip r:embed="rId10"/>
          <a:stretch>
            <a:fillRect/>
          </a:stretch>
        </p:blipFill>
        <p:spPr>
          <a:xfrm>
            <a:off x="7054596" y="4658868"/>
            <a:ext cx="210312" cy="210312"/>
          </a:xfrm>
          <a:prstGeom prst="rect">
            <a:avLst/>
          </a:prstGeom>
        </p:spPr>
      </p:pic>
      <p:sp>
        <p:nvSpPr>
          <p:cNvPr id="42" name="Text 30"/>
          <p:cNvSpPr txBox="1"/>
          <p:nvPr/>
        </p:nvSpPr>
        <p:spPr>
          <a:xfrm>
            <a:off x="7516368" y="4535424"/>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Jangan Berlebihan</a:t>
            </a:r>
            <a:endParaRPr lang="en-US" sz="1200" dirty="0"/>
          </a:p>
        </p:txBody>
      </p:sp>
      <p:sp>
        <p:nvSpPr>
          <p:cNvPr id="43" name="Text 31"/>
          <p:cNvSpPr txBox="1"/>
          <p:nvPr/>
        </p:nvSpPr>
        <p:spPr>
          <a:xfrm>
            <a:off x="7516368" y="4791456"/>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Proyek kecil tidak selalu butuh empat lapisan. Sesuaikan dengan skala nyata.</a:t>
            </a:r>
            <a:endParaRPr lang="en-US" sz="960" dirty="0"/>
          </a:p>
        </p:txBody>
      </p:sp>
      <p:sp>
        <p:nvSpPr>
          <p:cNvPr id="44" name="Shape 32"/>
          <p:cNvSpPr/>
          <p:nvPr/>
        </p:nvSpPr>
        <p:spPr>
          <a:xfrm>
            <a:off x="6949440" y="5266944"/>
            <a:ext cx="420624" cy="420624"/>
          </a:xfrm>
          <a:prstGeom prst="roundRect">
            <a:avLst>
              <a:gd name="adj" fmla="val 26087"/>
            </a:avLst>
          </a:prstGeom>
          <a:solidFill>
            <a:srgbClr val="E8F2E2"/>
          </a:solidFill>
          <a:ln w="12700">
            <a:solidFill>
              <a:srgbClr val="E8F2E2"/>
            </a:solidFill>
            <a:prstDash val="solid"/>
          </a:ln>
        </p:spPr>
      </p:sp>
      <p:pic>
        <p:nvPicPr>
          <p:cNvPr id="45" name="Image 10" descr="preencoded.png">    </p:cNvPr>
          <p:cNvPicPr>
            <a:picLocks noChangeAspect="1"/>
          </p:cNvPicPr>
          <p:nvPr/>
        </p:nvPicPr>
        <p:blipFill>
          <a:blip r:embed="rId11"/>
          <a:stretch>
            <a:fillRect/>
          </a:stretch>
        </p:blipFill>
        <p:spPr>
          <a:xfrm>
            <a:off x="7054596" y="5372100"/>
            <a:ext cx="210312" cy="210312"/>
          </a:xfrm>
          <a:prstGeom prst="rect">
            <a:avLst/>
          </a:prstGeom>
        </p:spPr>
      </p:pic>
      <p:sp>
        <p:nvSpPr>
          <p:cNvPr id="46" name="Text 33"/>
          <p:cNvSpPr txBox="1"/>
          <p:nvPr/>
        </p:nvSpPr>
        <p:spPr>
          <a:xfrm>
            <a:off x="7516368" y="524865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Alternatif Terstruktur</a:t>
            </a:r>
            <a:endParaRPr lang="en-US" sz="1200" dirty="0"/>
          </a:p>
        </p:txBody>
      </p:sp>
      <p:sp>
        <p:nvSpPr>
          <p:cNvPr id="47" name="Text 34"/>
          <p:cNvSpPr txBox="1"/>
          <p:nvPr/>
        </p:nvSpPr>
        <p:spPr>
          <a:xfrm>
            <a:off x="7516368" y="5504688"/>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NestJS sudah memaksakan pemisahan lapisan ini secara bawaan.</a:t>
            </a:r>
            <a:endParaRPr lang="en-US" sz="960" dirty="0"/>
          </a:p>
        </p:txBody>
      </p:sp>
      <p:sp>
        <p:nvSpPr>
          <p:cNvPr id="48" name="Text 35"/>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9" name="Text 36"/>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Monolit dan Microservices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Kapan sebuah aplikasi perlu dipecah menjadi banyak layanan</a:t>
            </a:r>
            <a:endParaRPr lang="en-US" sz="1300" dirty="0"/>
          </a:p>
        </p:txBody>
      </p:sp>
      <p:sp>
        <p:nvSpPr>
          <p:cNvPr id="6" name="Shape 3"/>
          <p:cNvSpPr/>
          <p:nvPr/>
        </p:nvSpPr>
        <p:spPr>
          <a:xfrm>
            <a:off x="640080" y="1627632"/>
            <a:ext cx="6035040" cy="402336"/>
          </a:xfrm>
          <a:prstGeom prst="roundRect">
            <a:avLst>
              <a:gd name="adj" fmla="val 11364"/>
            </a:avLst>
          </a:prstGeom>
          <a:solidFill>
            <a:srgbClr val="0B2015"/>
          </a:solidFill>
          <a:ln w="12700">
            <a:solidFill>
              <a:srgbClr val="0B2015"/>
            </a:solidFill>
            <a:prstDash val="solid"/>
          </a:ln>
        </p:spPr>
      </p:sp>
      <p:sp>
        <p:nvSpPr>
          <p:cNvPr id="7" name="Text 4"/>
          <p:cNvSpPr txBox="1"/>
          <p:nvPr/>
        </p:nvSpPr>
        <p:spPr>
          <a:xfrm>
            <a:off x="841248" y="1627632"/>
            <a:ext cx="1783080" cy="40233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Aspek</a:t>
            </a:r>
            <a:endParaRPr lang="en-US" sz="1050" dirty="0"/>
          </a:p>
        </p:txBody>
      </p:sp>
      <p:sp>
        <p:nvSpPr>
          <p:cNvPr id="8" name="Text 5"/>
          <p:cNvSpPr txBox="1"/>
          <p:nvPr/>
        </p:nvSpPr>
        <p:spPr>
          <a:xfrm>
            <a:off x="2697480" y="1627632"/>
            <a:ext cx="1920240" cy="40233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Monolit</a:t>
            </a:r>
            <a:endParaRPr lang="en-US" sz="1050" dirty="0"/>
          </a:p>
        </p:txBody>
      </p:sp>
      <p:sp>
        <p:nvSpPr>
          <p:cNvPr id="9" name="Text 6"/>
          <p:cNvSpPr txBox="1"/>
          <p:nvPr/>
        </p:nvSpPr>
        <p:spPr>
          <a:xfrm>
            <a:off x="4663440" y="1627632"/>
            <a:ext cx="1965960" cy="40233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Microservices</a:t>
            </a:r>
            <a:endParaRPr lang="en-US" sz="1050" dirty="0"/>
          </a:p>
        </p:txBody>
      </p:sp>
      <p:sp>
        <p:nvSpPr>
          <p:cNvPr id="10" name="Shape 7"/>
          <p:cNvSpPr/>
          <p:nvPr/>
        </p:nvSpPr>
        <p:spPr>
          <a:xfrm>
            <a:off x="640080" y="2066544"/>
            <a:ext cx="6035040" cy="402336"/>
          </a:xfrm>
          <a:prstGeom prst="roundRect">
            <a:avLst>
              <a:gd name="adj" fmla="val 11364"/>
            </a:avLst>
          </a:prstGeom>
          <a:solidFill>
            <a:srgbClr val="FFFFFF"/>
          </a:solidFill>
          <a:ln w="12700">
            <a:solidFill>
              <a:srgbClr val="E3EBDF"/>
            </a:solidFill>
            <a:prstDash val="solid"/>
          </a:ln>
        </p:spPr>
      </p:sp>
      <p:sp>
        <p:nvSpPr>
          <p:cNvPr id="11" name="Text 8"/>
          <p:cNvSpPr txBox="1"/>
          <p:nvPr/>
        </p:nvSpPr>
        <p:spPr>
          <a:xfrm>
            <a:off x="841248" y="2066544"/>
            <a:ext cx="1783080" cy="402336"/>
          </a:xfrm>
          <a:prstGeom prst="rect">
            <a:avLst/>
          </a:prstGeom>
          <a:noFill/>
          <a:ln/>
        </p:spPr>
        <p:txBody>
          <a:bodyPr wrap="square" lIns="0" tIns="0" rIns="0" bIns="0" rtlCol="0" anchor="ctr"/>
          <a:lstStyle/>
          <a:p>
            <a:pPr indent="0" marL="0">
              <a:buNone/>
            </a:pPr>
            <a:r>
              <a:rPr lang="en-US" sz="1050" b="1" dirty="0">
                <a:solidFill>
                  <a:srgbClr val="16241B"/>
                </a:solidFill>
                <a:latin typeface="Calibri" pitchFamily="34" charset="0"/>
                <a:ea typeface="Calibri" pitchFamily="34" charset="-122"/>
                <a:cs typeface="Calibri" pitchFamily="34" charset="-120"/>
              </a:rPr>
              <a:t>Penerapan</a:t>
            </a:r>
            <a:endParaRPr lang="en-US" sz="1050" dirty="0"/>
          </a:p>
        </p:txBody>
      </p:sp>
      <p:sp>
        <p:nvSpPr>
          <p:cNvPr id="12" name="Text 9"/>
          <p:cNvSpPr txBox="1"/>
          <p:nvPr/>
        </p:nvSpPr>
        <p:spPr>
          <a:xfrm>
            <a:off x="2697480" y="2066544"/>
            <a:ext cx="1920240" cy="402336"/>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Satu unit tunggal</a:t>
            </a:r>
            <a:endParaRPr lang="en-US" sz="1050" dirty="0"/>
          </a:p>
        </p:txBody>
      </p:sp>
      <p:sp>
        <p:nvSpPr>
          <p:cNvPr id="13" name="Text 10"/>
          <p:cNvSpPr txBox="1"/>
          <p:nvPr/>
        </p:nvSpPr>
        <p:spPr>
          <a:xfrm>
            <a:off x="4663440" y="2066544"/>
            <a:ext cx="1965960" cy="402336"/>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Banyak layanan mandiri</a:t>
            </a:r>
            <a:endParaRPr lang="en-US" sz="1050" dirty="0"/>
          </a:p>
        </p:txBody>
      </p:sp>
      <p:sp>
        <p:nvSpPr>
          <p:cNvPr id="14" name="Shape 11"/>
          <p:cNvSpPr/>
          <p:nvPr/>
        </p:nvSpPr>
        <p:spPr>
          <a:xfrm>
            <a:off x="640080" y="2505456"/>
            <a:ext cx="6035040" cy="402336"/>
          </a:xfrm>
          <a:prstGeom prst="roundRect">
            <a:avLst>
              <a:gd name="adj" fmla="val 11364"/>
            </a:avLst>
          </a:prstGeom>
          <a:solidFill>
            <a:srgbClr val="EDF3E9"/>
          </a:solidFill>
          <a:ln w="12700">
            <a:solidFill>
              <a:srgbClr val="E3EBDF"/>
            </a:solidFill>
            <a:prstDash val="solid"/>
          </a:ln>
        </p:spPr>
      </p:sp>
      <p:sp>
        <p:nvSpPr>
          <p:cNvPr id="15" name="Text 12"/>
          <p:cNvSpPr txBox="1"/>
          <p:nvPr/>
        </p:nvSpPr>
        <p:spPr>
          <a:xfrm>
            <a:off x="841248" y="2505456"/>
            <a:ext cx="1783080" cy="402336"/>
          </a:xfrm>
          <a:prstGeom prst="rect">
            <a:avLst/>
          </a:prstGeom>
          <a:noFill/>
          <a:ln/>
        </p:spPr>
        <p:txBody>
          <a:bodyPr wrap="square" lIns="0" tIns="0" rIns="0" bIns="0" rtlCol="0" anchor="ctr"/>
          <a:lstStyle/>
          <a:p>
            <a:pPr indent="0" marL="0">
              <a:buNone/>
            </a:pPr>
            <a:r>
              <a:rPr lang="en-US" sz="1050" b="1" dirty="0">
                <a:solidFill>
                  <a:srgbClr val="16241B"/>
                </a:solidFill>
                <a:latin typeface="Calibri" pitchFamily="34" charset="0"/>
                <a:ea typeface="Calibri" pitchFamily="34" charset="-122"/>
                <a:cs typeface="Calibri" pitchFamily="34" charset="-120"/>
              </a:rPr>
              <a:t>Skalabilitas</a:t>
            </a:r>
            <a:endParaRPr lang="en-US" sz="1050" dirty="0"/>
          </a:p>
        </p:txBody>
      </p:sp>
      <p:sp>
        <p:nvSpPr>
          <p:cNvPr id="16" name="Text 13"/>
          <p:cNvSpPr txBox="1"/>
          <p:nvPr/>
        </p:nvSpPr>
        <p:spPr>
          <a:xfrm>
            <a:off x="2697480" y="2505456"/>
            <a:ext cx="1920240" cy="402336"/>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Seluruh aplikasi</a:t>
            </a:r>
            <a:endParaRPr lang="en-US" sz="1050" dirty="0"/>
          </a:p>
        </p:txBody>
      </p:sp>
      <p:sp>
        <p:nvSpPr>
          <p:cNvPr id="17" name="Text 14"/>
          <p:cNvSpPr txBox="1"/>
          <p:nvPr/>
        </p:nvSpPr>
        <p:spPr>
          <a:xfrm>
            <a:off x="4663440" y="2505456"/>
            <a:ext cx="1965960" cy="402336"/>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Per layanan sesuai beban</a:t>
            </a:r>
            <a:endParaRPr lang="en-US" sz="1050" dirty="0"/>
          </a:p>
        </p:txBody>
      </p:sp>
      <p:sp>
        <p:nvSpPr>
          <p:cNvPr id="18" name="Shape 15"/>
          <p:cNvSpPr/>
          <p:nvPr/>
        </p:nvSpPr>
        <p:spPr>
          <a:xfrm>
            <a:off x="640080" y="2944368"/>
            <a:ext cx="6035040" cy="402336"/>
          </a:xfrm>
          <a:prstGeom prst="roundRect">
            <a:avLst>
              <a:gd name="adj" fmla="val 11364"/>
            </a:avLst>
          </a:prstGeom>
          <a:solidFill>
            <a:srgbClr val="FFFFFF"/>
          </a:solidFill>
          <a:ln w="12700">
            <a:solidFill>
              <a:srgbClr val="E3EBDF"/>
            </a:solidFill>
            <a:prstDash val="solid"/>
          </a:ln>
        </p:spPr>
      </p:sp>
      <p:sp>
        <p:nvSpPr>
          <p:cNvPr id="19" name="Text 16"/>
          <p:cNvSpPr txBox="1"/>
          <p:nvPr/>
        </p:nvSpPr>
        <p:spPr>
          <a:xfrm>
            <a:off x="841248" y="2944368"/>
            <a:ext cx="1783080" cy="402336"/>
          </a:xfrm>
          <a:prstGeom prst="rect">
            <a:avLst/>
          </a:prstGeom>
          <a:noFill/>
          <a:ln/>
        </p:spPr>
        <p:txBody>
          <a:bodyPr wrap="square" lIns="0" tIns="0" rIns="0" bIns="0" rtlCol="0" anchor="ctr"/>
          <a:lstStyle/>
          <a:p>
            <a:pPr indent="0" marL="0">
              <a:buNone/>
            </a:pPr>
            <a:r>
              <a:rPr lang="en-US" sz="1050" b="1" dirty="0">
                <a:solidFill>
                  <a:srgbClr val="16241B"/>
                </a:solidFill>
                <a:latin typeface="Calibri" pitchFamily="34" charset="0"/>
                <a:ea typeface="Calibri" pitchFamily="34" charset="-122"/>
                <a:cs typeface="Calibri" pitchFamily="34" charset="-120"/>
              </a:rPr>
              <a:t>Basis data</a:t>
            </a:r>
            <a:endParaRPr lang="en-US" sz="1050" dirty="0"/>
          </a:p>
        </p:txBody>
      </p:sp>
      <p:sp>
        <p:nvSpPr>
          <p:cNvPr id="20" name="Text 17"/>
          <p:cNvSpPr txBox="1"/>
          <p:nvPr/>
        </p:nvSpPr>
        <p:spPr>
          <a:xfrm>
            <a:off x="2697480" y="2944368"/>
            <a:ext cx="1920240" cy="402336"/>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Umumnya satu</a:t>
            </a:r>
            <a:endParaRPr lang="en-US" sz="1050" dirty="0"/>
          </a:p>
        </p:txBody>
      </p:sp>
      <p:sp>
        <p:nvSpPr>
          <p:cNvPr id="21" name="Text 18"/>
          <p:cNvSpPr txBox="1"/>
          <p:nvPr/>
        </p:nvSpPr>
        <p:spPr>
          <a:xfrm>
            <a:off x="4663440" y="2944368"/>
            <a:ext cx="1965960" cy="402336"/>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Terpisah tiap layanan</a:t>
            </a:r>
            <a:endParaRPr lang="en-US" sz="1050" dirty="0"/>
          </a:p>
        </p:txBody>
      </p:sp>
      <p:sp>
        <p:nvSpPr>
          <p:cNvPr id="22" name="Shape 19"/>
          <p:cNvSpPr/>
          <p:nvPr/>
        </p:nvSpPr>
        <p:spPr>
          <a:xfrm>
            <a:off x="640080" y="3383280"/>
            <a:ext cx="6035040" cy="402336"/>
          </a:xfrm>
          <a:prstGeom prst="roundRect">
            <a:avLst>
              <a:gd name="adj" fmla="val 11364"/>
            </a:avLst>
          </a:prstGeom>
          <a:solidFill>
            <a:srgbClr val="EDF3E9"/>
          </a:solidFill>
          <a:ln w="12700">
            <a:solidFill>
              <a:srgbClr val="E3EBDF"/>
            </a:solidFill>
            <a:prstDash val="solid"/>
          </a:ln>
        </p:spPr>
      </p:sp>
      <p:sp>
        <p:nvSpPr>
          <p:cNvPr id="23" name="Text 20"/>
          <p:cNvSpPr txBox="1"/>
          <p:nvPr/>
        </p:nvSpPr>
        <p:spPr>
          <a:xfrm>
            <a:off x="841248" y="3383280"/>
            <a:ext cx="1783080" cy="402336"/>
          </a:xfrm>
          <a:prstGeom prst="rect">
            <a:avLst/>
          </a:prstGeom>
          <a:noFill/>
          <a:ln/>
        </p:spPr>
        <p:txBody>
          <a:bodyPr wrap="square" lIns="0" tIns="0" rIns="0" bIns="0" rtlCol="0" anchor="ctr"/>
          <a:lstStyle/>
          <a:p>
            <a:pPr indent="0" marL="0">
              <a:buNone/>
            </a:pPr>
            <a:r>
              <a:rPr lang="en-US" sz="1050" b="1" dirty="0">
                <a:solidFill>
                  <a:srgbClr val="16241B"/>
                </a:solidFill>
                <a:latin typeface="Calibri" pitchFamily="34" charset="0"/>
                <a:ea typeface="Calibri" pitchFamily="34" charset="-122"/>
                <a:cs typeface="Calibri" pitchFamily="34" charset="-120"/>
              </a:rPr>
              <a:t>Kompleksitas</a:t>
            </a:r>
            <a:endParaRPr lang="en-US" sz="1050" dirty="0"/>
          </a:p>
        </p:txBody>
      </p:sp>
      <p:sp>
        <p:nvSpPr>
          <p:cNvPr id="24" name="Text 21"/>
          <p:cNvSpPr txBox="1"/>
          <p:nvPr/>
        </p:nvSpPr>
        <p:spPr>
          <a:xfrm>
            <a:off x="2697480" y="3383280"/>
            <a:ext cx="1920240" cy="402336"/>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Rendah di awal</a:t>
            </a:r>
            <a:endParaRPr lang="en-US" sz="1050" dirty="0"/>
          </a:p>
        </p:txBody>
      </p:sp>
      <p:sp>
        <p:nvSpPr>
          <p:cNvPr id="25" name="Text 22"/>
          <p:cNvSpPr txBox="1"/>
          <p:nvPr/>
        </p:nvSpPr>
        <p:spPr>
          <a:xfrm>
            <a:off x="4663440" y="3383280"/>
            <a:ext cx="1965960" cy="402336"/>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Tinggi sejak awal</a:t>
            </a:r>
            <a:endParaRPr lang="en-US" sz="1050" dirty="0"/>
          </a:p>
        </p:txBody>
      </p:sp>
      <p:sp>
        <p:nvSpPr>
          <p:cNvPr id="26" name="Shape 23"/>
          <p:cNvSpPr/>
          <p:nvPr/>
        </p:nvSpPr>
        <p:spPr>
          <a:xfrm>
            <a:off x="640080" y="3822192"/>
            <a:ext cx="6035040" cy="402336"/>
          </a:xfrm>
          <a:prstGeom prst="roundRect">
            <a:avLst>
              <a:gd name="adj" fmla="val 11364"/>
            </a:avLst>
          </a:prstGeom>
          <a:solidFill>
            <a:srgbClr val="FFFFFF"/>
          </a:solidFill>
          <a:ln w="12700">
            <a:solidFill>
              <a:srgbClr val="E3EBDF"/>
            </a:solidFill>
            <a:prstDash val="solid"/>
          </a:ln>
        </p:spPr>
      </p:sp>
      <p:sp>
        <p:nvSpPr>
          <p:cNvPr id="27" name="Text 24"/>
          <p:cNvSpPr txBox="1"/>
          <p:nvPr/>
        </p:nvSpPr>
        <p:spPr>
          <a:xfrm>
            <a:off x="841248" y="3822192"/>
            <a:ext cx="1783080" cy="402336"/>
          </a:xfrm>
          <a:prstGeom prst="rect">
            <a:avLst/>
          </a:prstGeom>
          <a:noFill/>
          <a:ln/>
        </p:spPr>
        <p:txBody>
          <a:bodyPr wrap="square" lIns="0" tIns="0" rIns="0" bIns="0" rtlCol="0" anchor="ctr"/>
          <a:lstStyle/>
          <a:p>
            <a:pPr indent="0" marL="0">
              <a:buNone/>
            </a:pPr>
            <a:r>
              <a:rPr lang="en-US" sz="1050" b="1" dirty="0">
                <a:solidFill>
                  <a:srgbClr val="16241B"/>
                </a:solidFill>
                <a:latin typeface="Calibri" pitchFamily="34" charset="0"/>
                <a:ea typeface="Calibri" pitchFamily="34" charset="-122"/>
                <a:cs typeface="Calibri" pitchFamily="34" charset="-120"/>
              </a:rPr>
              <a:t>Tim</a:t>
            </a:r>
            <a:endParaRPr lang="en-US" sz="1050" dirty="0"/>
          </a:p>
        </p:txBody>
      </p:sp>
      <p:sp>
        <p:nvSpPr>
          <p:cNvPr id="28" name="Text 25"/>
          <p:cNvSpPr txBox="1"/>
          <p:nvPr/>
        </p:nvSpPr>
        <p:spPr>
          <a:xfrm>
            <a:off x="2697480" y="3822192"/>
            <a:ext cx="1920240" cy="402336"/>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Cocok untuk tim kecil</a:t>
            </a:r>
            <a:endParaRPr lang="en-US" sz="1050" dirty="0"/>
          </a:p>
        </p:txBody>
      </p:sp>
      <p:sp>
        <p:nvSpPr>
          <p:cNvPr id="29" name="Text 26"/>
          <p:cNvSpPr txBox="1"/>
          <p:nvPr/>
        </p:nvSpPr>
        <p:spPr>
          <a:xfrm>
            <a:off x="4663440" y="3822192"/>
            <a:ext cx="1965960" cy="402336"/>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Cocok untuk banyak tim</a:t>
            </a:r>
            <a:endParaRPr lang="en-US" sz="1050" dirty="0"/>
          </a:p>
        </p:txBody>
      </p:sp>
      <p:sp>
        <p:nvSpPr>
          <p:cNvPr id="30" name="Shape 27"/>
          <p:cNvSpPr/>
          <p:nvPr/>
        </p:nvSpPr>
        <p:spPr>
          <a:xfrm>
            <a:off x="640080" y="4261104"/>
            <a:ext cx="6035040" cy="402336"/>
          </a:xfrm>
          <a:prstGeom prst="roundRect">
            <a:avLst>
              <a:gd name="adj" fmla="val 11364"/>
            </a:avLst>
          </a:prstGeom>
          <a:solidFill>
            <a:srgbClr val="EDF3E9"/>
          </a:solidFill>
          <a:ln w="12700">
            <a:solidFill>
              <a:srgbClr val="E3EBDF"/>
            </a:solidFill>
            <a:prstDash val="solid"/>
          </a:ln>
        </p:spPr>
      </p:sp>
      <p:sp>
        <p:nvSpPr>
          <p:cNvPr id="31" name="Text 28"/>
          <p:cNvSpPr txBox="1"/>
          <p:nvPr/>
        </p:nvSpPr>
        <p:spPr>
          <a:xfrm>
            <a:off x="841248" y="4261104"/>
            <a:ext cx="1783080" cy="402336"/>
          </a:xfrm>
          <a:prstGeom prst="rect">
            <a:avLst/>
          </a:prstGeom>
          <a:noFill/>
          <a:ln/>
        </p:spPr>
        <p:txBody>
          <a:bodyPr wrap="square" lIns="0" tIns="0" rIns="0" bIns="0" rtlCol="0" anchor="ctr"/>
          <a:lstStyle/>
          <a:p>
            <a:pPr indent="0" marL="0">
              <a:buNone/>
            </a:pPr>
            <a:r>
              <a:rPr lang="en-US" sz="1050" b="1" dirty="0">
                <a:solidFill>
                  <a:srgbClr val="16241B"/>
                </a:solidFill>
                <a:latin typeface="Calibri" pitchFamily="34" charset="0"/>
                <a:ea typeface="Calibri" pitchFamily="34" charset="-122"/>
                <a:cs typeface="Calibri" pitchFamily="34" charset="-120"/>
              </a:rPr>
              <a:t>Pelacakan galat</a:t>
            </a:r>
            <a:endParaRPr lang="en-US" sz="1050" dirty="0"/>
          </a:p>
        </p:txBody>
      </p:sp>
      <p:sp>
        <p:nvSpPr>
          <p:cNvPr id="32" name="Text 29"/>
          <p:cNvSpPr txBox="1"/>
          <p:nvPr/>
        </p:nvSpPr>
        <p:spPr>
          <a:xfrm>
            <a:off x="2697480" y="4261104"/>
            <a:ext cx="1920240" cy="402336"/>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Relatif mudah</a:t>
            </a:r>
            <a:endParaRPr lang="en-US" sz="1050" dirty="0"/>
          </a:p>
        </p:txBody>
      </p:sp>
      <p:sp>
        <p:nvSpPr>
          <p:cNvPr id="33" name="Text 30"/>
          <p:cNvSpPr txBox="1"/>
          <p:nvPr/>
        </p:nvSpPr>
        <p:spPr>
          <a:xfrm>
            <a:off x="4663440" y="4261104"/>
            <a:ext cx="1965960" cy="402336"/>
          </a:xfrm>
          <a:prstGeom prst="rect">
            <a:avLst/>
          </a:prstGeom>
          <a:noFill/>
          <a:ln/>
        </p:spPr>
        <p:txBody>
          <a:bodyPr wrap="square" lIns="0" tIns="0" rIns="0" bIns="0" rtlCol="0" anchor="ctr"/>
          <a:lstStyle/>
          <a:p>
            <a:pPr indent="0" marL="0">
              <a:buNone/>
            </a:pPr>
            <a:r>
              <a:rPr lang="en-US" sz="1050" dirty="0">
                <a:solidFill>
                  <a:srgbClr val="16241B"/>
                </a:solidFill>
                <a:latin typeface="Calibri" pitchFamily="34" charset="0"/>
                <a:ea typeface="Calibri" pitchFamily="34" charset="-122"/>
                <a:cs typeface="Calibri" pitchFamily="34" charset="-120"/>
              </a:rPr>
              <a:t>Butuh distributed tracing</a:t>
            </a:r>
            <a:endParaRPr lang="en-US" sz="1050" dirty="0"/>
          </a:p>
        </p:txBody>
      </p:sp>
      <p:sp>
        <p:nvSpPr>
          <p:cNvPr id="34" name="Shape 31"/>
          <p:cNvSpPr/>
          <p:nvPr/>
        </p:nvSpPr>
        <p:spPr>
          <a:xfrm>
            <a:off x="6949440" y="1700784"/>
            <a:ext cx="420624" cy="420624"/>
          </a:xfrm>
          <a:prstGeom prst="roundRect">
            <a:avLst>
              <a:gd name="adj" fmla="val 26087"/>
            </a:avLst>
          </a:prstGeom>
          <a:solidFill>
            <a:srgbClr val="E8F2E2"/>
          </a:solidFill>
          <a:ln w="12700">
            <a:solidFill>
              <a:srgbClr val="E8F2E2"/>
            </a:solidFill>
            <a:prstDash val="solid"/>
          </a:ln>
        </p:spPr>
      </p:sp>
      <p:pic>
        <p:nvPicPr>
          <p:cNvPr id="35" name="Image 1" descr="preencoded.png">    </p:cNvPr>
          <p:cNvPicPr>
            <a:picLocks noChangeAspect="1"/>
          </p:cNvPicPr>
          <p:nvPr/>
        </p:nvPicPr>
        <p:blipFill>
          <a:blip r:embed="rId2"/>
          <a:stretch>
            <a:fillRect/>
          </a:stretch>
        </p:blipFill>
        <p:spPr>
          <a:xfrm>
            <a:off x="7054596" y="1805940"/>
            <a:ext cx="210312" cy="210312"/>
          </a:xfrm>
          <a:prstGeom prst="rect">
            <a:avLst/>
          </a:prstGeom>
        </p:spPr>
      </p:pic>
      <p:sp>
        <p:nvSpPr>
          <p:cNvPr id="36" name="Text 32"/>
          <p:cNvSpPr txBox="1"/>
          <p:nvPr/>
        </p:nvSpPr>
        <p:spPr>
          <a:xfrm>
            <a:off x="7516368" y="168249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REST / HTTP</a:t>
            </a:r>
            <a:endParaRPr lang="en-US" sz="1200" dirty="0"/>
          </a:p>
        </p:txBody>
      </p:sp>
      <p:sp>
        <p:nvSpPr>
          <p:cNvPr id="37" name="Text 33"/>
          <p:cNvSpPr txBox="1"/>
          <p:nvPr/>
        </p:nvSpPr>
        <p:spPr>
          <a:xfrm>
            <a:off x="7516368" y="1938528"/>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Paling sederhana dan universal, namun bersifat sinkron sehingga saling menunggu.</a:t>
            </a:r>
            <a:endParaRPr lang="en-US" sz="960" dirty="0"/>
          </a:p>
        </p:txBody>
      </p:sp>
      <p:sp>
        <p:nvSpPr>
          <p:cNvPr id="38" name="Shape 34"/>
          <p:cNvSpPr/>
          <p:nvPr/>
        </p:nvSpPr>
        <p:spPr>
          <a:xfrm>
            <a:off x="6949440" y="2432304"/>
            <a:ext cx="420624" cy="420624"/>
          </a:xfrm>
          <a:prstGeom prst="roundRect">
            <a:avLst>
              <a:gd name="adj" fmla="val 26087"/>
            </a:avLst>
          </a:prstGeom>
          <a:solidFill>
            <a:srgbClr val="E8F2E2"/>
          </a:solidFill>
          <a:ln w="12700">
            <a:solidFill>
              <a:srgbClr val="E8F2E2"/>
            </a:solidFill>
            <a:prstDash val="solid"/>
          </a:ln>
        </p:spPr>
      </p:sp>
      <p:pic>
        <p:nvPicPr>
          <p:cNvPr id="39" name="Image 2" descr="preencoded.png">    </p:cNvPr>
          <p:cNvPicPr>
            <a:picLocks noChangeAspect="1"/>
          </p:cNvPicPr>
          <p:nvPr/>
        </p:nvPicPr>
        <p:blipFill>
          <a:blip r:embed="rId3"/>
          <a:stretch>
            <a:fillRect/>
          </a:stretch>
        </p:blipFill>
        <p:spPr>
          <a:xfrm>
            <a:off x="7054596" y="2537460"/>
            <a:ext cx="210312" cy="210312"/>
          </a:xfrm>
          <a:prstGeom prst="rect">
            <a:avLst/>
          </a:prstGeom>
        </p:spPr>
      </p:pic>
      <p:sp>
        <p:nvSpPr>
          <p:cNvPr id="40" name="Text 35"/>
          <p:cNvSpPr txBox="1"/>
          <p:nvPr/>
        </p:nvSpPr>
        <p:spPr>
          <a:xfrm>
            <a:off x="7516368" y="241401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gRPC</a:t>
            </a:r>
            <a:endParaRPr lang="en-US" sz="1200" dirty="0"/>
          </a:p>
        </p:txBody>
      </p:sp>
      <p:sp>
        <p:nvSpPr>
          <p:cNvPr id="41" name="Text 36"/>
          <p:cNvSpPr txBox="1"/>
          <p:nvPr/>
        </p:nvSpPr>
        <p:spPr>
          <a:xfrm>
            <a:off x="7516368" y="2670048"/>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Cepat dan bertipe kuat melalui protobuf. Cocok untuk komunikasi antarlayanan internal.</a:t>
            </a:r>
            <a:endParaRPr lang="en-US" sz="960" dirty="0"/>
          </a:p>
        </p:txBody>
      </p:sp>
      <p:sp>
        <p:nvSpPr>
          <p:cNvPr id="42" name="Shape 37"/>
          <p:cNvSpPr/>
          <p:nvPr/>
        </p:nvSpPr>
        <p:spPr>
          <a:xfrm>
            <a:off x="6949440" y="3163824"/>
            <a:ext cx="420624" cy="420624"/>
          </a:xfrm>
          <a:prstGeom prst="roundRect">
            <a:avLst>
              <a:gd name="adj" fmla="val 26087"/>
            </a:avLst>
          </a:prstGeom>
          <a:solidFill>
            <a:srgbClr val="E8F2E2"/>
          </a:solidFill>
          <a:ln w="12700">
            <a:solidFill>
              <a:srgbClr val="E8F2E2"/>
            </a:solidFill>
            <a:prstDash val="solid"/>
          </a:ln>
        </p:spPr>
      </p:sp>
      <p:pic>
        <p:nvPicPr>
          <p:cNvPr id="43" name="Image 3" descr="preencoded.png">    </p:cNvPr>
          <p:cNvPicPr>
            <a:picLocks noChangeAspect="1"/>
          </p:cNvPicPr>
          <p:nvPr/>
        </p:nvPicPr>
        <p:blipFill>
          <a:blip r:embed="rId4"/>
          <a:stretch>
            <a:fillRect/>
          </a:stretch>
        </p:blipFill>
        <p:spPr>
          <a:xfrm>
            <a:off x="7054596" y="3268980"/>
            <a:ext cx="210312" cy="210312"/>
          </a:xfrm>
          <a:prstGeom prst="rect">
            <a:avLst/>
          </a:prstGeom>
        </p:spPr>
      </p:pic>
      <p:sp>
        <p:nvSpPr>
          <p:cNvPr id="44" name="Text 38"/>
          <p:cNvSpPr txBox="1"/>
          <p:nvPr/>
        </p:nvSpPr>
        <p:spPr>
          <a:xfrm>
            <a:off x="7516368" y="314553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Message Broker</a:t>
            </a:r>
            <a:endParaRPr lang="en-US" sz="1200" dirty="0"/>
          </a:p>
        </p:txBody>
      </p:sp>
      <p:sp>
        <p:nvSpPr>
          <p:cNvPr id="45" name="Text 39"/>
          <p:cNvSpPr txBox="1"/>
          <p:nvPr/>
        </p:nvSpPr>
        <p:spPr>
          <a:xfrm>
            <a:off x="7516368" y="3401568"/>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Asinkron melalui RabbitMQ atau Kafka. Layanan tetap jalan meski penerima sedang mati.</a:t>
            </a:r>
            <a:endParaRPr lang="en-US" sz="960" dirty="0"/>
          </a:p>
        </p:txBody>
      </p:sp>
      <p:sp>
        <p:nvSpPr>
          <p:cNvPr id="46" name="Shape 40"/>
          <p:cNvSpPr/>
          <p:nvPr/>
        </p:nvSpPr>
        <p:spPr>
          <a:xfrm>
            <a:off x="6949440" y="3895344"/>
            <a:ext cx="420624" cy="420624"/>
          </a:xfrm>
          <a:prstGeom prst="roundRect">
            <a:avLst>
              <a:gd name="adj" fmla="val 26087"/>
            </a:avLst>
          </a:prstGeom>
          <a:solidFill>
            <a:srgbClr val="E8F2E2"/>
          </a:solidFill>
          <a:ln w="12700">
            <a:solidFill>
              <a:srgbClr val="E8F2E2"/>
            </a:solidFill>
            <a:prstDash val="solid"/>
          </a:ln>
        </p:spPr>
      </p:sp>
      <p:pic>
        <p:nvPicPr>
          <p:cNvPr id="47" name="Image 4" descr="preencoded.png">    </p:cNvPr>
          <p:cNvPicPr>
            <a:picLocks noChangeAspect="1"/>
          </p:cNvPicPr>
          <p:nvPr/>
        </p:nvPicPr>
        <p:blipFill>
          <a:blip r:embed="rId5"/>
          <a:stretch>
            <a:fillRect/>
          </a:stretch>
        </p:blipFill>
        <p:spPr>
          <a:xfrm>
            <a:off x="7054596" y="4000500"/>
            <a:ext cx="210312" cy="210312"/>
          </a:xfrm>
          <a:prstGeom prst="rect">
            <a:avLst/>
          </a:prstGeom>
        </p:spPr>
      </p:pic>
      <p:sp>
        <p:nvSpPr>
          <p:cNvPr id="48" name="Text 41"/>
          <p:cNvSpPr txBox="1"/>
          <p:nvPr/>
        </p:nvSpPr>
        <p:spPr>
          <a:xfrm>
            <a:off x="7516368" y="387705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GraphQL Gateway</a:t>
            </a:r>
            <a:endParaRPr lang="en-US" sz="1200" dirty="0"/>
          </a:p>
        </p:txBody>
      </p:sp>
      <p:sp>
        <p:nvSpPr>
          <p:cNvPr id="49" name="Text 42"/>
          <p:cNvSpPr txBox="1"/>
          <p:nvPr/>
        </p:nvSpPr>
        <p:spPr>
          <a:xfrm>
            <a:off x="7516368" y="4133088"/>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Menyatukan banyak layanan menjadi satu titik akses bagi aplikasi klien.</a:t>
            </a:r>
            <a:endParaRPr lang="en-US" sz="960" dirty="0"/>
          </a:p>
        </p:txBody>
      </p:sp>
      <p:sp>
        <p:nvSpPr>
          <p:cNvPr id="50" name="Shape 43"/>
          <p:cNvSpPr/>
          <p:nvPr/>
        </p:nvSpPr>
        <p:spPr>
          <a:xfrm>
            <a:off x="6949440" y="4663440"/>
            <a:ext cx="420624" cy="420624"/>
          </a:xfrm>
          <a:prstGeom prst="roundRect">
            <a:avLst>
              <a:gd name="adj" fmla="val 26087"/>
            </a:avLst>
          </a:prstGeom>
          <a:solidFill>
            <a:srgbClr val="FDF3D8"/>
          </a:solidFill>
          <a:ln w="12700">
            <a:solidFill>
              <a:srgbClr val="FDF3D8"/>
            </a:solidFill>
            <a:prstDash val="solid"/>
          </a:ln>
        </p:spPr>
      </p:sp>
      <p:pic>
        <p:nvPicPr>
          <p:cNvPr id="51" name="Image 5" descr="preencoded.png">    </p:cNvPr>
          <p:cNvPicPr>
            <a:picLocks noChangeAspect="1"/>
          </p:cNvPicPr>
          <p:nvPr/>
        </p:nvPicPr>
        <p:blipFill>
          <a:blip r:embed="rId6"/>
          <a:stretch>
            <a:fillRect/>
          </a:stretch>
        </p:blipFill>
        <p:spPr>
          <a:xfrm>
            <a:off x="7054596" y="4768596"/>
            <a:ext cx="210312" cy="210312"/>
          </a:xfrm>
          <a:prstGeom prst="rect">
            <a:avLst/>
          </a:prstGeom>
        </p:spPr>
      </p:pic>
      <p:sp>
        <p:nvSpPr>
          <p:cNvPr id="52" name="Text 44"/>
          <p:cNvSpPr txBox="1"/>
          <p:nvPr/>
        </p:nvSpPr>
        <p:spPr>
          <a:xfrm>
            <a:off x="7516368" y="4645152"/>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Mulai dari Monolit</a:t>
            </a:r>
            <a:endParaRPr lang="en-US" sz="1200" dirty="0"/>
          </a:p>
        </p:txBody>
      </p:sp>
      <p:sp>
        <p:nvSpPr>
          <p:cNvPr id="53" name="Text 45"/>
          <p:cNvSpPr txBox="1"/>
          <p:nvPr/>
        </p:nvSpPr>
        <p:spPr>
          <a:xfrm>
            <a:off x="7516368" y="4901184"/>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Sebagian besar proyek sebaiknya dimulai sebagai monolit yang tertata rapi.</a:t>
            </a:r>
            <a:endParaRPr lang="en-US" sz="960" dirty="0"/>
          </a:p>
        </p:txBody>
      </p:sp>
      <p:sp>
        <p:nvSpPr>
          <p:cNvPr id="54" name="Shape 46"/>
          <p:cNvSpPr/>
          <p:nvPr/>
        </p:nvSpPr>
        <p:spPr>
          <a:xfrm>
            <a:off x="6949440" y="5376672"/>
            <a:ext cx="420624" cy="420624"/>
          </a:xfrm>
          <a:prstGeom prst="roundRect">
            <a:avLst>
              <a:gd name="adj" fmla="val 26087"/>
            </a:avLst>
          </a:prstGeom>
          <a:solidFill>
            <a:srgbClr val="FDF3D8"/>
          </a:solidFill>
          <a:ln w="12700">
            <a:solidFill>
              <a:srgbClr val="FDF3D8"/>
            </a:solidFill>
            <a:prstDash val="solid"/>
          </a:ln>
        </p:spPr>
      </p:sp>
      <p:pic>
        <p:nvPicPr>
          <p:cNvPr id="55" name="Image 6" descr="preencoded.png">    </p:cNvPr>
          <p:cNvPicPr>
            <a:picLocks noChangeAspect="1"/>
          </p:cNvPicPr>
          <p:nvPr/>
        </p:nvPicPr>
        <p:blipFill>
          <a:blip r:embed="rId7"/>
          <a:stretch>
            <a:fillRect/>
          </a:stretch>
        </p:blipFill>
        <p:spPr>
          <a:xfrm>
            <a:off x="7054596" y="5481828"/>
            <a:ext cx="210312" cy="210312"/>
          </a:xfrm>
          <a:prstGeom prst="rect">
            <a:avLst/>
          </a:prstGeom>
        </p:spPr>
      </p:pic>
      <p:sp>
        <p:nvSpPr>
          <p:cNvPr id="56" name="Text 47"/>
          <p:cNvSpPr txBox="1"/>
          <p:nvPr/>
        </p:nvSpPr>
        <p:spPr>
          <a:xfrm>
            <a:off x="7516368" y="5358384"/>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Biaya Tersembunyi</a:t>
            </a:r>
            <a:endParaRPr lang="en-US" sz="1200" dirty="0"/>
          </a:p>
        </p:txBody>
      </p:sp>
      <p:sp>
        <p:nvSpPr>
          <p:cNvPr id="57" name="Text 48"/>
          <p:cNvSpPr txBox="1"/>
          <p:nvPr/>
        </p:nvSpPr>
        <p:spPr>
          <a:xfrm>
            <a:off x="7516368" y="5614416"/>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Jaringan, pemantauan, dan konsistensi data menjadi jauh lebih rumit.</a:t>
            </a:r>
            <a:endParaRPr lang="en-US" sz="960" dirty="0"/>
          </a:p>
        </p:txBody>
      </p:sp>
      <p:sp>
        <p:nvSpPr>
          <p:cNvPr id="58" name="Text 49"/>
          <p:cNvSpPr txBox="1"/>
          <p:nvPr/>
        </p:nvSpPr>
        <p:spPr>
          <a:xfrm>
            <a:off x="640080" y="4882896"/>
            <a:ext cx="6035040" cy="548640"/>
          </a:xfrm>
          <a:prstGeom prst="rect">
            <a:avLst/>
          </a:prstGeom>
          <a:noFill/>
          <a:ln/>
        </p:spPr>
        <p:txBody>
          <a:bodyPr wrap="square" lIns="0" tIns="0" rIns="0" bIns="0" rtlCol="0" anchor="ctr"/>
          <a:lstStyle/>
          <a:p>
            <a:pPr indent="0" marL="0">
              <a:lnSpc>
                <a:spcPct val="114000"/>
              </a:lnSpc>
              <a:buNone/>
            </a:pPr>
            <a:r>
              <a:rPr lang="en-US" sz="1080" dirty="0">
                <a:solidFill>
                  <a:srgbClr val="5F6F62"/>
                </a:solidFill>
                <a:latin typeface="Calibri" pitchFamily="34" charset="0"/>
                <a:ea typeface="Calibri" pitchFamily="34" charset="-122"/>
                <a:cs typeface="Calibri" pitchFamily="34" charset="-120"/>
              </a:rPr>
              <a:t>Node.js populer untuk microservice karena proses yang ringan dan waktu mulai yang cepat, sehingga hemat saat dijalankan sebagai banyak kontainer.</a:t>
            </a:r>
            <a:endParaRPr lang="en-US" sz="1080" dirty="0"/>
          </a:p>
        </p:txBody>
      </p:sp>
      <p:sp>
        <p:nvSpPr>
          <p:cNvPr id="59" name="Text 50"/>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60" name="Text 5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Antrean Pekerjaan Latar Belakang</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Memindahkan tugas berat keluar dari siklus permintaan-respons</a:t>
            </a:r>
            <a:endParaRPr lang="en-US" sz="1300" dirty="0"/>
          </a:p>
        </p:txBody>
      </p:sp>
      <p:sp>
        <p:nvSpPr>
          <p:cNvPr id="6" name="Shape 3"/>
          <p:cNvSpPr/>
          <p:nvPr/>
        </p:nvSpPr>
        <p:spPr>
          <a:xfrm>
            <a:off x="640080" y="1609344"/>
            <a:ext cx="6035040" cy="1207008"/>
          </a:xfrm>
          <a:prstGeom prst="roundRect">
            <a:avLst>
              <a:gd name="adj" fmla="val 681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4919472"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Mengapa Perlu Antrean?</a:t>
            </a:r>
            <a:endParaRPr lang="en-US" sz="1300" dirty="0"/>
          </a:p>
        </p:txBody>
      </p:sp>
      <p:sp>
        <p:nvSpPr>
          <p:cNvPr id="10" name="Text 6"/>
          <p:cNvSpPr txBox="1"/>
          <p:nvPr/>
        </p:nvSpPr>
        <p:spPr>
          <a:xfrm>
            <a:off x="896112" y="2395728"/>
            <a:ext cx="5522976" cy="256032"/>
          </a:xfrm>
          <a:prstGeom prst="rect">
            <a:avLst/>
          </a:prstGeom>
          <a:noFill/>
          <a:ln/>
        </p:spPr>
        <p:txBody>
          <a:bodyPr wrap="square" lIns="0" tIns="0" rIns="0" bIns="0" rtlCol="0" anchor="t"/>
          <a:lstStyle/>
          <a:p>
            <a:pPr indent="0" marL="0">
              <a:lnSpc>
                <a:spcPct val="112000"/>
              </a:lnSpc>
              <a:buNone/>
            </a:pPr>
            <a:r>
              <a:rPr lang="en-US" sz="1080" dirty="0">
                <a:solidFill>
                  <a:srgbClr val="5F6F62"/>
                </a:solidFill>
                <a:latin typeface="Calibri" pitchFamily="34" charset="0"/>
                <a:ea typeface="Calibri" pitchFamily="34" charset="-122"/>
                <a:cs typeface="Calibri" pitchFamily="34" charset="-120"/>
              </a:rPr>
              <a:t>Pengguna tidak perlu menunggu proses lambat seperti pengiriman surel atau pengolahan gambar. Tugas dititipkan ke antrean, lalu dikerjakan proses terpisah di latar belakang.</a:t>
            </a:r>
            <a:endParaRPr lang="en-US" sz="1080" dirty="0"/>
          </a:p>
        </p:txBody>
      </p:sp>
      <p:sp>
        <p:nvSpPr>
          <p:cNvPr id="11" name="Shape 7"/>
          <p:cNvSpPr/>
          <p:nvPr/>
        </p:nvSpPr>
        <p:spPr>
          <a:xfrm>
            <a:off x="640080" y="2926080"/>
            <a:ext cx="6035040" cy="3342607"/>
          </a:xfrm>
          <a:prstGeom prst="roundRect">
            <a:avLst>
              <a:gd name="adj" fmla="val 1915"/>
            </a:avLst>
          </a:prstGeom>
          <a:solidFill>
            <a:srgbClr val="0E2417"/>
          </a:solidFill>
          <a:ln w="12700">
            <a:solidFill>
              <a:srgbClr val="234A31"/>
            </a:solidFill>
            <a:prstDash val="solid"/>
          </a:ln>
        </p:spPr>
      </p:sp>
      <p:sp>
        <p:nvSpPr>
          <p:cNvPr id="12" name="Text 8"/>
          <p:cNvSpPr txBox="1"/>
          <p:nvPr/>
        </p:nvSpPr>
        <p:spPr>
          <a:xfrm>
            <a:off x="859536" y="3017520"/>
            <a:ext cx="55961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ANTREAN DENGAN BULLMQ</a:t>
            </a:r>
            <a:endParaRPr lang="en-US" sz="950" dirty="0"/>
          </a:p>
        </p:txBody>
      </p:sp>
      <p:sp>
        <p:nvSpPr>
          <p:cNvPr id="13" name="Text 9"/>
          <p:cNvSpPr txBox="1"/>
          <p:nvPr/>
        </p:nvSpPr>
        <p:spPr>
          <a:xfrm>
            <a:off x="859536" y="3328416"/>
            <a:ext cx="5596128" cy="2830543"/>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Queue, Worker }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'bullmq'</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koneksi = { host: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'localhost'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port: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6379</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 Produsen: menitipkan pekerjaan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antrean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Queue(</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'surel'</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connection: koneksi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app.post(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'/daftar'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async</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(req, res)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simpanPengguna(req.body);</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antrean.add(</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'sambutan'</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email: req.body.email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res.status(</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201</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).json({ pesan: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'Pendaftaran berhasil'</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 Konsumen: mengerjakan di proses terpisah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Worker(</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'surel'</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async</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(job)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await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kirimSurel(job.data.email);</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connection: koneksi, concurrency: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5</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p:txBody>
      </p:sp>
      <p:sp>
        <p:nvSpPr>
          <p:cNvPr id="14" name="Shape 10"/>
          <p:cNvSpPr/>
          <p:nvPr/>
        </p:nvSpPr>
        <p:spPr>
          <a:xfrm>
            <a:off x="6949440" y="1700784"/>
            <a:ext cx="420624" cy="420624"/>
          </a:xfrm>
          <a:prstGeom prst="roundRect">
            <a:avLst>
              <a:gd name="adj" fmla="val 26087"/>
            </a:avLst>
          </a:prstGeom>
          <a:solidFill>
            <a:srgbClr val="E8F2E2"/>
          </a:solidFill>
          <a:ln w="12700">
            <a:solidFill>
              <a:srgbClr val="E8F2E2"/>
            </a:solidFill>
            <a:prstDash val="solid"/>
          </a:ln>
        </p:spPr>
      </p:sp>
      <p:pic>
        <p:nvPicPr>
          <p:cNvPr id="15" name="Image 2" descr="preencoded.png">    </p:cNvPr>
          <p:cNvPicPr>
            <a:picLocks noChangeAspect="1"/>
          </p:cNvPicPr>
          <p:nvPr/>
        </p:nvPicPr>
        <p:blipFill>
          <a:blip r:embed="rId3"/>
          <a:stretch>
            <a:fillRect/>
          </a:stretch>
        </p:blipFill>
        <p:spPr>
          <a:xfrm>
            <a:off x="7054596" y="1805940"/>
            <a:ext cx="210312" cy="210312"/>
          </a:xfrm>
          <a:prstGeom prst="rect">
            <a:avLst/>
          </a:prstGeom>
        </p:spPr>
      </p:pic>
      <p:sp>
        <p:nvSpPr>
          <p:cNvPr id="16" name="Text 11"/>
          <p:cNvSpPr txBox="1"/>
          <p:nvPr/>
        </p:nvSpPr>
        <p:spPr>
          <a:xfrm>
            <a:off x="7516368" y="1682496"/>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Pengiriman Surel</a:t>
            </a:r>
            <a:endParaRPr lang="en-US" sz="1200" dirty="0"/>
          </a:p>
        </p:txBody>
      </p:sp>
      <p:sp>
        <p:nvSpPr>
          <p:cNvPr id="17" name="Text 12"/>
          <p:cNvSpPr txBox="1"/>
          <p:nvPr/>
        </p:nvSpPr>
        <p:spPr>
          <a:xfrm>
            <a:off x="7516368" y="1938528"/>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Surel sambutan, pengaturan ulang sandi, dan notifikasi massal.</a:t>
            </a:r>
            <a:endParaRPr lang="en-US" sz="960" dirty="0"/>
          </a:p>
        </p:txBody>
      </p:sp>
      <p:sp>
        <p:nvSpPr>
          <p:cNvPr id="18" name="Shape 13"/>
          <p:cNvSpPr/>
          <p:nvPr/>
        </p:nvSpPr>
        <p:spPr>
          <a:xfrm>
            <a:off x="6949440" y="2395728"/>
            <a:ext cx="420624" cy="420624"/>
          </a:xfrm>
          <a:prstGeom prst="roundRect">
            <a:avLst>
              <a:gd name="adj" fmla="val 26087"/>
            </a:avLst>
          </a:prstGeom>
          <a:solidFill>
            <a:srgbClr val="E8F2E2"/>
          </a:solidFill>
          <a:ln w="12700">
            <a:solidFill>
              <a:srgbClr val="E8F2E2"/>
            </a:solidFill>
            <a:prstDash val="solid"/>
          </a:ln>
        </p:spPr>
      </p:sp>
      <p:pic>
        <p:nvPicPr>
          <p:cNvPr id="19" name="Image 3" descr="preencoded.png">    </p:cNvPr>
          <p:cNvPicPr>
            <a:picLocks noChangeAspect="1"/>
          </p:cNvPicPr>
          <p:nvPr/>
        </p:nvPicPr>
        <p:blipFill>
          <a:blip r:embed="rId4"/>
          <a:stretch>
            <a:fillRect/>
          </a:stretch>
        </p:blipFill>
        <p:spPr>
          <a:xfrm>
            <a:off x="7054596" y="2500884"/>
            <a:ext cx="210312" cy="210312"/>
          </a:xfrm>
          <a:prstGeom prst="rect">
            <a:avLst/>
          </a:prstGeom>
        </p:spPr>
      </p:pic>
      <p:sp>
        <p:nvSpPr>
          <p:cNvPr id="20" name="Text 14"/>
          <p:cNvSpPr txBox="1"/>
          <p:nvPr/>
        </p:nvSpPr>
        <p:spPr>
          <a:xfrm>
            <a:off x="7516368" y="2377440"/>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Pengolahan Media</a:t>
            </a:r>
            <a:endParaRPr lang="en-US" sz="1200" dirty="0"/>
          </a:p>
        </p:txBody>
      </p:sp>
      <p:sp>
        <p:nvSpPr>
          <p:cNvPr id="21" name="Text 15"/>
          <p:cNvSpPr txBox="1"/>
          <p:nvPr/>
        </p:nvSpPr>
        <p:spPr>
          <a:xfrm>
            <a:off x="7516368" y="2633472"/>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Pengubahan ukuran gambar, pembuatan thumbnail, dan penyandian video.</a:t>
            </a:r>
            <a:endParaRPr lang="en-US" sz="960" dirty="0"/>
          </a:p>
        </p:txBody>
      </p:sp>
      <p:sp>
        <p:nvSpPr>
          <p:cNvPr id="22" name="Shape 16"/>
          <p:cNvSpPr/>
          <p:nvPr/>
        </p:nvSpPr>
        <p:spPr>
          <a:xfrm>
            <a:off x="6949440" y="3090672"/>
            <a:ext cx="420624" cy="420624"/>
          </a:xfrm>
          <a:prstGeom prst="roundRect">
            <a:avLst>
              <a:gd name="adj" fmla="val 26087"/>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7054596" y="3195828"/>
            <a:ext cx="210312" cy="210312"/>
          </a:xfrm>
          <a:prstGeom prst="rect">
            <a:avLst/>
          </a:prstGeom>
        </p:spPr>
      </p:pic>
      <p:sp>
        <p:nvSpPr>
          <p:cNvPr id="24" name="Text 17"/>
          <p:cNvSpPr txBox="1"/>
          <p:nvPr/>
        </p:nvSpPr>
        <p:spPr>
          <a:xfrm>
            <a:off x="7516368" y="3072384"/>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Laporan Berat</a:t>
            </a:r>
            <a:endParaRPr lang="en-US" sz="1200" dirty="0"/>
          </a:p>
        </p:txBody>
      </p:sp>
      <p:sp>
        <p:nvSpPr>
          <p:cNvPr id="25" name="Text 18"/>
          <p:cNvSpPr txBox="1"/>
          <p:nvPr/>
        </p:nvSpPr>
        <p:spPr>
          <a:xfrm>
            <a:off x="7516368" y="3328416"/>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Pembuatan laporan besar dan ekspor data dalam jumlah banyak.</a:t>
            </a:r>
            <a:endParaRPr lang="en-US" sz="960" dirty="0"/>
          </a:p>
        </p:txBody>
      </p:sp>
      <p:sp>
        <p:nvSpPr>
          <p:cNvPr id="26" name="Shape 19"/>
          <p:cNvSpPr/>
          <p:nvPr/>
        </p:nvSpPr>
        <p:spPr>
          <a:xfrm>
            <a:off x="6949440" y="3785616"/>
            <a:ext cx="420624" cy="420624"/>
          </a:xfrm>
          <a:prstGeom prst="roundRect">
            <a:avLst>
              <a:gd name="adj" fmla="val 26087"/>
            </a:avLst>
          </a:prstGeom>
          <a:solidFill>
            <a:srgbClr val="E8F2E2"/>
          </a:solidFill>
          <a:ln w="12700">
            <a:solidFill>
              <a:srgbClr val="E8F2E2"/>
            </a:solidFill>
            <a:prstDash val="solid"/>
          </a:ln>
        </p:spPr>
      </p:sp>
      <p:pic>
        <p:nvPicPr>
          <p:cNvPr id="27" name="Image 5" descr="preencoded.png">    </p:cNvPr>
          <p:cNvPicPr>
            <a:picLocks noChangeAspect="1"/>
          </p:cNvPicPr>
          <p:nvPr/>
        </p:nvPicPr>
        <p:blipFill>
          <a:blip r:embed="rId6"/>
          <a:stretch>
            <a:fillRect/>
          </a:stretch>
        </p:blipFill>
        <p:spPr>
          <a:xfrm>
            <a:off x="7054596" y="3890772"/>
            <a:ext cx="210312" cy="210312"/>
          </a:xfrm>
          <a:prstGeom prst="rect">
            <a:avLst/>
          </a:prstGeom>
        </p:spPr>
      </p:pic>
      <p:sp>
        <p:nvSpPr>
          <p:cNvPr id="28" name="Text 20"/>
          <p:cNvSpPr txBox="1"/>
          <p:nvPr/>
        </p:nvSpPr>
        <p:spPr>
          <a:xfrm>
            <a:off x="7516368" y="3767328"/>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Percobaan Ulang</a:t>
            </a:r>
            <a:endParaRPr lang="en-US" sz="1200" dirty="0"/>
          </a:p>
        </p:txBody>
      </p:sp>
      <p:sp>
        <p:nvSpPr>
          <p:cNvPr id="29" name="Text 21"/>
          <p:cNvSpPr txBox="1"/>
          <p:nvPr/>
        </p:nvSpPr>
        <p:spPr>
          <a:xfrm>
            <a:off x="7516368" y="4023360"/>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Pekerjaan yang gagal dapat diulang otomatis dengan jeda bertahap.</a:t>
            </a:r>
            <a:endParaRPr lang="en-US" sz="960" dirty="0"/>
          </a:p>
        </p:txBody>
      </p:sp>
      <p:sp>
        <p:nvSpPr>
          <p:cNvPr id="30" name="Shape 22"/>
          <p:cNvSpPr/>
          <p:nvPr/>
        </p:nvSpPr>
        <p:spPr>
          <a:xfrm>
            <a:off x="6949440" y="4480560"/>
            <a:ext cx="420624" cy="420624"/>
          </a:xfrm>
          <a:prstGeom prst="roundRect">
            <a:avLst>
              <a:gd name="adj" fmla="val 26087"/>
            </a:avLst>
          </a:prstGeom>
          <a:solidFill>
            <a:srgbClr val="E8F2E2"/>
          </a:solidFill>
          <a:ln w="12700">
            <a:solidFill>
              <a:srgbClr val="E8F2E2"/>
            </a:solidFill>
            <a:prstDash val="solid"/>
          </a:ln>
        </p:spPr>
      </p:sp>
      <p:pic>
        <p:nvPicPr>
          <p:cNvPr id="31" name="Image 6" descr="preencoded.png">    </p:cNvPr>
          <p:cNvPicPr>
            <a:picLocks noChangeAspect="1"/>
          </p:cNvPicPr>
          <p:nvPr/>
        </p:nvPicPr>
        <p:blipFill>
          <a:blip r:embed="rId7"/>
          <a:stretch>
            <a:fillRect/>
          </a:stretch>
        </p:blipFill>
        <p:spPr>
          <a:xfrm>
            <a:off x="7054596" y="4585716"/>
            <a:ext cx="210312" cy="210312"/>
          </a:xfrm>
          <a:prstGeom prst="rect">
            <a:avLst/>
          </a:prstGeom>
        </p:spPr>
      </p:pic>
      <p:sp>
        <p:nvSpPr>
          <p:cNvPr id="32" name="Text 23"/>
          <p:cNvSpPr txBox="1"/>
          <p:nvPr/>
        </p:nvSpPr>
        <p:spPr>
          <a:xfrm>
            <a:off x="7516368" y="4462272"/>
            <a:ext cx="40965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Tugas Terjadwal</a:t>
            </a:r>
            <a:endParaRPr lang="en-US" sz="1200" dirty="0"/>
          </a:p>
        </p:txBody>
      </p:sp>
      <p:sp>
        <p:nvSpPr>
          <p:cNvPr id="33" name="Text 24"/>
          <p:cNvSpPr txBox="1"/>
          <p:nvPr/>
        </p:nvSpPr>
        <p:spPr>
          <a:xfrm>
            <a:off x="7516368" y="4718304"/>
            <a:ext cx="4096512" cy="310896"/>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Pekerjaan berulang seperti pencadangan harian dan pembersihan data.</a:t>
            </a:r>
            <a:endParaRPr lang="en-US" sz="960" dirty="0"/>
          </a:p>
        </p:txBody>
      </p:sp>
      <p:sp>
        <p:nvSpPr>
          <p:cNvPr id="34" name="Shape 25"/>
          <p:cNvSpPr/>
          <p:nvPr/>
        </p:nvSpPr>
        <p:spPr>
          <a:xfrm>
            <a:off x="6949440" y="5230368"/>
            <a:ext cx="1481328" cy="859536"/>
          </a:xfrm>
          <a:prstGeom prst="roundRect">
            <a:avLst>
              <a:gd name="adj" fmla="val 9574"/>
            </a:avLst>
          </a:prstGeom>
          <a:solidFill>
            <a:srgbClr val="FFFFFF"/>
          </a:solidFill>
          <a:ln w="12700">
            <a:solidFill>
              <a:srgbClr val="E3EBDF"/>
            </a:solidFill>
            <a:prstDash val="solid"/>
          </a:ln>
        </p:spPr>
      </p:sp>
      <p:pic>
        <p:nvPicPr>
          <p:cNvPr id="35" name="Image 7" descr="preencoded.png">    </p:cNvPr>
          <p:cNvPicPr>
            <a:picLocks noChangeAspect="1"/>
          </p:cNvPicPr>
          <p:nvPr/>
        </p:nvPicPr>
        <p:blipFill>
          <a:blip r:embed="rId8"/>
          <a:stretch>
            <a:fillRect/>
          </a:stretch>
        </p:blipFill>
        <p:spPr>
          <a:xfrm>
            <a:off x="7552944" y="5376672"/>
            <a:ext cx="274320" cy="274320"/>
          </a:xfrm>
          <a:prstGeom prst="rect">
            <a:avLst/>
          </a:prstGeom>
        </p:spPr>
      </p:pic>
      <p:sp>
        <p:nvSpPr>
          <p:cNvPr id="36" name="Text 26"/>
          <p:cNvSpPr txBox="1"/>
          <p:nvPr/>
        </p:nvSpPr>
        <p:spPr>
          <a:xfrm>
            <a:off x="7022592" y="5705856"/>
            <a:ext cx="1335024" cy="274320"/>
          </a:xfrm>
          <a:prstGeom prst="rect">
            <a:avLst/>
          </a:prstGeom>
          <a:noFill/>
          <a:ln/>
        </p:spPr>
        <p:txBody>
          <a:bodyPr wrap="square" lIns="0" tIns="0" rIns="0" bIns="0" rtlCol="0" anchor="ctr"/>
          <a:lstStyle/>
          <a:p>
            <a:pPr algn="ctr" indent="0" marL="0">
              <a:buNone/>
            </a:pPr>
            <a:r>
              <a:rPr lang="en-US" sz="940" dirty="0">
                <a:solidFill>
                  <a:srgbClr val="5F6F62"/>
                </a:solidFill>
                <a:latin typeface="Calibri" pitchFamily="34" charset="0"/>
                <a:ea typeface="Calibri" pitchFamily="34" charset="-122"/>
                <a:cs typeface="Calibri" pitchFamily="34" charset="-120"/>
              </a:rPr>
              <a:t>Redis + BullMQ</a:t>
            </a:r>
            <a:endParaRPr lang="en-US" sz="940" dirty="0"/>
          </a:p>
        </p:txBody>
      </p:sp>
      <p:sp>
        <p:nvSpPr>
          <p:cNvPr id="37" name="Shape 27"/>
          <p:cNvSpPr/>
          <p:nvPr/>
        </p:nvSpPr>
        <p:spPr>
          <a:xfrm>
            <a:off x="8558784" y="5230368"/>
            <a:ext cx="1481328" cy="859536"/>
          </a:xfrm>
          <a:prstGeom prst="roundRect">
            <a:avLst>
              <a:gd name="adj" fmla="val 9574"/>
            </a:avLst>
          </a:prstGeom>
          <a:solidFill>
            <a:srgbClr val="FFFFFF"/>
          </a:solidFill>
          <a:ln w="12700">
            <a:solidFill>
              <a:srgbClr val="E3EBDF"/>
            </a:solidFill>
            <a:prstDash val="solid"/>
          </a:ln>
        </p:spPr>
      </p:sp>
      <p:pic>
        <p:nvPicPr>
          <p:cNvPr id="38" name="Image 8" descr="preencoded.png">    </p:cNvPr>
          <p:cNvPicPr>
            <a:picLocks noChangeAspect="1"/>
          </p:cNvPicPr>
          <p:nvPr/>
        </p:nvPicPr>
        <p:blipFill>
          <a:blip r:embed="rId9"/>
          <a:stretch>
            <a:fillRect/>
          </a:stretch>
        </p:blipFill>
        <p:spPr>
          <a:xfrm>
            <a:off x="9162288" y="5376672"/>
            <a:ext cx="274320" cy="274320"/>
          </a:xfrm>
          <a:prstGeom prst="rect">
            <a:avLst/>
          </a:prstGeom>
        </p:spPr>
      </p:pic>
      <p:sp>
        <p:nvSpPr>
          <p:cNvPr id="39" name="Text 28"/>
          <p:cNvSpPr txBox="1"/>
          <p:nvPr/>
        </p:nvSpPr>
        <p:spPr>
          <a:xfrm>
            <a:off x="8631936" y="5705856"/>
            <a:ext cx="1335024" cy="274320"/>
          </a:xfrm>
          <a:prstGeom prst="rect">
            <a:avLst/>
          </a:prstGeom>
          <a:noFill/>
          <a:ln/>
        </p:spPr>
        <p:txBody>
          <a:bodyPr wrap="square" lIns="0" tIns="0" rIns="0" bIns="0" rtlCol="0" anchor="ctr"/>
          <a:lstStyle/>
          <a:p>
            <a:pPr algn="ctr" indent="0" marL="0">
              <a:buNone/>
            </a:pPr>
            <a:r>
              <a:rPr lang="en-US" sz="940" dirty="0">
                <a:solidFill>
                  <a:srgbClr val="5F6F62"/>
                </a:solidFill>
                <a:latin typeface="Calibri" pitchFamily="34" charset="0"/>
                <a:ea typeface="Calibri" pitchFamily="34" charset="-122"/>
                <a:cs typeface="Calibri" pitchFamily="34" charset="-120"/>
              </a:rPr>
              <a:t>RabbitMQ</a:t>
            </a:r>
            <a:endParaRPr lang="en-US" sz="940" dirty="0"/>
          </a:p>
        </p:txBody>
      </p:sp>
      <p:sp>
        <p:nvSpPr>
          <p:cNvPr id="40" name="Shape 29"/>
          <p:cNvSpPr/>
          <p:nvPr/>
        </p:nvSpPr>
        <p:spPr>
          <a:xfrm>
            <a:off x="10168128" y="5230368"/>
            <a:ext cx="1481328" cy="859536"/>
          </a:xfrm>
          <a:prstGeom prst="roundRect">
            <a:avLst>
              <a:gd name="adj" fmla="val 9574"/>
            </a:avLst>
          </a:prstGeom>
          <a:solidFill>
            <a:srgbClr val="FFFFFF"/>
          </a:solidFill>
          <a:ln w="12700">
            <a:solidFill>
              <a:srgbClr val="E3EBDF"/>
            </a:solidFill>
            <a:prstDash val="solid"/>
          </a:ln>
        </p:spPr>
      </p:sp>
      <p:pic>
        <p:nvPicPr>
          <p:cNvPr id="41" name="Image 9" descr="preencoded.png">    </p:cNvPr>
          <p:cNvPicPr>
            <a:picLocks noChangeAspect="1"/>
          </p:cNvPicPr>
          <p:nvPr/>
        </p:nvPicPr>
        <p:blipFill>
          <a:blip r:embed="rId10"/>
          <a:stretch>
            <a:fillRect/>
          </a:stretch>
        </p:blipFill>
        <p:spPr>
          <a:xfrm>
            <a:off x="10771632" y="5376672"/>
            <a:ext cx="274320" cy="274320"/>
          </a:xfrm>
          <a:prstGeom prst="rect">
            <a:avLst/>
          </a:prstGeom>
        </p:spPr>
      </p:pic>
      <p:sp>
        <p:nvSpPr>
          <p:cNvPr id="42" name="Text 30"/>
          <p:cNvSpPr txBox="1"/>
          <p:nvPr/>
        </p:nvSpPr>
        <p:spPr>
          <a:xfrm>
            <a:off x="10241280" y="5705856"/>
            <a:ext cx="1335024" cy="274320"/>
          </a:xfrm>
          <a:prstGeom prst="rect">
            <a:avLst/>
          </a:prstGeom>
          <a:noFill/>
          <a:ln/>
        </p:spPr>
        <p:txBody>
          <a:bodyPr wrap="square" lIns="0" tIns="0" rIns="0" bIns="0" rtlCol="0" anchor="ctr"/>
          <a:lstStyle/>
          <a:p>
            <a:pPr algn="ctr" indent="0" marL="0">
              <a:buNone/>
            </a:pPr>
            <a:r>
              <a:rPr lang="en-US" sz="940" dirty="0">
                <a:solidFill>
                  <a:srgbClr val="5F6F62"/>
                </a:solidFill>
                <a:latin typeface="Calibri" pitchFamily="34" charset="0"/>
                <a:ea typeface="Calibri" pitchFamily="34" charset="-122"/>
                <a:cs typeface="Calibri" pitchFamily="34" charset="-120"/>
              </a:rPr>
              <a:t>Apache Kafka</a:t>
            </a:r>
            <a:endParaRPr lang="en-US" sz="940" dirty="0"/>
          </a:p>
        </p:txBody>
      </p:sp>
      <p:sp>
        <p:nvSpPr>
          <p:cNvPr id="43" name="Text 31"/>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4" name="Text 32"/>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8138160" y="-1188720"/>
            <a:ext cx="5852160" cy="5852160"/>
          </a:xfrm>
          <a:prstGeom prst="roundRect">
            <a:avLst>
              <a:gd name="adj" fmla="val 7813"/>
            </a:avLst>
          </a:prstGeom>
          <a:solidFill>
            <a:srgbClr val="12301F"/>
          </a:solidFill>
          <a:ln w="12700">
            <a:solidFill>
              <a:srgbClr val="12301F"/>
            </a:solidFill>
            <a:prstDash val="solid"/>
          </a:ln>
        </p:spPr>
      </p:sp>
      <p:sp>
        <p:nvSpPr>
          <p:cNvPr id="3" name="Text 1"/>
          <p:cNvSpPr txBox="1"/>
          <p:nvPr/>
        </p:nvSpPr>
        <p:spPr>
          <a:xfrm>
            <a:off x="822960" y="1874520"/>
            <a:ext cx="6400800" cy="320040"/>
          </a:xfrm>
          <a:prstGeom prst="rect">
            <a:avLst/>
          </a:prstGeom>
          <a:noFill/>
          <a:ln/>
        </p:spPr>
        <p:txBody>
          <a:bodyPr wrap="square" lIns="0" tIns="0" rIns="0" bIns="0" rtlCol="0" anchor="ctr"/>
          <a:lstStyle/>
          <a:p>
            <a:pPr indent="0" marL="0">
              <a:buNone/>
            </a:pPr>
            <a:r>
              <a:rPr lang="en-US" sz="1250" b="1" spc="240" kern="0" dirty="0">
                <a:solidFill>
                  <a:srgbClr val="8CC84B"/>
                </a:solidFill>
                <a:latin typeface="Calibri" pitchFamily="34" charset="0"/>
                <a:ea typeface="Calibri" pitchFamily="34" charset="-122"/>
                <a:cs typeface="Calibri" pitchFamily="34" charset="-120"/>
              </a:rPr>
              <a:t>BAGIAN 08</a:t>
            </a:r>
            <a:endParaRPr lang="en-US" sz="1250" dirty="0"/>
          </a:p>
        </p:txBody>
      </p:sp>
      <p:sp>
        <p:nvSpPr>
          <p:cNvPr id="4" name="Text 2"/>
          <p:cNvSpPr txBox="1"/>
          <p:nvPr/>
        </p:nvSpPr>
        <p:spPr>
          <a:xfrm>
            <a:off x="777240" y="2240280"/>
            <a:ext cx="7132320" cy="10058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Kualitas &amp; Produksi</a:t>
            </a:r>
            <a:endParaRPr lang="en-US" sz="3800" dirty="0"/>
          </a:p>
        </p:txBody>
      </p:sp>
      <p:sp>
        <p:nvSpPr>
          <p:cNvPr id="5" name="Text 3"/>
          <p:cNvSpPr txBox="1"/>
          <p:nvPr/>
        </p:nvSpPr>
        <p:spPr>
          <a:xfrm>
            <a:off x="822960" y="3310128"/>
            <a:ext cx="6675120" cy="731520"/>
          </a:xfrm>
          <a:prstGeom prst="rect">
            <a:avLst/>
          </a:prstGeom>
          <a:noFill/>
          <a:ln/>
        </p:spPr>
        <p:txBody>
          <a:bodyPr wrap="square" lIns="0" tIns="0" rIns="0" bIns="0" rtlCol="0" anchor="ctr"/>
          <a:lstStyle/>
          <a:p>
            <a:pPr indent="0" marL="0">
              <a:lnSpc>
                <a:spcPct val="120000"/>
              </a:lnSpc>
              <a:buNone/>
            </a:pPr>
            <a:r>
              <a:rPr lang="en-US" sz="1400" dirty="0">
                <a:solidFill>
                  <a:srgbClr val="B5CFBB"/>
                </a:solidFill>
                <a:latin typeface="Calibri" pitchFamily="34" charset="0"/>
                <a:ea typeface="Calibri" pitchFamily="34" charset="-122"/>
                <a:cs typeface="Calibri" pitchFamily="34" charset="-120"/>
              </a:rPr>
              <a:t>Memastikan aplikasi teruji, aman, cepat, dan siap dijalankan pada lingkungan produksi yang sesungguhnya.</a:t>
            </a:r>
            <a:endParaRPr lang="en-US" sz="1400" dirty="0"/>
          </a:p>
        </p:txBody>
      </p:sp>
      <p:sp>
        <p:nvSpPr>
          <p:cNvPr id="6" name="Shape 4"/>
          <p:cNvSpPr/>
          <p:nvPr/>
        </p:nvSpPr>
        <p:spPr>
          <a:xfrm>
            <a:off x="841248" y="4297680"/>
            <a:ext cx="155448" cy="155448"/>
          </a:xfrm>
          <a:prstGeom prst="roundRect">
            <a:avLst>
              <a:gd name="adj" fmla="val 29412"/>
            </a:avLst>
          </a:prstGeom>
          <a:solidFill>
            <a:srgbClr val="8CC84B"/>
          </a:solidFill>
          <a:ln w="12700">
            <a:solidFill>
              <a:srgbClr val="8CC84B"/>
            </a:solidFill>
            <a:prstDash val="solid"/>
          </a:ln>
        </p:spPr>
      </p:sp>
      <p:sp>
        <p:nvSpPr>
          <p:cNvPr id="7" name="Text 5"/>
          <p:cNvSpPr txBox="1"/>
          <p:nvPr/>
        </p:nvSpPr>
        <p:spPr>
          <a:xfrm>
            <a:off x="1188720" y="4187952"/>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Pengujian, tooling, dan proses debugging</a:t>
            </a:r>
            <a:endParaRPr lang="en-US" sz="1250" dirty="0"/>
          </a:p>
        </p:txBody>
      </p:sp>
      <p:sp>
        <p:nvSpPr>
          <p:cNvPr id="8" name="Shape 6"/>
          <p:cNvSpPr/>
          <p:nvPr/>
        </p:nvSpPr>
        <p:spPr>
          <a:xfrm>
            <a:off x="841248" y="4736592"/>
            <a:ext cx="155448" cy="155448"/>
          </a:xfrm>
          <a:prstGeom prst="roundRect">
            <a:avLst>
              <a:gd name="adj" fmla="val 29412"/>
            </a:avLst>
          </a:prstGeom>
          <a:solidFill>
            <a:srgbClr val="8CC84B"/>
          </a:solidFill>
          <a:ln w="12700">
            <a:solidFill>
              <a:srgbClr val="8CC84B"/>
            </a:solidFill>
            <a:prstDash val="solid"/>
          </a:ln>
        </p:spPr>
      </p:sp>
      <p:sp>
        <p:nvSpPr>
          <p:cNvPr id="9" name="Text 7"/>
          <p:cNvSpPr txBox="1"/>
          <p:nvPr/>
        </p:nvSpPr>
        <p:spPr>
          <a:xfrm>
            <a:off x="1188720" y="4626864"/>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Keamanan dan optimasi performa</a:t>
            </a:r>
            <a:endParaRPr lang="en-US" sz="1250" dirty="0"/>
          </a:p>
        </p:txBody>
      </p:sp>
      <p:sp>
        <p:nvSpPr>
          <p:cNvPr id="10" name="Shape 8"/>
          <p:cNvSpPr/>
          <p:nvPr/>
        </p:nvSpPr>
        <p:spPr>
          <a:xfrm>
            <a:off x="841248" y="5175504"/>
            <a:ext cx="155448" cy="155448"/>
          </a:xfrm>
          <a:prstGeom prst="roundRect">
            <a:avLst>
              <a:gd name="adj" fmla="val 29412"/>
            </a:avLst>
          </a:prstGeom>
          <a:solidFill>
            <a:srgbClr val="8CC84B"/>
          </a:solidFill>
          <a:ln w="12700">
            <a:solidFill>
              <a:srgbClr val="8CC84B"/>
            </a:solidFill>
            <a:prstDash val="solid"/>
          </a:ln>
        </p:spPr>
      </p:sp>
      <p:sp>
        <p:nvSpPr>
          <p:cNvPr id="11" name="Text 9"/>
          <p:cNvSpPr txBox="1"/>
          <p:nvPr/>
        </p:nvSpPr>
        <p:spPr>
          <a:xfrm>
            <a:off x="1188720" y="5065776"/>
            <a:ext cx="6309360" cy="329184"/>
          </a:xfrm>
          <a:prstGeom prst="rect">
            <a:avLst/>
          </a:prstGeom>
          <a:noFill/>
          <a:ln/>
        </p:spPr>
        <p:txBody>
          <a:bodyPr wrap="square" lIns="0" tIns="0" rIns="0" bIns="0" rtlCol="0" anchor="ctr"/>
          <a:lstStyle/>
          <a:p>
            <a:pPr indent="0" marL="0">
              <a:buNone/>
            </a:pPr>
            <a:r>
              <a:rPr lang="en-US" sz="1250" dirty="0">
                <a:solidFill>
                  <a:srgbClr val="D3E6D6"/>
                </a:solidFill>
                <a:latin typeface="Calibri" pitchFamily="34" charset="0"/>
                <a:ea typeface="Calibri" pitchFamily="34" charset="-122"/>
                <a:cs typeface="Calibri" pitchFamily="34" charset="-120"/>
              </a:rPr>
              <a:t>Deployment, ekosistem framework, dan roadmap belajar</a:t>
            </a:r>
            <a:endParaRPr lang="en-US" sz="1250" dirty="0"/>
          </a:p>
        </p:txBody>
      </p:sp>
      <p:pic>
        <p:nvPicPr>
          <p:cNvPr id="12" name="Image 0" descr="preencoded.png">    </p:cNvPr>
          <p:cNvPicPr>
            <a:picLocks noChangeAspect="1"/>
          </p:cNvPicPr>
          <p:nvPr/>
        </p:nvPicPr>
        <p:blipFill>
          <a:blip r:embed="rId1"/>
          <a:stretch>
            <a:fillRect/>
          </a:stretch>
        </p:blipFill>
        <p:spPr>
          <a:xfrm>
            <a:off x="9189720" y="2331720"/>
            <a:ext cx="2286000" cy="2286000"/>
          </a:xfrm>
          <a:prstGeom prst="rect">
            <a:avLst/>
          </a:prstGeom>
        </p:spPr>
      </p:pic>
      <p:sp>
        <p:nvSpPr>
          <p:cNvPr id="13" name="Text 10"/>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14" name="Text 11"/>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Pengujian Aplikasi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Memastikan kode tetap benar setiap kali diubah</a:t>
            </a:r>
            <a:endParaRPr lang="en-US" sz="1300" dirty="0"/>
          </a:p>
        </p:txBody>
      </p:sp>
      <p:sp>
        <p:nvSpPr>
          <p:cNvPr id="6" name="Shape 3"/>
          <p:cNvSpPr/>
          <p:nvPr/>
        </p:nvSpPr>
        <p:spPr>
          <a:xfrm>
            <a:off x="640080" y="1609344"/>
            <a:ext cx="2542032"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Jest</a:t>
            </a:r>
            <a:endParaRPr lang="en-US" sz="1300" dirty="0"/>
          </a:p>
        </p:txBody>
      </p:sp>
      <p:sp>
        <p:nvSpPr>
          <p:cNvPr id="10" name="Text 6"/>
          <p:cNvSpPr txBox="1"/>
          <p:nvPr/>
        </p:nvSpPr>
        <p:spPr>
          <a:xfrm>
            <a:off x="896112" y="2395728"/>
            <a:ext cx="2029968" cy="51206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Kerangka uji lengkap dengan assertion, mocking, dan laporan cakupan bawaan.</a:t>
            </a:r>
            <a:endParaRPr lang="en-US" sz="1030" dirty="0"/>
          </a:p>
        </p:txBody>
      </p:sp>
      <p:sp>
        <p:nvSpPr>
          <p:cNvPr id="11" name="Shape 7"/>
          <p:cNvSpPr/>
          <p:nvPr/>
        </p:nvSpPr>
        <p:spPr>
          <a:xfrm>
            <a:off x="3447288" y="1609344"/>
            <a:ext cx="2542032"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3703320" y="1828800"/>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3817620" y="1943100"/>
            <a:ext cx="228600" cy="228600"/>
          </a:xfrm>
          <a:prstGeom prst="rect">
            <a:avLst/>
          </a:prstGeom>
        </p:spPr>
      </p:pic>
      <p:sp>
        <p:nvSpPr>
          <p:cNvPr id="14" name="Text 9"/>
          <p:cNvSpPr txBox="1"/>
          <p:nvPr/>
        </p:nvSpPr>
        <p:spPr>
          <a:xfrm>
            <a:off x="4306824"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Mocha + Chai</a:t>
            </a:r>
            <a:endParaRPr lang="en-US" sz="1300" dirty="0"/>
          </a:p>
        </p:txBody>
      </p:sp>
      <p:sp>
        <p:nvSpPr>
          <p:cNvPr id="15" name="Text 10"/>
          <p:cNvSpPr txBox="1"/>
          <p:nvPr/>
        </p:nvSpPr>
        <p:spPr>
          <a:xfrm>
            <a:off x="3703320" y="2395728"/>
            <a:ext cx="2029968" cy="51206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Kombinasi klasik yang fleksibel dan banyak dipakai pada proyek lama.</a:t>
            </a:r>
            <a:endParaRPr lang="en-US" sz="1030" dirty="0"/>
          </a:p>
        </p:txBody>
      </p:sp>
      <p:sp>
        <p:nvSpPr>
          <p:cNvPr id="16" name="Shape 11"/>
          <p:cNvSpPr/>
          <p:nvPr/>
        </p:nvSpPr>
        <p:spPr>
          <a:xfrm>
            <a:off x="6254496" y="1609344"/>
            <a:ext cx="2542032"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6510528" y="1828800"/>
            <a:ext cx="457200" cy="457200"/>
          </a:xfrm>
          <a:prstGeom prst="roundRect">
            <a:avLst>
              <a:gd name="adj" fmla="val 26000"/>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6624828" y="1943100"/>
            <a:ext cx="228600" cy="228600"/>
          </a:xfrm>
          <a:prstGeom prst="rect">
            <a:avLst/>
          </a:prstGeom>
        </p:spPr>
      </p:pic>
      <p:sp>
        <p:nvSpPr>
          <p:cNvPr id="19" name="Text 13"/>
          <p:cNvSpPr txBox="1"/>
          <p:nvPr/>
        </p:nvSpPr>
        <p:spPr>
          <a:xfrm>
            <a:off x="7114032"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node:test</a:t>
            </a:r>
            <a:endParaRPr lang="en-US" sz="1300" dirty="0"/>
          </a:p>
        </p:txBody>
      </p:sp>
      <p:sp>
        <p:nvSpPr>
          <p:cNvPr id="20" name="Text 14"/>
          <p:cNvSpPr txBox="1"/>
          <p:nvPr/>
        </p:nvSpPr>
        <p:spPr>
          <a:xfrm>
            <a:off x="6510528" y="2395728"/>
            <a:ext cx="2029968" cy="51206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Test runner bawaan Node.js sejak versi 18, tanpa perlu memasang paket apa pun.</a:t>
            </a:r>
            <a:endParaRPr lang="en-US" sz="1030" dirty="0"/>
          </a:p>
        </p:txBody>
      </p:sp>
      <p:sp>
        <p:nvSpPr>
          <p:cNvPr id="21" name="Shape 15"/>
          <p:cNvSpPr/>
          <p:nvPr/>
        </p:nvSpPr>
        <p:spPr>
          <a:xfrm>
            <a:off x="9061704" y="1609344"/>
            <a:ext cx="2542032" cy="1463040"/>
          </a:xfrm>
          <a:prstGeom prst="roundRect">
            <a:avLst>
              <a:gd name="adj" fmla="val 5625"/>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6"/>
          <p:cNvSpPr/>
          <p:nvPr/>
        </p:nvSpPr>
        <p:spPr>
          <a:xfrm>
            <a:off x="9317736" y="1828800"/>
            <a:ext cx="457200" cy="457200"/>
          </a:xfrm>
          <a:prstGeom prst="roundRect">
            <a:avLst>
              <a:gd name="adj" fmla="val 26000"/>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9432036" y="1943100"/>
            <a:ext cx="228600" cy="228600"/>
          </a:xfrm>
          <a:prstGeom prst="rect">
            <a:avLst/>
          </a:prstGeom>
        </p:spPr>
      </p:pic>
      <p:sp>
        <p:nvSpPr>
          <p:cNvPr id="24" name="Text 17"/>
          <p:cNvSpPr txBox="1"/>
          <p:nvPr/>
        </p:nvSpPr>
        <p:spPr>
          <a:xfrm>
            <a:off x="9921240"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Supertest</a:t>
            </a:r>
            <a:endParaRPr lang="en-US" sz="1300" dirty="0"/>
          </a:p>
        </p:txBody>
      </p:sp>
      <p:sp>
        <p:nvSpPr>
          <p:cNvPr id="25" name="Text 18"/>
          <p:cNvSpPr txBox="1"/>
          <p:nvPr/>
        </p:nvSpPr>
        <p:spPr>
          <a:xfrm>
            <a:off x="9317736" y="2395728"/>
            <a:ext cx="2029968" cy="512064"/>
          </a:xfrm>
          <a:prstGeom prst="rect">
            <a:avLst/>
          </a:prstGeom>
          <a:noFill/>
          <a:ln/>
        </p:spPr>
        <p:txBody>
          <a:bodyPr wrap="square" lIns="0" tIns="0" rIns="0" bIns="0" rtlCol="0" anchor="t"/>
          <a:lstStyle/>
          <a:p>
            <a:pPr indent="0" marL="0">
              <a:lnSpc>
                <a:spcPct val="112000"/>
              </a:lnSpc>
              <a:buNone/>
            </a:pPr>
            <a:r>
              <a:rPr lang="en-US" sz="1030" dirty="0">
                <a:solidFill>
                  <a:srgbClr val="5F6F62"/>
                </a:solidFill>
                <a:latin typeface="Calibri" pitchFamily="34" charset="0"/>
                <a:ea typeface="Calibri" pitchFamily="34" charset="-122"/>
                <a:cs typeface="Calibri" pitchFamily="34" charset="-120"/>
              </a:rPr>
              <a:t>Menguji endpoint HTTP Express secara langsung tanpa menjalankan server sungguhan.</a:t>
            </a:r>
            <a:endParaRPr lang="en-US" sz="1030" dirty="0"/>
          </a:p>
        </p:txBody>
      </p:sp>
      <p:sp>
        <p:nvSpPr>
          <p:cNvPr id="26" name="Shape 19"/>
          <p:cNvSpPr/>
          <p:nvPr/>
        </p:nvSpPr>
        <p:spPr>
          <a:xfrm>
            <a:off x="640080" y="3182112"/>
            <a:ext cx="5577840" cy="2995648"/>
          </a:xfrm>
          <a:prstGeom prst="roundRect">
            <a:avLst>
              <a:gd name="adj" fmla="val 2137"/>
            </a:avLst>
          </a:prstGeom>
          <a:solidFill>
            <a:srgbClr val="0E2417"/>
          </a:solidFill>
          <a:ln w="12700">
            <a:solidFill>
              <a:srgbClr val="234A31"/>
            </a:solidFill>
            <a:prstDash val="solid"/>
          </a:ln>
        </p:spPr>
      </p:sp>
      <p:sp>
        <p:nvSpPr>
          <p:cNvPr id="27" name="Text 20"/>
          <p:cNvSpPr txBox="1"/>
          <p:nvPr/>
        </p:nvSpPr>
        <p:spPr>
          <a:xfrm>
            <a:off x="859536" y="327355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CONTOH PENGUJIAN DENGAN JEST</a:t>
            </a:r>
            <a:endParaRPr lang="en-US" sz="950" dirty="0"/>
          </a:p>
        </p:txBody>
      </p:sp>
      <p:sp>
        <p:nvSpPr>
          <p:cNvPr id="28" name="Text 21"/>
          <p:cNvSpPr txBox="1"/>
          <p:nvPr/>
        </p:nvSpPr>
        <p:spPr>
          <a:xfrm>
            <a:off x="859536" y="3584448"/>
            <a:ext cx="5138928" cy="2483584"/>
          </a:xfrm>
          <a:prstGeom prst="rect">
            <a:avLst/>
          </a:prstGeom>
          <a:noFill/>
          <a:ln/>
        </p:spPr>
        <p:txBody>
          <a:bodyPr wrap="square" lIns="0" tIns="0" rIns="0" bIns="0" rtlCol="0" anchor="t"/>
          <a:lstStyle/>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mtk.test.js</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tambah }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'./mtk'</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describe(</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'fungsi tambah'</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test(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'menjumlahkan dua bilangan positif'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expect(tambah(</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3</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)).toBe(</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5</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test(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'menangani bilangan negatif'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=&gt;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expect(tambah(-</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1</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)).toBe(-</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Jalankan dengan: npx jest</a:t>
            </a:r>
            <a:endParaRPr lang="en-US" sz="1020" dirty="0"/>
          </a:p>
        </p:txBody>
      </p:sp>
      <p:sp>
        <p:nvSpPr>
          <p:cNvPr id="29" name="Shape 22"/>
          <p:cNvSpPr/>
          <p:nvPr/>
        </p:nvSpPr>
        <p:spPr>
          <a:xfrm>
            <a:off x="6492240" y="3291840"/>
            <a:ext cx="420624" cy="420624"/>
          </a:xfrm>
          <a:prstGeom prst="roundRect">
            <a:avLst>
              <a:gd name="adj" fmla="val 26087"/>
            </a:avLst>
          </a:prstGeom>
          <a:solidFill>
            <a:srgbClr val="E8F2E2"/>
          </a:solidFill>
          <a:ln w="12700">
            <a:solidFill>
              <a:srgbClr val="E8F2E2"/>
            </a:solidFill>
            <a:prstDash val="solid"/>
          </a:ln>
        </p:spPr>
      </p:sp>
      <p:pic>
        <p:nvPicPr>
          <p:cNvPr id="30" name="Image 5" descr="preencoded.png">    </p:cNvPr>
          <p:cNvPicPr>
            <a:picLocks noChangeAspect="1"/>
          </p:cNvPicPr>
          <p:nvPr/>
        </p:nvPicPr>
        <p:blipFill>
          <a:blip r:embed="rId6"/>
          <a:stretch>
            <a:fillRect/>
          </a:stretch>
        </p:blipFill>
        <p:spPr>
          <a:xfrm>
            <a:off x="6597396" y="3396996"/>
            <a:ext cx="210312" cy="210312"/>
          </a:xfrm>
          <a:prstGeom prst="rect">
            <a:avLst/>
          </a:prstGeom>
        </p:spPr>
      </p:pic>
      <p:sp>
        <p:nvSpPr>
          <p:cNvPr id="31" name="Text 23"/>
          <p:cNvSpPr txBox="1"/>
          <p:nvPr/>
        </p:nvSpPr>
        <p:spPr>
          <a:xfrm>
            <a:off x="7059168" y="3273552"/>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Unit Test</a:t>
            </a:r>
            <a:endParaRPr lang="en-US" sz="1200" dirty="0"/>
          </a:p>
        </p:txBody>
      </p:sp>
      <p:sp>
        <p:nvSpPr>
          <p:cNvPr id="32" name="Text 24"/>
          <p:cNvSpPr txBox="1"/>
          <p:nvPr/>
        </p:nvSpPr>
        <p:spPr>
          <a:xfrm>
            <a:off x="7059168" y="3529584"/>
            <a:ext cx="4553712" cy="274320"/>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Menguji satu fungsi atau modul secara terpisah. Paling cepat.</a:t>
            </a:r>
            <a:endParaRPr lang="en-US" sz="980" dirty="0"/>
          </a:p>
        </p:txBody>
      </p:sp>
      <p:sp>
        <p:nvSpPr>
          <p:cNvPr id="33" name="Shape 25"/>
          <p:cNvSpPr/>
          <p:nvPr/>
        </p:nvSpPr>
        <p:spPr>
          <a:xfrm>
            <a:off x="6492240" y="3968496"/>
            <a:ext cx="420624" cy="420624"/>
          </a:xfrm>
          <a:prstGeom prst="roundRect">
            <a:avLst>
              <a:gd name="adj" fmla="val 26087"/>
            </a:avLst>
          </a:prstGeom>
          <a:solidFill>
            <a:srgbClr val="E8F2E2"/>
          </a:solidFill>
          <a:ln w="12700">
            <a:solidFill>
              <a:srgbClr val="E8F2E2"/>
            </a:solidFill>
            <a:prstDash val="solid"/>
          </a:ln>
        </p:spPr>
      </p:sp>
      <p:pic>
        <p:nvPicPr>
          <p:cNvPr id="34" name="Image 6" descr="preencoded.png">    </p:cNvPr>
          <p:cNvPicPr>
            <a:picLocks noChangeAspect="1"/>
          </p:cNvPicPr>
          <p:nvPr/>
        </p:nvPicPr>
        <p:blipFill>
          <a:blip r:embed="rId7"/>
          <a:stretch>
            <a:fillRect/>
          </a:stretch>
        </p:blipFill>
        <p:spPr>
          <a:xfrm>
            <a:off x="6597396" y="4073652"/>
            <a:ext cx="210312" cy="210312"/>
          </a:xfrm>
          <a:prstGeom prst="rect">
            <a:avLst/>
          </a:prstGeom>
        </p:spPr>
      </p:pic>
      <p:sp>
        <p:nvSpPr>
          <p:cNvPr id="35" name="Text 26"/>
          <p:cNvSpPr txBox="1"/>
          <p:nvPr/>
        </p:nvSpPr>
        <p:spPr>
          <a:xfrm>
            <a:off x="7059168" y="3950208"/>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Integration Test</a:t>
            </a:r>
            <a:endParaRPr lang="en-US" sz="1200" dirty="0"/>
          </a:p>
        </p:txBody>
      </p:sp>
      <p:sp>
        <p:nvSpPr>
          <p:cNvPr id="36" name="Text 27"/>
          <p:cNvSpPr txBox="1"/>
          <p:nvPr/>
        </p:nvSpPr>
        <p:spPr>
          <a:xfrm>
            <a:off x="7059168" y="4206240"/>
            <a:ext cx="4553712" cy="274320"/>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Menguji beberapa bagian bersama, misalnya controller dan basis data.</a:t>
            </a:r>
            <a:endParaRPr lang="en-US" sz="980" dirty="0"/>
          </a:p>
        </p:txBody>
      </p:sp>
      <p:sp>
        <p:nvSpPr>
          <p:cNvPr id="37" name="Shape 28"/>
          <p:cNvSpPr/>
          <p:nvPr/>
        </p:nvSpPr>
        <p:spPr>
          <a:xfrm>
            <a:off x="6492240" y="4645152"/>
            <a:ext cx="420624" cy="420624"/>
          </a:xfrm>
          <a:prstGeom prst="roundRect">
            <a:avLst>
              <a:gd name="adj" fmla="val 26087"/>
            </a:avLst>
          </a:prstGeom>
          <a:solidFill>
            <a:srgbClr val="E8F2E2"/>
          </a:solidFill>
          <a:ln w="12700">
            <a:solidFill>
              <a:srgbClr val="E8F2E2"/>
            </a:solidFill>
            <a:prstDash val="solid"/>
          </a:ln>
        </p:spPr>
      </p:sp>
      <p:pic>
        <p:nvPicPr>
          <p:cNvPr id="38" name="Image 7" descr="preencoded.png">    </p:cNvPr>
          <p:cNvPicPr>
            <a:picLocks noChangeAspect="1"/>
          </p:cNvPicPr>
          <p:nvPr/>
        </p:nvPicPr>
        <p:blipFill>
          <a:blip r:embed="rId8"/>
          <a:stretch>
            <a:fillRect/>
          </a:stretch>
        </p:blipFill>
        <p:spPr>
          <a:xfrm>
            <a:off x="6597396" y="4750308"/>
            <a:ext cx="210312" cy="210312"/>
          </a:xfrm>
          <a:prstGeom prst="rect">
            <a:avLst/>
          </a:prstGeom>
        </p:spPr>
      </p:pic>
      <p:sp>
        <p:nvSpPr>
          <p:cNvPr id="39" name="Text 29"/>
          <p:cNvSpPr txBox="1"/>
          <p:nvPr/>
        </p:nvSpPr>
        <p:spPr>
          <a:xfrm>
            <a:off x="7059168" y="4626864"/>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End-to-End Test</a:t>
            </a:r>
            <a:endParaRPr lang="en-US" sz="1200" dirty="0"/>
          </a:p>
        </p:txBody>
      </p:sp>
      <p:sp>
        <p:nvSpPr>
          <p:cNvPr id="40" name="Text 30"/>
          <p:cNvSpPr txBox="1"/>
          <p:nvPr/>
        </p:nvSpPr>
        <p:spPr>
          <a:xfrm>
            <a:off x="7059168" y="4882896"/>
            <a:ext cx="4553712" cy="274320"/>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Menguji alur pengguna dari awal hingga akhir. Paling meyakinkan.</a:t>
            </a:r>
            <a:endParaRPr lang="en-US" sz="980" dirty="0"/>
          </a:p>
        </p:txBody>
      </p:sp>
      <p:sp>
        <p:nvSpPr>
          <p:cNvPr id="41" name="Shape 31"/>
          <p:cNvSpPr/>
          <p:nvPr/>
        </p:nvSpPr>
        <p:spPr>
          <a:xfrm>
            <a:off x="6492240" y="5321808"/>
            <a:ext cx="420624" cy="420624"/>
          </a:xfrm>
          <a:prstGeom prst="roundRect">
            <a:avLst>
              <a:gd name="adj" fmla="val 26087"/>
            </a:avLst>
          </a:prstGeom>
          <a:solidFill>
            <a:srgbClr val="E8F2E2"/>
          </a:solidFill>
          <a:ln w="12700">
            <a:solidFill>
              <a:srgbClr val="E8F2E2"/>
            </a:solidFill>
            <a:prstDash val="solid"/>
          </a:ln>
        </p:spPr>
      </p:sp>
      <p:pic>
        <p:nvPicPr>
          <p:cNvPr id="42" name="Image 8" descr="preencoded.png">    </p:cNvPr>
          <p:cNvPicPr>
            <a:picLocks noChangeAspect="1"/>
          </p:cNvPicPr>
          <p:nvPr/>
        </p:nvPicPr>
        <p:blipFill>
          <a:blip r:embed="rId9"/>
          <a:stretch>
            <a:fillRect/>
          </a:stretch>
        </p:blipFill>
        <p:spPr>
          <a:xfrm>
            <a:off x="6597396" y="5426964"/>
            <a:ext cx="210312" cy="210312"/>
          </a:xfrm>
          <a:prstGeom prst="rect">
            <a:avLst/>
          </a:prstGeom>
        </p:spPr>
      </p:pic>
      <p:sp>
        <p:nvSpPr>
          <p:cNvPr id="43" name="Text 32"/>
          <p:cNvSpPr txBox="1"/>
          <p:nvPr/>
        </p:nvSpPr>
        <p:spPr>
          <a:xfrm>
            <a:off x="7059168" y="5303520"/>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Cakupan Kode</a:t>
            </a:r>
            <a:endParaRPr lang="en-US" sz="1200" dirty="0"/>
          </a:p>
        </p:txBody>
      </p:sp>
      <p:sp>
        <p:nvSpPr>
          <p:cNvPr id="44" name="Text 33"/>
          <p:cNvSpPr txBox="1"/>
          <p:nvPr/>
        </p:nvSpPr>
        <p:spPr>
          <a:xfrm>
            <a:off x="7059168" y="5559552"/>
            <a:ext cx="4553712" cy="274320"/>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Mengukur persentase kode yang tersentuh pengujian.</a:t>
            </a:r>
            <a:endParaRPr lang="en-US" sz="980" dirty="0"/>
          </a:p>
        </p:txBody>
      </p:sp>
      <p:sp>
        <p:nvSpPr>
          <p:cNvPr id="45" name="Text 34"/>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6" name="Text 35"/>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Perkakas dan Proses Debugging</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Alat pendukung yang membuat pengembangan lebih nyaman</a:t>
            </a:r>
            <a:endParaRPr lang="en-US" sz="1300" dirty="0"/>
          </a:p>
        </p:txBody>
      </p:sp>
      <p:sp>
        <p:nvSpPr>
          <p:cNvPr id="6" name="Shape 3"/>
          <p:cNvSpPr/>
          <p:nvPr/>
        </p:nvSpPr>
        <p:spPr>
          <a:xfrm>
            <a:off x="640080" y="1609344"/>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Nodemon</a:t>
            </a:r>
            <a:endParaRPr lang="en-US" sz="1250" dirty="0"/>
          </a:p>
        </p:txBody>
      </p:sp>
      <p:sp>
        <p:nvSpPr>
          <p:cNvPr id="10" name="Text 6"/>
          <p:cNvSpPr txBox="1"/>
          <p:nvPr/>
        </p:nvSpPr>
        <p:spPr>
          <a:xfrm>
            <a:off x="896112" y="2395728"/>
            <a:ext cx="3008376" cy="34747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Memuat ulang server otomatis setiap berkas berubah. Alternatif bawaan: node --watch.</a:t>
            </a:r>
            <a:endParaRPr lang="en-US" sz="1020" dirty="0"/>
          </a:p>
        </p:txBody>
      </p:sp>
      <p:sp>
        <p:nvSpPr>
          <p:cNvPr id="11" name="Shape 7"/>
          <p:cNvSpPr/>
          <p:nvPr/>
        </p:nvSpPr>
        <p:spPr>
          <a:xfrm>
            <a:off x="4443984" y="1609344"/>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4700016" y="1828800"/>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4814316" y="1943100"/>
            <a:ext cx="228600" cy="228600"/>
          </a:xfrm>
          <a:prstGeom prst="rect">
            <a:avLst/>
          </a:prstGeom>
        </p:spPr>
      </p:pic>
      <p:sp>
        <p:nvSpPr>
          <p:cNvPr id="14" name="Text 9"/>
          <p:cNvSpPr txBox="1"/>
          <p:nvPr/>
        </p:nvSpPr>
        <p:spPr>
          <a:xfrm>
            <a:off x="5303520" y="182880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ESLint</a:t>
            </a:r>
            <a:endParaRPr lang="en-US" sz="1250" dirty="0"/>
          </a:p>
        </p:txBody>
      </p:sp>
      <p:sp>
        <p:nvSpPr>
          <p:cNvPr id="15" name="Text 10"/>
          <p:cNvSpPr txBox="1"/>
          <p:nvPr/>
        </p:nvSpPr>
        <p:spPr>
          <a:xfrm>
            <a:off x="4700016" y="2395728"/>
            <a:ext cx="3008376" cy="34747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Menemukan kesalahan penulisan dan menegakkan gaya kode yang seragam dalam tim.</a:t>
            </a:r>
            <a:endParaRPr lang="en-US" sz="1020" dirty="0"/>
          </a:p>
        </p:txBody>
      </p:sp>
      <p:sp>
        <p:nvSpPr>
          <p:cNvPr id="16" name="Shape 11"/>
          <p:cNvSpPr/>
          <p:nvPr/>
        </p:nvSpPr>
        <p:spPr>
          <a:xfrm>
            <a:off x="8247888" y="1609344"/>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8503920" y="1828800"/>
            <a:ext cx="457200" cy="457200"/>
          </a:xfrm>
          <a:prstGeom prst="roundRect">
            <a:avLst>
              <a:gd name="adj" fmla="val 26000"/>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8618220" y="1943100"/>
            <a:ext cx="228600" cy="228600"/>
          </a:xfrm>
          <a:prstGeom prst="rect">
            <a:avLst/>
          </a:prstGeom>
        </p:spPr>
      </p:pic>
      <p:sp>
        <p:nvSpPr>
          <p:cNvPr id="19" name="Text 13"/>
          <p:cNvSpPr txBox="1"/>
          <p:nvPr/>
        </p:nvSpPr>
        <p:spPr>
          <a:xfrm>
            <a:off x="9107424" y="1828800"/>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Prettier</a:t>
            </a:r>
            <a:endParaRPr lang="en-US" sz="1250" dirty="0"/>
          </a:p>
        </p:txBody>
      </p:sp>
      <p:sp>
        <p:nvSpPr>
          <p:cNvPr id="20" name="Text 14"/>
          <p:cNvSpPr txBox="1"/>
          <p:nvPr/>
        </p:nvSpPr>
        <p:spPr>
          <a:xfrm>
            <a:off x="8503920" y="2395728"/>
            <a:ext cx="3008376" cy="34747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Merapikan format kode secara otomatis sehingga tidak ada lagi debat soal spasi.</a:t>
            </a:r>
            <a:endParaRPr lang="en-US" sz="1020" dirty="0"/>
          </a:p>
        </p:txBody>
      </p:sp>
      <p:sp>
        <p:nvSpPr>
          <p:cNvPr id="21" name="Shape 15"/>
          <p:cNvSpPr/>
          <p:nvPr/>
        </p:nvSpPr>
        <p:spPr>
          <a:xfrm>
            <a:off x="640080" y="3127248"/>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6"/>
          <p:cNvSpPr/>
          <p:nvPr/>
        </p:nvSpPr>
        <p:spPr>
          <a:xfrm>
            <a:off x="896112" y="3346704"/>
            <a:ext cx="457200" cy="457200"/>
          </a:xfrm>
          <a:prstGeom prst="roundRect">
            <a:avLst>
              <a:gd name="adj" fmla="val 26000"/>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1010412" y="3461004"/>
            <a:ext cx="228600" cy="228600"/>
          </a:xfrm>
          <a:prstGeom prst="rect">
            <a:avLst/>
          </a:prstGeom>
        </p:spPr>
      </p:pic>
      <p:sp>
        <p:nvSpPr>
          <p:cNvPr id="24" name="Text 17"/>
          <p:cNvSpPr txBox="1"/>
          <p:nvPr/>
        </p:nvSpPr>
        <p:spPr>
          <a:xfrm>
            <a:off x="1499616" y="33467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TypeScript</a:t>
            </a:r>
            <a:endParaRPr lang="en-US" sz="1250" dirty="0"/>
          </a:p>
        </p:txBody>
      </p:sp>
      <p:sp>
        <p:nvSpPr>
          <p:cNvPr id="25" name="Text 18"/>
          <p:cNvSpPr txBox="1"/>
          <p:nvPr/>
        </p:nvSpPr>
        <p:spPr>
          <a:xfrm>
            <a:off x="896112" y="3913632"/>
            <a:ext cx="3008376" cy="34747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Menambahkan sistem tipe pada JavaScript sehingga banyak bug tertangkap sebelum dijalankan.</a:t>
            </a:r>
            <a:endParaRPr lang="en-US" sz="1020" dirty="0"/>
          </a:p>
        </p:txBody>
      </p:sp>
      <p:sp>
        <p:nvSpPr>
          <p:cNvPr id="26" name="Shape 19"/>
          <p:cNvSpPr/>
          <p:nvPr/>
        </p:nvSpPr>
        <p:spPr>
          <a:xfrm>
            <a:off x="4443984" y="3127248"/>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7" name="Shape 20"/>
          <p:cNvSpPr/>
          <p:nvPr/>
        </p:nvSpPr>
        <p:spPr>
          <a:xfrm>
            <a:off x="4700016" y="3346704"/>
            <a:ext cx="457200" cy="457200"/>
          </a:xfrm>
          <a:prstGeom prst="roundRect">
            <a:avLst>
              <a:gd name="adj" fmla="val 26000"/>
            </a:avLst>
          </a:prstGeom>
          <a:solidFill>
            <a:srgbClr val="E8F2E2"/>
          </a:solidFill>
          <a:ln w="12700">
            <a:solidFill>
              <a:srgbClr val="E8F2E2"/>
            </a:solidFill>
            <a:prstDash val="solid"/>
          </a:ln>
        </p:spPr>
      </p:sp>
      <p:pic>
        <p:nvPicPr>
          <p:cNvPr id="28" name="Image 5" descr="preencoded.png">    </p:cNvPr>
          <p:cNvPicPr>
            <a:picLocks noChangeAspect="1"/>
          </p:cNvPicPr>
          <p:nvPr/>
        </p:nvPicPr>
        <p:blipFill>
          <a:blip r:embed="rId6"/>
          <a:stretch>
            <a:fillRect/>
          </a:stretch>
        </p:blipFill>
        <p:spPr>
          <a:xfrm>
            <a:off x="4814316" y="3461004"/>
            <a:ext cx="228600" cy="228600"/>
          </a:xfrm>
          <a:prstGeom prst="rect">
            <a:avLst/>
          </a:prstGeom>
        </p:spPr>
      </p:pic>
      <p:sp>
        <p:nvSpPr>
          <p:cNvPr id="29" name="Text 21"/>
          <p:cNvSpPr txBox="1"/>
          <p:nvPr/>
        </p:nvSpPr>
        <p:spPr>
          <a:xfrm>
            <a:off x="5303520" y="33467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Postman</a:t>
            </a:r>
            <a:endParaRPr lang="en-US" sz="1250" dirty="0"/>
          </a:p>
        </p:txBody>
      </p:sp>
      <p:sp>
        <p:nvSpPr>
          <p:cNvPr id="30" name="Text 22"/>
          <p:cNvSpPr txBox="1"/>
          <p:nvPr/>
        </p:nvSpPr>
        <p:spPr>
          <a:xfrm>
            <a:off x="4700016" y="3913632"/>
            <a:ext cx="3008376" cy="34747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Menguji endpoint API secara manual lengkap dengan koleksi dan lingkungan pengujian.</a:t>
            </a:r>
            <a:endParaRPr lang="en-US" sz="1020" dirty="0"/>
          </a:p>
        </p:txBody>
      </p:sp>
      <p:sp>
        <p:nvSpPr>
          <p:cNvPr id="31" name="Shape 23"/>
          <p:cNvSpPr/>
          <p:nvPr/>
        </p:nvSpPr>
        <p:spPr>
          <a:xfrm>
            <a:off x="8247888" y="3127248"/>
            <a:ext cx="3520440" cy="1298448"/>
          </a:xfrm>
          <a:prstGeom prst="roundRect">
            <a:avLst>
              <a:gd name="adj" fmla="val 6338"/>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2" name="Shape 24"/>
          <p:cNvSpPr/>
          <p:nvPr/>
        </p:nvSpPr>
        <p:spPr>
          <a:xfrm>
            <a:off x="8503920" y="3346704"/>
            <a:ext cx="457200" cy="457200"/>
          </a:xfrm>
          <a:prstGeom prst="roundRect">
            <a:avLst>
              <a:gd name="adj" fmla="val 26000"/>
            </a:avLst>
          </a:prstGeom>
          <a:solidFill>
            <a:srgbClr val="E8F2E2"/>
          </a:solidFill>
          <a:ln w="12700">
            <a:solidFill>
              <a:srgbClr val="E8F2E2"/>
            </a:solidFill>
            <a:prstDash val="solid"/>
          </a:ln>
        </p:spPr>
      </p:sp>
      <p:pic>
        <p:nvPicPr>
          <p:cNvPr id="33" name="Image 6" descr="preencoded.png">    </p:cNvPr>
          <p:cNvPicPr>
            <a:picLocks noChangeAspect="1"/>
          </p:cNvPicPr>
          <p:nvPr/>
        </p:nvPicPr>
        <p:blipFill>
          <a:blip r:embed="rId7"/>
          <a:stretch>
            <a:fillRect/>
          </a:stretch>
        </p:blipFill>
        <p:spPr>
          <a:xfrm>
            <a:off x="8618220" y="3461004"/>
            <a:ext cx="228600" cy="228600"/>
          </a:xfrm>
          <a:prstGeom prst="rect">
            <a:avLst/>
          </a:prstGeom>
        </p:spPr>
      </p:pic>
      <p:sp>
        <p:nvSpPr>
          <p:cNvPr id="34" name="Text 25"/>
          <p:cNvSpPr txBox="1"/>
          <p:nvPr/>
        </p:nvSpPr>
        <p:spPr>
          <a:xfrm>
            <a:off x="9107424" y="3346704"/>
            <a:ext cx="2404872"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Swagger / OpenAPI</a:t>
            </a:r>
            <a:endParaRPr lang="en-US" sz="1250" dirty="0"/>
          </a:p>
        </p:txBody>
      </p:sp>
      <p:sp>
        <p:nvSpPr>
          <p:cNvPr id="35" name="Text 26"/>
          <p:cNvSpPr txBox="1"/>
          <p:nvPr/>
        </p:nvSpPr>
        <p:spPr>
          <a:xfrm>
            <a:off x="8503920" y="3913632"/>
            <a:ext cx="3008376" cy="34747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Menyusun dokumentasi API yang interaktif dan dapat langsung dicoba pengguna.</a:t>
            </a:r>
            <a:endParaRPr lang="en-US" sz="1020" dirty="0"/>
          </a:p>
        </p:txBody>
      </p:sp>
      <p:sp>
        <p:nvSpPr>
          <p:cNvPr id="36" name="Shape 27"/>
          <p:cNvSpPr/>
          <p:nvPr/>
        </p:nvSpPr>
        <p:spPr>
          <a:xfrm>
            <a:off x="640080" y="4553712"/>
            <a:ext cx="5577840" cy="1260848"/>
          </a:xfrm>
          <a:prstGeom prst="roundRect">
            <a:avLst>
              <a:gd name="adj" fmla="val 5077"/>
            </a:avLst>
          </a:prstGeom>
          <a:solidFill>
            <a:srgbClr val="0E2417"/>
          </a:solidFill>
          <a:ln w="12700">
            <a:solidFill>
              <a:srgbClr val="234A31"/>
            </a:solidFill>
            <a:prstDash val="solid"/>
          </a:ln>
        </p:spPr>
      </p:sp>
      <p:sp>
        <p:nvSpPr>
          <p:cNvPr id="37" name="Text 28"/>
          <p:cNvSpPr txBox="1"/>
          <p:nvPr/>
        </p:nvSpPr>
        <p:spPr>
          <a:xfrm>
            <a:off x="859536" y="464515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PERINTAH DEBUGGING</a:t>
            </a:r>
            <a:endParaRPr lang="en-US" sz="950" dirty="0"/>
          </a:p>
        </p:txBody>
      </p:sp>
      <p:sp>
        <p:nvSpPr>
          <p:cNvPr id="38" name="Text 29"/>
          <p:cNvSpPr txBox="1"/>
          <p:nvPr/>
        </p:nvSpPr>
        <p:spPr>
          <a:xfrm>
            <a:off x="859536" y="4956048"/>
            <a:ext cx="5138928" cy="748784"/>
          </a:xfrm>
          <a:prstGeom prst="rect">
            <a:avLst/>
          </a:prstGeom>
          <a:noFill/>
          <a:ln/>
        </p:spPr>
        <p:txBody>
          <a:bodyPr wrap="square" lIns="0" tIns="0" rIns="0" bIns="0" rtlCol="0" anchor="t"/>
          <a:lstStyle/>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node --inspect server.js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buka DevTools Chrome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node --inspect-brk server.js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berhenti di baris awal</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node --watch server.js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muat ulang otomatis</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node --prof server.js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profil performa CPU</a:t>
            </a:r>
            <a:endParaRPr lang="en-US" sz="1020" dirty="0"/>
          </a:p>
        </p:txBody>
      </p:sp>
      <p:sp>
        <p:nvSpPr>
          <p:cNvPr id="39" name="Shape 30"/>
          <p:cNvSpPr/>
          <p:nvPr/>
        </p:nvSpPr>
        <p:spPr>
          <a:xfrm>
            <a:off x="6492240" y="4663440"/>
            <a:ext cx="420624" cy="420624"/>
          </a:xfrm>
          <a:prstGeom prst="roundRect">
            <a:avLst>
              <a:gd name="adj" fmla="val 26087"/>
            </a:avLst>
          </a:prstGeom>
          <a:solidFill>
            <a:srgbClr val="E8F2E2"/>
          </a:solidFill>
          <a:ln w="12700">
            <a:solidFill>
              <a:srgbClr val="E8F2E2"/>
            </a:solidFill>
            <a:prstDash val="solid"/>
          </a:ln>
        </p:spPr>
      </p:sp>
      <p:pic>
        <p:nvPicPr>
          <p:cNvPr id="40" name="Image 7" descr="preencoded.png">    </p:cNvPr>
          <p:cNvPicPr>
            <a:picLocks noChangeAspect="1"/>
          </p:cNvPicPr>
          <p:nvPr/>
        </p:nvPicPr>
        <p:blipFill>
          <a:blip r:embed="rId8"/>
          <a:stretch>
            <a:fillRect/>
          </a:stretch>
        </p:blipFill>
        <p:spPr>
          <a:xfrm>
            <a:off x="6597396" y="4768596"/>
            <a:ext cx="210312" cy="210312"/>
          </a:xfrm>
          <a:prstGeom prst="rect">
            <a:avLst/>
          </a:prstGeom>
        </p:spPr>
      </p:pic>
      <p:sp>
        <p:nvSpPr>
          <p:cNvPr id="41" name="Text 31"/>
          <p:cNvSpPr txBox="1"/>
          <p:nvPr/>
        </p:nvSpPr>
        <p:spPr>
          <a:xfrm>
            <a:off x="7059168" y="4645152"/>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Titik Henti (Breakpoint)</a:t>
            </a:r>
            <a:endParaRPr lang="en-US" sz="1200" dirty="0"/>
          </a:p>
        </p:txBody>
      </p:sp>
      <p:sp>
        <p:nvSpPr>
          <p:cNvPr id="42" name="Text 32"/>
          <p:cNvSpPr txBox="1"/>
          <p:nvPr/>
        </p:nvSpPr>
        <p:spPr>
          <a:xfrm>
            <a:off x="7059168" y="4901184"/>
            <a:ext cx="4553712" cy="365760"/>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Debugger VS Code atau Chrome DevTools memeriksa nilai variabel saat program berjalan.</a:t>
            </a:r>
            <a:endParaRPr lang="en-US" sz="980" dirty="0"/>
          </a:p>
        </p:txBody>
      </p:sp>
      <p:sp>
        <p:nvSpPr>
          <p:cNvPr id="43" name="Shape 33"/>
          <p:cNvSpPr/>
          <p:nvPr/>
        </p:nvSpPr>
        <p:spPr>
          <a:xfrm>
            <a:off x="6492240" y="5394960"/>
            <a:ext cx="420624" cy="420624"/>
          </a:xfrm>
          <a:prstGeom prst="roundRect">
            <a:avLst>
              <a:gd name="adj" fmla="val 26087"/>
            </a:avLst>
          </a:prstGeom>
          <a:solidFill>
            <a:srgbClr val="E8F2E2"/>
          </a:solidFill>
          <a:ln w="12700">
            <a:solidFill>
              <a:srgbClr val="E8F2E2"/>
            </a:solidFill>
            <a:prstDash val="solid"/>
          </a:ln>
        </p:spPr>
      </p:sp>
      <p:pic>
        <p:nvPicPr>
          <p:cNvPr id="44" name="Image 8" descr="preencoded.png">    </p:cNvPr>
          <p:cNvPicPr>
            <a:picLocks noChangeAspect="1"/>
          </p:cNvPicPr>
          <p:nvPr/>
        </p:nvPicPr>
        <p:blipFill>
          <a:blip r:embed="rId9"/>
          <a:stretch>
            <a:fillRect/>
          </a:stretch>
        </p:blipFill>
        <p:spPr>
          <a:xfrm>
            <a:off x="6597396" y="5500116"/>
            <a:ext cx="210312" cy="210312"/>
          </a:xfrm>
          <a:prstGeom prst="rect">
            <a:avLst/>
          </a:prstGeom>
        </p:spPr>
      </p:pic>
      <p:sp>
        <p:nvSpPr>
          <p:cNvPr id="45" name="Text 34"/>
          <p:cNvSpPr txBox="1"/>
          <p:nvPr/>
        </p:nvSpPr>
        <p:spPr>
          <a:xfrm>
            <a:off x="7059168" y="5376672"/>
            <a:ext cx="4553712" cy="256032"/>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Logging Terstruktur</a:t>
            </a:r>
            <a:endParaRPr lang="en-US" sz="1200" dirty="0"/>
          </a:p>
        </p:txBody>
      </p:sp>
      <p:sp>
        <p:nvSpPr>
          <p:cNvPr id="46" name="Text 35"/>
          <p:cNvSpPr txBox="1"/>
          <p:nvPr/>
        </p:nvSpPr>
        <p:spPr>
          <a:xfrm>
            <a:off x="7059168" y="5632704"/>
            <a:ext cx="4553712" cy="365760"/>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Pino dan Winston menghasilkan log JSON yang mudah dicari dan dianalisis.</a:t>
            </a:r>
            <a:endParaRPr lang="en-US" sz="980" dirty="0"/>
          </a:p>
        </p:txBody>
      </p:sp>
      <p:sp>
        <p:nvSpPr>
          <p:cNvPr id="47" name="Text 36"/>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8" name="Text 37"/>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Praktik Keamanan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Delapan langkah dasar melindungi aplikasi dari serangan umum</a:t>
            </a:r>
            <a:endParaRPr lang="en-US" sz="1300" dirty="0"/>
          </a:p>
        </p:txBody>
      </p:sp>
      <p:sp>
        <p:nvSpPr>
          <p:cNvPr id="6" name="Shape 3"/>
          <p:cNvSpPr/>
          <p:nvPr/>
        </p:nvSpPr>
        <p:spPr>
          <a:xfrm>
            <a:off x="640080" y="1627632"/>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47088"/>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61388"/>
            <a:ext cx="228600" cy="228600"/>
          </a:xfrm>
          <a:prstGeom prst="rect">
            <a:avLst/>
          </a:prstGeom>
        </p:spPr>
      </p:pic>
      <p:sp>
        <p:nvSpPr>
          <p:cNvPr id="9" name="Text 5"/>
          <p:cNvSpPr txBox="1"/>
          <p:nvPr/>
        </p:nvSpPr>
        <p:spPr>
          <a:xfrm>
            <a:off x="1499616" y="1847088"/>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Validasi Masukan</a:t>
            </a:r>
            <a:endParaRPr lang="en-US" sz="1200" dirty="0"/>
          </a:p>
        </p:txBody>
      </p:sp>
      <p:sp>
        <p:nvSpPr>
          <p:cNvPr id="10" name="Text 6"/>
          <p:cNvSpPr txBox="1"/>
          <p:nvPr/>
        </p:nvSpPr>
        <p:spPr>
          <a:xfrm>
            <a:off x="896112" y="2414016"/>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Periksa seluruh data dari pengguna dengan pustaka seperti Zod atau Joi sebelum diproses.</a:t>
            </a:r>
            <a:endParaRPr lang="en-US" sz="1000" dirty="0"/>
          </a:p>
        </p:txBody>
      </p:sp>
      <p:sp>
        <p:nvSpPr>
          <p:cNvPr id="11" name="Shape 7"/>
          <p:cNvSpPr/>
          <p:nvPr/>
        </p:nvSpPr>
        <p:spPr>
          <a:xfrm>
            <a:off x="3447288" y="1627632"/>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3703320" y="1847088"/>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3817620" y="1961388"/>
            <a:ext cx="228600" cy="228600"/>
          </a:xfrm>
          <a:prstGeom prst="rect">
            <a:avLst/>
          </a:prstGeom>
        </p:spPr>
      </p:pic>
      <p:sp>
        <p:nvSpPr>
          <p:cNvPr id="14" name="Text 9"/>
          <p:cNvSpPr txBox="1"/>
          <p:nvPr/>
        </p:nvSpPr>
        <p:spPr>
          <a:xfrm>
            <a:off x="4306824" y="1847088"/>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Cegah SQL Injection</a:t>
            </a:r>
            <a:endParaRPr lang="en-US" sz="1200" dirty="0"/>
          </a:p>
        </p:txBody>
      </p:sp>
      <p:sp>
        <p:nvSpPr>
          <p:cNvPr id="15" name="Text 10"/>
          <p:cNvSpPr txBox="1"/>
          <p:nvPr/>
        </p:nvSpPr>
        <p:spPr>
          <a:xfrm>
            <a:off x="3703320" y="2414016"/>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Gunakan prepared statement atau ORM, jangan menyambung kueri dengan string masukan.</a:t>
            </a:r>
            <a:endParaRPr lang="en-US" sz="1000" dirty="0"/>
          </a:p>
        </p:txBody>
      </p:sp>
      <p:sp>
        <p:nvSpPr>
          <p:cNvPr id="16" name="Shape 11"/>
          <p:cNvSpPr/>
          <p:nvPr/>
        </p:nvSpPr>
        <p:spPr>
          <a:xfrm>
            <a:off x="6254496" y="1627632"/>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6510528" y="1847088"/>
            <a:ext cx="457200" cy="457200"/>
          </a:xfrm>
          <a:prstGeom prst="roundRect">
            <a:avLst>
              <a:gd name="adj" fmla="val 26000"/>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6624828" y="1961388"/>
            <a:ext cx="228600" cy="228600"/>
          </a:xfrm>
          <a:prstGeom prst="rect">
            <a:avLst/>
          </a:prstGeom>
        </p:spPr>
      </p:pic>
      <p:sp>
        <p:nvSpPr>
          <p:cNvPr id="19" name="Text 13"/>
          <p:cNvSpPr txBox="1"/>
          <p:nvPr/>
        </p:nvSpPr>
        <p:spPr>
          <a:xfrm>
            <a:off x="7114032" y="1847088"/>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Simpan Kata Sandi dengan Hash</a:t>
            </a:r>
            <a:endParaRPr lang="en-US" sz="1200" dirty="0"/>
          </a:p>
        </p:txBody>
      </p:sp>
      <p:sp>
        <p:nvSpPr>
          <p:cNvPr id="20" name="Text 14"/>
          <p:cNvSpPr txBox="1"/>
          <p:nvPr/>
        </p:nvSpPr>
        <p:spPr>
          <a:xfrm>
            <a:off x="6510528" y="2414016"/>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Gunakan bcrypt atau argon2. Kata sandi tidak boleh pernah disimpan dalam bentuk asli.</a:t>
            </a:r>
            <a:endParaRPr lang="en-US" sz="1000" dirty="0"/>
          </a:p>
        </p:txBody>
      </p:sp>
      <p:sp>
        <p:nvSpPr>
          <p:cNvPr id="21" name="Shape 15"/>
          <p:cNvSpPr/>
          <p:nvPr/>
        </p:nvSpPr>
        <p:spPr>
          <a:xfrm>
            <a:off x="9061704" y="1627632"/>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6"/>
          <p:cNvSpPr/>
          <p:nvPr/>
        </p:nvSpPr>
        <p:spPr>
          <a:xfrm>
            <a:off x="9317736" y="1847088"/>
            <a:ext cx="457200" cy="457200"/>
          </a:xfrm>
          <a:prstGeom prst="roundRect">
            <a:avLst>
              <a:gd name="adj" fmla="val 26000"/>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9432036" y="1961388"/>
            <a:ext cx="228600" cy="228600"/>
          </a:xfrm>
          <a:prstGeom prst="rect">
            <a:avLst/>
          </a:prstGeom>
        </p:spPr>
      </p:pic>
      <p:sp>
        <p:nvSpPr>
          <p:cNvPr id="24" name="Text 17"/>
          <p:cNvSpPr txBox="1"/>
          <p:nvPr/>
        </p:nvSpPr>
        <p:spPr>
          <a:xfrm>
            <a:off x="9921240" y="1847088"/>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Pasang Helmet</a:t>
            </a:r>
            <a:endParaRPr lang="en-US" sz="1200" dirty="0"/>
          </a:p>
        </p:txBody>
      </p:sp>
      <p:sp>
        <p:nvSpPr>
          <p:cNvPr id="25" name="Text 18"/>
          <p:cNvSpPr txBox="1"/>
          <p:nvPr/>
        </p:nvSpPr>
        <p:spPr>
          <a:xfrm>
            <a:off x="9317736" y="2414016"/>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Middleware helmet menetapkan header HTTP keamanan secara otomatis pada setiap respons.</a:t>
            </a:r>
            <a:endParaRPr lang="en-US" sz="1000" dirty="0"/>
          </a:p>
        </p:txBody>
      </p:sp>
      <p:sp>
        <p:nvSpPr>
          <p:cNvPr id="26" name="Shape 19"/>
          <p:cNvSpPr/>
          <p:nvPr/>
        </p:nvSpPr>
        <p:spPr>
          <a:xfrm>
            <a:off x="640080" y="3236976"/>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7" name="Shape 20"/>
          <p:cNvSpPr/>
          <p:nvPr/>
        </p:nvSpPr>
        <p:spPr>
          <a:xfrm>
            <a:off x="896112" y="3456432"/>
            <a:ext cx="457200" cy="457200"/>
          </a:xfrm>
          <a:prstGeom prst="roundRect">
            <a:avLst>
              <a:gd name="adj" fmla="val 26000"/>
            </a:avLst>
          </a:prstGeom>
          <a:solidFill>
            <a:srgbClr val="E8F2E2"/>
          </a:solidFill>
          <a:ln w="12700">
            <a:solidFill>
              <a:srgbClr val="E8F2E2"/>
            </a:solidFill>
            <a:prstDash val="solid"/>
          </a:ln>
        </p:spPr>
      </p:sp>
      <p:pic>
        <p:nvPicPr>
          <p:cNvPr id="28" name="Image 5" descr="preencoded.png">    </p:cNvPr>
          <p:cNvPicPr>
            <a:picLocks noChangeAspect="1"/>
          </p:cNvPicPr>
          <p:nvPr/>
        </p:nvPicPr>
        <p:blipFill>
          <a:blip r:embed="rId6"/>
          <a:stretch>
            <a:fillRect/>
          </a:stretch>
        </p:blipFill>
        <p:spPr>
          <a:xfrm>
            <a:off x="1010412" y="3570732"/>
            <a:ext cx="228600" cy="228600"/>
          </a:xfrm>
          <a:prstGeom prst="rect">
            <a:avLst/>
          </a:prstGeom>
        </p:spPr>
      </p:pic>
      <p:sp>
        <p:nvSpPr>
          <p:cNvPr id="29" name="Text 21"/>
          <p:cNvSpPr txBox="1"/>
          <p:nvPr/>
        </p:nvSpPr>
        <p:spPr>
          <a:xfrm>
            <a:off x="1499616" y="3456432"/>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Batasi Laju Permintaan</a:t>
            </a:r>
            <a:endParaRPr lang="en-US" sz="1200" dirty="0"/>
          </a:p>
        </p:txBody>
      </p:sp>
      <p:sp>
        <p:nvSpPr>
          <p:cNvPr id="30" name="Text 22"/>
          <p:cNvSpPr txBox="1"/>
          <p:nvPr/>
        </p:nvSpPr>
        <p:spPr>
          <a:xfrm>
            <a:off x="896112" y="4023360"/>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express-rate-limit mencegah serangan brute force dan penyalahgunaan endpoint.</a:t>
            </a:r>
            <a:endParaRPr lang="en-US" sz="1000" dirty="0"/>
          </a:p>
        </p:txBody>
      </p:sp>
      <p:sp>
        <p:nvSpPr>
          <p:cNvPr id="31" name="Shape 23"/>
          <p:cNvSpPr/>
          <p:nvPr/>
        </p:nvSpPr>
        <p:spPr>
          <a:xfrm>
            <a:off x="3447288" y="3236976"/>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2" name="Shape 24"/>
          <p:cNvSpPr/>
          <p:nvPr/>
        </p:nvSpPr>
        <p:spPr>
          <a:xfrm>
            <a:off x="3703320" y="3456432"/>
            <a:ext cx="457200" cy="457200"/>
          </a:xfrm>
          <a:prstGeom prst="roundRect">
            <a:avLst>
              <a:gd name="adj" fmla="val 26000"/>
            </a:avLst>
          </a:prstGeom>
          <a:solidFill>
            <a:srgbClr val="E8F2E2"/>
          </a:solidFill>
          <a:ln w="12700">
            <a:solidFill>
              <a:srgbClr val="E8F2E2"/>
            </a:solidFill>
            <a:prstDash val="solid"/>
          </a:ln>
        </p:spPr>
      </p:sp>
      <p:pic>
        <p:nvPicPr>
          <p:cNvPr id="33" name="Image 6" descr="preencoded.png">    </p:cNvPr>
          <p:cNvPicPr>
            <a:picLocks noChangeAspect="1"/>
          </p:cNvPicPr>
          <p:nvPr/>
        </p:nvPicPr>
        <p:blipFill>
          <a:blip r:embed="rId7"/>
          <a:stretch>
            <a:fillRect/>
          </a:stretch>
        </p:blipFill>
        <p:spPr>
          <a:xfrm>
            <a:off x="3817620" y="3570732"/>
            <a:ext cx="228600" cy="228600"/>
          </a:xfrm>
          <a:prstGeom prst="rect">
            <a:avLst/>
          </a:prstGeom>
        </p:spPr>
      </p:pic>
      <p:sp>
        <p:nvSpPr>
          <p:cNvPr id="34" name="Text 25"/>
          <p:cNvSpPr txBox="1"/>
          <p:nvPr/>
        </p:nvSpPr>
        <p:spPr>
          <a:xfrm>
            <a:off x="4306824" y="3456432"/>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Atur CORS dengan Ketat</a:t>
            </a:r>
            <a:endParaRPr lang="en-US" sz="1200" dirty="0"/>
          </a:p>
        </p:txBody>
      </p:sp>
      <p:sp>
        <p:nvSpPr>
          <p:cNvPr id="35" name="Text 26"/>
          <p:cNvSpPr txBox="1"/>
          <p:nvPr/>
        </p:nvSpPr>
        <p:spPr>
          <a:xfrm>
            <a:off x="3703320" y="4023360"/>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Izinkan hanya domain yang benar-benar dipercaya, jangan biarkan terbuka untuk semua.</a:t>
            </a:r>
            <a:endParaRPr lang="en-US" sz="1000" dirty="0"/>
          </a:p>
        </p:txBody>
      </p:sp>
      <p:sp>
        <p:nvSpPr>
          <p:cNvPr id="36" name="Shape 27"/>
          <p:cNvSpPr/>
          <p:nvPr/>
        </p:nvSpPr>
        <p:spPr>
          <a:xfrm>
            <a:off x="6254496" y="3236976"/>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37" name="Shape 28"/>
          <p:cNvSpPr/>
          <p:nvPr/>
        </p:nvSpPr>
        <p:spPr>
          <a:xfrm>
            <a:off x="6510528" y="3456432"/>
            <a:ext cx="457200" cy="457200"/>
          </a:xfrm>
          <a:prstGeom prst="roundRect">
            <a:avLst>
              <a:gd name="adj" fmla="val 26000"/>
            </a:avLst>
          </a:prstGeom>
          <a:solidFill>
            <a:srgbClr val="E8F2E2"/>
          </a:solidFill>
          <a:ln w="12700">
            <a:solidFill>
              <a:srgbClr val="E8F2E2"/>
            </a:solidFill>
            <a:prstDash val="solid"/>
          </a:ln>
        </p:spPr>
      </p:sp>
      <p:pic>
        <p:nvPicPr>
          <p:cNvPr id="38" name="Image 7" descr="preencoded.png">    </p:cNvPr>
          <p:cNvPicPr>
            <a:picLocks noChangeAspect="1"/>
          </p:cNvPicPr>
          <p:nvPr/>
        </p:nvPicPr>
        <p:blipFill>
          <a:blip r:embed="rId8"/>
          <a:stretch>
            <a:fillRect/>
          </a:stretch>
        </p:blipFill>
        <p:spPr>
          <a:xfrm>
            <a:off x="6624828" y="3570732"/>
            <a:ext cx="228600" cy="228600"/>
          </a:xfrm>
          <a:prstGeom prst="rect">
            <a:avLst/>
          </a:prstGeom>
        </p:spPr>
      </p:pic>
      <p:sp>
        <p:nvSpPr>
          <p:cNvPr id="39" name="Text 29"/>
          <p:cNvSpPr txBox="1"/>
          <p:nvPr/>
        </p:nvSpPr>
        <p:spPr>
          <a:xfrm>
            <a:off x="7114032" y="3456432"/>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Audit Dependensi</a:t>
            </a:r>
            <a:endParaRPr lang="en-US" sz="1200" dirty="0"/>
          </a:p>
        </p:txBody>
      </p:sp>
      <p:sp>
        <p:nvSpPr>
          <p:cNvPr id="40" name="Text 30"/>
          <p:cNvSpPr txBox="1"/>
          <p:nvPr/>
        </p:nvSpPr>
        <p:spPr>
          <a:xfrm>
            <a:off x="6510528" y="4023360"/>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Jalankan npm audit dan perbarui paket yang memiliki kerentanan yang telah diketahui.</a:t>
            </a:r>
            <a:endParaRPr lang="en-US" sz="1000" dirty="0"/>
          </a:p>
        </p:txBody>
      </p:sp>
      <p:sp>
        <p:nvSpPr>
          <p:cNvPr id="41" name="Shape 31"/>
          <p:cNvSpPr/>
          <p:nvPr/>
        </p:nvSpPr>
        <p:spPr>
          <a:xfrm>
            <a:off x="9061704" y="3236976"/>
            <a:ext cx="2542032" cy="1353312"/>
          </a:xfrm>
          <a:prstGeom prst="roundRect">
            <a:avLst>
              <a:gd name="adj" fmla="val 6081"/>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42" name="Shape 32"/>
          <p:cNvSpPr/>
          <p:nvPr/>
        </p:nvSpPr>
        <p:spPr>
          <a:xfrm>
            <a:off x="9317736" y="3456432"/>
            <a:ext cx="457200" cy="457200"/>
          </a:xfrm>
          <a:prstGeom prst="roundRect">
            <a:avLst>
              <a:gd name="adj" fmla="val 26000"/>
            </a:avLst>
          </a:prstGeom>
          <a:solidFill>
            <a:srgbClr val="E8F2E2"/>
          </a:solidFill>
          <a:ln w="12700">
            <a:solidFill>
              <a:srgbClr val="E8F2E2"/>
            </a:solidFill>
            <a:prstDash val="solid"/>
          </a:ln>
        </p:spPr>
      </p:sp>
      <p:pic>
        <p:nvPicPr>
          <p:cNvPr id="43" name="Image 8" descr="preencoded.png">    </p:cNvPr>
          <p:cNvPicPr>
            <a:picLocks noChangeAspect="1"/>
          </p:cNvPicPr>
          <p:nvPr/>
        </p:nvPicPr>
        <p:blipFill>
          <a:blip r:embed="rId9"/>
          <a:stretch>
            <a:fillRect/>
          </a:stretch>
        </p:blipFill>
        <p:spPr>
          <a:xfrm>
            <a:off x="9432036" y="3570732"/>
            <a:ext cx="228600" cy="228600"/>
          </a:xfrm>
          <a:prstGeom prst="rect">
            <a:avLst/>
          </a:prstGeom>
        </p:spPr>
      </p:pic>
      <p:sp>
        <p:nvSpPr>
          <p:cNvPr id="44" name="Text 33"/>
          <p:cNvSpPr txBox="1"/>
          <p:nvPr/>
        </p:nvSpPr>
        <p:spPr>
          <a:xfrm>
            <a:off x="9921240" y="3456432"/>
            <a:ext cx="1426464" cy="457200"/>
          </a:xfrm>
          <a:prstGeom prst="rect">
            <a:avLst/>
          </a:prstGeom>
          <a:noFill/>
          <a:ln/>
        </p:spPr>
        <p:txBody>
          <a:bodyPr wrap="square" lIns="0" tIns="0" rIns="0" bIns="0" rtlCol="0" anchor="ctr"/>
          <a:lstStyle/>
          <a:p>
            <a:pPr indent="0" marL="0">
              <a:buNone/>
            </a:pPr>
            <a:r>
              <a:rPr lang="en-US" sz="1200" b="1" dirty="0">
                <a:solidFill>
                  <a:srgbClr val="16241B"/>
                </a:solidFill>
                <a:latin typeface="Arial" pitchFamily="34" charset="0"/>
                <a:ea typeface="Arial" pitchFamily="34" charset="-122"/>
                <a:cs typeface="Arial" pitchFamily="34" charset="-120"/>
              </a:rPr>
              <a:t>Gunakan HTTPS &amp; JWT Aman</a:t>
            </a:r>
            <a:endParaRPr lang="en-US" sz="1200" dirty="0"/>
          </a:p>
        </p:txBody>
      </p:sp>
      <p:sp>
        <p:nvSpPr>
          <p:cNvPr id="45" name="Text 34"/>
          <p:cNvSpPr txBox="1"/>
          <p:nvPr/>
        </p:nvSpPr>
        <p:spPr>
          <a:xfrm>
            <a:off x="9317736" y="4023360"/>
            <a:ext cx="2029968" cy="402336"/>
          </a:xfrm>
          <a:prstGeom prst="rect">
            <a:avLst/>
          </a:prstGeom>
          <a:noFill/>
          <a:ln/>
        </p:spPr>
        <p:txBody>
          <a:bodyPr wrap="square" lIns="0" tIns="0" rIns="0" bIns="0" rtlCol="0" anchor="t"/>
          <a:lstStyle/>
          <a:p>
            <a:pPr indent="0" marL="0">
              <a:lnSpc>
                <a:spcPct val="112000"/>
              </a:lnSpc>
              <a:buNone/>
            </a:pPr>
            <a:r>
              <a:rPr lang="en-US" sz="1000" dirty="0">
                <a:solidFill>
                  <a:srgbClr val="5F6F62"/>
                </a:solidFill>
                <a:latin typeface="Calibri" pitchFamily="34" charset="0"/>
                <a:ea typeface="Calibri" pitchFamily="34" charset="-122"/>
                <a:cs typeface="Calibri" pitchFamily="34" charset="-120"/>
              </a:rPr>
              <a:t>Enkripsi lalu lintas data dan simpan token dengan masa berlaku yang wajar.</a:t>
            </a:r>
            <a:endParaRPr lang="en-US" sz="1000" dirty="0"/>
          </a:p>
        </p:txBody>
      </p:sp>
      <p:sp>
        <p:nvSpPr>
          <p:cNvPr id="46" name="Shape 35"/>
          <p:cNvSpPr/>
          <p:nvPr/>
        </p:nvSpPr>
        <p:spPr>
          <a:xfrm>
            <a:off x="640080" y="4626864"/>
            <a:ext cx="10972800" cy="1280160"/>
          </a:xfrm>
          <a:prstGeom prst="roundRect">
            <a:avLst>
              <a:gd name="adj" fmla="val 6429"/>
            </a:avLst>
          </a:prstGeom>
          <a:solidFill>
            <a:srgbClr val="0B2015"/>
          </a:solidFill>
          <a:ln w="12700">
            <a:solidFill>
              <a:srgbClr val="0B2015"/>
            </a:solidFill>
            <a:prstDash val="solid"/>
          </a:ln>
        </p:spPr>
      </p:sp>
      <p:pic>
        <p:nvPicPr>
          <p:cNvPr id="47" name="Image 9" descr="preencoded.png">    </p:cNvPr>
          <p:cNvPicPr>
            <a:picLocks noChangeAspect="1"/>
          </p:cNvPicPr>
          <p:nvPr/>
        </p:nvPicPr>
        <p:blipFill>
          <a:blip r:embed="rId10"/>
          <a:stretch>
            <a:fillRect/>
          </a:stretch>
        </p:blipFill>
        <p:spPr>
          <a:xfrm>
            <a:off x="914400" y="4992624"/>
            <a:ext cx="384048" cy="384048"/>
          </a:xfrm>
          <a:prstGeom prst="rect">
            <a:avLst/>
          </a:prstGeom>
        </p:spPr>
      </p:pic>
      <p:sp>
        <p:nvSpPr>
          <p:cNvPr id="48" name="Text 36"/>
          <p:cNvSpPr txBox="1"/>
          <p:nvPr/>
        </p:nvSpPr>
        <p:spPr>
          <a:xfrm>
            <a:off x="1481328" y="4754880"/>
            <a:ext cx="9875520" cy="310896"/>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Kesalahan keamanan yang paling sering terjadi</a:t>
            </a:r>
            <a:endParaRPr lang="en-US" sz="1300" dirty="0"/>
          </a:p>
        </p:txBody>
      </p:sp>
      <p:sp>
        <p:nvSpPr>
          <p:cNvPr id="49" name="Text 37"/>
          <p:cNvSpPr txBox="1"/>
          <p:nvPr/>
        </p:nvSpPr>
        <p:spPr>
          <a:xfrm>
            <a:off x="1481328" y="5084064"/>
            <a:ext cx="9875520" cy="713232"/>
          </a:xfrm>
          <a:prstGeom prst="rect">
            <a:avLst/>
          </a:prstGeom>
          <a:noFill/>
          <a:ln/>
        </p:spPr>
        <p:txBody>
          <a:bodyPr wrap="square" lIns="0" tIns="0" rIns="0" bIns="0" rtlCol="0" anchor="t"/>
          <a:lstStyle/>
          <a:p>
            <a:pPr indent="0" marL="0">
              <a:lnSpc>
                <a:spcPct val="114000"/>
              </a:lnSpc>
              <a:buNone/>
            </a:pPr>
            <a:r>
              <a:rPr lang="en-US" sz="1100" dirty="0">
                <a:solidFill>
                  <a:srgbClr val="C3DCC8"/>
                </a:solidFill>
                <a:latin typeface="Calibri" pitchFamily="34" charset="0"/>
                <a:ea typeface="Calibri" pitchFamily="34" charset="-122"/>
                <a:cs typeface="Calibri" pitchFamily="34" charset="-120"/>
              </a:rPr>
              <a:t>Menaruh kunci API langsung di dalam kode, mengirim berkas .env ke repositori publik, mempercayai data dari klien tanpa validasi, serta membiarkan pesan galat lengkap terkirim ke pengguna. Empat hal ini menyebabkan sebagian besar kebocoran pada aplikasi Node.js.</a:t>
            </a:r>
            <a:endParaRPr lang="en-US" sz="1100" dirty="0"/>
          </a:p>
        </p:txBody>
      </p:sp>
      <p:sp>
        <p:nvSpPr>
          <p:cNvPr id="50" name="Text 38"/>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1" name="Text 39"/>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Optimasi Performa dan Skalabilitas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Memanfaatkan seluruh inti prosesor dan menjaga event loop tetap lancar</a:t>
            </a:r>
            <a:endParaRPr lang="en-US" sz="1300" dirty="0"/>
          </a:p>
        </p:txBody>
      </p:sp>
      <p:sp>
        <p:nvSpPr>
          <p:cNvPr id="6" name="Shape 3"/>
          <p:cNvSpPr/>
          <p:nvPr/>
        </p:nvSpPr>
        <p:spPr>
          <a:xfrm>
            <a:off x="640080" y="1627632"/>
            <a:ext cx="5577840" cy="2475208"/>
          </a:xfrm>
          <a:prstGeom prst="roundRect">
            <a:avLst>
              <a:gd name="adj" fmla="val 2586"/>
            </a:avLst>
          </a:prstGeom>
          <a:solidFill>
            <a:srgbClr val="0E2417"/>
          </a:solidFill>
          <a:ln w="12700">
            <a:solidFill>
              <a:srgbClr val="234A31"/>
            </a:solidFill>
            <a:prstDash val="solid"/>
          </a:ln>
        </p:spPr>
      </p:sp>
      <p:sp>
        <p:nvSpPr>
          <p:cNvPr id="7" name="Text 4"/>
          <p:cNvSpPr txBox="1"/>
          <p:nvPr/>
        </p:nvSpPr>
        <p:spPr>
          <a:xfrm>
            <a:off x="859536" y="171907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CLUSTER — MEMAKAI SEMUA INTI CPU</a:t>
            </a:r>
            <a:endParaRPr lang="en-US" sz="950" dirty="0"/>
          </a:p>
        </p:txBody>
      </p:sp>
      <p:sp>
        <p:nvSpPr>
          <p:cNvPr id="8" name="Text 5"/>
          <p:cNvSpPr txBox="1"/>
          <p:nvPr/>
        </p:nvSpPr>
        <p:spPr>
          <a:xfrm>
            <a:off x="859536" y="2029968"/>
            <a:ext cx="5138928" cy="1963144"/>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cluster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'cluster'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os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'os'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if</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(cluster.isPrimary)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jumlah = os.cpus().length;</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for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let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 =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0</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i &lt; jumlah; i++)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cluster.fork();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satu proses per inti CPU</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else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'./server'</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9" name="Shape 6"/>
          <p:cNvSpPr/>
          <p:nvPr/>
        </p:nvSpPr>
        <p:spPr>
          <a:xfrm>
            <a:off x="640080" y="4078224"/>
            <a:ext cx="5577840" cy="1607808"/>
          </a:xfrm>
          <a:prstGeom prst="roundRect">
            <a:avLst>
              <a:gd name="adj" fmla="val 3981"/>
            </a:avLst>
          </a:prstGeom>
          <a:solidFill>
            <a:srgbClr val="0E2417"/>
          </a:solidFill>
          <a:ln w="12700">
            <a:solidFill>
              <a:srgbClr val="234A31"/>
            </a:solidFill>
            <a:prstDash val="solid"/>
          </a:ln>
        </p:spPr>
      </p:sp>
      <p:sp>
        <p:nvSpPr>
          <p:cNvPr id="10" name="Text 7"/>
          <p:cNvSpPr txBox="1"/>
          <p:nvPr/>
        </p:nvSpPr>
        <p:spPr>
          <a:xfrm>
            <a:off x="859536" y="4169664"/>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WORKER THREADS — TUGAS BERAT CPU</a:t>
            </a:r>
            <a:endParaRPr lang="en-US" sz="950" dirty="0"/>
          </a:p>
        </p:txBody>
      </p:sp>
      <p:sp>
        <p:nvSpPr>
          <p:cNvPr id="11" name="Text 8"/>
          <p:cNvSpPr txBox="1"/>
          <p:nvPr/>
        </p:nvSpPr>
        <p:spPr>
          <a:xfrm>
            <a:off x="859536" y="4480560"/>
            <a:ext cx="5138928" cy="1095744"/>
          </a:xfrm>
          <a:prstGeom prst="rect">
            <a:avLst/>
          </a:prstGeom>
          <a:noFill/>
          <a:ln/>
        </p:spPr>
        <p:txBody>
          <a:bodyPr wrap="square" lIns="0" tIns="0" rIns="0" bIns="0" rtlCol="0" anchor="t"/>
          <a:lstStyle/>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 Worker } =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require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'worker_threads'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const</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w = </a:t>
            </a:r>
            <a:pPr indent="0" marL="0">
              <a:lnSpc>
                <a:spcPct val="106000"/>
              </a:lnSpc>
              <a:buNone/>
            </a:pPr>
            <a:r>
              <a:rPr lang="en-US" sz="1020" dirty="0">
                <a:solidFill>
                  <a:srgbClr val="8CC84B"/>
                </a:solidFill>
                <a:latin typeface="Courier New" pitchFamily="34" charset="0"/>
                <a:ea typeface="Courier New" pitchFamily="34" charset="-122"/>
                <a:cs typeface="Courier New" pitchFamily="34" charset="-120"/>
              </a:rPr>
              <a:t>new</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Worker(</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'./hitung-berat.js'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w.on(</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'message'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hasil =&gt; </a:t>
            </a:r>
            <a:pPr indent="0" marL="0">
              <a:lnSpc>
                <a:spcPct val="106000"/>
              </a:lnSpc>
              <a:buNone/>
            </a:pPr>
            <a:r>
              <a:rPr lang="en-US" sz="1020" dirty="0">
                <a:solidFill>
                  <a:srgbClr val="6BC1E0"/>
                </a:solidFill>
                <a:latin typeface="Courier New" pitchFamily="34" charset="0"/>
                <a:ea typeface="Courier New" pitchFamily="34" charset="-122"/>
                <a:cs typeface="Courier New" pitchFamily="34" charset="-120"/>
              </a:rPr>
              <a:t>console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.log(hasil));</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endParaRPr lang="en-US" sz="1020" dirty="0"/>
          </a:p>
          <a:p>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Event loop utama tetap bebas melayani permintaan</a:t>
            </a:r>
            <a:endParaRPr lang="en-US" sz="1020" dirty="0"/>
          </a:p>
        </p:txBody>
      </p:sp>
      <p:sp>
        <p:nvSpPr>
          <p:cNvPr id="12" name="Shape 9"/>
          <p:cNvSpPr/>
          <p:nvPr/>
        </p:nvSpPr>
        <p:spPr>
          <a:xfrm>
            <a:off x="6492240" y="1700784"/>
            <a:ext cx="420624" cy="420624"/>
          </a:xfrm>
          <a:prstGeom prst="roundRect">
            <a:avLst>
              <a:gd name="adj" fmla="val 26087"/>
            </a:avLst>
          </a:prstGeom>
          <a:solidFill>
            <a:srgbClr val="E8F2E2"/>
          </a:solidFill>
          <a:ln w="12700">
            <a:solidFill>
              <a:srgbClr val="E8F2E2"/>
            </a:solidFill>
            <a:prstDash val="solid"/>
          </a:ln>
        </p:spPr>
      </p:sp>
      <p:pic>
        <p:nvPicPr>
          <p:cNvPr id="13" name="Image 1" descr="preencoded.png">    </p:cNvPr>
          <p:cNvPicPr>
            <a:picLocks noChangeAspect="1"/>
          </p:cNvPicPr>
          <p:nvPr/>
        </p:nvPicPr>
        <p:blipFill>
          <a:blip r:embed="rId2"/>
          <a:stretch>
            <a:fillRect/>
          </a:stretch>
        </p:blipFill>
        <p:spPr>
          <a:xfrm>
            <a:off x="6597396" y="1805940"/>
            <a:ext cx="210312" cy="210312"/>
          </a:xfrm>
          <a:prstGeom prst="rect">
            <a:avLst/>
          </a:prstGeom>
        </p:spPr>
      </p:pic>
      <p:sp>
        <p:nvSpPr>
          <p:cNvPr id="14" name="Text 10"/>
          <p:cNvSpPr txBox="1"/>
          <p:nvPr/>
        </p:nvSpPr>
        <p:spPr>
          <a:xfrm>
            <a:off x="7059168" y="1682496"/>
            <a:ext cx="45537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Jaga Event Loop Tetap Ringan</a:t>
            </a:r>
            <a:endParaRPr lang="en-US" sz="1150" dirty="0"/>
          </a:p>
        </p:txBody>
      </p:sp>
      <p:sp>
        <p:nvSpPr>
          <p:cNvPr id="15" name="Text 11"/>
          <p:cNvSpPr txBox="1"/>
          <p:nvPr/>
        </p:nvSpPr>
        <p:spPr>
          <a:xfrm>
            <a:off x="7059168" y="1938528"/>
            <a:ext cx="45537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Pindahkan komputasi berat ke worker threads atau layanan terpisah.</a:t>
            </a:r>
            <a:endParaRPr lang="en-US" sz="960" dirty="0"/>
          </a:p>
        </p:txBody>
      </p:sp>
      <p:sp>
        <p:nvSpPr>
          <p:cNvPr id="16" name="Shape 12"/>
          <p:cNvSpPr/>
          <p:nvPr/>
        </p:nvSpPr>
        <p:spPr>
          <a:xfrm>
            <a:off x="6492240" y="2414016"/>
            <a:ext cx="420624" cy="420624"/>
          </a:xfrm>
          <a:prstGeom prst="roundRect">
            <a:avLst>
              <a:gd name="adj" fmla="val 26087"/>
            </a:avLst>
          </a:prstGeom>
          <a:solidFill>
            <a:srgbClr val="E8F2E2"/>
          </a:solidFill>
          <a:ln w="12700">
            <a:solidFill>
              <a:srgbClr val="E8F2E2"/>
            </a:solidFill>
            <a:prstDash val="solid"/>
          </a:ln>
        </p:spPr>
      </p:sp>
      <p:pic>
        <p:nvPicPr>
          <p:cNvPr id="17" name="Image 2" descr="preencoded.png">    </p:cNvPr>
          <p:cNvPicPr>
            <a:picLocks noChangeAspect="1"/>
          </p:cNvPicPr>
          <p:nvPr/>
        </p:nvPicPr>
        <p:blipFill>
          <a:blip r:embed="rId3"/>
          <a:stretch>
            <a:fillRect/>
          </a:stretch>
        </p:blipFill>
        <p:spPr>
          <a:xfrm>
            <a:off x="6597396" y="2519172"/>
            <a:ext cx="210312" cy="210312"/>
          </a:xfrm>
          <a:prstGeom prst="rect">
            <a:avLst/>
          </a:prstGeom>
        </p:spPr>
      </p:pic>
      <p:sp>
        <p:nvSpPr>
          <p:cNvPr id="18" name="Text 13"/>
          <p:cNvSpPr txBox="1"/>
          <p:nvPr/>
        </p:nvSpPr>
        <p:spPr>
          <a:xfrm>
            <a:off x="7059168" y="2395728"/>
            <a:ext cx="45537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Gunakan Caching</a:t>
            </a:r>
            <a:endParaRPr lang="en-US" sz="1150" dirty="0"/>
          </a:p>
        </p:txBody>
      </p:sp>
      <p:sp>
        <p:nvSpPr>
          <p:cNvPr id="19" name="Text 14"/>
          <p:cNvSpPr txBox="1"/>
          <p:nvPr/>
        </p:nvSpPr>
        <p:spPr>
          <a:xfrm>
            <a:off x="7059168" y="2651760"/>
            <a:ext cx="45537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Simpan hasil kueri yang sering diminta di Redis atau di memori.</a:t>
            </a:r>
            <a:endParaRPr lang="en-US" sz="960" dirty="0"/>
          </a:p>
        </p:txBody>
      </p:sp>
      <p:sp>
        <p:nvSpPr>
          <p:cNvPr id="20" name="Shape 15"/>
          <p:cNvSpPr/>
          <p:nvPr/>
        </p:nvSpPr>
        <p:spPr>
          <a:xfrm>
            <a:off x="6492240" y="3127248"/>
            <a:ext cx="420624" cy="420624"/>
          </a:xfrm>
          <a:prstGeom prst="roundRect">
            <a:avLst>
              <a:gd name="adj" fmla="val 26087"/>
            </a:avLst>
          </a:prstGeom>
          <a:solidFill>
            <a:srgbClr val="E8F2E2"/>
          </a:solidFill>
          <a:ln w="12700">
            <a:solidFill>
              <a:srgbClr val="E8F2E2"/>
            </a:solidFill>
            <a:prstDash val="solid"/>
          </a:ln>
        </p:spPr>
      </p:sp>
      <p:pic>
        <p:nvPicPr>
          <p:cNvPr id="21" name="Image 3" descr="preencoded.png">    </p:cNvPr>
          <p:cNvPicPr>
            <a:picLocks noChangeAspect="1"/>
          </p:cNvPicPr>
          <p:nvPr/>
        </p:nvPicPr>
        <p:blipFill>
          <a:blip r:embed="rId4"/>
          <a:stretch>
            <a:fillRect/>
          </a:stretch>
        </p:blipFill>
        <p:spPr>
          <a:xfrm>
            <a:off x="6597396" y="3232404"/>
            <a:ext cx="210312" cy="210312"/>
          </a:xfrm>
          <a:prstGeom prst="rect">
            <a:avLst/>
          </a:prstGeom>
        </p:spPr>
      </p:pic>
      <p:sp>
        <p:nvSpPr>
          <p:cNvPr id="22" name="Text 16"/>
          <p:cNvSpPr txBox="1"/>
          <p:nvPr/>
        </p:nvSpPr>
        <p:spPr>
          <a:xfrm>
            <a:off x="7059168" y="3108960"/>
            <a:ext cx="45537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Manfaatkan Stream</a:t>
            </a:r>
            <a:endParaRPr lang="en-US" sz="1150" dirty="0"/>
          </a:p>
        </p:txBody>
      </p:sp>
      <p:sp>
        <p:nvSpPr>
          <p:cNvPr id="23" name="Text 17"/>
          <p:cNvSpPr txBox="1"/>
          <p:nvPr/>
        </p:nvSpPr>
        <p:spPr>
          <a:xfrm>
            <a:off x="7059168" y="3364992"/>
            <a:ext cx="45537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Alirkan berkas besar bertahap agar penggunaan memori tetap rendah.</a:t>
            </a:r>
            <a:endParaRPr lang="en-US" sz="960" dirty="0"/>
          </a:p>
        </p:txBody>
      </p:sp>
      <p:sp>
        <p:nvSpPr>
          <p:cNvPr id="24" name="Shape 18"/>
          <p:cNvSpPr/>
          <p:nvPr/>
        </p:nvSpPr>
        <p:spPr>
          <a:xfrm>
            <a:off x="6492240" y="3840480"/>
            <a:ext cx="420624" cy="420624"/>
          </a:xfrm>
          <a:prstGeom prst="roundRect">
            <a:avLst>
              <a:gd name="adj" fmla="val 26087"/>
            </a:avLst>
          </a:prstGeom>
          <a:solidFill>
            <a:srgbClr val="E8F2E2"/>
          </a:solidFill>
          <a:ln w="12700">
            <a:solidFill>
              <a:srgbClr val="E8F2E2"/>
            </a:solidFill>
            <a:prstDash val="solid"/>
          </a:ln>
        </p:spPr>
      </p:sp>
      <p:pic>
        <p:nvPicPr>
          <p:cNvPr id="25" name="Image 4" descr="preencoded.png">    </p:cNvPr>
          <p:cNvPicPr>
            <a:picLocks noChangeAspect="1"/>
          </p:cNvPicPr>
          <p:nvPr/>
        </p:nvPicPr>
        <p:blipFill>
          <a:blip r:embed="rId5"/>
          <a:stretch>
            <a:fillRect/>
          </a:stretch>
        </p:blipFill>
        <p:spPr>
          <a:xfrm>
            <a:off x="6597396" y="3945636"/>
            <a:ext cx="210312" cy="210312"/>
          </a:xfrm>
          <a:prstGeom prst="rect">
            <a:avLst/>
          </a:prstGeom>
        </p:spPr>
      </p:pic>
      <p:sp>
        <p:nvSpPr>
          <p:cNvPr id="26" name="Text 19"/>
          <p:cNvSpPr txBox="1"/>
          <p:nvPr/>
        </p:nvSpPr>
        <p:spPr>
          <a:xfrm>
            <a:off x="7059168" y="3822192"/>
            <a:ext cx="45537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Optimalkan Kueri</a:t>
            </a:r>
            <a:endParaRPr lang="en-US" sz="1150" dirty="0"/>
          </a:p>
        </p:txBody>
      </p:sp>
      <p:sp>
        <p:nvSpPr>
          <p:cNvPr id="27" name="Text 20"/>
          <p:cNvSpPr txBox="1"/>
          <p:nvPr/>
        </p:nvSpPr>
        <p:spPr>
          <a:xfrm>
            <a:off x="7059168" y="4078224"/>
            <a:ext cx="45537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Tambahkan indeks yang tepat dan hindari kueri N tambah satu.</a:t>
            </a:r>
            <a:endParaRPr lang="en-US" sz="960" dirty="0"/>
          </a:p>
        </p:txBody>
      </p:sp>
      <p:sp>
        <p:nvSpPr>
          <p:cNvPr id="28" name="Shape 21"/>
          <p:cNvSpPr/>
          <p:nvPr/>
        </p:nvSpPr>
        <p:spPr>
          <a:xfrm>
            <a:off x="6492240" y="4553712"/>
            <a:ext cx="420624" cy="420624"/>
          </a:xfrm>
          <a:prstGeom prst="roundRect">
            <a:avLst>
              <a:gd name="adj" fmla="val 26087"/>
            </a:avLst>
          </a:prstGeom>
          <a:solidFill>
            <a:srgbClr val="E8F2E2"/>
          </a:solidFill>
          <a:ln w="12700">
            <a:solidFill>
              <a:srgbClr val="E8F2E2"/>
            </a:solidFill>
            <a:prstDash val="solid"/>
          </a:ln>
        </p:spPr>
      </p:sp>
      <p:pic>
        <p:nvPicPr>
          <p:cNvPr id="29" name="Image 5" descr="preencoded.png">    </p:cNvPr>
          <p:cNvPicPr>
            <a:picLocks noChangeAspect="1"/>
          </p:cNvPicPr>
          <p:nvPr/>
        </p:nvPicPr>
        <p:blipFill>
          <a:blip r:embed="rId6"/>
          <a:stretch>
            <a:fillRect/>
          </a:stretch>
        </p:blipFill>
        <p:spPr>
          <a:xfrm>
            <a:off x="6597396" y="4658868"/>
            <a:ext cx="210312" cy="210312"/>
          </a:xfrm>
          <a:prstGeom prst="rect">
            <a:avLst/>
          </a:prstGeom>
        </p:spPr>
      </p:pic>
      <p:sp>
        <p:nvSpPr>
          <p:cNvPr id="30" name="Text 22"/>
          <p:cNvSpPr txBox="1"/>
          <p:nvPr/>
        </p:nvSpPr>
        <p:spPr>
          <a:xfrm>
            <a:off x="7059168" y="4535424"/>
            <a:ext cx="45537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Kompresi Respons</a:t>
            </a:r>
            <a:endParaRPr lang="en-US" sz="1150" dirty="0"/>
          </a:p>
        </p:txBody>
      </p:sp>
      <p:sp>
        <p:nvSpPr>
          <p:cNvPr id="31" name="Text 23"/>
          <p:cNvSpPr txBox="1"/>
          <p:nvPr/>
        </p:nvSpPr>
        <p:spPr>
          <a:xfrm>
            <a:off x="7059168" y="4791456"/>
            <a:ext cx="45537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Middleware compression memperkecil ukuran respons ke klien.</a:t>
            </a:r>
            <a:endParaRPr lang="en-US" sz="960" dirty="0"/>
          </a:p>
        </p:txBody>
      </p:sp>
      <p:sp>
        <p:nvSpPr>
          <p:cNvPr id="32" name="Shape 24"/>
          <p:cNvSpPr/>
          <p:nvPr/>
        </p:nvSpPr>
        <p:spPr>
          <a:xfrm>
            <a:off x="6492240" y="5266944"/>
            <a:ext cx="420624" cy="420624"/>
          </a:xfrm>
          <a:prstGeom prst="roundRect">
            <a:avLst>
              <a:gd name="adj" fmla="val 26087"/>
            </a:avLst>
          </a:prstGeom>
          <a:solidFill>
            <a:srgbClr val="E8F2E2"/>
          </a:solidFill>
          <a:ln w="12700">
            <a:solidFill>
              <a:srgbClr val="E8F2E2"/>
            </a:solidFill>
            <a:prstDash val="solid"/>
          </a:ln>
        </p:spPr>
      </p:sp>
      <p:pic>
        <p:nvPicPr>
          <p:cNvPr id="33" name="Image 6" descr="preencoded.png">    </p:cNvPr>
          <p:cNvPicPr>
            <a:picLocks noChangeAspect="1"/>
          </p:cNvPicPr>
          <p:nvPr/>
        </p:nvPicPr>
        <p:blipFill>
          <a:blip r:embed="rId7"/>
          <a:stretch>
            <a:fillRect/>
          </a:stretch>
        </p:blipFill>
        <p:spPr>
          <a:xfrm>
            <a:off x="6597396" y="5372100"/>
            <a:ext cx="210312" cy="210312"/>
          </a:xfrm>
          <a:prstGeom prst="rect">
            <a:avLst/>
          </a:prstGeom>
        </p:spPr>
      </p:pic>
      <p:sp>
        <p:nvSpPr>
          <p:cNvPr id="34" name="Text 25"/>
          <p:cNvSpPr txBox="1"/>
          <p:nvPr/>
        </p:nvSpPr>
        <p:spPr>
          <a:xfrm>
            <a:off x="7059168" y="5248656"/>
            <a:ext cx="45537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Ukur Sebelum Optimasi</a:t>
            </a:r>
            <a:endParaRPr lang="en-US" sz="1150" dirty="0"/>
          </a:p>
        </p:txBody>
      </p:sp>
      <p:sp>
        <p:nvSpPr>
          <p:cNvPr id="35" name="Text 26"/>
          <p:cNvSpPr txBox="1"/>
          <p:nvPr/>
        </p:nvSpPr>
        <p:spPr>
          <a:xfrm>
            <a:off x="7059168" y="5504688"/>
            <a:ext cx="4553712" cy="274320"/>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Pakai autocannon atau clinic.js untuk menemukan titik lambat.</a:t>
            </a:r>
            <a:endParaRPr lang="en-US" sz="960" dirty="0"/>
          </a:p>
        </p:txBody>
      </p:sp>
      <p:sp>
        <p:nvSpPr>
          <p:cNvPr id="36" name="Text 27"/>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37" name="Text 28"/>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Deployment ke Produksi</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Menjalankan aplikasi agar tetap hidup dan dapat diakses publik</a:t>
            </a:r>
            <a:endParaRPr lang="en-US" sz="1300" dirty="0"/>
          </a:p>
        </p:txBody>
      </p:sp>
      <p:sp>
        <p:nvSpPr>
          <p:cNvPr id="6" name="Shape 3"/>
          <p:cNvSpPr/>
          <p:nvPr/>
        </p:nvSpPr>
        <p:spPr>
          <a:xfrm>
            <a:off x="640080" y="1609344"/>
            <a:ext cx="2542032"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96112" y="1828800"/>
            <a:ext cx="457200" cy="457200"/>
          </a:xfrm>
          <a:prstGeom prst="roundRect">
            <a:avLst>
              <a:gd name="adj" fmla="val 26000"/>
            </a:avLst>
          </a:prstGeom>
          <a:solidFill>
            <a:srgbClr val="E8F2E2"/>
          </a:solidFill>
          <a:ln w="12700">
            <a:solidFill>
              <a:srgbClr val="E8F2E2"/>
            </a:solidFill>
            <a:prstDash val="solid"/>
          </a:ln>
        </p:spPr>
      </p:sp>
      <p:pic>
        <p:nvPicPr>
          <p:cNvPr id="8" name="Image 1" descr="preencoded.png">    </p:cNvPr>
          <p:cNvPicPr>
            <a:picLocks noChangeAspect="1"/>
          </p:cNvPicPr>
          <p:nvPr/>
        </p:nvPicPr>
        <p:blipFill>
          <a:blip r:embed="rId2"/>
          <a:stretch>
            <a:fillRect/>
          </a:stretch>
        </p:blipFill>
        <p:spPr>
          <a:xfrm>
            <a:off x="1010412" y="1943100"/>
            <a:ext cx="228600" cy="228600"/>
          </a:xfrm>
          <a:prstGeom prst="rect">
            <a:avLst/>
          </a:prstGeom>
        </p:spPr>
      </p:pic>
      <p:sp>
        <p:nvSpPr>
          <p:cNvPr id="9" name="Text 5"/>
          <p:cNvSpPr txBox="1"/>
          <p:nvPr/>
        </p:nvSpPr>
        <p:spPr>
          <a:xfrm>
            <a:off x="1499616"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PM2</a:t>
            </a:r>
            <a:endParaRPr lang="en-US" sz="1300" dirty="0"/>
          </a:p>
        </p:txBody>
      </p:sp>
      <p:sp>
        <p:nvSpPr>
          <p:cNvPr id="10" name="Text 6"/>
          <p:cNvSpPr txBox="1"/>
          <p:nvPr/>
        </p:nvSpPr>
        <p:spPr>
          <a:xfrm>
            <a:off x="896112" y="2395728"/>
            <a:ext cx="2029968" cy="62179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Process manager yang menjalankan ulang aplikasi bila jatuh, mengelola mode cluster, dan menyimpan log.</a:t>
            </a:r>
            <a:endParaRPr lang="en-US" sz="1020" dirty="0"/>
          </a:p>
        </p:txBody>
      </p:sp>
      <p:sp>
        <p:nvSpPr>
          <p:cNvPr id="11" name="Shape 7"/>
          <p:cNvSpPr/>
          <p:nvPr/>
        </p:nvSpPr>
        <p:spPr>
          <a:xfrm>
            <a:off x="3447288" y="1609344"/>
            <a:ext cx="2542032"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2" name="Shape 8"/>
          <p:cNvSpPr/>
          <p:nvPr/>
        </p:nvSpPr>
        <p:spPr>
          <a:xfrm>
            <a:off x="3703320" y="1828800"/>
            <a:ext cx="457200" cy="457200"/>
          </a:xfrm>
          <a:prstGeom prst="roundRect">
            <a:avLst>
              <a:gd name="adj" fmla="val 26000"/>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3817620" y="1943100"/>
            <a:ext cx="228600" cy="228600"/>
          </a:xfrm>
          <a:prstGeom prst="rect">
            <a:avLst/>
          </a:prstGeom>
        </p:spPr>
      </p:pic>
      <p:sp>
        <p:nvSpPr>
          <p:cNvPr id="14" name="Text 9"/>
          <p:cNvSpPr txBox="1"/>
          <p:nvPr/>
        </p:nvSpPr>
        <p:spPr>
          <a:xfrm>
            <a:off x="4306824"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Docker</a:t>
            </a:r>
            <a:endParaRPr lang="en-US" sz="1300" dirty="0"/>
          </a:p>
        </p:txBody>
      </p:sp>
      <p:sp>
        <p:nvSpPr>
          <p:cNvPr id="15" name="Text 10"/>
          <p:cNvSpPr txBox="1"/>
          <p:nvPr/>
        </p:nvSpPr>
        <p:spPr>
          <a:xfrm>
            <a:off x="3703320" y="2395728"/>
            <a:ext cx="2029968" cy="62179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Mengemas aplikasi beserta seluruh dependensinya sehingga berjalan sama di mana pun.</a:t>
            </a:r>
            <a:endParaRPr lang="en-US" sz="1020" dirty="0"/>
          </a:p>
        </p:txBody>
      </p:sp>
      <p:sp>
        <p:nvSpPr>
          <p:cNvPr id="16" name="Shape 11"/>
          <p:cNvSpPr/>
          <p:nvPr/>
        </p:nvSpPr>
        <p:spPr>
          <a:xfrm>
            <a:off x="6254496" y="1609344"/>
            <a:ext cx="2542032"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7" name="Shape 12"/>
          <p:cNvSpPr/>
          <p:nvPr/>
        </p:nvSpPr>
        <p:spPr>
          <a:xfrm>
            <a:off x="6510528" y="1828800"/>
            <a:ext cx="457200" cy="457200"/>
          </a:xfrm>
          <a:prstGeom prst="roundRect">
            <a:avLst>
              <a:gd name="adj" fmla="val 26000"/>
            </a:avLst>
          </a:prstGeom>
          <a:solidFill>
            <a:srgbClr val="E8F2E2"/>
          </a:solidFill>
          <a:ln w="12700">
            <a:solidFill>
              <a:srgbClr val="E8F2E2"/>
            </a:solidFill>
            <a:prstDash val="solid"/>
          </a:ln>
        </p:spPr>
      </p:sp>
      <p:pic>
        <p:nvPicPr>
          <p:cNvPr id="18" name="Image 3" descr="preencoded.png">    </p:cNvPr>
          <p:cNvPicPr>
            <a:picLocks noChangeAspect="1"/>
          </p:cNvPicPr>
          <p:nvPr/>
        </p:nvPicPr>
        <p:blipFill>
          <a:blip r:embed="rId4"/>
          <a:stretch>
            <a:fillRect/>
          </a:stretch>
        </p:blipFill>
        <p:spPr>
          <a:xfrm>
            <a:off x="6624828" y="1943100"/>
            <a:ext cx="228600" cy="228600"/>
          </a:xfrm>
          <a:prstGeom prst="rect">
            <a:avLst/>
          </a:prstGeom>
        </p:spPr>
      </p:pic>
      <p:sp>
        <p:nvSpPr>
          <p:cNvPr id="19" name="Text 13"/>
          <p:cNvSpPr txBox="1"/>
          <p:nvPr/>
        </p:nvSpPr>
        <p:spPr>
          <a:xfrm>
            <a:off x="7114032"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Platform PaaS</a:t>
            </a:r>
            <a:endParaRPr lang="en-US" sz="1300" dirty="0"/>
          </a:p>
        </p:txBody>
      </p:sp>
      <p:sp>
        <p:nvSpPr>
          <p:cNvPr id="20" name="Text 14"/>
          <p:cNvSpPr txBox="1"/>
          <p:nvPr/>
        </p:nvSpPr>
        <p:spPr>
          <a:xfrm>
            <a:off x="6510528" y="2395728"/>
            <a:ext cx="2029968" cy="62179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Vercel, Railway, Render, atau Heroku menangani server sehingga Anda cukup mengirim kode.</a:t>
            </a:r>
            <a:endParaRPr lang="en-US" sz="1020" dirty="0"/>
          </a:p>
        </p:txBody>
      </p:sp>
      <p:sp>
        <p:nvSpPr>
          <p:cNvPr id="21" name="Shape 15"/>
          <p:cNvSpPr/>
          <p:nvPr/>
        </p:nvSpPr>
        <p:spPr>
          <a:xfrm>
            <a:off x="9061704" y="1609344"/>
            <a:ext cx="2542032" cy="1572768"/>
          </a:xfrm>
          <a:prstGeom prst="roundRect">
            <a:avLst>
              <a:gd name="adj" fmla="val 5233"/>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2" name="Shape 16"/>
          <p:cNvSpPr/>
          <p:nvPr/>
        </p:nvSpPr>
        <p:spPr>
          <a:xfrm>
            <a:off x="9317736" y="1828800"/>
            <a:ext cx="457200" cy="457200"/>
          </a:xfrm>
          <a:prstGeom prst="roundRect">
            <a:avLst>
              <a:gd name="adj" fmla="val 26000"/>
            </a:avLst>
          </a:prstGeom>
          <a:solidFill>
            <a:srgbClr val="E8F2E2"/>
          </a:solidFill>
          <a:ln w="12700">
            <a:solidFill>
              <a:srgbClr val="E8F2E2"/>
            </a:solidFill>
            <a:prstDash val="solid"/>
          </a:ln>
        </p:spPr>
      </p:sp>
      <p:pic>
        <p:nvPicPr>
          <p:cNvPr id="23" name="Image 4" descr="preencoded.png">    </p:cNvPr>
          <p:cNvPicPr>
            <a:picLocks noChangeAspect="1"/>
          </p:cNvPicPr>
          <p:nvPr/>
        </p:nvPicPr>
        <p:blipFill>
          <a:blip r:embed="rId5"/>
          <a:stretch>
            <a:fillRect/>
          </a:stretch>
        </p:blipFill>
        <p:spPr>
          <a:xfrm>
            <a:off x="9432036" y="1943100"/>
            <a:ext cx="228600" cy="228600"/>
          </a:xfrm>
          <a:prstGeom prst="rect">
            <a:avLst/>
          </a:prstGeom>
        </p:spPr>
      </p:pic>
      <p:sp>
        <p:nvSpPr>
          <p:cNvPr id="24" name="Text 17"/>
          <p:cNvSpPr txBox="1"/>
          <p:nvPr/>
        </p:nvSpPr>
        <p:spPr>
          <a:xfrm>
            <a:off x="9921240" y="1828800"/>
            <a:ext cx="1426464" cy="457200"/>
          </a:xfrm>
          <a:prstGeom prst="rect">
            <a:avLst/>
          </a:prstGeom>
          <a:noFill/>
          <a:ln/>
        </p:spPr>
        <p:txBody>
          <a:bodyPr wrap="square" lIns="0" tIns="0" rIns="0" bIns="0" rtlCol="0" anchor="ctr"/>
          <a:lstStyle/>
          <a:p>
            <a:pPr indent="0" marL="0">
              <a:buNone/>
            </a:pPr>
            <a:r>
              <a:rPr lang="en-US" sz="1300" b="1" dirty="0">
                <a:solidFill>
                  <a:srgbClr val="16241B"/>
                </a:solidFill>
                <a:latin typeface="Arial" pitchFamily="34" charset="0"/>
                <a:ea typeface="Arial" pitchFamily="34" charset="-122"/>
                <a:cs typeface="Arial" pitchFamily="34" charset="-120"/>
              </a:rPr>
              <a:t>Cloud &amp; Kubernetes</a:t>
            </a:r>
            <a:endParaRPr lang="en-US" sz="1300" dirty="0"/>
          </a:p>
        </p:txBody>
      </p:sp>
      <p:sp>
        <p:nvSpPr>
          <p:cNvPr id="25" name="Text 18"/>
          <p:cNvSpPr txBox="1"/>
          <p:nvPr/>
        </p:nvSpPr>
        <p:spPr>
          <a:xfrm>
            <a:off x="9317736" y="2395728"/>
            <a:ext cx="2029968" cy="621792"/>
          </a:xfrm>
          <a:prstGeom prst="rect">
            <a:avLst/>
          </a:prstGeom>
          <a:noFill/>
          <a:ln/>
        </p:spPr>
        <p:txBody>
          <a:bodyPr wrap="square" lIns="0" tIns="0" rIns="0" bIns="0" rtlCol="0" anchor="t"/>
          <a:lstStyle/>
          <a:p>
            <a:pPr indent="0" marL="0">
              <a:lnSpc>
                <a:spcPct val="112000"/>
              </a:lnSpc>
              <a:buNone/>
            </a:pPr>
            <a:r>
              <a:rPr lang="en-US" sz="1020" dirty="0">
                <a:solidFill>
                  <a:srgbClr val="5F6F62"/>
                </a:solidFill>
                <a:latin typeface="Calibri" pitchFamily="34" charset="0"/>
                <a:ea typeface="Calibri" pitchFamily="34" charset="-122"/>
                <a:cs typeface="Calibri" pitchFamily="34" charset="-120"/>
              </a:rPr>
              <a:t>AWS, GCP, dan Azure untuk skala besar dengan kendali penuh atas infrastruktur.</a:t>
            </a:r>
            <a:endParaRPr lang="en-US" sz="1020" dirty="0"/>
          </a:p>
        </p:txBody>
      </p:sp>
      <p:sp>
        <p:nvSpPr>
          <p:cNvPr id="26" name="Shape 19"/>
          <p:cNvSpPr/>
          <p:nvPr/>
        </p:nvSpPr>
        <p:spPr>
          <a:xfrm>
            <a:off x="640080" y="3273552"/>
            <a:ext cx="5577840" cy="1607808"/>
          </a:xfrm>
          <a:prstGeom prst="roundRect">
            <a:avLst>
              <a:gd name="adj" fmla="val 3981"/>
            </a:avLst>
          </a:prstGeom>
          <a:solidFill>
            <a:srgbClr val="0E2417"/>
          </a:solidFill>
          <a:ln w="12700">
            <a:solidFill>
              <a:srgbClr val="234A31"/>
            </a:solidFill>
            <a:prstDash val="solid"/>
          </a:ln>
        </p:spPr>
      </p:sp>
      <p:sp>
        <p:nvSpPr>
          <p:cNvPr id="27" name="Text 20"/>
          <p:cNvSpPr txBox="1"/>
          <p:nvPr/>
        </p:nvSpPr>
        <p:spPr>
          <a:xfrm>
            <a:off x="859536" y="3364992"/>
            <a:ext cx="51389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PERINTAH PM2</a:t>
            </a:r>
            <a:endParaRPr lang="en-US" sz="950" dirty="0"/>
          </a:p>
        </p:txBody>
      </p:sp>
      <p:sp>
        <p:nvSpPr>
          <p:cNvPr id="28" name="Text 21"/>
          <p:cNvSpPr txBox="1"/>
          <p:nvPr/>
        </p:nvSpPr>
        <p:spPr>
          <a:xfrm>
            <a:off x="859536" y="3675888"/>
            <a:ext cx="5138928" cy="1095744"/>
          </a:xfrm>
          <a:prstGeom prst="rect">
            <a:avLst/>
          </a:prstGeom>
          <a:noFill/>
          <a:ln/>
        </p:spPr>
        <p:txBody>
          <a:bodyPr wrap="square" lIns="0" tIns="0" rIns="0" bIns="0" rtlCol="0" anchor="t"/>
          <a:lstStyle/>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npm install -g pm2</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pm2 start server.js --name api</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pm2 start server.js -i max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mode cluster</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pm2 logs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melihat catatan log</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pm2 restart api</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pm2 startup &amp;&amp; pm2 save      </a:t>
            </a:r>
            <a:pPr indent="0" marL="0">
              <a:lnSpc>
                <a:spcPct val="106000"/>
              </a:lnSpc>
              <a:buNone/>
            </a:pPr>
            <a:r>
              <a:rPr lang="en-US" sz="1020" dirty="0">
                <a:solidFill>
                  <a:srgbClr val="6E8A76"/>
                </a:solidFill>
                <a:latin typeface="Courier New" pitchFamily="34" charset="0"/>
                <a:ea typeface="Courier New" pitchFamily="34" charset="-122"/>
                <a:cs typeface="Courier New" pitchFamily="34" charset="-120"/>
              </a:rPr>
              <a:t># jalan saat boot</a:t>
            </a:r>
            <a:endParaRPr lang="en-US" sz="1020" dirty="0"/>
          </a:p>
        </p:txBody>
      </p:sp>
      <p:sp>
        <p:nvSpPr>
          <p:cNvPr id="29" name="Shape 22"/>
          <p:cNvSpPr/>
          <p:nvPr/>
        </p:nvSpPr>
        <p:spPr>
          <a:xfrm>
            <a:off x="6492240" y="3273552"/>
            <a:ext cx="5120640" cy="1781288"/>
          </a:xfrm>
          <a:prstGeom prst="roundRect">
            <a:avLst>
              <a:gd name="adj" fmla="val 3593"/>
            </a:avLst>
          </a:prstGeom>
          <a:solidFill>
            <a:srgbClr val="0E2417"/>
          </a:solidFill>
          <a:ln w="12700">
            <a:solidFill>
              <a:srgbClr val="234A31"/>
            </a:solidFill>
            <a:prstDash val="solid"/>
          </a:ln>
        </p:spPr>
      </p:sp>
      <p:sp>
        <p:nvSpPr>
          <p:cNvPr id="30" name="Text 23"/>
          <p:cNvSpPr txBox="1"/>
          <p:nvPr/>
        </p:nvSpPr>
        <p:spPr>
          <a:xfrm>
            <a:off x="6711696" y="3364992"/>
            <a:ext cx="4681728" cy="237744"/>
          </a:xfrm>
          <a:prstGeom prst="rect">
            <a:avLst/>
          </a:prstGeom>
          <a:noFill/>
          <a:ln/>
        </p:spPr>
        <p:txBody>
          <a:bodyPr wrap="square" lIns="0" tIns="0" rIns="0" bIns="0" rtlCol="0" anchor="ctr"/>
          <a:lstStyle/>
          <a:p>
            <a:pPr indent="0" marL="0">
              <a:buNone/>
            </a:pPr>
            <a:r>
              <a:rPr lang="en-US" sz="950" b="1" spc="100" kern="0" dirty="0">
                <a:solidFill>
                  <a:srgbClr val="7FA089"/>
                </a:solidFill>
                <a:latin typeface="Calibri" pitchFamily="34" charset="0"/>
                <a:ea typeface="Calibri" pitchFamily="34" charset="-122"/>
                <a:cs typeface="Calibri" pitchFamily="34" charset="-120"/>
              </a:rPr>
              <a:t>DOCKERFILE SEDERHANA</a:t>
            </a:r>
            <a:endParaRPr lang="en-US" sz="950" dirty="0"/>
          </a:p>
        </p:txBody>
      </p:sp>
      <p:sp>
        <p:nvSpPr>
          <p:cNvPr id="31" name="Text 24"/>
          <p:cNvSpPr txBox="1"/>
          <p:nvPr/>
        </p:nvSpPr>
        <p:spPr>
          <a:xfrm>
            <a:off x="6711696" y="3675888"/>
            <a:ext cx="4681728" cy="1269224"/>
          </a:xfrm>
          <a:prstGeom prst="rect">
            <a:avLst/>
          </a:prstGeom>
          <a:noFill/>
          <a:ln/>
        </p:spPr>
        <p:txBody>
          <a:bodyPr wrap="square" lIns="0" tIns="0" rIns="0" bIns="0" rtlCol="0" anchor="t"/>
          <a:lstStyle/>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FROM node:</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22</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-alpine</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WORKDIR /app</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COPY package*.json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RUN npm ci --omit=dev</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COPY . .</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EXPOSE </a:t>
            </a:r>
            <a:pPr indent="0" marL="0">
              <a:lnSpc>
                <a:spcPct val="106000"/>
              </a:lnSpc>
              <a:buNone/>
            </a:pPr>
            <a:r>
              <a:rPr lang="en-US" sz="1020" dirty="0">
                <a:solidFill>
                  <a:srgbClr val="D9A05B"/>
                </a:solidFill>
                <a:latin typeface="Courier New" pitchFamily="34" charset="0"/>
                <a:ea typeface="Courier New" pitchFamily="34" charset="-122"/>
                <a:cs typeface="Courier New" pitchFamily="34" charset="-120"/>
              </a:rPr>
              <a:t>3000</a:t>
            </a:r>
            <a:endParaRPr lang="en-US" sz="1020" dirty="0"/>
          </a:p>
          <a:p>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CMD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"node"</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 </a:t>
            </a:r>
            <a:pPr indent="0" marL="0">
              <a:lnSpc>
                <a:spcPct val="106000"/>
              </a:lnSpc>
              <a:buNone/>
            </a:pPr>
            <a:r>
              <a:rPr lang="en-US" sz="1020" dirty="0">
                <a:solidFill>
                  <a:srgbClr val="E5C07B"/>
                </a:solidFill>
                <a:latin typeface="Courier New" pitchFamily="34" charset="0"/>
                <a:ea typeface="Courier New" pitchFamily="34" charset="-122"/>
                <a:cs typeface="Courier New" pitchFamily="34" charset="-120"/>
              </a:rPr>
              <a:t>"server.js"</a:t>
            </a:r>
            <a:pPr indent="0" marL="0">
              <a:lnSpc>
                <a:spcPct val="106000"/>
              </a:lnSpc>
              <a:buNone/>
            </a:pPr>
            <a:r>
              <a:rPr lang="en-US" sz="1020" dirty="0">
                <a:solidFill>
                  <a:srgbClr val="DDE8DE"/>
                </a:solidFill>
                <a:latin typeface="Courier New" pitchFamily="34" charset="0"/>
                <a:ea typeface="Courier New" pitchFamily="34" charset="-122"/>
                <a:cs typeface="Courier New" pitchFamily="34" charset="-120"/>
              </a:rPr>
              <a:t>]</a:t>
            </a:r>
            <a:endParaRPr lang="en-US" sz="1020" dirty="0"/>
          </a:p>
        </p:txBody>
      </p:sp>
      <p:sp>
        <p:nvSpPr>
          <p:cNvPr id="32" name="Shape 25"/>
          <p:cNvSpPr/>
          <p:nvPr/>
        </p:nvSpPr>
        <p:spPr>
          <a:xfrm>
            <a:off x="640080" y="4974336"/>
            <a:ext cx="10972800" cy="914400"/>
          </a:xfrm>
          <a:prstGeom prst="roundRect">
            <a:avLst>
              <a:gd name="adj" fmla="val 9000"/>
            </a:avLst>
          </a:prstGeom>
          <a:solidFill>
            <a:srgbClr val="0B2015"/>
          </a:solidFill>
          <a:ln w="12700">
            <a:solidFill>
              <a:srgbClr val="0B2015"/>
            </a:solidFill>
            <a:prstDash val="solid"/>
          </a:ln>
        </p:spPr>
      </p:sp>
      <p:sp>
        <p:nvSpPr>
          <p:cNvPr id="33" name="Text 26"/>
          <p:cNvSpPr txBox="1"/>
          <p:nvPr/>
        </p:nvSpPr>
        <p:spPr>
          <a:xfrm>
            <a:off x="914400" y="5065776"/>
            <a:ext cx="3657600" cy="274320"/>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Daftar Periksa Sebelum Rilis</a:t>
            </a:r>
            <a:endParaRPr lang="en-US" sz="1250" dirty="0"/>
          </a:p>
        </p:txBody>
      </p:sp>
      <p:sp>
        <p:nvSpPr>
          <p:cNvPr id="34" name="Shape 27"/>
          <p:cNvSpPr/>
          <p:nvPr/>
        </p:nvSpPr>
        <p:spPr>
          <a:xfrm>
            <a:off x="914400" y="5413248"/>
            <a:ext cx="1803197" cy="329184"/>
          </a:xfrm>
          <a:prstGeom prst="roundRect">
            <a:avLst>
              <a:gd name="adj" fmla="val 50000"/>
            </a:avLst>
          </a:prstGeom>
          <a:solidFill>
            <a:srgbClr val="1B4429"/>
          </a:solidFill>
          <a:ln w="12700">
            <a:solidFill>
              <a:srgbClr val="2C5F3A"/>
            </a:solidFill>
            <a:prstDash val="solid"/>
          </a:ln>
        </p:spPr>
      </p:sp>
      <p:sp>
        <p:nvSpPr>
          <p:cNvPr id="35" name="Text 28"/>
          <p:cNvSpPr txBox="1"/>
          <p:nvPr/>
        </p:nvSpPr>
        <p:spPr>
          <a:xfrm>
            <a:off x="914400" y="5413248"/>
            <a:ext cx="1803197" cy="329184"/>
          </a:xfrm>
          <a:prstGeom prst="rect">
            <a:avLst/>
          </a:prstGeom>
          <a:noFill/>
          <a:ln/>
        </p:spPr>
        <p:txBody>
          <a:bodyPr wrap="square" lIns="0" tIns="0" rIns="0" bIns="0" rtlCol="0" anchor="ctr"/>
          <a:lstStyle/>
          <a:p>
            <a:pPr algn="ctr" indent="0" marL="0">
              <a:buNone/>
            </a:pPr>
            <a:r>
              <a:rPr lang="en-US" sz="960" dirty="0">
                <a:solidFill>
                  <a:srgbClr val="C6E3B4"/>
                </a:solidFill>
                <a:latin typeface="Calibri" pitchFamily="34" charset="0"/>
                <a:ea typeface="Calibri" pitchFamily="34" charset="-122"/>
                <a:cs typeface="Calibri" pitchFamily="34" charset="-120"/>
              </a:rPr>
              <a:t>NODE_ENV=production</a:t>
            </a:r>
            <a:endParaRPr lang="en-US" sz="960" dirty="0"/>
          </a:p>
        </p:txBody>
      </p:sp>
      <p:sp>
        <p:nvSpPr>
          <p:cNvPr id="36" name="Shape 29"/>
          <p:cNvSpPr/>
          <p:nvPr/>
        </p:nvSpPr>
        <p:spPr>
          <a:xfrm>
            <a:off x="2845613" y="5413248"/>
            <a:ext cx="2125066" cy="329184"/>
          </a:xfrm>
          <a:prstGeom prst="roundRect">
            <a:avLst>
              <a:gd name="adj" fmla="val 50000"/>
            </a:avLst>
          </a:prstGeom>
          <a:solidFill>
            <a:srgbClr val="1B4429"/>
          </a:solidFill>
          <a:ln w="12700">
            <a:solidFill>
              <a:srgbClr val="2C5F3A"/>
            </a:solidFill>
            <a:prstDash val="solid"/>
          </a:ln>
        </p:spPr>
      </p:sp>
      <p:sp>
        <p:nvSpPr>
          <p:cNvPr id="37" name="Text 30"/>
          <p:cNvSpPr txBox="1"/>
          <p:nvPr/>
        </p:nvSpPr>
        <p:spPr>
          <a:xfrm>
            <a:off x="2845613" y="5413248"/>
            <a:ext cx="2125066" cy="329184"/>
          </a:xfrm>
          <a:prstGeom prst="rect">
            <a:avLst/>
          </a:prstGeom>
          <a:noFill/>
          <a:ln/>
        </p:spPr>
        <p:txBody>
          <a:bodyPr wrap="square" lIns="0" tIns="0" rIns="0" bIns="0" rtlCol="0" anchor="ctr"/>
          <a:lstStyle/>
          <a:p>
            <a:pPr algn="ctr" indent="0" marL="0">
              <a:buNone/>
            </a:pPr>
            <a:r>
              <a:rPr lang="en-US" sz="960" dirty="0">
                <a:solidFill>
                  <a:srgbClr val="C6E3B4"/>
                </a:solidFill>
                <a:latin typeface="Calibri" pitchFamily="34" charset="0"/>
                <a:ea typeface="Calibri" pitchFamily="34" charset="-122"/>
                <a:cs typeface="Calibri" pitchFamily="34" charset="-120"/>
              </a:rPr>
              <a:t>HTTPS via reverse proxy</a:t>
            </a:r>
            <a:endParaRPr lang="en-US" sz="960" dirty="0"/>
          </a:p>
        </p:txBody>
      </p:sp>
      <p:sp>
        <p:nvSpPr>
          <p:cNvPr id="38" name="Shape 31"/>
          <p:cNvSpPr/>
          <p:nvPr/>
        </p:nvSpPr>
        <p:spPr>
          <a:xfrm>
            <a:off x="5098694" y="5413248"/>
            <a:ext cx="1722730" cy="329184"/>
          </a:xfrm>
          <a:prstGeom prst="roundRect">
            <a:avLst>
              <a:gd name="adj" fmla="val 50000"/>
            </a:avLst>
          </a:prstGeom>
          <a:solidFill>
            <a:srgbClr val="1B4429"/>
          </a:solidFill>
          <a:ln w="12700">
            <a:solidFill>
              <a:srgbClr val="2C5F3A"/>
            </a:solidFill>
            <a:prstDash val="solid"/>
          </a:ln>
        </p:spPr>
      </p:sp>
      <p:sp>
        <p:nvSpPr>
          <p:cNvPr id="39" name="Text 32"/>
          <p:cNvSpPr txBox="1"/>
          <p:nvPr/>
        </p:nvSpPr>
        <p:spPr>
          <a:xfrm>
            <a:off x="5098694" y="5413248"/>
            <a:ext cx="1722730" cy="329184"/>
          </a:xfrm>
          <a:prstGeom prst="rect">
            <a:avLst/>
          </a:prstGeom>
          <a:noFill/>
          <a:ln/>
        </p:spPr>
        <p:txBody>
          <a:bodyPr wrap="square" lIns="0" tIns="0" rIns="0" bIns="0" rtlCol="0" anchor="ctr"/>
          <a:lstStyle/>
          <a:p>
            <a:pPr algn="ctr" indent="0" marL="0">
              <a:buNone/>
            </a:pPr>
            <a:r>
              <a:rPr lang="en-US" sz="960" dirty="0">
                <a:solidFill>
                  <a:srgbClr val="C6E3B4"/>
                </a:solidFill>
                <a:latin typeface="Calibri" pitchFamily="34" charset="0"/>
                <a:ea typeface="Calibri" pitchFamily="34" charset="-122"/>
                <a:cs typeface="Calibri" pitchFamily="34" charset="-120"/>
              </a:rPr>
              <a:t>Pemantauan dan log</a:t>
            </a:r>
            <a:endParaRPr lang="en-US" sz="960" dirty="0"/>
          </a:p>
        </p:txBody>
      </p:sp>
      <p:sp>
        <p:nvSpPr>
          <p:cNvPr id="40" name="Shape 33"/>
          <p:cNvSpPr/>
          <p:nvPr/>
        </p:nvSpPr>
        <p:spPr>
          <a:xfrm>
            <a:off x="6949440" y="5413248"/>
            <a:ext cx="1803197" cy="329184"/>
          </a:xfrm>
          <a:prstGeom prst="roundRect">
            <a:avLst>
              <a:gd name="adj" fmla="val 50000"/>
            </a:avLst>
          </a:prstGeom>
          <a:solidFill>
            <a:srgbClr val="1B4429"/>
          </a:solidFill>
          <a:ln w="12700">
            <a:solidFill>
              <a:srgbClr val="2C5F3A"/>
            </a:solidFill>
            <a:prstDash val="solid"/>
          </a:ln>
        </p:spPr>
      </p:sp>
      <p:sp>
        <p:nvSpPr>
          <p:cNvPr id="41" name="Text 34"/>
          <p:cNvSpPr txBox="1"/>
          <p:nvPr/>
        </p:nvSpPr>
        <p:spPr>
          <a:xfrm>
            <a:off x="6949440" y="5413248"/>
            <a:ext cx="1803197" cy="329184"/>
          </a:xfrm>
          <a:prstGeom prst="rect">
            <a:avLst/>
          </a:prstGeom>
          <a:noFill/>
          <a:ln/>
        </p:spPr>
        <p:txBody>
          <a:bodyPr wrap="square" lIns="0" tIns="0" rIns="0" bIns="0" rtlCol="0" anchor="ctr"/>
          <a:lstStyle/>
          <a:p>
            <a:pPr algn="ctr" indent="0" marL="0">
              <a:buNone/>
            </a:pPr>
            <a:r>
              <a:rPr lang="en-US" sz="960" dirty="0">
                <a:solidFill>
                  <a:srgbClr val="C6E3B4"/>
                </a:solidFill>
                <a:latin typeface="Calibri" pitchFamily="34" charset="0"/>
                <a:ea typeface="Calibri" pitchFamily="34" charset="-122"/>
                <a:cs typeface="Calibri" pitchFamily="34" charset="-120"/>
              </a:rPr>
              <a:t>Cadangan basis data</a:t>
            </a:r>
            <a:endParaRPr lang="en-US" sz="960" dirty="0"/>
          </a:p>
        </p:txBody>
      </p:sp>
      <p:sp>
        <p:nvSpPr>
          <p:cNvPr id="42" name="Shape 35"/>
          <p:cNvSpPr/>
          <p:nvPr/>
        </p:nvSpPr>
        <p:spPr>
          <a:xfrm>
            <a:off x="8880653" y="5413248"/>
            <a:ext cx="1400861" cy="329184"/>
          </a:xfrm>
          <a:prstGeom prst="roundRect">
            <a:avLst>
              <a:gd name="adj" fmla="val 50000"/>
            </a:avLst>
          </a:prstGeom>
          <a:solidFill>
            <a:srgbClr val="1B4429"/>
          </a:solidFill>
          <a:ln w="12700">
            <a:solidFill>
              <a:srgbClr val="2C5F3A"/>
            </a:solidFill>
            <a:prstDash val="solid"/>
          </a:ln>
        </p:spPr>
      </p:sp>
      <p:sp>
        <p:nvSpPr>
          <p:cNvPr id="43" name="Text 36"/>
          <p:cNvSpPr txBox="1"/>
          <p:nvPr/>
        </p:nvSpPr>
        <p:spPr>
          <a:xfrm>
            <a:off x="8880653" y="5413248"/>
            <a:ext cx="1400861" cy="329184"/>
          </a:xfrm>
          <a:prstGeom prst="rect">
            <a:avLst/>
          </a:prstGeom>
          <a:noFill/>
          <a:ln/>
        </p:spPr>
        <p:txBody>
          <a:bodyPr wrap="square" lIns="0" tIns="0" rIns="0" bIns="0" rtlCol="0" anchor="ctr"/>
          <a:lstStyle/>
          <a:p>
            <a:pPr algn="ctr" indent="0" marL="0">
              <a:buNone/>
            </a:pPr>
            <a:r>
              <a:rPr lang="en-US" sz="960" dirty="0">
                <a:solidFill>
                  <a:srgbClr val="C6E3B4"/>
                </a:solidFill>
                <a:latin typeface="Calibri" pitchFamily="34" charset="0"/>
                <a:ea typeface="Calibri" pitchFamily="34" charset="-122"/>
                <a:cs typeface="Calibri" pitchFamily="34" charset="-120"/>
              </a:rPr>
              <a:t>Pipeline CI/CD</a:t>
            </a:r>
            <a:endParaRPr lang="en-US" sz="960" dirty="0"/>
          </a:p>
        </p:txBody>
      </p:sp>
      <p:sp>
        <p:nvSpPr>
          <p:cNvPr id="44" name="Text 37"/>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5" name="Text 38"/>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Ekosistem Framework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Pilihan kerangka kerja sesuai kebutuhan dan skala proyek</a:t>
            </a:r>
            <a:endParaRPr lang="en-US" sz="1300" dirty="0"/>
          </a:p>
        </p:txBody>
      </p:sp>
      <p:sp>
        <p:nvSpPr>
          <p:cNvPr id="6" name="Shape 3"/>
          <p:cNvSpPr/>
          <p:nvPr/>
        </p:nvSpPr>
        <p:spPr>
          <a:xfrm>
            <a:off x="640080" y="1609344"/>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7" name="Image 1" descr="preencoded.png">    </p:cNvPr>
          <p:cNvPicPr>
            <a:picLocks noChangeAspect="1"/>
          </p:cNvPicPr>
          <p:nvPr/>
        </p:nvPicPr>
        <p:blipFill>
          <a:blip r:embed="rId2"/>
          <a:stretch>
            <a:fillRect/>
          </a:stretch>
        </p:blipFill>
        <p:spPr>
          <a:xfrm>
            <a:off x="896112" y="1847088"/>
            <a:ext cx="384048" cy="384048"/>
          </a:xfrm>
          <a:prstGeom prst="rect">
            <a:avLst/>
          </a:prstGeom>
        </p:spPr>
      </p:pic>
      <p:sp>
        <p:nvSpPr>
          <p:cNvPr id="8" name="Text 4"/>
          <p:cNvSpPr txBox="1"/>
          <p:nvPr/>
        </p:nvSpPr>
        <p:spPr>
          <a:xfrm>
            <a:off x="1408176" y="1847088"/>
            <a:ext cx="2514600" cy="384048"/>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Express</a:t>
            </a:r>
            <a:endParaRPr lang="en-US" sz="1400" dirty="0"/>
          </a:p>
        </p:txBody>
      </p:sp>
      <p:sp>
        <p:nvSpPr>
          <p:cNvPr id="9" name="Text 5"/>
          <p:cNvSpPr txBox="1"/>
          <p:nvPr/>
        </p:nvSpPr>
        <p:spPr>
          <a:xfrm>
            <a:off x="896112" y="2304288"/>
            <a:ext cx="3008376" cy="27432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Minimalis dan paling populer</a:t>
            </a:r>
            <a:endParaRPr lang="en-US" sz="1100" dirty="0"/>
          </a:p>
        </p:txBody>
      </p:sp>
      <p:sp>
        <p:nvSpPr>
          <p:cNvPr id="10" name="Shape 6"/>
          <p:cNvSpPr/>
          <p:nvPr/>
        </p:nvSpPr>
        <p:spPr>
          <a:xfrm>
            <a:off x="896112" y="2596896"/>
            <a:ext cx="3008376" cy="329184"/>
          </a:xfrm>
          <a:prstGeom prst="roundRect">
            <a:avLst>
              <a:gd name="adj" fmla="val 22222"/>
            </a:avLst>
          </a:prstGeom>
          <a:solidFill>
            <a:srgbClr val="E8F2E2"/>
          </a:solidFill>
          <a:ln w="12700">
            <a:solidFill>
              <a:srgbClr val="E8F2E2"/>
            </a:solidFill>
            <a:prstDash val="solid"/>
          </a:ln>
        </p:spPr>
      </p:sp>
      <p:sp>
        <p:nvSpPr>
          <p:cNvPr id="11" name="Text 7"/>
          <p:cNvSpPr txBox="1"/>
          <p:nvPr/>
        </p:nvSpPr>
        <p:spPr>
          <a:xfrm>
            <a:off x="896112" y="2596896"/>
            <a:ext cx="3008376" cy="329184"/>
          </a:xfrm>
          <a:prstGeom prst="rect">
            <a:avLst/>
          </a:prstGeom>
          <a:noFill/>
          <a:ln/>
        </p:spPr>
        <p:txBody>
          <a:bodyPr wrap="square" lIns="0" tIns="0" rIns="0" bIns="0" rtlCol="0" anchor="ctr"/>
          <a:lstStyle/>
          <a:p>
            <a:pPr algn="ctr" indent="0" marL="0">
              <a:buNone/>
            </a:pPr>
            <a:r>
              <a:rPr lang="en-US" sz="960" b="1" dirty="0">
                <a:solidFill>
                  <a:srgbClr val="3C873A"/>
                </a:solidFill>
                <a:latin typeface="Calibri" pitchFamily="34" charset="0"/>
                <a:ea typeface="Calibri" pitchFamily="34" charset="-122"/>
                <a:cs typeface="Calibri" pitchFamily="34" charset="-120"/>
              </a:rPr>
              <a:t>Umum, REST API, prototipe cepat</a:t>
            </a:r>
            <a:endParaRPr lang="en-US" sz="960" dirty="0"/>
          </a:p>
        </p:txBody>
      </p:sp>
      <p:sp>
        <p:nvSpPr>
          <p:cNvPr id="12" name="Shape 8"/>
          <p:cNvSpPr/>
          <p:nvPr/>
        </p:nvSpPr>
        <p:spPr>
          <a:xfrm>
            <a:off x="4443984" y="1609344"/>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3" name="Image 2" descr="preencoded.png">    </p:cNvPr>
          <p:cNvPicPr>
            <a:picLocks noChangeAspect="1"/>
          </p:cNvPicPr>
          <p:nvPr/>
        </p:nvPicPr>
        <p:blipFill>
          <a:blip r:embed="rId3"/>
          <a:stretch>
            <a:fillRect/>
          </a:stretch>
        </p:blipFill>
        <p:spPr>
          <a:xfrm>
            <a:off x="4700016" y="1847088"/>
            <a:ext cx="384048" cy="384048"/>
          </a:xfrm>
          <a:prstGeom prst="rect">
            <a:avLst/>
          </a:prstGeom>
        </p:spPr>
      </p:pic>
      <p:sp>
        <p:nvSpPr>
          <p:cNvPr id="14" name="Text 9"/>
          <p:cNvSpPr txBox="1"/>
          <p:nvPr/>
        </p:nvSpPr>
        <p:spPr>
          <a:xfrm>
            <a:off x="5212080" y="1847088"/>
            <a:ext cx="2514600" cy="384048"/>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NestJS</a:t>
            </a:r>
            <a:endParaRPr lang="en-US" sz="1400" dirty="0"/>
          </a:p>
        </p:txBody>
      </p:sp>
      <p:sp>
        <p:nvSpPr>
          <p:cNvPr id="15" name="Text 10"/>
          <p:cNvSpPr txBox="1"/>
          <p:nvPr/>
        </p:nvSpPr>
        <p:spPr>
          <a:xfrm>
            <a:off x="4700016" y="2304288"/>
            <a:ext cx="3008376" cy="27432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Terstruktur ala Angular</a:t>
            </a:r>
            <a:endParaRPr lang="en-US" sz="1100" dirty="0"/>
          </a:p>
        </p:txBody>
      </p:sp>
      <p:sp>
        <p:nvSpPr>
          <p:cNvPr id="16" name="Shape 11"/>
          <p:cNvSpPr/>
          <p:nvPr/>
        </p:nvSpPr>
        <p:spPr>
          <a:xfrm>
            <a:off x="4700016" y="2596896"/>
            <a:ext cx="3008376" cy="329184"/>
          </a:xfrm>
          <a:prstGeom prst="roundRect">
            <a:avLst>
              <a:gd name="adj" fmla="val 22222"/>
            </a:avLst>
          </a:prstGeom>
          <a:solidFill>
            <a:srgbClr val="E8F2E2"/>
          </a:solidFill>
          <a:ln w="12700">
            <a:solidFill>
              <a:srgbClr val="E8F2E2"/>
            </a:solidFill>
            <a:prstDash val="solid"/>
          </a:ln>
        </p:spPr>
      </p:sp>
      <p:sp>
        <p:nvSpPr>
          <p:cNvPr id="17" name="Text 12"/>
          <p:cNvSpPr txBox="1"/>
          <p:nvPr/>
        </p:nvSpPr>
        <p:spPr>
          <a:xfrm>
            <a:off x="4700016" y="2596896"/>
            <a:ext cx="3008376" cy="329184"/>
          </a:xfrm>
          <a:prstGeom prst="rect">
            <a:avLst/>
          </a:prstGeom>
          <a:noFill/>
          <a:ln/>
        </p:spPr>
        <p:txBody>
          <a:bodyPr wrap="square" lIns="0" tIns="0" rIns="0" bIns="0" rtlCol="0" anchor="ctr"/>
          <a:lstStyle/>
          <a:p>
            <a:pPr algn="ctr" indent="0" marL="0">
              <a:buNone/>
            </a:pPr>
            <a:r>
              <a:rPr lang="en-US" sz="960" b="1" dirty="0">
                <a:solidFill>
                  <a:srgbClr val="3C873A"/>
                </a:solidFill>
                <a:latin typeface="Calibri" pitchFamily="34" charset="0"/>
                <a:ea typeface="Calibri" pitchFamily="34" charset="-122"/>
                <a:cs typeface="Calibri" pitchFamily="34" charset="-120"/>
              </a:rPr>
              <a:t>Aplikasi perusahaan berskala besar</a:t>
            </a:r>
            <a:endParaRPr lang="en-US" sz="960" dirty="0"/>
          </a:p>
        </p:txBody>
      </p:sp>
      <p:sp>
        <p:nvSpPr>
          <p:cNvPr id="18" name="Shape 13"/>
          <p:cNvSpPr/>
          <p:nvPr/>
        </p:nvSpPr>
        <p:spPr>
          <a:xfrm>
            <a:off x="8247888" y="1609344"/>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9" name="Image 3" descr="preencoded.png">    </p:cNvPr>
          <p:cNvPicPr>
            <a:picLocks noChangeAspect="1"/>
          </p:cNvPicPr>
          <p:nvPr/>
        </p:nvPicPr>
        <p:blipFill>
          <a:blip r:embed="rId4"/>
          <a:stretch>
            <a:fillRect/>
          </a:stretch>
        </p:blipFill>
        <p:spPr>
          <a:xfrm>
            <a:off x="8503920" y="1847088"/>
            <a:ext cx="384048" cy="384048"/>
          </a:xfrm>
          <a:prstGeom prst="rect">
            <a:avLst/>
          </a:prstGeom>
        </p:spPr>
      </p:pic>
      <p:sp>
        <p:nvSpPr>
          <p:cNvPr id="20" name="Text 14"/>
          <p:cNvSpPr txBox="1"/>
          <p:nvPr/>
        </p:nvSpPr>
        <p:spPr>
          <a:xfrm>
            <a:off x="9015984" y="1847088"/>
            <a:ext cx="2514600" cy="384048"/>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Fastify</a:t>
            </a:r>
            <a:endParaRPr lang="en-US" sz="1400" dirty="0"/>
          </a:p>
        </p:txBody>
      </p:sp>
      <p:sp>
        <p:nvSpPr>
          <p:cNvPr id="21" name="Text 15"/>
          <p:cNvSpPr txBox="1"/>
          <p:nvPr/>
        </p:nvSpPr>
        <p:spPr>
          <a:xfrm>
            <a:off x="8503920" y="2304288"/>
            <a:ext cx="3008376" cy="27432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Fokus pada kecepatan tinggi</a:t>
            </a:r>
            <a:endParaRPr lang="en-US" sz="1100" dirty="0"/>
          </a:p>
        </p:txBody>
      </p:sp>
      <p:sp>
        <p:nvSpPr>
          <p:cNvPr id="22" name="Shape 16"/>
          <p:cNvSpPr/>
          <p:nvPr/>
        </p:nvSpPr>
        <p:spPr>
          <a:xfrm>
            <a:off x="8503920" y="2596896"/>
            <a:ext cx="3008376" cy="329184"/>
          </a:xfrm>
          <a:prstGeom prst="roundRect">
            <a:avLst>
              <a:gd name="adj" fmla="val 22222"/>
            </a:avLst>
          </a:prstGeom>
          <a:solidFill>
            <a:srgbClr val="E8F2E2"/>
          </a:solidFill>
          <a:ln w="12700">
            <a:solidFill>
              <a:srgbClr val="E8F2E2"/>
            </a:solidFill>
            <a:prstDash val="solid"/>
          </a:ln>
        </p:spPr>
      </p:sp>
      <p:sp>
        <p:nvSpPr>
          <p:cNvPr id="23" name="Text 17"/>
          <p:cNvSpPr txBox="1"/>
          <p:nvPr/>
        </p:nvSpPr>
        <p:spPr>
          <a:xfrm>
            <a:off x="8503920" y="2596896"/>
            <a:ext cx="3008376" cy="329184"/>
          </a:xfrm>
          <a:prstGeom prst="rect">
            <a:avLst/>
          </a:prstGeom>
          <a:noFill/>
          <a:ln/>
        </p:spPr>
        <p:txBody>
          <a:bodyPr wrap="square" lIns="0" tIns="0" rIns="0" bIns="0" rtlCol="0" anchor="ctr"/>
          <a:lstStyle/>
          <a:p>
            <a:pPr algn="ctr" indent="0" marL="0">
              <a:buNone/>
            </a:pPr>
            <a:r>
              <a:rPr lang="en-US" sz="960" b="1" dirty="0">
                <a:solidFill>
                  <a:srgbClr val="3C873A"/>
                </a:solidFill>
                <a:latin typeface="Calibri" pitchFamily="34" charset="0"/>
                <a:ea typeface="Calibri" pitchFamily="34" charset="-122"/>
                <a:cs typeface="Calibri" pitchFamily="34" charset="-120"/>
              </a:rPr>
              <a:t>API dengan lalu lintas sangat padat</a:t>
            </a:r>
            <a:endParaRPr lang="en-US" sz="960" dirty="0"/>
          </a:p>
        </p:txBody>
      </p:sp>
      <p:sp>
        <p:nvSpPr>
          <p:cNvPr id="24" name="Shape 18"/>
          <p:cNvSpPr/>
          <p:nvPr/>
        </p:nvSpPr>
        <p:spPr>
          <a:xfrm>
            <a:off x="640080" y="3364992"/>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25" name="Image 4" descr="preencoded.png">    </p:cNvPr>
          <p:cNvPicPr>
            <a:picLocks noChangeAspect="1"/>
          </p:cNvPicPr>
          <p:nvPr/>
        </p:nvPicPr>
        <p:blipFill>
          <a:blip r:embed="rId5"/>
          <a:stretch>
            <a:fillRect/>
          </a:stretch>
        </p:blipFill>
        <p:spPr>
          <a:xfrm>
            <a:off x="896112" y="3602736"/>
            <a:ext cx="384048" cy="384048"/>
          </a:xfrm>
          <a:prstGeom prst="rect">
            <a:avLst/>
          </a:prstGeom>
        </p:spPr>
      </p:pic>
      <p:sp>
        <p:nvSpPr>
          <p:cNvPr id="26" name="Text 19"/>
          <p:cNvSpPr txBox="1"/>
          <p:nvPr/>
        </p:nvSpPr>
        <p:spPr>
          <a:xfrm>
            <a:off x="1408176" y="3602736"/>
            <a:ext cx="2514600" cy="384048"/>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Koa</a:t>
            </a:r>
            <a:endParaRPr lang="en-US" sz="1400" dirty="0"/>
          </a:p>
        </p:txBody>
      </p:sp>
      <p:sp>
        <p:nvSpPr>
          <p:cNvPr id="27" name="Text 20"/>
          <p:cNvSpPr txBox="1"/>
          <p:nvPr/>
        </p:nvSpPr>
        <p:spPr>
          <a:xfrm>
            <a:off x="896112" y="4059936"/>
            <a:ext cx="3008376" cy="27432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Ringan, dibuat tim Express</a:t>
            </a:r>
            <a:endParaRPr lang="en-US" sz="1100" dirty="0"/>
          </a:p>
        </p:txBody>
      </p:sp>
      <p:sp>
        <p:nvSpPr>
          <p:cNvPr id="28" name="Shape 21"/>
          <p:cNvSpPr/>
          <p:nvPr/>
        </p:nvSpPr>
        <p:spPr>
          <a:xfrm>
            <a:off x="896112" y="4352544"/>
            <a:ext cx="3008376" cy="329184"/>
          </a:xfrm>
          <a:prstGeom prst="roundRect">
            <a:avLst>
              <a:gd name="adj" fmla="val 22222"/>
            </a:avLst>
          </a:prstGeom>
          <a:solidFill>
            <a:srgbClr val="E8F2E2"/>
          </a:solidFill>
          <a:ln w="12700">
            <a:solidFill>
              <a:srgbClr val="E8F2E2"/>
            </a:solidFill>
            <a:prstDash val="solid"/>
          </a:ln>
        </p:spPr>
      </p:sp>
      <p:sp>
        <p:nvSpPr>
          <p:cNvPr id="29" name="Text 22"/>
          <p:cNvSpPr txBox="1"/>
          <p:nvPr/>
        </p:nvSpPr>
        <p:spPr>
          <a:xfrm>
            <a:off x="896112" y="4352544"/>
            <a:ext cx="3008376" cy="329184"/>
          </a:xfrm>
          <a:prstGeom prst="rect">
            <a:avLst/>
          </a:prstGeom>
          <a:noFill/>
          <a:ln/>
        </p:spPr>
        <p:txBody>
          <a:bodyPr wrap="square" lIns="0" tIns="0" rIns="0" bIns="0" rtlCol="0" anchor="ctr"/>
          <a:lstStyle/>
          <a:p>
            <a:pPr algn="ctr" indent="0" marL="0">
              <a:buNone/>
            </a:pPr>
            <a:r>
              <a:rPr lang="en-US" sz="960" b="1" dirty="0">
                <a:solidFill>
                  <a:srgbClr val="3C873A"/>
                </a:solidFill>
                <a:latin typeface="Calibri" pitchFamily="34" charset="0"/>
                <a:ea typeface="Calibri" pitchFamily="34" charset="-122"/>
                <a:cs typeface="Calibri" pitchFamily="34" charset="-120"/>
              </a:rPr>
              <a:t>Proyek yang butuh kendali penuh</a:t>
            </a:r>
            <a:endParaRPr lang="en-US" sz="960" dirty="0"/>
          </a:p>
        </p:txBody>
      </p:sp>
      <p:sp>
        <p:nvSpPr>
          <p:cNvPr id="30" name="Shape 23"/>
          <p:cNvSpPr/>
          <p:nvPr/>
        </p:nvSpPr>
        <p:spPr>
          <a:xfrm>
            <a:off x="4443984" y="3364992"/>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31" name="Image 5" descr="preencoded.png">    </p:cNvPr>
          <p:cNvPicPr>
            <a:picLocks noChangeAspect="1"/>
          </p:cNvPicPr>
          <p:nvPr/>
        </p:nvPicPr>
        <p:blipFill>
          <a:blip r:embed="rId6"/>
          <a:stretch>
            <a:fillRect/>
          </a:stretch>
        </p:blipFill>
        <p:spPr>
          <a:xfrm>
            <a:off x="4700016" y="3602736"/>
            <a:ext cx="384048" cy="384048"/>
          </a:xfrm>
          <a:prstGeom prst="rect">
            <a:avLst/>
          </a:prstGeom>
        </p:spPr>
      </p:pic>
      <p:sp>
        <p:nvSpPr>
          <p:cNvPr id="32" name="Text 24"/>
          <p:cNvSpPr txBox="1"/>
          <p:nvPr/>
        </p:nvSpPr>
        <p:spPr>
          <a:xfrm>
            <a:off x="5212080" y="3602736"/>
            <a:ext cx="2514600" cy="384048"/>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Next.js</a:t>
            </a:r>
            <a:endParaRPr lang="en-US" sz="1400" dirty="0"/>
          </a:p>
        </p:txBody>
      </p:sp>
      <p:sp>
        <p:nvSpPr>
          <p:cNvPr id="33" name="Text 25"/>
          <p:cNvSpPr txBox="1"/>
          <p:nvPr/>
        </p:nvSpPr>
        <p:spPr>
          <a:xfrm>
            <a:off x="4700016" y="4059936"/>
            <a:ext cx="3008376" cy="27432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Fullstack React di atas Node</a:t>
            </a:r>
            <a:endParaRPr lang="en-US" sz="1100" dirty="0"/>
          </a:p>
        </p:txBody>
      </p:sp>
      <p:sp>
        <p:nvSpPr>
          <p:cNvPr id="34" name="Shape 26"/>
          <p:cNvSpPr/>
          <p:nvPr/>
        </p:nvSpPr>
        <p:spPr>
          <a:xfrm>
            <a:off x="4700016" y="4352544"/>
            <a:ext cx="3008376" cy="329184"/>
          </a:xfrm>
          <a:prstGeom prst="roundRect">
            <a:avLst>
              <a:gd name="adj" fmla="val 22222"/>
            </a:avLst>
          </a:prstGeom>
          <a:solidFill>
            <a:srgbClr val="E8F2E2"/>
          </a:solidFill>
          <a:ln w="12700">
            <a:solidFill>
              <a:srgbClr val="E8F2E2"/>
            </a:solidFill>
            <a:prstDash val="solid"/>
          </a:ln>
        </p:spPr>
      </p:sp>
      <p:sp>
        <p:nvSpPr>
          <p:cNvPr id="35" name="Text 27"/>
          <p:cNvSpPr txBox="1"/>
          <p:nvPr/>
        </p:nvSpPr>
        <p:spPr>
          <a:xfrm>
            <a:off x="4700016" y="4352544"/>
            <a:ext cx="3008376" cy="329184"/>
          </a:xfrm>
          <a:prstGeom prst="rect">
            <a:avLst/>
          </a:prstGeom>
          <a:noFill/>
          <a:ln/>
        </p:spPr>
        <p:txBody>
          <a:bodyPr wrap="square" lIns="0" tIns="0" rIns="0" bIns="0" rtlCol="0" anchor="ctr"/>
          <a:lstStyle/>
          <a:p>
            <a:pPr algn="ctr" indent="0" marL="0">
              <a:buNone/>
            </a:pPr>
            <a:r>
              <a:rPr lang="en-US" sz="960" b="1" dirty="0">
                <a:solidFill>
                  <a:srgbClr val="3C873A"/>
                </a:solidFill>
                <a:latin typeface="Calibri" pitchFamily="34" charset="0"/>
                <a:ea typeface="Calibri" pitchFamily="34" charset="-122"/>
                <a:cs typeface="Calibri" pitchFamily="34" charset="-120"/>
              </a:rPr>
              <a:t>Situs web dan aplikasi fullstack</a:t>
            </a:r>
            <a:endParaRPr lang="en-US" sz="960" dirty="0"/>
          </a:p>
        </p:txBody>
      </p:sp>
      <p:sp>
        <p:nvSpPr>
          <p:cNvPr id="36" name="Shape 28"/>
          <p:cNvSpPr/>
          <p:nvPr/>
        </p:nvSpPr>
        <p:spPr>
          <a:xfrm>
            <a:off x="8247888" y="3364992"/>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37" name="Image 6" descr="preencoded.png">    </p:cNvPr>
          <p:cNvPicPr>
            <a:picLocks noChangeAspect="1"/>
          </p:cNvPicPr>
          <p:nvPr/>
        </p:nvPicPr>
        <p:blipFill>
          <a:blip r:embed="rId7"/>
          <a:stretch>
            <a:fillRect/>
          </a:stretch>
        </p:blipFill>
        <p:spPr>
          <a:xfrm>
            <a:off x="8503920" y="3602736"/>
            <a:ext cx="384048" cy="384048"/>
          </a:xfrm>
          <a:prstGeom prst="rect">
            <a:avLst/>
          </a:prstGeom>
        </p:spPr>
      </p:pic>
      <p:sp>
        <p:nvSpPr>
          <p:cNvPr id="38" name="Text 29"/>
          <p:cNvSpPr txBox="1"/>
          <p:nvPr/>
        </p:nvSpPr>
        <p:spPr>
          <a:xfrm>
            <a:off x="9015984" y="3602736"/>
            <a:ext cx="2514600" cy="384048"/>
          </a:xfrm>
          <a:prstGeom prst="rect">
            <a:avLst/>
          </a:prstGeom>
          <a:noFill/>
          <a:ln/>
        </p:spPr>
        <p:txBody>
          <a:bodyPr wrap="square" lIns="0" tIns="0" rIns="0" bIns="0" rtlCol="0" anchor="ctr"/>
          <a:lstStyle/>
          <a:p>
            <a:pPr indent="0" marL="0">
              <a:buNone/>
            </a:pPr>
            <a:r>
              <a:rPr lang="en-US" sz="1400" b="1" dirty="0">
                <a:solidFill>
                  <a:srgbClr val="16241B"/>
                </a:solidFill>
                <a:latin typeface="Arial" pitchFamily="34" charset="0"/>
                <a:ea typeface="Arial" pitchFamily="34" charset="-122"/>
                <a:cs typeface="Arial" pitchFamily="34" charset="-120"/>
              </a:rPr>
              <a:t>Socket.IO</a:t>
            </a:r>
            <a:endParaRPr lang="en-US" sz="1400" dirty="0"/>
          </a:p>
        </p:txBody>
      </p:sp>
      <p:sp>
        <p:nvSpPr>
          <p:cNvPr id="39" name="Text 30"/>
          <p:cNvSpPr txBox="1"/>
          <p:nvPr/>
        </p:nvSpPr>
        <p:spPr>
          <a:xfrm>
            <a:off x="8503920" y="4059936"/>
            <a:ext cx="3008376" cy="27432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Komunikasi dua arah real-time</a:t>
            </a:r>
            <a:endParaRPr lang="en-US" sz="1100" dirty="0"/>
          </a:p>
        </p:txBody>
      </p:sp>
      <p:sp>
        <p:nvSpPr>
          <p:cNvPr id="40" name="Shape 31"/>
          <p:cNvSpPr/>
          <p:nvPr/>
        </p:nvSpPr>
        <p:spPr>
          <a:xfrm>
            <a:off x="8503920" y="4352544"/>
            <a:ext cx="3008376" cy="329184"/>
          </a:xfrm>
          <a:prstGeom prst="roundRect">
            <a:avLst>
              <a:gd name="adj" fmla="val 22222"/>
            </a:avLst>
          </a:prstGeom>
          <a:solidFill>
            <a:srgbClr val="E8F2E2"/>
          </a:solidFill>
          <a:ln w="12700">
            <a:solidFill>
              <a:srgbClr val="E8F2E2"/>
            </a:solidFill>
            <a:prstDash val="solid"/>
          </a:ln>
        </p:spPr>
      </p:sp>
      <p:sp>
        <p:nvSpPr>
          <p:cNvPr id="41" name="Text 32"/>
          <p:cNvSpPr txBox="1"/>
          <p:nvPr/>
        </p:nvSpPr>
        <p:spPr>
          <a:xfrm>
            <a:off x="8503920" y="4352544"/>
            <a:ext cx="3008376" cy="329184"/>
          </a:xfrm>
          <a:prstGeom prst="rect">
            <a:avLst/>
          </a:prstGeom>
          <a:noFill/>
          <a:ln/>
        </p:spPr>
        <p:txBody>
          <a:bodyPr wrap="square" lIns="0" tIns="0" rIns="0" bIns="0" rtlCol="0" anchor="ctr"/>
          <a:lstStyle/>
          <a:p>
            <a:pPr algn="ctr" indent="0" marL="0">
              <a:buNone/>
            </a:pPr>
            <a:r>
              <a:rPr lang="en-US" sz="960" b="1" dirty="0">
                <a:solidFill>
                  <a:srgbClr val="3C873A"/>
                </a:solidFill>
                <a:latin typeface="Calibri" pitchFamily="34" charset="0"/>
                <a:ea typeface="Calibri" pitchFamily="34" charset="-122"/>
                <a:cs typeface="Calibri" pitchFamily="34" charset="-120"/>
              </a:rPr>
              <a:t>Obrolan, notifikasi, papan langsung</a:t>
            </a:r>
            <a:endParaRPr lang="en-US" sz="960" dirty="0"/>
          </a:p>
        </p:txBody>
      </p:sp>
      <p:sp>
        <p:nvSpPr>
          <p:cNvPr id="42" name="Text 33"/>
          <p:cNvSpPr txBox="1"/>
          <p:nvPr/>
        </p:nvSpPr>
        <p:spPr>
          <a:xfrm>
            <a:off x="640080" y="5029200"/>
            <a:ext cx="10972800" cy="457200"/>
          </a:xfrm>
          <a:prstGeom prst="rect">
            <a:avLst/>
          </a:prstGeom>
          <a:noFill/>
          <a:ln/>
        </p:spPr>
        <p:txBody>
          <a:bodyPr wrap="square" lIns="0" tIns="0" rIns="0" bIns="0" rtlCol="0" anchor="ctr"/>
          <a:lstStyle/>
          <a:p>
            <a:pPr indent="0" marL="0">
              <a:buNone/>
            </a:pPr>
            <a:r>
              <a:rPr lang="en-US" sz="1100" dirty="0">
                <a:solidFill>
                  <a:srgbClr val="5F6F62"/>
                </a:solidFill>
                <a:latin typeface="Calibri" pitchFamily="34" charset="0"/>
                <a:ea typeface="Calibri" pitchFamily="34" charset="-122"/>
                <a:cs typeface="Calibri" pitchFamily="34" charset="-120"/>
              </a:rPr>
              <a:t>Node.js juga menjadi fondasi bagi alat pengembangan lain seperti Webpack, Vite, ESLint, dan Electron — sehingga menguasainya bermanfaat jauh melampaui pembuatan server.</a:t>
            </a:r>
            <a:endParaRPr lang="en-US" sz="1100" dirty="0"/>
          </a:p>
        </p:txBody>
      </p:sp>
      <p:pic>
        <p:nvPicPr>
          <p:cNvPr id="43" name="Image 7" descr="preencoded.png">    </p:cNvPr>
          <p:cNvPicPr>
            <a:picLocks noChangeAspect="1"/>
          </p:cNvPicPr>
          <p:nvPr/>
        </p:nvPicPr>
        <p:blipFill>
          <a:blip r:embed="rId8"/>
          <a:stretch>
            <a:fillRect/>
          </a:stretch>
        </p:blipFill>
        <p:spPr>
          <a:xfrm>
            <a:off x="640080" y="5577840"/>
            <a:ext cx="347472" cy="347472"/>
          </a:xfrm>
          <a:prstGeom prst="rect">
            <a:avLst/>
          </a:prstGeom>
        </p:spPr>
      </p:pic>
      <p:pic>
        <p:nvPicPr>
          <p:cNvPr id="44" name="Image 8" descr="preencoded.png">    </p:cNvPr>
          <p:cNvPicPr>
            <a:picLocks noChangeAspect="1"/>
          </p:cNvPicPr>
          <p:nvPr/>
        </p:nvPicPr>
        <p:blipFill>
          <a:blip r:embed="rId9"/>
          <a:stretch>
            <a:fillRect/>
          </a:stretch>
        </p:blipFill>
        <p:spPr>
          <a:xfrm>
            <a:off x="1207008" y="5577840"/>
            <a:ext cx="347472" cy="347472"/>
          </a:xfrm>
          <a:prstGeom prst="rect">
            <a:avLst/>
          </a:prstGeom>
        </p:spPr>
      </p:pic>
      <p:pic>
        <p:nvPicPr>
          <p:cNvPr id="45" name="Image 9" descr="preencoded.png">    </p:cNvPr>
          <p:cNvPicPr>
            <a:picLocks noChangeAspect="1"/>
          </p:cNvPicPr>
          <p:nvPr/>
        </p:nvPicPr>
        <p:blipFill>
          <a:blip r:embed="rId10"/>
          <a:stretch>
            <a:fillRect/>
          </a:stretch>
        </p:blipFill>
        <p:spPr>
          <a:xfrm>
            <a:off x="1773936" y="5577840"/>
            <a:ext cx="347472" cy="347472"/>
          </a:xfrm>
          <a:prstGeom prst="rect">
            <a:avLst/>
          </a:prstGeom>
        </p:spPr>
      </p:pic>
      <p:pic>
        <p:nvPicPr>
          <p:cNvPr id="46" name="Image 10" descr="preencoded.png">    </p:cNvPr>
          <p:cNvPicPr>
            <a:picLocks noChangeAspect="1"/>
          </p:cNvPicPr>
          <p:nvPr/>
        </p:nvPicPr>
        <p:blipFill>
          <a:blip r:embed="rId11"/>
          <a:stretch>
            <a:fillRect/>
          </a:stretch>
        </p:blipFill>
        <p:spPr>
          <a:xfrm>
            <a:off x="2340864" y="5577840"/>
            <a:ext cx="347472" cy="347472"/>
          </a:xfrm>
          <a:prstGeom prst="rect">
            <a:avLst/>
          </a:prstGeom>
        </p:spPr>
      </p:pic>
      <p:pic>
        <p:nvPicPr>
          <p:cNvPr id="47" name="Image 11" descr="preencoded.png">    </p:cNvPr>
          <p:cNvPicPr>
            <a:picLocks noChangeAspect="1"/>
          </p:cNvPicPr>
          <p:nvPr/>
        </p:nvPicPr>
        <p:blipFill>
          <a:blip r:embed="rId12"/>
          <a:stretch>
            <a:fillRect/>
          </a:stretch>
        </p:blipFill>
        <p:spPr>
          <a:xfrm>
            <a:off x="2907792" y="5577840"/>
            <a:ext cx="347472" cy="347472"/>
          </a:xfrm>
          <a:prstGeom prst="rect">
            <a:avLst/>
          </a:prstGeom>
        </p:spPr>
      </p:pic>
      <p:pic>
        <p:nvPicPr>
          <p:cNvPr id="48" name="Image 12" descr="preencoded.png">    </p:cNvPr>
          <p:cNvPicPr>
            <a:picLocks noChangeAspect="1"/>
          </p:cNvPicPr>
          <p:nvPr/>
        </p:nvPicPr>
        <p:blipFill>
          <a:blip r:embed="rId13"/>
          <a:stretch>
            <a:fillRect/>
          </a:stretch>
        </p:blipFill>
        <p:spPr>
          <a:xfrm>
            <a:off x="3474720" y="5577840"/>
            <a:ext cx="347472" cy="347472"/>
          </a:xfrm>
          <a:prstGeom prst="rect">
            <a:avLst/>
          </a:prstGeom>
        </p:spPr>
      </p:pic>
      <p:sp>
        <p:nvSpPr>
          <p:cNvPr id="49" name="Text 34"/>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0" name="Text 35"/>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Kelebihan dan Kekurangan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Penilaian jujur agar pemilihan teknologi tepat sasaran</a:t>
            </a:r>
            <a:endParaRPr lang="en-US" sz="1300" dirty="0"/>
          </a:p>
        </p:txBody>
      </p:sp>
      <p:sp>
        <p:nvSpPr>
          <p:cNvPr id="6" name="Shape 3"/>
          <p:cNvSpPr/>
          <p:nvPr/>
        </p:nvSpPr>
        <p:spPr>
          <a:xfrm>
            <a:off x="640080" y="1609344"/>
            <a:ext cx="5349240" cy="420624"/>
          </a:xfrm>
          <a:prstGeom prst="roundRect">
            <a:avLst>
              <a:gd name="adj" fmla="val 17391"/>
            </a:avLst>
          </a:prstGeom>
          <a:solidFill>
            <a:srgbClr val="3C873A"/>
          </a:solidFill>
          <a:ln w="12700">
            <a:solidFill>
              <a:srgbClr val="3C873A"/>
            </a:solidFill>
            <a:prstDash val="solid"/>
          </a:ln>
        </p:spPr>
      </p:sp>
      <p:sp>
        <p:nvSpPr>
          <p:cNvPr id="7" name="Text 4"/>
          <p:cNvSpPr txBox="1"/>
          <p:nvPr/>
        </p:nvSpPr>
        <p:spPr>
          <a:xfrm>
            <a:off x="868680" y="1609344"/>
            <a:ext cx="4892040" cy="420624"/>
          </a:xfrm>
          <a:prstGeom prst="rect">
            <a:avLst/>
          </a:prstGeom>
          <a:noFill/>
          <a:ln/>
        </p:spPr>
        <p:txBody>
          <a:bodyPr wrap="square" lIns="0" tIns="0" rIns="0" bIns="0" rtlCol="0" anchor="ctr"/>
          <a:lstStyle/>
          <a:p>
            <a:pPr indent="0" marL="0">
              <a:buNone/>
            </a:pPr>
            <a:r>
              <a:rPr lang="en-US" sz="1300" b="1" spc="120" kern="0" dirty="0">
                <a:solidFill>
                  <a:srgbClr val="FFFFFF"/>
                </a:solidFill>
                <a:latin typeface="Arial" pitchFamily="34" charset="0"/>
                <a:ea typeface="Arial" pitchFamily="34" charset="-122"/>
                <a:cs typeface="Arial" pitchFamily="34" charset="-120"/>
              </a:rPr>
              <a:t>KELEBIHAN</a:t>
            </a:r>
            <a:endParaRPr lang="en-US" sz="1300" dirty="0"/>
          </a:p>
        </p:txBody>
      </p:sp>
      <p:sp>
        <p:nvSpPr>
          <p:cNvPr id="8" name="Shape 5"/>
          <p:cNvSpPr/>
          <p:nvPr/>
        </p:nvSpPr>
        <p:spPr>
          <a:xfrm>
            <a:off x="640080" y="2139696"/>
            <a:ext cx="420624" cy="420624"/>
          </a:xfrm>
          <a:prstGeom prst="roundRect">
            <a:avLst>
              <a:gd name="adj" fmla="val 26087"/>
            </a:avLst>
          </a:prstGeom>
          <a:solidFill>
            <a:srgbClr val="E8F2E2"/>
          </a:solidFill>
          <a:ln w="12700">
            <a:solidFill>
              <a:srgbClr val="E8F2E2"/>
            </a:solidFill>
            <a:prstDash val="solid"/>
          </a:ln>
        </p:spPr>
      </p:sp>
      <p:pic>
        <p:nvPicPr>
          <p:cNvPr id="9" name="Image 1" descr="preencoded.png">    </p:cNvPr>
          <p:cNvPicPr>
            <a:picLocks noChangeAspect="1"/>
          </p:cNvPicPr>
          <p:nvPr/>
        </p:nvPicPr>
        <p:blipFill>
          <a:blip r:embed="rId2"/>
          <a:stretch>
            <a:fillRect/>
          </a:stretch>
        </p:blipFill>
        <p:spPr>
          <a:xfrm>
            <a:off x="745236" y="2244852"/>
            <a:ext cx="210312" cy="210312"/>
          </a:xfrm>
          <a:prstGeom prst="rect">
            <a:avLst/>
          </a:prstGeom>
        </p:spPr>
      </p:pic>
      <p:sp>
        <p:nvSpPr>
          <p:cNvPr id="10" name="Text 6"/>
          <p:cNvSpPr txBox="1"/>
          <p:nvPr/>
        </p:nvSpPr>
        <p:spPr>
          <a:xfrm>
            <a:off x="1207008" y="212140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Sangat cepat untuk I/O</a:t>
            </a:r>
            <a:endParaRPr lang="en-US" sz="1250" dirty="0"/>
          </a:p>
        </p:txBody>
      </p:sp>
      <p:sp>
        <p:nvSpPr>
          <p:cNvPr id="11" name="Text 7"/>
          <p:cNvSpPr txBox="1"/>
          <p:nvPr/>
        </p:nvSpPr>
        <p:spPr>
          <a:xfrm>
            <a:off x="1207008" y="237744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Model non-blocking membuat Node.js unggul menangani ribuan koneksi bersamaan.</a:t>
            </a:r>
            <a:endParaRPr lang="en-US" sz="1100" dirty="0"/>
          </a:p>
        </p:txBody>
      </p:sp>
      <p:sp>
        <p:nvSpPr>
          <p:cNvPr id="12" name="Shape 8"/>
          <p:cNvSpPr/>
          <p:nvPr/>
        </p:nvSpPr>
        <p:spPr>
          <a:xfrm>
            <a:off x="640080" y="2798064"/>
            <a:ext cx="420624" cy="420624"/>
          </a:xfrm>
          <a:prstGeom prst="roundRect">
            <a:avLst>
              <a:gd name="adj" fmla="val 26087"/>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745236" y="2903220"/>
            <a:ext cx="210312" cy="210312"/>
          </a:xfrm>
          <a:prstGeom prst="rect">
            <a:avLst/>
          </a:prstGeom>
        </p:spPr>
      </p:pic>
      <p:sp>
        <p:nvSpPr>
          <p:cNvPr id="14" name="Text 9"/>
          <p:cNvSpPr txBox="1"/>
          <p:nvPr/>
        </p:nvSpPr>
        <p:spPr>
          <a:xfrm>
            <a:off x="1207008" y="2779776"/>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Satu bahasa penuh</a:t>
            </a:r>
            <a:endParaRPr lang="en-US" sz="1250" dirty="0"/>
          </a:p>
        </p:txBody>
      </p:sp>
      <p:sp>
        <p:nvSpPr>
          <p:cNvPr id="15" name="Text 10"/>
          <p:cNvSpPr txBox="1"/>
          <p:nvPr/>
        </p:nvSpPr>
        <p:spPr>
          <a:xfrm>
            <a:off x="1207008" y="3035808"/>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JavaScript dipakai di frontend maupun backend sehingga tim lebih efisien.</a:t>
            </a:r>
            <a:endParaRPr lang="en-US" sz="1100" dirty="0"/>
          </a:p>
        </p:txBody>
      </p:sp>
      <p:sp>
        <p:nvSpPr>
          <p:cNvPr id="16" name="Shape 11"/>
          <p:cNvSpPr/>
          <p:nvPr/>
        </p:nvSpPr>
        <p:spPr>
          <a:xfrm>
            <a:off x="640080" y="3456432"/>
            <a:ext cx="420624" cy="420624"/>
          </a:xfrm>
          <a:prstGeom prst="roundRect">
            <a:avLst>
              <a:gd name="adj" fmla="val 26087"/>
            </a:avLst>
          </a:prstGeom>
          <a:solidFill>
            <a:srgbClr val="E8F2E2"/>
          </a:solidFill>
          <a:ln w="12700">
            <a:solidFill>
              <a:srgbClr val="E8F2E2"/>
            </a:solidFill>
            <a:prstDash val="solid"/>
          </a:ln>
        </p:spPr>
      </p:sp>
      <p:pic>
        <p:nvPicPr>
          <p:cNvPr id="17" name="Image 3" descr="preencoded.png">    </p:cNvPr>
          <p:cNvPicPr>
            <a:picLocks noChangeAspect="1"/>
          </p:cNvPicPr>
          <p:nvPr/>
        </p:nvPicPr>
        <p:blipFill>
          <a:blip r:embed="rId4"/>
          <a:stretch>
            <a:fillRect/>
          </a:stretch>
        </p:blipFill>
        <p:spPr>
          <a:xfrm>
            <a:off x="745236" y="3561588"/>
            <a:ext cx="210312" cy="210312"/>
          </a:xfrm>
          <a:prstGeom prst="rect">
            <a:avLst/>
          </a:prstGeom>
        </p:spPr>
      </p:pic>
      <p:sp>
        <p:nvSpPr>
          <p:cNvPr id="18" name="Text 12"/>
          <p:cNvSpPr txBox="1"/>
          <p:nvPr/>
        </p:nvSpPr>
        <p:spPr>
          <a:xfrm>
            <a:off x="1207008" y="3438144"/>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Ekosistem NPM raksasa</a:t>
            </a:r>
            <a:endParaRPr lang="en-US" sz="1250" dirty="0"/>
          </a:p>
        </p:txBody>
      </p:sp>
      <p:sp>
        <p:nvSpPr>
          <p:cNvPr id="19" name="Text 13"/>
          <p:cNvSpPr txBox="1"/>
          <p:nvPr/>
        </p:nvSpPr>
        <p:spPr>
          <a:xfrm>
            <a:off x="1207008" y="3694176"/>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Jutaan paket siap pakai memangkas waktu pengembangan secara drastis.</a:t>
            </a:r>
            <a:endParaRPr lang="en-US" sz="1100" dirty="0"/>
          </a:p>
        </p:txBody>
      </p:sp>
      <p:sp>
        <p:nvSpPr>
          <p:cNvPr id="20" name="Shape 14"/>
          <p:cNvSpPr/>
          <p:nvPr/>
        </p:nvSpPr>
        <p:spPr>
          <a:xfrm>
            <a:off x="640080" y="4114800"/>
            <a:ext cx="420624" cy="420624"/>
          </a:xfrm>
          <a:prstGeom prst="roundRect">
            <a:avLst>
              <a:gd name="adj" fmla="val 26087"/>
            </a:avLst>
          </a:prstGeom>
          <a:solidFill>
            <a:srgbClr val="E8F2E2"/>
          </a:solidFill>
          <a:ln w="12700">
            <a:solidFill>
              <a:srgbClr val="E8F2E2"/>
            </a:solidFill>
            <a:prstDash val="solid"/>
          </a:ln>
        </p:spPr>
      </p:sp>
      <p:pic>
        <p:nvPicPr>
          <p:cNvPr id="21" name="Image 4" descr="preencoded.png">    </p:cNvPr>
          <p:cNvPicPr>
            <a:picLocks noChangeAspect="1"/>
          </p:cNvPicPr>
          <p:nvPr/>
        </p:nvPicPr>
        <p:blipFill>
          <a:blip r:embed="rId5"/>
          <a:stretch>
            <a:fillRect/>
          </a:stretch>
        </p:blipFill>
        <p:spPr>
          <a:xfrm>
            <a:off x="745236" y="4219956"/>
            <a:ext cx="210312" cy="210312"/>
          </a:xfrm>
          <a:prstGeom prst="rect">
            <a:avLst/>
          </a:prstGeom>
        </p:spPr>
      </p:pic>
      <p:sp>
        <p:nvSpPr>
          <p:cNvPr id="22" name="Text 15"/>
          <p:cNvSpPr txBox="1"/>
          <p:nvPr/>
        </p:nvSpPr>
        <p:spPr>
          <a:xfrm>
            <a:off x="1207008" y="4096512"/>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Komunitas besar</a:t>
            </a:r>
            <a:endParaRPr lang="en-US" sz="1250" dirty="0"/>
          </a:p>
        </p:txBody>
      </p:sp>
      <p:sp>
        <p:nvSpPr>
          <p:cNvPr id="23" name="Text 16"/>
          <p:cNvSpPr txBox="1"/>
          <p:nvPr/>
        </p:nvSpPr>
        <p:spPr>
          <a:xfrm>
            <a:off x="1207008" y="4352544"/>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Dokumentasi, tutorial, dan jawaban atas masalah sangat mudah ditemukan.</a:t>
            </a:r>
            <a:endParaRPr lang="en-US" sz="1100" dirty="0"/>
          </a:p>
        </p:txBody>
      </p:sp>
      <p:sp>
        <p:nvSpPr>
          <p:cNvPr id="24" name="Shape 17"/>
          <p:cNvSpPr/>
          <p:nvPr/>
        </p:nvSpPr>
        <p:spPr>
          <a:xfrm>
            <a:off x="640080" y="4773168"/>
            <a:ext cx="420624" cy="420624"/>
          </a:xfrm>
          <a:prstGeom prst="roundRect">
            <a:avLst>
              <a:gd name="adj" fmla="val 26087"/>
            </a:avLst>
          </a:prstGeom>
          <a:solidFill>
            <a:srgbClr val="E8F2E2"/>
          </a:solidFill>
          <a:ln w="12700">
            <a:solidFill>
              <a:srgbClr val="E8F2E2"/>
            </a:solidFill>
            <a:prstDash val="solid"/>
          </a:ln>
        </p:spPr>
      </p:sp>
      <p:pic>
        <p:nvPicPr>
          <p:cNvPr id="25" name="Image 5" descr="preencoded.png">    </p:cNvPr>
          <p:cNvPicPr>
            <a:picLocks noChangeAspect="1"/>
          </p:cNvPicPr>
          <p:nvPr/>
        </p:nvPicPr>
        <p:blipFill>
          <a:blip r:embed="rId6"/>
          <a:stretch>
            <a:fillRect/>
          </a:stretch>
        </p:blipFill>
        <p:spPr>
          <a:xfrm>
            <a:off x="745236" y="4878324"/>
            <a:ext cx="210312" cy="210312"/>
          </a:xfrm>
          <a:prstGeom prst="rect">
            <a:avLst/>
          </a:prstGeom>
        </p:spPr>
      </p:pic>
      <p:sp>
        <p:nvSpPr>
          <p:cNvPr id="26" name="Text 18"/>
          <p:cNvSpPr txBox="1"/>
          <p:nvPr/>
        </p:nvSpPr>
        <p:spPr>
          <a:xfrm>
            <a:off x="1207008" y="4754880"/>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Cocok untuk real-time</a:t>
            </a:r>
            <a:endParaRPr lang="en-US" sz="1250" dirty="0"/>
          </a:p>
        </p:txBody>
      </p:sp>
      <p:sp>
        <p:nvSpPr>
          <p:cNvPr id="27" name="Text 19"/>
          <p:cNvSpPr txBox="1"/>
          <p:nvPr/>
        </p:nvSpPr>
        <p:spPr>
          <a:xfrm>
            <a:off x="1207008" y="5010912"/>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Pola event-driven sangat pas untuk obrolan, notifikasi, dan data langsung.</a:t>
            </a:r>
            <a:endParaRPr lang="en-US" sz="1100" dirty="0"/>
          </a:p>
        </p:txBody>
      </p:sp>
      <p:sp>
        <p:nvSpPr>
          <p:cNvPr id="28" name="Shape 20"/>
          <p:cNvSpPr/>
          <p:nvPr/>
        </p:nvSpPr>
        <p:spPr>
          <a:xfrm>
            <a:off x="640080" y="5431536"/>
            <a:ext cx="420624" cy="420624"/>
          </a:xfrm>
          <a:prstGeom prst="roundRect">
            <a:avLst>
              <a:gd name="adj" fmla="val 26087"/>
            </a:avLst>
          </a:prstGeom>
          <a:solidFill>
            <a:srgbClr val="E8F2E2"/>
          </a:solidFill>
          <a:ln w="12700">
            <a:solidFill>
              <a:srgbClr val="E8F2E2"/>
            </a:solidFill>
            <a:prstDash val="solid"/>
          </a:ln>
        </p:spPr>
      </p:sp>
      <p:pic>
        <p:nvPicPr>
          <p:cNvPr id="29" name="Image 6" descr="preencoded.png">    </p:cNvPr>
          <p:cNvPicPr>
            <a:picLocks noChangeAspect="1"/>
          </p:cNvPicPr>
          <p:nvPr/>
        </p:nvPicPr>
        <p:blipFill>
          <a:blip r:embed="rId7"/>
          <a:stretch>
            <a:fillRect/>
          </a:stretch>
        </p:blipFill>
        <p:spPr>
          <a:xfrm>
            <a:off x="745236" y="5536692"/>
            <a:ext cx="210312" cy="210312"/>
          </a:xfrm>
          <a:prstGeom prst="rect">
            <a:avLst/>
          </a:prstGeom>
        </p:spPr>
      </p:pic>
      <p:sp>
        <p:nvSpPr>
          <p:cNvPr id="30" name="Text 21"/>
          <p:cNvSpPr txBox="1"/>
          <p:nvPr/>
        </p:nvSpPr>
        <p:spPr>
          <a:xfrm>
            <a:off x="1207008" y="541324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Ringan dan hemat sumber daya</a:t>
            </a:r>
            <a:endParaRPr lang="en-US" sz="1250" dirty="0"/>
          </a:p>
        </p:txBody>
      </p:sp>
      <p:sp>
        <p:nvSpPr>
          <p:cNvPr id="31" name="Text 22"/>
          <p:cNvSpPr txBox="1"/>
          <p:nvPr/>
        </p:nvSpPr>
        <p:spPr>
          <a:xfrm>
            <a:off x="1207008" y="566928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Konsumsi memori rendah dibanding model satu thread per koneksi.</a:t>
            </a:r>
            <a:endParaRPr lang="en-US" sz="1100" dirty="0"/>
          </a:p>
        </p:txBody>
      </p:sp>
      <p:sp>
        <p:nvSpPr>
          <p:cNvPr id="32" name="Shape 23"/>
          <p:cNvSpPr/>
          <p:nvPr/>
        </p:nvSpPr>
        <p:spPr>
          <a:xfrm>
            <a:off x="6263640" y="1609344"/>
            <a:ext cx="5349240" cy="420624"/>
          </a:xfrm>
          <a:prstGeom prst="roundRect">
            <a:avLst>
              <a:gd name="adj" fmla="val 17391"/>
            </a:avLst>
          </a:prstGeom>
          <a:solidFill>
            <a:srgbClr val="C0392B"/>
          </a:solidFill>
          <a:ln w="12700">
            <a:solidFill>
              <a:srgbClr val="C0392B"/>
            </a:solidFill>
            <a:prstDash val="solid"/>
          </a:ln>
        </p:spPr>
      </p:sp>
      <p:sp>
        <p:nvSpPr>
          <p:cNvPr id="33" name="Text 24"/>
          <p:cNvSpPr txBox="1"/>
          <p:nvPr/>
        </p:nvSpPr>
        <p:spPr>
          <a:xfrm>
            <a:off x="6492240" y="1609344"/>
            <a:ext cx="4892040" cy="420624"/>
          </a:xfrm>
          <a:prstGeom prst="rect">
            <a:avLst/>
          </a:prstGeom>
          <a:noFill/>
          <a:ln/>
        </p:spPr>
        <p:txBody>
          <a:bodyPr wrap="square" lIns="0" tIns="0" rIns="0" bIns="0" rtlCol="0" anchor="ctr"/>
          <a:lstStyle/>
          <a:p>
            <a:pPr indent="0" marL="0">
              <a:buNone/>
            </a:pPr>
            <a:r>
              <a:rPr lang="en-US" sz="1300" b="1" spc="120" kern="0" dirty="0">
                <a:solidFill>
                  <a:srgbClr val="FFFFFF"/>
                </a:solidFill>
                <a:latin typeface="Arial" pitchFamily="34" charset="0"/>
                <a:ea typeface="Arial" pitchFamily="34" charset="-122"/>
                <a:cs typeface="Arial" pitchFamily="34" charset="-120"/>
              </a:rPr>
              <a:t>KEKURANGAN</a:t>
            </a:r>
            <a:endParaRPr lang="en-US" sz="1300" dirty="0"/>
          </a:p>
        </p:txBody>
      </p:sp>
      <p:sp>
        <p:nvSpPr>
          <p:cNvPr id="34" name="Shape 25"/>
          <p:cNvSpPr/>
          <p:nvPr/>
        </p:nvSpPr>
        <p:spPr>
          <a:xfrm>
            <a:off x="6263640" y="2139696"/>
            <a:ext cx="420624" cy="420624"/>
          </a:xfrm>
          <a:prstGeom prst="roundRect">
            <a:avLst>
              <a:gd name="adj" fmla="val 26087"/>
            </a:avLst>
          </a:prstGeom>
          <a:solidFill>
            <a:srgbClr val="FBE9E7"/>
          </a:solidFill>
          <a:ln w="12700">
            <a:solidFill>
              <a:srgbClr val="FBE9E7"/>
            </a:solidFill>
            <a:prstDash val="solid"/>
          </a:ln>
        </p:spPr>
      </p:sp>
      <p:pic>
        <p:nvPicPr>
          <p:cNvPr id="35" name="Image 7" descr="preencoded.png">    </p:cNvPr>
          <p:cNvPicPr>
            <a:picLocks noChangeAspect="1"/>
          </p:cNvPicPr>
          <p:nvPr/>
        </p:nvPicPr>
        <p:blipFill>
          <a:blip r:embed="rId8"/>
          <a:stretch>
            <a:fillRect/>
          </a:stretch>
        </p:blipFill>
        <p:spPr>
          <a:xfrm>
            <a:off x="6368796" y="2244852"/>
            <a:ext cx="210312" cy="210312"/>
          </a:xfrm>
          <a:prstGeom prst="rect">
            <a:avLst/>
          </a:prstGeom>
        </p:spPr>
      </p:pic>
      <p:sp>
        <p:nvSpPr>
          <p:cNvPr id="36" name="Text 26"/>
          <p:cNvSpPr txBox="1"/>
          <p:nvPr/>
        </p:nvSpPr>
        <p:spPr>
          <a:xfrm>
            <a:off x="6830568" y="212140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Lemah untuk tugas CPU berat</a:t>
            </a:r>
            <a:endParaRPr lang="en-US" sz="1250" dirty="0"/>
          </a:p>
        </p:txBody>
      </p:sp>
      <p:sp>
        <p:nvSpPr>
          <p:cNvPr id="37" name="Text 27"/>
          <p:cNvSpPr txBox="1"/>
          <p:nvPr/>
        </p:nvSpPr>
        <p:spPr>
          <a:xfrm>
            <a:off x="6830568" y="237744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Komputasi berat memblokir event loop dan menghambat seluruh permintaan lain.</a:t>
            </a:r>
            <a:endParaRPr lang="en-US" sz="1100" dirty="0"/>
          </a:p>
        </p:txBody>
      </p:sp>
      <p:sp>
        <p:nvSpPr>
          <p:cNvPr id="38" name="Shape 28"/>
          <p:cNvSpPr/>
          <p:nvPr/>
        </p:nvSpPr>
        <p:spPr>
          <a:xfrm>
            <a:off x="6263640" y="2798064"/>
            <a:ext cx="420624" cy="420624"/>
          </a:xfrm>
          <a:prstGeom prst="roundRect">
            <a:avLst>
              <a:gd name="adj" fmla="val 26087"/>
            </a:avLst>
          </a:prstGeom>
          <a:solidFill>
            <a:srgbClr val="FBE9E7"/>
          </a:solidFill>
          <a:ln w="12700">
            <a:solidFill>
              <a:srgbClr val="FBE9E7"/>
            </a:solidFill>
            <a:prstDash val="solid"/>
          </a:ln>
        </p:spPr>
      </p:sp>
      <p:pic>
        <p:nvPicPr>
          <p:cNvPr id="39" name="Image 8" descr="preencoded.png">    </p:cNvPr>
          <p:cNvPicPr>
            <a:picLocks noChangeAspect="1"/>
          </p:cNvPicPr>
          <p:nvPr/>
        </p:nvPicPr>
        <p:blipFill>
          <a:blip r:embed="rId9"/>
          <a:stretch>
            <a:fillRect/>
          </a:stretch>
        </p:blipFill>
        <p:spPr>
          <a:xfrm>
            <a:off x="6368796" y="2903220"/>
            <a:ext cx="210312" cy="210312"/>
          </a:xfrm>
          <a:prstGeom prst="rect">
            <a:avLst/>
          </a:prstGeom>
        </p:spPr>
      </p:pic>
      <p:sp>
        <p:nvSpPr>
          <p:cNvPr id="40" name="Text 29"/>
          <p:cNvSpPr txBox="1"/>
          <p:nvPr/>
        </p:nvSpPr>
        <p:spPr>
          <a:xfrm>
            <a:off x="6830568" y="2779776"/>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Callback dan asinkron menantang</a:t>
            </a:r>
            <a:endParaRPr lang="en-US" sz="1250" dirty="0"/>
          </a:p>
        </p:txBody>
      </p:sp>
      <p:sp>
        <p:nvSpPr>
          <p:cNvPr id="41" name="Text 30"/>
          <p:cNvSpPr txBox="1"/>
          <p:nvPr/>
        </p:nvSpPr>
        <p:spPr>
          <a:xfrm>
            <a:off x="6830568" y="3035808"/>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Alur asinkron sulit dipahami pemula dan rawan menimbulkan bug halus.</a:t>
            </a:r>
            <a:endParaRPr lang="en-US" sz="1100" dirty="0"/>
          </a:p>
        </p:txBody>
      </p:sp>
      <p:sp>
        <p:nvSpPr>
          <p:cNvPr id="42" name="Shape 31"/>
          <p:cNvSpPr/>
          <p:nvPr/>
        </p:nvSpPr>
        <p:spPr>
          <a:xfrm>
            <a:off x="6263640" y="3456432"/>
            <a:ext cx="420624" cy="420624"/>
          </a:xfrm>
          <a:prstGeom prst="roundRect">
            <a:avLst>
              <a:gd name="adj" fmla="val 26087"/>
            </a:avLst>
          </a:prstGeom>
          <a:solidFill>
            <a:srgbClr val="FBE9E7"/>
          </a:solidFill>
          <a:ln w="12700">
            <a:solidFill>
              <a:srgbClr val="FBE9E7"/>
            </a:solidFill>
            <a:prstDash val="solid"/>
          </a:ln>
        </p:spPr>
      </p:sp>
      <p:pic>
        <p:nvPicPr>
          <p:cNvPr id="43" name="Image 9" descr="preencoded.png">    </p:cNvPr>
          <p:cNvPicPr>
            <a:picLocks noChangeAspect="1"/>
          </p:cNvPicPr>
          <p:nvPr/>
        </p:nvPicPr>
        <p:blipFill>
          <a:blip r:embed="rId10"/>
          <a:stretch>
            <a:fillRect/>
          </a:stretch>
        </p:blipFill>
        <p:spPr>
          <a:xfrm>
            <a:off x="6368796" y="3561588"/>
            <a:ext cx="210312" cy="210312"/>
          </a:xfrm>
          <a:prstGeom prst="rect">
            <a:avLst/>
          </a:prstGeom>
        </p:spPr>
      </p:pic>
      <p:sp>
        <p:nvSpPr>
          <p:cNvPr id="44" name="Text 32"/>
          <p:cNvSpPr txBox="1"/>
          <p:nvPr/>
        </p:nvSpPr>
        <p:spPr>
          <a:xfrm>
            <a:off x="6830568" y="3438144"/>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Kualitas paket beragam</a:t>
            </a:r>
            <a:endParaRPr lang="en-US" sz="1250" dirty="0"/>
          </a:p>
        </p:txBody>
      </p:sp>
      <p:sp>
        <p:nvSpPr>
          <p:cNvPr id="45" name="Text 33"/>
          <p:cNvSpPr txBox="1"/>
          <p:nvPr/>
        </p:nvSpPr>
        <p:spPr>
          <a:xfrm>
            <a:off x="6830568" y="3694176"/>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Banyak paket NPM tidak terawat sehingga menimbulkan risiko keamanan.</a:t>
            </a:r>
            <a:endParaRPr lang="en-US" sz="1100" dirty="0"/>
          </a:p>
        </p:txBody>
      </p:sp>
      <p:sp>
        <p:nvSpPr>
          <p:cNvPr id="46" name="Shape 34"/>
          <p:cNvSpPr/>
          <p:nvPr/>
        </p:nvSpPr>
        <p:spPr>
          <a:xfrm>
            <a:off x="6263640" y="4114800"/>
            <a:ext cx="420624" cy="420624"/>
          </a:xfrm>
          <a:prstGeom prst="roundRect">
            <a:avLst>
              <a:gd name="adj" fmla="val 26087"/>
            </a:avLst>
          </a:prstGeom>
          <a:solidFill>
            <a:srgbClr val="FBE9E7"/>
          </a:solidFill>
          <a:ln w="12700">
            <a:solidFill>
              <a:srgbClr val="FBE9E7"/>
            </a:solidFill>
            <a:prstDash val="solid"/>
          </a:ln>
        </p:spPr>
      </p:sp>
      <p:pic>
        <p:nvPicPr>
          <p:cNvPr id="47" name="Image 10" descr="preencoded.png">    </p:cNvPr>
          <p:cNvPicPr>
            <a:picLocks noChangeAspect="1"/>
          </p:cNvPicPr>
          <p:nvPr/>
        </p:nvPicPr>
        <p:blipFill>
          <a:blip r:embed="rId11"/>
          <a:stretch>
            <a:fillRect/>
          </a:stretch>
        </p:blipFill>
        <p:spPr>
          <a:xfrm>
            <a:off x="6368796" y="4219956"/>
            <a:ext cx="210312" cy="210312"/>
          </a:xfrm>
          <a:prstGeom prst="rect">
            <a:avLst/>
          </a:prstGeom>
        </p:spPr>
      </p:pic>
      <p:sp>
        <p:nvSpPr>
          <p:cNvPr id="48" name="Text 35"/>
          <p:cNvSpPr txBox="1"/>
          <p:nvPr/>
        </p:nvSpPr>
        <p:spPr>
          <a:xfrm>
            <a:off x="6830568" y="4096512"/>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Perubahan cepat</a:t>
            </a:r>
            <a:endParaRPr lang="en-US" sz="1250" dirty="0"/>
          </a:p>
        </p:txBody>
      </p:sp>
      <p:sp>
        <p:nvSpPr>
          <p:cNvPr id="49" name="Text 36"/>
          <p:cNvSpPr txBox="1"/>
          <p:nvPr/>
        </p:nvSpPr>
        <p:spPr>
          <a:xfrm>
            <a:off x="6830568" y="4352544"/>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Ekosistem berkembang sangat cepat sehingga praktik terbaik sering bergeser.</a:t>
            </a:r>
            <a:endParaRPr lang="en-US" sz="1100" dirty="0"/>
          </a:p>
        </p:txBody>
      </p:sp>
      <p:sp>
        <p:nvSpPr>
          <p:cNvPr id="50" name="Shape 37"/>
          <p:cNvSpPr/>
          <p:nvPr/>
        </p:nvSpPr>
        <p:spPr>
          <a:xfrm>
            <a:off x="6263640" y="4773168"/>
            <a:ext cx="420624" cy="420624"/>
          </a:xfrm>
          <a:prstGeom prst="roundRect">
            <a:avLst>
              <a:gd name="adj" fmla="val 26087"/>
            </a:avLst>
          </a:prstGeom>
          <a:solidFill>
            <a:srgbClr val="FBE9E7"/>
          </a:solidFill>
          <a:ln w="12700">
            <a:solidFill>
              <a:srgbClr val="FBE9E7"/>
            </a:solidFill>
            <a:prstDash val="solid"/>
          </a:ln>
        </p:spPr>
      </p:sp>
      <p:pic>
        <p:nvPicPr>
          <p:cNvPr id="51" name="Image 11" descr="preencoded.png">    </p:cNvPr>
          <p:cNvPicPr>
            <a:picLocks noChangeAspect="1"/>
          </p:cNvPicPr>
          <p:nvPr/>
        </p:nvPicPr>
        <p:blipFill>
          <a:blip r:embed="rId12"/>
          <a:stretch>
            <a:fillRect/>
          </a:stretch>
        </p:blipFill>
        <p:spPr>
          <a:xfrm>
            <a:off x="6368796" y="4878324"/>
            <a:ext cx="210312" cy="210312"/>
          </a:xfrm>
          <a:prstGeom prst="rect">
            <a:avLst/>
          </a:prstGeom>
        </p:spPr>
      </p:pic>
      <p:sp>
        <p:nvSpPr>
          <p:cNvPr id="52" name="Text 38"/>
          <p:cNvSpPr txBox="1"/>
          <p:nvPr/>
        </p:nvSpPr>
        <p:spPr>
          <a:xfrm>
            <a:off x="6830568" y="4754880"/>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Kurang cocok untuk relasi rumit</a:t>
            </a:r>
            <a:endParaRPr lang="en-US" sz="1250" dirty="0"/>
          </a:p>
        </p:txBody>
      </p:sp>
      <p:sp>
        <p:nvSpPr>
          <p:cNvPr id="53" name="Text 39"/>
          <p:cNvSpPr txBox="1"/>
          <p:nvPr/>
        </p:nvSpPr>
        <p:spPr>
          <a:xfrm>
            <a:off x="6830568" y="5010912"/>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Aplikasi dengan transaksi basis data kompleks kadang lebih pas di platform lain.</a:t>
            </a:r>
            <a:endParaRPr lang="en-US" sz="1100" dirty="0"/>
          </a:p>
        </p:txBody>
      </p:sp>
      <p:sp>
        <p:nvSpPr>
          <p:cNvPr id="54" name="Shape 40"/>
          <p:cNvSpPr/>
          <p:nvPr/>
        </p:nvSpPr>
        <p:spPr>
          <a:xfrm>
            <a:off x="6263640" y="5431536"/>
            <a:ext cx="420624" cy="420624"/>
          </a:xfrm>
          <a:prstGeom prst="roundRect">
            <a:avLst>
              <a:gd name="adj" fmla="val 26087"/>
            </a:avLst>
          </a:prstGeom>
          <a:solidFill>
            <a:srgbClr val="FBE9E7"/>
          </a:solidFill>
          <a:ln w="12700">
            <a:solidFill>
              <a:srgbClr val="FBE9E7"/>
            </a:solidFill>
            <a:prstDash val="solid"/>
          </a:ln>
        </p:spPr>
      </p:sp>
      <p:pic>
        <p:nvPicPr>
          <p:cNvPr id="55" name="Image 12" descr="preencoded.png">    </p:cNvPr>
          <p:cNvPicPr>
            <a:picLocks noChangeAspect="1"/>
          </p:cNvPicPr>
          <p:nvPr/>
        </p:nvPicPr>
        <p:blipFill>
          <a:blip r:embed="rId13"/>
          <a:stretch>
            <a:fillRect/>
          </a:stretch>
        </p:blipFill>
        <p:spPr>
          <a:xfrm>
            <a:off x="6368796" y="5536692"/>
            <a:ext cx="210312" cy="210312"/>
          </a:xfrm>
          <a:prstGeom prst="rect">
            <a:avLst/>
          </a:prstGeom>
        </p:spPr>
      </p:pic>
      <p:sp>
        <p:nvSpPr>
          <p:cNvPr id="56" name="Text 41"/>
          <p:cNvSpPr txBox="1"/>
          <p:nvPr/>
        </p:nvSpPr>
        <p:spPr>
          <a:xfrm>
            <a:off x="6830568" y="541324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Penanganan galat perlu disiplin</a:t>
            </a:r>
            <a:endParaRPr lang="en-US" sz="1250" dirty="0"/>
          </a:p>
        </p:txBody>
      </p:sp>
      <p:sp>
        <p:nvSpPr>
          <p:cNvPr id="57" name="Text 42"/>
          <p:cNvSpPr txBox="1"/>
          <p:nvPr/>
        </p:nvSpPr>
        <p:spPr>
          <a:xfrm>
            <a:off x="6830568" y="566928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Satu pengecualian tak tertangani dapat menjatuhkan seluruh proses aplikasi.</a:t>
            </a:r>
            <a:endParaRPr lang="en-US" sz="1100" dirty="0"/>
          </a:p>
        </p:txBody>
      </p:sp>
      <p:sp>
        <p:nvSpPr>
          <p:cNvPr id="58" name="Text 43"/>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9" name="Text 44"/>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Kapan Sebaiknya Memakai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Panduan memilih Node.js atau mencari alternatif lain</a:t>
            </a:r>
            <a:endParaRPr lang="en-US" sz="1300" dirty="0"/>
          </a:p>
        </p:txBody>
      </p:sp>
      <p:sp>
        <p:nvSpPr>
          <p:cNvPr id="6" name="Shape 3"/>
          <p:cNvSpPr/>
          <p:nvPr/>
        </p:nvSpPr>
        <p:spPr>
          <a:xfrm>
            <a:off x="640080" y="1609344"/>
            <a:ext cx="5349240" cy="420624"/>
          </a:xfrm>
          <a:prstGeom prst="roundRect">
            <a:avLst>
              <a:gd name="adj" fmla="val 17391"/>
            </a:avLst>
          </a:prstGeom>
          <a:solidFill>
            <a:srgbClr val="3C873A"/>
          </a:solidFill>
          <a:ln w="12700">
            <a:solidFill>
              <a:srgbClr val="3C873A"/>
            </a:solidFill>
            <a:prstDash val="solid"/>
          </a:ln>
        </p:spPr>
      </p:sp>
      <p:sp>
        <p:nvSpPr>
          <p:cNvPr id="7" name="Text 4"/>
          <p:cNvSpPr txBox="1"/>
          <p:nvPr/>
        </p:nvSpPr>
        <p:spPr>
          <a:xfrm>
            <a:off x="868680" y="1609344"/>
            <a:ext cx="4892040" cy="420624"/>
          </a:xfrm>
          <a:prstGeom prst="rect">
            <a:avLst/>
          </a:prstGeom>
          <a:noFill/>
          <a:ln/>
        </p:spPr>
        <p:txBody>
          <a:bodyPr wrap="square" lIns="0" tIns="0" rIns="0" bIns="0" rtlCol="0" anchor="ctr"/>
          <a:lstStyle/>
          <a:p>
            <a:pPr indent="0" marL="0">
              <a:buNone/>
            </a:pPr>
            <a:r>
              <a:rPr lang="en-US" sz="1250" b="1" spc="120" kern="0" dirty="0">
                <a:solidFill>
                  <a:srgbClr val="FFFFFF"/>
                </a:solidFill>
                <a:latin typeface="Arial" pitchFamily="34" charset="0"/>
                <a:ea typeface="Arial" pitchFamily="34" charset="-122"/>
                <a:cs typeface="Arial" pitchFamily="34" charset="-120"/>
              </a:rPr>
              <a:t>SANGAT COCOK UNTUK</a:t>
            </a:r>
            <a:endParaRPr lang="en-US" sz="1250" dirty="0"/>
          </a:p>
        </p:txBody>
      </p:sp>
      <p:sp>
        <p:nvSpPr>
          <p:cNvPr id="8" name="Shape 5"/>
          <p:cNvSpPr/>
          <p:nvPr/>
        </p:nvSpPr>
        <p:spPr>
          <a:xfrm>
            <a:off x="640080" y="2139696"/>
            <a:ext cx="420624" cy="420624"/>
          </a:xfrm>
          <a:prstGeom prst="roundRect">
            <a:avLst>
              <a:gd name="adj" fmla="val 26087"/>
            </a:avLst>
          </a:prstGeom>
          <a:solidFill>
            <a:srgbClr val="E8F2E2"/>
          </a:solidFill>
          <a:ln w="12700">
            <a:solidFill>
              <a:srgbClr val="E8F2E2"/>
            </a:solidFill>
            <a:prstDash val="solid"/>
          </a:ln>
        </p:spPr>
      </p:sp>
      <p:pic>
        <p:nvPicPr>
          <p:cNvPr id="9" name="Image 1" descr="preencoded.png">    </p:cNvPr>
          <p:cNvPicPr>
            <a:picLocks noChangeAspect="1"/>
          </p:cNvPicPr>
          <p:nvPr/>
        </p:nvPicPr>
        <p:blipFill>
          <a:blip r:embed="rId2"/>
          <a:stretch>
            <a:fillRect/>
          </a:stretch>
        </p:blipFill>
        <p:spPr>
          <a:xfrm>
            <a:off x="745236" y="2244852"/>
            <a:ext cx="210312" cy="210312"/>
          </a:xfrm>
          <a:prstGeom prst="rect">
            <a:avLst/>
          </a:prstGeom>
        </p:spPr>
      </p:pic>
      <p:sp>
        <p:nvSpPr>
          <p:cNvPr id="10" name="Text 6"/>
          <p:cNvSpPr txBox="1"/>
          <p:nvPr/>
        </p:nvSpPr>
        <p:spPr>
          <a:xfrm>
            <a:off x="1207008" y="212140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REST API dan Microservice</a:t>
            </a:r>
            <a:endParaRPr lang="en-US" sz="1250" dirty="0"/>
          </a:p>
        </p:txBody>
      </p:sp>
      <p:sp>
        <p:nvSpPr>
          <p:cNvPr id="11" name="Text 7"/>
          <p:cNvSpPr txBox="1"/>
          <p:nvPr/>
        </p:nvSpPr>
        <p:spPr>
          <a:xfrm>
            <a:off x="1207008" y="237744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Layanan yang banyak menerima dan meneruskan data antar sistem.</a:t>
            </a:r>
            <a:endParaRPr lang="en-US" sz="1100" dirty="0"/>
          </a:p>
        </p:txBody>
      </p:sp>
      <p:sp>
        <p:nvSpPr>
          <p:cNvPr id="12" name="Shape 8"/>
          <p:cNvSpPr/>
          <p:nvPr/>
        </p:nvSpPr>
        <p:spPr>
          <a:xfrm>
            <a:off x="640080" y="2779776"/>
            <a:ext cx="420624" cy="420624"/>
          </a:xfrm>
          <a:prstGeom prst="roundRect">
            <a:avLst>
              <a:gd name="adj" fmla="val 26087"/>
            </a:avLst>
          </a:prstGeom>
          <a:solidFill>
            <a:srgbClr val="E8F2E2"/>
          </a:solidFill>
          <a:ln w="12700">
            <a:solidFill>
              <a:srgbClr val="E8F2E2"/>
            </a:solidFill>
            <a:prstDash val="solid"/>
          </a:ln>
        </p:spPr>
      </p:sp>
      <p:pic>
        <p:nvPicPr>
          <p:cNvPr id="13" name="Image 2" descr="preencoded.png">    </p:cNvPr>
          <p:cNvPicPr>
            <a:picLocks noChangeAspect="1"/>
          </p:cNvPicPr>
          <p:nvPr/>
        </p:nvPicPr>
        <p:blipFill>
          <a:blip r:embed="rId3"/>
          <a:stretch>
            <a:fillRect/>
          </a:stretch>
        </p:blipFill>
        <p:spPr>
          <a:xfrm>
            <a:off x="745236" y="2884932"/>
            <a:ext cx="210312" cy="210312"/>
          </a:xfrm>
          <a:prstGeom prst="rect">
            <a:avLst/>
          </a:prstGeom>
        </p:spPr>
      </p:pic>
      <p:sp>
        <p:nvSpPr>
          <p:cNvPr id="14" name="Text 9"/>
          <p:cNvSpPr txBox="1"/>
          <p:nvPr/>
        </p:nvSpPr>
        <p:spPr>
          <a:xfrm>
            <a:off x="1207008" y="276148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Aplikasi Real-Time</a:t>
            </a:r>
            <a:endParaRPr lang="en-US" sz="1250" dirty="0"/>
          </a:p>
        </p:txBody>
      </p:sp>
      <p:sp>
        <p:nvSpPr>
          <p:cNvPr id="15" name="Text 10"/>
          <p:cNvSpPr txBox="1"/>
          <p:nvPr/>
        </p:nvSpPr>
        <p:spPr>
          <a:xfrm>
            <a:off x="1207008" y="301752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Obrolan, notifikasi langsung, papan kolaborasi, dan permainan daring.</a:t>
            </a:r>
            <a:endParaRPr lang="en-US" sz="1100" dirty="0"/>
          </a:p>
        </p:txBody>
      </p:sp>
      <p:sp>
        <p:nvSpPr>
          <p:cNvPr id="16" name="Shape 11"/>
          <p:cNvSpPr/>
          <p:nvPr/>
        </p:nvSpPr>
        <p:spPr>
          <a:xfrm>
            <a:off x="640080" y="3419856"/>
            <a:ext cx="420624" cy="420624"/>
          </a:xfrm>
          <a:prstGeom prst="roundRect">
            <a:avLst>
              <a:gd name="adj" fmla="val 26087"/>
            </a:avLst>
          </a:prstGeom>
          <a:solidFill>
            <a:srgbClr val="E8F2E2"/>
          </a:solidFill>
          <a:ln w="12700">
            <a:solidFill>
              <a:srgbClr val="E8F2E2"/>
            </a:solidFill>
            <a:prstDash val="solid"/>
          </a:ln>
        </p:spPr>
      </p:sp>
      <p:pic>
        <p:nvPicPr>
          <p:cNvPr id="17" name="Image 3" descr="preencoded.png">    </p:cNvPr>
          <p:cNvPicPr>
            <a:picLocks noChangeAspect="1"/>
          </p:cNvPicPr>
          <p:nvPr/>
        </p:nvPicPr>
        <p:blipFill>
          <a:blip r:embed="rId4"/>
          <a:stretch>
            <a:fillRect/>
          </a:stretch>
        </p:blipFill>
        <p:spPr>
          <a:xfrm>
            <a:off x="745236" y="3525012"/>
            <a:ext cx="210312" cy="210312"/>
          </a:xfrm>
          <a:prstGeom prst="rect">
            <a:avLst/>
          </a:prstGeom>
        </p:spPr>
      </p:pic>
      <p:sp>
        <p:nvSpPr>
          <p:cNvPr id="18" name="Text 12"/>
          <p:cNvSpPr txBox="1"/>
          <p:nvPr/>
        </p:nvSpPr>
        <p:spPr>
          <a:xfrm>
            <a:off x="1207008" y="340156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Aplikasi Streaming Data</a:t>
            </a:r>
            <a:endParaRPr lang="en-US" sz="1250" dirty="0"/>
          </a:p>
        </p:txBody>
      </p:sp>
      <p:sp>
        <p:nvSpPr>
          <p:cNvPr id="19" name="Text 13"/>
          <p:cNvSpPr txBox="1"/>
          <p:nvPr/>
        </p:nvSpPr>
        <p:spPr>
          <a:xfrm>
            <a:off x="1207008" y="365760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Pengunggahan berkas, pemutar media, dan pemrosesan data berkelanjutan.</a:t>
            </a:r>
            <a:endParaRPr lang="en-US" sz="1100" dirty="0"/>
          </a:p>
        </p:txBody>
      </p:sp>
      <p:sp>
        <p:nvSpPr>
          <p:cNvPr id="20" name="Shape 14"/>
          <p:cNvSpPr/>
          <p:nvPr/>
        </p:nvSpPr>
        <p:spPr>
          <a:xfrm>
            <a:off x="640080" y="4059936"/>
            <a:ext cx="420624" cy="420624"/>
          </a:xfrm>
          <a:prstGeom prst="roundRect">
            <a:avLst>
              <a:gd name="adj" fmla="val 26087"/>
            </a:avLst>
          </a:prstGeom>
          <a:solidFill>
            <a:srgbClr val="E8F2E2"/>
          </a:solidFill>
          <a:ln w="12700">
            <a:solidFill>
              <a:srgbClr val="E8F2E2"/>
            </a:solidFill>
            <a:prstDash val="solid"/>
          </a:ln>
        </p:spPr>
      </p:sp>
      <p:pic>
        <p:nvPicPr>
          <p:cNvPr id="21" name="Image 4" descr="preencoded.png">    </p:cNvPr>
          <p:cNvPicPr>
            <a:picLocks noChangeAspect="1"/>
          </p:cNvPicPr>
          <p:nvPr/>
        </p:nvPicPr>
        <p:blipFill>
          <a:blip r:embed="rId5"/>
          <a:stretch>
            <a:fillRect/>
          </a:stretch>
        </p:blipFill>
        <p:spPr>
          <a:xfrm>
            <a:off x="745236" y="4165092"/>
            <a:ext cx="210312" cy="210312"/>
          </a:xfrm>
          <a:prstGeom prst="rect">
            <a:avLst/>
          </a:prstGeom>
        </p:spPr>
      </p:pic>
      <p:sp>
        <p:nvSpPr>
          <p:cNvPr id="22" name="Text 15"/>
          <p:cNvSpPr txBox="1"/>
          <p:nvPr/>
        </p:nvSpPr>
        <p:spPr>
          <a:xfrm>
            <a:off x="1207008" y="404164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Alat Baris Perintah</a:t>
            </a:r>
            <a:endParaRPr lang="en-US" sz="1250" dirty="0"/>
          </a:p>
        </p:txBody>
      </p:sp>
      <p:sp>
        <p:nvSpPr>
          <p:cNvPr id="23" name="Text 16"/>
          <p:cNvSpPr txBox="1"/>
          <p:nvPr/>
        </p:nvSpPr>
        <p:spPr>
          <a:xfrm>
            <a:off x="1207008" y="429768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Perkakas pengembang dan skrip otomasi lintas sistem operasi.</a:t>
            </a:r>
            <a:endParaRPr lang="en-US" sz="1100" dirty="0"/>
          </a:p>
        </p:txBody>
      </p:sp>
      <p:sp>
        <p:nvSpPr>
          <p:cNvPr id="24" name="Shape 17"/>
          <p:cNvSpPr/>
          <p:nvPr/>
        </p:nvSpPr>
        <p:spPr>
          <a:xfrm>
            <a:off x="640080" y="4700016"/>
            <a:ext cx="420624" cy="420624"/>
          </a:xfrm>
          <a:prstGeom prst="roundRect">
            <a:avLst>
              <a:gd name="adj" fmla="val 26087"/>
            </a:avLst>
          </a:prstGeom>
          <a:solidFill>
            <a:srgbClr val="E8F2E2"/>
          </a:solidFill>
          <a:ln w="12700">
            <a:solidFill>
              <a:srgbClr val="E8F2E2"/>
            </a:solidFill>
            <a:prstDash val="solid"/>
          </a:ln>
        </p:spPr>
      </p:sp>
      <p:pic>
        <p:nvPicPr>
          <p:cNvPr id="25" name="Image 5" descr="preencoded.png">    </p:cNvPr>
          <p:cNvPicPr>
            <a:picLocks noChangeAspect="1"/>
          </p:cNvPicPr>
          <p:nvPr/>
        </p:nvPicPr>
        <p:blipFill>
          <a:blip r:embed="rId6"/>
          <a:stretch>
            <a:fillRect/>
          </a:stretch>
        </p:blipFill>
        <p:spPr>
          <a:xfrm>
            <a:off x="745236" y="4805172"/>
            <a:ext cx="210312" cy="210312"/>
          </a:xfrm>
          <a:prstGeom prst="rect">
            <a:avLst/>
          </a:prstGeom>
        </p:spPr>
      </p:pic>
      <p:sp>
        <p:nvSpPr>
          <p:cNvPr id="26" name="Text 18"/>
          <p:cNvSpPr txBox="1"/>
          <p:nvPr/>
        </p:nvSpPr>
        <p:spPr>
          <a:xfrm>
            <a:off x="1207008" y="468172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Aplikasi Fullstack JavaScript</a:t>
            </a:r>
            <a:endParaRPr lang="en-US" sz="1250" dirty="0"/>
          </a:p>
        </p:txBody>
      </p:sp>
      <p:sp>
        <p:nvSpPr>
          <p:cNvPr id="27" name="Text 19"/>
          <p:cNvSpPr txBox="1"/>
          <p:nvPr/>
        </p:nvSpPr>
        <p:spPr>
          <a:xfrm>
            <a:off x="1207008" y="493776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Proyek yang memakai React, Vue, atau Angular di sisi klien.</a:t>
            </a:r>
            <a:endParaRPr lang="en-US" sz="1100" dirty="0"/>
          </a:p>
        </p:txBody>
      </p:sp>
      <p:sp>
        <p:nvSpPr>
          <p:cNvPr id="28" name="Shape 20"/>
          <p:cNvSpPr/>
          <p:nvPr/>
        </p:nvSpPr>
        <p:spPr>
          <a:xfrm>
            <a:off x="6263640" y="1609344"/>
            <a:ext cx="5349240" cy="420624"/>
          </a:xfrm>
          <a:prstGeom prst="roundRect">
            <a:avLst>
              <a:gd name="adj" fmla="val 17391"/>
            </a:avLst>
          </a:prstGeom>
          <a:solidFill>
            <a:srgbClr val="B8860B"/>
          </a:solidFill>
          <a:ln w="12700">
            <a:solidFill>
              <a:srgbClr val="B8860B"/>
            </a:solidFill>
            <a:prstDash val="solid"/>
          </a:ln>
        </p:spPr>
      </p:sp>
      <p:sp>
        <p:nvSpPr>
          <p:cNvPr id="29" name="Text 21"/>
          <p:cNvSpPr txBox="1"/>
          <p:nvPr/>
        </p:nvSpPr>
        <p:spPr>
          <a:xfrm>
            <a:off x="6492240" y="1609344"/>
            <a:ext cx="4892040" cy="420624"/>
          </a:xfrm>
          <a:prstGeom prst="rect">
            <a:avLst/>
          </a:prstGeom>
          <a:noFill/>
          <a:ln/>
        </p:spPr>
        <p:txBody>
          <a:bodyPr wrap="square" lIns="0" tIns="0" rIns="0" bIns="0" rtlCol="0" anchor="ctr"/>
          <a:lstStyle/>
          <a:p>
            <a:pPr indent="0" marL="0">
              <a:buNone/>
            </a:pPr>
            <a:r>
              <a:rPr lang="en-US" sz="1250" b="1" spc="120" kern="0" dirty="0">
                <a:solidFill>
                  <a:srgbClr val="FFFFFF"/>
                </a:solidFill>
                <a:latin typeface="Arial" pitchFamily="34" charset="0"/>
                <a:ea typeface="Arial" pitchFamily="34" charset="-122"/>
                <a:cs typeface="Arial" pitchFamily="34" charset="-120"/>
              </a:rPr>
              <a:t>PERTIMBANGKAN ALTERNATIF UNTUK</a:t>
            </a:r>
            <a:endParaRPr lang="en-US" sz="1250" dirty="0"/>
          </a:p>
        </p:txBody>
      </p:sp>
      <p:sp>
        <p:nvSpPr>
          <p:cNvPr id="30" name="Shape 22"/>
          <p:cNvSpPr/>
          <p:nvPr/>
        </p:nvSpPr>
        <p:spPr>
          <a:xfrm>
            <a:off x="6263640" y="2139696"/>
            <a:ext cx="420624" cy="420624"/>
          </a:xfrm>
          <a:prstGeom prst="roundRect">
            <a:avLst>
              <a:gd name="adj" fmla="val 26087"/>
            </a:avLst>
          </a:prstGeom>
          <a:solidFill>
            <a:srgbClr val="FDF3D8"/>
          </a:solidFill>
          <a:ln w="12700">
            <a:solidFill>
              <a:srgbClr val="FDF3D8"/>
            </a:solidFill>
            <a:prstDash val="solid"/>
          </a:ln>
        </p:spPr>
      </p:sp>
      <p:pic>
        <p:nvPicPr>
          <p:cNvPr id="31" name="Image 6" descr="preencoded.png">    </p:cNvPr>
          <p:cNvPicPr>
            <a:picLocks noChangeAspect="1"/>
          </p:cNvPicPr>
          <p:nvPr/>
        </p:nvPicPr>
        <p:blipFill>
          <a:blip r:embed="rId7"/>
          <a:stretch>
            <a:fillRect/>
          </a:stretch>
        </p:blipFill>
        <p:spPr>
          <a:xfrm>
            <a:off x="6368796" y="2244852"/>
            <a:ext cx="210312" cy="210312"/>
          </a:xfrm>
          <a:prstGeom prst="rect">
            <a:avLst/>
          </a:prstGeom>
        </p:spPr>
      </p:pic>
      <p:sp>
        <p:nvSpPr>
          <p:cNvPr id="32" name="Text 23"/>
          <p:cNvSpPr txBox="1"/>
          <p:nvPr/>
        </p:nvSpPr>
        <p:spPr>
          <a:xfrm>
            <a:off x="6830568" y="212140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Komputasi Numerik Berat</a:t>
            </a:r>
            <a:endParaRPr lang="en-US" sz="1250" dirty="0"/>
          </a:p>
        </p:txBody>
      </p:sp>
      <p:sp>
        <p:nvSpPr>
          <p:cNvPr id="33" name="Text 24"/>
          <p:cNvSpPr txBox="1"/>
          <p:nvPr/>
        </p:nvSpPr>
        <p:spPr>
          <a:xfrm>
            <a:off x="6830568" y="237744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Simulasi ilmiah dan pemodelan matematis lebih pas dengan Python atau C++.</a:t>
            </a:r>
            <a:endParaRPr lang="en-US" sz="1100" dirty="0"/>
          </a:p>
        </p:txBody>
      </p:sp>
      <p:sp>
        <p:nvSpPr>
          <p:cNvPr id="34" name="Shape 25"/>
          <p:cNvSpPr/>
          <p:nvPr/>
        </p:nvSpPr>
        <p:spPr>
          <a:xfrm>
            <a:off x="6263640" y="2779776"/>
            <a:ext cx="420624" cy="420624"/>
          </a:xfrm>
          <a:prstGeom prst="roundRect">
            <a:avLst>
              <a:gd name="adj" fmla="val 26087"/>
            </a:avLst>
          </a:prstGeom>
          <a:solidFill>
            <a:srgbClr val="FDF3D8"/>
          </a:solidFill>
          <a:ln w="12700">
            <a:solidFill>
              <a:srgbClr val="FDF3D8"/>
            </a:solidFill>
            <a:prstDash val="solid"/>
          </a:ln>
        </p:spPr>
      </p:sp>
      <p:pic>
        <p:nvPicPr>
          <p:cNvPr id="35" name="Image 7" descr="preencoded.png">    </p:cNvPr>
          <p:cNvPicPr>
            <a:picLocks noChangeAspect="1"/>
          </p:cNvPicPr>
          <p:nvPr/>
        </p:nvPicPr>
        <p:blipFill>
          <a:blip r:embed="rId8"/>
          <a:stretch>
            <a:fillRect/>
          </a:stretch>
        </p:blipFill>
        <p:spPr>
          <a:xfrm>
            <a:off x="6368796" y="2884932"/>
            <a:ext cx="210312" cy="210312"/>
          </a:xfrm>
          <a:prstGeom prst="rect">
            <a:avLst/>
          </a:prstGeom>
        </p:spPr>
      </p:pic>
      <p:sp>
        <p:nvSpPr>
          <p:cNvPr id="36" name="Text 26"/>
          <p:cNvSpPr txBox="1"/>
          <p:nvPr/>
        </p:nvSpPr>
        <p:spPr>
          <a:xfrm>
            <a:off x="6830568" y="276148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Pembelajaran Mesin</a:t>
            </a:r>
            <a:endParaRPr lang="en-US" sz="1250" dirty="0"/>
          </a:p>
        </p:txBody>
      </p:sp>
      <p:sp>
        <p:nvSpPr>
          <p:cNvPr id="37" name="Text 27"/>
          <p:cNvSpPr txBox="1"/>
          <p:nvPr/>
        </p:nvSpPr>
        <p:spPr>
          <a:xfrm>
            <a:off x="6830568" y="301752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Ekosistem Python jauh lebih matang untuk pelatihan model dan analisis data.</a:t>
            </a:r>
            <a:endParaRPr lang="en-US" sz="1100" dirty="0"/>
          </a:p>
        </p:txBody>
      </p:sp>
      <p:sp>
        <p:nvSpPr>
          <p:cNvPr id="38" name="Shape 28"/>
          <p:cNvSpPr/>
          <p:nvPr/>
        </p:nvSpPr>
        <p:spPr>
          <a:xfrm>
            <a:off x="6263640" y="3419856"/>
            <a:ext cx="420624" cy="420624"/>
          </a:xfrm>
          <a:prstGeom prst="roundRect">
            <a:avLst>
              <a:gd name="adj" fmla="val 26087"/>
            </a:avLst>
          </a:prstGeom>
          <a:solidFill>
            <a:srgbClr val="FDF3D8"/>
          </a:solidFill>
          <a:ln w="12700">
            <a:solidFill>
              <a:srgbClr val="FDF3D8"/>
            </a:solidFill>
            <a:prstDash val="solid"/>
          </a:ln>
        </p:spPr>
      </p:sp>
      <p:pic>
        <p:nvPicPr>
          <p:cNvPr id="39" name="Image 8" descr="preencoded.png">    </p:cNvPr>
          <p:cNvPicPr>
            <a:picLocks noChangeAspect="1"/>
          </p:cNvPicPr>
          <p:nvPr/>
        </p:nvPicPr>
        <p:blipFill>
          <a:blip r:embed="rId9"/>
          <a:stretch>
            <a:fillRect/>
          </a:stretch>
        </p:blipFill>
        <p:spPr>
          <a:xfrm>
            <a:off x="6368796" y="3525012"/>
            <a:ext cx="210312" cy="210312"/>
          </a:xfrm>
          <a:prstGeom prst="rect">
            <a:avLst/>
          </a:prstGeom>
        </p:spPr>
      </p:pic>
      <p:sp>
        <p:nvSpPr>
          <p:cNvPr id="40" name="Text 29"/>
          <p:cNvSpPr txBox="1"/>
          <p:nvPr/>
        </p:nvSpPr>
        <p:spPr>
          <a:xfrm>
            <a:off x="6830568" y="340156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Transaksi Relasional Rumit</a:t>
            </a:r>
            <a:endParaRPr lang="en-US" sz="1250" dirty="0"/>
          </a:p>
        </p:txBody>
      </p:sp>
      <p:sp>
        <p:nvSpPr>
          <p:cNvPr id="41" name="Text 30"/>
          <p:cNvSpPr txBox="1"/>
          <p:nvPr/>
        </p:nvSpPr>
        <p:spPr>
          <a:xfrm>
            <a:off x="6830568" y="365760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Sistem perbankan berat sering lebih nyaman dibangun dengan Java atau C#.</a:t>
            </a:r>
            <a:endParaRPr lang="en-US" sz="1100" dirty="0"/>
          </a:p>
        </p:txBody>
      </p:sp>
      <p:sp>
        <p:nvSpPr>
          <p:cNvPr id="42" name="Shape 31"/>
          <p:cNvSpPr/>
          <p:nvPr/>
        </p:nvSpPr>
        <p:spPr>
          <a:xfrm>
            <a:off x="6263640" y="4059936"/>
            <a:ext cx="420624" cy="420624"/>
          </a:xfrm>
          <a:prstGeom prst="roundRect">
            <a:avLst>
              <a:gd name="adj" fmla="val 26087"/>
            </a:avLst>
          </a:prstGeom>
          <a:solidFill>
            <a:srgbClr val="FDF3D8"/>
          </a:solidFill>
          <a:ln w="12700">
            <a:solidFill>
              <a:srgbClr val="FDF3D8"/>
            </a:solidFill>
            <a:prstDash val="solid"/>
          </a:ln>
        </p:spPr>
      </p:sp>
      <p:pic>
        <p:nvPicPr>
          <p:cNvPr id="43" name="Image 9" descr="preencoded.png">    </p:cNvPr>
          <p:cNvPicPr>
            <a:picLocks noChangeAspect="1"/>
          </p:cNvPicPr>
          <p:nvPr/>
        </p:nvPicPr>
        <p:blipFill>
          <a:blip r:embed="rId10"/>
          <a:stretch>
            <a:fillRect/>
          </a:stretch>
        </p:blipFill>
        <p:spPr>
          <a:xfrm>
            <a:off x="6368796" y="4165092"/>
            <a:ext cx="210312" cy="210312"/>
          </a:xfrm>
          <a:prstGeom prst="rect">
            <a:avLst/>
          </a:prstGeom>
        </p:spPr>
      </p:pic>
      <p:sp>
        <p:nvSpPr>
          <p:cNvPr id="44" name="Text 32"/>
          <p:cNvSpPr txBox="1"/>
          <p:nvPr/>
        </p:nvSpPr>
        <p:spPr>
          <a:xfrm>
            <a:off x="6830568" y="404164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Pemrosesan Media Skala Besar</a:t>
            </a:r>
            <a:endParaRPr lang="en-US" sz="1250" dirty="0"/>
          </a:p>
        </p:txBody>
      </p:sp>
      <p:sp>
        <p:nvSpPr>
          <p:cNvPr id="45" name="Text 33"/>
          <p:cNvSpPr txBox="1"/>
          <p:nvPr/>
        </p:nvSpPr>
        <p:spPr>
          <a:xfrm>
            <a:off x="6830568" y="429768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Penyandian video dan pengolahan citra masif sebaiknya ditangani layanan khusus.</a:t>
            </a:r>
            <a:endParaRPr lang="en-US" sz="1100" dirty="0"/>
          </a:p>
        </p:txBody>
      </p:sp>
      <p:sp>
        <p:nvSpPr>
          <p:cNvPr id="46" name="Shape 34"/>
          <p:cNvSpPr/>
          <p:nvPr/>
        </p:nvSpPr>
        <p:spPr>
          <a:xfrm>
            <a:off x="6263640" y="4700016"/>
            <a:ext cx="420624" cy="420624"/>
          </a:xfrm>
          <a:prstGeom prst="roundRect">
            <a:avLst>
              <a:gd name="adj" fmla="val 26087"/>
            </a:avLst>
          </a:prstGeom>
          <a:solidFill>
            <a:srgbClr val="FDF3D8"/>
          </a:solidFill>
          <a:ln w="12700">
            <a:solidFill>
              <a:srgbClr val="FDF3D8"/>
            </a:solidFill>
            <a:prstDash val="solid"/>
          </a:ln>
        </p:spPr>
      </p:sp>
      <p:pic>
        <p:nvPicPr>
          <p:cNvPr id="47" name="Image 10" descr="preencoded.png">    </p:cNvPr>
          <p:cNvPicPr>
            <a:picLocks noChangeAspect="1"/>
          </p:cNvPicPr>
          <p:nvPr/>
        </p:nvPicPr>
        <p:blipFill>
          <a:blip r:embed="rId11"/>
          <a:stretch>
            <a:fillRect/>
          </a:stretch>
        </p:blipFill>
        <p:spPr>
          <a:xfrm>
            <a:off x="6368796" y="4805172"/>
            <a:ext cx="210312" cy="210312"/>
          </a:xfrm>
          <a:prstGeom prst="rect">
            <a:avLst/>
          </a:prstGeom>
        </p:spPr>
      </p:pic>
      <p:sp>
        <p:nvSpPr>
          <p:cNvPr id="48" name="Text 35"/>
          <p:cNvSpPr txBox="1"/>
          <p:nvPr/>
        </p:nvSpPr>
        <p:spPr>
          <a:xfrm>
            <a:off x="6830568" y="4681728"/>
            <a:ext cx="4782312" cy="256032"/>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Aplikasi CRUD Sederhana</a:t>
            </a:r>
            <a:endParaRPr lang="en-US" sz="1250" dirty="0"/>
          </a:p>
        </p:txBody>
      </p:sp>
      <p:sp>
        <p:nvSpPr>
          <p:cNvPr id="49" name="Text 36"/>
          <p:cNvSpPr txBox="1"/>
          <p:nvPr/>
        </p:nvSpPr>
        <p:spPr>
          <a:xfrm>
            <a:off x="6830568" y="4937760"/>
            <a:ext cx="4782312" cy="310896"/>
          </a:xfrm>
          <a:prstGeom prst="rect">
            <a:avLst/>
          </a:prstGeom>
          <a:noFill/>
          <a:ln/>
        </p:spPr>
        <p:txBody>
          <a:bodyPr wrap="square" lIns="0" tIns="0" rIns="0" bIns="0" rtlCol="0" anchor="t"/>
          <a:lstStyle/>
          <a:p>
            <a:pPr indent="0" marL="0">
              <a:lnSpc>
                <a:spcPct val="110000"/>
              </a:lnSpc>
              <a:buNone/>
            </a:pPr>
            <a:r>
              <a:rPr lang="en-US" sz="1100" dirty="0">
                <a:solidFill>
                  <a:srgbClr val="5F6F62"/>
                </a:solidFill>
                <a:latin typeface="Calibri" pitchFamily="34" charset="0"/>
                <a:ea typeface="Calibri" pitchFamily="34" charset="-122"/>
                <a:cs typeface="Calibri" pitchFamily="34" charset="-120"/>
              </a:rPr>
              <a:t>Kerangka berbaterai lengkap seperti Laravel atau Django kadang lebih cepat jadi.</a:t>
            </a:r>
            <a:endParaRPr lang="en-US" sz="1100" dirty="0"/>
          </a:p>
        </p:txBody>
      </p:sp>
      <p:sp>
        <p:nvSpPr>
          <p:cNvPr id="50" name="Shape 37"/>
          <p:cNvSpPr/>
          <p:nvPr/>
        </p:nvSpPr>
        <p:spPr>
          <a:xfrm>
            <a:off x="640080" y="5413248"/>
            <a:ext cx="10972800" cy="566928"/>
          </a:xfrm>
          <a:prstGeom prst="roundRect">
            <a:avLst>
              <a:gd name="adj" fmla="val 14516"/>
            </a:avLst>
          </a:prstGeom>
          <a:solidFill>
            <a:srgbClr val="0B2015"/>
          </a:solidFill>
          <a:ln w="12700">
            <a:solidFill>
              <a:srgbClr val="0B2015"/>
            </a:solidFill>
            <a:prstDash val="solid"/>
          </a:ln>
        </p:spPr>
      </p:sp>
      <p:sp>
        <p:nvSpPr>
          <p:cNvPr id="51" name="Text 38"/>
          <p:cNvSpPr txBox="1"/>
          <p:nvPr/>
        </p:nvSpPr>
        <p:spPr>
          <a:xfrm>
            <a:off x="914400" y="5413248"/>
            <a:ext cx="10424160" cy="566928"/>
          </a:xfrm>
          <a:prstGeom prst="rect">
            <a:avLst/>
          </a:prstGeom>
          <a:noFill/>
          <a:ln/>
        </p:spPr>
        <p:txBody>
          <a:bodyPr wrap="square" lIns="0" tIns="0" rIns="0" bIns="0" rtlCol="0" anchor="ctr"/>
          <a:lstStyle/>
          <a:p>
            <a:pPr indent="0" marL="0">
              <a:buNone/>
            </a:pPr>
            <a:r>
              <a:rPr lang="en-US" sz="1150" dirty="0">
                <a:solidFill>
                  <a:srgbClr val="CFE6D2"/>
                </a:solidFill>
                <a:latin typeface="Calibri" pitchFamily="34" charset="0"/>
                <a:ea typeface="Calibri" pitchFamily="34" charset="-122"/>
                <a:cs typeface="Calibri" pitchFamily="34" charset="-120"/>
              </a:rPr>
              <a:t>Perusahaan seperti Netflix, LinkedIn, PayPal, Uber, NASA, dan Trello memakai Node.js pada layanan produksi mereka.</a:t>
            </a:r>
            <a:endParaRPr lang="en-US" sz="1150" dirty="0"/>
          </a:p>
        </p:txBody>
      </p:sp>
      <p:sp>
        <p:nvSpPr>
          <p:cNvPr id="52" name="Text 3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53" name="Text 4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Roadmap Belajar Node.js</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Urutan belajar bertahap dari dasar hingga siap kerja</a:t>
            </a:r>
            <a:endParaRPr lang="en-US" sz="1300" dirty="0"/>
          </a:p>
        </p:txBody>
      </p:sp>
      <p:sp>
        <p:nvSpPr>
          <p:cNvPr id="6" name="Shape 3"/>
          <p:cNvSpPr/>
          <p:nvPr/>
        </p:nvSpPr>
        <p:spPr>
          <a:xfrm>
            <a:off x="640080" y="1627632"/>
            <a:ext cx="2542032" cy="3566160"/>
          </a:xfrm>
          <a:prstGeom prst="roundRect">
            <a:avLst>
              <a:gd name="adj" fmla="val 323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7" name="Shape 4"/>
          <p:cNvSpPr/>
          <p:nvPr/>
        </p:nvSpPr>
        <p:spPr>
          <a:xfrm>
            <a:off x="877824" y="1828800"/>
            <a:ext cx="1005840" cy="347472"/>
          </a:xfrm>
          <a:prstGeom prst="roundRect">
            <a:avLst>
              <a:gd name="adj" fmla="val 50000"/>
            </a:avLst>
          </a:prstGeom>
          <a:solidFill>
            <a:srgbClr val="8CC84B"/>
          </a:solidFill>
          <a:ln w="12700">
            <a:solidFill>
              <a:srgbClr val="8CC84B"/>
            </a:solidFill>
            <a:prstDash val="solid"/>
          </a:ln>
        </p:spPr>
      </p:sp>
      <p:sp>
        <p:nvSpPr>
          <p:cNvPr id="8" name="Text 5"/>
          <p:cNvSpPr txBox="1"/>
          <p:nvPr/>
        </p:nvSpPr>
        <p:spPr>
          <a:xfrm>
            <a:off x="877824" y="1828800"/>
            <a:ext cx="1005840" cy="347472"/>
          </a:xfrm>
          <a:prstGeom prst="rect">
            <a:avLst/>
          </a:prstGeom>
          <a:noFill/>
          <a:ln/>
        </p:spPr>
        <p:txBody>
          <a:bodyPr wrap="square" lIns="0" tIns="0" rIns="0" bIns="0" rtlCol="0" anchor="ctr"/>
          <a:lstStyle/>
          <a:p>
            <a:pPr algn="ctr" indent="0" marL="0">
              <a:buNone/>
            </a:pPr>
            <a:r>
              <a:rPr lang="en-US" sz="1000" b="1" dirty="0">
                <a:solidFill>
                  <a:srgbClr val="1F3D26"/>
                </a:solidFill>
                <a:latin typeface="Calibri" pitchFamily="34" charset="0"/>
                <a:ea typeface="Calibri" pitchFamily="34" charset="-122"/>
                <a:cs typeface="Calibri" pitchFamily="34" charset="-120"/>
              </a:rPr>
              <a:t>Tahap 1</a:t>
            </a:r>
            <a:endParaRPr lang="en-US" sz="1000" dirty="0"/>
          </a:p>
        </p:txBody>
      </p:sp>
      <p:sp>
        <p:nvSpPr>
          <p:cNvPr id="9" name="Text 6"/>
          <p:cNvSpPr txBox="1"/>
          <p:nvPr/>
        </p:nvSpPr>
        <p:spPr>
          <a:xfrm>
            <a:off x="877824" y="2267712"/>
            <a:ext cx="2066544" cy="365760"/>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Fondasi</a:t>
            </a:r>
            <a:endParaRPr lang="en-US" sz="1500" dirty="0"/>
          </a:p>
        </p:txBody>
      </p:sp>
      <p:sp>
        <p:nvSpPr>
          <p:cNvPr id="10" name="Text 7"/>
          <p:cNvSpPr txBox="1"/>
          <p:nvPr/>
        </p:nvSpPr>
        <p:spPr>
          <a:xfrm>
            <a:off x="932688" y="2706624"/>
            <a:ext cx="1993392" cy="2286000"/>
          </a:xfrm>
          <a:prstGeom prst="rect">
            <a:avLst/>
          </a:prstGeom>
          <a:noFill/>
          <a:ln/>
        </p:spPr>
        <p:txBody>
          <a:bodyPr wrap="square" lIns="0" tIns="0" rIns="0" bIns="0" rtlCol="0" anchor="t"/>
          <a:lstStyle/>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Dasar JavaScript modern (ES6+)</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Instalasi Node.js dan NVM</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REPL, menjalankan skrip, dan npm</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Sistem modul CommonJS dan ESM</a:t>
            </a:r>
            <a:endParaRPr lang="en-US" sz="1030" dirty="0"/>
          </a:p>
        </p:txBody>
      </p:sp>
      <p:pic>
        <p:nvPicPr>
          <p:cNvPr id="11" name="Image 1" descr="preencoded.png">    </p:cNvPr>
          <p:cNvPicPr>
            <a:picLocks noChangeAspect="1"/>
          </p:cNvPicPr>
          <p:nvPr/>
        </p:nvPicPr>
        <p:blipFill>
          <a:blip r:embed="rId2"/>
          <a:stretch>
            <a:fillRect/>
          </a:stretch>
        </p:blipFill>
        <p:spPr>
          <a:xfrm>
            <a:off x="3227832" y="3291840"/>
            <a:ext cx="201168" cy="201168"/>
          </a:xfrm>
          <a:prstGeom prst="rect">
            <a:avLst/>
          </a:prstGeom>
        </p:spPr>
      </p:pic>
      <p:sp>
        <p:nvSpPr>
          <p:cNvPr id="12" name="Shape 8"/>
          <p:cNvSpPr/>
          <p:nvPr/>
        </p:nvSpPr>
        <p:spPr>
          <a:xfrm>
            <a:off x="3447288" y="1627632"/>
            <a:ext cx="2542032" cy="3566160"/>
          </a:xfrm>
          <a:prstGeom prst="roundRect">
            <a:avLst>
              <a:gd name="adj" fmla="val 323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3" name="Shape 9"/>
          <p:cNvSpPr/>
          <p:nvPr/>
        </p:nvSpPr>
        <p:spPr>
          <a:xfrm>
            <a:off x="3685032" y="1828800"/>
            <a:ext cx="1005840" cy="347472"/>
          </a:xfrm>
          <a:prstGeom prst="roundRect">
            <a:avLst>
              <a:gd name="adj" fmla="val 50000"/>
            </a:avLst>
          </a:prstGeom>
          <a:solidFill>
            <a:srgbClr val="7CB342"/>
          </a:solidFill>
          <a:ln w="12700">
            <a:solidFill>
              <a:srgbClr val="7CB342"/>
            </a:solidFill>
            <a:prstDash val="solid"/>
          </a:ln>
        </p:spPr>
      </p:sp>
      <p:sp>
        <p:nvSpPr>
          <p:cNvPr id="14" name="Text 10"/>
          <p:cNvSpPr txBox="1"/>
          <p:nvPr/>
        </p:nvSpPr>
        <p:spPr>
          <a:xfrm>
            <a:off x="3685032" y="1828800"/>
            <a:ext cx="1005840" cy="347472"/>
          </a:xfrm>
          <a:prstGeom prst="rect">
            <a:avLst/>
          </a:prstGeom>
          <a:noFill/>
          <a:ln/>
        </p:spPr>
        <p:txBody>
          <a:bodyPr wrap="square" lIns="0" tIns="0" rIns="0" bIns="0" rtlCol="0" anchor="ctr"/>
          <a:lstStyle/>
          <a:p>
            <a:pPr algn="ctr" indent="0" marL="0">
              <a:buNone/>
            </a:pPr>
            <a:r>
              <a:rPr lang="en-US" sz="1000" b="1" dirty="0">
                <a:solidFill>
                  <a:srgbClr val="1F3D26"/>
                </a:solidFill>
                <a:latin typeface="Calibri" pitchFamily="34" charset="0"/>
                <a:ea typeface="Calibri" pitchFamily="34" charset="-122"/>
                <a:cs typeface="Calibri" pitchFamily="34" charset="-120"/>
              </a:rPr>
              <a:t>Tahap 2</a:t>
            </a:r>
            <a:endParaRPr lang="en-US" sz="1000" dirty="0"/>
          </a:p>
        </p:txBody>
      </p:sp>
      <p:sp>
        <p:nvSpPr>
          <p:cNvPr id="15" name="Text 11"/>
          <p:cNvSpPr txBox="1"/>
          <p:nvPr/>
        </p:nvSpPr>
        <p:spPr>
          <a:xfrm>
            <a:off x="3685032" y="2267712"/>
            <a:ext cx="2066544" cy="365760"/>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Inti Node.js</a:t>
            </a:r>
            <a:endParaRPr lang="en-US" sz="1500" dirty="0"/>
          </a:p>
        </p:txBody>
      </p:sp>
      <p:sp>
        <p:nvSpPr>
          <p:cNvPr id="16" name="Text 12"/>
          <p:cNvSpPr txBox="1"/>
          <p:nvPr/>
        </p:nvSpPr>
        <p:spPr>
          <a:xfrm>
            <a:off x="3739896" y="2706624"/>
            <a:ext cx="1993392" cy="2286000"/>
          </a:xfrm>
          <a:prstGeom prst="rect">
            <a:avLst/>
          </a:prstGeom>
          <a:noFill/>
          <a:ln/>
        </p:spPr>
        <p:txBody>
          <a:bodyPr wrap="square" lIns="0" tIns="0" rIns="0" bIns="0" rtlCol="0" anchor="t"/>
          <a:lstStyle/>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Modul fs, path, os, dan http</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Callback, Promise, async/await</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EventEmitter, Stream, dan Buffer</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Penanganan galat yang benar</a:t>
            </a:r>
            <a:endParaRPr lang="en-US" sz="1030" dirty="0"/>
          </a:p>
        </p:txBody>
      </p:sp>
      <p:pic>
        <p:nvPicPr>
          <p:cNvPr id="17" name="Image 2" descr="preencoded.png">    </p:cNvPr>
          <p:cNvPicPr>
            <a:picLocks noChangeAspect="1"/>
          </p:cNvPicPr>
          <p:nvPr/>
        </p:nvPicPr>
        <p:blipFill>
          <a:blip r:embed="rId3"/>
          <a:stretch>
            <a:fillRect/>
          </a:stretch>
        </p:blipFill>
        <p:spPr>
          <a:xfrm>
            <a:off x="6035040" y="3291840"/>
            <a:ext cx="201168" cy="201168"/>
          </a:xfrm>
          <a:prstGeom prst="rect">
            <a:avLst/>
          </a:prstGeom>
        </p:spPr>
      </p:pic>
      <p:sp>
        <p:nvSpPr>
          <p:cNvPr id="18" name="Shape 13"/>
          <p:cNvSpPr/>
          <p:nvPr/>
        </p:nvSpPr>
        <p:spPr>
          <a:xfrm>
            <a:off x="6254496" y="1627632"/>
            <a:ext cx="2542032" cy="3566160"/>
          </a:xfrm>
          <a:prstGeom prst="roundRect">
            <a:avLst>
              <a:gd name="adj" fmla="val 323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19" name="Shape 14"/>
          <p:cNvSpPr/>
          <p:nvPr/>
        </p:nvSpPr>
        <p:spPr>
          <a:xfrm>
            <a:off x="6492240" y="1828800"/>
            <a:ext cx="1005840" cy="347472"/>
          </a:xfrm>
          <a:prstGeom prst="roundRect">
            <a:avLst>
              <a:gd name="adj" fmla="val 50000"/>
            </a:avLst>
          </a:prstGeom>
          <a:solidFill>
            <a:srgbClr val="3C873A"/>
          </a:solidFill>
          <a:ln w="12700">
            <a:solidFill>
              <a:srgbClr val="3C873A"/>
            </a:solidFill>
            <a:prstDash val="solid"/>
          </a:ln>
        </p:spPr>
      </p:sp>
      <p:sp>
        <p:nvSpPr>
          <p:cNvPr id="20" name="Text 15"/>
          <p:cNvSpPr txBox="1"/>
          <p:nvPr/>
        </p:nvSpPr>
        <p:spPr>
          <a:xfrm>
            <a:off x="6492240" y="1828800"/>
            <a:ext cx="10058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Tahap 3</a:t>
            </a:r>
            <a:endParaRPr lang="en-US" sz="1000" dirty="0"/>
          </a:p>
        </p:txBody>
      </p:sp>
      <p:sp>
        <p:nvSpPr>
          <p:cNvPr id="21" name="Text 16"/>
          <p:cNvSpPr txBox="1"/>
          <p:nvPr/>
        </p:nvSpPr>
        <p:spPr>
          <a:xfrm>
            <a:off x="6492240" y="2267712"/>
            <a:ext cx="2066544" cy="365760"/>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Aplikasi Web</a:t>
            </a:r>
            <a:endParaRPr lang="en-US" sz="1500" dirty="0"/>
          </a:p>
        </p:txBody>
      </p:sp>
      <p:sp>
        <p:nvSpPr>
          <p:cNvPr id="22" name="Text 17"/>
          <p:cNvSpPr txBox="1"/>
          <p:nvPr/>
        </p:nvSpPr>
        <p:spPr>
          <a:xfrm>
            <a:off x="6547104" y="2706624"/>
            <a:ext cx="1993392" cy="2286000"/>
          </a:xfrm>
          <a:prstGeom prst="rect">
            <a:avLst/>
          </a:prstGeom>
          <a:noFill/>
          <a:ln/>
        </p:spPr>
        <p:txBody>
          <a:bodyPr wrap="square" lIns="0" tIns="0" rIns="0" bIns="0" rtlCol="0" anchor="t"/>
          <a:lstStyle/>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Express: routing dan middleware</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Membangun REST API CRUD</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Basis data dan ORM</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Autentikasi dengan JWT</a:t>
            </a:r>
            <a:endParaRPr lang="en-US" sz="1030" dirty="0"/>
          </a:p>
        </p:txBody>
      </p:sp>
      <p:pic>
        <p:nvPicPr>
          <p:cNvPr id="23" name="Image 3" descr="preencoded.png">    </p:cNvPr>
          <p:cNvPicPr>
            <a:picLocks noChangeAspect="1"/>
          </p:cNvPicPr>
          <p:nvPr/>
        </p:nvPicPr>
        <p:blipFill>
          <a:blip r:embed="rId4"/>
          <a:stretch>
            <a:fillRect/>
          </a:stretch>
        </p:blipFill>
        <p:spPr>
          <a:xfrm>
            <a:off x="8842248" y="3291840"/>
            <a:ext cx="201168" cy="201168"/>
          </a:xfrm>
          <a:prstGeom prst="rect">
            <a:avLst/>
          </a:prstGeom>
        </p:spPr>
      </p:pic>
      <p:sp>
        <p:nvSpPr>
          <p:cNvPr id="24" name="Shape 18"/>
          <p:cNvSpPr/>
          <p:nvPr/>
        </p:nvSpPr>
        <p:spPr>
          <a:xfrm>
            <a:off x="9061704" y="1627632"/>
            <a:ext cx="2542032" cy="3566160"/>
          </a:xfrm>
          <a:prstGeom prst="roundRect">
            <a:avLst>
              <a:gd name="adj" fmla="val 3237"/>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sp>
        <p:nvSpPr>
          <p:cNvPr id="25" name="Shape 19"/>
          <p:cNvSpPr/>
          <p:nvPr/>
        </p:nvSpPr>
        <p:spPr>
          <a:xfrm>
            <a:off x="9299448" y="1828800"/>
            <a:ext cx="1005840" cy="347472"/>
          </a:xfrm>
          <a:prstGeom prst="roundRect">
            <a:avLst>
              <a:gd name="adj" fmla="val 50000"/>
            </a:avLst>
          </a:prstGeom>
          <a:solidFill>
            <a:srgbClr val="2C5F3A"/>
          </a:solidFill>
          <a:ln w="12700">
            <a:solidFill>
              <a:srgbClr val="2C5F3A"/>
            </a:solidFill>
            <a:prstDash val="solid"/>
          </a:ln>
        </p:spPr>
      </p:sp>
      <p:sp>
        <p:nvSpPr>
          <p:cNvPr id="26" name="Text 20"/>
          <p:cNvSpPr txBox="1"/>
          <p:nvPr/>
        </p:nvSpPr>
        <p:spPr>
          <a:xfrm>
            <a:off x="9299448" y="1828800"/>
            <a:ext cx="100584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Tahap 4</a:t>
            </a:r>
            <a:endParaRPr lang="en-US" sz="1000" dirty="0"/>
          </a:p>
        </p:txBody>
      </p:sp>
      <p:sp>
        <p:nvSpPr>
          <p:cNvPr id="27" name="Text 21"/>
          <p:cNvSpPr txBox="1"/>
          <p:nvPr/>
        </p:nvSpPr>
        <p:spPr>
          <a:xfrm>
            <a:off x="9299448" y="2267712"/>
            <a:ext cx="2066544" cy="365760"/>
          </a:xfrm>
          <a:prstGeom prst="rect">
            <a:avLst/>
          </a:prstGeom>
          <a:noFill/>
          <a:ln/>
        </p:spPr>
        <p:txBody>
          <a:bodyPr wrap="square" lIns="0" tIns="0" rIns="0" bIns="0" rtlCol="0" anchor="ctr"/>
          <a:lstStyle/>
          <a:p>
            <a:pPr indent="0" marL="0">
              <a:buNone/>
            </a:pPr>
            <a:r>
              <a:rPr lang="en-US" sz="1500" b="1" dirty="0">
                <a:solidFill>
                  <a:srgbClr val="16241B"/>
                </a:solidFill>
                <a:latin typeface="Arial" pitchFamily="34" charset="0"/>
                <a:ea typeface="Arial" pitchFamily="34" charset="-122"/>
                <a:cs typeface="Arial" pitchFamily="34" charset="-120"/>
              </a:rPr>
              <a:t>Siap Produksi</a:t>
            </a:r>
            <a:endParaRPr lang="en-US" sz="1500" dirty="0"/>
          </a:p>
        </p:txBody>
      </p:sp>
      <p:sp>
        <p:nvSpPr>
          <p:cNvPr id="28" name="Text 22"/>
          <p:cNvSpPr txBox="1"/>
          <p:nvPr/>
        </p:nvSpPr>
        <p:spPr>
          <a:xfrm>
            <a:off x="9354312" y="2706624"/>
            <a:ext cx="1993392" cy="2286000"/>
          </a:xfrm>
          <a:prstGeom prst="rect">
            <a:avLst/>
          </a:prstGeom>
          <a:noFill/>
          <a:ln/>
        </p:spPr>
        <p:txBody>
          <a:bodyPr wrap="square" lIns="0" tIns="0" rIns="0" bIns="0" rtlCol="0" anchor="t"/>
          <a:lstStyle/>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Pengujian dengan Jest dan Supertest</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Keamanan dan validasi masukan</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Docker, PM2, dan CI/CD</a:t>
            </a:r>
            <a:endParaRPr lang="en-US" sz="1030" dirty="0"/>
          </a:p>
          <a:p>
            <a:pPr marL="342900" indent="-342900">
              <a:spcAft>
                <a:spcPts val="700"/>
              </a:spcAft>
              <a:buSzPct val="100000"/>
              <a:buChar char="•"/>
            </a:pPr>
            <a:r>
              <a:rPr lang="en-US" sz="1030" dirty="0">
                <a:solidFill>
                  <a:srgbClr val="5F6F62"/>
                </a:solidFill>
                <a:latin typeface="Calibri" pitchFamily="34" charset="0"/>
                <a:ea typeface="Calibri" pitchFamily="34" charset="-122"/>
                <a:cs typeface="Calibri" pitchFamily="34" charset="-120"/>
              </a:rPr>
              <a:t>Pemantauan, log, dan optimasi</a:t>
            </a:r>
            <a:endParaRPr lang="en-US" sz="1030" dirty="0"/>
          </a:p>
        </p:txBody>
      </p:sp>
      <p:sp>
        <p:nvSpPr>
          <p:cNvPr id="29" name="Shape 23"/>
          <p:cNvSpPr/>
          <p:nvPr/>
        </p:nvSpPr>
        <p:spPr>
          <a:xfrm>
            <a:off x="640080" y="5431536"/>
            <a:ext cx="420624" cy="420624"/>
          </a:xfrm>
          <a:prstGeom prst="roundRect">
            <a:avLst>
              <a:gd name="adj" fmla="val 26087"/>
            </a:avLst>
          </a:prstGeom>
          <a:solidFill>
            <a:srgbClr val="E8F2E2"/>
          </a:solidFill>
          <a:ln w="12700">
            <a:solidFill>
              <a:srgbClr val="E8F2E2"/>
            </a:solidFill>
            <a:prstDash val="solid"/>
          </a:ln>
        </p:spPr>
      </p:sp>
      <p:pic>
        <p:nvPicPr>
          <p:cNvPr id="30" name="Image 4" descr="preencoded.png">    </p:cNvPr>
          <p:cNvPicPr>
            <a:picLocks noChangeAspect="1"/>
          </p:cNvPicPr>
          <p:nvPr/>
        </p:nvPicPr>
        <p:blipFill>
          <a:blip r:embed="rId5"/>
          <a:stretch>
            <a:fillRect/>
          </a:stretch>
        </p:blipFill>
        <p:spPr>
          <a:xfrm>
            <a:off x="745236" y="5536692"/>
            <a:ext cx="210312" cy="210312"/>
          </a:xfrm>
          <a:prstGeom prst="rect">
            <a:avLst/>
          </a:prstGeom>
        </p:spPr>
      </p:pic>
      <p:sp>
        <p:nvSpPr>
          <p:cNvPr id="31" name="Text 24"/>
          <p:cNvSpPr txBox="1"/>
          <p:nvPr/>
        </p:nvSpPr>
        <p:spPr>
          <a:xfrm>
            <a:off x="1207008" y="5413248"/>
            <a:ext cx="29535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Bangun Proyek Nyata</a:t>
            </a:r>
            <a:endParaRPr lang="en-US" sz="1150" dirty="0"/>
          </a:p>
        </p:txBody>
      </p:sp>
      <p:sp>
        <p:nvSpPr>
          <p:cNvPr id="32" name="Text 25"/>
          <p:cNvSpPr txBox="1"/>
          <p:nvPr/>
        </p:nvSpPr>
        <p:spPr>
          <a:xfrm>
            <a:off x="1207008" y="5669280"/>
            <a:ext cx="2953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Buat aplikasi kecil: API catatan, blog, atau toko sederhana.</a:t>
            </a:r>
            <a:endParaRPr lang="en-US" sz="960" dirty="0"/>
          </a:p>
        </p:txBody>
      </p:sp>
      <p:sp>
        <p:nvSpPr>
          <p:cNvPr id="33" name="Shape 26"/>
          <p:cNvSpPr/>
          <p:nvPr/>
        </p:nvSpPr>
        <p:spPr>
          <a:xfrm>
            <a:off x="4443984" y="5431536"/>
            <a:ext cx="420624" cy="420624"/>
          </a:xfrm>
          <a:prstGeom prst="roundRect">
            <a:avLst>
              <a:gd name="adj" fmla="val 26087"/>
            </a:avLst>
          </a:prstGeom>
          <a:solidFill>
            <a:srgbClr val="E8F2E2"/>
          </a:solidFill>
          <a:ln w="12700">
            <a:solidFill>
              <a:srgbClr val="E8F2E2"/>
            </a:solidFill>
            <a:prstDash val="solid"/>
          </a:ln>
        </p:spPr>
      </p:sp>
      <p:pic>
        <p:nvPicPr>
          <p:cNvPr id="34" name="Image 5" descr="preencoded.png">    </p:cNvPr>
          <p:cNvPicPr>
            <a:picLocks noChangeAspect="1"/>
          </p:cNvPicPr>
          <p:nvPr/>
        </p:nvPicPr>
        <p:blipFill>
          <a:blip r:embed="rId6"/>
          <a:stretch>
            <a:fillRect/>
          </a:stretch>
        </p:blipFill>
        <p:spPr>
          <a:xfrm>
            <a:off x="4549140" y="5536692"/>
            <a:ext cx="210312" cy="210312"/>
          </a:xfrm>
          <a:prstGeom prst="rect">
            <a:avLst/>
          </a:prstGeom>
        </p:spPr>
      </p:pic>
      <p:sp>
        <p:nvSpPr>
          <p:cNvPr id="35" name="Text 27"/>
          <p:cNvSpPr txBox="1"/>
          <p:nvPr/>
        </p:nvSpPr>
        <p:spPr>
          <a:xfrm>
            <a:off x="5010912" y="5413248"/>
            <a:ext cx="29535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Baca Dokumentasi Resmi</a:t>
            </a:r>
            <a:endParaRPr lang="en-US" sz="1150" dirty="0"/>
          </a:p>
        </p:txBody>
      </p:sp>
      <p:sp>
        <p:nvSpPr>
          <p:cNvPr id="36" name="Text 28"/>
          <p:cNvSpPr txBox="1"/>
          <p:nvPr/>
        </p:nvSpPr>
        <p:spPr>
          <a:xfrm>
            <a:off x="5010912" y="5669280"/>
            <a:ext cx="2953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Dokumentasi Node.js dan MDN lebih akurat dari tutorial acak.</a:t>
            </a:r>
            <a:endParaRPr lang="en-US" sz="960" dirty="0"/>
          </a:p>
        </p:txBody>
      </p:sp>
      <p:sp>
        <p:nvSpPr>
          <p:cNvPr id="37" name="Shape 29"/>
          <p:cNvSpPr/>
          <p:nvPr/>
        </p:nvSpPr>
        <p:spPr>
          <a:xfrm>
            <a:off x="8247888" y="5431536"/>
            <a:ext cx="420624" cy="420624"/>
          </a:xfrm>
          <a:prstGeom prst="roundRect">
            <a:avLst>
              <a:gd name="adj" fmla="val 26087"/>
            </a:avLst>
          </a:prstGeom>
          <a:solidFill>
            <a:srgbClr val="E8F2E2"/>
          </a:solidFill>
          <a:ln w="12700">
            <a:solidFill>
              <a:srgbClr val="E8F2E2"/>
            </a:solidFill>
            <a:prstDash val="solid"/>
          </a:ln>
        </p:spPr>
      </p:sp>
      <p:pic>
        <p:nvPicPr>
          <p:cNvPr id="38" name="Image 6" descr="preencoded.png">    </p:cNvPr>
          <p:cNvPicPr>
            <a:picLocks noChangeAspect="1"/>
          </p:cNvPicPr>
          <p:nvPr/>
        </p:nvPicPr>
        <p:blipFill>
          <a:blip r:embed="rId7"/>
          <a:stretch>
            <a:fillRect/>
          </a:stretch>
        </p:blipFill>
        <p:spPr>
          <a:xfrm>
            <a:off x="8353044" y="5536692"/>
            <a:ext cx="210312" cy="210312"/>
          </a:xfrm>
          <a:prstGeom prst="rect">
            <a:avLst/>
          </a:prstGeom>
        </p:spPr>
      </p:pic>
      <p:sp>
        <p:nvSpPr>
          <p:cNvPr id="39" name="Text 30"/>
          <p:cNvSpPr txBox="1"/>
          <p:nvPr/>
        </p:nvSpPr>
        <p:spPr>
          <a:xfrm>
            <a:off x="8814816" y="5413248"/>
            <a:ext cx="2953512" cy="256032"/>
          </a:xfrm>
          <a:prstGeom prst="rect">
            <a:avLst/>
          </a:prstGeom>
          <a:noFill/>
          <a:ln/>
        </p:spPr>
        <p:txBody>
          <a:bodyPr wrap="square" lIns="0" tIns="0" rIns="0" bIns="0" rtlCol="0" anchor="ctr"/>
          <a:lstStyle/>
          <a:p>
            <a:pPr indent="0" marL="0">
              <a:buNone/>
            </a:pPr>
            <a:r>
              <a:rPr lang="en-US" sz="1150" b="1" dirty="0">
                <a:solidFill>
                  <a:srgbClr val="16241B"/>
                </a:solidFill>
                <a:latin typeface="Arial" pitchFamily="34" charset="0"/>
                <a:ea typeface="Arial" pitchFamily="34" charset="-122"/>
                <a:cs typeface="Arial" pitchFamily="34" charset="-120"/>
              </a:rPr>
              <a:t>Gabung Komunitas</a:t>
            </a:r>
            <a:endParaRPr lang="en-US" sz="1150" dirty="0"/>
          </a:p>
        </p:txBody>
      </p:sp>
      <p:sp>
        <p:nvSpPr>
          <p:cNvPr id="40" name="Text 31"/>
          <p:cNvSpPr txBox="1"/>
          <p:nvPr/>
        </p:nvSpPr>
        <p:spPr>
          <a:xfrm>
            <a:off x="8814816" y="5669280"/>
            <a:ext cx="2953512" cy="329184"/>
          </a:xfrm>
          <a:prstGeom prst="rect">
            <a:avLst/>
          </a:prstGeom>
          <a:noFill/>
          <a:ln/>
        </p:spPr>
        <p:txBody>
          <a:bodyPr wrap="square" lIns="0" tIns="0" rIns="0" bIns="0" rtlCol="0" anchor="t"/>
          <a:lstStyle/>
          <a:p>
            <a:pPr indent="0" marL="0">
              <a:lnSpc>
                <a:spcPct val="110000"/>
              </a:lnSpc>
              <a:buNone/>
            </a:pPr>
            <a:r>
              <a:rPr lang="en-US" sz="960" dirty="0">
                <a:solidFill>
                  <a:srgbClr val="5F6F62"/>
                </a:solidFill>
                <a:latin typeface="Calibri" pitchFamily="34" charset="0"/>
                <a:ea typeface="Calibri" pitchFamily="34" charset="-122"/>
                <a:cs typeface="Calibri" pitchFamily="34" charset="-120"/>
              </a:rPr>
              <a:t>Membaca kode orang lain mempercepat pemahaman Anda.</a:t>
            </a:r>
            <a:endParaRPr lang="en-US" sz="960" dirty="0"/>
          </a:p>
        </p:txBody>
      </p:sp>
      <p:sp>
        <p:nvSpPr>
          <p:cNvPr id="41" name="Text 32"/>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2" name="Text 33"/>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4F7F1"/>
        </a:solidFill>
      </p:bgPr>
    </p:bg>
    <p:spTree>
      <p:nvGrpSpPr>
        <p:cNvPr id="1" name=""/>
        <p:cNvGrpSpPr/>
        <p:nvPr/>
      </p:nvGrpSpPr>
      <p:grpSpPr>
        <a:xfrm>
          <a:off x="0" y="0"/>
          <a:ext cx="0" cy="0"/>
          <a:chOff x="0" y="0"/>
          <a:chExt cx="0" cy="0"/>
        </a:xfrm>
      </p:grpSpPr>
      <p:sp>
        <p:nvSpPr>
          <p:cNvPr id="2" name="Shape 0"/>
          <p:cNvSpPr/>
          <p:nvPr/>
        </p:nvSpPr>
        <p:spPr>
          <a:xfrm>
            <a:off x="640080" y="402336"/>
            <a:ext cx="603504" cy="603504"/>
          </a:xfrm>
          <a:prstGeom prst="roundRect">
            <a:avLst>
              <a:gd name="adj" fmla="val 24242"/>
            </a:avLst>
          </a:prstGeom>
          <a:solidFill>
            <a:srgbClr val="3C873A"/>
          </a:solidFill>
          <a:ln w="12700">
            <a:solidFill>
              <a:srgbClr val="3C873A"/>
            </a:solidFill>
            <a:prstDash val="solid"/>
          </a:ln>
        </p:spPr>
      </p:sp>
      <p:pic>
        <p:nvPicPr>
          <p:cNvPr id="3" name="Image 0" descr="preencoded.png">    </p:cNvPr>
          <p:cNvPicPr>
            <a:picLocks noChangeAspect="1"/>
          </p:cNvPicPr>
          <p:nvPr/>
        </p:nvPicPr>
        <p:blipFill>
          <a:blip r:embed="rId1"/>
          <a:stretch>
            <a:fillRect/>
          </a:stretch>
        </p:blipFill>
        <p:spPr>
          <a:xfrm>
            <a:off x="777240" y="539496"/>
            <a:ext cx="329184" cy="329184"/>
          </a:xfrm>
          <a:prstGeom prst="rect">
            <a:avLst/>
          </a:prstGeom>
        </p:spPr>
      </p:pic>
      <p:sp>
        <p:nvSpPr>
          <p:cNvPr id="4" name="Text 1"/>
          <p:cNvSpPr txBox="1"/>
          <p:nvPr/>
        </p:nvSpPr>
        <p:spPr>
          <a:xfrm>
            <a:off x="1426464" y="365760"/>
            <a:ext cx="9942271" cy="566928"/>
          </a:xfrm>
          <a:prstGeom prst="rect">
            <a:avLst/>
          </a:prstGeom>
          <a:noFill/>
          <a:ln/>
        </p:spPr>
        <p:txBody>
          <a:bodyPr wrap="square" lIns="0" tIns="0" rIns="0" bIns="0" rtlCol="0" anchor="ctr"/>
          <a:lstStyle/>
          <a:p>
            <a:pPr algn="l" indent="0" marL="0">
              <a:buNone/>
            </a:pPr>
            <a:r>
              <a:rPr lang="en-US" sz="2700" b="1" dirty="0">
                <a:solidFill>
                  <a:srgbClr val="16241B"/>
                </a:solidFill>
                <a:latin typeface="Arial" pitchFamily="34" charset="0"/>
                <a:ea typeface="Arial" pitchFamily="34" charset="-122"/>
                <a:cs typeface="Arial" pitchFamily="34" charset="-120"/>
              </a:rPr>
              <a:t>Referensi dan Sumber Belajar</a:t>
            </a:r>
            <a:endParaRPr lang="en-US" sz="2700" dirty="0"/>
          </a:p>
        </p:txBody>
      </p:sp>
      <p:sp>
        <p:nvSpPr>
          <p:cNvPr id="5" name="Text 2"/>
          <p:cNvSpPr txBox="1"/>
          <p:nvPr/>
        </p:nvSpPr>
        <p:spPr>
          <a:xfrm>
            <a:off x="1426464" y="932688"/>
            <a:ext cx="9942271" cy="329184"/>
          </a:xfrm>
          <a:prstGeom prst="rect">
            <a:avLst/>
          </a:prstGeom>
          <a:noFill/>
          <a:ln/>
        </p:spPr>
        <p:txBody>
          <a:bodyPr wrap="square" lIns="0" tIns="0" rIns="0" bIns="0" rtlCol="0" anchor="ctr"/>
          <a:lstStyle/>
          <a:p>
            <a:pPr algn="l" indent="0" marL="0">
              <a:buNone/>
            </a:pPr>
            <a:r>
              <a:rPr lang="en-US" sz="1300" dirty="0">
                <a:solidFill>
                  <a:srgbClr val="5F6F62"/>
                </a:solidFill>
                <a:latin typeface="Calibri" pitchFamily="34" charset="0"/>
                <a:ea typeface="Calibri" pitchFamily="34" charset="-122"/>
                <a:cs typeface="Calibri" pitchFamily="34" charset="-120"/>
              </a:rPr>
              <a:t>Rujukan tepercaya untuk memperdalam materi ini</a:t>
            </a:r>
            <a:endParaRPr lang="en-US" sz="1300" dirty="0"/>
          </a:p>
        </p:txBody>
      </p:sp>
      <p:sp>
        <p:nvSpPr>
          <p:cNvPr id="6" name="Shape 3"/>
          <p:cNvSpPr/>
          <p:nvPr/>
        </p:nvSpPr>
        <p:spPr>
          <a:xfrm>
            <a:off x="640080" y="1627632"/>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7" name="Image 1" descr="preencoded.png">    </p:cNvPr>
          <p:cNvPicPr>
            <a:picLocks noChangeAspect="1"/>
          </p:cNvPicPr>
          <p:nvPr/>
        </p:nvPicPr>
        <p:blipFill>
          <a:blip r:embed="rId2"/>
          <a:stretch>
            <a:fillRect/>
          </a:stretch>
        </p:blipFill>
        <p:spPr>
          <a:xfrm>
            <a:off x="896112" y="1865376"/>
            <a:ext cx="384048" cy="384048"/>
          </a:xfrm>
          <a:prstGeom prst="rect">
            <a:avLst/>
          </a:prstGeom>
        </p:spPr>
      </p:pic>
      <p:sp>
        <p:nvSpPr>
          <p:cNvPr id="8" name="Text 4"/>
          <p:cNvSpPr txBox="1"/>
          <p:nvPr/>
        </p:nvSpPr>
        <p:spPr>
          <a:xfrm>
            <a:off x="1408176" y="1828800"/>
            <a:ext cx="2514600"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Dokumentasi Resmi Node.js</a:t>
            </a:r>
            <a:endParaRPr lang="en-US" sz="1250" dirty="0"/>
          </a:p>
        </p:txBody>
      </p:sp>
      <p:sp>
        <p:nvSpPr>
          <p:cNvPr id="9" name="Text 5"/>
          <p:cNvSpPr txBox="1"/>
          <p:nvPr/>
        </p:nvSpPr>
        <p:spPr>
          <a:xfrm>
            <a:off x="896112" y="2359152"/>
            <a:ext cx="3008376" cy="237744"/>
          </a:xfrm>
          <a:prstGeom prst="rect">
            <a:avLst/>
          </a:prstGeom>
          <a:noFill/>
          <a:ln/>
        </p:spPr>
        <p:txBody>
          <a:bodyPr wrap="square" lIns="0" tIns="0" rIns="0" bIns="0" rtlCol="0" anchor="ctr"/>
          <a:lstStyle/>
          <a:p>
            <a:pPr indent="0" marL="0">
              <a:buNone/>
            </a:pPr>
            <a:r>
              <a:rPr lang="en-US" sz="980" dirty="0">
                <a:solidFill>
                  <a:srgbClr val="3C873A"/>
                </a:solidFill>
                <a:latin typeface="Courier New" pitchFamily="34" charset="0"/>
                <a:ea typeface="Courier New" pitchFamily="34" charset="-122"/>
                <a:cs typeface="Courier New" pitchFamily="34" charset="-120"/>
              </a:rPr>
              <a:t>nodejs.org/docs</a:t>
            </a:r>
            <a:endParaRPr lang="en-US" sz="980" dirty="0"/>
          </a:p>
        </p:txBody>
      </p:sp>
      <p:sp>
        <p:nvSpPr>
          <p:cNvPr id="10" name="Text 6"/>
          <p:cNvSpPr txBox="1"/>
          <p:nvPr/>
        </p:nvSpPr>
        <p:spPr>
          <a:xfrm>
            <a:off x="896112" y="2596896"/>
            <a:ext cx="3008376" cy="40233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Rujukan utama seluruh API inti Node.js beserta panduan resminya.</a:t>
            </a:r>
            <a:endParaRPr lang="en-US" sz="980" dirty="0"/>
          </a:p>
        </p:txBody>
      </p:sp>
      <p:sp>
        <p:nvSpPr>
          <p:cNvPr id="11" name="Shape 7"/>
          <p:cNvSpPr/>
          <p:nvPr/>
        </p:nvSpPr>
        <p:spPr>
          <a:xfrm>
            <a:off x="4443984" y="1627632"/>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2" name="Image 2" descr="preencoded.png">    </p:cNvPr>
          <p:cNvPicPr>
            <a:picLocks noChangeAspect="1"/>
          </p:cNvPicPr>
          <p:nvPr/>
        </p:nvPicPr>
        <p:blipFill>
          <a:blip r:embed="rId3"/>
          <a:stretch>
            <a:fillRect/>
          </a:stretch>
        </p:blipFill>
        <p:spPr>
          <a:xfrm>
            <a:off x="4700016" y="1865376"/>
            <a:ext cx="384048" cy="384048"/>
          </a:xfrm>
          <a:prstGeom prst="rect">
            <a:avLst/>
          </a:prstGeom>
        </p:spPr>
      </p:pic>
      <p:sp>
        <p:nvSpPr>
          <p:cNvPr id="13" name="Text 8"/>
          <p:cNvSpPr txBox="1"/>
          <p:nvPr/>
        </p:nvSpPr>
        <p:spPr>
          <a:xfrm>
            <a:off x="5212080" y="1828800"/>
            <a:ext cx="2514600"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MDN Web Docs</a:t>
            </a:r>
            <a:endParaRPr lang="en-US" sz="1250" dirty="0"/>
          </a:p>
        </p:txBody>
      </p:sp>
      <p:sp>
        <p:nvSpPr>
          <p:cNvPr id="14" name="Text 9"/>
          <p:cNvSpPr txBox="1"/>
          <p:nvPr/>
        </p:nvSpPr>
        <p:spPr>
          <a:xfrm>
            <a:off x="4700016" y="2359152"/>
            <a:ext cx="3008376" cy="237744"/>
          </a:xfrm>
          <a:prstGeom prst="rect">
            <a:avLst/>
          </a:prstGeom>
          <a:noFill/>
          <a:ln/>
        </p:spPr>
        <p:txBody>
          <a:bodyPr wrap="square" lIns="0" tIns="0" rIns="0" bIns="0" rtlCol="0" anchor="ctr"/>
          <a:lstStyle/>
          <a:p>
            <a:pPr indent="0" marL="0">
              <a:buNone/>
            </a:pPr>
            <a:r>
              <a:rPr lang="en-US" sz="980" dirty="0">
                <a:solidFill>
                  <a:srgbClr val="3C873A"/>
                </a:solidFill>
                <a:latin typeface="Courier New" pitchFamily="34" charset="0"/>
                <a:ea typeface="Courier New" pitchFamily="34" charset="-122"/>
                <a:cs typeface="Courier New" pitchFamily="34" charset="-120"/>
              </a:rPr>
              <a:t>developer.mozilla.org</a:t>
            </a:r>
            <a:endParaRPr lang="en-US" sz="980" dirty="0"/>
          </a:p>
        </p:txBody>
      </p:sp>
      <p:sp>
        <p:nvSpPr>
          <p:cNvPr id="15" name="Text 10"/>
          <p:cNvSpPr txBox="1"/>
          <p:nvPr/>
        </p:nvSpPr>
        <p:spPr>
          <a:xfrm>
            <a:off x="4700016" y="2596896"/>
            <a:ext cx="3008376" cy="40233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Referensi paling lengkap untuk bahasa JavaScript itu sendiri.</a:t>
            </a:r>
            <a:endParaRPr lang="en-US" sz="980" dirty="0"/>
          </a:p>
        </p:txBody>
      </p:sp>
      <p:sp>
        <p:nvSpPr>
          <p:cNvPr id="16" name="Shape 11"/>
          <p:cNvSpPr/>
          <p:nvPr/>
        </p:nvSpPr>
        <p:spPr>
          <a:xfrm>
            <a:off x="8247888" y="1627632"/>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17" name="Image 3" descr="preencoded.png">    </p:cNvPr>
          <p:cNvPicPr>
            <a:picLocks noChangeAspect="1"/>
          </p:cNvPicPr>
          <p:nvPr/>
        </p:nvPicPr>
        <p:blipFill>
          <a:blip r:embed="rId4"/>
          <a:stretch>
            <a:fillRect/>
          </a:stretch>
        </p:blipFill>
        <p:spPr>
          <a:xfrm>
            <a:off x="8503920" y="1865376"/>
            <a:ext cx="384048" cy="384048"/>
          </a:xfrm>
          <a:prstGeom prst="rect">
            <a:avLst/>
          </a:prstGeom>
        </p:spPr>
      </p:pic>
      <p:sp>
        <p:nvSpPr>
          <p:cNvPr id="18" name="Text 12"/>
          <p:cNvSpPr txBox="1"/>
          <p:nvPr/>
        </p:nvSpPr>
        <p:spPr>
          <a:xfrm>
            <a:off x="9015984" y="1828800"/>
            <a:ext cx="2514600"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Registry NPM</a:t>
            </a:r>
            <a:endParaRPr lang="en-US" sz="1250" dirty="0"/>
          </a:p>
        </p:txBody>
      </p:sp>
      <p:sp>
        <p:nvSpPr>
          <p:cNvPr id="19" name="Text 13"/>
          <p:cNvSpPr txBox="1"/>
          <p:nvPr/>
        </p:nvSpPr>
        <p:spPr>
          <a:xfrm>
            <a:off x="8503920" y="2359152"/>
            <a:ext cx="3008376" cy="237744"/>
          </a:xfrm>
          <a:prstGeom prst="rect">
            <a:avLst/>
          </a:prstGeom>
          <a:noFill/>
          <a:ln/>
        </p:spPr>
        <p:txBody>
          <a:bodyPr wrap="square" lIns="0" tIns="0" rIns="0" bIns="0" rtlCol="0" anchor="ctr"/>
          <a:lstStyle/>
          <a:p>
            <a:pPr indent="0" marL="0">
              <a:buNone/>
            </a:pPr>
            <a:r>
              <a:rPr lang="en-US" sz="980" dirty="0">
                <a:solidFill>
                  <a:srgbClr val="3C873A"/>
                </a:solidFill>
                <a:latin typeface="Courier New" pitchFamily="34" charset="0"/>
                <a:ea typeface="Courier New" pitchFamily="34" charset="-122"/>
                <a:cs typeface="Courier New" pitchFamily="34" charset="-120"/>
              </a:rPr>
              <a:t>npmjs.com</a:t>
            </a:r>
            <a:endParaRPr lang="en-US" sz="980" dirty="0"/>
          </a:p>
        </p:txBody>
      </p:sp>
      <p:sp>
        <p:nvSpPr>
          <p:cNvPr id="20" name="Text 14"/>
          <p:cNvSpPr txBox="1"/>
          <p:nvPr/>
        </p:nvSpPr>
        <p:spPr>
          <a:xfrm>
            <a:off x="8503920" y="2596896"/>
            <a:ext cx="3008376" cy="40233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Mencari paket, membaca dokumentasi, dan memeriksa statistik penggunaannya.</a:t>
            </a:r>
            <a:endParaRPr lang="en-US" sz="980" dirty="0"/>
          </a:p>
        </p:txBody>
      </p:sp>
      <p:sp>
        <p:nvSpPr>
          <p:cNvPr id="21" name="Shape 15"/>
          <p:cNvSpPr/>
          <p:nvPr/>
        </p:nvSpPr>
        <p:spPr>
          <a:xfrm>
            <a:off x="640080" y="3383280"/>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22" name="Image 4" descr="preencoded.png">    </p:cNvPr>
          <p:cNvPicPr>
            <a:picLocks noChangeAspect="1"/>
          </p:cNvPicPr>
          <p:nvPr/>
        </p:nvPicPr>
        <p:blipFill>
          <a:blip r:embed="rId5"/>
          <a:stretch>
            <a:fillRect/>
          </a:stretch>
        </p:blipFill>
        <p:spPr>
          <a:xfrm>
            <a:off x="896112" y="3621024"/>
            <a:ext cx="384048" cy="384048"/>
          </a:xfrm>
          <a:prstGeom prst="rect">
            <a:avLst/>
          </a:prstGeom>
        </p:spPr>
      </p:pic>
      <p:sp>
        <p:nvSpPr>
          <p:cNvPr id="23" name="Text 16"/>
          <p:cNvSpPr txBox="1"/>
          <p:nvPr/>
        </p:nvSpPr>
        <p:spPr>
          <a:xfrm>
            <a:off x="1408176" y="3584448"/>
            <a:ext cx="2514600"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Dokumentasi Express</a:t>
            </a:r>
            <a:endParaRPr lang="en-US" sz="1250" dirty="0"/>
          </a:p>
        </p:txBody>
      </p:sp>
      <p:sp>
        <p:nvSpPr>
          <p:cNvPr id="24" name="Text 17"/>
          <p:cNvSpPr txBox="1"/>
          <p:nvPr/>
        </p:nvSpPr>
        <p:spPr>
          <a:xfrm>
            <a:off x="896112" y="4114800"/>
            <a:ext cx="3008376" cy="237744"/>
          </a:xfrm>
          <a:prstGeom prst="rect">
            <a:avLst/>
          </a:prstGeom>
          <a:noFill/>
          <a:ln/>
        </p:spPr>
        <p:txBody>
          <a:bodyPr wrap="square" lIns="0" tIns="0" rIns="0" bIns="0" rtlCol="0" anchor="ctr"/>
          <a:lstStyle/>
          <a:p>
            <a:pPr indent="0" marL="0">
              <a:buNone/>
            </a:pPr>
            <a:r>
              <a:rPr lang="en-US" sz="980" dirty="0">
                <a:solidFill>
                  <a:srgbClr val="3C873A"/>
                </a:solidFill>
                <a:latin typeface="Courier New" pitchFamily="34" charset="0"/>
                <a:ea typeface="Courier New" pitchFamily="34" charset="-122"/>
                <a:cs typeface="Courier New" pitchFamily="34" charset="-120"/>
              </a:rPr>
              <a:t>expressjs.com</a:t>
            </a:r>
            <a:endParaRPr lang="en-US" sz="980" dirty="0"/>
          </a:p>
        </p:txBody>
      </p:sp>
      <p:sp>
        <p:nvSpPr>
          <p:cNvPr id="25" name="Text 18"/>
          <p:cNvSpPr txBox="1"/>
          <p:nvPr/>
        </p:nvSpPr>
        <p:spPr>
          <a:xfrm>
            <a:off x="896112" y="4352544"/>
            <a:ext cx="3008376" cy="40233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Panduan routing, middleware, dan praktik terbaik framework Express.</a:t>
            </a:r>
            <a:endParaRPr lang="en-US" sz="980" dirty="0"/>
          </a:p>
        </p:txBody>
      </p:sp>
      <p:sp>
        <p:nvSpPr>
          <p:cNvPr id="26" name="Shape 19"/>
          <p:cNvSpPr/>
          <p:nvPr/>
        </p:nvSpPr>
        <p:spPr>
          <a:xfrm>
            <a:off x="4443984" y="3383280"/>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27" name="Image 5" descr="preencoded.png">    </p:cNvPr>
          <p:cNvPicPr>
            <a:picLocks noChangeAspect="1"/>
          </p:cNvPicPr>
          <p:nvPr/>
        </p:nvPicPr>
        <p:blipFill>
          <a:blip r:embed="rId6"/>
          <a:stretch>
            <a:fillRect/>
          </a:stretch>
        </p:blipFill>
        <p:spPr>
          <a:xfrm>
            <a:off x="4700016" y="3621024"/>
            <a:ext cx="384048" cy="384048"/>
          </a:xfrm>
          <a:prstGeom prst="rect">
            <a:avLst/>
          </a:prstGeom>
        </p:spPr>
      </p:pic>
      <p:sp>
        <p:nvSpPr>
          <p:cNvPr id="28" name="Text 20"/>
          <p:cNvSpPr txBox="1"/>
          <p:nvPr/>
        </p:nvSpPr>
        <p:spPr>
          <a:xfrm>
            <a:off x="5212080" y="3584448"/>
            <a:ext cx="2514600"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OpenJS Foundation</a:t>
            </a:r>
            <a:endParaRPr lang="en-US" sz="1250" dirty="0"/>
          </a:p>
        </p:txBody>
      </p:sp>
      <p:sp>
        <p:nvSpPr>
          <p:cNvPr id="29" name="Text 21"/>
          <p:cNvSpPr txBox="1"/>
          <p:nvPr/>
        </p:nvSpPr>
        <p:spPr>
          <a:xfrm>
            <a:off x="4700016" y="4114800"/>
            <a:ext cx="3008376" cy="237744"/>
          </a:xfrm>
          <a:prstGeom prst="rect">
            <a:avLst/>
          </a:prstGeom>
          <a:noFill/>
          <a:ln/>
        </p:spPr>
        <p:txBody>
          <a:bodyPr wrap="square" lIns="0" tIns="0" rIns="0" bIns="0" rtlCol="0" anchor="ctr"/>
          <a:lstStyle/>
          <a:p>
            <a:pPr indent="0" marL="0">
              <a:buNone/>
            </a:pPr>
            <a:r>
              <a:rPr lang="en-US" sz="980" dirty="0">
                <a:solidFill>
                  <a:srgbClr val="3C873A"/>
                </a:solidFill>
                <a:latin typeface="Courier New" pitchFamily="34" charset="0"/>
                <a:ea typeface="Courier New" pitchFamily="34" charset="-122"/>
                <a:cs typeface="Courier New" pitchFamily="34" charset="-120"/>
              </a:rPr>
              <a:t>openjsf.org</a:t>
            </a:r>
            <a:endParaRPr lang="en-US" sz="980" dirty="0"/>
          </a:p>
        </p:txBody>
      </p:sp>
      <p:sp>
        <p:nvSpPr>
          <p:cNvPr id="30" name="Text 22"/>
          <p:cNvSpPr txBox="1"/>
          <p:nvPr/>
        </p:nvSpPr>
        <p:spPr>
          <a:xfrm>
            <a:off x="4700016" y="4352544"/>
            <a:ext cx="3008376" cy="40233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Organisasi pengelola Node.js beserta panduan keamanan resminya.</a:t>
            </a:r>
            <a:endParaRPr lang="en-US" sz="980" dirty="0"/>
          </a:p>
        </p:txBody>
      </p:sp>
      <p:sp>
        <p:nvSpPr>
          <p:cNvPr id="31" name="Shape 23"/>
          <p:cNvSpPr/>
          <p:nvPr/>
        </p:nvSpPr>
        <p:spPr>
          <a:xfrm>
            <a:off x="8247888" y="3383280"/>
            <a:ext cx="3520440" cy="1481328"/>
          </a:xfrm>
          <a:prstGeom prst="roundRect">
            <a:avLst>
              <a:gd name="adj" fmla="val 5556"/>
            </a:avLst>
          </a:prstGeom>
          <a:solidFill>
            <a:srgbClr val="FFFFFF"/>
          </a:solidFill>
          <a:ln w="12700">
            <a:solidFill>
              <a:srgbClr val="E3EBDF"/>
            </a:solidFill>
            <a:prstDash val="solid"/>
          </a:ln>
          <a:effectLst>
            <a:outerShdw sx="100000" sy="100000" kx="0" ky="0" algn="bl" rotWithShape="0" blurRad="101600" dist="25400" dir="5400000">
              <a:srgbClr val="1E3A28">
                <a:alpha val="10000"/>
              </a:srgbClr>
            </a:outerShdw>
          </a:effectLst>
        </p:spPr>
      </p:sp>
      <p:pic>
        <p:nvPicPr>
          <p:cNvPr id="32" name="Image 6" descr="preencoded.png">    </p:cNvPr>
          <p:cNvPicPr>
            <a:picLocks noChangeAspect="1"/>
          </p:cNvPicPr>
          <p:nvPr/>
        </p:nvPicPr>
        <p:blipFill>
          <a:blip r:embed="rId7"/>
          <a:stretch>
            <a:fillRect/>
          </a:stretch>
        </p:blipFill>
        <p:spPr>
          <a:xfrm>
            <a:off x="8503920" y="3621024"/>
            <a:ext cx="384048" cy="384048"/>
          </a:xfrm>
          <a:prstGeom prst="rect">
            <a:avLst/>
          </a:prstGeom>
        </p:spPr>
      </p:pic>
      <p:sp>
        <p:nvSpPr>
          <p:cNvPr id="33" name="Text 24"/>
          <p:cNvSpPr txBox="1"/>
          <p:nvPr/>
        </p:nvSpPr>
        <p:spPr>
          <a:xfrm>
            <a:off x="9015984" y="3584448"/>
            <a:ext cx="2514600" cy="457200"/>
          </a:xfrm>
          <a:prstGeom prst="rect">
            <a:avLst/>
          </a:prstGeom>
          <a:noFill/>
          <a:ln/>
        </p:spPr>
        <p:txBody>
          <a:bodyPr wrap="square" lIns="0" tIns="0" rIns="0" bIns="0" rtlCol="0" anchor="ctr"/>
          <a:lstStyle/>
          <a:p>
            <a:pPr indent="0" marL="0">
              <a:buNone/>
            </a:pPr>
            <a:r>
              <a:rPr lang="en-US" sz="1250" b="1" dirty="0">
                <a:solidFill>
                  <a:srgbClr val="16241B"/>
                </a:solidFill>
                <a:latin typeface="Arial" pitchFamily="34" charset="0"/>
                <a:ea typeface="Arial" pitchFamily="34" charset="-122"/>
                <a:cs typeface="Arial" pitchFamily="34" charset="-120"/>
              </a:rPr>
              <a:t>Repositori GitHub Node.js</a:t>
            </a:r>
            <a:endParaRPr lang="en-US" sz="1250" dirty="0"/>
          </a:p>
        </p:txBody>
      </p:sp>
      <p:sp>
        <p:nvSpPr>
          <p:cNvPr id="34" name="Text 25"/>
          <p:cNvSpPr txBox="1"/>
          <p:nvPr/>
        </p:nvSpPr>
        <p:spPr>
          <a:xfrm>
            <a:off x="8503920" y="4114800"/>
            <a:ext cx="3008376" cy="237744"/>
          </a:xfrm>
          <a:prstGeom prst="rect">
            <a:avLst/>
          </a:prstGeom>
          <a:noFill/>
          <a:ln/>
        </p:spPr>
        <p:txBody>
          <a:bodyPr wrap="square" lIns="0" tIns="0" rIns="0" bIns="0" rtlCol="0" anchor="ctr"/>
          <a:lstStyle/>
          <a:p>
            <a:pPr indent="0" marL="0">
              <a:buNone/>
            </a:pPr>
            <a:r>
              <a:rPr lang="en-US" sz="980" dirty="0">
                <a:solidFill>
                  <a:srgbClr val="3C873A"/>
                </a:solidFill>
                <a:latin typeface="Courier New" pitchFamily="34" charset="0"/>
                <a:ea typeface="Courier New" pitchFamily="34" charset="-122"/>
                <a:cs typeface="Courier New" pitchFamily="34" charset="-120"/>
              </a:rPr>
              <a:t>github.com/nodejs/node</a:t>
            </a:r>
            <a:endParaRPr lang="en-US" sz="980" dirty="0"/>
          </a:p>
        </p:txBody>
      </p:sp>
      <p:sp>
        <p:nvSpPr>
          <p:cNvPr id="35" name="Text 26"/>
          <p:cNvSpPr txBox="1"/>
          <p:nvPr/>
        </p:nvSpPr>
        <p:spPr>
          <a:xfrm>
            <a:off x="8503920" y="4352544"/>
            <a:ext cx="3008376" cy="402336"/>
          </a:xfrm>
          <a:prstGeom prst="rect">
            <a:avLst/>
          </a:prstGeom>
          <a:noFill/>
          <a:ln/>
        </p:spPr>
        <p:txBody>
          <a:bodyPr wrap="square" lIns="0" tIns="0" rIns="0" bIns="0" rtlCol="0" anchor="t"/>
          <a:lstStyle/>
          <a:p>
            <a:pPr indent="0" marL="0">
              <a:lnSpc>
                <a:spcPct val="110000"/>
              </a:lnSpc>
              <a:buNone/>
            </a:pPr>
            <a:r>
              <a:rPr lang="en-US" sz="980" dirty="0">
                <a:solidFill>
                  <a:srgbClr val="5F6F62"/>
                </a:solidFill>
                <a:latin typeface="Calibri" pitchFamily="34" charset="0"/>
                <a:ea typeface="Calibri" pitchFamily="34" charset="-122"/>
                <a:cs typeface="Calibri" pitchFamily="34" charset="-120"/>
              </a:rPr>
              <a:t>Kode sumber, catatan rilis, dan diskusi pengembangan Node.js.</a:t>
            </a:r>
            <a:endParaRPr lang="en-US" sz="980" dirty="0"/>
          </a:p>
        </p:txBody>
      </p:sp>
      <p:sp>
        <p:nvSpPr>
          <p:cNvPr id="36" name="Shape 27"/>
          <p:cNvSpPr/>
          <p:nvPr/>
        </p:nvSpPr>
        <p:spPr>
          <a:xfrm>
            <a:off x="640080" y="5029200"/>
            <a:ext cx="10972800" cy="914400"/>
          </a:xfrm>
          <a:prstGeom prst="roundRect">
            <a:avLst>
              <a:gd name="adj" fmla="val 9000"/>
            </a:avLst>
          </a:prstGeom>
          <a:solidFill>
            <a:srgbClr val="E8F2E2"/>
          </a:solidFill>
          <a:ln w="12700">
            <a:solidFill>
              <a:srgbClr val="D2E5C8"/>
            </a:solidFill>
            <a:prstDash val="solid"/>
          </a:ln>
        </p:spPr>
      </p:sp>
      <p:pic>
        <p:nvPicPr>
          <p:cNvPr id="37" name="Image 7" descr="preencoded.png">    </p:cNvPr>
          <p:cNvPicPr>
            <a:picLocks noChangeAspect="1"/>
          </p:cNvPicPr>
          <p:nvPr/>
        </p:nvPicPr>
        <p:blipFill>
          <a:blip r:embed="rId8"/>
          <a:stretch>
            <a:fillRect/>
          </a:stretch>
        </p:blipFill>
        <p:spPr>
          <a:xfrm>
            <a:off x="914400" y="5321808"/>
            <a:ext cx="347472" cy="347472"/>
          </a:xfrm>
          <a:prstGeom prst="rect">
            <a:avLst/>
          </a:prstGeom>
        </p:spPr>
      </p:pic>
      <p:sp>
        <p:nvSpPr>
          <p:cNvPr id="38" name="Text 28"/>
          <p:cNvSpPr txBox="1"/>
          <p:nvPr/>
        </p:nvSpPr>
        <p:spPr>
          <a:xfrm>
            <a:off x="1444752" y="5138928"/>
            <a:ext cx="9966960" cy="694944"/>
          </a:xfrm>
          <a:prstGeom prst="rect">
            <a:avLst/>
          </a:prstGeom>
          <a:noFill/>
          <a:ln/>
        </p:spPr>
        <p:txBody>
          <a:bodyPr wrap="square" lIns="0" tIns="0" rIns="0" bIns="0" rtlCol="0" anchor="ctr"/>
          <a:lstStyle/>
          <a:p>
            <a:pPr indent="0" marL="0">
              <a:lnSpc>
                <a:spcPct val="114000"/>
              </a:lnSpc>
              <a:buNone/>
            </a:pPr>
            <a:r>
              <a:rPr lang="en-US" sz="1150" b="1" dirty="0">
                <a:solidFill>
                  <a:srgbClr val="3C873A"/>
                </a:solidFill>
                <a:latin typeface="Calibri" pitchFamily="34" charset="0"/>
                <a:ea typeface="Calibri" pitchFamily="34" charset="-122"/>
                <a:cs typeface="Calibri" pitchFamily="34" charset="-120"/>
              </a:rPr>
              <a:t>Saran belajar: </a:t>
            </a:r>
            <a:pPr indent="0" marL="0">
              <a:lnSpc>
                <a:spcPct val="114000"/>
              </a:lnSpc>
              <a:buNone/>
            </a:pPr>
            <a:r>
              <a:rPr lang="en-US" sz="1150" dirty="0">
                <a:solidFill>
                  <a:srgbClr val="2C4433"/>
                </a:solidFill>
                <a:latin typeface="Calibri" pitchFamily="34" charset="0"/>
                <a:ea typeface="Calibri" pitchFamily="34" charset="-122"/>
                <a:cs typeface="Calibri" pitchFamily="34" charset="-120"/>
              </a:rPr>
              <a:t>biasakan membuka dokumentasi resmi lebih dulu sebelum mencari tutorial. Dokumentasi selalu paling mutakhir, sedangkan artikel dan video sering menggunakan versi Node.js yang sudah lama ditinggalkan.</a:t>
            </a:r>
            <a:endParaRPr lang="en-US" sz="1150" dirty="0"/>
          </a:p>
        </p:txBody>
      </p:sp>
      <p:sp>
        <p:nvSpPr>
          <p:cNvPr id="39" name="Text 29"/>
          <p:cNvSpPr txBox="1"/>
          <p:nvPr/>
        </p:nvSpPr>
        <p:spPr>
          <a:xfrm>
            <a:off x="640080" y="6355080"/>
            <a:ext cx="5943600" cy="274320"/>
          </a:xfrm>
          <a:prstGeom prst="rect">
            <a:avLst/>
          </a:prstGeom>
          <a:noFill/>
          <a:ln/>
        </p:spPr>
        <p:txBody>
          <a:bodyPr wrap="square" lIns="0" tIns="0" rIns="0" bIns="0" rtlCol="0" anchor="ctr"/>
          <a:lstStyle/>
          <a:p>
            <a:pPr algn="l" indent="0" marL="0">
              <a:buNone/>
            </a:pPr>
            <a:r>
              <a:rPr lang="en-US" sz="900" dirty="0">
                <a:solidFill>
                  <a:srgbClr val="9AAA9D"/>
                </a:solidFill>
                <a:latin typeface="Calibri" pitchFamily="34" charset="0"/>
                <a:ea typeface="Calibri" pitchFamily="34" charset="-122"/>
                <a:cs typeface="Calibri" pitchFamily="34" charset="-120"/>
              </a:rPr>
              <a:t>Node.js — Materi Komprehensif</a:t>
            </a:r>
            <a:endParaRPr lang="en-US" sz="900" dirty="0"/>
          </a:p>
        </p:txBody>
      </p:sp>
      <p:sp>
        <p:nvSpPr>
          <p:cNvPr id="40" name="Text 30"/>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B2015"/>
        </a:solidFill>
      </p:bgPr>
    </p:bg>
    <p:spTree>
      <p:nvGrpSpPr>
        <p:cNvPr id="1" name=""/>
        <p:cNvGrpSpPr/>
        <p:nvPr/>
      </p:nvGrpSpPr>
      <p:grpSpPr>
        <a:xfrm>
          <a:off x="0" y="0"/>
          <a:ext cx="0" cy="0"/>
          <a:chOff x="0" y="0"/>
          <a:chExt cx="0" cy="0"/>
        </a:xfrm>
      </p:grpSpPr>
      <p:sp>
        <p:nvSpPr>
          <p:cNvPr id="2" name="Shape 0"/>
          <p:cNvSpPr/>
          <p:nvPr/>
        </p:nvSpPr>
        <p:spPr>
          <a:xfrm>
            <a:off x="7818120" y="-1463040"/>
            <a:ext cx="6035040" cy="9784080"/>
          </a:xfrm>
          <a:prstGeom prst="roundRect">
            <a:avLst>
              <a:gd name="adj" fmla="val 8333"/>
            </a:avLst>
          </a:prstGeom>
          <a:solidFill>
            <a:srgbClr val="12301F"/>
          </a:solidFill>
          <a:ln w="12700">
            <a:solidFill>
              <a:srgbClr val="12301F"/>
            </a:solidFill>
            <a:prstDash val="solid"/>
          </a:ln>
        </p:spPr>
      </p:sp>
      <p:pic>
        <p:nvPicPr>
          <p:cNvPr id="3" name="Image 0" descr="preencoded.png">    </p:cNvPr>
          <p:cNvPicPr>
            <a:picLocks noChangeAspect="1"/>
          </p:cNvPicPr>
          <p:nvPr/>
        </p:nvPicPr>
        <p:blipFill>
          <a:blip r:embed="rId1"/>
          <a:stretch>
            <a:fillRect/>
          </a:stretch>
        </p:blipFill>
        <p:spPr>
          <a:xfrm>
            <a:off x="822960" y="1188720"/>
            <a:ext cx="1097280" cy="1097280"/>
          </a:xfrm>
          <a:prstGeom prst="rect">
            <a:avLst/>
          </a:prstGeom>
        </p:spPr>
      </p:pic>
      <p:sp>
        <p:nvSpPr>
          <p:cNvPr id="4" name="Text 1"/>
          <p:cNvSpPr txBox="1"/>
          <p:nvPr/>
        </p:nvSpPr>
        <p:spPr>
          <a:xfrm>
            <a:off x="822960" y="2487168"/>
            <a:ext cx="6583680" cy="274320"/>
          </a:xfrm>
          <a:prstGeom prst="rect">
            <a:avLst/>
          </a:prstGeom>
          <a:noFill/>
          <a:ln/>
        </p:spPr>
        <p:txBody>
          <a:bodyPr wrap="square" lIns="0" tIns="0" rIns="0" bIns="0" rtlCol="0" anchor="ctr"/>
          <a:lstStyle/>
          <a:p>
            <a:pPr indent="0" marL="0">
              <a:buNone/>
            </a:pPr>
            <a:r>
              <a:rPr lang="en-US" sz="1200" b="1" spc="240" kern="0" dirty="0">
                <a:solidFill>
                  <a:srgbClr val="8CC84B"/>
                </a:solidFill>
                <a:latin typeface="Calibri" pitchFamily="34" charset="0"/>
                <a:ea typeface="Calibri" pitchFamily="34" charset="-122"/>
                <a:cs typeface="Calibri" pitchFamily="34" charset="-120"/>
              </a:rPr>
              <a:t>RINGKASAN AKHIR</a:t>
            </a:r>
            <a:endParaRPr lang="en-US" sz="1200" dirty="0"/>
          </a:p>
        </p:txBody>
      </p:sp>
      <p:sp>
        <p:nvSpPr>
          <p:cNvPr id="5" name="Text 2"/>
          <p:cNvSpPr txBox="1"/>
          <p:nvPr/>
        </p:nvSpPr>
        <p:spPr>
          <a:xfrm>
            <a:off x="777240" y="2761488"/>
            <a:ext cx="667512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Terima Kasih</a:t>
            </a:r>
            <a:endParaRPr lang="en-US" sz="4800" dirty="0"/>
          </a:p>
        </p:txBody>
      </p:sp>
      <p:sp>
        <p:nvSpPr>
          <p:cNvPr id="6" name="Text 3"/>
          <p:cNvSpPr txBox="1"/>
          <p:nvPr/>
        </p:nvSpPr>
        <p:spPr>
          <a:xfrm>
            <a:off x="822960" y="3712464"/>
            <a:ext cx="6675120" cy="1097280"/>
          </a:xfrm>
          <a:prstGeom prst="rect">
            <a:avLst/>
          </a:prstGeom>
          <a:noFill/>
          <a:ln/>
        </p:spPr>
        <p:txBody>
          <a:bodyPr wrap="square" lIns="0" tIns="0" rIns="0" bIns="0" rtlCol="0" anchor="t"/>
          <a:lstStyle/>
          <a:p>
            <a:pPr indent="0" marL="0">
              <a:lnSpc>
                <a:spcPct val="124000"/>
              </a:lnSpc>
              <a:buNone/>
            </a:pPr>
            <a:r>
              <a:rPr lang="en-US" sz="1350" dirty="0">
                <a:solidFill>
                  <a:srgbClr val="BFD6C4"/>
                </a:solidFill>
                <a:latin typeface="Calibri" pitchFamily="34" charset="0"/>
                <a:ea typeface="Calibri" pitchFamily="34" charset="-122"/>
                <a:cs typeface="Calibri" pitchFamily="34" charset="-120"/>
              </a:rPr>
              <a:t>Node.js membuka jalan bagi JavaScript untuk membangun aplikasi sisi server yang cepat, ringan, dan berskala besar. Kuncinya adalah memahami event loop, membiasakan pola asinkron, lalu terus berlatih membangun proyek nyata.</a:t>
            </a:r>
            <a:endParaRPr lang="en-US" sz="1350" dirty="0"/>
          </a:p>
        </p:txBody>
      </p:sp>
      <p:sp>
        <p:nvSpPr>
          <p:cNvPr id="7" name="Shape 4"/>
          <p:cNvSpPr/>
          <p:nvPr/>
        </p:nvSpPr>
        <p:spPr>
          <a:xfrm>
            <a:off x="8686800" y="1874520"/>
            <a:ext cx="457200" cy="457200"/>
          </a:xfrm>
          <a:prstGeom prst="roundRect">
            <a:avLst>
              <a:gd name="adj" fmla="val 26000"/>
            </a:avLst>
          </a:prstGeom>
          <a:solidFill>
            <a:srgbClr val="1B4429"/>
          </a:solidFill>
          <a:ln w="12700">
            <a:solidFill>
              <a:srgbClr val="2C5F3A"/>
            </a:solidFill>
            <a:prstDash val="solid"/>
          </a:ln>
        </p:spPr>
      </p:sp>
      <p:pic>
        <p:nvPicPr>
          <p:cNvPr id="8" name="Image 1" descr="preencoded.png">    </p:cNvPr>
          <p:cNvPicPr>
            <a:picLocks noChangeAspect="1"/>
          </p:cNvPicPr>
          <p:nvPr/>
        </p:nvPicPr>
        <p:blipFill>
          <a:blip r:embed="rId2"/>
          <a:stretch>
            <a:fillRect/>
          </a:stretch>
        </p:blipFill>
        <p:spPr>
          <a:xfrm>
            <a:off x="8801100" y="1988820"/>
            <a:ext cx="228600" cy="228600"/>
          </a:xfrm>
          <a:prstGeom prst="rect">
            <a:avLst/>
          </a:prstGeom>
        </p:spPr>
      </p:pic>
      <p:sp>
        <p:nvSpPr>
          <p:cNvPr id="9" name="Text 5"/>
          <p:cNvSpPr txBox="1"/>
          <p:nvPr/>
        </p:nvSpPr>
        <p:spPr>
          <a:xfrm>
            <a:off x="9281160" y="1874520"/>
            <a:ext cx="2651760" cy="457200"/>
          </a:xfrm>
          <a:prstGeom prst="rect">
            <a:avLst/>
          </a:prstGeom>
          <a:noFill/>
          <a:ln/>
        </p:spPr>
        <p:txBody>
          <a:bodyPr wrap="square" lIns="0" tIns="0" rIns="0" bIns="0" rtlCol="0" anchor="ctr"/>
          <a:lstStyle/>
          <a:p>
            <a:pPr indent="0" marL="0">
              <a:buNone/>
            </a:pPr>
            <a:r>
              <a:rPr lang="en-US" sz="1100" dirty="0">
                <a:solidFill>
                  <a:srgbClr val="C6E3B4"/>
                </a:solidFill>
                <a:latin typeface="Calibri" pitchFamily="34" charset="0"/>
                <a:ea typeface="Calibri" pitchFamily="34" charset="-122"/>
                <a:cs typeface="Calibri" pitchFamily="34" charset="-120"/>
              </a:rPr>
              <a:t>Non-blocking adalah inti Node.js</a:t>
            </a:r>
            <a:endParaRPr lang="en-US" sz="1100" dirty="0"/>
          </a:p>
        </p:txBody>
      </p:sp>
      <p:sp>
        <p:nvSpPr>
          <p:cNvPr id="10" name="Shape 6"/>
          <p:cNvSpPr/>
          <p:nvPr/>
        </p:nvSpPr>
        <p:spPr>
          <a:xfrm>
            <a:off x="8686800" y="2514600"/>
            <a:ext cx="457200" cy="457200"/>
          </a:xfrm>
          <a:prstGeom prst="roundRect">
            <a:avLst>
              <a:gd name="adj" fmla="val 26000"/>
            </a:avLst>
          </a:prstGeom>
          <a:solidFill>
            <a:srgbClr val="1B4429"/>
          </a:solidFill>
          <a:ln w="12700">
            <a:solidFill>
              <a:srgbClr val="2C5F3A"/>
            </a:solidFill>
            <a:prstDash val="solid"/>
          </a:ln>
        </p:spPr>
      </p:sp>
      <p:pic>
        <p:nvPicPr>
          <p:cNvPr id="11" name="Image 2" descr="preencoded.png">    </p:cNvPr>
          <p:cNvPicPr>
            <a:picLocks noChangeAspect="1"/>
          </p:cNvPicPr>
          <p:nvPr/>
        </p:nvPicPr>
        <p:blipFill>
          <a:blip r:embed="rId3"/>
          <a:stretch>
            <a:fillRect/>
          </a:stretch>
        </p:blipFill>
        <p:spPr>
          <a:xfrm>
            <a:off x="8801100" y="2628900"/>
            <a:ext cx="228600" cy="228600"/>
          </a:xfrm>
          <a:prstGeom prst="rect">
            <a:avLst/>
          </a:prstGeom>
        </p:spPr>
      </p:pic>
      <p:sp>
        <p:nvSpPr>
          <p:cNvPr id="12" name="Text 7"/>
          <p:cNvSpPr txBox="1"/>
          <p:nvPr/>
        </p:nvSpPr>
        <p:spPr>
          <a:xfrm>
            <a:off x="9281160" y="2514600"/>
            <a:ext cx="2651760" cy="457200"/>
          </a:xfrm>
          <a:prstGeom prst="rect">
            <a:avLst/>
          </a:prstGeom>
          <a:noFill/>
          <a:ln/>
        </p:spPr>
        <p:txBody>
          <a:bodyPr wrap="square" lIns="0" tIns="0" rIns="0" bIns="0" rtlCol="0" anchor="ctr"/>
          <a:lstStyle/>
          <a:p>
            <a:pPr indent="0" marL="0">
              <a:buNone/>
            </a:pPr>
            <a:r>
              <a:rPr lang="en-US" sz="1100" dirty="0">
                <a:solidFill>
                  <a:srgbClr val="C6E3B4"/>
                </a:solidFill>
                <a:latin typeface="Calibri" pitchFamily="34" charset="0"/>
                <a:ea typeface="Calibri" pitchFamily="34" charset="-122"/>
                <a:cs typeface="Calibri" pitchFamily="34" charset="-120"/>
              </a:rPr>
              <a:t>Kuasai async/await sepenuhnya</a:t>
            </a:r>
            <a:endParaRPr lang="en-US" sz="1100" dirty="0"/>
          </a:p>
        </p:txBody>
      </p:sp>
      <p:sp>
        <p:nvSpPr>
          <p:cNvPr id="13" name="Shape 8"/>
          <p:cNvSpPr/>
          <p:nvPr/>
        </p:nvSpPr>
        <p:spPr>
          <a:xfrm>
            <a:off x="8686800" y="3154680"/>
            <a:ext cx="457200" cy="457200"/>
          </a:xfrm>
          <a:prstGeom prst="roundRect">
            <a:avLst>
              <a:gd name="adj" fmla="val 26000"/>
            </a:avLst>
          </a:prstGeom>
          <a:solidFill>
            <a:srgbClr val="1B4429"/>
          </a:solidFill>
          <a:ln w="12700">
            <a:solidFill>
              <a:srgbClr val="2C5F3A"/>
            </a:solidFill>
            <a:prstDash val="solid"/>
          </a:ln>
        </p:spPr>
      </p:sp>
      <p:pic>
        <p:nvPicPr>
          <p:cNvPr id="14" name="Image 3" descr="preencoded.png">    </p:cNvPr>
          <p:cNvPicPr>
            <a:picLocks noChangeAspect="1"/>
          </p:cNvPicPr>
          <p:nvPr/>
        </p:nvPicPr>
        <p:blipFill>
          <a:blip r:embed="rId4"/>
          <a:stretch>
            <a:fillRect/>
          </a:stretch>
        </p:blipFill>
        <p:spPr>
          <a:xfrm>
            <a:off x="8801100" y="3268980"/>
            <a:ext cx="228600" cy="228600"/>
          </a:xfrm>
          <a:prstGeom prst="rect">
            <a:avLst/>
          </a:prstGeom>
        </p:spPr>
      </p:pic>
      <p:sp>
        <p:nvSpPr>
          <p:cNvPr id="15" name="Text 9"/>
          <p:cNvSpPr txBox="1"/>
          <p:nvPr/>
        </p:nvSpPr>
        <p:spPr>
          <a:xfrm>
            <a:off x="9281160" y="3154680"/>
            <a:ext cx="2651760" cy="457200"/>
          </a:xfrm>
          <a:prstGeom prst="rect">
            <a:avLst/>
          </a:prstGeom>
          <a:noFill/>
          <a:ln/>
        </p:spPr>
        <p:txBody>
          <a:bodyPr wrap="square" lIns="0" tIns="0" rIns="0" bIns="0" rtlCol="0" anchor="ctr"/>
          <a:lstStyle/>
          <a:p>
            <a:pPr indent="0" marL="0">
              <a:buNone/>
            </a:pPr>
            <a:r>
              <a:rPr lang="en-US" sz="1100" dirty="0">
                <a:solidFill>
                  <a:srgbClr val="C6E3B4"/>
                </a:solidFill>
                <a:latin typeface="Calibri" pitchFamily="34" charset="0"/>
                <a:ea typeface="Calibri" pitchFamily="34" charset="-122"/>
                <a:cs typeface="Calibri" pitchFamily="34" charset="-120"/>
              </a:rPr>
              <a:t>Manfaatkan NPM dengan bijak</a:t>
            </a:r>
            <a:endParaRPr lang="en-US" sz="1100" dirty="0"/>
          </a:p>
        </p:txBody>
      </p:sp>
      <p:sp>
        <p:nvSpPr>
          <p:cNvPr id="16" name="Shape 10"/>
          <p:cNvSpPr/>
          <p:nvPr/>
        </p:nvSpPr>
        <p:spPr>
          <a:xfrm>
            <a:off x="8686800" y="3794760"/>
            <a:ext cx="457200" cy="457200"/>
          </a:xfrm>
          <a:prstGeom prst="roundRect">
            <a:avLst>
              <a:gd name="adj" fmla="val 26000"/>
            </a:avLst>
          </a:prstGeom>
          <a:solidFill>
            <a:srgbClr val="1B4429"/>
          </a:solidFill>
          <a:ln w="12700">
            <a:solidFill>
              <a:srgbClr val="2C5F3A"/>
            </a:solidFill>
            <a:prstDash val="solid"/>
          </a:ln>
        </p:spPr>
      </p:sp>
      <p:pic>
        <p:nvPicPr>
          <p:cNvPr id="17" name="Image 4" descr="preencoded.png">    </p:cNvPr>
          <p:cNvPicPr>
            <a:picLocks noChangeAspect="1"/>
          </p:cNvPicPr>
          <p:nvPr/>
        </p:nvPicPr>
        <p:blipFill>
          <a:blip r:embed="rId5"/>
          <a:stretch>
            <a:fillRect/>
          </a:stretch>
        </p:blipFill>
        <p:spPr>
          <a:xfrm>
            <a:off x="8801100" y="3909060"/>
            <a:ext cx="228600" cy="228600"/>
          </a:xfrm>
          <a:prstGeom prst="rect">
            <a:avLst/>
          </a:prstGeom>
        </p:spPr>
      </p:pic>
      <p:sp>
        <p:nvSpPr>
          <p:cNvPr id="18" name="Text 11"/>
          <p:cNvSpPr txBox="1"/>
          <p:nvPr/>
        </p:nvSpPr>
        <p:spPr>
          <a:xfrm>
            <a:off x="9281160" y="3794760"/>
            <a:ext cx="2651760" cy="457200"/>
          </a:xfrm>
          <a:prstGeom prst="rect">
            <a:avLst/>
          </a:prstGeom>
          <a:noFill/>
          <a:ln/>
        </p:spPr>
        <p:txBody>
          <a:bodyPr wrap="square" lIns="0" tIns="0" rIns="0" bIns="0" rtlCol="0" anchor="ctr"/>
          <a:lstStyle/>
          <a:p>
            <a:pPr indent="0" marL="0">
              <a:buNone/>
            </a:pPr>
            <a:r>
              <a:rPr lang="en-US" sz="1100" dirty="0">
                <a:solidFill>
                  <a:srgbClr val="C6E3B4"/>
                </a:solidFill>
                <a:latin typeface="Calibri" pitchFamily="34" charset="0"/>
                <a:ea typeface="Calibri" pitchFamily="34" charset="-122"/>
                <a:cs typeface="Calibri" pitchFamily="34" charset="-120"/>
              </a:rPr>
              <a:t>Keamanan sejak baris pertama</a:t>
            </a:r>
            <a:endParaRPr lang="en-US" sz="1100" dirty="0"/>
          </a:p>
        </p:txBody>
      </p:sp>
      <p:sp>
        <p:nvSpPr>
          <p:cNvPr id="19" name="Shape 12"/>
          <p:cNvSpPr/>
          <p:nvPr/>
        </p:nvSpPr>
        <p:spPr>
          <a:xfrm>
            <a:off x="8686800" y="4434840"/>
            <a:ext cx="457200" cy="457200"/>
          </a:xfrm>
          <a:prstGeom prst="roundRect">
            <a:avLst>
              <a:gd name="adj" fmla="val 26000"/>
            </a:avLst>
          </a:prstGeom>
          <a:solidFill>
            <a:srgbClr val="1B4429"/>
          </a:solidFill>
          <a:ln w="12700">
            <a:solidFill>
              <a:srgbClr val="2C5F3A"/>
            </a:solidFill>
            <a:prstDash val="solid"/>
          </a:ln>
        </p:spPr>
      </p:sp>
      <p:pic>
        <p:nvPicPr>
          <p:cNvPr id="20" name="Image 5" descr="preencoded.png">    </p:cNvPr>
          <p:cNvPicPr>
            <a:picLocks noChangeAspect="1"/>
          </p:cNvPicPr>
          <p:nvPr/>
        </p:nvPicPr>
        <p:blipFill>
          <a:blip r:embed="rId6"/>
          <a:stretch>
            <a:fillRect/>
          </a:stretch>
        </p:blipFill>
        <p:spPr>
          <a:xfrm>
            <a:off x="8801100" y="4549140"/>
            <a:ext cx="228600" cy="228600"/>
          </a:xfrm>
          <a:prstGeom prst="rect">
            <a:avLst/>
          </a:prstGeom>
        </p:spPr>
      </p:pic>
      <p:sp>
        <p:nvSpPr>
          <p:cNvPr id="21" name="Text 13"/>
          <p:cNvSpPr txBox="1"/>
          <p:nvPr/>
        </p:nvSpPr>
        <p:spPr>
          <a:xfrm>
            <a:off x="9281160" y="4434840"/>
            <a:ext cx="2651760" cy="457200"/>
          </a:xfrm>
          <a:prstGeom prst="rect">
            <a:avLst/>
          </a:prstGeom>
          <a:noFill/>
          <a:ln/>
        </p:spPr>
        <p:txBody>
          <a:bodyPr wrap="square" lIns="0" tIns="0" rIns="0" bIns="0" rtlCol="0" anchor="ctr"/>
          <a:lstStyle/>
          <a:p>
            <a:pPr indent="0" marL="0">
              <a:buNone/>
            </a:pPr>
            <a:r>
              <a:rPr lang="en-US" sz="1100" dirty="0">
                <a:solidFill>
                  <a:srgbClr val="C6E3B4"/>
                </a:solidFill>
                <a:latin typeface="Calibri" pitchFamily="34" charset="0"/>
                <a:ea typeface="Calibri" pitchFamily="34" charset="-122"/>
                <a:cs typeface="Calibri" pitchFamily="34" charset="-120"/>
              </a:rPr>
              <a:t>Belajar lewat proyek nyata</a:t>
            </a:r>
            <a:endParaRPr lang="en-US" sz="1100" dirty="0"/>
          </a:p>
        </p:txBody>
      </p:sp>
      <p:sp>
        <p:nvSpPr>
          <p:cNvPr id="22" name="Text 14"/>
          <p:cNvSpPr txBox="1"/>
          <p:nvPr/>
        </p:nvSpPr>
        <p:spPr>
          <a:xfrm>
            <a:off x="640080" y="6355080"/>
            <a:ext cx="5943600" cy="274320"/>
          </a:xfrm>
          <a:prstGeom prst="rect">
            <a:avLst/>
          </a:prstGeom>
          <a:noFill/>
          <a:ln/>
        </p:spPr>
        <p:txBody>
          <a:bodyPr wrap="square" lIns="0" tIns="0" rIns="0" bIns="0" rtlCol="0" anchor="ctr"/>
          <a:lstStyle/>
          <a:p>
            <a:pPr algn="l" indent="0" marL="0">
              <a:buNone/>
            </a:pPr>
            <a:endParaRPr lang="en-US" sz="900" dirty="0"/>
          </a:p>
        </p:txBody>
      </p:sp>
      <p:sp>
        <p:nvSpPr>
          <p:cNvPr id="23" name="Text 15"/>
          <p:cNvSpPr txBox="1"/>
          <p:nvPr/>
        </p:nvSpPr>
        <p:spPr>
          <a:xfrm>
            <a:off x="10881360" y="6355080"/>
            <a:ext cx="667512" cy="274320"/>
          </a:xfrm>
          <a:prstGeom prst="rect">
            <a:avLst/>
          </a:prstGeom>
          <a:noFill/>
          <a:ln/>
        </p:spPr>
        <p:txBody>
          <a:bodyPr wrap="square" lIns="0" tIns="0" rIns="0" bIns="0" rtlCol="0" anchor="ctr"/>
          <a:lstStyle/>
          <a:p>
            <a:pPr algn="r" indent="0" marL="0">
              <a:buNone/>
            </a:pPr>
            <a:r>
              <a:rPr lang="en-US" sz="900" dirty="0">
                <a:solidFill>
                  <a:srgbClr val="9AAA9D"/>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68</Slides>
  <Notes>68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68</vt:i4>
      </vt:variant>
    </vt:vector>
  </HeadingPairs>
  <TitlesOfParts>
    <vt:vector size="7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Node.js — Materi Komprehensif</dc:title>
  <dc:subject>Pemrograman JavaScript Sisi Server</dc:subject>
  <dc:creator>Materi Node.js</dc:creator>
  <cp:lastModifiedBy>Materi Node.js</cp:lastModifiedBy>
  <cp:revision>1</cp:revision>
  <dcterms:created xsi:type="dcterms:W3CDTF">2026-09-04T21:47:32Z</dcterms:created>
  <dcterms:modified xsi:type="dcterms:W3CDTF">2026-09-04T21:47:32Z</dcterms:modified>
</cp:coreProperties>
</file>