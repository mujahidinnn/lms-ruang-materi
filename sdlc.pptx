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9a4b05b-a52f-981a-4278-3d92cf118034}">
          <p14:sldIdLst>
            <p14:sldId id="256"/>
            <p14:sldId id="257"/>
          </p14:sldIdLst>
        </p14:section>
        <p14:section name="Pengenalan SDLC" id="{06c275a2-73de-ac06-e770-cc328905bf34}">
          <p14:sldIdLst>
            <p14:sldId id="258"/>
            <p14:sldId id="259"/>
            <p14:sldId id="260"/>
          </p14:sldIdLst>
        </p14:section>
        <p14:section name="Tahapan SDLC" id="{6bf3de2a-f5a6-3fdf-7234-39130c3540c8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Model SDLC" id="{7e91b997-769c-8193-1fea-f2b7e35bd12b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erbandingan &amp; Pemilihan" id="{3c0e0ab9-5ce9-ca8e-a405-400f19787424}">
          <p14:sldIdLst>
            <p14:sldId id="277"/>
            <p14:sldId id="278"/>
            <p14:sldId id="279"/>
          </p14:sldIdLst>
        </p14:section>
        <p14:section name="Peran, Dokumen &amp; Keamanan" id="{4ff9d2c9-e2c1-8cea-5531-e3a2dee4d1b0}">
          <p14:sldIdLst>
            <p14:sldId id="280"/>
            <p14:sldId id="281"/>
            <p14:sldId id="282"/>
            <p14:sldId id="283"/>
          </p14:sldIdLst>
        </p14:section>
        <p14:section name="Praktik &amp; Studi Kasus" id="{42d47bc0-acbb-a24a-9876-4594d1c96ad2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Sampaikan bahwa sesi ini membahas siklus hidup pengembangan perangkat lunak: tahapan, model-model, serta praktik terbaik dan contoh penerapannya.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Gambaran alur materi: dari konsep dasar, tahapan, model, hingga penerapan praktis.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pertama: konsep dasar SDLC.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SDLC memberi peta jalan bagi tim. Tekankan tiga karakter: terstruktur, terukur, dan berkelanjutan (siklus).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Manfaat utama SDLC. Contoh: bug yang ditemukan saat analisis kebutuhan hanya perlu revisi dokumen, sedangkan bug di produksi bisa butuh perbaikan kode, pengujian ulang, dan rilis darurat.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kedua: tujuh tahapan SDLC secara rinci.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Gambaran umum ketujuh tahap. Tahap pemeliharaan akan memicu perencanaan baru, sehingga prosesnya berupa siklus, bukan garis lurus.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kunci tahap ini: Apa masalahnya? Apakah layak secara teknis dan finansial? Berapa lama dan berapa biayanya?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kebutuhan fungsional (fitur) dan non-fungsional (kualitas). Kebutuhan yang buruk adalah penyebab umum kegagalan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menjawab 'apa saja komponennya', LLD menjawab 'bagaimana tiap komponen bekerja'. Desain yang baik memudahkan pengembangan dan pemeliharaan.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Output: source code, build, dokumentasi teknis/API. Tekankan pentingnya version control dan code review untuk menjaga kualitas.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Piramida pengujian: banyak unit test yang cepat dan murah di bawah, lebih sedikit UAT di atas. Kombinasikan black-box, white-box, dan regression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Selalu siapkan rencana rollback. Strategi Blue-Green dan Canary mengurangi risiko saat rilis.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jenis pemeliharaan. Pemeliharaan sering menyerap porsi biaya terbesar dalam total umur software, jadi desain yang mudah dirawat sangat penting.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ketiga: model-model SDLC yang populer.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 diperkenalkan lewat makalah Winston Royce (1970) dan menjadi model klasik. Cocok bila kebutuhan sudah pasti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V-Model adalah pengembangan Waterfall dengan penekanan pada pengujian. Verifikasi: apakah kita membangun produk dengan benar? Validasi: apakah kita membangun produk yang benar?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Iteratif: ulangi siklus untuk menyempurnakan. Inkremental: tambah potongan fungsi. Spiral menempatkan manajemen risiko di pusat setiap putaran.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nilai Agile Manifesto (diparafrasakan). Bukan berarti dokumentasi atau rencana tidak penting, tetapi prioritasnya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adalah kerangka Agile paling populer (rujukan: Scrum Guide 2020). Alternatif lain: Kanban, Extreme Programming (XP).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memperluas Agile hingga ke operasional. Contoh alat ditampilkan sebagai ilustrasi; pilihannya bisa berbeda di setiap organisasi.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keempat: membandingkan dan memilih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ini perbandingan umum; dalam praktik, banyak organisasi menggabungkan model (hybrid).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pertanyaan ini sebagai panduan cepat. Model hybrid (misal Water-Scrum-Fall) juga umum dipakai.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kelima: peran, dokumen, dan Secure SDLC.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tim kecil, satu orang bisa memegang beberapa peran sekaligus.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Dokumen membuat pengetahuan proyek terlacak (traceability): dari kebutuhan → desain → kode → test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DevSecOps = DevOps + keamanan terotomatisasi di pipeline. Di Indonesia, perlindungan data pribadi diatur oleh UU No. 27 Tahun 2022 (UU PDP).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keenam: praktik terbaik dan studi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praktik terbaik yang dapat langsung diterapkan pada proyek apa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peserta berbagi pengalaman tantangan serupa di proyek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 kasus ini bersifat ilustratif untuk menunjukkan bagaimana tiap tahap diterapkan pada proyek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kembali poin-poin utama sebelum diskusi.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 singkat: Q1 kesalahan merambat ke desain, kode &amp; uji. Q2 verifikasi = produk dibangun dengan benar; validasi = produk yang benar. Q3 Agile/DevOps dengan CI/CD. Q4 secure coding review, SAST, scan dependensi.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Bacaan lanjutan untuk peserta.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dan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dlc/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dlc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727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dlc/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568" y="5669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(SDLC)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Tahapan, model, dan praktik terbaik dalam membangun perangkat lunak yang berkualitas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420624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420624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20624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5920" y="42062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0240" y="42062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4560" y="420624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0604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</a:t>
            </a:r>
            <a:endParaRPr lang="en-US" sz="1200" dirty="0"/>
          </a:p>
        </p:txBody>
      </p:sp>
      <p:pic>
        <p:nvPicPr>
          <p:cNvPr id="15" name="Image 1" descr="/home/claude/sdlc/img/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685800"/>
            <a:ext cx="4023360" cy="3575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1732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SDLC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09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tujuan, dan manfaat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32888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32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SDLC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fase dari perencanaan hingga pemeliharaan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648456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484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SDLC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V-Model, Iteratif, Spiral, Agile, DevOps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141732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5604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417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&amp; Pemilihan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709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memakai model yang mana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6048" y="253288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2532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Peran, Dokumen &amp; Keamanan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mengerjakan apa, Secure SDLC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465576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6048" y="3648456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5604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6484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&amp; Studi Kasus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practice, tantangan, rangkuman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SDLC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SDLC dan mengapa setiap tim pengembang membutuhkannya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SDLC?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(Software Development Life Cycle) </a:t>
            </a:r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kerangka kerja terstruktur yang mendefinisikan tahapan untuk merencanakan, membangun, menguji, merilis, dan memelihara perangkat lunak secara sistematis.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memiliki input, aktivitas, dan output yang jelas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Terukur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Kemajuan dipantau melalui milestone dan deliverable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Berkelanjutan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terus berulang seiring kebutuhan yang berubah</a:t>
            </a:r>
            <a:endParaRPr lang="en-US" sz="1200" dirty="0"/>
          </a:p>
        </p:txBody>
      </p:sp>
      <p:pic>
        <p:nvPicPr>
          <p:cNvPr id="16" name="Image 3" descr="/home/claude/sdlc/img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188720"/>
            <a:ext cx="3520440" cy="2468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7" name="Shape 11"/>
          <p:cNvSpPr/>
          <p:nvPr/>
        </p:nvSpPr>
        <p:spPr>
          <a:xfrm>
            <a:off x="5166360" y="388620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050792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06440" y="39593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akhir: software berkualitas, tepat waktu, dan sesuai anggaran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SDLC Penting?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549908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Lebih Tinggi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dan pengujian di setiap tahap menekan jumlah cacat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8980" y="11887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7580" y="1417320"/>
            <a:ext cx="530352" cy="5303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49908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75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Terkendali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758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Cacat yang ditemukan lebih awal jauh lebih murah diperbaiki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11887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41732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154990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Terprediksi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yang jelas memudahkan estimasi dan pemantauan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94436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5800" y="3172968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3305556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Terkelola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4087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teknis dan bisnis diidentifikasi sejak perencanaan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68980" y="294436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97580" y="317296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305556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9758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Jelas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7580" y="4087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pihak memahami peran, tanggung jawab, dan target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80760" y="294436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09360" y="3172968"/>
            <a:ext cx="530352" cy="5303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948" y="3305556"/>
            <a:ext cx="265176" cy="26517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0936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Lengkap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4087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proyek tersimpan dan mudah diwariskan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SDLC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fase inti dari ide hingga perangkat lunak yang terus dirawat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Tahapan Siklus SDLC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508760"/>
            <a:ext cx="2651760" cy="2651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645920" y="2148840"/>
            <a:ext cx="1371600" cy="13716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berulang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02536" y="1179576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1344168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39151" y="1678783"/>
            <a:ext cx="658368" cy="6583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743" y="1843375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5173" y="2800492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765" y="2965084"/>
            <a:ext cx="329184" cy="3291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77814" y="3700033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406" y="3864625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427258" y="3700033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850" y="3864625"/>
            <a:ext cx="329184" cy="32918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09899" y="2800492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491" y="2965084"/>
            <a:ext cx="329184" cy="32918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65921" y="1678783"/>
            <a:ext cx="658368" cy="6583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513" y="1843375"/>
            <a:ext cx="329184" cy="32918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572000" y="1197864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4572000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5074920" y="1143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pPr indent="0" marL="0">
              <a:buNone/>
            </a:pPr>
            <a:r>
              <a:rPr lang="en-US" sz="11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5074920" y="1380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Tujuan, ruang lingkup, kelayakan, jadwal &amp; anggaran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4572000" y="170078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457200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5074920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Analysis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5074920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Menggali &amp; mendokumentasikan kebutuhan (SRS)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572000" y="2203704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457200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507492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5074920" y="2386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Arsitektur, basis data, antarmuka &amp; modul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572000" y="2706624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57200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507492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Development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5074920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kode program sesuai desain &amp; standar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4572000" y="320954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457200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5074920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Testing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5074920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software bebas cacat &amp; sesuai kebutuhan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572000" y="3712464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45720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507492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Deployment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5074920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software ke lingkungan produksi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572000" y="4215384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457200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5074920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pPr indent="0" marL="0">
              <a:buNone/>
            </a:pPr>
            <a:r>
              <a:rPr lang="en-US" sz="11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Maintenance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5074920" y="4398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Memperbaiki, menyesuaikan &amp; meningkatkan sistem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Perencanaan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06056" y="539496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1430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fondasi: memastikan proyek layak dijalankan dan semua pihak sepakat tentang apa yang akan dibangun.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utama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masalah, tujuan, dan ruang lingkup proyek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kelayakan: teknis, ekonomi, operasional, hukum, jadwal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biaya, waktu, dan sumber daya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risiko awal beserta rencana mitigasi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jadwal, milestone, dan membentuk tim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46304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162306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629400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1764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tahap ini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Studi Kelayakan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Proyek &amp; Jadwal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Risiko (Risk Register)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8221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TERLIBAT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4041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Sponsor, Stakeholder, Business Analyst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 · Analisis Kebutuhan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6368" y="539496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secara rinci APA yang dibutuhkan pengguna, lalu menuangkannya ke dalam dokumen Software Requirements Specification (SRS).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00025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258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Fungsional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harus DILAKUKAN sistem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5603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login dengan email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dapat menambah data produk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mengirim notifikasi pesanan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mencetak laporan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69164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200025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Non-Fungsional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532120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BAIK sistem bekerja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25603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Kinerja: respons di bawah 2 detik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Keamanan: data sensitif terenkripsi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Ketersediaan: aktif 99,5% waktu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mudah dipakai orang awam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pengumpulan kebutuhan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536192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536192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Kuesioner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615184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615184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694176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694176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73168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73168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852160" y="425196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852160" y="425196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040880" y="3977640"/>
            <a:ext cx="1645920" cy="585216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150608" y="400507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Use Case, User Story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 · Desain Sistem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53949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Menerjemahkan kebutuhan menjadi cetak biru teknis: BAGAIMANA sistem akan dibangun.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 (HLD)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029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besar sistem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3591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 (monolit / microservices)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utama &amp; hubungan antarmodul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teknologi &amp; infrastruktur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377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(LLD)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029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tiap komponen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3591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kelas, fungsi &amp; algoritma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tabel &amp; relasi basis data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API &amp; validasi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3075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840480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43000" y="3611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560320" y="3611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97480" y="373075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3840480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246120" y="3611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(ERD)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663440" y="3611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800600" y="373075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840480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349240" y="3611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Wireframe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766560" y="3611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903720" y="373075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384048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452360" y="3611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API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Document (SDD), diagram UML, ERD, wireframe/prototipe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 · Implementasi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36992" y="53949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143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menulis kode program berdasarkan dokumen desain. Biasanya tahap dengan durasi dan usaha terbesar.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&amp; praktik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1945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pengembangan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kode mengikuti coding standard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oleh developer sendiri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sebelum merge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berkala dengan version control</a:t>
            </a:r>
            <a:endParaRPr lang="en-US" sz="1400" dirty="0"/>
          </a:p>
        </p:txBody>
      </p:sp>
      <p:pic>
        <p:nvPicPr>
          <p:cNvPr id="14" name="Image 0" descr="/home/claude/sdlc/img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188720"/>
            <a:ext cx="3520440" cy="2468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457200" y="397764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9651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0" y="3977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Version Control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246120" y="397764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09651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86200" y="3977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35040" y="397764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9651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75120" y="3977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5 · Pengujian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7304" y="5394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5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Memverifikasi bahwa software berjalan benar, bebas cacat kritis, dan memenuhi kebutuhan.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Tingkatan pengujian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623060" y="19202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23060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 (UAT)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memvalidasi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257860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25786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utuh end-to-end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" y="3236976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" y="32369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Antarmodul bekerja sama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9534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Fungsi/komponen terkecil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002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71450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23560" y="1554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1810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fungsi dari sisi input-output tanpa melihat kode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0" y="229514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409444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623560" y="22494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5623560" y="250545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logika internal, alur, dan cakupan kode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0" y="29900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3104388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623560" y="29443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Non-fungsional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62356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Performa, beban, keamanan, kompatibilitas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029200" y="368503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799332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623560" y="36393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623560" y="38953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perubahan baru tidak merusak fitur lama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5029200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Test Case, Bug Report, Laporan Hasil Uji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6 · Penerapan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57616" y="53949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6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software yang telah lulus uji ke lingkungan produksi agar dapat digunakan oleh pengguna akhir.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764792"/>
            <a:ext cx="493776" cy="493776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888236"/>
            <a:ext cx="246888" cy="24688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61872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1965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kerja developer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17520" y="2011680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37560" y="16002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0440" y="1764792"/>
            <a:ext cx="493776" cy="493776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1888236"/>
            <a:ext cx="246888" cy="24688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142232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/ UAT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142232" y="1965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 produksi untuk uji akhir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97880" y="2011680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217920" y="16002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0" y="1764792"/>
            <a:ext cx="493776" cy="49377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1888236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022592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022592" y="1965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pengguna sebenarnya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rilis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457200" y="29718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62179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2179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pengguna pindah sekaligus; sederhana namun berisiko tinggi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2560320" y="29718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272491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272491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diperbarui bertahap satu per satu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663440" y="29718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482803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482803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lingkungan identik; trafik dialihkan, mudah rollback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766560" y="29718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5"/>
          <p:cNvSpPr txBox="1"/>
          <p:nvPr/>
        </p:nvSpPr>
        <p:spPr>
          <a:xfrm>
            <a:off x="693115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93115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ke sebagian kecil pengguna dulu, lalu diperluas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Notes, Panduan Instalasi, Manual Pengguna, materi pelatihan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7 · Pemeliharaan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4263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2944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256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928" y="539496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804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7 dari 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terus dirawat setelah rilis. Tahap ini umumnya berlangsung paling lama sepanjang usia sistem.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847088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801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Korektif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bug dan error yang ditemukan pengguna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164592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93008" y="1847088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65960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1148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3493008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Menyesuaikan dengan perubahan OS, regulasi, atau platform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10896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8368" y="3310128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00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8016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Perfektif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58368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fitur &amp; meningkatkan performa sesuai masukan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291840" y="310896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493008" y="3310128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42900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Preventif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3493008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&amp; pembaruan untuk mencegah masalah di masa depan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309360" y="1645920"/>
            <a:ext cx="2377440" cy="2761488"/>
          </a:xfrm>
          <a:prstGeom prst="roundRect">
            <a:avLst>
              <a:gd name="adj" fmla="val 307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874520"/>
            <a:ext cx="822960" cy="8229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44652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Perencanaan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92240" y="32004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perubahan besar memicu siklus SDLC baru, sehingga prosesnya terus berputar.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SDLC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Berbagai cara menyusun dan menjalankan tahapan SDLC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Waterfall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4520" y="1600200"/>
            <a:ext cx="91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24128" y="17373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41448" y="2148840"/>
            <a:ext cx="91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91056" y="228600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91056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08376" y="2697480"/>
            <a:ext cx="91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83464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57984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75304" y="3246120"/>
            <a:ext cx="91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24912" y="33832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24912" y="3383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42232" y="3794760"/>
            <a:ext cx="91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39319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berjalan berurutan seperti air terjun; tahap berikutnya dimulai setelah tahap sebelumnya selesai.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07008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879592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1554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Sederhana, mudah dipahami dan dikelola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lengkap di setiap tahap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biaya mudah diestimasi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670048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879592" y="2651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532120" y="30175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mengakomodasi perubahan kebutuhan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baru terlihat di akhir proyek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analisis mahal diperbaiki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532120" y="402336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6692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</a:t>
            </a:r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jelas &amp; stabil, proyek kecil-menengah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(Verifikasi &amp; Validasi)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1563624"/>
            <a:ext cx="25603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167128"/>
            <a:ext cx="18288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1975104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19751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975104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19751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770632"/>
            <a:ext cx="10972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88720" y="257860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2578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Arsitektur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57860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578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374136"/>
            <a:ext cx="36576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554480" y="318211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54480" y="3182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Modul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18211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182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38404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94560" y="3584448"/>
            <a:ext cx="32004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3886200" y="3584448"/>
            <a:ext cx="32004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263640" y="11430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desain di sisi kiri dipasangkan dengan tahap pengujian di sisi kanan. Rencana uji disusun sejak awal.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Cacat terdeteksi lebih awal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&amp; mudah diaudit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 terhadap perubahan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prototipe awal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023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</a:t>
            </a:r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kritis (medis, otomotif, perbankan)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Iteratif &amp; Spiral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Iteratif &amp; Inkremental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928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585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68680" y="263347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0200" y="2121408"/>
            <a:ext cx="338328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984248" y="1737360"/>
            <a:ext cx="777240" cy="777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8928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92808" y="22585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075688" y="263347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86000" y="2633472"/>
            <a:ext cx="1828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07208" y="2121408"/>
            <a:ext cx="338328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191256" y="1737360"/>
            <a:ext cx="777240" cy="777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189280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99816" y="22585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3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282696" y="263347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93008" y="2633472"/>
            <a:ext cx="1828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703320" y="2633472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2852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tumbuh di setiap iterasi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31546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dibangun bertahap dalam beberapa siklus kecil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awal cepat tersedia untuk diberi masukan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produk besar dengan prioritas fitur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89204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(Barry Boehm, 1986)</a:t>
            </a:r>
            <a:endParaRPr lang="en-US" sz="1600" dirty="0"/>
          </a:p>
        </p:txBody>
      </p:sp>
      <p:pic>
        <p:nvPicPr>
          <p:cNvPr id="26" name="Image 3" descr="/home/claude/sdlc/img/spi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91640"/>
            <a:ext cx="1691640" cy="16916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20840" y="17373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putaran melewati empat kuadran. Semakin keluar, semakin matang produknya.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89204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 pada analisis risiko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prototyping &amp; Waterfall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proyek besar berisiko tinggi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Agile: Empat Nilai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 (2001) menekankan bahwa hal di kiri lebih diutamakan, meski hal di kanan tetap bernilai.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967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6002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 &amp; interaksi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1600200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0" y="1600200"/>
            <a:ext cx="29718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6002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&amp; alat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350008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441448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54660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35000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yang berfungsi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2350008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15000" y="2350008"/>
            <a:ext cx="29718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97880" y="23500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menyeluruh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3099816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6928" y="3191256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29641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309981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dengan pelanggan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3099816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15000" y="3099816"/>
            <a:ext cx="29718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97880" y="30998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kontrak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7200" y="3849624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66928" y="3941064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046220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384962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Merespons perubahan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4800600" y="3849624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715000" y="3849624"/>
            <a:ext cx="29718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897880" y="38496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rencana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dengan Kerangka Scrum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8660" y="14401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0" y="1783080"/>
            <a:ext cx="93268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464308" y="14401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58" y="16116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29968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18688" y="1783080"/>
            <a:ext cx="84124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128516" y="134874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686" y="156591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85616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1–4 minggu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65776" y="1783080"/>
            <a:ext cx="84124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5975604" y="14401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054" y="16116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41264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729984" y="1783080"/>
            <a:ext cx="93268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7731252" y="14401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702" y="1611630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96912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3749040" y="2523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Daily Scrum 15 menit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sprint menghasilkan Increment, potongan produk yang siap dipakai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32004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" y="3364992"/>
            <a:ext cx="457200" cy="457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3479292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34440" y="3364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58368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&amp; memprioritaskan backlog demi nilai bisnis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268980" y="32004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470148" y="3364992"/>
            <a:ext cx="457200" cy="457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479292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046220" y="3364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3470148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Memfasilitasi proses &amp; menghilangkan hambatan tim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080760" y="32004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6281928" y="3364992"/>
            <a:ext cx="457200" cy="457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6228" y="3479292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858000" y="3364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6281928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lintas fungsi yang membangun increment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Siklus Tanpa Henti</a:t>
            </a:r>
            <a:endParaRPr lang="en-US" sz="3000" dirty="0"/>
          </a:p>
        </p:txBody>
      </p:sp>
      <p:pic>
        <p:nvPicPr>
          <p:cNvPr id="3" name="Image 0" descr="/home/claude/sdlc/img/infi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3865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tim pengembang (Dev) dan operasional (Ops) dengan otomatisasi agar rilis cepat, sering, dan andal.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2588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2588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9456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9456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6324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324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3192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3192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00600" y="42062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42062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118872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130302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92240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14356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digabung &amp; diuji otomatis setiap hari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897880" y="20299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14426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92240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22768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siap rilis kapan saja melalui pipeline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897880" y="2871216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985516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92240" y="2852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3118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didefinisikan lewat skrip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897880" y="3712464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3826764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49224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Feedback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6492240" y="39593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&amp; log memandu perbaikan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&amp; Pemilihan Model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model terbaik, yang ada model paling sesuai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Model SDLC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463040"/>
                <a:gridCol w="1371600"/>
                <a:gridCol w="1234440"/>
                <a:gridCol w="17830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Fleksibilitas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Keterlibatan pengguna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Manajemen risiko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Kecepatan rilis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Paling cocok untuk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Awal &amp; akhir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 jelas &amp; stabil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Awal &amp; akhir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kritis, wajib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Setiap iterasi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 besar bertahap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Setiap putaran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Proyek besar berisiko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Terus-menerus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 sering berubah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Terus-menerus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tinggi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Layanan digital &amp;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sel: merah = rendah, kuning = sedang, hijau = tinggi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Model yang Tepat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75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7043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sudah jelas dan jarang berubah?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444752"/>
            <a:ext cx="41148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989320" y="1170432"/>
            <a:ext cx="2697480" cy="530352"/>
          </a:xfrm>
          <a:prstGeom prst="roundRect">
            <a:avLst>
              <a:gd name="adj" fmla="val 1379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17043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476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4128" y="181051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kritis yang menuntut verifikasi ketat?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0" y="2084832"/>
            <a:ext cx="41148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989320" y="1810512"/>
            <a:ext cx="2697480" cy="530352"/>
          </a:xfrm>
          <a:prstGeom prst="roundRect">
            <a:avLst>
              <a:gd name="adj" fmla="val 13793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89320" y="18105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450592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877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24128" y="245059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teknis atau biaya sangat tinggi?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0" y="2724912"/>
            <a:ext cx="41148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89320" y="2450592"/>
            <a:ext cx="2697480" cy="530352"/>
          </a:xfrm>
          <a:prstGeom prst="roundRect">
            <a:avLst>
              <a:gd name="adj" fmla="val 1379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89320" y="245059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090672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2783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24128" y="309067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cepat berubah, perlu masukan pengguna?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0" y="3364992"/>
            <a:ext cx="41148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989320" y="3090672"/>
            <a:ext cx="2697480" cy="530352"/>
          </a:xfrm>
          <a:prstGeom prst="roundRect">
            <a:avLst>
              <a:gd name="adj" fmla="val 1379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89320" y="30906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 / Kanban)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" y="3730752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86791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4128" y="373075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sangat sering &amp; operasional berkelanjutan?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0" y="4005072"/>
            <a:ext cx="41148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5989320" y="3730752"/>
            <a:ext cx="2697480" cy="530352"/>
          </a:xfrm>
          <a:prstGeom prst="roundRect">
            <a:avLst>
              <a:gd name="adj" fmla="val 1379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989320" y="37307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4074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 juga: ukuran tim, kematangan tim, regulasi, anggaran, dan budaya organisasi.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Peran, Dokumen &amp; Keamanan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mengerjakan apa, apa yang dihasilkan, dan bagaimana menjaga keamanan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dalam Tim SDLC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353312"/>
            <a:ext cx="493776" cy="49377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4767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Merencanakan, memantau jadwal, biaya &amp; risiko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3552" y="1353312"/>
            <a:ext cx="493776" cy="4937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14767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Menggali kebutuhan &amp; menjembatani bisnis-teknis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76672" y="1353312"/>
            <a:ext cx="493776" cy="49377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4767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arsitektur &amp; standar teknis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79792" y="1353312"/>
            <a:ext cx="493776" cy="49377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36" y="147675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alur &amp; tampilan yang mudah dipakai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292608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170432" y="3090672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14116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64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Menulis, menguji unit, dan merawat kode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560320" y="292608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73552" y="3090672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996" y="3214116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5176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&amp; menjalankan pengujian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663440" y="292608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376672" y="3090672"/>
            <a:ext cx="493776" cy="49377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0116" y="3214116"/>
            <a:ext cx="246888" cy="24688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75488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pipeline, infrastruktur &amp; rilis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766560" y="292608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479792" y="3090672"/>
            <a:ext cx="493776" cy="493776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3236" y="3214116"/>
            <a:ext cx="246888" cy="24688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5800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/ User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90372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kebutuhan, masukan &amp; persetujuan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Utama di Setiap Tahap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Kelayakan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Proyek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56362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64592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2984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64592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70078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64592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0078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64592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70078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5234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283464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29844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288036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83464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88950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83464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88950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83464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88950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94106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402336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298448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406908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02336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07822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02336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407822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API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402336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07822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12978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521208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298448"/>
            <a:ext cx="329184" cy="329184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525780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21208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26694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21208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26694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521208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26694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631850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46"/>
          <p:cNvSpPr/>
          <p:nvPr/>
        </p:nvSpPr>
        <p:spPr>
          <a:xfrm>
            <a:off x="640080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1298448"/>
            <a:ext cx="329184" cy="329184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644652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640080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645566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640080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45566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Instalasi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640080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645566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Pengguna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7507224" y="1645920"/>
            <a:ext cx="73152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3" name="Shape 55"/>
          <p:cNvSpPr/>
          <p:nvPr/>
        </p:nvSpPr>
        <p:spPr>
          <a:xfrm>
            <a:off x="758952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298448"/>
            <a:ext cx="329184" cy="329184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763524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endParaRPr lang="en-US" sz="1000" dirty="0"/>
          </a:p>
        </p:txBody>
      </p:sp>
      <p:sp>
        <p:nvSpPr>
          <p:cNvPr id="66" name="Shape 57"/>
          <p:cNvSpPr/>
          <p:nvPr/>
        </p:nvSpPr>
        <p:spPr>
          <a:xfrm>
            <a:off x="7589520" y="224028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7644384" y="224028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589520" y="2953512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7644384" y="2953512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Insiden</a:t>
            </a:r>
            <a:endParaRPr lang="en-US" sz="1100" dirty="0"/>
          </a:p>
        </p:txBody>
      </p:sp>
      <p:sp>
        <p:nvSpPr>
          <p:cNvPr id="70" name="Shape 61"/>
          <p:cNvSpPr/>
          <p:nvPr/>
        </p:nvSpPr>
        <p:spPr>
          <a:xfrm>
            <a:off x="7589520" y="3666744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7644384" y="366674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SDLC: Keamanan Sejak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shift-left: aktivitas keamanan disisipkan ke setiap tahap, bukan hanya diuji di akhir.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965960"/>
            <a:ext cx="7132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6634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keamanan &amp; kepatuhan (mis. UU PDP)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20240" y="1691640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5506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65506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70078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 &amp; klasifikasi data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0896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4378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84378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88950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&amp; review desain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3250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03250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07822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coding, SAST, scan dependensi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828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2122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22122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26694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&amp; penetration 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828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40994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40994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5566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manajemen secret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863840" y="169164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82880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598664" y="23042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598664" y="2724912"/>
            <a:ext cx="1078992" cy="1024128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644384" y="2724912"/>
            <a:ext cx="987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&amp; pemantauan keamanan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069080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18872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SSDF (SP 800-218), OWASP SAMM, OWASP Top 10, ISO/IEC 27001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&amp; Studi Kasus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Kiat sukses, tantangan umum, dan contoh penerapan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17320"/>
            <a:ext cx="2011680" cy="20116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 SDLC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39596"/>
            <a:ext cx="210312" cy="210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Libatkan pengguna sejak awal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kebutuhan lewat prototipe &amp; demo rutin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075688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1808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jelas &amp; terlacak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fitur terhubung ke kebutuhan dan test case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916936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022092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4128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code review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24128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perubahan tercatat dan ditinjau rekan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758184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863340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4128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uji &amp; CI/CD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024128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cepat, rilis konsisten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663440" y="1234440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1339596"/>
            <a:ext cx="210312" cy="2103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30368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realistis &amp; kelola risiko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230368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data historis &amp; sediakan buffer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63440" y="2075688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596" y="2180844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30368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sejak desain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23036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prinsip Secure SDLC di setiap tahap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663440" y="2916936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596" y="3022092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230368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dengan metrik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5230368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rate, lead time, cakupan pengujian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663440" y="3758184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596" y="3863340"/>
            <a:ext cx="210312" cy="21031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230368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berkelanjutan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5230368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Retrospektif rutin &amp; tindak lanjuti hasilnya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Umum &amp; Solusinya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3716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(ruang lingkup melebar)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26280" y="1636776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846320" y="13716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3716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&amp; prioritas backlog yang disepakati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0116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0120" y="20116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tidak jelas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26280" y="2276856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846320" y="201168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488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0116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Prototyping, user story &amp; validasi bersama pengguna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65176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0120" y="26517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waktu meleset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526280" y="2916936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4846320" y="265176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7889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49240" y="26517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 pekerjaan kecil, estimasi berbasis data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57200" y="32918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2900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60120" y="32918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tim buruk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4526280" y="3557016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1"/>
          <p:cNvSpPr/>
          <p:nvPr/>
        </p:nvSpPr>
        <p:spPr>
          <a:xfrm>
            <a:off x="4846320" y="3291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429000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349240" y="32918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 &amp; dokumentasi bersama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457200" y="393192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069080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60120" y="39319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Utang teknis menumpuk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4526280" y="4197096"/>
            <a:ext cx="2743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26"/>
          <p:cNvSpPr/>
          <p:nvPr/>
        </p:nvSpPr>
        <p:spPr>
          <a:xfrm>
            <a:off x="4846320" y="393192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069080"/>
            <a:ext cx="256032" cy="25603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349240" y="39319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terjadwal &amp; code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Aplikasi Layanan Surat Desa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ilustratif penerapan SDLC (pendekatan Agile) untuk aplikasi permohonan surat online bagi warga desa.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6002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Perencanaan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299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warga mengurus surat tanpa antre. Target rilis 4 bulan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4630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60020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916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7248" y="16002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Analisis Kebutuhan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0299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 perangkat desa &amp; warga; daftar jenis surat; login berbasis NIK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4630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160020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164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30368" y="16002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Desain Sistem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0299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warga–permohonan–surat; wireframe formulir; arsitektur web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66560" y="14630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60020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69164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16002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Implementasi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0299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mingguan; Git &amp; code review; modul permohonan &amp; verifikasi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32004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Pengujian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36301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test; UAT bersama operator desa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56032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697480" y="32004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29184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127248" y="32004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Penerapan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2697480" y="36301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(pilot) di satu desa, lalu rilis bertahap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66344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0600" y="3200400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91840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230368" y="32004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Pemeliharaan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4800600" y="363016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bug, tambah jenis surat, pantau performa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76656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3246120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03720" y="37764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layanan lebih cepat, data surat tercatat rapi &amp; mudah dilacak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inti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898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8980" y="1234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3604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populer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234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software berkualitas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0779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68680" y="28529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memberi struktur agar pengembangan software terarah, terukur, dan berkualitas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3375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8680" y="32826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punya aktivitas, output, dan peran yang jelas, lalu berputar sebagai siklus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6732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37124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model sesuai karakter proyek; Agile &amp; DevOps unggul saat kebutuhan dinamis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970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8680" y="41422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Keamanan, otomatisasi, dan perbaikan berkelanjutan adalah kunci SDLC modern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Latihan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4416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kesalahan di tahap analisis kebutuhan berdampak besar pada biaya proyek?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85416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29968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perbedaan verifikasi dan validasi pada V-Model? Berikan contohnya.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02666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026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7121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startup ingin rilis fitur tiap minggu. Model apa yang cocok, dan mengapa?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867912"/>
            <a:ext cx="402336" cy="40233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1246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Sebutkan dua aktivitas keamanan yang bisa ditambahkan pada tahap implementasi.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1417320"/>
            <a:ext cx="2148840" cy="21488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938528"/>
            <a:ext cx="1097280" cy="10972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dalam kelompok 10–15 menit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25296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307592"/>
            <a:ext cx="164592" cy="164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18872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(2015). Software Engineering, 10th ed. Pearson.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783080"/>
            <a:ext cx="164592" cy="164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664208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Pressman, R. S. &amp; Maxim, B. R. (2019). Software Engineering: A Practitioner's Approach, 9th ed. McGraw-Hill.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7627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258568"/>
            <a:ext cx="164592" cy="1645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139696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12207:2017. Systems and software engineering: Software life cycle processes.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651760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73405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61518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 &amp; Sutherland, J. (2020). The Scrum Guide. scrumguides.org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3127248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20954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309067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et al. (2001). Manifesto for Agile Software Development. agilemanifesto.org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360273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685032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356616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800-218 (2022). Secure Software Development Framework (SSDF).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57200" y="407822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4160520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60120" y="4041648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Software Assurance Maturity Model (SAMM). owasp.org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dlc/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749040" y="3611880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95928" y="361188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42816" y="3611880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9704" y="36118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6592" y="36118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361188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0368" y="3611880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Analyze · Design · Build · Test · Deploy · Maintain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LC Spectrum">
  <a:themeElements>
    <a:clrScheme name="SDLC Spectrum">
      <a:dk1>
        <a:srgbClr val="1B1F3B"/>
      </a:dk1>
      <a:lt1>
        <a:srgbClr val="FFFFFF"/>
      </a:lt1>
      <a:dk2>
        <a:srgbClr val="2E3A59"/>
      </a:dk2>
      <a:lt2>
        <a:srgbClr val="F1F5F9"/>
      </a:lt2>
      <a:accent1>
        <a:srgbClr val="6366F1"/>
      </a:accent1>
      <a:accent2>
        <a:srgbClr val="0EA5E9"/>
      </a:accent2>
      <a:accent3>
        <a:srgbClr val="14B8A6"/>
      </a:accent3>
      <a:accent4>
        <a:srgbClr val="22C55E"/>
      </a:accent4>
      <a:accent5>
        <a:srgbClr val="F59E0B"/>
      </a:accent5>
      <a:accent6>
        <a:srgbClr val="EF4444"/>
      </a:accent6>
      <a:hlink>
        <a:srgbClr val="0EA5E9"/>
      </a:hlink>
      <a:folHlink>
        <a:srgbClr val="A855F7"/>
      </a:folHlink>
    </a:clrScheme>
    <a:fontScheme name="SDLC Spectru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Life Cycle (SDLC)</dc:title>
  <dc:subject>Materi pembelajaran SDLC</dc:subject>
  <dc:creator>Materi SDLC</dc:creator>
  <cp:lastModifiedBy>Materi SDLC</cp:lastModifiedBy>
  <cp:revision>1</cp:revision>
  <dcterms:created xsi:type="dcterms:W3CDTF">2026-10-21T03:08:12Z</dcterms:created>
  <dcterms:modified xsi:type="dcterms:W3CDTF">2026-10-21T03:08:12Z</dcterms:modified>
</cp:coreProperties>
</file>