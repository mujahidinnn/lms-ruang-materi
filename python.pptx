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802c5eb-1e8e-7244-1c89-4730594f8898}">
          <p14:sldIdLst>
            <p14:sldId id="256"/>
            <p14:sldId id="257"/>
          </p14:sldIdLst>
        </p14:section>
        <p14:section name="Pengenalan Python" id="{d7b3f4bb-7b5b-dc63-03b4-01ddde72bf2c}">
          <p14:sldIdLst>
            <p14:sldId id="258"/>
            <p14:sldId id="259"/>
            <p14:sldId id="260"/>
            <p14:sldId id="261"/>
            <p14:sldId id="262"/>
          </p14:sldIdLst>
        </p14:section>
        <p14:section name="Persiapan" id="{f6e956b9-43bf-59fe-94f9-8d627e16b2ca}">
          <p14:sldIdLst>
            <p14:sldId id="263"/>
            <p14:sldId id="264"/>
            <p14:sldId id="265"/>
          </p14:sldIdLst>
        </p14:section>
        <p14:section name="Dasar Sintaks" id="{69d62266-7e38-8f2d-004b-6d6cfb232e22}">
          <p14:sldIdLst>
            <p14:sldId id="266"/>
            <p14:sldId id="267"/>
            <p14:sldId id="268"/>
            <p14:sldId id="269"/>
            <p14:sldId id="270"/>
            <p14:sldId id="271"/>
          </p14:sldIdLst>
        </p14:section>
        <p14:section name="Struktur Data" id="{d262fc92-627d-d89c-2e1d-a9dae71e320c}">
          <p14:sldIdLst>
            <p14:sldId id="272"/>
            <p14:sldId id="273"/>
            <p14:sldId id="274"/>
          </p14:sldIdLst>
        </p14:section>
        <p14:section name="Fungsi &amp; Modul" id="{7dd72ebc-82b1-a64c-ffd6-a5e3261ab742}">
          <p14:sldIdLst>
            <p14:sldId id="275"/>
            <p14:sldId id="276"/>
            <p14:sldId id="277"/>
          </p14:sldIdLst>
        </p14:section>
        <p14:section name="Konsep Lanjutan" id="{ad95ae91-fd25-bbe8-0a51-7a542ac5c83b}">
          <p14:sldIdLst>
            <p14:sldId id="278"/>
            <p14:sldId id="279"/>
            <p14:sldId id="280"/>
            <p14:sldId id="281"/>
            <p14:sldId id="282"/>
          </p14:sldIdLst>
        </p14:section>
        <p14:section name="Praktik" id="{1fc2ebf7-2f59-d3bc-ae81-4e1a33c85906}">
          <p14:sldIdLst>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Presentasi ini membahas Python dari nol: pengenalan, instalasi, sintaks dasar, struktur data, fungsi, modul, OOP, penanganan error, file, hingga proyek mini dan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urutan materi. Tiap bagian diakhiri contoh kode yang bisa langsung dicoba.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adalah bahasa tingkat tinggi, interpreted, dan general purpose. Filosofinya mengutamakan keterbacaan kode. Nama Python diambil dari grup komedi Monty Python, bukan 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Guido van Rossum mulai mengembangkan Python akhir 1989 dan merilisnya pada 1991. Python 3 tidak sepenuhnya kompatibel dengan Python 2, dan Python 2 resmi dihentikan 1 Januari 2020. Versi Python 3 baru dirilis setiap tahun sekitar bulan Oktober.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cocok untuk pemula dan juga dipakai profesional di perusahaan besar. Komunitasnya besar sehingga mudah mencari bantuan dan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bidang dan library populernya. Ini menunjukkan betapa luasnya penggunaan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instalasi di Windows, jangan lupa centang 'Add python.exe to PATH'. Di macOS dan Linux biasanya Python 3 sudah tersedia atau bisa dipasang lewat package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print() menampilkan teks ke layar. Simpan file dengan ekstensi .py lalu jalankan dengan perintah python nama_file.py. Komentar diawali tanda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Variabel adalah wadah untuk menyimpan nilai. Python tidak perlu deklarasi tipe. Gunakan type() untuk mengecek tipe data. Aturan nama: huruf/underscore di awal, tanpa spasi, case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aritmatika untuk hitung, perbandingan menghasilkan True/False, logika menggabungkan kondisi, penugasan untuk mengisi nilai variabel.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selalu menghasilkan string, jadi ubah ke int/float bila butuh angka. f-string (diawali f) adalah cara modern untuk menyisipkan variabel ke dalam teks.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Indentasi (4 spasi) menandai blok kode. Python mengecek kondisi dari atas ke bawah, dan menjalankan blok pertama yang bernilai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dipakai bila jumlah perulangan jelas atau untuk menelusuri koleksi. while dipakai bila perulangan bergantung pada kondisi. break menghentikan loop, continue melompat ke iterasi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utama: list bisa diubah dan berurutan; tuple tidak bisa diubah; set tidak menyimpan duplikat dan tidak berurutan; dictionary menyimpan pasangan kunci-nilai.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Indeks list dimulai dari 0, indeks negatif mengambil dari belakang. Slicing [a:b] mengambil elemen a sampai b-1. Dictionary diakses dengan kunci, dan items() menghasilkan pasangan kunci-nilai.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dibuat dengan def, bisa menerima parameter dan mengembalikan nilai dengan return. Parameter default memberi nilai bawaan. Lambda adalah fungsi singkat satu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 adalah file .py berisi kode. Python punya standard library bawaan (math, random, datetime, os). Library pihak ketiga dipasang dengan pip dari PyPI. Gunakan virtual environment (venv) agar dependensi tiap proyek terpisah.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adalah cetak biru, object adalah wujudnya. __init__ adalah konstruktor, self merujuk ke objek itu sendiri. Empat pilar OOP: enkapsulasi, pewarisan, polimorfisme, abstraksi.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saat program berjalan disebut exception. Dengan try-except program tidak langsung berhenti. else berjalan bila tidak ada error, finally selalu dijalankan.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with open(...) agar file otomatis ditutup. Mode 'r' membaca, 'w' menulis (menimpa), 'a' menambah di akhir. Tambahkan encoding='utf-8' untuk teks berbahasa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library pihak ketiga terkenal, dipasang dengan pip install. Pilih sesuai bidang yang ingin didalami setelah menguasai dasar.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ini menggabungkan input, list, perulangan, fungsi, kondisi, dan f-string. Kembangkan dengan menyimpan hasil ke file atau menambah validasi input dengan try-except.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8 adalah panduan gaya penulisan kode Python resmi. Kode yang rapi lebih mudah dibaca orang lain dan diri sendiri di kemudian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Berikan waktu peserta 10 sampai 15 menit per soal. Kunci: 1) gunakan % 2; 2) for + if dengan range(1, 101); 3) fungsi dengan rumus (C * 9/5) + 32; 4) dictionary dan perulangan; 5) class dengan method setor dan tarik.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Ulangi poin utama, lalu arahkan peserta ke sumber belajar lanjutan. Dokumentasi resmi di docs.python.org adalah rujukan paling akurat.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sesi, buka tanya jawab, dan ingatkan peserta mengerjakan latihan soal.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57400"/>
            <a:ext cx="5669280" cy="8229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926080"/>
            <a:ext cx="5669280" cy="73152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pic>
        <p:nvPicPr>
          <p:cNvPr id="3" name="Image 0" descr="logo.png">    </p:cNvPr>
          <p:cNvPicPr>
            <a:picLocks noChangeAspect="1"/>
          </p:cNvPicPr>
          <p:nvPr/>
        </p:nvPicPr>
        <p:blipFill>
          <a:blip r:embed="rId1"/>
          <a:stretch>
            <a:fillRect/>
          </a:stretch>
        </p:blipFill>
        <p:spPr>
          <a:xfrm>
            <a:off x="457200" y="4754880"/>
            <a:ext cx="201168" cy="201168"/>
          </a:xfrm>
          <a:prstGeom prst="rect">
            <a:avLst/>
          </a:prstGeom>
        </p:spPr>
      </p:pic>
      <p:sp>
        <p:nvSpPr>
          <p:cNvPr id="4" name="Text 0"/>
          <p:cNvSpPr/>
          <p:nvPr/>
        </p:nvSpPr>
        <p:spPr>
          <a:xfrm>
            <a:off x="731520" y="4727448"/>
            <a:ext cx="3657600" cy="256032"/>
          </a:xfrm>
          <a:prstGeom prst="rect">
            <a:avLst/>
          </a:prstGeom>
          <a:noFill/>
          <a:ln/>
        </p:spPr>
        <p:txBody>
          <a:bodyPr wrap="square" lIns="0" tIns="0" rIns="0" bIns="0" rtlCol="0" anchor="ctr"/>
          <a:lstStyle/>
          <a:p>
            <a:pPr indent="0" marL="0">
              <a:buNone/>
            </a:pPr>
            <a:r>
              <a:rPr lang="en-US" sz="1000" dirty="0">
                <a:solidFill>
                  <a:schemeClr val="tx2"/>
                </a:solidFill>
              </a:rPr>
              <a:t>Materi Pemrograman Python</a:t>
            </a:r>
            <a:endParaRPr lang="en-US" sz="10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4.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4.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4.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94960" y="502920"/>
            <a:ext cx="4114800" cy="4114800"/>
          </a:xfrm>
          <a:prstGeom prst="ellipse">
            <a:avLst/>
          </a:prstGeom>
          <a:solidFill>
            <a:schemeClr val="accent1">
              <a:alpha val="30000"/>
            </a:schemeClr>
          </a:solidFill>
          <a:ln w="12700">
            <a:solidFill>
              <a:schemeClr val="accent1">
                <a:alpha val="30000"/>
              </a:schemeClr>
            </a:solidFill>
            <a:prstDash val="solid"/>
          </a:ln>
        </p:spPr>
      </p:sp>
      <p:pic>
        <p:nvPicPr>
          <p:cNvPr id="3" name="Image 0" descr="logo.png">    </p:cNvPr>
          <p:cNvPicPr>
            <a:picLocks noChangeAspect="1"/>
          </p:cNvPicPr>
          <p:nvPr/>
        </p:nvPicPr>
        <p:blipFill>
          <a:blip r:embed="rId1"/>
          <a:stretch>
            <a:fillRect/>
          </a:stretch>
        </p:blipFill>
        <p:spPr>
          <a:xfrm>
            <a:off x="6080760" y="1188720"/>
            <a:ext cx="2743200" cy="2743200"/>
          </a:xfrm>
          <a:prstGeom prst="rect">
            <a:avLst/>
          </a:prstGeom>
        </p:spPr>
      </p:pic>
      <p:sp>
        <p:nvSpPr>
          <p:cNvPr id="4" name="Text 1"/>
          <p:cNvSpPr txBox="1"/>
          <p:nvPr/>
        </p:nvSpPr>
        <p:spPr>
          <a:xfrm>
            <a:off x="548640" y="1097280"/>
            <a:ext cx="4572000" cy="320040"/>
          </a:xfrm>
          <a:prstGeom prst="rect">
            <a:avLst/>
          </a:prstGeom>
          <a:noFill/>
          <a:ln/>
        </p:spPr>
        <p:txBody>
          <a:bodyPr wrap="square" lIns="0" tIns="0" rIns="0" bIns="0" rtlCol="0" anchor="t"/>
          <a:lstStyle/>
          <a:p>
            <a:pPr indent="0" marL="0">
              <a:buNone/>
            </a:pPr>
            <a:r>
              <a:rPr lang="en-US" sz="1300" b="1" spc="400" kern="0" dirty="0">
                <a:solidFill>
                  <a:schemeClr val="accent2"/>
                </a:solidFill>
              </a:rPr>
              <a:t>MATERI PEMBELAJARAN</a:t>
            </a:r>
            <a:endParaRPr lang="en-US" sz="1300" dirty="0"/>
          </a:p>
        </p:txBody>
      </p:sp>
      <p:sp>
        <p:nvSpPr>
          <p:cNvPr id="5" name="Text 2"/>
          <p:cNvSpPr txBox="1"/>
          <p:nvPr/>
        </p:nvSpPr>
        <p:spPr>
          <a:xfrm>
            <a:off x="548640" y="1463040"/>
            <a:ext cx="4846320" cy="123444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Pemrograman Python</a:t>
            </a:r>
            <a:endParaRPr lang="en-US" sz="4000" dirty="0"/>
          </a:p>
        </p:txBody>
      </p:sp>
      <p:sp>
        <p:nvSpPr>
          <p:cNvPr id="6" name="Text 3"/>
          <p:cNvSpPr txBox="1"/>
          <p:nvPr/>
        </p:nvSpPr>
        <p:spPr>
          <a:xfrm>
            <a:off x="548640" y="2788920"/>
            <a:ext cx="4754880" cy="731520"/>
          </a:xfrm>
          <a:prstGeom prst="rect">
            <a:avLst/>
          </a:prstGeom>
          <a:noFill/>
          <a:ln/>
        </p:spPr>
        <p:txBody>
          <a:bodyPr wrap="square" lIns="0" tIns="0" rIns="0" bIns="0" rtlCol="0" anchor="t"/>
          <a:lstStyle/>
          <a:p>
            <a:pPr indent="0" marL="0">
              <a:buNone/>
            </a:pPr>
            <a:r>
              <a:rPr lang="en-US" sz="1600" dirty="0">
                <a:solidFill>
                  <a:srgbClr val="CADCFC"/>
                </a:solidFill>
              </a:rPr>
              <a:t>Dari dasar hingga konsep lanjutan: sintaks, struktur data, fungsi, OOP, file, dan proyek mini</a:t>
            </a:r>
            <a:endParaRPr lang="en-US" sz="1600" dirty="0"/>
          </a:p>
        </p:txBody>
      </p:sp>
      <p:sp>
        <p:nvSpPr>
          <p:cNvPr id="7" name="Shape 4"/>
          <p:cNvSpPr/>
          <p:nvPr/>
        </p:nvSpPr>
        <p:spPr>
          <a:xfrm>
            <a:off x="548640" y="3657600"/>
            <a:ext cx="1371600" cy="365760"/>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548640" y="3657600"/>
            <a:ext cx="1371600" cy="365760"/>
          </a:xfrm>
          <a:prstGeom prst="rect">
            <a:avLst/>
          </a:prstGeom>
          <a:noFill/>
          <a:ln/>
        </p:spPr>
        <p:txBody>
          <a:bodyPr wrap="square" lIns="0" tIns="0" rIns="0" bIns="0" rtlCol="0" anchor="ctr"/>
          <a:lstStyle/>
          <a:p>
            <a:pPr algn="ctr" indent="0" marL="0">
              <a:buNone/>
            </a:pPr>
            <a:r>
              <a:rPr lang="en-US" sz="1200" b="1" dirty="0">
                <a:solidFill>
                  <a:schemeClr val="bg1"/>
                </a:solidFill>
              </a:rPr>
              <a:t>Pemula</a:t>
            </a:r>
            <a:endParaRPr lang="en-US" sz="1200" dirty="0"/>
          </a:p>
        </p:txBody>
      </p:sp>
      <p:sp>
        <p:nvSpPr>
          <p:cNvPr id="9" name="Shape 6"/>
          <p:cNvSpPr/>
          <p:nvPr/>
        </p:nvSpPr>
        <p:spPr>
          <a:xfrm>
            <a:off x="2057400" y="3657600"/>
            <a:ext cx="1371600" cy="365760"/>
          </a:xfrm>
          <a:prstGeom prst="roundRect">
            <a:avLst>
              <a:gd name="adj" fmla="val 50000"/>
            </a:avLst>
          </a:prstGeom>
          <a:solidFill>
            <a:schemeClr val="accent1"/>
          </a:solidFill>
          <a:ln w="12700">
            <a:solidFill>
              <a:schemeClr val="accent1"/>
            </a:solidFill>
            <a:prstDash val="solid"/>
          </a:ln>
        </p:spPr>
      </p:sp>
      <p:sp>
        <p:nvSpPr>
          <p:cNvPr id="10" name="Text 7"/>
          <p:cNvSpPr txBox="1"/>
          <p:nvPr/>
        </p:nvSpPr>
        <p:spPr>
          <a:xfrm>
            <a:off x="2057400" y="3657600"/>
            <a:ext cx="1371600" cy="365760"/>
          </a:xfrm>
          <a:prstGeom prst="rect">
            <a:avLst/>
          </a:prstGeom>
          <a:noFill/>
          <a:ln/>
        </p:spPr>
        <p:txBody>
          <a:bodyPr wrap="square" lIns="0" tIns="0" rIns="0" bIns="0" rtlCol="0" anchor="ctr"/>
          <a:lstStyle/>
          <a:p>
            <a:pPr algn="ctr" indent="0" marL="0">
              <a:buNone/>
            </a:pPr>
            <a:r>
              <a:rPr lang="en-US" sz="1200" b="1" dirty="0">
                <a:solidFill>
                  <a:schemeClr val="bg1"/>
                </a:solidFill>
              </a:rPr>
              <a:t>Praktik langsung</a:t>
            </a:r>
            <a:endParaRPr lang="en-US" sz="1200" dirty="0"/>
          </a:p>
        </p:txBody>
      </p:sp>
      <p:sp>
        <p:nvSpPr>
          <p:cNvPr id="11" name="Shape 8"/>
          <p:cNvSpPr/>
          <p:nvPr/>
        </p:nvSpPr>
        <p:spPr>
          <a:xfrm>
            <a:off x="3566160" y="3657600"/>
            <a:ext cx="1371600" cy="365760"/>
          </a:xfrm>
          <a:prstGeom prst="roundRect">
            <a:avLst>
              <a:gd name="adj" fmla="val 50000"/>
            </a:avLst>
          </a:prstGeom>
          <a:solidFill>
            <a:schemeClr val="accent1"/>
          </a:solidFill>
          <a:ln w="12700">
            <a:solidFill>
              <a:schemeClr val="accent1"/>
            </a:solidFill>
            <a:prstDash val="solid"/>
          </a:ln>
        </p:spPr>
      </p:sp>
      <p:sp>
        <p:nvSpPr>
          <p:cNvPr id="12" name="Text 9"/>
          <p:cNvSpPr txBox="1"/>
          <p:nvPr/>
        </p:nvSpPr>
        <p:spPr>
          <a:xfrm>
            <a:off x="3566160" y="3657600"/>
            <a:ext cx="1371600" cy="365760"/>
          </a:xfrm>
          <a:prstGeom prst="rect">
            <a:avLst/>
          </a:prstGeom>
          <a:noFill/>
          <a:ln/>
        </p:spPr>
        <p:txBody>
          <a:bodyPr wrap="square" lIns="0" tIns="0" rIns="0" bIns="0" rtlCol="0" anchor="ctr"/>
          <a:lstStyle/>
          <a:p>
            <a:pPr algn="ctr" indent="0" marL="0">
              <a:buNone/>
            </a:pPr>
            <a:r>
              <a:rPr lang="en-US" sz="1200" b="1" dirty="0">
                <a:solidFill>
                  <a:schemeClr val="bg1"/>
                </a:solidFill>
              </a:rPr>
              <a:t>Python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Agenda Pembelajaran</a:t>
            </a:r>
            <a:endParaRPr lang="en-US" sz="2800" dirty="0"/>
          </a:p>
        </p:txBody>
      </p:sp>
      <p:sp>
        <p:nvSpPr>
          <p:cNvPr id="4" name="Shape 1"/>
          <p:cNvSpPr/>
          <p:nvPr/>
        </p:nvSpPr>
        <p:spPr>
          <a:xfrm>
            <a:off x="457200" y="1143000"/>
            <a:ext cx="2615184" cy="1508760"/>
          </a:xfrm>
          <a:prstGeom prst="roundRect">
            <a:avLst>
              <a:gd name="adj" fmla="val 4848"/>
            </a:avLst>
          </a:prstGeom>
          <a:solidFill>
            <a:schemeClr val="bg2"/>
          </a:solidFill>
          <a:ln w="12700">
            <a:solidFill>
              <a:schemeClr val="bg2"/>
            </a:solidFill>
            <a:prstDash val="solid"/>
          </a:ln>
        </p:spPr>
      </p:sp>
      <p:sp>
        <p:nvSpPr>
          <p:cNvPr id="5" name="Shape 2"/>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7" name="Text 3"/>
          <p:cNvSpPr txBox="1"/>
          <p:nvPr/>
        </p:nvSpPr>
        <p:spPr>
          <a:xfrm>
            <a:off x="2286000" y="134416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01</a:t>
            </a:r>
            <a:endParaRPr lang="en-US" sz="2200" dirty="0"/>
          </a:p>
        </p:txBody>
      </p:sp>
      <p:sp>
        <p:nvSpPr>
          <p:cNvPr id="8" name="Text 4"/>
          <p:cNvSpPr txBox="1"/>
          <p:nvPr/>
        </p:nvSpPr>
        <p:spPr>
          <a:xfrm>
            <a:off x="640080"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Pengenalan</a:t>
            </a:r>
            <a:endParaRPr lang="en-US" sz="1500" dirty="0"/>
          </a:p>
        </p:txBody>
      </p:sp>
      <p:sp>
        <p:nvSpPr>
          <p:cNvPr id="9" name="Text 5"/>
          <p:cNvSpPr txBox="1"/>
          <p:nvPr/>
        </p:nvSpPr>
        <p:spPr>
          <a:xfrm>
            <a:off x="640080" y="2194560"/>
            <a:ext cx="2286000" cy="411480"/>
          </a:xfrm>
          <a:prstGeom prst="rect">
            <a:avLst/>
          </a:prstGeom>
          <a:noFill/>
          <a:ln/>
        </p:spPr>
        <p:txBody>
          <a:bodyPr wrap="square" lIns="0" tIns="0" rIns="0" bIns="0" rtlCol="0" anchor="t"/>
          <a:lstStyle/>
          <a:p>
            <a:pPr indent="0" marL="0">
              <a:buNone/>
            </a:pPr>
            <a:r>
              <a:rPr lang="en-US" sz="1100" dirty="0">
                <a:solidFill>
                  <a:schemeClr val="tx2"/>
                </a:solidFill>
              </a:rPr>
              <a:t>Apa itu Python, sejarah, keunggulan, bidang penggunaan</a:t>
            </a:r>
            <a:endParaRPr lang="en-US" sz="1100" dirty="0"/>
          </a:p>
        </p:txBody>
      </p:sp>
      <p:sp>
        <p:nvSpPr>
          <p:cNvPr id="10" name="Shape 6"/>
          <p:cNvSpPr/>
          <p:nvPr/>
        </p:nvSpPr>
        <p:spPr>
          <a:xfrm>
            <a:off x="3264408" y="1143000"/>
            <a:ext cx="2615184" cy="1508760"/>
          </a:xfrm>
          <a:prstGeom prst="roundRect">
            <a:avLst>
              <a:gd name="adj" fmla="val 4848"/>
            </a:avLst>
          </a:prstGeom>
          <a:solidFill>
            <a:schemeClr val="bg2"/>
          </a:solidFill>
          <a:ln w="12700">
            <a:solidFill>
              <a:schemeClr val="bg2"/>
            </a:solidFill>
            <a:prstDash val="solid"/>
          </a:ln>
        </p:spPr>
      </p:sp>
      <p:sp>
        <p:nvSpPr>
          <p:cNvPr id="11" name="Shape 7"/>
          <p:cNvSpPr/>
          <p:nvPr/>
        </p:nvSpPr>
        <p:spPr>
          <a:xfrm>
            <a:off x="3447288" y="1325880"/>
            <a:ext cx="502920" cy="5029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573018" y="1451610"/>
            <a:ext cx="251460" cy="251460"/>
          </a:xfrm>
          <a:prstGeom prst="rect">
            <a:avLst/>
          </a:prstGeom>
        </p:spPr>
      </p:pic>
      <p:sp>
        <p:nvSpPr>
          <p:cNvPr id="13" name="Text 8"/>
          <p:cNvSpPr txBox="1"/>
          <p:nvPr/>
        </p:nvSpPr>
        <p:spPr>
          <a:xfrm>
            <a:off x="5093208" y="134416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02</a:t>
            </a:r>
            <a:endParaRPr lang="en-US" sz="2200" dirty="0"/>
          </a:p>
        </p:txBody>
      </p:sp>
      <p:sp>
        <p:nvSpPr>
          <p:cNvPr id="14" name="Text 9"/>
          <p:cNvSpPr txBox="1"/>
          <p:nvPr/>
        </p:nvSpPr>
        <p:spPr>
          <a:xfrm>
            <a:off x="3447288"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Persiapan</a:t>
            </a:r>
            <a:endParaRPr lang="en-US" sz="1500" dirty="0"/>
          </a:p>
        </p:txBody>
      </p:sp>
      <p:sp>
        <p:nvSpPr>
          <p:cNvPr id="15" name="Text 10"/>
          <p:cNvSpPr txBox="1"/>
          <p:nvPr/>
        </p:nvSpPr>
        <p:spPr>
          <a:xfrm>
            <a:off x="3447288" y="2194560"/>
            <a:ext cx="2286000" cy="411480"/>
          </a:xfrm>
          <a:prstGeom prst="rect">
            <a:avLst/>
          </a:prstGeom>
          <a:noFill/>
          <a:ln/>
        </p:spPr>
        <p:txBody>
          <a:bodyPr wrap="square" lIns="0" tIns="0" rIns="0" bIns="0" rtlCol="0" anchor="t"/>
          <a:lstStyle/>
          <a:p>
            <a:pPr indent="0" marL="0">
              <a:buNone/>
            </a:pPr>
            <a:r>
              <a:rPr lang="en-US" sz="1100" dirty="0">
                <a:solidFill>
                  <a:schemeClr val="tx2"/>
                </a:solidFill>
              </a:rPr>
              <a:t>Instalasi, editor, program pertama</a:t>
            </a:r>
            <a:endParaRPr lang="en-US" sz="1100" dirty="0"/>
          </a:p>
        </p:txBody>
      </p:sp>
      <p:sp>
        <p:nvSpPr>
          <p:cNvPr id="16" name="Shape 11"/>
          <p:cNvSpPr/>
          <p:nvPr/>
        </p:nvSpPr>
        <p:spPr>
          <a:xfrm>
            <a:off x="6071616" y="1143000"/>
            <a:ext cx="2615184" cy="1508760"/>
          </a:xfrm>
          <a:prstGeom prst="roundRect">
            <a:avLst>
              <a:gd name="adj" fmla="val 4848"/>
            </a:avLst>
          </a:prstGeom>
          <a:solidFill>
            <a:schemeClr val="bg2"/>
          </a:solidFill>
          <a:ln w="12700">
            <a:solidFill>
              <a:schemeClr val="bg2"/>
            </a:solidFill>
            <a:prstDash val="solid"/>
          </a:ln>
        </p:spPr>
      </p:sp>
      <p:sp>
        <p:nvSpPr>
          <p:cNvPr id="17" name="Shape 12"/>
          <p:cNvSpPr/>
          <p:nvPr/>
        </p:nvSpPr>
        <p:spPr>
          <a:xfrm>
            <a:off x="6254496" y="1325880"/>
            <a:ext cx="502920" cy="50292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6380226" y="1451610"/>
            <a:ext cx="251460" cy="251460"/>
          </a:xfrm>
          <a:prstGeom prst="rect">
            <a:avLst/>
          </a:prstGeom>
        </p:spPr>
      </p:pic>
      <p:sp>
        <p:nvSpPr>
          <p:cNvPr id="19" name="Text 13"/>
          <p:cNvSpPr txBox="1"/>
          <p:nvPr/>
        </p:nvSpPr>
        <p:spPr>
          <a:xfrm>
            <a:off x="7900416" y="134416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03</a:t>
            </a:r>
            <a:endParaRPr lang="en-US" sz="2200" dirty="0"/>
          </a:p>
        </p:txBody>
      </p:sp>
      <p:sp>
        <p:nvSpPr>
          <p:cNvPr id="20" name="Text 14"/>
          <p:cNvSpPr txBox="1"/>
          <p:nvPr/>
        </p:nvSpPr>
        <p:spPr>
          <a:xfrm>
            <a:off x="6254496"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Dasar Sintaks</a:t>
            </a:r>
            <a:endParaRPr lang="en-US" sz="1500" dirty="0"/>
          </a:p>
        </p:txBody>
      </p:sp>
      <p:sp>
        <p:nvSpPr>
          <p:cNvPr id="21" name="Text 15"/>
          <p:cNvSpPr txBox="1"/>
          <p:nvPr/>
        </p:nvSpPr>
        <p:spPr>
          <a:xfrm>
            <a:off x="6254496" y="2194560"/>
            <a:ext cx="2286000" cy="411480"/>
          </a:xfrm>
          <a:prstGeom prst="rect">
            <a:avLst/>
          </a:prstGeom>
          <a:noFill/>
          <a:ln/>
        </p:spPr>
        <p:txBody>
          <a:bodyPr wrap="square" lIns="0" tIns="0" rIns="0" bIns="0" rtlCol="0" anchor="t"/>
          <a:lstStyle/>
          <a:p>
            <a:pPr indent="0" marL="0">
              <a:buNone/>
            </a:pPr>
            <a:r>
              <a:rPr lang="en-US" sz="1100" dirty="0">
                <a:solidFill>
                  <a:schemeClr val="tx2"/>
                </a:solidFill>
              </a:rPr>
              <a:t>Variabel, tipe data, operator, kondisi, perulangan</a:t>
            </a:r>
            <a:endParaRPr lang="en-US" sz="1100" dirty="0"/>
          </a:p>
        </p:txBody>
      </p:sp>
      <p:sp>
        <p:nvSpPr>
          <p:cNvPr id="22" name="Shape 16"/>
          <p:cNvSpPr/>
          <p:nvPr/>
        </p:nvSpPr>
        <p:spPr>
          <a:xfrm>
            <a:off x="457200" y="2880360"/>
            <a:ext cx="2615184" cy="1508760"/>
          </a:xfrm>
          <a:prstGeom prst="roundRect">
            <a:avLst>
              <a:gd name="adj" fmla="val 4848"/>
            </a:avLst>
          </a:prstGeom>
          <a:solidFill>
            <a:schemeClr val="bg2"/>
          </a:solidFill>
          <a:ln w="12700">
            <a:solidFill>
              <a:schemeClr val="bg2"/>
            </a:solidFill>
            <a:prstDash val="solid"/>
          </a:ln>
        </p:spPr>
      </p:sp>
      <p:sp>
        <p:nvSpPr>
          <p:cNvPr id="23" name="Shape 17"/>
          <p:cNvSpPr/>
          <p:nvPr/>
        </p:nvSpPr>
        <p:spPr>
          <a:xfrm>
            <a:off x="640080" y="3063240"/>
            <a:ext cx="502920" cy="502920"/>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765810" y="3188970"/>
            <a:ext cx="251460" cy="251460"/>
          </a:xfrm>
          <a:prstGeom prst="rect">
            <a:avLst/>
          </a:prstGeom>
        </p:spPr>
      </p:pic>
      <p:sp>
        <p:nvSpPr>
          <p:cNvPr id="25" name="Text 18"/>
          <p:cNvSpPr txBox="1"/>
          <p:nvPr/>
        </p:nvSpPr>
        <p:spPr>
          <a:xfrm>
            <a:off x="2286000" y="308152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04</a:t>
            </a:r>
            <a:endParaRPr lang="en-US" sz="2200" dirty="0"/>
          </a:p>
        </p:txBody>
      </p:sp>
      <p:sp>
        <p:nvSpPr>
          <p:cNvPr id="26" name="Text 19"/>
          <p:cNvSpPr txBox="1"/>
          <p:nvPr/>
        </p:nvSpPr>
        <p:spPr>
          <a:xfrm>
            <a:off x="640080"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Struktur Data</a:t>
            </a:r>
            <a:endParaRPr lang="en-US" sz="1500" dirty="0"/>
          </a:p>
        </p:txBody>
      </p:sp>
      <p:sp>
        <p:nvSpPr>
          <p:cNvPr id="27" name="Text 20"/>
          <p:cNvSpPr txBox="1"/>
          <p:nvPr/>
        </p:nvSpPr>
        <p:spPr>
          <a:xfrm>
            <a:off x="640080"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List, tuple, set, dictionary</a:t>
            </a:r>
            <a:endParaRPr lang="en-US" sz="1100" dirty="0"/>
          </a:p>
        </p:txBody>
      </p:sp>
      <p:sp>
        <p:nvSpPr>
          <p:cNvPr id="28" name="Shape 21"/>
          <p:cNvSpPr/>
          <p:nvPr/>
        </p:nvSpPr>
        <p:spPr>
          <a:xfrm>
            <a:off x="3264408" y="2880360"/>
            <a:ext cx="2615184" cy="1508760"/>
          </a:xfrm>
          <a:prstGeom prst="roundRect">
            <a:avLst>
              <a:gd name="adj" fmla="val 4848"/>
            </a:avLst>
          </a:prstGeom>
          <a:solidFill>
            <a:schemeClr val="bg2"/>
          </a:solidFill>
          <a:ln w="12700">
            <a:solidFill>
              <a:schemeClr val="bg2"/>
            </a:solidFill>
            <a:prstDash val="solid"/>
          </a:ln>
        </p:spPr>
      </p:sp>
      <p:sp>
        <p:nvSpPr>
          <p:cNvPr id="29" name="Shape 22"/>
          <p:cNvSpPr/>
          <p:nvPr/>
        </p:nvSpPr>
        <p:spPr>
          <a:xfrm>
            <a:off x="3447288" y="3063240"/>
            <a:ext cx="502920" cy="502920"/>
          </a:xfrm>
          <a:prstGeom prst="ellipse">
            <a:avLst/>
          </a:prstGeom>
          <a:solidFill>
            <a:schemeClr val="accent1"/>
          </a:solidFill>
          <a:ln w="12700">
            <a:solidFill>
              <a:schemeClr val="accent1"/>
            </a:solidFill>
            <a:prstDash val="solid"/>
          </a:ln>
        </p:spPr>
      </p:sp>
      <p:pic>
        <p:nvPicPr>
          <p:cNvPr id="30" name="Image 4" descr="preencoded.png">    </p:cNvPr>
          <p:cNvPicPr>
            <a:picLocks noChangeAspect="1"/>
          </p:cNvPicPr>
          <p:nvPr/>
        </p:nvPicPr>
        <p:blipFill>
          <a:blip r:embed="rId5"/>
          <a:stretch>
            <a:fillRect/>
          </a:stretch>
        </p:blipFill>
        <p:spPr>
          <a:xfrm>
            <a:off x="3573018" y="3188970"/>
            <a:ext cx="251460" cy="251460"/>
          </a:xfrm>
          <a:prstGeom prst="rect">
            <a:avLst/>
          </a:prstGeom>
        </p:spPr>
      </p:pic>
      <p:sp>
        <p:nvSpPr>
          <p:cNvPr id="31" name="Text 23"/>
          <p:cNvSpPr txBox="1"/>
          <p:nvPr/>
        </p:nvSpPr>
        <p:spPr>
          <a:xfrm>
            <a:off x="5093208" y="308152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05</a:t>
            </a:r>
            <a:endParaRPr lang="en-US" sz="2200" dirty="0"/>
          </a:p>
        </p:txBody>
      </p:sp>
      <p:sp>
        <p:nvSpPr>
          <p:cNvPr id="32" name="Text 24"/>
          <p:cNvSpPr txBox="1"/>
          <p:nvPr/>
        </p:nvSpPr>
        <p:spPr>
          <a:xfrm>
            <a:off x="3447288"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Fungsi &amp; Modul</a:t>
            </a:r>
            <a:endParaRPr lang="en-US" sz="1500" dirty="0"/>
          </a:p>
        </p:txBody>
      </p:sp>
      <p:sp>
        <p:nvSpPr>
          <p:cNvPr id="33" name="Text 25"/>
          <p:cNvSpPr txBox="1"/>
          <p:nvPr/>
        </p:nvSpPr>
        <p:spPr>
          <a:xfrm>
            <a:off x="3447288"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def, lambda, import, pip, library</a:t>
            </a:r>
            <a:endParaRPr lang="en-US" sz="1100" dirty="0"/>
          </a:p>
        </p:txBody>
      </p:sp>
      <p:sp>
        <p:nvSpPr>
          <p:cNvPr id="34" name="Shape 26"/>
          <p:cNvSpPr/>
          <p:nvPr/>
        </p:nvSpPr>
        <p:spPr>
          <a:xfrm>
            <a:off x="6071616" y="2880360"/>
            <a:ext cx="2615184" cy="1508760"/>
          </a:xfrm>
          <a:prstGeom prst="roundRect">
            <a:avLst>
              <a:gd name="adj" fmla="val 4848"/>
            </a:avLst>
          </a:prstGeom>
          <a:solidFill>
            <a:schemeClr val="bg2"/>
          </a:solidFill>
          <a:ln w="12700">
            <a:solidFill>
              <a:schemeClr val="bg2"/>
            </a:solidFill>
            <a:prstDash val="solid"/>
          </a:ln>
        </p:spPr>
      </p:sp>
      <p:sp>
        <p:nvSpPr>
          <p:cNvPr id="35" name="Shape 27"/>
          <p:cNvSpPr/>
          <p:nvPr/>
        </p:nvSpPr>
        <p:spPr>
          <a:xfrm>
            <a:off x="6254496" y="3063240"/>
            <a:ext cx="502920" cy="502920"/>
          </a:xfrm>
          <a:prstGeom prst="ellipse">
            <a:avLst/>
          </a:prstGeom>
          <a:solidFill>
            <a:schemeClr val="accent1"/>
          </a:solidFill>
          <a:ln w="12700">
            <a:solidFill>
              <a:schemeClr val="accent1"/>
            </a:solidFill>
            <a:prstDash val="solid"/>
          </a:ln>
        </p:spPr>
      </p:sp>
      <p:pic>
        <p:nvPicPr>
          <p:cNvPr id="36" name="Image 5" descr="preencoded.png">    </p:cNvPr>
          <p:cNvPicPr>
            <a:picLocks noChangeAspect="1"/>
          </p:cNvPicPr>
          <p:nvPr/>
        </p:nvPicPr>
        <p:blipFill>
          <a:blip r:embed="rId6"/>
          <a:stretch>
            <a:fillRect/>
          </a:stretch>
        </p:blipFill>
        <p:spPr>
          <a:xfrm>
            <a:off x="6380226" y="3188970"/>
            <a:ext cx="251460" cy="251460"/>
          </a:xfrm>
          <a:prstGeom prst="rect">
            <a:avLst/>
          </a:prstGeom>
        </p:spPr>
      </p:pic>
      <p:sp>
        <p:nvSpPr>
          <p:cNvPr id="37" name="Text 28"/>
          <p:cNvSpPr txBox="1"/>
          <p:nvPr/>
        </p:nvSpPr>
        <p:spPr>
          <a:xfrm>
            <a:off x="7900416" y="3081528"/>
            <a:ext cx="603504" cy="457200"/>
          </a:xfrm>
          <a:prstGeom prst="rect">
            <a:avLst/>
          </a:prstGeom>
          <a:noFill/>
          <a:ln/>
        </p:spPr>
        <p:txBody>
          <a:bodyPr wrap="square" lIns="0" tIns="0" rIns="0" bIns="0" rtlCol="0" anchor="t"/>
          <a:lstStyle/>
          <a:p>
            <a:pPr algn="r" indent="0" marL="0">
              <a:buNone/>
            </a:pPr>
            <a:r>
              <a:rPr lang="en-US" sz="2200" b="1" dirty="0">
                <a:solidFill>
                  <a:schemeClr val="accent3"/>
                </a:solidFill>
              </a:rPr>
              <a:t>06</a:t>
            </a:r>
            <a:endParaRPr lang="en-US" sz="2200" dirty="0"/>
          </a:p>
        </p:txBody>
      </p:sp>
      <p:sp>
        <p:nvSpPr>
          <p:cNvPr id="38" name="Text 29"/>
          <p:cNvSpPr txBox="1"/>
          <p:nvPr/>
        </p:nvSpPr>
        <p:spPr>
          <a:xfrm>
            <a:off x="6254496"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Lanjutan &amp; Praktik</a:t>
            </a:r>
            <a:endParaRPr lang="en-US" sz="1500" dirty="0"/>
          </a:p>
        </p:txBody>
      </p:sp>
      <p:sp>
        <p:nvSpPr>
          <p:cNvPr id="39" name="Text 30"/>
          <p:cNvSpPr txBox="1"/>
          <p:nvPr/>
        </p:nvSpPr>
        <p:spPr>
          <a:xfrm>
            <a:off x="6254496"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OOP, error, file, proyek mini, latihan</a:t>
            </a:r>
            <a:endParaRPr lang="en-US" sz="11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1</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Pengenalan Python</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Mengenal bahasa, sejarah, dan alasan Python begitu populer</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Apa Itu Python?</a:t>
            </a:r>
            <a:endParaRPr lang="en-US" sz="2800" dirty="0"/>
          </a:p>
        </p:txBody>
      </p:sp>
      <p:pic>
        <p:nvPicPr>
          <p:cNvPr id="4" name="Image 0" descr="wordmark_crop.png">    </p:cNvPr>
          <p:cNvPicPr>
            <a:picLocks noChangeAspect="1"/>
          </p:cNvPicPr>
          <p:nvPr/>
        </p:nvPicPr>
        <p:blipFill>
          <a:blip r:embed="rId1"/>
          <a:stretch>
            <a:fillRect/>
          </a:stretch>
        </p:blipFill>
        <p:spPr>
          <a:xfrm>
            <a:off x="457200" y="1234440"/>
            <a:ext cx="3840480" cy="1097516"/>
          </a:xfrm>
          <a:prstGeom prst="rect">
            <a:avLst/>
          </a:prstGeom>
        </p:spPr>
      </p:pic>
      <p:sp>
        <p:nvSpPr>
          <p:cNvPr id="5" name="Text 1"/>
          <p:cNvSpPr txBox="1"/>
          <p:nvPr/>
        </p:nvSpPr>
        <p:spPr>
          <a:xfrm>
            <a:off x="457200" y="2514600"/>
            <a:ext cx="3931920" cy="1097280"/>
          </a:xfrm>
          <a:prstGeom prst="rect">
            <a:avLst/>
          </a:prstGeom>
          <a:noFill/>
          <a:ln/>
        </p:spPr>
        <p:txBody>
          <a:bodyPr wrap="square" lIns="0" tIns="0" rIns="0" bIns="0" rtlCol="0" anchor="t"/>
          <a:lstStyle/>
          <a:p>
            <a:pPr indent="0" marL="0">
              <a:buNone/>
            </a:pPr>
            <a:r>
              <a:rPr lang="en-US" sz="1400" dirty="0">
                <a:solidFill>
                  <a:schemeClr val="tx1"/>
                </a:solidFill>
              </a:rPr>
              <a:t>Python adalah bahasa pemrograman tingkat tinggi yang mudah dibaca, serbaguna, dan gratis (open source). Kode ditulis dengan sintaks sederhana menyerupai bahasa Inggris.</a:t>
            </a:r>
            <a:endParaRPr lang="en-US" sz="1400" dirty="0"/>
          </a:p>
        </p:txBody>
      </p:sp>
      <p:sp>
        <p:nvSpPr>
          <p:cNvPr id="6" name="Shape 2"/>
          <p:cNvSpPr/>
          <p:nvPr/>
        </p:nvSpPr>
        <p:spPr>
          <a:xfrm>
            <a:off x="457200" y="3703320"/>
            <a:ext cx="3931920" cy="777240"/>
          </a:xfrm>
          <a:prstGeom prst="roundRect">
            <a:avLst>
              <a:gd name="adj" fmla="val 9412"/>
            </a:avLst>
          </a:prstGeom>
          <a:solidFill>
            <a:schemeClr val="bg2"/>
          </a:solidFill>
          <a:ln w="12700">
            <a:solidFill>
              <a:schemeClr val="bg2"/>
            </a:solidFill>
            <a:prstDash val="solid"/>
          </a:ln>
        </p:spPr>
      </p:sp>
      <p:sp>
        <p:nvSpPr>
          <p:cNvPr id="7" name="Text 3"/>
          <p:cNvSpPr txBox="1"/>
          <p:nvPr/>
        </p:nvSpPr>
        <p:spPr>
          <a:xfrm>
            <a:off x="594360" y="3767328"/>
            <a:ext cx="3657600" cy="640080"/>
          </a:xfrm>
          <a:prstGeom prst="rect">
            <a:avLst/>
          </a:prstGeom>
          <a:noFill/>
          <a:ln/>
        </p:spPr>
        <p:txBody>
          <a:bodyPr wrap="square" lIns="0" tIns="0" rIns="0" bIns="0" rtlCol="0" anchor="ctr"/>
          <a:lstStyle/>
          <a:p>
            <a:pPr indent="0" marL="0">
              <a:buNone/>
            </a:pPr>
            <a:r>
              <a:rPr lang="en-US" sz="1200" b="1" dirty="0">
                <a:solidFill>
                  <a:schemeClr val="accent1"/>
                </a:solidFill>
              </a:rPr>
              <a:t>Fakta unik: </a:t>
            </a:r>
            <a:pPr indent="0" marL="0">
              <a:buNone/>
            </a:pPr>
            <a:r>
              <a:rPr lang="en-US" sz="1200" dirty="0">
                <a:solidFill>
                  <a:schemeClr val="tx1"/>
                </a:solidFill>
              </a:rPr>
              <a:t>nama Python diambil dari acara komedi Monty Python, bukan dari nama ular.</a:t>
            </a:r>
            <a:endParaRPr lang="en-US" sz="1200" dirty="0"/>
          </a:p>
        </p:txBody>
      </p:sp>
      <p:sp>
        <p:nvSpPr>
          <p:cNvPr id="8" name="Shape 4"/>
          <p:cNvSpPr/>
          <p:nvPr/>
        </p:nvSpPr>
        <p:spPr>
          <a:xfrm>
            <a:off x="4846320" y="118872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4983480" y="1325880"/>
            <a:ext cx="274320" cy="274320"/>
          </a:xfrm>
          <a:prstGeom prst="rect">
            <a:avLst/>
          </a:prstGeom>
        </p:spPr>
      </p:pic>
      <p:sp>
        <p:nvSpPr>
          <p:cNvPr id="10" name="Text 5"/>
          <p:cNvSpPr txBox="1"/>
          <p:nvPr/>
        </p:nvSpPr>
        <p:spPr>
          <a:xfrm>
            <a:off x="5577840" y="1207008"/>
            <a:ext cx="3108960" cy="274320"/>
          </a:xfrm>
          <a:prstGeom prst="rect">
            <a:avLst/>
          </a:prstGeom>
          <a:noFill/>
          <a:ln/>
        </p:spPr>
        <p:txBody>
          <a:bodyPr wrap="square" lIns="0" tIns="0" rIns="0" bIns="0" rtlCol="0" anchor="t"/>
          <a:lstStyle/>
          <a:p>
            <a:pPr indent="0" marL="0">
              <a:buNone/>
            </a:pPr>
            <a:r>
              <a:rPr lang="en-US" sz="1500" b="1" dirty="0">
                <a:solidFill>
                  <a:schemeClr val="tx1"/>
                </a:solidFill>
              </a:rPr>
              <a:t>Mudah dibaca</a:t>
            </a:r>
            <a:endParaRPr lang="en-US" sz="1500" dirty="0"/>
          </a:p>
        </p:txBody>
      </p:sp>
      <p:sp>
        <p:nvSpPr>
          <p:cNvPr id="11" name="Text 6"/>
          <p:cNvSpPr txBox="1"/>
          <p:nvPr/>
        </p:nvSpPr>
        <p:spPr>
          <a:xfrm>
            <a:off x="5577840" y="1481328"/>
            <a:ext cx="3108960" cy="274320"/>
          </a:xfrm>
          <a:prstGeom prst="rect">
            <a:avLst/>
          </a:prstGeom>
          <a:noFill/>
          <a:ln/>
        </p:spPr>
        <p:txBody>
          <a:bodyPr wrap="square" lIns="0" tIns="0" rIns="0" bIns="0" rtlCol="0" anchor="t"/>
          <a:lstStyle/>
          <a:p>
            <a:pPr indent="0" marL="0">
              <a:buNone/>
            </a:pPr>
            <a:r>
              <a:rPr lang="en-US" sz="1200" dirty="0">
                <a:solidFill>
                  <a:schemeClr val="tx2"/>
                </a:solidFill>
              </a:rPr>
              <a:t>Sintaks bersih, indentasi wajib</a:t>
            </a:r>
            <a:endParaRPr lang="en-US" sz="1200" dirty="0"/>
          </a:p>
        </p:txBody>
      </p:sp>
      <p:sp>
        <p:nvSpPr>
          <p:cNvPr id="12" name="Shape 7"/>
          <p:cNvSpPr/>
          <p:nvPr/>
        </p:nvSpPr>
        <p:spPr>
          <a:xfrm>
            <a:off x="4846320" y="2029968"/>
            <a:ext cx="548640" cy="54864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4983480" y="2167128"/>
            <a:ext cx="274320" cy="274320"/>
          </a:xfrm>
          <a:prstGeom prst="rect">
            <a:avLst/>
          </a:prstGeom>
        </p:spPr>
      </p:pic>
      <p:sp>
        <p:nvSpPr>
          <p:cNvPr id="14" name="Text 8"/>
          <p:cNvSpPr txBox="1"/>
          <p:nvPr/>
        </p:nvSpPr>
        <p:spPr>
          <a:xfrm>
            <a:off x="5577840" y="2048256"/>
            <a:ext cx="3108960" cy="274320"/>
          </a:xfrm>
          <a:prstGeom prst="rect">
            <a:avLst/>
          </a:prstGeom>
          <a:noFill/>
          <a:ln/>
        </p:spPr>
        <p:txBody>
          <a:bodyPr wrap="square" lIns="0" tIns="0" rIns="0" bIns="0" rtlCol="0" anchor="t"/>
          <a:lstStyle/>
          <a:p>
            <a:pPr indent="0" marL="0">
              <a:buNone/>
            </a:pPr>
            <a:r>
              <a:rPr lang="en-US" sz="1500" b="1" dirty="0">
                <a:solidFill>
                  <a:schemeClr val="tx1"/>
                </a:solidFill>
              </a:rPr>
              <a:t>Interpreted</a:t>
            </a:r>
            <a:endParaRPr lang="en-US" sz="1500" dirty="0"/>
          </a:p>
        </p:txBody>
      </p:sp>
      <p:sp>
        <p:nvSpPr>
          <p:cNvPr id="15" name="Text 9"/>
          <p:cNvSpPr txBox="1"/>
          <p:nvPr/>
        </p:nvSpPr>
        <p:spPr>
          <a:xfrm>
            <a:off x="5577840" y="2322576"/>
            <a:ext cx="3108960" cy="274320"/>
          </a:xfrm>
          <a:prstGeom prst="rect">
            <a:avLst/>
          </a:prstGeom>
          <a:noFill/>
          <a:ln/>
        </p:spPr>
        <p:txBody>
          <a:bodyPr wrap="square" lIns="0" tIns="0" rIns="0" bIns="0" rtlCol="0" anchor="t"/>
          <a:lstStyle/>
          <a:p>
            <a:pPr indent="0" marL="0">
              <a:buNone/>
            </a:pPr>
            <a:r>
              <a:rPr lang="en-US" sz="1200" dirty="0">
                <a:solidFill>
                  <a:schemeClr val="tx2"/>
                </a:solidFill>
              </a:rPr>
              <a:t>Dijalankan baris demi baris tanpa kompilasi manual</a:t>
            </a:r>
            <a:endParaRPr lang="en-US" sz="1200" dirty="0"/>
          </a:p>
        </p:txBody>
      </p:sp>
      <p:sp>
        <p:nvSpPr>
          <p:cNvPr id="16" name="Shape 10"/>
          <p:cNvSpPr/>
          <p:nvPr/>
        </p:nvSpPr>
        <p:spPr>
          <a:xfrm>
            <a:off x="4846320" y="2871216"/>
            <a:ext cx="548640" cy="548640"/>
          </a:xfrm>
          <a:prstGeom prst="ellipse">
            <a:avLst/>
          </a:prstGeom>
          <a:solidFill>
            <a:schemeClr val="accent2"/>
          </a:solidFill>
          <a:ln w="12700">
            <a:solidFill>
              <a:schemeClr val="accent2"/>
            </a:solidFill>
            <a:prstDash val="solid"/>
          </a:ln>
        </p:spPr>
      </p:sp>
      <p:pic>
        <p:nvPicPr>
          <p:cNvPr id="17" name="Image 3" descr="preencoded.png">    </p:cNvPr>
          <p:cNvPicPr>
            <a:picLocks noChangeAspect="1"/>
          </p:cNvPicPr>
          <p:nvPr/>
        </p:nvPicPr>
        <p:blipFill>
          <a:blip r:embed="rId4"/>
          <a:stretch>
            <a:fillRect/>
          </a:stretch>
        </p:blipFill>
        <p:spPr>
          <a:xfrm>
            <a:off x="4983480" y="3008376"/>
            <a:ext cx="274320" cy="274320"/>
          </a:xfrm>
          <a:prstGeom prst="rect">
            <a:avLst/>
          </a:prstGeom>
        </p:spPr>
      </p:pic>
      <p:sp>
        <p:nvSpPr>
          <p:cNvPr id="18" name="Text 11"/>
          <p:cNvSpPr txBox="1"/>
          <p:nvPr/>
        </p:nvSpPr>
        <p:spPr>
          <a:xfrm>
            <a:off x="5577840" y="2889504"/>
            <a:ext cx="3108960" cy="274320"/>
          </a:xfrm>
          <a:prstGeom prst="rect">
            <a:avLst/>
          </a:prstGeom>
          <a:noFill/>
          <a:ln/>
        </p:spPr>
        <p:txBody>
          <a:bodyPr wrap="square" lIns="0" tIns="0" rIns="0" bIns="0" rtlCol="0" anchor="t"/>
          <a:lstStyle/>
          <a:p>
            <a:pPr indent="0" marL="0">
              <a:buNone/>
            </a:pPr>
            <a:r>
              <a:rPr lang="en-US" sz="1500" b="1" dirty="0">
                <a:solidFill>
                  <a:schemeClr val="tx1"/>
                </a:solidFill>
              </a:rPr>
              <a:t>Dynamic typing</a:t>
            </a:r>
            <a:endParaRPr lang="en-US" sz="1500" dirty="0"/>
          </a:p>
        </p:txBody>
      </p:sp>
      <p:sp>
        <p:nvSpPr>
          <p:cNvPr id="19" name="Text 12"/>
          <p:cNvSpPr txBox="1"/>
          <p:nvPr/>
        </p:nvSpPr>
        <p:spPr>
          <a:xfrm>
            <a:off x="5577840" y="3163824"/>
            <a:ext cx="3108960" cy="274320"/>
          </a:xfrm>
          <a:prstGeom prst="rect">
            <a:avLst/>
          </a:prstGeom>
          <a:noFill/>
          <a:ln/>
        </p:spPr>
        <p:txBody>
          <a:bodyPr wrap="square" lIns="0" tIns="0" rIns="0" bIns="0" rtlCol="0" anchor="t"/>
          <a:lstStyle/>
          <a:p>
            <a:pPr indent="0" marL="0">
              <a:buNone/>
            </a:pPr>
            <a:r>
              <a:rPr lang="en-US" sz="1200" dirty="0">
                <a:solidFill>
                  <a:schemeClr val="tx2"/>
                </a:solidFill>
              </a:rPr>
              <a:t>Tipe data ditentukan otomatis saat runtime</a:t>
            </a:r>
            <a:endParaRPr lang="en-US" sz="1200" dirty="0"/>
          </a:p>
        </p:txBody>
      </p:sp>
      <p:sp>
        <p:nvSpPr>
          <p:cNvPr id="20" name="Shape 13"/>
          <p:cNvSpPr/>
          <p:nvPr/>
        </p:nvSpPr>
        <p:spPr>
          <a:xfrm>
            <a:off x="4846320" y="3712464"/>
            <a:ext cx="548640" cy="548640"/>
          </a:xfrm>
          <a:prstGeom prst="ellipse">
            <a:avLst/>
          </a:prstGeom>
          <a:solidFill>
            <a:schemeClr val="accent2"/>
          </a:solidFill>
          <a:ln w="12700">
            <a:solidFill>
              <a:schemeClr val="accent2"/>
            </a:solidFill>
            <a:prstDash val="solid"/>
          </a:ln>
        </p:spPr>
      </p:sp>
      <p:pic>
        <p:nvPicPr>
          <p:cNvPr id="21" name="Image 4" descr="preencoded.png">    </p:cNvPr>
          <p:cNvPicPr>
            <a:picLocks noChangeAspect="1"/>
          </p:cNvPicPr>
          <p:nvPr/>
        </p:nvPicPr>
        <p:blipFill>
          <a:blip r:embed="rId5"/>
          <a:stretch>
            <a:fillRect/>
          </a:stretch>
        </p:blipFill>
        <p:spPr>
          <a:xfrm>
            <a:off x="4983480" y="3849624"/>
            <a:ext cx="274320" cy="274320"/>
          </a:xfrm>
          <a:prstGeom prst="rect">
            <a:avLst/>
          </a:prstGeom>
        </p:spPr>
      </p:pic>
      <p:sp>
        <p:nvSpPr>
          <p:cNvPr id="22" name="Text 14"/>
          <p:cNvSpPr txBox="1"/>
          <p:nvPr/>
        </p:nvSpPr>
        <p:spPr>
          <a:xfrm>
            <a:off x="5577840" y="3730752"/>
            <a:ext cx="3108960" cy="274320"/>
          </a:xfrm>
          <a:prstGeom prst="rect">
            <a:avLst/>
          </a:prstGeom>
          <a:noFill/>
          <a:ln/>
        </p:spPr>
        <p:txBody>
          <a:bodyPr wrap="square" lIns="0" tIns="0" rIns="0" bIns="0" rtlCol="0" anchor="t"/>
          <a:lstStyle/>
          <a:p>
            <a:pPr indent="0" marL="0">
              <a:buNone/>
            </a:pPr>
            <a:r>
              <a:rPr lang="en-US" sz="1500" b="1" dirty="0">
                <a:solidFill>
                  <a:schemeClr val="tx1"/>
                </a:solidFill>
              </a:rPr>
              <a:t>Multiplatform</a:t>
            </a:r>
            <a:endParaRPr lang="en-US" sz="1500" dirty="0"/>
          </a:p>
        </p:txBody>
      </p:sp>
      <p:sp>
        <p:nvSpPr>
          <p:cNvPr id="23" name="Text 15"/>
          <p:cNvSpPr txBox="1"/>
          <p:nvPr/>
        </p:nvSpPr>
        <p:spPr>
          <a:xfrm>
            <a:off x="5577840" y="4005072"/>
            <a:ext cx="3108960" cy="274320"/>
          </a:xfrm>
          <a:prstGeom prst="rect">
            <a:avLst/>
          </a:prstGeom>
          <a:noFill/>
          <a:ln/>
        </p:spPr>
        <p:txBody>
          <a:bodyPr wrap="square" lIns="0" tIns="0" rIns="0" bIns="0" rtlCol="0" anchor="t"/>
          <a:lstStyle/>
          <a:p>
            <a:pPr indent="0" marL="0">
              <a:buNone/>
            </a:pPr>
            <a:r>
              <a:rPr lang="en-US" sz="1200" dirty="0">
                <a:solidFill>
                  <a:schemeClr val="tx2"/>
                </a:solidFill>
              </a:rPr>
              <a:t>Windows, macOS, Linux, hingga Raspberry Pi</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Sejarah Singkat Python</a:t>
            </a:r>
            <a:endParaRPr lang="en-US" sz="2800" dirty="0"/>
          </a:p>
        </p:txBody>
      </p:sp>
      <p:sp>
        <p:nvSpPr>
          <p:cNvPr id="4" name="Shape 1"/>
          <p:cNvSpPr/>
          <p:nvPr/>
        </p:nvSpPr>
        <p:spPr>
          <a:xfrm>
            <a:off x="731520" y="2423160"/>
            <a:ext cx="7680960" cy="0"/>
          </a:xfrm>
          <a:prstGeom prst="line">
            <a:avLst/>
          </a:prstGeom>
          <a:noFill/>
          <a:ln w="25400">
            <a:solidFill>
              <a:schemeClr val="accent3"/>
            </a:solidFill>
            <a:prstDash val="solid"/>
          </a:ln>
        </p:spPr>
      </p:sp>
      <p:sp>
        <p:nvSpPr>
          <p:cNvPr id="5" name="Shape 2"/>
          <p:cNvSpPr/>
          <p:nvPr/>
        </p:nvSpPr>
        <p:spPr>
          <a:xfrm>
            <a:off x="886968" y="2258568"/>
            <a:ext cx="329184" cy="329184"/>
          </a:xfrm>
          <a:prstGeom prst="ellipse">
            <a:avLst/>
          </a:prstGeom>
          <a:solidFill>
            <a:schemeClr val="accent1"/>
          </a:solidFill>
          <a:ln w="25400">
            <a:solidFill>
              <a:schemeClr val="bg1"/>
            </a:solidFill>
            <a:prstDash val="solid"/>
          </a:ln>
        </p:spPr>
      </p:sp>
      <p:sp>
        <p:nvSpPr>
          <p:cNvPr id="6" name="Text 3"/>
          <p:cNvSpPr txBox="1"/>
          <p:nvPr/>
        </p:nvSpPr>
        <p:spPr>
          <a:xfrm>
            <a:off x="137160" y="105156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1989</a:t>
            </a:r>
            <a:endParaRPr lang="en-US" sz="2000" dirty="0"/>
          </a:p>
        </p:txBody>
      </p:sp>
      <p:sp>
        <p:nvSpPr>
          <p:cNvPr id="7" name="Text 4"/>
          <p:cNvSpPr txBox="1"/>
          <p:nvPr/>
        </p:nvSpPr>
        <p:spPr>
          <a:xfrm>
            <a:off x="137160" y="141732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Guido van Rossum mulai mengembangkan Python di Belanda</a:t>
            </a:r>
            <a:endParaRPr lang="en-US" sz="1050" dirty="0"/>
          </a:p>
        </p:txBody>
      </p:sp>
      <p:sp>
        <p:nvSpPr>
          <p:cNvPr id="8" name="Shape 5"/>
          <p:cNvSpPr/>
          <p:nvPr/>
        </p:nvSpPr>
        <p:spPr>
          <a:xfrm>
            <a:off x="2258568" y="2258568"/>
            <a:ext cx="329184" cy="329184"/>
          </a:xfrm>
          <a:prstGeom prst="ellipse">
            <a:avLst/>
          </a:prstGeom>
          <a:solidFill>
            <a:schemeClr val="accent1"/>
          </a:solidFill>
          <a:ln w="25400">
            <a:solidFill>
              <a:schemeClr val="bg1"/>
            </a:solidFill>
            <a:prstDash val="solid"/>
          </a:ln>
        </p:spPr>
      </p:sp>
      <p:sp>
        <p:nvSpPr>
          <p:cNvPr id="9" name="Text 6"/>
          <p:cNvSpPr txBox="1"/>
          <p:nvPr/>
        </p:nvSpPr>
        <p:spPr>
          <a:xfrm>
            <a:off x="1508760" y="274320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1991</a:t>
            </a:r>
            <a:endParaRPr lang="en-US" sz="2000" dirty="0"/>
          </a:p>
        </p:txBody>
      </p:sp>
      <p:sp>
        <p:nvSpPr>
          <p:cNvPr id="10" name="Text 7"/>
          <p:cNvSpPr txBox="1"/>
          <p:nvPr/>
        </p:nvSpPr>
        <p:spPr>
          <a:xfrm>
            <a:off x="1508760" y="310896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Rilis publik pertama (versi 0.9.0)</a:t>
            </a:r>
            <a:endParaRPr lang="en-US" sz="1050" dirty="0"/>
          </a:p>
        </p:txBody>
      </p:sp>
      <p:sp>
        <p:nvSpPr>
          <p:cNvPr id="11" name="Shape 8"/>
          <p:cNvSpPr/>
          <p:nvPr/>
        </p:nvSpPr>
        <p:spPr>
          <a:xfrm>
            <a:off x="3630168" y="2258568"/>
            <a:ext cx="329184" cy="329184"/>
          </a:xfrm>
          <a:prstGeom prst="ellipse">
            <a:avLst/>
          </a:prstGeom>
          <a:solidFill>
            <a:schemeClr val="accent1"/>
          </a:solidFill>
          <a:ln w="25400">
            <a:solidFill>
              <a:schemeClr val="bg1"/>
            </a:solidFill>
            <a:prstDash val="solid"/>
          </a:ln>
        </p:spPr>
      </p:sp>
      <p:sp>
        <p:nvSpPr>
          <p:cNvPr id="12" name="Text 9"/>
          <p:cNvSpPr txBox="1"/>
          <p:nvPr/>
        </p:nvSpPr>
        <p:spPr>
          <a:xfrm>
            <a:off x="2880360" y="105156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2000</a:t>
            </a:r>
            <a:endParaRPr lang="en-US" sz="2000" dirty="0"/>
          </a:p>
        </p:txBody>
      </p:sp>
      <p:sp>
        <p:nvSpPr>
          <p:cNvPr id="13" name="Text 10"/>
          <p:cNvSpPr txBox="1"/>
          <p:nvPr/>
        </p:nvSpPr>
        <p:spPr>
          <a:xfrm>
            <a:off x="2880360" y="141732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Python 2.0: list comprehension &amp; garbage collector</a:t>
            </a:r>
            <a:endParaRPr lang="en-US" sz="1050" dirty="0"/>
          </a:p>
        </p:txBody>
      </p:sp>
      <p:sp>
        <p:nvSpPr>
          <p:cNvPr id="14" name="Shape 11"/>
          <p:cNvSpPr/>
          <p:nvPr/>
        </p:nvSpPr>
        <p:spPr>
          <a:xfrm>
            <a:off x="5001768" y="2258568"/>
            <a:ext cx="329184" cy="329184"/>
          </a:xfrm>
          <a:prstGeom prst="ellipse">
            <a:avLst/>
          </a:prstGeom>
          <a:solidFill>
            <a:schemeClr val="accent1"/>
          </a:solidFill>
          <a:ln w="25400">
            <a:solidFill>
              <a:schemeClr val="bg1"/>
            </a:solidFill>
            <a:prstDash val="solid"/>
          </a:ln>
        </p:spPr>
      </p:sp>
      <p:sp>
        <p:nvSpPr>
          <p:cNvPr id="15" name="Text 12"/>
          <p:cNvSpPr txBox="1"/>
          <p:nvPr/>
        </p:nvSpPr>
        <p:spPr>
          <a:xfrm>
            <a:off x="4251960" y="274320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2008</a:t>
            </a:r>
            <a:endParaRPr lang="en-US" sz="2000" dirty="0"/>
          </a:p>
        </p:txBody>
      </p:sp>
      <p:sp>
        <p:nvSpPr>
          <p:cNvPr id="16" name="Text 13"/>
          <p:cNvSpPr txBox="1"/>
          <p:nvPr/>
        </p:nvSpPr>
        <p:spPr>
          <a:xfrm>
            <a:off x="4251960" y="310896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Python 3.0: perbaikan besar, tidak kompatibel ke belakang</a:t>
            </a:r>
            <a:endParaRPr lang="en-US" sz="1050" dirty="0"/>
          </a:p>
        </p:txBody>
      </p:sp>
      <p:sp>
        <p:nvSpPr>
          <p:cNvPr id="17" name="Shape 14"/>
          <p:cNvSpPr/>
          <p:nvPr/>
        </p:nvSpPr>
        <p:spPr>
          <a:xfrm>
            <a:off x="6373368" y="2258568"/>
            <a:ext cx="329184" cy="329184"/>
          </a:xfrm>
          <a:prstGeom prst="ellipse">
            <a:avLst/>
          </a:prstGeom>
          <a:solidFill>
            <a:schemeClr val="accent1"/>
          </a:solidFill>
          <a:ln w="25400">
            <a:solidFill>
              <a:schemeClr val="bg1"/>
            </a:solidFill>
            <a:prstDash val="solid"/>
          </a:ln>
        </p:spPr>
      </p:sp>
      <p:sp>
        <p:nvSpPr>
          <p:cNvPr id="18" name="Text 15"/>
          <p:cNvSpPr txBox="1"/>
          <p:nvPr/>
        </p:nvSpPr>
        <p:spPr>
          <a:xfrm>
            <a:off x="5623560" y="105156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2020</a:t>
            </a:r>
            <a:endParaRPr lang="en-US" sz="2000" dirty="0"/>
          </a:p>
        </p:txBody>
      </p:sp>
      <p:sp>
        <p:nvSpPr>
          <p:cNvPr id="19" name="Text 16"/>
          <p:cNvSpPr txBox="1"/>
          <p:nvPr/>
        </p:nvSpPr>
        <p:spPr>
          <a:xfrm>
            <a:off x="5623560" y="141732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Python 2 resmi dihentikan (end of life)</a:t>
            </a:r>
            <a:endParaRPr lang="en-US" sz="1050" dirty="0"/>
          </a:p>
        </p:txBody>
      </p:sp>
      <p:sp>
        <p:nvSpPr>
          <p:cNvPr id="20" name="Shape 17"/>
          <p:cNvSpPr/>
          <p:nvPr/>
        </p:nvSpPr>
        <p:spPr>
          <a:xfrm>
            <a:off x="7744968" y="2258568"/>
            <a:ext cx="329184" cy="329184"/>
          </a:xfrm>
          <a:prstGeom prst="ellipse">
            <a:avLst/>
          </a:prstGeom>
          <a:solidFill>
            <a:schemeClr val="accent2"/>
          </a:solidFill>
          <a:ln w="25400">
            <a:solidFill>
              <a:schemeClr val="bg1"/>
            </a:solidFill>
            <a:prstDash val="solid"/>
          </a:ln>
        </p:spPr>
      </p:sp>
      <p:sp>
        <p:nvSpPr>
          <p:cNvPr id="21" name="Text 18"/>
          <p:cNvSpPr txBox="1"/>
          <p:nvPr/>
        </p:nvSpPr>
        <p:spPr>
          <a:xfrm>
            <a:off x="6995160" y="2743200"/>
            <a:ext cx="1828800" cy="365760"/>
          </a:xfrm>
          <a:prstGeom prst="rect">
            <a:avLst/>
          </a:prstGeom>
          <a:noFill/>
          <a:ln/>
        </p:spPr>
        <p:txBody>
          <a:bodyPr wrap="square" lIns="0" tIns="0" rIns="0" bIns="0" rtlCol="0" anchor="t"/>
          <a:lstStyle/>
          <a:p>
            <a:pPr algn="ctr" indent="0" marL="0">
              <a:buNone/>
            </a:pPr>
            <a:r>
              <a:rPr lang="en-US" sz="2000" b="1" dirty="0">
                <a:solidFill>
                  <a:schemeClr val="accent1"/>
                </a:solidFill>
              </a:rPr>
              <a:t>Kini</a:t>
            </a:r>
            <a:endParaRPr lang="en-US" sz="2000" dirty="0"/>
          </a:p>
        </p:txBody>
      </p:sp>
      <p:sp>
        <p:nvSpPr>
          <p:cNvPr id="22" name="Text 19"/>
          <p:cNvSpPr txBox="1"/>
          <p:nvPr/>
        </p:nvSpPr>
        <p:spPr>
          <a:xfrm>
            <a:off x="6995160" y="3108960"/>
            <a:ext cx="1828800" cy="731520"/>
          </a:xfrm>
          <a:prstGeom prst="rect">
            <a:avLst/>
          </a:prstGeom>
          <a:noFill/>
          <a:ln/>
        </p:spPr>
        <p:txBody>
          <a:bodyPr wrap="square" lIns="0" tIns="0" rIns="0" bIns="0" rtlCol="0" anchor="t"/>
          <a:lstStyle/>
          <a:p>
            <a:pPr algn="ctr" indent="0" marL="0">
              <a:buNone/>
            </a:pPr>
            <a:r>
              <a:rPr lang="en-US" sz="1050" dirty="0">
                <a:solidFill>
                  <a:schemeClr val="tx1"/>
                </a:solidFill>
              </a:rPr>
              <a:t>Rilis Python 3 baru setiap tahun, tiap Oktober</a:t>
            </a:r>
            <a:endParaRPr lang="en-US" sz="1050" dirty="0"/>
          </a:p>
        </p:txBody>
      </p:sp>
      <p:sp>
        <p:nvSpPr>
          <p:cNvPr id="23" name="Shape 20"/>
          <p:cNvSpPr/>
          <p:nvPr/>
        </p:nvSpPr>
        <p:spPr>
          <a:xfrm>
            <a:off x="457200" y="3931920"/>
            <a:ext cx="8229600" cy="594360"/>
          </a:xfrm>
          <a:prstGeom prst="roundRect">
            <a:avLst>
              <a:gd name="adj" fmla="val 12308"/>
            </a:avLst>
          </a:prstGeom>
          <a:solidFill>
            <a:schemeClr val="bg2"/>
          </a:solidFill>
          <a:ln w="12700">
            <a:solidFill>
              <a:schemeClr val="bg2"/>
            </a:solidFill>
            <a:prstDash val="solid"/>
          </a:ln>
        </p:spPr>
      </p:sp>
      <p:sp>
        <p:nvSpPr>
          <p:cNvPr id="24" name="Text 21"/>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200" b="1" dirty="0">
                <a:solidFill>
                  <a:schemeClr val="accent1"/>
                </a:solidFill>
              </a:rPr>
              <a:t>Filosofi Python (The Zen of Python): </a:t>
            </a:r>
            <a:pPr indent="0" marL="0">
              <a:buNone/>
            </a:pPr>
            <a:r>
              <a:rPr lang="en-US" sz="1200" dirty="0">
                <a:solidFill>
                  <a:schemeClr val="tx1"/>
                </a:solidFill>
              </a:rPr>
              <a:t>"Beautiful is better than ugly. Simple is better than complex."  Ketik import this untuk melihat semuanya.</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Mengapa Belajar Python?</a:t>
            </a:r>
            <a:endParaRPr lang="en-US" sz="2800" dirty="0"/>
          </a:p>
        </p:txBody>
      </p:sp>
      <p:sp>
        <p:nvSpPr>
          <p:cNvPr id="4" name="Shape 1"/>
          <p:cNvSpPr/>
          <p:nvPr/>
        </p:nvSpPr>
        <p:spPr>
          <a:xfrm>
            <a:off x="457200" y="1143000"/>
            <a:ext cx="2615184" cy="1508760"/>
          </a:xfrm>
          <a:prstGeom prst="roundRect">
            <a:avLst>
              <a:gd name="adj" fmla="val 4848"/>
            </a:avLst>
          </a:prstGeom>
          <a:solidFill>
            <a:schemeClr val="accent2"/>
          </a:solidFill>
          <a:ln w="12700">
            <a:solidFill>
              <a:schemeClr val="accent2"/>
            </a:solidFill>
            <a:prstDash val="solid"/>
          </a:ln>
        </p:spPr>
      </p:sp>
      <p:sp>
        <p:nvSpPr>
          <p:cNvPr id="5" name="Shape 2"/>
          <p:cNvSpPr/>
          <p:nvPr/>
        </p:nvSpPr>
        <p:spPr>
          <a:xfrm>
            <a:off x="640080" y="1325880"/>
            <a:ext cx="502920" cy="50292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7" name="Text 3"/>
          <p:cNvSpPr txBox="1"/>
          <p:nvPr/>
        </p:nvSpPr>
        <p:spPr>
          <a:xfrm>
            <a:off x="640080"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Ramah pemula</a:t>
            </a:r>
            <a:endParaRPr lang="en-US" sz="1500" dirty="0"/>
          </a:p>
        </p:txBody>
      </p:sp>
      <p:sp>
        <p:nvSpPr>
          <p:cNvPr id="8" name="Text 4"/>
          <p:cNvSpPr txBox="1"/>
          <p:nvPr/>
        </p:nvSpPr>
        <p:spPr>
          <a:xfrm>
            <a:off x="640080" y="2194560"/>
            <a:ext cx="2286000" cy="411480"/>
          </a:xfrm>
          <a:prstGeom prst="rect">
            <a:avLst/>
          </a:prstGeom>
          <a:noFill/>
          <a:ln/>
        </p:spPr>
        <p:txBody>
          <a:bodyPr wrap="square" lIns="0" tIns="0" rIns="0" bIns="0" rtlCol="0" anchor="t"/>
          <a:lstStyle/>
          <a:p>
            <a:pPr indent="0" marL="0">
              <a:buNone/>
            </a:pPr>
            <a:r>
              <a:rPr lang="en-US" sz="1100" dirty="0">
                <a:solidFill>
                  <a:schemeClr val="tx1"/>
                </a:solidFill>
              </a:rPr>
              <a:t>Sintaks singkat, fokus ke logika, bukan tanda baca</a:t>
            </a:r>
            <a:endParaRPr lang="en-US" sz="1100" dirty="0"/>
          </a:p>
        </p:txBody>
      </p:sp>
      <p:sp>
        <p:nvSpPr>
          <p:cNvPr id="9" name="Shape 5"/>
          <p:cNvSpPr/>
          <p:nvPr/>
        </p:nvSpPr>
        <p:spPr>
          <a:xfrm>
            <a:off x="3264408" y="1143000"/>
            <a:ext cx="2615184" cy="1508760"/>
          </a:xfrm>
          <a:prstGeom prst="roundRect">
            <a:avLst>
              <a:gd name="adj" fmla="val 4848"/>
            </a:avLst>
          </a:prstGeom>
          <a:solidFill>
            <a:schemeClr val="bg2"/>
          </a:solidFill>
          <a:ln w="12700">
            <a:solidFill>
              <a:schemeClr val="bg2"/>
            </a:solidFill>
            <a:prstDash val="solid"/>
          </a:ln>
        </p:spPr>
      </p:sp>
      <p:sp>
        <p:nvSpPr>
          <p:cNvPr id="10" name="Shape 6"/>
          <p:cNvSpPr/>
          <p:nvPr/>
        </p:nvSpPr>
        <p:spPr>
          <a:xfrm>
            <a:off x="3447288" y="1325880"/>
            <a:ext cx="502920" cy="5029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573018" y="1451610"/>
            <a:ext cx="251460" cy="251460"/>
          </a:xfrm>
          <a:prstGeom prst="rect">
            <a:avLst/>
          </a:prstGeom>
        </p:spPr>
      </p:pic>
      <p:sp>
        <p:nvSpPr>
          <p:cNvPr id="12" name="Text 7"/>
          <p:cNvSpPr txBox="1"/>
          <p:nvPr/>
        </p:nvSpPr>
        <p:spPr>
          <a:xfrm>
            <a:off x="3447288"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Ratusan ribu library</a:t>
            </a:r>
            <a:endParaRPr lang="en-US" sz="1500" dirty="0"/>
          </a:p>
        </p:txBody>
      </p:sp>
      <p:sp>
        <p:nvSpPr>
          <p:cNvPr id="13" name="Text 8"/>
          <p:cNvSpPr txBox="1"/>
          <p:nvPr/>
        </p:nvSpPr>
        <p:spPr>
          <a:xfrm>
            <a:off x="3447288" y="2194560"/>
            <a:ext cx="2286000" cy="411480"/>
          </a:xfrm>
          <a:prstGeom prst="rect">
            <a:avLst/>
          </a:prstGeom>
          <a:noFill/>
          <a:ln/>
        </p:spPr>
        <p:txBody>
          <a:bodyPr wrap="square" lIns="0" tIns="0" rIns="0" bIns="0" rtlCol="0" anchor="t"/>
          <a:lstStyle/>
          <a:p>
            <a:pPr indent="0" marL="0">
              <a:buNone/>
            </a:pPr>
            <a:r>
              <a:rPr lang="en-US" sz="1100" dirty="0">
                <a:solidFill>
                  <a:schemeClr val="tx2"/>
                </a:solidFill>
              </a:rPr>
              <a:t>Tersedia di PyPI, tinggal install dengan pip</a:t>
            </a:r>
            <a:endParaRPr lang="en-US" sz="1100" dirty="0"/>
          </a:p>
        </p:txBody>
      </p:sp>
      <p:sp>
        <p:nvSpPr>
          <p:cNvPr id="14" name="Shape 9"/>
          <p:cNvSpPr/>
          <p:nvPr/>
        </p:nvSpPr>
        <p:spPr>
          <a:xfrm>
            <a:off x="6071616" y="1143000"/>
            <a:ext cx="2615184" cy="1508760"/>
          </a:xfrm>
          <a:prstGeom prst="roundRect">
            <a:avLst>
              <a:gd name="adj" fmla="val 4848"/>
            </a:avLst>
          </a:prstGeom>
          <a:solidFill>
            <a:schemeClr val="bg2"/>
          </a:solidFill>
          <a:ln w="12700">
            <a:solidFill>
              <a:schemeClr val="bg2"/>
            </a:solidFill>
            <a:prstDash val="solid"/>
          </a:ln>
        </p:spPr>
      </p:sp>
      <p:sp>
        <p:nvSpPr>
          <p:cNvPr id="15" name="Shape 10"/>
          <p:cNvSpPr/>
          <p:nvPr/>
        </p:nvSpPr>
        <p:spPr>
          <a:xfrm>
            <a:off x="6254496" y="1325880"/>
            <a:ext cx="502920" cy="50292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380226" y="1451610"/>
            <a:ext cx="251460" cy="251460"/>
          </a:xfrm>
          <a:prstGeom prst="rect">
            <a:avLst/>
          </a:prstGeom>
        </p:spPr>
      </p:pic>
      <p:sp>
        <p:nvSpPr>
          <p:cNvPr id="17" name="Text 11"/>
          <p:cNvSpPr txBox="1"/>
          <p:nvPr/>
        </p:nvSpPr>
        <p:spPr>
          <a:xfrm>
            <a:off x="6254496" y="19202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Komunitas besar</a:t>
            </a:r>
            <a:endParaRPr lang="en-US" sz="1500" dirty="0"/>
          </a:p>
        </p:txBody>
      </p:sp>
      <p:sp>
        <p:nvSpPr>
          <p:cNvPr id="18" name="Text 12"/>
          <p:cNvSpPr txBox="1"/>
          <p:nvPr/>
        </p:nvSpPr>
        <p:spPr>
          <a:xfrm>
            <a:off x="6254496" y="2194560"/>
            <a:ext cx="2286000" cy="411480"/>
          </a:xfrm>
          <a:prstGeom prst="rect">
            <a:avLst/>
          </a:prstGeom>
          <a:noFill/>
          <a:ln/>
        </p:spPr>
        <p:txBody>
          <a:bodyPr wrap="square" lIns="0" tIns="0" rIns="0" bIns="0" rtlCol="0" anchor="t"/>
          <a:lstStyle/>
          <a:p>
            <a:pPr indent="0" marL="0">
              <a:buNone/>
            </a:pPr>
            <a:r>
              <a:rPr lang="en-US" sz="1100" dirty="0">
                <a:solidFill>
                  <a:schemeClr val="tx2"/>
                </a:solidFill>
              </a:rPr>
              <a:t>Banyak tutorial, forum, dan dokumentasi</a:t>
            </a:r>
            <a:endParaRPr lang="en-US" sz="1100" dirty="0"/>
          </a:p>
        </p:txBody>
      </p:sp>
      <p:sp>
        <p:nvSpPr>
          <p:cNvPr id="19" name="Shape 13"/>
          <p:cNvSpPr/>
          <p:nvPr/>
        </p:nvSpPr>
        <p:spPr>
          <a:xfrm>
            <a:off x="457200" y="2880360"/>
            <a:ext cx="2615184" cy="1508760"/>
          </a:xfrm>
          <a:prstGeom prst="roundRect">
            <a:avLst>
              <a:gd name="adj" fmla="val 4848"/>
            </a:avLst>
          </a:prstGeom>
          <a:solidFill>
            <a:schemeClr val="bg2"/>
          </a:solidFill>
          <a:ln w="12700">
            <a:solidFill>
              <a:schemeClr val="bg2"/>
            </a:solidFill>
            <a:prstDash val="solid"/>
          </a:ln>
        </p:spPr>
      </p:sp>
      <p:sp>
        <p:nvSpPr>
          <p:cNvPr id="20" name="Shape 14"/>
          <p:cNvSpPr/>
          <p:nvPr/>
        </p:nvSpPr>
        <p:spPr>
          <a:xfrm>
            <a:off x="640080" y="3063240"/>
            <a:ext cx="502920" cy="50292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765810" y="3188970"/>
            <a:ext cx="251460" cy="251460"/>
          </a:xfrm>
          <a:prstGeom prst="rect">
            <a:avLst/>
          </a:prstGeom>
        </p:spPr>
      </p:pic>
      <p:sp>
        <p:nvSpPr>
          <p:cNvPr id="22" name="Text 15"/>
          <p:cNvSpPr txBox="1"/>
          <p:nvPr/>
        </p:nvSpPr>
        <p:spPr>
          <a:xfrm>
            <a:off x="640080"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Peluang karier</a:t>
            </a:r>
            <a:endParaRPr lang="en-US" sz="1500" dirty="0"/>
          </a:p>
        </p:txBody>
      </p:sp>
      <p:sp>
        <p:nvSpPr>
          <p:cNvPr id="23" name="Text 16"/>
          <p:cNvSpPr txBox="1"/>
          <p:nvPr/>
        </p:nvSpPr>
        <p:spPr>
          <a:xfrm>
            <a:off x="640080"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Dibutuhkan di data, AI, web, dan otomasi</a:t>
            </a:r>
            <a:endParaRPr lang="en-US" sz="1100" dirty="0"/>
          </a:p>
        </p:txBody>
      </p:sp>
      <p:sp>
        <p:nvSpPr>
          <p:cNvPr id="24" name="Shape 17"/>
          <p:cNvSpPr/>
          <p:nvPr/>
        </p:nvSpPr>
        <p:spPr>
          <a:xfrm>
            <a:off x="3264408" y="2880360"/>
            <a:ext cx="2615184" cy="1508760"/>
          </a:xfrm>
          <a:prstGeom prst="roundRect">
            <a:avLst>
              <a:gd name="adj" fmla="val 4848"/>
            </a:avLst>
          </a:prstGeom>
          <a:solidFill>
            <a:schemeClr val="bg2"/>
          </a:solidFill>
          <a:ln w="12700">
            <a:solidFill>
              <a:schemeClr val="bg2"/>
            </a:solidFill>
            <a:prstDash val="solid"/>
          </a:ln>
        </p:spPr>
      </p:sp>
      <p:sp>
        <p:nvSpPr>
          <p:cNvPr id="25" name="Shape 18"/>
          <p:cNvSpPr/>
          <p:nvPr/>
        </p:nvSpPr>
        <p:spPr>
          <a:xfrm>
            <a:off x="3447288" y="3063240"/>
            <a:ext cx="502920" cy="50292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3573018" y="3188970"/>
            <a:ext cx="251460" cy="251460"/>
          </a:xfrm>
          <a:prstGeom prst="rect">
            <a:avLst/>
          </a:prstGeom>
        </p:spPr>
      </p:pic>
      <p:sp>
        <p:nvSpPr>
          <p:cNvPr id="27" name="Text 19"/>
          <p:cNvSpPr txBox="1"/>
          <p:nvPr/>
        </p:nvSpPr>
        <p:spPr>
          <a:xfrm>
            <a:off x="3447288"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Produktif</a:t>
            </a:r>
            <a:endParaRPr lang="en-US" sz="1500" dirty="0"/>
          </a:p>
        </p:txBody>
      </p:sp>
      <p:sp>
        <p:nvSpPr>
          <p:cNvPr id="28" name="Text 20"/>
          <p:cNvSpPr txBox="1"/>
          <p:nvPr/>
        </p:nvSpPr>
        <p:spPr>
          <a:xfrm>
            <a:off x="3447288"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Program jadi lebih cepat dengan baris lebih sedikit</a:t>
            </a:r>
            <a:endParaRPr lang="en-US" sz="1100" dirty="0"/>
          </a:p>
        </p:txBody>
      </p:sp>
      <p:sp>
        <p:nvSpPr>
          <p:cNvPr id="29" name="Shape 21"/>
          <p:cNvSpPr/>
          <p:nvPr/>
        </p:nvSpPr>
        <p:spPr>
          <a:xfrm>
            <a:off x="6071616" y="2880360"/>
            <a:ext cx="2615184" cy="1508760"/>
          </a:xfrm>
          <a:prstGeom prst="roundRect">
            <a:avLst>
              <a:gd name="adj" fmla="val 4848"/>
            </a:avLst>
          </a:prstGeom>
          <a:solidFill>
            <a:schemeClr val="bg2"/>
          </a:solidFill>
          <a:ln w="12700">
            <a:solidFill>
              <a:schemeClr val="bg2"/>
            </a:solidFill>
            <a:prstDash val="solid"/>
          </a:ln>
        </p:spPr>
      </p:sp>
      <p:sp>
        <p:nvSpPr>
          <p:cNvPr id="30" name="Shape 22"/>
          <p:cNvSpPr/>
          <p:nvPr/>
        </p:nvSpPr>
        <p:spPr>
          <a:xfrm>
            <a:off x="6254496" y="3063240"/>
            <a:ext cx="502920" cy="50292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6380226" y="3188970"/>
            <a:ext cx="251460" cy="251460"/>
          </a:xfrm>
          <a:prstGeom prst="rect">
            <a:avLst/>
          </a:prstGeom>
        </p:spPr>
      </p:pic>
      <p:sp>
        <p:nvSpPr>
          <p:cNvPr id="32" name="Text 23"/>
          <p:cNvSpPr txBox="1"/>
          <p:nvPr/>
        </p:nvSpPr>
        <p:spPr>
          <a:xfrm>
            <a:off x="6254496" y="3657600"/>
            <a:ext cx="2286000" cy="292608"/>
          </a:xfrm>
          <a:prstGeom prst="rect">
            <a:avLst/>
          </a:prstGeom>
          <a:noFill/>
          <a:ln/>
        </p:spPr>
        <p:txBody>
          <a:bodyPr wrap="square" lIns="0" tIns="0" rIns="0" bIns="0" rtlCol="0" anchor="t"/>
          <a:lstStyle/>
          <a:p>
            <a:pPr indent="0" marL="0">
              <a:buNone/>
            </a:pPr>
            <a:r>
              <a:rPr lang="en-US" sz="1500" b="1" dirty="0">
                <a:solidFill>
                  <a:schemeClr val="tx1"/>
                </a:solidFill>
              </a:rPr>
              <a:t>Gratis &amp; open source</a:t>
            </a:r>
            <a:endParaRPr lang="en-US" sz="1500" dirty="0"/>
          </a:p>
        </p:txBody>
      </p:sp>
      <p:sp>
        <p:nvSpPr>
          <p:cNvPr id="33" name="Text 24"/>
          <p:cNvSpPr txBox="1"/>
          <p:nvPr/>
        </p:nvSpPr>
        <p:spPr>
          <a:xfrm>
            <a:off x="6254496" y="3931920"/>
            <a:ext cx="2286000" cy="411480"/>
          </a:xfrm>
          <a:prstGeom prst="rect">
            <a:avLst/>
          </a:prstGeom>
          <a:noFill/>
          <a:ln/>
        </p:spPr>
        <p:txBody>
          <a:bodyPr wrap="square" lIns="0" tIns="0" rIns="0" bIns="0" rtlCol="0" anchor="t"/>
          <a:lstStyle/>
          <a:p>
            <a:pPr indent="0" marL="0">
              <a:buNone/>
            </a:pPr>
            <a:r>
              <a:rPr lang="en-US" sz="1100" dirty="0">
                <a:solidFill>
                  <a:schemeClr val="tx2"/>
                </a:solidFill>
              </a:rPr>
              <a:t>Bebas dipakai untuk belajar dan komersial</a:t>
            </a:r>
            <a:endParaRPr lang="en-US" sz="11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Python Dipakai di Mana Saja?</a:t>
            </a:r>
            <a:endParaRPr lang="en-US" sz="2800" dirty="0"/>
          </a:p>
        </p:txBody>
      </p:sp>
      <p:sp>
        <p:nvSpPr>
          <p:cNvPr id="4" name="Shape 1"/>
          <p:cNvSpPr/>
          <p:nvPr/>
        </p:nvSpPr>
        <p:spPr>
          <a:xfrm>
            <a:off x="457200" y="1143000"/>
            <a:ext cx="192024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1143000" y="1307592"/>
            <a:ext cx="548640" cy="5486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280160" y="1444752"/>
            <a:ext cx="274320" cy="274320"/>
          </a:xfrm>
          <a:prstGeom prst="rect">
            <a:avLst/>
          </a:prstGeom>
        </p:spPr>
      </p:pic>
      <p:sp>
        <p:nvSpPr>
          <p:cNvPr id="7" name="Text 3"/>
          <p:cNvSpPr txBox="1"/>
          <p:nvPr/>
        </p:nvSpPr>
        <p:spPr>
          <a:xfrm>
            <a:off x="548640" y="194767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Web Development</a:t>
            </a:r>
            <a:endParaRPr lang="en-US" sz="1300" dirty="0"/>
          </a:p>
        </p:txBody>
      </p:sp>
      <p:sp>
        <p:nvSpPr>
          <p:cNvPr id="8" name="Text 4"/>
          <p:cNvSpPr txBox="1"/>
          <p:nvPr/>
        </p:nvSpPr>
        <p:spPr>
          <a:xfrm>
            <a:off x="548640" y="224028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Django, Flask, FastAPI</a:t>
            </a:r>
            <a:endParaRPr lang="en-US" sz="1050" dirty="0"/>
          </a:p>
        </p:txBody>
      </p:sp>
      <p:sp>
        <p:nvSpPr>
          <p:cNvPr id="9" name="Shape 5"/>
          <p:cNvSpPr/>
          <p:nvPr/>
        </p:nvSpPr>
        <p:spPr>
          <a:xfrm>
            <a:off x="2560320" y="1143000"/>
            <a:ext cx="1920240" cy="1554480"/>
          </a:xfrm>
          <a:prstGeom prst="roundRect">
            <a:avLst>
              <a:gd name="adj" fmla="val 4706"/>
            </a:avLst>
          </a:prstGeom>
          <a:solidFill>
            <a:schemeClr val="bg2"/>
          </a:solidFill>
          <a:ln w="12700">
            <a:solidFill>
              <a:schemeClr val="bg2"/>
            </a:solidFill>
            <a:prstDash val="solid"/>
          </a:ln>
        </p:spPr>
      </p:sp>
      <p:sp>
        <p:nvSpPr>
          <p:cNvPr id="10" name="Shape 6"/>
          <p:cNvSpPr/>
          <p:nvPr/>
        </p:nvSpPr>
        <p:spPr>
          <a:xfrm>
            <a:off x="3246120" y="1307592"/>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383280" y="1444752"/>
            <a:ext cx="274320" cy="274320"/>
          </a:xfrm>
          <a:prstGeom prst="rect">
            <a:avLst/>
          </a:prstGeom>
        </p:spPr>
      </p:pic>
      <p:sp>
        <p:nvSpPr>
          <p:cNvPr id="12" name="Text 7"/>
          <p:cNvSpPr txBox="1"/>
          <p:nvPr/>
        </p:nvSpPr>
        <p:spPr>
          <a:xfrm>
            <a:off x="2651760" y="194767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Data Science</a:t>
            </a:r>
            <a:endParaRPr lang="en-US" sz="1300" dirty="0"/>
          </a:p>
        </p:txBody>
      </p:sp>
      <p:sp>
        <p:nvSpPr>
          <p:cNvPr id="13" name="Text 8"/>
          <p:cNvSpPr txBox="1"/>
          <p:nvPr/>
        </p:nvSpPr>
        <p:spPr>
          <a:xfrm>
            <a:off x="2651760" y="224028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Pandas, NumPy, Matplotlib</a:t>
            </a:r>
            <a:endParaRPr lang="en-US" sz="1050" dirty="0"/>
          </a:p>
        </p:txBody>
      </p:sp>
      <p:sp>
        <p:nvSpPr>
          <p:cNvPr id="14" name="Shape 9"/>
          <p:cNvSpPr/>
          <p:nvPr/>
        </p:nvSpPr>
        <p:spPr>
          <a:xfrm>
            <a:off x="4663440" y="1143000"/>
            <a:ext cx="1920240" cy="1554480"/>
          </a:xfrm>
          <a:prstGeom prst="roundRect">
            <a:avLst>
              <a:gd name="adj" fmla="val 4706"/>
            </a:avLst>
          </a:prstGeom>
          <a:solidFill>
            <a:schemeClr val="bg2"/>
          </a:solidFill>
          <a:ln w="12700">
            <a:solidFill>
              <a:schemeClr val="bg2"/>
            </a:solidFill>
            <a:prstDash val="solid"/>
          </a:ln>
        </p:spPr>
      </p:sp>
      <p:sp>
        <p:nvSpPr>
          <p:cNvPr id="15" name="Shape 10"/>
          <p:cNvSpPr/>
          <p:nvPr/>
        </p:nvSpPr>
        <p:spPr>
          <a:xfrm>
            <a:off x="5349240" y="1307592"/>
            <a:ext cx="548640" cy="54864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5486400" y="1444752"/>
            <a:ext cx="274320" cy="274320"/>
          </a:xfrm>
          <a:prstGeom prst="rect">
            <a:avLst/>
          </a:prstGeom>
        </p:spPr>
      </p:pic>
      <p:sp>
        <p:nvSpPr>
          <p:cNvPr id="17" name="Text 11"/>
          <p:cNvSpPr txBox="1"/>
          <p:nvPr/>
        </p:nvSpPr>
        <p:spPr>
          <a:xfrm>
            <a:off x="4754880" y="194767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AI &amp; Machine Learning</a:t>
            </a:r>
            <a:endParaRPr lang="en-US" sz="1300" dirty="0"/>
          </a:p>
        </p:txBody>
      </p:sp>
      <p:sp>
        <p:nvSpPr>
          <p:cNvPr id="18" name="Text 12"/>
          <p:cNvSpPr txBox="1"/>
          <p:nvPr/>
        </p:nvSpPr>
        <p:spPr>
          <a:xfrm>
            <a:off x="4754880" y="224028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scikit-learn, TensorFlow, PyTorch</a:t>
            </a:r>
            <a:endParaRPr lang="en-US" sz="1050" dirty="0"/>
          </a:p>
        </p:txBody>
      </p:sp>
      <p:sp>
        <p:nvSpPr>
          <p:cNvPr id="19" name="Shape 13"/>
          <p:cNvSpPr/>
          <p:nvPr/>
        </p:nvSpPr>
        <p:spPr>
          <a:xfrm>
            <a:off x="6766560" y="1143000"/>
            <a:ext cx="1920240" cy="1554480"/>
          </a:xfrm>
          <a:prstGeom prst="roundRect">
            <a:avLst>
              <a:gd name="adj" fmla="val 4706"/>
            </a:avLst>
          </a:prstGeom>
          <a:solidFill>
            <a:schemeClr val="bg2"/>
          </a:solidFill>
          <a:ln w="12700">
            <a:solidFill>
              <a:schemeClr val="bg2"/>
            </a:solidFill>
            <a:prstDash val="solid"/>
          </a:ln>
        </p:spPr>
      </p:sp>
      <p:sp>
        <p:nvSpPr>
          <p:cNvPr id="20" name="Shape 14"/>
          <p:cNvSpPr/>
          <p:nvPr/>
        </p:nvSpPr>
        <p:spPr>
          <a:xfrm>
            <a:off x="7452360" y="1307592"/>
            <a:ext cx="548640" cy="54864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7589520" y="1444752"/>
            <a:ext cx="274320" cy="274320"/>
          </a:xfrm>
          <a:prstGeom prst="rect">
            <a:avLst/>
          </a:prstGeom>
        </p:spPr>
      </p:pic>
      <p:sp>
        <p:nvSpPr>
          <p:cNvPr id="22" name="Text 15"/>
          <p:cNvSpPr txBox="1"/>
          <p:nvPr/>
        </p:nvSpPr>
        <p:spPr>
          <a:xfrm>
            <a:off x="6858000" y="194767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Otomasi &amp; Scripting</a:t>
            </a:r>
            <a:endParaRPr lang="en-US" sz="1300" dirty="0"/>
          </a:p>
        </p:txBody>
      </p:sp>
      <p:sp>
        <p:nvSpPr>
          <p:cNvPr id="23" name="Text 16"/>
          <p:cNvSpPr txBox="1"/>
          <p:nvPr/>
        </p:nvSpPr>
        <p:spPr>
          <a:xfrm>
            <a:off x="6858000" y="224028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Selenium, os, schedule</a:t>
            </a:r>
            <a:endParaRPr lang="en-US" sz="1050" dirty="0"/>
          </a:p>
        </p:txBody>
      </p:sp>
      <p:sp>
        <p:nvSpPr>
          <p:cNvPr id="24" name="Shape 17"/>
          <p:cNvSpPr/>
          <p:nvPr/>
        </p:nvSpPr>
        <p:spPr>
          <a:xfrm>
            <a:off x="457200" y="2880360"/>
            <a:ext cx="1920240" cy="1554480"/>
          </a:xfrm>
          <a:prstGeom prst="roundRect">
            <a:avLst>
              <a:gd name="adj" fmla="val 4706"/>
            </a:avLst>
          </a:prstGeom>
          <a:solidFill>
            <a:schemeClr val="bg2"/>
          </a:solidFill>
          <a:ln w="12700">
            <a:solidFill>
              <a:schemeClr val="bg2"/>
            </a:solidFill>
            <a:prstDash val="solid"/>
          </a:ln>
        </p:spPr>
      </p:sp>
      <p:sp>
        <p:nvSpPr>
          <p:cNvPr id="25" name="Shape 18"/>
          <p:cNvSpPr/>
          <p:nvPr/>
        </p:nvSpPr>
        <p:spPr>
          <a:xfrm>
            <a:off x="1143000" y="3044952"/>
            <a:ext cx="548640" cy="54864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1280160" y="3182112"/>
            <a:ext cx="274320" cy="274320"/>
          </a:xfrm>
          <a:prstGeom prst="rect">
            <a:avLst/>
          </a:prstGeom>
        </p:spPr>
      </p:pic>
      <p:sp>
        <p:nvSpPr>
          <p:cNvPr id="27" name="Text 19"/>
          <p:cNvSpPr txBox="1"/>
          <p:nvPr/>
        </p:nvSpPr>
        <p:spPr>
          <a:xfrm>
            <a:off x="548640" y="368503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Game Development</a:t>
            </a:r>
            <a:endParaRPr lang="en-US" sz="1300" dirty="0"/>
          </a:p>
        </p:txBody>
      </p:sp>
      <p:sp>
        <p:nvSpPr>
          <p:cNvPr id="28" name="Text 20"/>
          <p:cNvSpPr txBox="1"/>
          <p:nvPr/>
        </p:nvSpPr>
        <p:spPr>
          <a:xfrm>
            <a:off x="548640" y="397764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Pygame, Arcade</a:t>
            </a:r>
            <a:endParaRPr lang="en-US" sz="1050" dirty="0"/>
          </a:p>
        </p:txBody>
      </p:sp>
      <p:sp>
        <p:nvSpPr>
          <p:cNvPr id="29" name="Shape 21"/>
          <p:cNvSpPr/>
          <p:nvPr/>
        </p:nvSpPr>
        <p:spPr>
          <a:xfrm>
            <a:off x="2560320" y="2880360"/>
            <a:ext cx="1920240" cy="1554480"/>
          </a:xfrm>
          <a:prstGeom prst="roundRect">
            <a:avLst>
              <a:gd name="adj" fmla="val 4706"/>
            </a:avLst>
          </a:prstGeom>
          <a:solidFill>
            <a:schemeClr val="bg2"/>
          </a:solidFill>
          <a:ln w="12700">
            <a:solidFill>
              <a:schemeClr val="bg2"/>
            </a:solidFill>
            <a:prstDash val="solid"/>
          </a:ln>
        </p:spPr>
      </p:sp>
      <p:sp>
        <p:nvSpPr>
          <p:cNvPr id="30" name="Shape 22"/>
          <p:cNvSpPr/>
          <p:nvPr/>
        </p:nvSpPr>
        <p:spPr>
          <a:xfrm>
            <a:off x="3246120" y="3044952"/>
            <a:ext cx="548640" cy="54864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3383280" y="3182112"/>
            <a:ext cx="274320" cy="274320"/>
          </a:xfrm>
          <a:prstGeom prst="rect">
            <a:avLst/>
          </a:prstGeom>
        </p:spPr>
      </p:pic>
      <p:sp>
        <p:nvSpPr>
          <p:cNvPr id="32" name="Text 23"/>
          <p:cNvSpPr txBox="1"/>
          <p:nvPr/>
        </p:nvSpPr>
        <p:spPr>
          <a:xfrm>
            <a:off x="2651760" y="368503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IoT &amp; Hardware</a:t>
            </a:r>
            <a:endParaRPr lang="en-US" sz="1300" dirty="0"/>
          </a:p>
        </p:txBody>
      </p:sp>
      <p:sp>
        <p:nvSpPr>
          <p:cNvPr id="33" name="Text 24"/>
          <p:cNvSpPr txBox="1"/>
          <p:nvPr/>
        </p:nvSpPr>
        <p:spPr>
          <a:xfrm>
            <a:off x="2651760" y="397764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MicroPython, Raspberry Pi</a:t>
            </a:r>
            <a:endParaRPr lang="en-US" sz="1050" dirty="0"/>
          </a:p>
        </p:txBody>
      </p:sp>
      <p:sp>
        <p:nvSpPr>
          <p:cNvPr id="34" name="Shape 25"/>
          <p:cNvSpPr/>
          <p:nvPr/>
        </p:nvSpPr>
        <p:spPr>
          <a:xfrm>
            <a:off x="4663440" y="2880360"/>
            <a:ext cx="1920240" cy="1554480"/>
          </a:xfrm>
          <a:prstGeom prst="roundRect">
            <a:avLst>
              <a:gd name="adj" fmla="val 4706"/>
            </a:avLst>
          </a:prstGeom>
          <a:solidFill>
            <a:schemeClr val="bg2"/>
          </a:solidFill>
          <a:ln w="12700">
            <a:solidFill>
              <a:schemeClr val="bg2"/>
            </a:solidFill>
            <a:prstDash val="solid"/>
          </a:ln>
        </p:spPr>
      </p:sp>
      <p:sp>
        <p:nvSpPr>
          <p:cNvPr id="35" name="Shape 26"/>
          <p:cNvSpPr/>
          <p:nvPr/>
        </p:nvSpPr>
        <p:spPr>
          <a:xfrm>
            <a:off x="5349240" y="3044952"/>
            <a:ext cx="548640" cy="548640"/>
          </a:xfrm>
          <a:prstGeom prst="ellipse">
            <a:avLst/>
          </a:prstGeom>
          <a:solidFill>
            <a:schemeClr val="accent1"/>
          </a:solidFill>
          <a:ln w="12700">
            <a:solidFill>
              <a:schemeClr val="accent1"/>
            </a:solidFill>
            <a:prstDash val="solid"/>
          </a:ln>
        </p:spPr>
      </p:sp>
      <p:pic>
        <p:nvPicPr>
          <p:cNvPr id="36" name="Image 6" descr="preencoded.png">    </p:cNvPr>
          <p:cNvPicPr>
            <a:picLocks noChangeAspect="1"/>
          </p:cNvPicPr>
          <p:nvPr/>
        </p:nvPicPr>
        <p:blipFill>
          <a:blip r:embed="rId7"/>
          <a:stretch>
            <a:fillRect/>
          </a:stretch>
        </p:blipFill>
        <p:spPr>
          <a:xfrm>
            <a:off x="5486400" y="3182112"/>
            <a:ext cx="274320" cy="274320"/>
          </a:xfrm>
          <a:prstGeom prst="rect">
            <a:avLst/>
          </a:prstGeom>
        </p:spPr>
      </p:pic>
      <p:sp>
        <p:nvSpPr>
          <p:cNvPr id="37" name="Text 27"/>
          <p:cNvSpPr txBox="1"/>
          <p:nvPr/>
        </p:nvSpPr>
        <p:spPr>
          <a:xfrm>
            <a:off x="4754880" y="368503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Keamanan Siber</a:t>
            </a:r>
            <a:endParaRPr lang="en-US" sz="1300" dirty="0"/>
          </a:p>
        </p:txBody>
      </p:sp>
      <p:sp>
        <p:nvSpPr>
          <p:cNvPr id="38" name="Text 28"/>
          <p:cNvSpPr txBox="1"/>
          <p:nvPr/>
        </p:nvSpPr>
        <p:spPr>
          <a:xfrm>
            <a:off x="4754880" y="397764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Scapy, Requests</a:t>
            </a:r>
            <a:endParaRPr lang="en-US" sz="1050" dirty="0"/>
          </a:p>
        </p:txBody>
      </p:sp>
      <p:sp>
        <p:nvSpPr>
          <p:cNvPr id="39" name="Shape 29"/>
          <p:cNvSpPr/>
          <p:nvPr/>
        </p:nvSpPr>
        <p:spPr>
          <a:xfrm>
            <a:off x="6766560" y="2880360"/>
            <a:ext cx="1920240" cy="1554480"/>
          </a:xfrm>
          <a:prstGeom prst="roundRect">
            <a:avLst>
              <a:gd name="adj" fmla="val 4706"/>
            </a:avLst>
          </a:prstGeom>
          <a:solidFill>
            <a:schemeClr val="bg2"/>
          </a:solidFill>
          <a:ln w="12700">
            <a:solidFill>
              <a:schemeClr val="bg2"/>
            </a:solidFill>
            <a:prstDash val="solid"/>
          </a:ln>
        </p:spPr>
      </p:sp>
      <p:sp>
        <p:nvSpPr>
          <p:cNvPr id="40" name="Shape 30"/>
          <p:cNvSpPr/>
          <p:nvPr/>
        </p:nvSpPr>
        <p:spPr>
          <a:xfrm>
            <a:off x="7452360" y="3044952"/>
            <a:ext cx="548640" cy="548640"/>
          </a:xfrm>
          <a:prstGeom prst="ellipse">
            <a:avLst/>
          </a:prstGeom>
          <a:solidFill>
            <a:schemeClr val="accent1"/>
          </a:solidFill>
          <a:ln w="12700">
            <a:solidFill>
              <a:schemeClr val="accent1"/>
            </a:solidFill>
            <a:prstDash val="solid"/>
          </a:ln>
        </p:spPr>
      </p:sp>
      <p:pic>
        <p:nvPicPr>
          <p:cNvPr id="41" name="Image 7" descr="preencoded.png">    </p:cNvPr>
          <p:cNvPicPr>
            <a:picLocks noChangeAspect="1"/>
          </p:cNvPicPr>
          <p:nvPr/>
        </p:nvPicPr>
        <p:blipFill>
          <a:blip r:embed="rId8"/>
          <a:stretch>
            <a:fillRect/>
          </a:stretch>
        </p:blipFill>
        <p:spPr>
          <a:xfrm>
            <a:off x="7589520" y="3182112"/>
            <a:ext cx="274320" cy="274320"/>
          </a:xfrm>
          <a:prstGeom prst="rect">
            <a:avLst/>
          </a:prstGeom>
        </p:spPr>
      </p:pic>
      <p:sp>
        <p:nvSpPr>
          <p:cNvPr id="42" name="Text 31"/>
          <p:cNvSpPr txBox="1"/>
          <p:nvPr/>
        </p:nvSpPr>
        <p:spPr>
          <a:xfrm>
            <a:off x="6858000" y="3685032"/>
            <a:ext cx="1737360" cy="310896"/>
          </a:xfrm>
          <a:prstGeom prst="rect">
            <a:avLst/>
          </a:prstGeom>
          <a:noFill/>
          <a:ln/>
        </p:spPr>
        <p:txBody>
          <a:bodyPr wrap="square" lIns="0" tIns="0" rIns="0" bIns="0" rtlCol="0" anchor="t"/>
          <a:lstStyle/>
          <a:p>
            <a:pPr algn="ctr" indent="0" marL="0">
              <a:buNone/>
            </a:pPr>
            <a:r>
              <a:rPr lang="en-US" sz="1300" b="1" dirty="0">
                <a:solidFill>
                  <a:schemeClr val="tx1"/>
                </a:solidFill>
              </a:rPr>
              <a:t>Sains &amp; Riset</a:t>
            </a:r>
            <a:endParaRPr lang="en-US" sz="1300" dirty="0"/>
          </a:p>
        </p:txBody>
      </p:sp>
      <p:sp>
        <p:nvSpPr>
          <p:cNvPr id="43" name="Text 32"/>
          <p:cNvSpPr txBox="1"/>
          <p:nvPr/>
        </p:nvSpPr>
        <p:spPr>
          <a:xfrm>
            <a:off x="6858000" y="3977640"/>
            <a:ext cx="1737360" cy="365760"/>
          </a:xfrm>
          <a:prstGeom prst="rect">
            <a:avLst/>
          </a:prstGeom>
          <a:noFill/>
          <a:ln/>
        </p:spPr>
        <p:txBody>
          <a:bodyPr wrap="square" lIns="0" tIns="0" rIns="0" bIns="0" rtlCol="0" anchor="t"/>
          <a:lstStyle/>
          <a:p>
            <a:pPr algn="ctr" indent="0" marL="0">
              <a:buNone/>
            </a:pPr>
            <a:r>
              <a:rPr lang="en-US" sz="1050" dirty="0">
                <a:solidFill>
                  <a:schemeClr val="tx2"/>
                </a:solidFill>
              </a:rPr>
              <a:t>SciPy, Jupyter, SymPy</a:t>
            </a:r>
            <a:endParaRPr lang="en-US" sz="10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2</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Persiapan</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Instalasi Python, memilih editor, dan menulis program pertama</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Langkah Instalasi Python</a:t>
            </a:r>
            <a:endParaRPr lang="en-US" sz="2800" dirty="0"/>
          </a:p>
        </p:txBody>
      </p:sp>
      <p:sp>
        <p:nvSpPr>
          <p:cNvPr id="4" name="Shape 1"/>
          <p:cNvSpPr/>
          <p:nvPr/>
        </p:nvSpPr>
        <p:spPr>
          <a:xfrm>
            <a:off x="457200" y="1143000"/>
            <a:ext cx="1920240" cy="2103120"/>
          </a:xfrm>
          <a:prstGeom prst="roundRect">
            <a:avLst>
              <a:gd name="adj" fmla="val 3810"/>
            </a:avLst>
          </a:prstGeom>
          <a:solidFill>
            <a:schemeClr val="bg2"/>
          </a:solidFill>
          <a:ln w="12700">
            <a:solidFill>
              <a:schemeClr val="bg2"/>
            </a:solidFill>
            <a:prstDash val="solid"/>
          </a:ln>
        </p:spPr>
      </p:sp>
      <p:sp>
        <p:nvSpPr>
          <p:cNvPr id="5" name="Shape 2"/>
          <p:cNvSpPr/>
          <p:nvPr/>
        </p:nvSpPr>
        <p:spPr>
          <a:xfrm>
            <a:off x="1097280" y="132588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257300" y="1485900"/>
            <a:ext cx="320040" cy="320040"/>
          </a:xfrm>
          <a:prstGeom prst="rect">
            <a:avLst/>
          </a:prstGeom>
        </p:spPr>
      </p:pic>
      <p:sp>
        <p:nvSpPr>
          <p:cNvPr id="7" name="Text 3"/>
          <p:cNvSpPr txBox="1"/>
          <p:nvPr/>
        </p:nvSpPr>
        <p:spPr>
          <a:xfrm>
            <a:off x="548640" y="2103120"/>
            <a:ext cx="1737360" cy="320040"/>
          </a:xfrm>
          <a:prstGeom prst="rect">
            <a:avLst/>
          </a:prstGeom>
          <a:noFill/>
          <a:ln/>
        </p:spPr>
        <p:txBody>
          <a:bodyPr wrap="square" lIns="0" tIns="0" rIns="0" bIns="0" rtlCol="0" anchor="t"/>
          <a:lstStyle/>
          <a:p>
            <a:pPr algn="ctr" indent="0" marL="0">
              <a:buNone/>
            </a:pPr>
            <a:r>
              <a:rPr lang="en-US" sz="1500" b="1" dirty="0">
                <a:solidFill>
                  <a:schemeClr val="tx1"/>
                </a:solidFill>
              </a:rPr>
              <a:t>1. Unduh</a:t>
            </a:r>
            <a:endParaRPr lang="en-US" sz="1500" dirty="0"/>
          </a:p>
        </p:txBody>
      </p:sp>
      <p:sp>
        <p:nvSpPr>
          <p:cNvPr id="8" name="Text 4"/>
          <p:cNvSpPr txBox="1"/>
          <p:nvPr/>
        </p:nvSpPr>
        <p:spPr>
          <a:xfrm>
            <a:off x="594360" y="2450592"/>
            <a:ext cx="1645920" cy="731520"/>
          </a:xfrm>
          <a:prstGeom prst="rect">
            <a:avLst/>
          </a:prstGeom>
          <a:noFill/>
          <a:ln/>
        </p:spPr>
        <p:txBody>
          <a:bodyPr wrap="square" lIns="0" tIns="0" rIns="0" bIns="0" rtlCol="0" anchor="t"/>
          <a:lstStyle/>
          <a:p>
            <a:pPr algn="ctr" indent="0" marL="0">
              <a:buNone/>
            </a:pPr>
            <a:r>
              <a:rPr lang="en-US" sz="1100" dirty="0">
                <a:solidFill>
                  <a:schemeClr val="tx2"/>
                </a:solidFill>
              </a:rPr>
              <a:t>Buka python.org/downloads, pilih versi Python 3 terbaru</a:t>
            </a:r>
            <a:endParaRPr lang="en-US" sz="1100" dirty="0"/>
          </a:p>
        </p:txBody>
      </p:sp>
      <p:pic>
        <p:nvPicPr>
          <p:cNvPr id="9" name="Image 1" descr="preencoded.png">    </p:cNvPr>
          <p:cNvPicPr>
            <a:picLocks noChangeAspect="1"/>
          </p:cNvPicPr>
          <p:nvPr/>
        </p:nvPicPr>
        <p:blipFill>
          <a:blip r:embed="rId2"/>
          <a:stretch>
            <a:fillRect/>
          </a:stretch>
        </p:blipFill>
        <p:spPr>
          <a:xfrm>
            <a:off x="2404872" y="2075688"/>
            <a:ext cx="137160" cy="182880"/>
          </a:xfrm>
          <a:prstGeom prst="rect">
            <a:avLst/>
          </a:prstGeom>
        </p:spPr>
      </p:pic>
      <p:sp>
        <p:nvSpPr>
          <p:cNvPr id="10" name="Shape 5"/>
          <p:cNvSpPr/>
          <p:nvPr/>
        </p:nvSpPr>
        <p:spPr>
          <a:xfrm>
            <a:off x="2560320" y="1143000"/>
            <a:ext cx="1920240" cy="2103120"/>
          </a:xfrm>
          <a:prstGeom prst="roundRect">
            <a:avLst>
              <a:gd name="adj" fmla="val 3810"/>
            </a:avLst>
          </a:prstGeom>
          <a:solidFill>
            <a:schemeClr val="bg2"/>
          </a:solidFill>
          <a:ln w="12700">
            <a:solidFill>
              <a:schemeClr val="bg2"/>
            </a:solidFill>
            <a:prstDash val="solid"/>
          </a:ln>
        </p:spPr>
      </p:sp>
      <p:sp>
        <p:nvSpPr>
          <p:cNvPr id="11" name="Shape 6"/>
          <p:cNvSpPr/>
          <p:nvPr/>
        </p:nvSpPr>
        <p:spPr>
          <a:xfrm>
            <a:off x="3200400" y="1325880"/>
            <a:ext cx="640080" cy="64008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3360420" y="1485900"/>
            <a:ext cx="320040" cy="320040"/>
          </a:xfrm>
          <a:prstGeom prst="rect">
            <a:avLst/>
          </a:prstGeom>
        </p:spPr>
      </p:pic>
      <p:sp>
        <p:nvSpPr>
          <p:cNvPr id="13" name="Text 7"/>
          <p:cNvSpPr txBox="1"/>
          <p:nvPr/>
        </p:nvSpPr>
        <p:spPr>
          <a:xfrm>
            <a:off x="2651760" y="2103120"/>
            <a:ext cx="1737360" cy="320040"/>
          </a:xfrm>
          <a:prstGeom prst="rect">
            <a:avLst/>
          </a:prstGeom>
          <a:noFill/>
          <a:ln/>
        </p:spPr>
        <p:txBody>
          <a:bodyPr wrap="square" lIns="0" tIns="0" rIns="0" bIns="0" rtlCol="0" anchor="t"/>
          <a:lstStyle/>
          <a:p>
            <a:pPr algn="ctr" indent="0" marL="0">
              <a:buNone/>
            </a:pPr>
            <a:r>
              <a:rPr lang="en-US" sz="1500" b="1" dirty="0">
                <a:solidFill>
                  <a:schemeClr val="tx1"/>
                </a:solidFill>
              </a:rPr>
              <a:t>2. Install</a:t>
            </a:r>
            <a:endParaRPr lang="en-US" sz="1500" dirty="0"/>
          </a:p>
        </p:txBody>
      </p:sp>
      <p:sp>
        <p:nvSpPr>
          <p:cNvPr id="14" name="Text 8"/>
          <p:cNvSpPr txBox="1"/>
          <p:nvPr/>
        </p:nvSpPr>
        <p:spPr>
          <a:xfrm>
            <a:off x="2697480" y="2450592"/>
            <a:ext cx="1645920" cy="731520"/>
          </a:xfrm>
          <a:prstGeom prst="rect">
            <a:avLst/>
          </a:prstGeom>
          <a:noFill/>
          <a:ln/>
        </p:spPr>
        <p:txBody>
          <a:bodyPr wrap="square" lIns="0" tIns="0" rIns="0" bIns="0" rtlCol="0" anchor="t"/>
          <a:lstStyle/>
          <a:p>
            <a:pPr algn="ctr" indent="0" marL="0">
              <a:buNone/>
            </a:pPr>
            <a:r>
              <a:rPr lang="en-US" sz="1100" dirty="0">
                <a:solidFill>
                  <a:schemeClr val="tx2"/>
                </a:solidFill>
              </a:rPr>
              <a:t>Centang "Add python.exe to PATH", lalu klik Install Now</a:t>
            </a:r>
            <a:endParaRPr lang="en-US" sz="1100" dirty="0"/>
          </a:p>
        </p:txBody>
      </p:sp>
      <p:pic>
        <p:nvPicPr>
          <p:cNvPr id="15" name="Image 3" descr="preencoded.png">    </p:cNvPr>
          <p:cNvPicPr>
            <a:picLocks noChangeAspect="1"/>
          </p:cNvPicPr>
          <p:nvPr/>
        </p:nvPicPr>
        <p:blipFill>
          <a:blip r:embed="rId4"/>
          <a:stretch>
            <a:fillRect/>
          </a:stretch>
        </p:blipFill>
        <p:spPr>
          <a:xfrm>
            <a:off x="4507992" y="2075688"/>
            <a:ext cx="137160" cy="182880"/>
          </a:xfrm>
          <a:prstGeom prst="rect">
            <a:avLst/>
          </a:prstGeom>
        </p:spPr>
      </p:pic>
      <p:sp>
        <p:nvSpPr>
          <p:cNvPr id="16" name="Shape 9"/>
          <p:cNvSpPr/>
          <p:nvPr/>
        </p:nvSpPr>
        <p:spPr>
          <a:xfrm>
            <a:off x="4663440" y="1143000"/>
            <a:ext cx="1920240" cy="2103120"/>
          </a:xfrm>
          <a:prstGeom prst="roundRect">
            <a:avLst>
              <a:gd name="adj" fmla="val 3810"/>
            </a:avLst>
          </a:prstGeom>
          <a:solidFill>
            <a:schemeClr val="bg2"/>
          </a:solidFill>
          <a:ln w="12700">
            <a:solidFill>
              <a:schemeClr val="bg2"/>
            </a:solidFill>
            <a:prstDash val="solid"/>
          </a:ln>
        </p:spPr>
      </p:sp>
      <p:sp>
        <p:nvSpPr>
          <p:cNvPr id="17" name="Shape 10"/>
          <p:cNvSpPr/>
          <p:nvPr/>
        </p:nvSpPr>
        <p:spPr>
          <a:xfrm>
            <a:off x="5303520" y="1325880"/>
            <a:ext cx="640080" cy="640080"/>
          </a:xfrm>
          <a:prstGeom prst="ellipse">
            <a:avLst/>
          </a:prstGeom>
          <a:solidFill>
            <a:schemeClr val="accent1"/>
          </a:solidFill>
          <a:ln w="12700">
            <a:solidFill>
              <a:schemeClr val="accent1"/>
            </a:solidFill>
            <a:prstDash val="solid"/>
          </a:ln>
        </p:spPr>
      </p:sp>
      <p:pic>
        <p:nvPicPr>
          <p:cNvPr id="18" name="Image 4" descr="preencoded.png">    </p:cNvPr>
          <p:cNvPicPr>
            <a:picLocks noChangeAspect="1"/>
          </p:cNvPicPr>
          <p:nvPr/>
        </p:nvPicPr>
        <p:blipFill>
          <a:blip r:embed="rId5"/>
          <a:stretch>
            <a:fillRect/>
          </a:stretch>
        </p:blipFill>
        <p:spPr>
          <a:xfrm>
            <a:off x="5463540" y="1485900"/>
            <a:ext cx="320040" cy="320040"/>
          </a:xfrm>
          <a:prstGeom prst="rect">
            <a:avLst/>
          </a:prstGeom>
        </p:spPr>
      </p:pic>
      <p:sp>
        <p:nvSpPr>
          <p:cNvPr id="19" name="Text 11"/>
          <p:cNvSpPr txBox="1"/>
          <p:nvPr/>
        </p:nvSpPr>
        <p:spPr>
          <a:xfrm>
            <a:off x="4754880" y="2103120"/>
            <a:ext cx="1737360" cy="320040"/>
          </a:xfrm>
          <a:prstGeom prst="rect">
            <a:avLst/>
          </a:prstGeom>
          <a:noFill/>
          <a:ln/>
        </p:spPr>
        <p:txBody>
          <a:bodyPr wrap="square" lIns="0" tIns="0" rIns="0" bIns="0" rtlCol="0" anchor="t"/>
          <a:lstStyle/>
          <a:p>
            <a:pPr algn="ctr" indent="0" marL="0">
              <a:buNone/>
            </a:pPr>
            <a:r>
              <a:rPr lang="en-US" sz="1500" b="1" dirty="0">
                <a:solidFill>
                  <a:schemeClr val="tx1"/>
                </a:solidFill>
              </a:rPr>
              <a:t>3. Cek</a:t>
            </a:r>
            <a:endParaRPr lang="en-US" sz="1500" dirty="0"/>
          </a:p>
        </p:txBody>
      </p:sp>
      <p:sp>
        <p:nvSpPr>
          <p:cNvPr id="20" name="Text 12"/>
          <p:cNvSpPr txBox="1"/>
          <p:nvPr/>
        </p:nvSpPr>
        <p:spPr>
          <a:xfrm>
            <a:off x="4800600" y="2450592"/>
            <a:ext cx="1645920" cy="731520"/>
          </a:xfrm>
          <a:prstGeom prst="rect">
            <a:avLst/>
          </a:prstGeom>
          <a:noFill/>
          <a:ln/>
        </p:spPr>
        <p:txBody>
          <a:bodyPr wrap="square" lIns="0" tIns="0" rIns="0" bIns="0" rtlCol="0" anchor="t"/>
          <a:lstStyle/>
          <a:p>
            <a:pPr algn="ctr" indent="0" marL="0">
              <a:buNone/>
            </a:pPr>
            <a:r>
              <a:rPr lang="en-US" sz="1100" dirty="0">
                <a:solidFill>
                  <a:schemeClr val="tx2"/>
                </a:solidFill>
              </a:rPr>
              <a:t>Buka terminal, ketik python --version</a:t>
            </a:r>
            <a:endParaRPr lang="en-US" sz="1100" dirty="0"/>
          </a:p>
        </p:txBody>
      </p:sp>
      <p:pic>
        <p:nvPicPr>
          <p:cNvPr id="21" name="Image 5" descr="preencoded.png">    </p:cNvPr>
          <p:cNvPicPr>
            <a:picLocks noChangeAspect="1"/>
          </p:cNvPicPr>
          <p:nvPr/>
        </p:nvPicPr>
        <p:blipFill>
          <a:blip r:embed="rId6"/>
          <a:stretch>
            <a:fillRect/>
          </a:stretch>
        </p:blipFill>
        <p:spPr>
          <a:xfrm>
            <a:off x="6611112" y="2075688"/>
            <a:ext cx="137160" cy="182880"/>
          </a:xfrm>
          <a:prstGeom prst="rect">
            <a:avLst/>
          </a:prstGeom>
        </p:spPr>
      </p:pic>
      <p:sp>
        <p:nvSpPr>
          <p:cNvPr id="22" name="Shape 13"/>
          <p:cNvSpPr/>
          <p:nvPr/>
        </p:nvSpPr>
        <p:spPr>
          <a:xfrm>
            <a:off x="6766560" y="1143000"/>
            <a:ext cx="1920240" cy="2103120"/>
          </a:xfrm>
          <a:prstGeom prst="roundRect">
            <a:avLst>
              <a:gd name="adj" fmla="val 3810"/>
            </a:avLst>
          </a:prstGeom>
          <a:solidFill>
            <a:schemeClr val="bg2"/>
          </a:solidFill>
          <a:ln w="12700">
            <a:solidFill>
              <a:schemeClr val="bg2"/>
            </a:solidFill>
            <a:prstDash val="solid"/>
          </a:ln>
        </p:spPr>
      </p:sp>
      <p:sp>
        <p:nvSpPr>
          <p:cNvPr id="23" name="Shape 14"/>
          <p:cNvSpPr/>
          <p:nvPr/>
        </p:nvSpPr>
        <p:spPr>
          <a:xfrm>
            <a:off x="7406640" y="1325880"/>
            <a:ext cx="640080" cy="640080"/>
          </a:xfrm>
          <a:prstGeom prst="ellipse">
            <a:avLst/>
          </a:prstGeom>
          <a:solidFill>
            <a:schemeClr val="accent2"/>
          </a:solidFill>
          <a:ln w="12700">
            <a:solidFill>
              <a:schemeClr val="accent2"/>
            </a:solidFill>
            <a:prstDash val="solid"/>
          </a:ln>
        </p:spPr>
      </p:sp>
      <p:pic>
        <p:nvPicPr>
          <p:cNvPr id="24" name="Image 6" descr="preencoded.png">    </p:cNvPr>
          <p:cNvPicPr>
            <a:picLocks noChangeAspect="1"/>
          </p:cNvPicPr>
          <p:nvPr/>
        </p:nvPicPr>
        <p:blipFill>
          <a:blip r:embed="rId7"/>
          <a:stretch>
            <a:fillRect/>
          </a:stretch>
        </p:blipFill>
        <p:spPr>
          <a:xfrm>
            <a:off x="7566660" y="1485900"/>
            <a:ext cx="320040" cy="320040"/>
          </a:xfrm>
          <a:prstGeom prst="rect">
            <a:avLst/>
          </a:prstGeom>
        </p:spPr>
      </p:pic>
      <p:sp>
        <p:nvSpPr>
          <p:cNvPr id="25" name="Text 15"/>
          <p:cNvSpPr txBox="1"/>
          <p:nvPr/>
        </p:nvSpPr>
        <p:spPr>
          <a:xfrm>
            <a:off x="6858000" y="2103120"/>
            <a:ext cx="1737360" cy="320040"/>
          </a:xfrm>
          <a:prstGeom prst="rect">
            <a:avLst/>
          </a:prstGeom>
          <a:noFill/>
          <a:ln/>
        </p:spPr>
        <p:txBody>
          <a:bodyPr wrap="square" lIns="0" tIns="0" rIns="0" bIns="0" rtlCol="0" anchor="t"/>
          <a:lstStyle/>
          <a:p>
            <a:pPr algn="ctr" indent="0" marL="0">
              <a:buNone/>
            </a:pPr>
            <a:r>
              <a:rPr lang="en-US" sz="1500" b="1" dirty="0">
                <a:solidFill>
                  <a:schemeClr val="tx1"/>
                </a:solidFill>
              </a:rPr>
              <a:t>4. Editor</a:t>
            </a:r>
            <a:endParaRPr lang="en-US" sz="1500" dirty="0"/>
          </a:p>
        </p:txBody>
      </p:sp>
      <p:sp>
        <p:nvSpPr>
          <p:cNvPr id="26" name="Text 16"/>
          <p:cNvSpPr txBox="1"/>
          <p:nvPr/>
        </p:nvSpPr>
        <p:spPr>
          <a:xfrm>
            <a:off x="6903720" y="2450592"/>
            <a:ext cx="1645920" cy="731520"/>
          </a:xfrm>
          <a:prstGeom prst="rect">
            <a:avLst/>
          </a:prstGeom>
          <a:noFill/>
          <a:ln/>
        </p:spPr>
        <p:txBody>
          <a:bodyPr wrap="square" lIns="0" tIns="0" rIns="0" bIns="0" rtlCol="0" anchor="t"/>
          <a:lstStyle/>
          <a:p>
            <a:pPr algn="ctr" indent="0" marL="0">
              <a:buNone/>
            </a:pPr>
            <a:r>
              <a:rPr lang="en-US" sz="1100" dirty="0">
                <a:solidFill>
                  <a:schemeClr val="tx2"/>
                </a:solidFill>
              </a:rPr>
              <a:t>Pasang VS Code + ekstensi Python, atau gunakan Jupyter</a:t>
            </a:r>
            <a:endParaRPr lang="en-US" sz="1100" dirty="0"/>
          </a:p>
        </p:txBody>
      </p:sp>
      <p:sp>
        <p:nvSpPr>
          <p:cNvPr id="27" name="Kode terminal"/>
          <p:cNvSpPr/>
          <p:nvPr/>
        </p:nvSpPr>
        <p:spPr>
          <a:xfrm>
            <a:off x="457200" y="3474720"/>
            <a:ext cx="3931920" cy="1051560"/>
          </a:xfrm>
          <a:prstGeom prst="roundRect">
            <a:avLst>
              <a:gd name="adj" fmla="val 6957"/>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28" name="Shape 18"/>
          <p:cNvSpPr/>
          <p:nvPr/>
        </p:nvSpPr>
        <p:spPr>
          <a:xfrm>
            <a:off x="594360" y="3593592"/>
            <a:ext cx="91440" cy="91440"/>
          </a:xfrm>
          <a:prstGeom prst="ellipse">
            <a:avLst/>
          </a:prstGeom>
          <a:solidFill>
            <a:srgbClr val="E2614B"/>
          </a:solidFill>
          <a:ln w="12700">
            <a:solidFill>
              <a:srgbClr val="E2614B"/>
            </a:solidFill>
            <a:prstDash val="solid"/>
          </a:ln>
        </p:spPr>
      </p:sp>
      <p:sp>
        <p:nvSpPr>
          <p:cNvPr id="29" name="Shape 19"/>
          <p:cNvSpPr/>
          <p:nvPr/>
        </p:nvSpPr>
        <p:spPr>
          <a:xfrm>
            <a:off x="749808" y="3593592"/>
            <a:ext cx="91440" cy="91440"/>
          </a:xfrm>
          <a:prstGeom prst="ellipse">
            <a:avLst/>
          </a:prstGeom>
          <a:solidFill>
            <a:srgbClr val="FFD43B"/>
          </a:solidFill>
          <a:ln w="12700">
            <a:solidFill>
              <a:srgbClr val="FFD43B"/>
            </a:solidFill>
            <a:prstDash val="solid"/>
          </a:ln>
        </p:spPr>
      </p:sp>
      <p:sp>
        <p:nvSpPr>
          <p:cNvPr id="30" name="Shape 20"/>
          <p:cNvSpPr/>
          <p:nvPr/>
        </p:nvSpPr>
        <p:spPr>
          <a:xfrm>
            <a:off x="905256" y="3593592"/>
            <a:ext cx="91440" cy="91440"/>
          </a:xfrm>
          <a:prstGeom prst="ellipse">
            <a:avLst/>
          </a:prstGeom>
          <a:solidFill>
            <a:srgbClr val="2E9E6A"/>
          </a:solidFill>
          <a:ln w="12700">
            <a:solidFill>
              <a:srgbClr val="2E9E6A"/>
            </a:solidFill>
            <a:prstDash val="solid"/>
          </a:ln>
        </p:spPr>
      </p:sp>
      <p:sp>
        <p:nvSpPr>
          <p:cNvPr id="31" name="Text 21"/>
          <p:cNvSpPr txBox="1"/>
          <p:nvPr/>
        </p:nvSpPr>
        <p:spPr>
          <a:xfrm>
            <a:off x="1097280" y="3529584"/>
            <a:ext cx="310896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terminal</a:t>
            </a:r>
            <a:endParaRPr lang="en-US" sz="900" dirty="0"/>
          </a:p>
        </p:txBody>
      </p:sp>
      <p:sp>
        <p:nvSpPr>
          <p:cNvPr id="32" name="Text 22"/>
          <p:cNvSpPr txBox="1"/>
          <p:nvPr/>
        </p:nvSpPr>
        <p:spPr>
          <a:xfrm>
            <a:off x="594360" y="3822192"/>
            <a:ext cx="3657600" cy="612648"/>
          </a:xfrm>
          <a:prstGeom prst="rect">
            <a:avLst/>
          </a:prstGeom>
          <a:noFill/>
          <a:ln/>
        </p:spPr>
        <p:txBody>
          <a:bodyPr wrap="square" lIns="0" tIns="0" rIns="0" bIns="0" rtlCol="0" anchor="t"/>
          <a:lstStyle/>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python</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version</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Python</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3</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x</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x</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pip</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version</a:t>
            </a:r>
            <a:endParaRPr lang="en-US" sz="1200" dirty="0"/>
          </a:p>
        </p:txBody>
      </p:sp>
      <p:sp>
        <p:nvSpPr>
          <p:cNvPr id="33" name="Shape 23"/>
          <p:cNvSpPr/>
          <p:nvPr/>
        </p:nvSpPr>
        <p:spPr>
          <a:xfrm>
            <a:off x="4572000" y="3474720"/>
            <a:ext cx="4114800" cy="1051560"/>
          </a:xfrm>
          <a:prstGeom prst="roundRect">
            <a:avLst>
              <a:gd name="adj" fmla="val 6957"/>
            </a:avLst>
          </a:prstGeom>
          <a:solidFill>
            <a:schemeClr val="bg2"/>
          </a:solidFill>
          <a:ln w="12700">
            <a:solidFill>
              <a:schemeClr val="bg2"/>
            </a:solidFill>
            <a:prstDash val="solid"/>
          </a:ln>
        </p:spPr>
      </p:sp>
      <p:sp>
        <p:nvSpPr>
          <p:cNvPr id="34" name="Text 24"/>
          <p:cNvSpPr txBox="1"/>
          <p:nvPr/>
        </p:nvSpPr>
        <p:spPr>
          <a:xfrm>
            <a:off x="4754880" y="3566160"/>
            <a:ext cx="3749040" cy="868680"/>
          </a:xfrm>
          <a:prstGeom prst="rect">
            <a:avLst/>
          </a:prstGeom>
          <a:noFill/>
          <a:ln/>
        </p:spPr>
        <p:txBody>
          <a:bodyPr wrap="square" lIns="0" tIns="0" rIns="0" bIns="0" rtlCol="0" anchor="ctr"/>
          <a:lstStyle/>
          <a:p>
            <a:pPr indent="0" marL="0">
              <a:buNone/>
            </a:pPr>
            <a:r>
              <a:rPr lang="en-US" sz="1200" b="1" dirty="0">
                <a:solidFill>
                  <a:schemeClr val="accent1"/>
                </a:solidFill>
              </a:rPr>
              <a:t>Pilihan editor: </a:t>
            </a:r>
            <a:endParaRPr lang="en-US" sz="1200" dirty="0"/>
          </a:p>
          <a:p>
            <a:pPr indent="0" marL="0">
              <a:buNone/>
            </a:pPr>
            <a:r>
              <a:rPr lang="en-US" sz="1200" dirty="0">
                <a:solidFill>
                  <a:schemeClr val="tx1"/>
                </a:solidFill>
              </a:rPr>
              <a:t>VS Code, PyCharm, Jupyter Notebook, Thonny (untuk pemula), atau Google Colab di browser tanpa instalasi.</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Program Pertama: Hello, World!</a:t>
            </a:r>
            <a:endParaRPr lang="en-US" sz="2800" dirty="0"/>
          </a:p>
        </p:txBody>
      </p:sp>
      <p:sp>
        <p:nvSpPr>
          <p:cNvPr id="4" name="Kode hello.py"/>
          <p:cNvSpPr/>
          <p:nvPr/>
        </p:nvSpPr>
        <p:spPr>
          <a:xfrm>
            <a:off x="457200" y="1143000"/>
            <a:ext cx="4937760" cy="2286000"/>
          </a:xfrm>
          <a:prstGeom prst="roundRect">
            <a:avLst>
              <a:gd name="adj" fmla="val 3200"/>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11480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hello.py</a:t>
            </a:r>
            <a:endParaRPr lang="en-US" sz="900" dirty="0"/>
          </a:p>
        </p:txBody>
      </p:sp>
      <p:sp>
        <p:nvSpPr>
          <p:cNvPr id="9" name="Text 6"/>
          <p:cNvSpPr txBox="1"/>
          <p:nvPr/>
        </p:nvSpPr>
        <p:spPr>
          <a:xfrm>
            <a:off x="594360" y="1490472"/>
            <a:ext cx="4663440" cy="1847088"/>
          </a:xfrm>
          <a:prstGeom prst="rect">
            <a:avLst/>
          </a:prstGeom>
          <a:noFill/>
          <a:ln/>
        </p:spPr>
        <p:txBody>
          <a:bodyPr wrap="square" lIns="0" tIns="0" rIns="0" bIns="0" rtlCol="0" anchor="t"/>
          <a:lstStyle/>
          <a:p>
            <a:pPr indent="0" marL="0">
              <a:lnSpc>
                <a:spcPct val="105000"/>
              </a:lnSpc>
              <a:buNone/>
            </a:pPr>
            <a:r>
              <a:rPr lang="en-US" sz="1300" dirty="0">
                <a:solidFill>
                  <a:srgbClr val="7F8C9A"/>
                </a:solidFill>
                <a:latin typeface="Courier New" pitchFamily="34" charset="0"/>
                <a:ea typeface="Courier New" pitchFamily="34" charset="-122"/>
                <a:cs typeface="Courier New" pitchFamily="34" charset="-120"/>
              </a:rPr>
              <a:t># Program pertama saya</a:t>
            </a:r>
            <a:endParaRPr lang="en-US" sz="1300" dirty="0"/>
          </a:p>
          <a:p>
            <a:pPr indent="0" marL="0">
              <a:lnSpc>
                <a:spcPct val="105000"/>
              </a:lnSpc>
              <a:buNone/>
            </a:pPr>
            <a:r>
              <a:rPr lang="en-US" sz="13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C3E88D"/>
                </a:solidFill>
                <a:latin typeface="Courier New" pitchFamily="34" charset="0"/>
                <a:ea typeface="Courier New" pitchFamily="34" charset="-122"/>
                <a:cs typeface="Courier New" pitchFamily="34" charset="-120"/>
              </a:rPr>
              <a:t>"Hello, World!"</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C3E88D"/>
                </a:solidFill>
                <a:latin typeface="Courier New" pitchFamily="34" charset="0"/>
                <a:ea typeface="Courier New" pitchFamily="34" charset="-122"/>
                <a:cs typeface="Courier New" pitchFamily="34" charset="-120"/>
              </a:rPr>
              <a:t>"Halo, saya sedang belajar Python"</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C3E88D"/>
                </a:solidFill>
                <a:latin typeface="Courier New" pitchFamily="34" charset="0"/>
                <a:ea typeface="Courier New" pitchFamily="34" charset="-122"/>
                <a:cs typeface="Courier New" pitchFamily="34" charset="-120"/>
              </a:rPr>
              <a:t>"Budi"</a:t>
            </a:r>
            <a:endParaRPr lang="en-US" sz="1300" dirty="0"/>
          </a:p>
          <a:p>
            <a:pPr indent="0" marL="0">
              <a:lnSpc>
                <a:spcPct val="105000"/>
              </a:lnSpc>
              <a:buNone/>
            </a:pPr>
            <a:r>
              <a:rPr lang="en-US" sz="13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C3E88D"/>
                </a:solidFill>
                <a:latin typeface="Courier New" pitchFamily="34" charset="0"/>
                <a:ea typeface="Courier New" pitchFamily="34" charset="-122"/>
                <a:cs typeface="Courier New" pitchFamily="34" charset="-120"/>
              </a:rPr>
              <a:t>"Selamat datang,"</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300" dirty="0">
                <a:solidFill>
                  <a:srgbClr val="D8DEE9"/>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457200" y="3611880"/>
            <a:ext cx="4937760" cy="914400"/>
          </a:xfrm>
          <a:prstGeom prst="roundRect">
            <a:avLst>
              <a:gd name="adj" fmla="val 6000"/>
            </a:avLst>
          </a:prstGeom>
          <a:solidFill>
            <a:schemeClr val="bg2"/>
          </a:solidFill>
          <a:ln w="12700">
            <a:solidFill>
              <a:schemeClr val="bg2"/>
            </a:solidFill>
            <a:prstDash val="solid"/>
          </a:ln>
        </p:spPr>
      </p:sp>
      <p:sp>
        <p:nvSpPr>
          <p:cNvPr id="11" name="Text 8"/>
          <p:cNvSpPr txBox="1"/>
          <p:nvPr/>
        </p:nvSpPr>
        <p:spPr>
          <a:xfrm>
            <a:off x="594360" y="3685032"/>
            <a:ext cx="4663440" cy="768096"/>
          </a:xfrm>
          <a:prstGeom prst="rect">
            <a:avLst/>
          </a:prstGeom>
          <a:noFill/>
          <a:ln/>
        </p:spPr>
        <p:txBody>
          <a:bodyPr wrap="square" lIns="0" tIns="0" rIns="0" bIns="0" rtlCol="0" anchor="t"/>
          <a:lstStyle/>
          <a:p>
            <a:pPr indent="0" marL="0">
              <a:buNone/>
            </a:pPr>
            <a:r>
              <a:rPr lang="en-US" sz="1000" b="1" dirty="0">
                <a:solidFill>
                  <a:schemeClr val="accent1"/>
                </a:solidFill>
              </a:rPr>
              <a:t>Output</a:t>
            </a:r>
            <a:endParaRPr lang="en-US" sz="1000" dirty="0"/>
          </a:p>
          <a:p>
            <a:pPr indent="0" marL="0">
              <a:buNone/>
            </a:pPr>
            <a:r>
              <a:rPr lang="en-US" sz="1100" dirty="0">
                <a:solidFill>
                  <a:schemeClr val="tx1"/>
                </a:solidFill>
                <a:latin typeface="Courier New" pitchFamily="34" charset="0"/>
                <a:ea typeface="Courier New" pitchFamily="34" charset="-122"/>
                <a:cs typeface="Courier New" pitchFamily="34" charset="-120"/>
              </a:rPr>
              <a:t>Hello, World!</a:t>
            </a:r>
            <a:endParaRPr lang="en-US" sz="1000" dirty="0"/>
          </a:p>
          <a:p>
            <a:pPr indent="0" marL="0">
              <a:buNone/>
            </a:pPr>
            <a:r>
              <a:rPr lang="en-US" sz="1100" dirty="0">
                <a:solidFill>
                  <a:schemeClr val="tx1"/>
                </a:solidFill>
                <a:latin typeface="Courier New" pitchFamily="34" charset="0"/>
                <a:ea typeface="Courier New" pitchFamily="34" charset="-122"/>
                <a:cs typeface="Courier New" pitchFamily="34" charset="-120"/>
              </a:rPr>
              <a:t>Halo, saya sedang belajar Python</a:t>
            </a:r>
            <a:endParaRPr lang="en-US" sz="1000" dirty="0"/>
          </a:p>
          <a:p>
            <a:pPr indent="0" marL="0">
              <a:buNone/>
            </a:pPr>
            <a:r>
              <a:rPr lang="en-US" sz="1100" dirty="0">
                <a:solidFill>
                  <a:schemeClr val="tx1"/>
                </a:solidFill>
                <a:latin typeface="Courier New" pitchFamily="34" charset="0"/>
                <a:ea typeface="Courier New" pitchFamily="34" charset="-122"/>
                <a:cs typeface="Courier New" pitchFamily="34" charset="-120"/>
              </a:rPr>
              <a:t>Selamat datang, Budi</a:t>
            </a:r>
            <a:endParaRPr lang="en-US" sz="1000" dirty="0"/>
          </a:p>
        </p:txBody>
      </p:sp>
      <p:sp>
        <p:nvSpPr>
          <p:cNvPr id="12" name="Shape 9"/>
          <p:cNvSpPr/>
          <p:nvPr/>
        </p:nvSpPr>
        <p:spPr>
          <a:xfrm>
            <a:off x="5760720" y="1188720"/>
            <a:ext cx="548640" cy="548640"/>
          </a:xfrm>
          <a:prstGeom prst="ellipse">
            <a:avLst/>
          </a:prstGeom>
          <a:solidFill>
            <a:schemeClr val="accent2"/>
          </a:solidFill>
          <a:ln w="12700">
            <a:solidFill>
              <a:schemeClr val="accent2"/>
            </a:solidFill>
            <a:prstDash val="solid"/>
          </a:ln>
        </p:spPr>
      </p:sp>
      <p:pic>
        <p:nvPicPr>
          <p:cNvPr id="13" name="Image 0" descr="preencoded.png">    </p:cNvPr>
          <p:cNvPicPr>
            <a:picLocks noChangeAspect="1"/>
          </p:cNvPicPr>
          <p:nvPr/>
        </p:nvPicPr>
        <p:blipFill>
          <a:blip r:embed="rId1"/>
          <a:stretch>
            <a:fillRect/>
          </a:stretch>
        </p:blipFill>
        <p:spPr>
          <a:xfrm>
            <a:off x="5897880" y="1325880"/>
            <a:ext cx="274320" cy="274320"/>
          </a:xfrm>
          <a:prstGeom prst="rect">
            <a:avLst/>
          </a:prstGeom>
        </p:spPr>
      </p:pic>
      <p:sp>
        <p:nvSpPr>
          <p:cNvPr id="14" name="Text 10"/>
          <p:cNvSpPr txBox="1"/>
          <p:nvPr/>
        </p:nvSpPr>
        <p:spPr>
          <a:xfrm>
            <a:off x="6446520" y="1207008"/>
            <a:ext cx="2240280" cy="274320"/>
          </a:xfrm>
          <a:prstGeom prst="rect">
            <a:avLst/>
          </a:prstGeom>
          <a:noFill/>
          <a:ln/>
        </p:spPr>
        <p:txBody>
          <a:bodyPr wrap="square" lIns="0" tIns="0" rIns="0" bIns="0" rtlCol="0" anchor="t"/>
          <a:lstStyle/>
          <a:p>
            <a:pPr indent="0" marL="0">
              <a:buNone/>
            </a:pPr>
            <a:r>
              <a:rPr lang="en-US" sz="1500" b="1" dirty="0">
                <a:solidFill>
                  <a:schemeClr val="tx1"/>
                </a:solidFill>
              </a:rPr>
              <a:t>Simpan file</a:t>
            </a:r>
            <a:endParaRPr lang="en-US" sz="1500" dirty="0"/>
          </a:p>
        </p:txBody>
      </p:sp>
      <p:sp>
        <p:nvSpPr>
          <p:cNvPr id="15" name="Text 11"/>
          <p:cNvSpPr txBox="1"/>
          <p:nvPr/>
        </p:nvSpPr>
        <p:spPr>
          <a:xfrm>
            <a:off x="6446520" y="1481328"/>
            <a:ext cx="2240280" cy="457200"/>
          </a:xfrm>
          <a:prstGeom prst="rect">
            <a:avLst/>
          </a:prstGeom>
          <a:noFill/>
          <a:ln/>
        </p:spPr>
        <p:txBody>
          <a:bodyPr wrap="square" lIns="0" tIns="0" rIns="0" bIns="0" rtlCol="0" anchor="t"/>
          <a:lstStyle/>
          <a:p>
            <a:pPr indent="0" marL="0">
              <a:buNone/>
            </a:pPr>
            <a:r>
              <a:rPr lang="en-US" sz="1200" dirty="0">
                <a:solidFill>
                  <a:schemeClr val="tx2"/>
                </a:solidFill>
              </a:rPr>
              <a:t>Beri nama hello.py</a:t>
            </a:r>
            <a:endParaRPr lang="en-US" sz="1200" dirty="0"/>
          </a:p>
        </p:txBody>
      </p:sp>
      <p:sp>
        <p:nvSpPr>
          <p:cNvPr id="16" name="Shape 12"/>
          <p:cNvSpPr/>
          <p:nvPr/>
        </p:nvSpPr>
        <p:spPr>
          <a:xfrm>
            <a:off x="5760720" y="2304288"/>
            <a:ext cx="548640" cy="548640"/>
          </a:xfrm>
          <a:prstGeom prst="ellipse">
            <a:avLst/>
          </a:prstGeom>
          <a:solidFill>
            <a:schemeClr val="accent2"/>
          </a:solidFill>
          <a:ln w="12700">
            <a:solidFill>
              <a:schemeClr val="accent2"/>
            </a:solidFill>
            <a:prstDash val="solid"/>
          </a:ln>
        </p:spPr>
      </p:sp>
      <p:pic>
        <p:nvPicPr>
          <p:cNvPr id="17" name="Image 1" descr="preencoded.png">    </p:cNvPr>
          <p:cNvPicPr>
            <a:picLocks noChangeAspect="1"/>
          </p:cNvPicPr>
          <p:nvPr/>
        </p:nvPicPr>
        <p:blipFill>
          <a:blip r:embed="rId2"/>
          <a:stretch>
            <a:fillRect/>
          </a:stretch>
        </p:blipFill>
        <p:spPr>
          <a:xfrm>
            <a:off x="5897880" y="2441448"/>
            <a:ext cx="274320" cy="274320"/>
          </a:xfrm>
          <a:prstGeom prst="rect">
            <a:avLst/>
          </a:prstGeom>
        </p:spPr>
      </p:pic>
      <p:sp>
        <p:nvSpPr>
          <p:cNvPr id="18" name="Text 13"/>
          <p:cNvSpPr txBox="1"/>
          <p:nvPr/>
        </p:nvSpPr>
        <p:spPr>
          <a:xfrm>
            <a:off x="6446520" y="2322576"/>
            <a:ext cx="2240280" cy="274320"/>
          </a:xfrm>
          <a:prstGeom prst="rect">
            <a:avLst/>
          </a:prstGeom>
          <a:noFill/>
          <a:ln/>
        </p:spPr>
        <p:txBody>
          <a:bodyPr wrap="square" lIns="0" tIns="0" rIns="0" bIns="0" rtlCol="0" anchor="t"/>
          <a:lstStyle/>
          <a:p>
            <a:pPr indent="0" marL="0">
              <a:buNone/>
            </a:pPr>
            <a:r>
              <a:rPr lang="en-US" sz="1500" b="1" dirty="0">
                <a:solidFill>
                  <a:schemeClr val="tx1"/>
                </a:solidFill>
              </a:rPr>
              <a:t>Jalankan</a:t>
            </a:r>
            <a:endParaRPr lang="en-US" sz="1500" dirty="0"/>
          </a:p>
        </p:txBody>
      </p:sp>
      <p:sp>
        <p:nvSpPr>
          <p:cNvPr id="19" name="Text 14"/>
          <p:cNvSpPr txBox="1"/>
          <p:nvPr/>
        </p:nvSpPr>
        <p:spPr>
          <a:xfrm>
            <a:off x="6446520" y="2596896"/>
            <a:ext cx="2240280" cy="457200"/>
          </a:xfrm>
          <a:prstGeom prst="rect">
            <a:avLst/>
          </a:prstGeom>
          <a:noFill/>
          <a:ln/>
        </p:spPr>
        <p:txBody>
          <a:bodyPr wrap="square" lIns="0" tIns="0" rIns="0" bIns="0" rtlCol="0" anchor="t"/>
          <a:lstStyle/>
          <a:p>
            <a:pPr indent="0" marL="0">
              <a:buNone/>
            </a:pPr>
            <a:r>
              <a:rPr lang="en-US" sz="1200" dirty="0">
                <a:solidFill>
                  <a:schemeClr val="tx2"/>
                </a:solidFill>
              </a:rPr>
              <a:t>python hello.py</a:t>
            </a:r>
            <a:endParaRPr lang="en-US" sz="1200" dirty="0"/>
          </a:p>
        </p:txBody>
      </p:sp>
      <p:sp>
        <p:nvSpPr>
          <p:cNvPr id="20" name="Shape 15"/>
          <p:cNvSpPr/>
          <p:nvPr/>
        </p:nvSpPr>
        <p:spPr>
          <a:xfrm>
            <a:off x="5760720" y="3419856"/>
            <a:ext cx="548640" cy="548640"/>
          </a:xfrm>
          <a:prstGeom prst="ellipse">
            <a:avLst/>
          </a:prstGeom>
          <a:solidFill>
            <a:schemeClr val="accent2"/>
          </a:solidFill>
          <a:ln w="12700">
            <a:solidFill>
              <a:schemeClr val="accent2"/>
            </a:solidFill>
            <a:prstDash val="solid"/>
          </a:ln>
        </p:spPr>
      </p:sp>
      <p:pic>
        <p:nvPicPr>
          <p:cNvPr id="21" name="Image 2" descr="preencoded.png">    </p:cNvPr>
          <p:cNvPicPr>
            <a:picLocks noChangeAspect="1"/>
          </p:cNvPicPr>
          <p:nvPr/>
        </p:nvPicPr>
        <p:blipFill>
          <a:blip r:embed="rId3"/>
          <a:stretch>
            <a:fillRect/>
          </a:stretch>
        </p:blipFill>
        <p:spPr>
          <a:xfrm>
            <a:off x="5897880" y="3557016"/>
            <a:ext cx="274320" cy="274320"/>
          </a:xfrm>
          <a:prstGeom prst="rect">
            <a:avLst/>
          </a:prstGeom>
        </p:spPr>
      </p:pic>
      <p:sp>
        <p:nvSpPr>
          <p:cNvPr id="22" name="Text 16"/>
          <p:cNvSpPr txBox="1"/>
          <p:nvPr/>
        </p:nvSpPr>
        <p:spPr>
          <a:xfrm>
            <a:off x="6446520" y="3438144"/>
            <a:ext cx="2240280" cy="274320"/>
          </a:xfrm>
          <a:prstGeom prst="rect">
            <a:avLst/>
          </a:prstGeom>
          <a:noFill/>
          <a:ln/>
        </p:spPr>
        <p:txBody>
          <a:bodyPr wrap="square" lIns="0" tIns="0" rIns="0" bIns="0" rtlCol="0" anchor="t"/>
          <a:lstStyle/>
          <a:p>
            <a:pPr indent="0" marL="0">
              <a:buNone/>
            </a:pPr>
            <a:r>
              <a:rPr lang="en-US" sz="1500" b="1" dirty="0">
                <a:solidFill>
                  <a:schemeClr val="tx1"/>
                </a:solidFill>
              </a:rPr>
              <a:t>Komentar</a:t>
            </a:r>
            <a:endParaRPr lang="en-US" sz="1500" dirty="0"/>
          </a:p>
        </p:txBody>
      </p:sp>
      <p:sp>
        <p:nvSpPr>
          <p:cNvPr id="23" name="Text 17"/>
          <p:cNvSpPr txBox="1"/>
          <p:nvPr/>
        </p:nvSpPr>
        <p:spPr>
          <a:xfrm>
            <a:off x="6446520" y="3712464"/>
            <a:ext cx="2240280" cy="457200"/>
          </a:xfrm>
          <a:prstGeom prst="rect">
            <a:avLst/>
          </a:prstGeom>
          <a:noFill/>
          <a:ln/>
        </p:spPr>
        <p:txBody>
          <a:bodyPr wrap="square" lIns="0" tIns="0" rIns="0" bIns="0" rtlCol="0" anchor="t"/>
          <a:lstStyle/>
          <a:p>
            <a:pPr indent="0" marL="0">
              <a:buNone/>
            </a:pPr>
            <a:r>
              <a:rPr lang="en-US" sz="1200" dirty="0">
                <a:solidFill>
                  <a:schemeClr val="tx2"/>
                </a:solidFill>
              </a:rPr>
              <a:t>Baris diawali # tidak dijalankan</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3</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Dasar Sintaks</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Variabel, tipe data, operator, input/output, kondisi, dan perulangan</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Variabel &amp; Tipe Data</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846320" cy="914400"/>
        </p:xfrm>
        <a:graphic>
          <a:graphicData uri="http://schemas.openxmlformats.org/drawingml/2006/table">
            <a:tbl>
              <a:tblPr/>
              <a:tblGrid>
                <a:gridCol w="1005840"/>
                <a:gridCol w="1828800"/>
                <a:gridCol w="2011680"/>
              </a:tblGrid>
              <a:tr h="402336">
                <a:tc>
                  <a:txBody>
                    <a:bodyPr/>
                    <a:lstStyle/>
                    <a:p>
                      <a:pPr indent="0" marL="0">
                        <a:buNone/>
                      </a:pPr>
                      <a:r>
                        <a:rPr lang="en-US" sz="1150" b="1" dirty="0">
                          <a:solidFill>
                            <a:schemeClr val="bg1"/>
                          </a:solidFill>
                        </a:rPr>
                        <a:t>Tipe</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Keterangan</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latin typeface="Courier New" pitchFamily="34" charset="0"/>
                          <a:ea typeface="Courier New" pitchFamily="34" charset="-122"/>
                          <a:cs typeface="Courier New" pitchFamily="34" charset="-120"/>
                        </a:rPr>
                        <a:t>Contoh</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accent1"/>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int</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Bilangan bulat</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umur = 17</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float</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Bilangan desimal</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tinggi = 165.5</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str</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Teks (string)</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nama = "Ani"</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bool</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Benar / salah</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lulus = True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list</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Kumpulan data berurutan</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nilai = [80, 90]</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dict</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Pasangan kunci : nilai</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{"nama": "Ani"}</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NoneType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Tidak ada nilai</a:t>
                      </a:r>
                      <a:endParaRPr lang="en-US" sz="1150" dirty="0"/>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data = None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5" name="Kode variabel.py"/>
          <p:cNvSpPr/>
          <p:nvPr/>
        </p:nvSpPr>
        <p:spPr>
          <a:xfrm>
            <a:off x="5577840" y="1143000"/>
            <a:ext cx="3108960" cy="3383280"/>
          </a:xfrm>
          <a:prstGeom prst="roundRect">
            <a:avLst>
              <a:gd name="adj" fmla="val 2353"/>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6" name="Shape 2"/>
          <p:cNvSpPr/>
          <p:nvPr/>
        </p:nvSpPr>
        <p:spPr>
          <a:xfrm>
            <a:off x="5715000" y="1261872"/>
            <a:ext cx="91440" cy="91440"/>
          </a:xfrm>
          <a:prstGeom prst="ellipse">
            <a:avLst/>
          </a:prstGeom>
          <a:solidFill>
            <a:srgbClr val="E2614B"/>
          </a:solidFill>
          <a:ln w="12700">
            <a:solidFill>
              <a:srgbClr val="E2614B"/>
            </a:solidFill>
            <a:prstDash val="solid"/>
          </a:ln>
        </p:spPr>
      </p:sp>
      <p:sp>
        <p:nvSpPr>
          <p:cNvPr id="7" name="Shape 3"/>
          <p:cNvSpPr/>
          <p:nvPr/>
        </p:nvSpPr>
        <p:spPr>
          <a:xfrm>
            <a:off x="5870448" y="1261872"/>
            <a:ext cx="91440" cy="91440"/>
          </a:xfrm>
          <a:prstGeom prst="ellipse">
            <a:avLst/>
          </a:prstGeom>
          <a:solidFill>
            <a:srgbClr val="FFD43B"/>
          </a:solidFill>
          <a:ln w="12700">
            <a:solidFill>
              <a:srgbClr val="FFD43B"/>
            </a:solidFill>
            <a:prstDash val="solid"/>
          </a:ln>
        </p:spPr>
      </p:sp>
      <p:sp>
        <p:nvSpPr>
          <p:cNvPr id="8" name="Shape 4"/>
          <p:cNvSpPr/>
          <p:nvPr/>
        </p:nvSpPr>
        <p:spPr>
          <a:xfrm>
            <a:off x="6025896" y="1261872"/>
            <a:ext cx="91440" cy="91440"/>
          </a:xfrm>
          <a:prstGeom prst="ellipse">
            <a:avLst/>
          </a:prstGeom>
          <a:solidFill>
            <a:srgbClr val="2E9E6A"/>
          </a:solidFill>
          <a:ln w="12700">
            <a:solidFill>
              <a:srgbClr val="2E9E6A"/>
            </a:solidFill>
            <a:prstDash val="solid"/>
          </a:ln>
        </p:spPr>
      </p:sp>
      <p:sp>
        <p:nvSpPr>
          <p:cNvPr id="9" name="Text 5"/>
          <p:cNvSpPr txBox="1"/>
          <p:nvPr/>
        </p:nvSpPr>
        <p:spPr>
          <a:xfrm>
            <a:off x="6217920" y="1197864"/>
            <a:ext cx="228600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variabel.py</a:t>
            </a:r>
            <a:endParaRPr lang="en-US" sz="900" dirty="0"/>
          </a:p>
        </p:txBody>
      </p:sp>
      <p:sp>
        <p:nvSpPr>
          <p:cNvPr id="10" name="Text 6"/>
          <p:cNvSpPr txBox="1"/>
          <p:nvPr/>
        </p:nvSpPr>
        <p:spPr>
          <a:xfrm>
            <a:off x="5715000" y="1490472"/>
            <a:ext cx="2834640" cy="2944368"/>
          </a:xfrm>
          <a:prstGeom prst="rect">
            <a:avLst/>
          </a:prstGeom>
          <a:noFill/>
          <a:ln/>
        </p:spPr>
        <p:txBody>
          <a:bodyPr wrap="square" lIns="0" tIns="0" rIns="0" bIns="0" rtlCol="0" anchor="t"/>
          <a:lstStyle/>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umur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17</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tinggi</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165.5</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"Ani"</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lulus</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True</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type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umur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type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konversi tipe</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angka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"25"</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teks</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str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3.14</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Operator dalam Python</a:t>
            </a:r>
            <a:endParaRPr lang="en-US" sz="2800" dirty="0"/>
          </a:p>
        </p:txBody>
      </p:sp>
      <p:sp>
        <p:nvSpPr>
          <p:cNvPr id="4" name="Shape 1"/>
          <p:cNvSpPr/>
          <p:nvPr/>
        </p:nvSpPr>
        <p:spPr>
          <a:xfrm>
            <a:off x="457200" y="1143000"/>
            <a:ext cx="1920240" cy="2011680"/>
          </a:xfrm>
          <a:prstGeom prst="roundRect">
            <a:avLst>
              <a:gd name="adj" fmla="val 3810"/>
            </a:avLst>
          </a:prstGeom>
          <a:solidFill>
            <a:schemeClr val="bg2"/>
          </a:solidFill>
          <a:ln w="12700">
            <a:solidFill>
              <a:schemeClr val="bg2"/>
            </a:solidFill>
            <a:prstDash val="solid"/>
          </a:ln>
        </p:spPr>
      </p:sp>
      <p:sp>
        <p:nvSpPr>
          <p:cNvPr id="5" name="Shape 2"/>
          <p:cNvSpPr/>
          <p:nvPr/>
        </p:nvSpPr>
        <p:spPr>
          <a:xfrm>
            <a:off x="640080" y="1298448"/>
            <a:ext cx="457200" cy="4572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54380" y="1412748"/>
            <a:ext cx="228600" cy="228600"/>
          </a:xfrm>
          <a:prstGeom prst="rect">
            <a:avLst/>
          </a:prstGeom>
        </p:spPr>
      </p:pic>
      <p:sp>
        <p:nvSpPr>
          <p:cNvPr id="7" name="Text 3"/>
          <p:cNvSpPr txBox="1"/>
          <p:nvPr/>
        </p:nvSpPr>
        <p:spPr>
          <a:xfrm>
            <a:off x="1188720" y="1344168"/>
            <a:ext cx="1143000" cy="365760"/>
          </a:xfrm>
          <a:prstGeom prst="rect">
            <a:avLst/>
          </a:prstGeom>
          <a:noFill/>
          <a:ln/>
        </p:spPr>
        <p:txBody>
          <a:bodyPr wrap="square" lIns="0" tIns="0" rIns="0" bIns="0" rtlCol="0" anchor="ctr"/>
          <a:lstStyle/>
          <a:p>
            <a:pPr indent="0" marL="0">
              <a:buNone/>
            </a:pPr>
            <a:r>
              <a:rPr lang="en-US" sz="1400" b="1" dirty="0">
                <a:solidFill>
                  <a:schemeClr val="tx1"/>
                </a:solidFill>
              </a:rPr>
              <a:t>Aritmatika</a:t>
            </a:r>
            <a:endParaRPr lang="en-US" sz="1400" dirty="0"/>
          </a:p>
        </p:txBody>
      </p:sp>
      <p:sp>
        <p:nvSpPr>
          <p:cNvPr id="8" name="Text 4"/>
          <p:cNvSpPr txBox="1"/>
          <p:nvPr/>
        </p:nvSpPr>
        <p:spPr>
          <a:xfrm>
            <a:off x="640080" y="1920240"/>
            <a:ext cx="1645920" cy="11430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  *  /</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(bagi bulat)</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(sisa bagi)</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(pangkat)</a:t>
            </a:r>
            <a:endParaRPr lang="en-US" sz="1300" dirty="0"/>
          </a:p>
        </p:txBody>
      </p:sp>
      <p:sp>
        <p:nvSpPr>
          <p:cNvPr id="9" name="Shape 5"/>
          <p:cNvSpPr/>
          <p:nvPr/>
        </p:nvSpPr>
        <p:spPr>
          <a:xfrm>
            <a:off x="2560320" y="1143000"/>
            <a:ext cx="1920240" cy="2011680"/>
          </a:xfrm>
          <a:prstGeom prst="roundRect">
            <a:avLst>
              <a:gd name="adj" fmla="val 3810"/>
            </a:avLst>
          </a:prstGeom>
          <a:solidFill>
            <a:schemeClr val="bg2"/>
          </a:solidFill>
          <a:ln w="12700">
            <a:solidFill>
              <a:schemeClr val="bg2"/>
            </a:solidFill>
            <a:prstDash val="solid"/>
          </a:ln>
        </p:spPr>
      </p:sp>
      <p:sp>
        <p:nvSpPr>
          <p:cNvPr id="10" name="Shape 6"/>
          <p:cNvSpPr/>
          <p:nvPr/>
        </p:nvSpPr>
        <p:spPr>
          <a:xfrm>
            <a:off x="2743200" y="1298448"/>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2857500" y="1412748"/>
            <a:ext cx="228600" cy="228600"/>
          </a:xfrm>
          <a:prstGeom prst="rect">
            <a:avLst/>
          </a:prstGeom>
        </p:spPr>
      </p:pic>
      <p:sp>
        <p:nvSpPr>
          <p:cNvPr id="12" name="Text 7"/>
          <p:cNvSpPr txBox="1"/>
          <p:nvPr/>
        </p:nvSpPr>
        <p:spPr>
          <a:xfrm>
            <a:off x="3291840" y="1344168"/>
            <a:ext cx="1143000" cy="365760"/>
          </a:xfrm>
          <a:prstGeom prst="rect">
            <a:avLst/>
          </a:prstGeom>
          <a:noFill/>
          <a:ln/>
        </p:spPr>
        <p:txBody>
          <a:bodyPr wrap="square" lIns="0" tIns="0" rIns="0" bIns="0" rtlCol="0" anchor="ctr"/>
          <a:lstStyle/>
          <a:p>
            <a:pPr indent="0" marL="0">
              <a:buNone/>
            </a:pPr>
            <a:r>
              <a:rPr lang="en-US" sz="1400" b="1" dirty="0">
                <a:solidFill>
                  <a:schemeClr val="tx1"/>
                </a:solidFill>
              </a:rPr>
              <a:t>Perbandingan</a:t>
            </a:r>
            <a:endParaRPr lang="en-US" sz="1400" dirty="0"/>
          </a:p>
        </p:txBody>
      </p:sp>
      <p:sp>
        <p:nvSpPr>
          <p:cNvPr id="13" name="Text 8"/>
          <p:cNvSpPr txBox="1"/>
          <p:nvPr/>
        </p:nvSpPr>
        <p:spPr>
          <a:xfrm>
            <a:off x="2743200" y="1920240"/>
            <a:ext cx="1645920" cy="11430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&gt;  &lt;</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&gt;=  &lt;=</a:t>
            </a:r>
            <a:endParaRPr lang="en-US" sz="1300" dirty="0"/>
          </a:p>
        </p:txBody>
      </p:sp>
      <p:sp>
        <p:nvSpPr>
          <p:cNvPr id="14" name="Shape 9"/>
          <p:cNvSpPr/>
          <p:nvPr/>
        </p:nvSpPr>
        <p:spPr>
          <a:xfrm>
            <a:off x="4663440" y="1143000"/>
            <a:ext cx="1920240" cy="2011680"/>
          </a:xfrm>
          <a:prstGeom prst="roundRect">
            <a:avLst>
              <a:gd name="adj" fmla="val 3810"/>
            </a:avLst>
          </a:prstGeom>
          <a:solidFill>
            <a:schemeClr val="bg2"/>
          </a:solidFill>
          <a:ln w="12700">
            <a:solidFill>
              <a:schemeClr val="bg2"/>
            </a:solidFill>
            <a:prstDash val="solid"/>
          </a:ln>
        </p:spPr>
      </p:sp>
      <p:sp>
        <p:nvSpPr>
          <p:cNvPr id="15" name="Shape 10"/>
          <p:cNvSpPr/>
          <p:nvPr/>
        </p:nvSpPr>
        <p:spPr>
          <a:xfrm>
            <a:off x="4846320" y="1298448"/>
            <a:ext cx="457200" cy="4572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4960620" y="1412748"/>
            <a:ext cx="228600" cy="228600"/>
          </a:xfrm>
          <a:prstGeom prst="rect">
            <a:avLst/>
          </a:prstGeom>
        </p:spPr>
      </p:pic>
      <p:sp>
        <p:nvSpPr>
          <p:cNvPr id="17" name="Text 11"/>
          <p:cNvSpPr txBox="1"/>
          <p:nvPr/>
        </p:nvSpPr>
        <p:spPr>
          <a:xfrm>
            <a:off x="5394960" y="1344168"/>
            <a:ext cx="1143000" cy="365760"/>
          </a:xfrm>
          <a:prstGeom prst="rect">
            <a:avLst/>
          </a:prstGeom>
          <a:noFill/>
          <a:ln/>
        </p:spPr>
        <p:txBody>
          <a:bodyPr wrap="square" lIns="0" tIns="0" rIns="0" bIns="0" rtlCol="0" anchor="ctr"/>
          <a:lstStyle/>
          <a:p>
            <a:pPr indent="0" marL="0">
              <a:buNone/>
            </a:pPr>
            <a:r>
              <a:rPr lang="en-US" sz="1400" b="1" dirty="0">
                <a:solidFill>
                  <a:schemeClr val="tx1"/>
                </a:solidFill>
              </a:rPr>
              <a:t>Logika</a:t>
            </a:r>
            <a:endParaRPr lang="en-US" sz="1400" dirty="0"/>
          </a:p>
        </p:txBody>
      </p:sp>
      <p:sp>
        <p:nvSpPr>
          <p:cNvPr id="18" name="Text 12"/>
          <p:cNvSpPr txBox="1"/>
          <p:nvPr/>
        </p:nvSpPr>
        <p:spPr>
          <a:xfrm>
            <a:off x="4846320" y="1920240"/>
            <a:ext cx="1645920" cy="11430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and</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or</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not</a:t>
            </a:r>
            <a:endParaRPr lang="en-US" sz="1300" dirty="0"/>
          </a:p>
        </p:txBody>
      </p:sp>
      <p:sp>
        <p:nvSpPr>
          <p:cNvPr id="19" name="Shape 13"/>
          <p:cNvSpPr/>
          <p:nvPr/>
        </p:nvSpPr>
        <p:spPr>
          <a:xfrm>
            <a:off x="6766560" y="1143000"/>
            <a:ext cx="1920240" cy="2011680"/>
          </a:xfrm>
          <a:prstGeom prst="roundRect">
            <a:avLst>
              <a:gd name="adj" fmla="val 3810"/>
            </a:avLst>
          </a:prstGeom>
          <a:solidFill>
            <a:schemeClr val="bg2"/>
          </a:solidFill>
          <a:ln w="12700">
            <a:solidFill>
              <a:schemeClr val="bg2"/>
            </a:solidFill>
            <a:prstDash val="solid"/>
          </a:ln>
        </p:spPr>
      </p:sp>
      <p:sp>
        <p:nvSpPr>
          <p:cNvPr id="20" name="Shape 14"/>
          <p:cNvSpPr/>
          <p:nvPr/>
        </p:nvSpPr>
        <p:spPr>
          <a:xfrm>
            <a:off x="6949440" y="1298448"/>
            <a:ext cx="457200" cy="4572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7063740" y="1412748"/>
            <a:ext cx="228600" cy="228600"/>
          </a:xfrm>
          <a:prstGeom prst="rect">
            <a:avLst/>
          </a:prstGeom>
        </p:spPr>
      </p:pic>
      <p:sp>
        <p:nvSpPr>
          <p:cNvPr id="22" name="Text 15"/>
          <p:cNvSpPr txBox="1"/>
          <p:nvPr/>
        </p:nvSpPr>
        <p:spPr>
          <a:xfrm>
            <a:off x="7498080" y="1344168"/>
            <a:ext cx="1143000" cy="365760"/>
          </a:xfrm>
          <a:prstGeom prst="rect">
            <a:avLst/>
          </a:prstGeom>
          <a:noFill/>
          <a:ln/>
        </p:spPr>
        <p:txBody>
          <a:bodyPr wrap="square" lIns="0" tIns="0" rIns="0" bIns="0" rtlCol="0" anchor="ctr"/>
          <a:lstStyle/>
          <a:p>
            <a:pPr indent="0" marL="0">
              <a:buNone/>
            </a:pPr>
            <a:r>
              <a:rPr lang="en-US" sz="1400" b="1" dirty="0">
                <a:solidFill>
                  <a:schemeClr val="tx1"/>
                </a:solidFill>
              </a:rPr>
              <a:t>Penugasan</a:t>
            </a:r>
            <a:endParaRPr lang="en-US" sz="1400" dirty="0"/>
          </a:p>
        </p:txBody>
      </p:sp>
      <p:sp>
        <p:nvSpPr>
          <p:cNvPr id="23" name="Text 16"/>
          <p:cNvSpPr txBox="1"/>
          <p:nvPr/>
        </p:nvSpPr>
        <p:spPr>
          <a:xfrm>
            <a:off x="6949440" y="1920240"/>
            <a:ext cx="1645920" cy="11430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  -=</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a:t>
            </a:r>
            <a:endParaRPr lang="en-US" sz="1300" dirty="0"/>
          </a:p>
        </p:txBody>
      </p:sp>
      <p:sp>
        <p:nvSpPr>
          <p:cNvPr id="24" name="Kode operator.py"/>
          <p:cNvSpPr/>
          <p:nvPr/>
        </p:nvSpPr>
        <p:spPr>
          <a:xfrm>
            <a:off x="457200" y="3337560"/>
            <a:ext cx="8229600" cy="1188720"/>
          </a:xfrm>
          <a:prstGeom prst="roundRect">
            <a:avLst>
              <a:gd name="adj" fmla="val 6154"/>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25" name="Shape 18"/>
          <p:cNvSpPr/>
          <p:nvPr/>
        </p:nvSpPr>
        <p:spPr>
          <a:xfrm>
            <a:off x="594360" y="3456432"/>
            <a:ext cx="91440" cy="91440"/>
          </a:xfrm>
          <a:prstGeom prst="ellipse">
            <a:avLst/>
          </a:prstGeom>
          <a:solidFill>
            <a:srgbClr val="E2614B"/>
          </a:solidFill>
          <a:ln w="12700">
            <a:solidFill>
              <a:srgbClr val="E2614B"/>
            </a:solidFill>
            <a:prstDash val="solid"/>
          </a:ln>
        </p:spPr>
      </p:sp>
      <p:sp>
        <p:nvSpPr>
          <p:cNvPr id="26" name="Shape 19"/>
          <p:cNvSpPr/>
          <p:nvPr/>
        </p:nvSpPr>
        <p:spPr>
          <a:xfrm>
            <a:off x="749808" y="3456432"/>
            <a:ext cx="91440" cy="91440"/>
          </a:xfrm>
          <a:prstGeom prst="ellipse">
            <a:avLst/>
          </a:prstGeom>
          <a:solidFill>
            <a:srgbClr val="FFD43B"/>
          </a:solidFill>
          <a:ln w="12700">
            <a:solidFill>
              <a:srgbClr val="FFD43B"/>
            </a:solidFill>
            <a:prstDash val="solid"/>
          </a:ln>
        </p:spPr>
      </p:sp>
      <p:sp>
        <p:nvSpPr>
          <p:cNvPr id="27" name="Shape 20"/>
          <p:cNvSpPr/>
          <p:nvPr/>
        </p:nvSpPr>
        <p:spPr>
          <a:xfrm>
            <a:off x="905256" y="3456432"/>
            <a:ext cx="91440" cy="91440"/>
          </a:xfrm>
          <a:prstGeom prst="ellipse">
            <a:avLst/>
          </a:prstGeom>
          <a:solidFill>
            <a:srgbClr val="2E9E6A"/>
          </a:solidFill>
          <a:ln w="12700">
            <a:solidFill>
              <a:srgbClr val="2E9E6A"/>
            </a:solidFill>
            <a:prstDash val="solid"/>
          </a:ln>
        </p:spPr>
      </p:sp>
      <p:sp>
        <p:nvSpPr>
          <p:cNvPr id="28" name="Text 21"/>
          <p:cNvSpPr txBox="1"/>
          <p:nvPr/>
        </p:nvSpPr>
        <p:spPr>
          <a:xfrm>
            <a:off x="1097280" y="3392424"/>
            <a:ext cx="740664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operator.py</a:t>
            </a:r>
            <a:endParaRPr lang="en-US" sz="900" dirty="0"/>
          </a:p>
        </p:txBody>
      </p:sp>
      <p:sp>
        <p:nvSpPr>
          <p:cNvPr id="29" name="Text 22"/>
          <p:cNvSpPr txBox="1"/>
          <p:nvPr/>
        </p:nvSpPr>
        <p:spPr>
          <a:xfrm>
            <a:off x="594360" y="3685032"/>
            <a:ext cx="7955280" cy="749808"/>
          </a:xfrm>
          <a:prstGeom prst="rect">
            <a:avLst/>
          </a:prstGeom>
          <a:noFill/>
          <a:ln/>
        </p:spPr>
        <p:txBody>
          <a:bodyPr wrap="square" lIns="0" tIns="0" rIns="0" bIns="0" rtlCol="0" anchor="t"/>
          <a:lstStyle/>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17</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5</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3.4 3 2</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2</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3</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8</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and</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0</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True</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Input, Output &amp; f-string</a:t>
            </a:r>
            <a:endParaRPr lang="en-US" sz="2800" dirty="0"/>
          </a:p>
        </p:txBody>
      </p:sp>
      <p:sp>
        <p:nvSpPr>
          <p:cNvPr id="4" name="Kode io.py"/>
          <p:cNvSpPr/>
          <p:nvPr/>
        </p:nvSpPr>
        <p:spPr>
          <a:xfrm>
            <a:off x="457200" y="1143000"/>
            <a:ext cx="512064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2976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io.py</a:t>
            </a:r>
            <a:endParaRPr lang="en-US" sz="900" dirty="0"/>
          </a:p>
        </p:txBody>
      </p:sp>
      <p:sp>
        <p:nvSpPr>
          <p:cNvPr id="9" name="Text 6"/>
          <p:cNvSpPr txBox="1"/>
          <p:nvPr/>
        </p:nvSpPr>
        <p:spPr>
          <a:xfrm>
            <a:off x="594360" y="1490472"/>
            <a:ext cx="4846320" cy="2944368"/>
          </a:xfrm>
          <a:prstGeom prst="rect">
            <a:avLst/>
          </a:prstGeom>
          <a:noFill/>
          <a:ln/>
        </p:spPr>
        <p:txBody>
          <a:bodyPr wrap="square" lIns="0" tIns="0" rIns="0" bIns="0" rtlCol="0" anchor="t"/>
          <a:lstStyle/>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input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"Siapa namamu?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umur</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int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input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"Berapa umurmu?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7F8C9A"/>
                </a:solidFill>
                <a:latin typeface="Courier New" pitchFamily="34" charset="0"/>
                <a:ea typeface="Courier New" pitchFamily="34" charset="-122"/>
                <a:cs typeface="Courier New" pitchFamily="34" charset="-120"/>
              </a:rPr>
              <a:t># f-string: sisipkan variabel dalam {}</a:t>
            </a:r>
            <a:endParaRPr lang="en-US" sz="1250" dirty="0"/>
          </a:p>
          <a:p>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f"Halo {nama}, umurmu {umur} tahun"</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f"Tahun depan: {umur + 1} tahun"</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harga</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F78C6C"/>
                </a:solidFill>
                <a:latin typeface="Courier New" pitchFamily="34" charset="0"/>
                <a:ea typeface="Courier New" pitchFamily="34" charset="-122"/>
                <a:cs typeface="Courier New" pitchFamily="34" charset="-120"/>
              </a:rPr>
              <a:t>12500.756</a:t>
            </a:r>
            <a:endParaRPr lang="en-US" sz="1250" dirty="0"/>
          </a:p>
          <a:p>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f"Harga: Rp{harga:,.2f}"</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5852160" y="1143000"/>
            <a:ext cx="2834640" cy="1920240"/>
          </a:xfrm>
          <a:prstGeom prst="roundRect">
            <a:avLst>
              <a:gd name="adj" fmla="val 2857"/>
            </a:avLst>
          </a:prstGeom>
          <a:solidFill>
            <a:schemeClr val="bg2"/>
          </a:solidFill>
          <a:ln w="12700">
            <a:solidFill>
              <a:schemeClr val="bg2"/>
            </a:solidFill>
            <a:prstDash val="solid"/>
          </a:ln>
        </p:spPr>
      </p:sp>
      <p:sp>
        <p:nvSpPr>
          <p:cNvPr id="11" name="Text 8"/>
          <p:cNvSpPr txBox="1"/>
          <p:nvPr/>
        </p:nvSpPr>
        <p:spPr>
          <a:xfrm>
            <a:off x="5989320" y="1216152"/>
            <a:ext cx="2560320" cy="1773936"/>
          </a:xfrm>
          <a:prstGeom prst="rect">
            <a:avLst/>
          </a:prstGeom>
          <a:noFill/>
          <a:ln/>
        </p:spPr>
        <p:txBody>
          <a:bodyPr wrap="square" lIns="0" tIns="0" rIns="0" bIns="0" rtlCol="0" anchor="t"/>
          <a:lstStyle/>
          <a:p>
            <a:pPr indent="0" marL="0">
              <a:buNone/>
            </a:pPr>
            <a:r>
              <a:rPr lang="en-US" sz="1000" b="1" dirty="0">
                <a:solidFill>
                  <a:schemeClr val="accent1"/>
                </a:solidFill>
              </a:rPr>
              <a:t>Output</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Siapa namamu? Sari</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Berapa umurmu? 20</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Halo Sari, umurmu 20 tahun</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Tahun depan: 21 tahun</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Harga: Rp12,500.76</a:t>
            </a:r>
            <a:endParaRPr lang="en-US" sz="1000" dirty="0"/>
          </a:p>
        </p:txBody>
      </p:sp>
      <p:sp>
        <p:nvSpPr>
          <p:cNvPr id="12" name="Shape 9"/>
          <p:cNvSpPr/>
          <p:nvPr/>
        </p:nvSpPr>
        <p:spPr>
          <a:xfrm>
            <a:off x="5852160" y="3246120"/>
            <a:ext cx="2834640" cy="1280160"/>
          </a:xfrm>
          <a:prstGeom prst="roundRect">
            <a:avLst>
              <a:gd name="adj" fmla="val 5714"/>
            </a:avLst>
          </a:prstGeom>
          <a:solidFill>
            <a:schemeClr val="accent2"/>
          </a:solidFill>
          <a:ln w="12700">
            <a:solidFill>
              <a:schemeClr val="accent2"/>
            </a:solidFill>
            <a:prstDash val="solid"/>
          </a:ln>
        </p:spPr>
      </p:sp>
      <p:sp>
        <p:nvSpPr>
          <p:cNvPr id="13" name="Text 10"/>
          <p:cNvSpPr txBox="1"/>
          <p:nvPr/>
        </p:nvSpPr>
        <p:spPr>
          <a:xfrm>
            <a:off x="5989320" y="3337560"/>
            <a:ext cx="2560320" cy="1097280"/>
          </a:xfrm>
          <a:prstGeom prst="rect">
            <a:avLst/>
          </a:prstGeom>
          <a:noFill/>
          <a:ln/>
        </p:spPr>
        <p:txBody>
          <a:bodyPr wrap="square" lIns="0" tIns="0" rIns="0" bIns="0" rtlCol="0" anchor="ctr"/>
          <a:lstStyle/>
          <a:p>
            <a:pPr indent="0" marL="0">
              <a:buNone/>
            </a:pPr>
            <a:r>
              <a:rPr lang="en-US" sz="1200" b="1" dirty="0">
                <a:solidFill>
                  <a:schemeClr val="tx1"/>
                </a:solidFill>
              </a:rPr>
              <a:t>Ingat!</a:t>
            </a:r>
            <a:endParaRPr lang="en-US" sz="1200" dirty="0"/>
          </a:p>
          <a:p>
            <a:pPr indent="0" marL="0">
              <a:buNone/>
            </a:pPr>
            <a:r>
              <a:rPr lang="en-US" sz="1200" dirty="0">
                <a:solidFill>
                  <a:schemeClr val="tx1"/>
                </a:solidFill>
              </a:rPr>
              <a:t>input() selalu menghasilkan str. Gunakan int() atau float() untuk mengubahnya menjadi angka.</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Percabangan: if, elif, else</a:t>
            </a:r>
            <a:endParaRPr lang="en-US" sz="2800" dirty="0"/>
          </a:p>
        </p:txBody>
      </p:sp>
      <p:sp>
        <p:nvSpPr>
          <p:cNvPr id="4" name="Kode kondisi.py"/>
          <p:cNvSpPr/>
          <p:nvPr/>
        </p:nvSpPr>
        <p:spPr>
          <a:xfrm>
            <a:off x="457200" y="1143000"/>
            <a:ext cx="484632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02336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kondisi.py</a:t>
            </a:r>
            <a:endParaRPr lang="en-US" sz="900" dirty="0"/>
          </a:p>
        </p:txBody>
      </p:sp>
      <p:sp>
        <p:nvSpPr>
          <p:cNvPr id="9" name="Text 6"/>
          <p:cNvSpPr txBox="1"/>
          <p:nvPr/>
        </p:nvSpPr>
        <p:spPr>
          <a:xfrm>
            <a:off x="594360" y="1490472"/>
            <a:ext cx="4572000" cy="2944368"/>
          </a:xfrm>
          <a:prstGeom prst="rect">
            <a:avLst/>
          </a:prstGeom>
          <a:noFill/>
          <a:ln/>
        </p:spPr>
        <p:txBody>
          <a:bodyPr wrap="square" lIns="0" tIns="0" rIns="0" bIns="0" rtlCol="0" anchor="t"/>
          <a:lstStyle/>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F78C6C"/>
                </a:solidFill>
                <a:latin typeface="Courier New" pitchFamily="34" charset="0"/>
                <a:ea typeface="Courier New" pitchFamily="34" charset="-122"/>
                <a:cs typeface="Courier New" pitchFamily="34" charset="-120"/>
              </a:rPr>
              <a:t>78</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C792EA"/>
                </a:solidFill>
                <a:latin typeface="Courier New" pitchFamily="34" charset="0"/>
                <a:ea typeface="Courier New" pitchFamily="34" charset="-122"/>
                <a:cs typeface="Courier New" pitchFamily="34" charset="-120"/>
              </a:rPr>
              <a:t>if</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F78C6C"/>
                </a:solidFill>
                <a:latin typeface="Courier New" pitchFamily="34" charset="0"/>
                <a:ea typeface="Courier New" pitchFamily="34" charset="-122"/>
                <a:cs typeface="Courier New" pitchFamily="34" charset="-120"/>
              </a:rPr>
              <a:t>85</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grade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"A"</a:t>
            </a:r>
            <a:endParaRPr lang="en-US" sz="1250" dirty="0"/>
          </a:p>
          <a:p>
            <a:pPr indent="0" marL="0">
              <a:lnSpc>
                <a:spcPct val="105000"/>
              </a:lnSpc>
              <a:buNone/>
            </a:pPr>
            <a:r>
              <a:rPr lang="en-US" sz="1250" dirty="0">
                <a:solidFill>
                  <a:srgbClr val="C792EA"/>
                </a:solidFill>
                <a:latin typeface="Courier New" pitchFamily="34" charset="0"/>
                <a:ea typeface="Courier New" pitchFamily="34" charset="-122"/>
                <a:cs typeface="Courier New" pitchFamily="34" charset="-120"/>
              </a:rPr>
              <a:t>elif</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F78C6C"/>
                </a:solidFill>
                <a:latin typeface="Courier New" pitchFamily="34" charset="0"/>
                <a:ea typeface="Courier New" pitchFamily="34" charset="-122"/>
                <a:cs typeface="Courier New" pitchFamily="34" charset="-120"/>
              </a:rPr>
              <a:t>70</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grade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"B"</a:t>
            </a:r>
            <a:endParaRPr lang="en-US" sz="1250" dirty="0"/>
          </a:p>
          <a:p>
            <a:pPr indent="0" marL="0">
              <a:lnSpc>
                <a:spcPct val="105000"/>
              </a:lnSpc>
              <a:buNone/>
            </a:pPr>
            <a:r>
              <a:rPr lang="en-US" sz="1250" dirty="0">
                <a:solidFill>
                  <a:srgbClr val="C792EA"/>
                </a:solidFill>
                <a:latin typeface="Courier New" pitchFamily="34" charset="0"/>
                <a:ea typeface="Courier New" pitchFamily="34" charset="-122"/>
                <a:cs typeface="Courier New" pitchFamily="34" charset="-120"/>
              </a:rPr>
              <a:t>elif</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F78C6C"/>
                </a:solidFill>
                <a:latin typeface="Courier New" pitchFamily="34" charset="0"/>
                <a:ea typeface="Courier New" pitchFamily="34" charset="-122"/>
                <a:cs typeface="Courier New" pitchFamily="34" charset="-120"/>
              </a:rPr>
              <a:t>55</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grade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"C"</a:t>
            </a:r>
            <a:endParaRPr lang="en-US" sz="1250" dirty="0"/>
          </a:p>
          <a:p>
            <a:pPr indent="0" marL="0">
              <a:lnSpc>
                <a:spcPct val="105000"/>
              </a:lnSpc>
              <a:buNone/>
            </a:pPr>
            <a:r>
              <a:rPr lang="en-US" sz="1250" dirty="0">
                <a:solidFill>
                  <a:srgbClr val="C792EA"/>
                </a:solidFill>
                <a:latin typeface="Courier New" pitchFamily="34" charset="0"/>
                <a:ea typeface="Courier New" pitchFamily="34" charset="-122"/>
                <a:cs typeface="Courier New" pitchFamily="34" charset="-120"/>
              </a:rPr>
              <a:t>else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grade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"D"</a:t>
            </a:r>
            <a:endParaRPr lang="en-US" sz="1250" dirty="0"/>
          </a:p>
          <a:p>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50" dirty="0">
                <a:solidFill>
                  <a:srgbClr val="C3E88D"/>
                </a:solidFill>
                <a:latin typeface="Courier New" pitchFamily="34" charset="0"/>
                <a:ea typeface="Courier New" pitchFamily="34" charset="-122"/>
                <a:cs typeface="Courier New" pitchFamily="34" charset="-120"/>
              </a:rPr>
              <a:t>f"Nilai {nilai} mendapat grade {grade}"</a:t>
            </a:r>
            <a:pPr indent="0" marL="0">
              <a:lnSpc>
                <a:spcPct val="10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5760720" y="1188720"/>
            <a:ext cx="1737360" cy="685800"/>
          </a:xfrm>
          <a:prstGeom prst="diamond">
            <a:avLst/>
          </a:prstGeom>
          <a:solidFill>
            <a:schemeClr val="accent1"/>
          </a:solidFill>
          <a:ln w="12700">
            <a:solidFill>
              <a:schemeClr val="accent1"/>
            </a:solidFill>
            <a:prstDash val="solid"/>
          </a:ln>
        </p:spPr>
      </p:sp>
      <p:sp>
        <p:nvSpPr>
          <p:cNvPr id="11" name="Text 8"/>
          <p:cNvSpPr txBox="1"/>
          <p:nvPr/>
        </p:nvSpPr>
        <p:spPr>
          <a:xfrm>
            <a:off x="5760720" y="1188720"/>
            <a:ext cx="1737360" cy="685800"/>
          </a:xfrm>
          <a:prstGeom prst="rect">
            <a:avLst/>
          </a:prstGeom>
          <a:noFill/>
          <a:ln/>
        </p:spPr>
        <p:txBody>
          <a:bodyPr wrap="square" lIns="0" tIns="0" rIns="0" bIns="0" rtlCol="0" anchor="ctr"/>
          <a:lstStyle/>
          <a:p>
            <a:pPr algn="ctr" indent="0" marL="0">
              <a:buNone/>
            </a:pPr>
            <a:r>
              <a:rPr lang="en-US" sz="1000" b="1" dirty="0">
                <a:solidFill>
                  <a:schemeClr val="bg1"/>
                </a:solidFill>
              </a:rPr>
              <a:t>nilai &gt;= 85 ?</a:t>
            </a:r>
            <a:endParaRPr lang="en-US" sz="1000" dirty="0"/>
          </a:p>
        </p:txBody>
      </p:sp>
      <p:sp>
        <p:nvSpPr>
          <p:cNvPr id="12" name="Shape 9"/>
          <p:cNvSpPr/>
          <p:nvPr/>
        </p:nvSpPr>
        <p:spPr>
          <a:xfrm>
            <a:off x="7498080" y="1531620"/>
            <a:ext cx="411480" cy="0"/>
          </a:xfrm>
          <a:prstGeom prst="line">
            <a:avLst/>
          </a:prstGeom>
          <a:noFill/>
          <a:ln w="15875">
            <a:solidFill>
              <a:schemeClr val="tx2"/>
            </a:solidFill>
            <a:prstDash val="solid"/>
            <a:tailEnd type="triangle"/>
          </a:ln>
        </p:spPr>
      </p:sp>
      <p:sp>
        <p:nvSpPr>
          <p:cNvPr id="13" name="Text 10"/>
          <p:cNvSpPr txBox="1"/>
          <p:nvPr/>
        </p:nvSpPr>
        <p:spPr>
          <a:xfrm>
            <a:off x="7516368" y="1298448"/>
            <a:ext cx="365760" cy="201168"/>
          </a:xfrm>
          <a:prstGeom prst="rect">
            <a:avLst/>
          </a:prstGeom>
          <a:noFill/>
          <a:ln/>
        </p:spPr>
        <p:txBody>
          <a:bodyPr wrap="square" lIns="0" tIns="0" rIns="0" bIns="0" rtlCol="0" anchor="t"/>
          <a:lstStyle/>
          <a:p>
            <a:pPr algn="ctr" indent="0" marL="0">
              <a:buNone/>
            </a:pPr>
            <a:r>
              <a:rPr lang="en-US" sz="900" dirty="0">
                <a:solidFill>
                  <a:schemeClr val="tx2"/>
                </a:solidFill>
              </a:rPr>
              <a:t>ya</a:t>
            </a:r>
            <a:endParaRPr lang="en-US" sz="900" dirty="0"/>
          </a:p>
        </p:txBody>
      </p:sp>
      <p:sp>
        <p:nvSpPr>
          <p:cNvPr id="14" name="Shape 11"/>
          <p:cNvSpPr/>
          <p:nvPr/>
        </p:nvSpPr>
        <p:spPr>
          <a:xfrm>
            <a:off x="7955280" y="1316736"/>
            <a:ext cx="685800" cy="429768"/>
          </a:xfrm>
          <a:prstGeom prst="roundRect">
            <a:avLst>
              <a:gd name="adj" fmla="val 17021"/>
            </a:avLst>
          </a:prstGeom>
          <a:solidFill>
            <a:schemeClr val="accent2"/>
          </a:solidFill>
          <a:ln w="12700">
            <a:solidFill>
              <a:schemeClr val="accent2"/>
            </a:solidFill>
            <a:prstDash val="solid"/>
          </a:ln>
        </p:spPr>
      </p:sp>
      <p:sp>
        <p:nvSpPr>
          <p:cNvPr id="15" name="Text 12"/>
          <p:cNvSpPr txBox="1"/>
          <p:nvPr/>
        </p:nvSpPr>
        <p:spPr>
          <a:xfrm>
            <a:off x="7955280" y="1316736"/>
            <a:ext cx="685800" cy="429768"/>
          </a:xfrm>
          <a:prstGeom prst="rect">
            <a:avLst/>
          </a:prstGeom>
          <a:no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16" name="Shape 13"/>
          <p:cNvSpPr/>
          <p:nvPr/>
        </p:nvSpPr>
        <p:spPr>
          <a:xfrm>
            <a:off x="6629400" y="1874520"/>
            <a:ext cx="0" cy="182880"/>
          </a:xfrm>
          <a:prstGeom prst="line">
            <a:avLst/>
          </a:prstGeom>
          <a:noFill/>
          <a:ln w="15875">
            <a:solidFill>
              <a:schemeClr val="tx2"/>
            </a:solidFill>
            <a:prstDash val="solid"/>
            <a:tailEnd type="triangle"/>
          </a:ln>
        </p:spPr>
      </p:sp>
      <p:sp>
        <p:nvSpPr>
          <p:cNvPr id="17" name="Shape 14"/>
          <p:cNvSpPr/>
          <p:nvPr/>
        </p:nvSpPr>
        <p:spPr>
          <a:xfrm>
            <a:off x="5760720" y="2057400"/>
            <a:ext cx="1737360" cy="685800"/>
          </a:xfrm>
          <a:prstGeom prst="diamond">
            <a:avLst/>
          </a:prstGeom>
          <a:solidFill>
            <a:schemeClr val="accent1"/>
          </a:solidFill>
          <a:ln w="12700">
            <a:solidFill>
              <a:schemeClr val="accent1"/>
            </a:solidFill>
            <a:prstDash val="solid"/>
          </a:ln>
        </p:spPr>
      </p:sp>
      <p:sp>
        <p:nvSpPr>
          <p:cNvPr id="18" name="Text 15"/>
          <p:cNvSpPr txBox="1"/>
          <p:nvPr/>
        </p:nvSpPr>
        <p:spPr>
          <a:xfrm>
            <a:off x="5760720" y="2057400"/>
            <a:ext cx="1737360" cy="685800"/>
          </a:xfrm>
          <a:prstGeom prst="rect">
            <a:avLst/>
          </a:prstGeom>
          <a:noFill/>
          <a:ln/>
        </p:spPr>
        <p:txBody>
          <a:bodyPr wrap="square" lIns="0" tIns="0" rIns="0" bIns="0" rtlCol="0" anchor="ctr"/>
          <a:lstStyle/>
          <a:p>
            <a:pPr algn="ctr" indent="0" marL="0">
              <a:buNone/>
            </a:pPr>
            <a:r>
              <a:rPr lang="en-US" sz="1000" b="1" dirty="0">
                <a:solidFill>
                  <a:schemeClr val="bg1"/>
                </a:solidFill>
              </a:rPr>
              <a:t>nilai &gt;= 70 ?</a:t>
            </a:r>
            <a:endParaRPr lang="en-US" sz="1000" dirty="0"/>
          </a:p>
        </p:txBody>
      </p:sp>
      <p:sp>
        <p:nvSpPr>
          <p:cNvPr id="19" name="Shape 16"/>
          <p:cNvSpPr/>
          <p:nvPr/>
        </p:nvSpPr>
        <p:spPr>
          <a:xfrm>
            <a:off x="7498080" y="2400300"/>
            <a:ext cx="411480" cy="0"/>
          </a:xfrm>
          <a:prstGeom prst="line">
            <a:avLst/>
          </a:prstGeom>
          <a:noFill/>
          <a:ln w="15875">
            <a:solidFill>
              <a:schemeClr val="tx2"/>
            </a:solidFill>
            <a:prstDash val="solid"/>
            <a:tailEnd type="triangle"/>
          </a:ln>
        </p:spPr>
      </p:sp>
      <p:sp>
        <p:nvSpPr>
          <p:cNvPr id="20" name="Text 17"/>
          <p:cNvSpPr txBox="1"/>
          <p:nvPr/>
        </p:nvSpPr>
        <p:spPr>
          <a:xfrm>
            <a:off x="7516368" y="2167128"/>
            <a:ext cx="365760" cy="201168"/>
          </a:xfrm>
          <a:prstGeom prst="rect">
            <a:avLst/>
          </a:prstGeom>
          <a:noFill/>
          <a:ln/>
        </p:spPr>
        <p:txBody>
          <a:bodyPr wrap="square" lIns="0" tIns="0" rIns="0" bIns="0" rtlCol="0" anchor="t"/>
          <a:lstStyle/>
          <a:p>
            <a:pPr algn="ctr" indent="0" marL="0">
              <a:buNone/>
            </a:pPr>
            <a:r>
              <a:rPr lang="en-US" sz="900" dirty="0">
                <a:solidFill>
                  <a:schemeClr val="tx2"/>
                </a:solidFill>
              </a:rPr>
              <a:t>ya</a:t>
            </a:r>
            <a:endParaRPr lang="en-US" sz="900" dirty="0"/>
          </a:p>
        </p:txBody>
      </p:sp>
      <p:sp>
        <p:nvSpPr>
          <p:cNvPr id="21" name="Shape 18"/>
          <p:cNvSpPr/>
          <p:nvPr/>
        </p:nvSpPr>
        <p:spPr>
          <a:xfrm>
            <a:off x="7955280" y="2185416"/>
            <a:ext cx="685800" cy="429768"/>
          </a:xfrm>
          <a:prstGeom prst="roundRect">
            <a:avLst>
              <a:gd name="adj" fmla="val 17021"/>
            </a:avLst>
          </a:prstGeom>
          <a:solidFill>
            <a:schemeClr val="accent2"/>
          </a:solidFill>
          <a:ln w="12700">
            <a:solidFill>
              <a:schemeClr val="accent2"/>
            </a:solidFill>
            <a:prstDash val="solid"/>
          </a:ln>
        </p:spPr>
      </p:sp>
      <p:sp>
        <p:nvSpPr>
          <p:cNvPr id="22" name="Text 19"/>
          <p:cNvSpPr txBox="1"/>
          <p:nvPr/>
        </p:nvSpPr>
        <p:spPr>
          <a:xfrm>
            <a:off x="7955280" y="2185416"/>
            <a:ext cx="685800" cy="429768"/>
          </a:xfrm>
          <a:prstGeom prst="rect">
            <a:avLst/>
          </a:prstGeom>
          <a:noFill/>
          <a:ln/>
        </p:spPr>
        <p:txBody>
          <a:bodyPr wrap="square" lIns="0" tIns="0" rIns="0" bIns="0" rtlCol="0" anchor="ctr"/>
          <a:lstStyle/>
          <a:p>
            <a:pPr algn="ctr" indent="0" marL="0">
              <a:buNone/>
            </a:pPr>
            <a:r>
              <a:rPr lang="en-US" sz="1400" b="1" dirty="0">
                <a:solidFill>
                  <a:schemeClr val="tx1"/>
                </a:solidFill>
              </a:rPr>
              <a:t>B</a:t>
            </a:r>
            <a:endParaRPr lang="en-US" sz="1400" dirty="0"/>
          </a:p>
        </p:txBody>
      </p:sp>
      <p:sp>
        <p:nvSpPr>
          <p:cNvPr id="23" name="Shape 20"/>
          <p:cNvSpPr/>
          <p:nvPr/>
        </p:nvSpPr>
        <p:spPr>
          <a:xfrm>
            <a:off x="6629400" y="2743200"/>
            <a:ext cx="0" cy="182880"/>
          </a:xfrm>
          <a:prstGeom prst="line">
            <a:avLst/>
          </a:prstGeom>
          <a:noFill/>
          <a:ln w="15875">
            <a:solidFill>
              <a:schemeClr val="tx2"/>
            </a:solidFill>
            <a:prstDash val="solid"/>
            <a:tailEnd type="triangle"/>
          </a:ln>
        </p:spPr>
      </p:sp>
      <p:sp>
        <p:nvSpPr>
          <p:cNvPr id="24" name="Shape 21"/>
          <p:cNvSpPr/>
          <p:nvPr/>
        </p:nvSpPr>
        <p:spPr>
          <a:xfrm>
            <a:off x="5760720" y="2926080"/>
            <a:ext cx="1737360" cy="685800"/>
          </a:xfrm>
          <a:prstGeom prst="diamond">
            <a:avLst/>
          </a:prstGeom>
          <a:solidFill>
            <a:schemeClr val="accent1"/>
          </a:solidFill>
          <a:ln w="12700">
            <a:solidFill>
              <a:schemeClr val="accent1"/>
            </a:solidFill>
            <a:prstDash val="solid"/>
          </a:ln>
        </p:spPr>
      </p:sp>
      <p:sp>
        <p:nvSpPr>
          <p:cNvPr id="25" name="Text 22"/>
          <p:cNvSpPr txBox="1"/>
          <p:nvPr/>
        </p:nvSpPr>
        <p:spPr>
          <a:xfrm>
            <a:off x="5760720" y="2926080"/>
            <a:ext cx="1737360" cy="685800"/>
          </a:xfrm>
          <a:prstGeom prst="rect">
            <a:avLst/>
          </a:prstGeom>
          <a:noFill/>
          <a:ln/>
        </p:spPr>
        <p:txBody>
          <a:bodyPr wrap="square" lIns="0" tIns="0" rIns="0" bIns="0" rtlCol="0" anchor="ctr"/>
          <a:lstStyle/>
          <a:p>
            <a:pPr algn="ctr" indent="0" marL="0">
              <a:buNone/>
            </a:pPr>
            <a:r>
              <a:rPr lang="en-US" sz="1000" b="1" dirty="0">
                <a:solidFill>
                  <a:schemeClr val="bg1"/>
                </a:solidFill>
              </a:rPr>
              <a:t>nilai &gt;= 55 ?</a:t>
            </a:r>
            <a:endParaRPr lang="en-US" sz="1000" dirty="0"/>
          </a:p>
        </p:txBody>
      </p:sp>
      <p:sp>
        <p:nvSpPr>
          <p:cNvPr id="26" name="Shape 23"/>
          <p:cNvSpPr/>
          <p:nvPr/>
        </p:nvSpPr>
        <p:spPr>
          <a:xfrm>
            <a:off x="7498080" y="3268980"/>
            <a:ext cx="411480" cy="0"/>
          </a:xfrm>
          <a:prstGeom prst="line">
            <a:avLst/>
          </a:prstGeom>
          <a:noFill/>
          <a:ln w="15875">
            <a:solidFill>
              <a:schemeClr val="tx2"/>
            </a:solidFill>
            <a:prstDash val="solid"/>
            <a:tailEnd type="triangle"/>
          </a:ln>
        </p:spPr>
      </p:sp>
      <p:sp>
        <p:nvSpPr>
          <p:cNvPr id="27" name="Text 24"/>
          <p:cNvSpPr txBox="1"/>
          <p:nvPr/>
        </p:nvSpPr>
        <p:spPr>
          <a:xfrm>
            <a:off x="7516368" y="3035808"/>
            <a:ext cx="365760" cy="201168"/>
          </a:xfrm>
          <a:prstGeom prst="rect">
            <a:avLst/>
          </a:prstGeom>
          <a:noFill/>
          <a:ln/>
        </p:spPr>
        <p:txBody>
          <a:bodyPr wrap="square" lIns="0" tIns="0" rIns="0" bIns="0" rtlCol="0" anchor="t"/>
          <a:lstStyle/>
          <a:p>
            <a:pPr algn="ctr" indent="0" marL="0">
              <a:buNone/>
            </a:pPr>
            <a:r>
              <a:rPr lang="en-US" sz="900" dirty="0">
                <a:solidFill>
                  <a:schemeClr val="tx2"/>
                </a:solidFill>
              </a:rPr>
              <a:t>ya</a:t>
            </a:r>
            <a:endParaRPr lang="en-US" sz="900" dirty="0"/>
          </a:p>
        </p:txBody>
      </p:sp>
      <p:sp>
        <p:nvSpPr>
          <p:cNvPr id="28" name="Shape 25"/>
          <p:cNvSpPr/>
          <p:nvPr/>
        </p:nvSpPr>
        <p:spPr>
          <a:xfrm>
            <a:off x="7955280" y="3054096"/>
            <a:ext cx="685800" cy="429768"/>
          </a:xfrm>
          <a:prstGeom prst="roundRect">
            <a:avLst>
              <a:gd name="adj" fmla="val 17021"/>
            </a:avLst>
          </a:prstGeom>
          <a:solidFill>
            <a:schemeClr val="accent2"/>
          </a:solidFill>
          <a:ln w="12700">
            <a:solidFill>
              <a:schemeClr val="accent2"/>
            </a:solidFill>
            <a:prstDash val="solid"/>
          </a:ln>
        </p:spPr>
      </p:sp>
      <p:sp>
        <p:nvSpPr>
          <p:cNvPr id="29" name="Text 26"/>
          <p:cNvSpPr txBox="1"/>
          <p:nvPr/>
        </p:nvSpPr>
        <p:spPr>
          <a:xfrm>
            <a:off x="7955280" y="3054096"/>
            <a:ext cx="685800" cy="429768"/>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30" name="Shape 27"/>
          <p:cNvSpPr/>
          <p:nvPr/>
        </p:nvSpPr>
        <p:spPr>
          <a:xfrm>
            <a:off x="6629400" y="3611880"/>
            <a:ext cx="0" cy="182880"/>
          </a:xfrm>
          <a:prstGeom prst="line">
            <a:avLst/>
          </a:prstGeom>
          <a:noFill/>
          <a:ln w="15875">
            <a:solidFill>
              <a:schemeClr val="tx2"/>
            </a:solidFill>
            <a:prstDash val="solid"/>
            <a:tailEnd type="triangle"/>
          </a:ln>
        </p:spPr>
      </p:sp>
      <p:sp>
        <p:nvSpPr>
          <p:cNvPr id="31" name="Text 28"/>
          <p:cNvSpPr txBox="1"/>
          <p:nvPr/>
        </p:nvSpPr>
        <p:spPr>
          <a:xfrm>
            <a:off x="6675120" y="1856232"/>
            <a:ext cx="457200" cy="182880"/>
          </a:xfrm>
          <a:prstGeom prst="rect">
            <a:avLst/>
          </a:prstGeom>
          <a:noFill/>
          <a:ln/>
        </p:spPr>
        <p:txBody>
          <a:bodyPr wrap="square" lIns="0" tIns="0" rIns="0" bIns="0" rtlCol="0" anchor="t"/>
          <a:lstStyle/>
          <a:p>
            <a:pPr indent="0" marL="0">
              <a:buNone/>
            </a:pPr>
            <a:r>
              <a:rPr lang="en-US" sz="900" dirty="0">
                <a:solidFill>
                  <a:schemeClr val="tx2"/>
                </a:solidFill>
              </a:rPr>
              <a:t>tidak</a:t>
            </a:r>
            <a:endParaRPr lang="en-US" sz="900" dirty="0"/>
          </a:p>
        </p:txBody>
      </p:sp>
      <p:sp>
        <p:nvSpPr>
          <p:cNvPr id="32" name="Shape 29"/>
          <p:cNvSpPr/>
          <p:nvPr/>
        </p:nvSpPr>
        <p:spPr>
          <a:xfrm>
            <a:off x="6281928" y="3794760"/>
            <a:ext cx="685800" cy="429768"/>
          </a:xfrm>
          <a:prstGeom prst="roundRect">
            <a:avLst>
              <a:gd name="adj" fmla="val 17021"/>
            </a:avLst>
          </a:prstGeom>
          <a:solidFill>
            <a:schemeClr val="accent2"/>
          </a:solidFill>
          <a:ln w="12700">
            <a:solidFill>
              <a:schemeClr val="accent2"/>
            </a:solidFill>
            <a:prstDash val="solid"/>
          </a:ln>
        </p:spPr>
      </p:sp>
      <p:sp>
        <p:nvSpPr>
          <p:cNvPr id="33" name="Text 30"/>
          <p:cNvSpPr txBox="1"/>
          <p:nvPr/>
        </p:nvSpPr>
        <p:spPr>
          <a:xfrm>
            <a:off x="6281928" y="3794760"/>
            <a:ext cx="685800" cy="429768"/>
          </a:xfrm>
          <a:prstGeom prst="rect">
            <a:avLst/>
          </a:prstGeom>
          <a:noFill/>
          <a:ln/>
        </p:spPr>
        <p:txBody>
          <a:bodyPr wrap="square" lIns="0" tIns="0" rIns="0" bIns="0" rtlCol="0" anchor="ctr"/>
          <a:lstStyle/>
          <a:p>
            <a:pPr algn="ctr" indent="0" marL="0">
              <a:buNone/>
            </a:pPr>
            <a:r>
              <a:rPr lang="en-US" sz="1400" b="1" dirty="0">
                <a:solidFill>
                  <a:schemeClr val="tx1"/>
                </a:solidFill>
              </a:rPr>
              <a:t>D</a:t>
            </a:r>
            <a:endParaRPr lang="en-US" sz="1400" dirty="0"/>
          </a:p>
        </p:txBody>
      </p:sp>
      <p:sp>
        <p:nvSpPr>
          <p:cNvPr id="34" name="Text 31"/>
          <p:cNvSpPr txBox="1"/>
          <p:nvPr/>
        </p:nvSpPr>
        <p:spPr>
          <a:xfrm>
            <a:off x="7040880" y="3886200"/>
            <a:ext cx="731520" cy="228600"/>
          </a:xfrm>
          <a:prstGeom prst="rect">
            <a:avLst/>
          </a:prstGeom>
          <a:noFill/>
          <a:ln/>
        </p:spPr>
        <p:txBody>
          <a:bodyPr wrap="square" lIns="0" tIns="0" rIns="0" bIns="0" rtlCol="0" anchor="t"/>
          <a:lstStyle/>
          <a:p>
            <a:pPr indent="0" marL="0">
              <a:buNone/>
            </a:pPr>
            <a:r>
              <a:rPr lang="en-US" sz="1000" dirty="0">
                <a:solidFill>
                  <a:schemeClr val="tx2"/>
                </a:solidFill>
              </a:rPr>
              <a:t>else</a:t>
            </a:r>
            <a:endParaRPr lang="en-US" sz="10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Perulangan: for &amp; while</a:t>
            </a:r>
            <a:endParaRPr lang="en-US" sz="2800" dirty="0"/>
          </a:p>
        </p:txBody>
      </p:sp>
      <p:sp>
        <p:nvSpPr>
          <p:cNvPr id="4" name="Text 1"/>
          <p:cNvSpPr txBox="1"/>
          <p:nvPr/>
        </p:nvSpPr>
        <p:spPr>
          <a:xfrm>
            <a:off x="457200" y="1097280"/>
            <a:ext cx="3977640" cy="320040"/>
          </a:xfrm>
          <a:prstGeom prst="rect">
            <a:avLst/>
          </a:prstGeom>
          <a:noFill/>
          <a:ln/>
        </p:spPr>
        <p:txBody>
          <a:bodyPr wrap="square" lIns="0" tIns="0" rIns="0" bIns="0" rtlCol="0" anchor="t"/>
          <a:lstStyle/>
          <a:p>
            <a:pPr indent="0" marL="0">
              <a:buNone/>
            </a:pPr>
            <a:r>
              <a:rPr lang="en-US" sz="1500" b="1" dirty="0">
                <a:solidFill>
                  <a:schemeClr val="accent1"/>
                </a:solidFill>
              </a:rPr>
              <a:t>for: mengulang sebanyak data</a:t>
            </a:r>
            <a:endParaRPr lang="en-US" sz="1500" dirty="0"/>
          </a:p>
        </p:txBody>
      </p:sp>
      <p:sp>
        <p:nvSpPr>
          <p:cNvPr id="5" name="Kode for_loop.py"/>
          <p:cNvSpPr/>
          <p:nvPr/>
        </p:nvSpPr>
        <p:spPr>
          <a:xfrm>
            <a:off x="457200" y="1463040"/>
            <a:ext cx="3977640" cy="2331720"/>
          </a:xfrm>
          <a:prstGeom prst="roundRect">
            <a:avLst>
              <a:gd name="adj" fmla="val 3137"/>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6" name="Shape 3"/>
          <p:cNvSpPr/>
          <p:nvPr/>
        </p:nvSpPr>
        <p:spPr>
          <a:xfrm>
            <a:off x="594360" y="1581912"/>
            <a:ext cx="91440" cy="91440"/>
          </a:xfrm>
          <a:prstGeom prst="ellipse">
            <a:avLst/>
          </a:prstGeom>
          <a:solidFill>
            <a:srgbClr val="E2614B"/>
          </a:solidFill>
          <a:ln w="12700">
            <a:solidFill>
              <a:srgbClr val="E2614B"/>
            </a:solidFill>
            <a:prstDash val="solid"/>
          </a:ln>
        </p:spPr>
      </p:sp>
      <p:sp>
        <p:nvSpPr>
          <p:cNvPr id="7" name="Shape 4"/>
          <p:cNvSpPr/>
          <p:nvPr/>
        </p:nvSpPr>
        <p:spPr>
          <a:xfrm>
            <a:off x="749808" y="1581912"/>
            <a:ext cx="91440" cy="91440"/>
          </a:xfrm>
          <a:prstGeom prst="ellipse">
            <a:avLst/>
          </a:prstGeom>
          <a:solidFill>
            <a:srgbClr val="FFD43B"/>
          </a:solidFill>
          <a:ln w="12700">
            <a:solidFill>
              <a:srgbClr val="FFD43B"/>
            </a:solidFill>
            <a:prstDash val="solid"/>
          </a:ln>
        </p:spPr>
      </p:sp>
      <p:sp>
        <p:nvSpPr>
          <p:cNvPr id="8" name="Shape 5"/>
          <p:cNvSpPr/>
          <p:nvPr/>
        </p:nvSpPr>
        <p:spPr>
          <a:xfrm>
            <a:off x="905256" y="1581912"/>
            <a:ext cx="91440" cy="91440"/>
          </a:xfrm>
          <a:prstGeom prst="ellipse">
            <a:avLst/>
          </a:prstGeom>
          <a:solidFill>
            <a:srgbClr val="2E9E6A"/>
          </a:solidFill>
          <a:ln w="12700">
            <a:solidFill>
              <a:srgbClr val="2E9E6A"/>
            </a:solidFill>
            <a:prstDash val="solid"/>
          </a:ln>
        </p:spPr>
      </p:sp>
      <p:sp>
        <p:nvSpPr>
          <p:cNvPr id="9" name="Text 6"/>
          <p:cNvSpPr txBox="1"/>
          <p:nvPr/>
        </p:nvSpPr>
        <p:spPr>
          <a:xfrm>
            <a:off x="1097280" y="1517904"/>
            <a:ext cx="31546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for_loop.py</a:t>
            </a:r>
            <a:endParaRPr lang="en-US" sz="900" dirty="0"/>
          </a:p>
        </p:txBody>
      </p:sp>
      <p:sp>
        <p:nvSpPr>
          <p:cNvPr id="10" name="Text 7"/>
          <p:cNvSpPr txBox="1"/>
          <p:nvPr/>
        </p:nvSpPr>
        <p:spPr>
          <a:xfrm>
            <a:off x="594360" y="1810512"/>
            <a:ext cx="3703320" cy="1892808"/>
          </a:xfrm>
          <a:prstGeom prst="rect">
            <a:avLst/>
          </a:prstGeom>
          <a:noFill/>
          <a:ln/>
        </p:spPr>
        <p:txBody>
          <a:bodyPr wrap="square" lIns="0" tIns="0" rIns="0" bIns="0" rtlCol="0" anchor="t"/>
          <a:lstStyle/>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i</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range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6</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i</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end</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1 2 3 4 5</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buah</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"apel"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"jeruk"</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buah</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b</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upper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p:txBody>
      </p:sp>
      <p:sp>
        <p:nvSpPr>
          <p:cNvPr id="11" name="Text 8"/>
          <p:cNvSpPr txBox="1"/>
          <p:nvPr/>
        </p:nvSpPr>
        <p:spPr>
          <a:xfrm>
            <a:off x="4709160" y="1097280"/>
            <a:ext cx="3977640" cy="320040"/>
          </a:xfrm>
          <a:prstGeom prst="rect">
            <a:avLst/>
          </a:prstGeom>
          <a:noFill/>
          <a:ln/>
        </p:spPr>
        <p:txBody>
          <a:bodyPr wrap="square" lIns="0" tIns="0" rIns="0" bIns="0" rtlCol="0" anchor="t"/>
          <a:lstStyle/>
          <a:p>
            <a:pPr indent="0" marL="0">
              <a:buNone/>
            </a:pPr>
            <a:r>
              <a:rPr lang="en-US" sz="1500" b="1" dirty="0">
                <a:solidFill>
                  <a:schemeClr val="accent1"/>
                </a:solidFill>
              </a:rPr>
              <a:t>while: mengulang selama kondisi True</a:t>
            </a:r>
            <a:endParaRPr lang="en-US" sz="1500" dirty="0"/>
          </a:p>
        </p:txBody>
      </p:sp>
      <p:sp>
        <p:nvSpPr>
          <p:cNvPr id="12" name="Kode while_loop.py"/>
          <p:cNvSpPr/>
          <p:nvPr/>
        </p:nvSpPr>
        <p:spPr>
          <a:xfrm>
            <a:off x="4709160" y="1463040"/>
            <a:ext cx="3977640" cy="2331720"/>
          </a:xfrm>
          <a:prstGeom prst="roundRect">
            <a:avLst>
              <a:gd name="adj" fmla="val 3137"/>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13" name="Shape 10"/>
          <p:cNvSpPr/>
          <p:nvPr/>
        </p:nvSpPr>
        <p:spPr>
          <a:xfrm>
            <a:off x="4846320" y="1581912"/>
            <a:ext cx="91440" cy="91440"/>
          </a:xfrm>
          <a:prstGeom prst="ellipse">
            <a:avLst/>
          </a:prstGeom>
          <a:solidFill>
            <a:srgbClr val="E2614B"/>
          </a:solidFill>
          <a:ln w="12700">
            <a:solidFill>
              <a:srgbClr val="E2614B"/>
            </a:solidFill>
            <a:prstDash val="solid"/>
          </a:ln>
        </p:spPr>
      </p:sp>
      <p:sp>
        <p:nvSpPr>
          <p:cNvPr id="14" name="Shape 11"/>
          <p:cNvSpPr/>
          <p:nvPr/>
        </p:nvSpPr>
        <p:spPr>
          <a:xfrm>
            <a:off x="5001768" y="1581912"/>
            <a:ext cx="91440" cy="91440"/>
          </a:xfrm>
          <a:prstGeom prst="ellipse">
            <a:avLst/>
          </a:prstGeom>
          <a:solidFill>
            <a:srgbClr val="FFD43B"/>
          </a:solidFill>
          <a:ln w="12700">
            <a:solidFill>
              <a:srgbClr val="FFD43B"/>
            </a:solidFill>
            <a:prstDash val="solid"/>
          </a:ln>
        </p:spPr>
      </p:sp>
      <p:sp>
        <p:nvSpPr>
          <p:cNvPr id="15" name="Shape 12"/>
          <p:cNvSpPr/>
          <p:nvPr/>
        </p:nvSpPr>
        <p:spPr>
          <a:xfrm>
            <a:off x="5157216" y="1581912"/>
            <a:ext cx="91440" cy="91440"/>
          </a:xfrm>
          <a:prstGeom prst="ellipse">
            <a:avLst/>
          </a:prstGeom>
          <a:solidFill>
            <a:srgbClr val="2E9E6A"/>
          </a:solidFill>
          <a:ln w="12700">
            <a:solidFill>
              <a:srgbClr val="2E9E6A"/>
            </a:solidFill>
            <a:prstDash val="solid"/>
          </a:ln>
        </p:spPr>
      </p:sp>
      <p:sp>
        <p:nvSpPr>
          <p:cNvPr id="16" name="Text 13"/>
          <p:cNvSpPr txBox="1"/>
          <p:nvPr/>
        </p:nvSpPr>
        <p:spPr>
          <a:xfrm>
            <a:off x="5349240" y="1517904"/>
            <a:ext cx="31546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while_loop.py</a:t>
            </a:r>
            <a:endParaRPr lang="en-US" sz="900" dirty="0"/>
          </a:p>
        </p:txBody>
      </p:sp>
      <p:sp>
        <p:nvSpPr>
          <p:cNvPr id="17" name="Text 14"/>
          <p:cNvSpPr txBox="1"/>
          <p:nvPr/>
        </p:nvSpPr>
        <p:spPr>
          <a:xfrm>
            <a:off x="4846320" y="1810512"/>
            <a:ext cx="3703320" cy="1892808"/>
          </a:xfrm>
          <a:prstGeom prst="rect">
            <a:avLst/>
          </a:prstGeom>
          <a:noFill/>
          <a:ln/>
        </p:spPr>
        <p:txBody>
          <a:bodyPr wrap="square" lIns="0" tIns="0" rIns="0" bIns="0" rtlCol="0" anchor="t"/>
          <a:lstStyle/>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hitung</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3</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while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hitung</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0</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"Hitung:"</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hitung</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hitung</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"Mulai!"</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457200" y="3977640"/>
            <a:ext cx="2615184" cy="548640"/>
          </a:xfrm>
          <a:prstGeom prst="roundRect">
            <a:avLst>
              <a:gd name="adj" fmla="val 13333"/>
            </a:avLst>
          </a:prstGeom>
          <a:solidFill>
            <a:schemeClr val="bg2"/>
          </a:solidFill>
          <a:ln w="12700">
            <a:solidFill>
              <a:schemeClr val="bg2"/>
            </a:solidFill>
            <a:prstDash val="solid"/>
          </a:ln>
        </p:spPr>
      </p:sp>
      <p:sp>
        <p:nvSpPr>
          <p:cNvPr id="19" name="Text 16"/>
          <p:cNvSpPr txBox="1"/>
          <p:nvPr/>
        </p:nvSpPr>
        <p:spPr>
          <a:xfrm>
            <a:off x="594360" y="3977640"/>
            <a:ext cx="2377440" cy="5486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break  </a:t>
            </a:r>
            <a:pPr indent="0" marL="0">
              <a:buNone/>
            </a:pPr>
            <a:r>
              <a:rPr lang="en-US" sz="1100" dirty="0">
                <a:solidFill>
                  <a:schemeClr val="tx2"/>
                </a:solidFill>
              </a:rPr>
              <a:t>menghentikan perulangan</a:t>
            </a:r>
            <a:endParaRPr lang="en-US" sz="1100" dirty="0"/>
          </a:p>
        </p:txBody>
      </p:sp>
      <p:sp>
        <p:nvSpPr>
          <p:cNvPr id="20" name="Shape 17"/>
          <p:cNvSpPr/>
          <p:nvPr/>
        </p:nvSpPr>
        <p:spPr>
          <a:xfrm>
            <a:off x="3264408" y="3977640"/>
            <a:ext cx="2615184" cy="548640"/>
          </a:xfrm>
          <a:prstGeom prst="roundRect">
            <a:avLst>
              <a:gd name="adj" fmla="val 13333"/>
            </a:avLst>
          </a:prstGeom>
          <a:solidFill>
            <a:schemeClr val="bg2"/>
          </a:solidFill>
          <a:ln w="12700">
            <a:solidFill>
              <a:schemeClr val="bg2"/>
            </a:solidFill>
            <a:prstDash val="solid"/>
          </a:ln>
        </p:spPr>
      </p:sp>
      <p:sp>
        <p:nvSpPr>
          <p:cNvPr id="21" name="Text 18"/>
          <p:cNvSpPr txBox="1"/>
          <p:nvPr/>
        </p:nvSpPr>
        <p:spPr>
          <a:xfrm>
            <a:off x="3401568" y="3977640"/>
            <a:ext cx="2377440" cy="5486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continue  </a:t>
            </a:r>
            <a:pPr indent="0" marL="0">
              <a:buNone/>
            </a:pPr>
            <a:r>
              <a:rPr lang="en-US" sz="1100" dirty="0">
                <a:solidFill>
                  <a:schemeClr val="tx2"/>
                </a:solidFill>
              </a:rPr>
              <a:t>lompat ke putaran berikut</a:t>
            </a:r>
            <a:endParaRPr lang="en-US" sz="1100" dirty="0"/>
          </a:p>
        </p:txBody>
      </p:sp>
      <p:sp>
        <p:nvSpPr>
          <p:cNvPr id="22" name="Shape 19"/>
          <p:cNvSpPr/>
          <p:nvPr/>
        </p:nvSpPr>
        <p:spPr>
          <a:xfrm>
            <a:off x="6071616" y="3977640"/>
            <a:ext cx="2615184" cy="548640"/>
          </a:xfrm>
          <a:prstGeom prst="roundRect">
            <a:avLst>
              <a:gd name="adj" fmla="val 13333"/>
            </a:avLst>
          </a:prstGeom>
          <a:solidFill>
            <a:schemeClr val="bg2"/>
          </a:solidFill>
          <a:ln w="12700">
            <a:solidFill>
              <a:schemeClr val="bg2"/>
            </a:solidFill>
            <a:prstDash val="solid"/>
          </a:ln>
        </p:spPr>
      </p:sp>
      <p:sp>
        <p:nvSpPr>
          <p:cNvPr id="23" name="Text 20"/>
          <p:cNvSpPr txBox="1"/>
          <p:nvPr/>
        </p:nvSpPr>
        <p:spPr>
          <a:xfrm>
            <a:off x="6208776" y="3977640"/>
            <a:ext cx="2377440" cy="5486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range(a, b, s)  </a:t>
            </a:r>
            <a:pPr indent="0" marL="0">
              <a:buNone/>
            </a:pPr>
            <a:r>
              <a:rPr lang="en-US" sz="1100" dirty="0">
                <a:solidFill>
                  <a:schemeClr val="tx2"/>
                </a:solidFill>
              </a:rPr>
              <a:t>deret angka a sampai b-1</a:t>
            </a:r>
            <a:endParaRPr lang="en-US" sz="11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4</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Struktur Data</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Menyimpan banyak data dengan list, tuple, set, dan dictionary</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Empat Struktur Data Bawaan</a:t>
            </a:r>
            <a:endParaRPr lang="en-US" sz="2800" dirty="0"/>
          </a:p>
        </p:txBody>
      </p:sp>
      <p:sp>
        <p:nvSpPr>
          <p:cNvPr id="4" name="Shape 1"/>
          <p:cNvSpPr/>
          <p:nvPr/>
        </p:nvSpPr>
        <p:spPr>
          <a:xfrm>
            <a:off x="457200" y="1143000"/>
            <a:ext cx="1920240" cy="3383280"/>
          </a:xfrm>
          <a:prstGeom prst="roundRect">
            <a:avLst>
              <a:gd name="adj" fmla="val 3810"/>
            </a:avLst>
          </a:prstGeom>
          <a:solidFill>
            <a:schemeClr val="bg2"/>
          </a:solidFill>
          <a:ln w="12700">
            <a:solidFill>
              <a:schemeClr val="bg2"/>
            </a:solidFill>
            <a:prstDash val="solid"/>
          </a:ln>
        </p:spPr>
      </p:sp>
      <p:sp>
        <p:nvSpPr>
          <p:cNvPr id="5" name="Shape 2"/>
          <p:cNvSpPr/>
          <p:nvPr/>
        </p:nvSpPr>
        <p:spPr>
          <a:xfrm>
            <a:off x="1097280" y="132588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257300" y="1485900"/>
            <a:ext cx="320040" cy="320040"/>
          </a:xfrm>
          <a:prstGeom prst="rect">
            <a:avLst/>
          </a:prstGeom>
        </p:spPr>
      </p:pic>
      <p:sp>
        <p:nvSpPr>
          <p:cNvPr id="7" name="Text 3"/>
          <p:cNvSpPr txBox="1"/>
          <p:nvPr/>
        </p:nvSpPr>
        <p:spPr>
          <a:xfrm>
            <a:off x="548640" y="2103120"/>
            <a:ext cx="1737360" cy="347472"/>
          </a:xfrm>
          <a:prstGeom prst="rect">
            <a:avLst/>
          </a:prstGeom>
          <a:noFill/>
          <a:ln/>
        </p:spPr>
        <p:txBody>
          <a:bodyPr wrap="square" lIns="0" tIns="0" rIns="0" bIns="0" rtlCol="0" anchor="t"/>
          <a:lstStyle/>
          <a:p>
            <a:pPr algn="ctr" indent="0" marL="0">
              <a:buNone/>
            </a:pPr>
            <a:r>
              <a:rPr lang="en-US" sz="1700" b="1" dirty="0">
                <a:solidFill>
                  <a:schemeClr val="tx1"/>
                </a:solidFill>
              </a:rPr>
              <a:t>List</a:t>
            </a:r>
            <a:endParaRPr lang="en-US" sz="1700" dirty="0"/>
          </a:p>
        </p:txBody>
      </p:sp>
      <p:sp>
        <p:nvSpPr>
          <p:cNvPr id="8" name="Shape 4"/>
          <p:cNvSpPr/>
          <p:nvPr/>
        </p:nvSpPr>
        <p:spPr>
          <a:xfrm>
            <a:off x="640080" y="2514600"/>
            <a:ext cx="1554480" cy="411480"/>
          </a:xfrm>
          <a:prstGeom prst="roundRect">
            <a:avLst>
              <a:gd name="adj" fmla="val 13333"/>
            </a:avLst>
          </a:prstGeom>
          <a:solidFill>
            <a:srgbClr val="1E2433"/>
          </a:solidFill>
          <a:ln w="12700">
            <a:solidFill>
              <a:srgbClr val="1E2433"/>
            </a:solidFill>
            <a:prstDash val="solid"/>
          </a:ln>
        </p:spPr>
      </p:sp>
      <p:sp>
        <p:nvSpPr>
          <p:cNvPr id="9" name="Text 5"/>
          <p:cNvSpPr txBox="1"/>
          <p:nvPr/>
        </p:nvSpPr>
        <p:spPr>
          <a:xfrm>
            <a:off x="640080" y="2514600"/>
            <a:ext cx="1554480" cy="411480"/>
          </a:xfrm>
          <a:prstGeom prst="rect">
            <a:avLst/>
          </a:prstGeom>
          <a:noFill/>
          <a:ln/>
        </p:spPr>
        <p:txBody>
          <a:bodyPr wrap="square" lIns="0" tIns="0" rIns="0" bIns="0" rtlCol="0" anchor="ctr"/>
          <a:lstStyle/>
          <a:p>
            <a:pPr algn="ctr" indent="0" marL="0">
              <a:buNone/>
            </a:pPr>
            <a:r>
              <a:rPr lang="en-US" sz="1200" dirty="0">
                <a:solidFill>
                  <a:srgbClr val="C3E88D"/>
                </a:solidFill>
                <a:latin typeface="Courier New" pitchFamily="34" charset="0"/>
                <a:ea typeface="Courier New" pitchFamily="34" charset="-122"/>
                <a:cs typeface="Courier New" pitchFamily="34" charset="-120"/>
              </a:rPr>
              <a:t>[1, 2, 3]</a:t>
            </a:r>
            <a:endParaRPr lang="en-US" sz="1200" dirty="0"/>
          </a:p>
        </p:txBody>
      </p:sp>
      <p:sp>
        <p:nvSpPr>
          <p:cNvPr id="10" name="Text 6"/>
          <p:cNvSpPr txBox="1"/>
          <p:nvPr/>
        </p:nvSpPr>
        <p:spPr>
          <a:xfrm>
            <a:off x="640080" y="3063240"/>
            <a:ext cx="16459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Berurutan</a:t>
            </a:r>
            <a:endParaRPr lang="en-US" sz="1200" dirty="0"/>
          </a:p>
          <a:p>
            <a:pPr marL="342900" indent="-342900">
              <a:spcAft>
                <a:spcPts val="600"/>
              </a:spcAft>
              <a:buSzPct val="100000"/>
              <a:buChar char="•"/>
            </a:pPr>
            <a:r>
              <a:rPr lang="en-US" sz="1200" dirty="0">
                <a:solidFill>
                  <a:schemeClr val="tx1"/>
                </a:solidFill>
              </a:rPr>
              <a:t>Bisa diubah</a:t>
            </a:r>
            <a:endParaRPr lang="en-US" sz="1200" dirty="0"/>
          </a:p>
          <a:p>
            <a:pPr marL="342900" indent="-342900">
              <a:spcAft>
                <a:spcPts val="600"/>
              </a:spcAft>
              <a:buSzPct val="100000"/>
              <a:buChar char="•"/>
            </a:pPr>
            <a:r>
              <a:rPr lang="en-US" sz="1200" dirty="0">
                <a:solidFill>
                  <a:schemeClr val="tx1"/>
                </a:solidFill>
              </a:rPr>
              <a:t>Boleh duplikat</a:t>
            </a:r>
            <a:endParaRPr lang="en-US" sz="1200" dirty="0"/>
          </a:p>
        </p:txBody>
      </p:sp>
      <p:sp>
        <p:nvSpPr>
          <p:cNvPr id="11" name="Shape 7"/>
          <p:cNvSpPr/>
          <p:nvPr/>
        </p:nvSpPr>
        <p:spPr>
          <a:xfrm>
            <a:off x="2560320" y="1143000"/>
            <a:ext cx="1920240" cy="3383280"/>
          </a:xfrm>
          <a:prstGeom prst="roundRect">
            <a:avLst>
              <a:gd name="adj" fmla="val 3810"/>
            </a:avLst>
          </a:prstGeom>
          <a:solidFill>
            <a:schemeClr val="bg2"/>
          </a:solidFill>
          <a:ln w="12700">
            <a:solidFill>
              <a:schemeClr val="bg2"/>
            </a:solidFill>
            <a:prstDash val="solid"/>
          </a:ln>
        </p:spPr>
      </p:sp>
      <p:sp>
        <p:nvSpPr>
          <p:cNvPr id="12" name="Shape 8"/>
          <p:cNvSpPr/>
          <p:nvPr/>
        </p:nvSpPr>
        <p:spPr>
          <a:xfrm>
            <a:off x="3200400" y="1325880"/>
            <a:ext cx="640080" cy="640080"/>
          </a:xfrm>
          <a:prstGeom prst="ellipse">
            <a:avLst/>
          </a:prstGeom>
          <a:solidFill>
            <a:schemeClr val="accent2"/>
          </a:solidFill>
          <a:ln w="12700">
            <a:solidFill>
              <a:schemeClr val="accent2"/>
            </a:solidFill>
            <a:prstDash val="solid"/>
          </a:ln>
        </p:spPr>
      </p:sp>
      <p:pic>
        <p:nvPicPr>
          <p:cNvPr id="13" name="Image 1" descr="preencoded.png">    </p:cNvPr>
          <p:cNvPicPr>
            <a:picLocks noChangeAspect="1"/>
          </p:cNvPicPr>
          <p:nvPr/>
        </p:nvPicPr>
        <p:blipFill>
          <a:blip r:embed="rId2"/>
          <a:stretch>
            <a:fillRect/>
          </a:stretch>
        </p:blipFill>
        <p:spPr>
          <a:xfrm>
            <a:off x="3360420" y="1485900"/>
            <a:ext cx="320040" cy="320040"/>
          </a:xfrm>
          <a:prstGeom prst="rect">
            <a:avLst/>
          </a:prstGeom>
        </p:spPr>
      </p:pic>
      <p:sp>
        <p:nvSpPr>
          <p:cNvPr id="14" name="Text 9"/>
          <p:cNvSpPr txBox="1"/>
          <p:nvPr/>
        </p:nvSpPr>
        <p:spPr>
          <a:xfrm>
            <a:off x="2651760" y="2103120"/>
            <a:ext cx="1737360" cy="347472"/>
          </a:xfrm>
          <a:prstGeom prst="rect">
            <a:avLst/>
          </a:prstGeom>
          <a:noFill/>
          <a:ln/>
        </p:spPr>
        <p:txBody>
          <a:bodyPr wrap="square" lIns="0" tIns="0" rIns="0" bIns="0" rtlCol="0" anchor="t"/>
          <a:lstStyle/>
          <a:p>
            <a:pPr algn="ctr" indent="0" marL="0">
              <a:buNone/>
            </a:pPr>
            <a:r>
              <a:rPr lang="en-US" sz="1700" b="1" dirty="0">
                <a:solidFill>
                  <a:schemeClr val="tx1"/>
                </a:solidFill>
              </a:rPr>
              <a:t>Tuple</a:t>
            </a:r>
            <a:endParaRPr lang="en-US" sz="1700" dirty="0"/>
          </a:p>
        </p:txBody>
      </p:sp>
      <p:sp>
        <p:nvSpPr>
          <p:cNvPr id="15" name="Shape 10"/>
          <p:cNvSpPr/>
          <p:nvPr/>
        </p:nvSpPr>
        <p:spPr>
          <a:xfrm>
            <a:off x="2743200" y="2514600"/>
            <a:ext cx="1554480" cy="411480"/>
          </a:xfrm>
          <a:prstGeom prst="roundRect">
            <a:avLst>
              <a:gd name="adj" fmla="val 13333"/>
            </a:avLst>
          </a:prstGeom>
          <a:solidFill>
            <a:srgbClr val="1E2433"/>
          </a:solidFill>
          <a:ln w="12700">
            <a:solidFill>
              <a:srgbClr val="1E2433"/>
            </a:solidFill>
            <a:prstDash val="solid"/>
          </a:ln>
        </p:spPr>
      </p:sp>
      <p:sp>
        <p:nvSpPr>
          <p:cNvPr id="16" name="Text 11"/>
          <p:cNvSpPr txBox="1"/>
          <p:nvPr/>
        </p:nvSpPr>
        <p:spPr>
          <a:xfrm>
            <a:off x="2743200" y="2514600"/>
            <a:ext cx="1554480" cy="411480"/>
          </a:xfrm>
          <a:prstGeom prst="rect">
            <a:avLst/>
          </a:prstGeom>
          <a:noFill/>
          <a:ln/>
        </p:spPr>
        <p:txBody>
          <a:bodyPr wrap="square" lIns="0" tIns="0" rIns="0" bIns="0" rtlCol="0" anchor="ctr"/>
          <a:lstStyle/>
          <a:p>
            <a:pPr algn="ctr" indent="0" marL="0">
              <a:buNone/>
            </a:pPr>
            <a:r>
              <a:rPr lang="en-US" sz="1200" dirty="0">
                <a:solidFill>
                  <a:srgbClr val="C3E88D"/>
                </a:solidFill>
                <a:latin typeface="Courier New" pitchFamily="34" charset="0"/>
                <a:ea typeface="Courier New" pitchFamily="34" charset="-122"/>
                <a:cs typeface="Courier New" pitchFamily="34" charset="-120"/>
              </a:rPr>
              <a:t>(1, 2, 3)</a:t>
            </a:r>
            <a:endParaRPr lang="en-US" sz="1200" dirty="0"/>
          </a:p>
        </p:txBody>
      </p:sp>
      <p:sp>
        <p:nvSpPr>
          <p:cNvPr id="17" name="Text 12"/>
          <p:cNvSpPr txBox="1"/>
          <p:nvPr/>
        </p:nvSpPr>
        <p:spPr>
          <a:xfrm>
            <a:off x="2743200" y="3063240"/>
            <a:ext cx="16459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Berurutan</a:t>
            </a:r>
            <a:endParaRPr lang="en-US" sz="1200" dirty="0"/>
          </a:p>
          <a:p>
            <a:pPr marL="342900" indent="-342900">
              <a:spcAft>
                <a:spcPts val="600"/>
              </a:spcAft>
              <a:buSzPct val="100000"/>
              <a:buChar char="•"/>
            </a:pPr>
            <a:r>
              <a:rPr lang="en-US" sz="1200" dirty="0">
                <a:solidFill>
                  <a:schemeClr val="tx1"/>
                </a:solidFill>
              </a:rPr>
              <a:t>Tidak bisa diubah</a:t>
            </a:r>
            <a:endParaRPr lang="en-US" sz="1200" dirty="0"/>
          </a:p>
          <a:p>
            <a:pPr marL="342900" indent="-342900">
              <a:spcAft>
                <a:spcPts val="600"/>
              </a:spcAft>
              <a:buSzPct val="100000"/>
              <a:buChar char="•"/>
            </a:pPr>
            <a:r>
              <a:rPr lang="en-US" sz="1200" dirty="0">
                <a:solidFill>
                  <a:schemeClr val="tx1"/>
                </a:solidFill>
              </a:rPr>
              <a:t>Boleh duplikat</a:t>
            </a:r>
            <a:endParaRPr lang="en-US" sz="1200" dirty="0"/>
          </a:p>
        </p:txBody>
      </p:sp>
      <p:sp>
        <p:nvSpPr>
          <p:cNvPr id="18" name="Shape 13"/>
          <p:cNvSpPr/>
          <p:nvPr/>
        </p:nvSpPr>
        <p:spPr>
          <a:xfrm>
            <a:off x="4663440" y="1143000"/>
            <a:ext cx="1920240" cy="3383280"/>
          </a:xfrm>
          <a:prstGeom prst="roundRect">
            <a:avLst>
              <a:gd name="adj" fmla="val 3810"/>
            </a:avLst>
          </a:prstGeom>
          <a:solidFill>
            <a:schemeClr val="bg2"/>
          </a:solidFill>
          <a:ln w="12700">
            <a:solidFill>
              <a:schemeClr val="bg2"/>
            </a:solidFill>
            <a:prstDash val="solid"/>
          </a:ln>
        </p:spPr>
      </p:sp>
      <p:sp>
        <p:nvSpPr>
          <p:cNvPr id="19" name="Shape 14"/>
          <p:cNvSpPr/>
          <p:nvPr/>
        </p:nvSpPr>
        <p:spPr>
          <a:xfrm>
            <a:off x="5303520" y="1325880"/>
            <a:ext cx="640080" cy="640080"/>
          </a:xfrm>
          <a:prstGeom prst="ellipse">
            <a:avLst/>
          </a:prstGeom>
          <a:solidFill>
            <a:schemeClr val="accent1"/>
          </a:solidFill>
          <a:ln w="12700">
            <a:solidFill>
              <a:schemeClr val="accent1"/>
            </a:solidFill>
            <a:prstDash val="solid"/>
          </a:ln>
        </p:spPr>
      </p:sp>
      <p:pic>
        <p:nvPicPr>
          <p:cNvPr id="20" name="Image 2" descr="preencoded.png">    </p:cNvPr>
          <p:cNvPicPr>
            <a:picLocks noChangeAspect="1"/>
          </p:cNvPicPr>
          <p:nvPr/>
        </p:nvPicPr>
        <p:blipFill>
          <a:blip r:embed="rId3"/>
          <a:stretch>
            <a:fillRect/>
          </a:stretch>
        </p:blipFill>
        <p:spPr>
          <a:xfrm>
            <a:off x="5463540" y="1485900"/>
            <a:ext cx="320040" cy="320040"/>
          </a:xfrm>
          <a:prstGeom prst="rect">
            <a:avLst/>
          </a:prstGeom>
        </p:spPr>
      </p:pic>
      <p:sp>
        <p:nvSpPr>
          <p:cNvPr id="21" name="Text 15"/>
          <p:cNvSpPr txBox="1"/>
          <p:nvPr/>
        </p:nvSpPr>
        <p:spPr>
          <a:xfrm>
            <a:off x="4754880" y="2103120"/>
            <a:ext cx="1737360" cy="347472"/>
          </a:xfrm>
          <a:prstGeom prst="rect">
            <a:avLst/>
          </a:prstGeom>
          <a:noFill/>
          <a:ln/>
        </p:spPr>
        <p:txBody>
          <a:bodyPr wrap="square" lIns="0" tIns="0" rIns="0" bIns="0" rtlCol="0" anchor="t"/>
          <a:lstStyle/>
          <a:p>
            <a:pPr algn="ctr" indent="0" marL="0">
              <a:buNone/>
            </a:pPr>
            <a:r>
              <a:rPr lang="en-US" sz="1700" b="1" dirty="0">
                <a:solidFill>
                  <a:schemeClr val="tx1"/>
                </a:solidFill>
              </a:rPr>
              <a:t>Set</a:t>
            </a:r>
            <a:endParaRPr lang="en-US" sz="1700" dirty="0"/>
          </a:p>
        </p:txBody>
      </p:sp>
      <p:sp>
        <p:nvSpPr>
          <p:cNvPr id="22" name="Shape 16"/>
          <p:cNvSpPr/>
          <p:nvPr/>
        </p:nvSpPr>
        <p:spPr>
          <a:xfrm>
            <a:off x="4846320" y="2514600"/>
            <a:ext cx="1554480" cy="411480"/>
          </a:xfrm>
          <a:prstGeom prst="roundRect">
            <a:avLst>
              <a:gd name="adj" fmla="val 13333"/>
            </a:avLst>
          </a:prstGeom>
          <a:solidFill>
            <a:srgbClr val="1E2433"/>
          </a:solidFill>
          <a:ln w="12700">
            <a:solidFill>
              <a:srgbClr val="1E2433"/>
            </a:solidFill>
            <a:prstDash val="solid"/>
          </a:ln>
        </p:spPr>
      </p:sp>
      <p:sp>
        <p:nvSpPr>
          <p:cNvPr id="23" name="Text 17"/>
          <p:cNvSpPr txBox="1"/>
          <p:nvPr/>
        </p:nvSpPr>
        <p:spPr>
          <a:xfrm>
            <a:off x="4846320" y="2514600"/>
            <a:ext cx="1554480" cy="411480"/>
          </a:xfrm>
          <a:prstGeom prst="rect">
            <a:avLst/>
          </a:prstGeom>
          <a:noFill/>
          <a:ln/>
        </p:spPr>
        <p:txBody>
          <a:bodyPr wrap="square" lIns="0" tIns="0" rIns="0" bIns="0" rtlCol="0" anchor="ctr"/>
          <a:lstStyle/>
          <a:p>
            <a:pPr algn="ctr" indent="0" marL="0">
              <a:buNone/>
            </a:pPr>
            <a:r>
              <a:rPr lang="en-US" sz="1200" dirty="0">
                <a:solidFill>
                  <a:srgbClr val="C3E88D"/>
                </a:solidFill>
                <a:latin typeface="Courier New" pitchFamily="34" charset="0"/>
                <a:ea typeface="Courier New" pitchFamily="34" charset="-122"/>
                <a:cs typeface="Courier New" pitchFamily="34" charset="-120"/>
              </a:rPr>
              <a:t>{1, 2, 3}</a:t>
            </a:r>
            <a:endParaRPr lang="en-US" sz="1200" dirty="0"/>
          </a:p>
        </p:txBody>
      </p:sp>
      <p:sp>
        <p:nvSpPr>
          <p:cNvPr id="24" name="Text 18"/>
          <p:cNvSpPr txBox="1"/>
          <p:nvPr/>
        </p:nvSpPr>
        <p:spPr>
          <a:xfrm>
            <a:off x="4846320" y="3063240"/>
            <a:ext cx="16459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Tidak berurutan</a:t>
            </a:r>
            <a:endParaRPr lang="en-US" sz="1200" dirty="0"/>
          </a:p>
          <a:p>
            <a:pPr marL="342900" indent="-342900">
              <a:spcAft>
                <a:spcPts val="600"/>
              </a:spcAft>
              <a:buSzPct val="100000"/>
              <a:buChar char="•"/>
            </a:pPr>
            <a:r>
              <a:rPr lang="en-US" sz="1200" dirty="0">
                <a:solidFill>
                  <a:schemeClr val="tx1"/>
                </a:solidFill>
              </a:rPr>
              <a:t>Bisa diubah</a:t>
            </a:r>
            <a:endParaRPr lang="en-US" sz="1200" dirty="0"/>
          </a:p>
          <a:p>
            <a:pPr marL="342900" indent="-342900">
              <a:spcAft>
                <a:spcPts val="600"/>
              </a:spcAft>
              <a:buSzPct val="100000"/>
              <a:buChar char="•"/>
            </a:pPr>
            <a:r>
              <a:rPr lang="en-US" sz="1200" dirty="0">
                <a:solidFill>
                  <a:schemeClr val="tx1"/>
                </a:solidFill>
              </a:rPr>
              <a:t>Tanpa duplikat</a:t>
            </a:r>
            <a:endParaRPr lang="en-US" sz="1200" dirty="0"/>
          </a:p>
        </p:txBody>
      </p:sp>
      <p:sp>
        <p:nvSpPr>
          <p:cNvPr id="25" name="Shape 19"/>
          <p:cNvSpPr/>
          <p:nvPr/>
        </p:nvSpPr>
        <p:spPr>
          <a:xfrm>
            <a:off x="6766560" y="1143000"/>
            <a:ext cx="1920240" cy="3383280"/>
          </a:xfrm>
          <a:prstGeom prst="roundRect">
            <a:avLst>
              <a:gd name="adj" fmla="val 3810"/>
            </a:avLst>
          </a:prstGeom>
          <a:solidFill>
            <a:schemeClr val="bg2"/>
          </a:solidFill>
          <a:ln w="12700">
            <a:solidFill>
              <a:schemeClr val="bg2"/>
            </a:solidFill>
            <a:prstDash val="solid"/>
          </a:ln>
        </p:spPr>
      </p:sp>
      <p:sp>
        <p:nvSpPr>
          <p:cNvPr id="26" name="Shape 20"/>
          <p:cNvSpPr/>
          <p:nvPr/>
        </p:nvSpPr>
        <p:spPr>
          <a:xfrm>
            <a:off x="7406640" y="1325880"/>
            <a:ext cx="640080" cy="640080"/>
          </a:xfrm>
          <a:prstGeom prst="ellipse">
            <a:avLst/>
          </a:prstGeom>
          <a:solidFill>
            <a:schemeClr val="accent2"/>
          </a:solidFill>
          <a:ln w="12700">
            <a:solidFill>
              <a:schemeClr val="accent2"/>
            </a:solidFill>
            <a:prstDash val="solid"/>
          </a:ln>
        </p:spPr>
      </p:sp>
      <p:pic>
        <p:nvPicPr>
          <p:cNvPr id="27" name="Image 3" descr="preencoded.png">    </p:cNvPr>
          <p:cNvPicPr>
            <a:picLocks noChangeAspect="1"/>
          </p:cNvPicPr>
          <p:nvPr/>
        </p:nvPicPr>
        <p:blipFill>
          <a:blip r:embed="rId4"/>
          <a:stretch>
            <a:fillRect/>
          </a:stretch>
        </p:blipFill>
        <p:spPr>
          <a:xfrm>
            <a:off x="7566660" y="1485900"/>
            <a:ext cx="320040" cy="320040"/>
          </a:xfrm>
          <a:prstGeom prst="rect">
            <a:avLst/>
          </a:prstGeom>
        </p:spPr>
      </p:pic>
      <p:sp>
        <p:nvSpPr>
          <p:cNvPr id="28" name="Text 21"/>
          <p:cNvSpPr txBox="1"/>
          <p:nvPr/>
        </p:nvSpPr>
        <p:spPr>
          <a:xfrm>
            <a:off x="6858000" y="2103120"/>
            <a:ext cx="1737360" cy="347472"/>
          </a:xfrm>
          <a:prstGeom prst="rect">
            <a:avLst/>
          </a:prstGeom>
          <a:noFill/>
          <a:ln/>
        </p:spPr>
        <p:txBody>
          <a:bodyPr wrap="square" lIns="0" tIns="0" rIns="0" bIns="0" rtlCol="0" anchor="t"/>
          <a:lstStyle/>
          <a:p>
            <a:pPr algn="ctr" indent="0" marL="0">
              <a:buNone/>
            </a:pPr>
            <a:r>
              <a:rPr lang="en-US" sz="1700" b="1" dirty="0">
                <a:solidFill>
                  <a:schemeClr val="tx1"/>
                </a:solidFill>
              </a:rPr>
              <a:t>Dictionary</a:t>
            </a:r>
            <a:endParaRPr lang="en-US" sz="1700" dirty="0"/>
          </a:p>
        </p:txBody>
      </p:sp>
      <p:sp>
        <p:nvSpPr>
          <p:cNvPr id="29" name="Shape 22"/>
          <p:cNvSpPr/>
          <p:nvPr/>
        </p:nvSpPr>
        <p:spPr>
          <a:xfrm>
            <a:off x="6949440" y="2514600"/>
            <a:ext cx="1554480" cy="411480"/>
          </a:xfrm>
          <a:prstGeom prst="roundRect">
            <a:avLst>
              <a:gd name="adj" fmla="val 13333"/>
            </a:avLst>
          </a:prstGeom>
          <a:solidFill>
            <a:srgbClr val="1E2433"/>
          </a:solidFill>
          <a:ln w="12700">
            <a:solidFill>
              <a:srgbClr val="1E2433"/>
            </a:solidFill>
            <a:prstDash val="solid"/>
          </a:ln>
        </p:spPr>
      </p:sp>
      <p:sp>
        <p:nvSpPr>
          <p:cNvPr id="30" name="Text 23"/>
          <p:cNvSpPr txBox="1"/>
          <p:nvPr/>
        </p:nvSpPr>
        <p:spPr>
          <a:xfrm>
            <a:off x="6949440" y="2514600"/>
            <a:ext cx="1554480" cy="411480"/>
          </a:xfrm>
          <a:prstGeom prst="rect">
            <a:avLst/>
          </a:prstGeom>
          <a:noFill/>
          <a:ln/>
        </p:spPr>
        <p:txBody>
          <a:bodyPr wrap="square" lIns="0" tIns="0" rIns="0" bIns="0" rtlCol="0" anchor="ctr"/>
          <a:lstStyle/>
          <a:p>
            <a:pPr algn="ctr" indent="0" marL="0">
              <a:buNone/>
            </a:pPr>
            <a:r>
              <a:rPr lang="en-US" sz="1200" dirty="0">
                <a:solidFill>
                  <a:srgbClr val="C3E88D"/>
                </a:solidFill>
                <a:latin typeface="Courier New" pitchFamily="34" charset="0"/>
                <a:ea typeface="Courier New" pitchFamily="34" charset="-122"/>
                <a:cs typeface="Courier New" pitchFamily="34" charset="-120"/>
              </a:rPr>
              <a:t>{"a": 1}</a:t>
            </a:r>
            <a:endParaRPr lang="en-US" sz="1200" dirty="0"/>
          </a:p>
        </p:txBody>
      </p:sp>
      <p:sp>
        <p:nvSpPr>
          <p:cNvPr id="31" name="Text 24"/>
          <p:cNvSpPr txBox="1"/>
          <p:nvPr/>
        </p:nvSpPr>
        <p:spPr>
          <a:xfrm>
            <a:off x="6949440" y="3063240"/>
            <a:ext cx="16459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Kunci : nilai</a:t>
            </a:r>
            <a:endParaRPr lang="en-US" sz="1200" dirty="0"/>
          </a:p>
          <a:p>
            <a:pPr marL="342900" indent="-342900">
              <a:spcAft>
                <a:spcPts val="600"/>
              </a:spcAft>
              <a:buSzPct val="100000"/>
              <a:buChar char="•"/>
            </a:pPr>
            <a:r>
              <a:rPr lang="en-US" sz="1200" dirty="0">
                <a:solidFill>
                  <a:schemeClr val="tx1"/>
                </a:solidFill>
              </a:rPr>
              <a:t>Bisa diubah</a:t>
            </a:r>
            <a:endParaRPr lang="en-US" sz="1200" dirty="0"/>
          </a:p>
          <a:p>
            <a:pPr marL="342900" indent="-342900">
              <a:spcAft>
                <a:spcPts val="600"/>
              </a:spcAft>
              <a:buSzPct val="100000"/>
              <a:buChar char="•"/>
            </a:pPr>
            <a:r>
              <a:rPr lang="en-US" sz="1200" dirty="0">
                <a:solidFill>
                  <a:schemeClr val="tx1"/>
                </a:solidFill>
              </a:rPr>
              <a:t>Kunci unik</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Mengolah List &amp; Dictionary</a:t>
            </a:r>
            <a:endParaRPr lang="en-US" sz="2800" dirty="0"/>
          </a:p>
        </p:txBody>
      </p:sp>
      <p:sp>
        <p:nvSpPr>
          <p:cNvPr id="4" name="Kode list.py"/>
          <p:cNvSpPr/>
          <p:nvPr/>
        </p:nvSpPr>
        <p:spPr>
          <a:xfrm>
            <a:off x="457200" y="1143000"/>
            <a:ext cx="420624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33832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list.py</a:t>
            </a:r>
            <a:endParaRPr lang="en-US" sz="900" dirty="0"/>
          </a:p>
        </p:txBody>
      </p:sp>
      <p:sp>
        <p:nvSpPr>
          <p:cNvPr id="9" name="Text 6"/>
          <p:cNvSpPr txBox="1"/>
          <p:nvPr/>
        </p:nvSpPr>
        <p:spPr>
          <a:xfrm>
            <a:off x="594360" y="1490472"/>
            <a:ext cx="3931920" cy="2944368"/>
          </a:xfrm>
          <a:prstGeom prst="rect">
            <a:avLst/>
          </a:prstGeom>
          <a:noFill/>
          <a:ln/>
        </p:spPr>
        <p:txBody>
          <a:bodyPr wrap="square" lIns="0" tIns="0" rIns="0" bIns="0" rtlCol="0" anchor="t"/>
          <a:lstStyle/>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70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85</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90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append</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100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tambah</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remove</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70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hapus</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85</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1</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100</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0</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2</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[85, 90]</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len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sum</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list comprehension</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kuadrat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x</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2</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x</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range</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5</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p:txBody>
      </p:sp>
      <p:sp>
        <p:nvSpPr>
          <p:cNvPr id="10" name="Kode dict.py"/>
          <p:cNvSpPr/>
          <p:nvPr/>
        </p:nvSpPr>
        <p:spPr>
          <a:xfrm>
            <a:off x="4846320" y="1143000"/>
            <a:ext cx="384048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11" name="Shape 8"/>
          <p:cNvSpPr/>
          <p:nvPr/>
        </p:nvSpPr>
        <p:spPr>
          <a:xfrm>
            <a:off x="4983480" y="1261872"/>
            <a:ext cx="91440" cy="91440"/>
          </a:xfrm>
          <a:prstGeom prst="ellipse">
            <a:avLst/>
          </a:prstGeom>
          <a:solidFill>
            <a:srgbClr val="E2614B"/>
          </a:solidFill>
          <a:ln w="12700">
            <a:solidFill>
              <a:srgbClr val="E2614B"/>
            </a:solidFill>
            <a:prstDash val="solid"/>
          </a:ln>
        </p:spPr>
      </p:sp>
      <p:sp>
        <p:nvSpPr>
          <p:cNvPr id="12" name="Shape 9"/>
          <p:cNvSpPr/>
          <p:nvPr/>
        </p:nvSpPr>
        <p:spPr>
          <a:xfrm>
            <a:off x="5138928" y="1261872"/>
            <a:ext cx="91440" cy="91440"/>
          </a:xfrm>
          <a:prstGeom prst="ellipse">
            <a:avLst/>
          </a:prstGeom>
          <a:solidFill>
            <a:srgbClr val="FFD43B"/>
          </a:solidFill>
          <a:ln w="12700">
            <a:solidFill>
              <a:srgbClr val="FFD43B"/>
            </a:solidFill>
            <a:prstDash val="solid"/>
          </a:ln>
        </p:spPr>
      </p:sp>
      <p:sp>
        <p:nvSpPr>
          <p:cNvPr id="13" name="Shape 10"/>
          <p:cNvSpPr/>
          <p:nvPr/>
        </p:nvSpPr>
        <p:spPr>
          <a:xfrm>
            <a:off x="5294376" y="1261872"/>
            <a:ext cx="91440" cy="91440"/>
          </a:xfrm>
          <a:prstGeom prst="ellipse">
            <a:avLst/>
          </a:prstGeom>
          <a:solidFill>
            <a:srgbClr val="2E9E6A"/>
          </a:solidFill>
          <a:ln w="12700">
            <a:solidFill>
              <a:srgbClr val="2E9E6A"/>
            </a:solidFill>
            <a:prstDash val="solid"/>
          </a:ln>
        </p:spPr>
      </p:sp>
      <p:sp>
        <p:nvSpPr>
          <p:cNvPr id="14" name="Text 11"/>
          <p:cNvSpPr txBox="1"/>
          <p:nvPr/>
        </p:nvSpPr>
        <p:spPr>
          <a:xfrm>
            <a:off x="5486400" y="1197864"/>
            <a:ext cx="301752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dict.py</a:t>
            </a:r>
            <a:endParaRPr lang="en-US" sz="900" dirty="0"/>
          </a:p>
        </p:txBody>
      </p:sp>
      <p:sp>
        <p:nvSpPr>
          <p:cNvPr id="15" name="Text 12"/>
          <p:cNvSpPr txBox="1"/>
          <p:nvPr/>
        </p:nvSpPr>
        <p:spPr>
          <a:xfrm>
            <a:off x="4983480" y="1490472"/>
            <a:ext cx="3566160" cy="2944368"/>
          </a:xfrm>
          <a:prstGeom prst="rect">
            <a:avLst/>
          </a:prstGeom>
          <a:noFill/>
          <a:ln/>
        </p:spPr>
        <p:txBody>
          <a:bodyPr wrap="square" lIns="0" tIns="0" rIns="0" bIns="0" rtlCol="0" anchor="t"/>
          <a:lstStyle/>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siswa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"Rina"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"kelas"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11</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siswa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"nilai"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92</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tambah</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siswa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Rina</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v</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siswa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items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v</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5</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Fungsi &amp; Modul</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Membuat kode yang bisa dipakai ulang dan memanfaatkan library</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Fungsi: Kode yang Dapat Dipakai Ulang</a:t>
            </a:r>
            <a:endParaRPr lang="en-US" sz="2800" dirty="0"/>
          </a:p>
        </p:txBody>
      </p:sp>
      <p:sp>
        <p:nvSpPr>
          <p:cNvPr id="4" name="Kode fungsi.py"/>
          <p:cNvSpPr/>
          <p:nvPr/>
        </p:nvSpPr>
        <p:spPr>
          <a:xfrm>
            <a:off x="457200" y="1143000"/>
            <a:ext cx="512064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2976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fungsi.py</a:t>
            </a:r>
            <a:endParaRPr lang="en-US" sz="900" dirty="0"/>
          </a:p>
        </p:txBody>
      </p:sp>
      <p:sp>
        <p:nvSpPr>
          <p:cNvPr id="9" name="Text 6"/>
          <p:cNvSpPr txBox="1"/>
          <p:nvPr/>
        </p:nvSpPr>
        <p:spPr>
          <a:xfrm>
            <a:off x="594360" y="1490472"/>
            <a:ext cx="4846320" cy="2944368"/>
          </a:xfrm>
          <a:prstGeom prst="rect">
            <a:avLst/>
          </a:prstGeom>
          <a:noFill/>
          <a:ln/>
        </p:spPr>
        <p:txBody>
          <a:bodyPr wrap="square" lIns="0" tIns="0" rIns="0" bIns="0" rtlCol="0" anchor="t"/>
          <a:lstStyle/>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sapa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salam</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"Halo"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"""Mengembalikan kalimat sapaan."""</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f"{salam}, {nama}!"</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sapa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"Dewi"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Halo, Dewi!</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sapa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"Joko"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"Selamat pagi"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luas_persegi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sisi</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kali2</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lambda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x</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x</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2</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luas_persegi</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4</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kali2</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F78C6C"/>
                </a:solidFill>
                <a:latin typeface="Courier New" pitchFamily="34" charset="0"/>
                <a:ea typeface="Courier New" pitchFamily="34" charset="-122"/>
                <a:cs typeface="Courier New" pitchFamily="34" charset="-120"/>
              </a:rPr>
              <a:t>5</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16 10</a:t>
            </a:r>
            <a:endParaRPr lang="en-US" sz="1150" dirty="0"/>
          </a:p>
        </p:txBody>
      </p:sp>
      <p:sp>
        <p:nvSpPr>
          <p:cNvPr id="10" name="Shape 7"/>
          <p:cNvSpPr/>
          <p:nvPr/>
        </p:nvSpPr>
        <p:spPr>
          <a:xfrm>
            <a:off x="5852160" y="1188720"/>
            <a:ext cx="502920" cy="502920"/>
          </a:xfrm>
          <a:prstGeom prst="ellipse">
            <a:avLst/>
          </a:prstGeom>
          <a:solidFill>
            <a:schemeClr val="accent2"/>
          </a:solidFill>
          <a:ln w="12700">
            <a:solidFill>
              <a:schemeClr val="accent2"/>
            </a:solidFill>
            <a:prstDash val="solid"/>
          </a:ln>
        </p:spPr>
      </p:sp>
      <p:pic>
        <p:nvPicPr>
          <p:cNvPr id="11" name="Image 0" descr="preencoded.png">    </p:cNvPr>
          <p:cNvPicPr>
            <a:picLocks noChangeAspect="1"/>
          </p:cNvPicPr>
          <p:nvPr/>
        </p:nvPicPr>
        <p:blipFill>
          <a:blip r:embed="rId1"/>
          <a:stretch>
            <a:fillRect/>
          </a:stretch>
        </p:blipFill>
        <p:spPr>
          <a:xfrm>
            <a:off x="5977890" y="1314450"/>
            <a:ext cx="251460" cy="251460"/>
          </a:xfrm>
          <a:prstGeom prst="rect">
            <a:avLst/>
          </a:prstGeom>
        </p:spPr>
      </p:pic>
      <p:sp>
        <p:nvSpPr>
          <p:cNvPr id="12" name="Text 8"/>
          <p:cNvSpPr txBox="1"/>
          <p:nvPr/>
        </p:nvSpPr>
        <p:spPr>
          <a:xfrm>
            <a:off x="6492240" y="1188720"/>
            <a:ext cx="2194560"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def</a:t>
            </a:r>
            <a:endParaRPr lang="en-US" sz="1400" dirty="0"/>
          </a:p>
        </p:txBody>
      </p:sp>
      <p:sp>
        <p:nvSpPr>
          <p:cNvPr id="13" name="Text 9"/>
          <p:cNvSpPr txBox="1"/>
          <p:nvPr/>
        </p:nvSpPr>
        <p:spPr>
          <a:xfrm>
            <a:off x="6492240" y="1444752"/>
            <a:ext cx="2194560" cy="457200"/>
          </a:xfrm>
          <a:prstGeom prst="rect">
            <a:avLst/>
          </a:prstGeom>
          <a:noFill/>
          <a:ln/>
        </p:spPr>
        <p:txBody>
          <a:bodyPr wrap="square" lIns="0" tIns="0" rIns="0" bIns="0" rtlCol="0" anchor="t"/>
          <a:lstStyle/>
          <a:p>
            <a:pPr indent="0" marL="0">
              <a:buNone/>
            </a:pPr>
            <a:r>
              <a:rPr lang="en-US" sz="1150" dirty="0">
                <a:solidFill>
                  <a:schemeClr val="tx2"/>
                </a:solidFill>
              </a:rPr>
              <a:t>kata kunci untuk membuat fungsi</a:t>
            </a:r>
            <a:endParaRPr lang="en-US" sz="1150" dirty="0"/>
          </a:p>
        </p:txBody>
      </p:sp>
      <p:sp>
        <p:nvSpPr>
          <p:cNvPr id="14" name="Shape 10"/>
          <p:cNvSpPr/>
          <p:nvPr/>
        </p:nvSpPr>
        <p:spPr>
          <a:xfrm>
            <a:off x="5852160" y="2029968"/>
            <a:ext cx="502920" cy="502920"/>
          </a:xfrm>
          <a:prstGeom prst="ellipse">
            <a:avLst/>
          </a:prstGeom>
          <a:solidFill>
            <a:schemeClr val="accent2"/>
          </a:solidFill>
          <a:ln w="12700">
            <a:solidFill>
              <a:schemeClr val="accent2"/>
            </a:solidFill>
            <a:prstDash val="solid"/>
          </a:ln>
        </p:spPr>
      </p:sp>
      <p:pic>
        <p:nvPicPr>
          <p:cNvPr id="15" name="Image 1" descr="preencoded.png">    </p:cNvPr>
          <p:cNvPicPr>
            <a:picLocks noChangeAspect="1"/>
          </p:cNvPicPr>
          <p:nvPr/>
        </p:nvPicPr>
        <p:blipFill>
          <a:blip r:embed="rId2"/>
          <a:stretch>
            <a:fillRect/>
          </a:stretch>
        </p:blipFill>
        <p:spPr>
          <a:xfrm>
            <a:off x="5977890" y="2155698"/>
            <a:ext cx="251460" cy="251460"/>
          </a:xfrm>
          <a:prstGeom prst="rect">
            <a:avLst/>
          </a:prstGeom>
        </p:spPr>
      </p:pic>
      <p:sp>
        <p:nvSpPr>
          <p:cNvPr id="16" name="Text 11"/>
          <p:cNvSpPr txBox="1"/>
          <p:nvPr/>
        </p:nvSpPr>
        <p:spPr>
          <a:xfrm>
            <a:off x="6492240" y="2029968"/>
            <a:ext cx="2194560"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parameter</a:t>
            </a:r>
            <a:endParaRPr lang="en-US" sz="1400" dirty="0"/>
          </a:p>
        </p:txBody>
      </p:sp>
      <p:sp>
        <p:nvSpPr>
          <p:cNvPr id="17" name="Text 12"/>
          <p:cNvSpPr txBox="1"/>
          <p:nvPr/>
        </p:nvSpPr>
        <p:spPr>
          <a:xfrm>
            <a:off x="6492240" y="2286000"/>
            <a:ext cx="2194560" cy="457200"/>
          </a:xfrm>
          <a:prstGeom prst="rect">
            <a:avLst/>
          </a:prstGeom>
          <a:noFill/>
          <a:ln/>
        </p:spPr>
        <p:txBody>
          <a:bodyPr wrap="square" lIns="0" tIns="0" rIns="0" bIns="0" rtlCol="0" anchor="t"/>
          <a:lstStyle/>
          <a:p>
            <a:pPr indent="0" marL="0">
              <a:buNone/>
            </a:pPr>
            <a:r>
              <a:rPr lang="en-US" sz="1150" dirty="0">
                <a:solidFill>
                  <a:schemeClr val="tx2"/>
                </a:solidFill>
              </a:rPr>
              <a:t>data masukan, bisa diberi nilai default</a:t>
            </a:r>
            <a:endParaRPr lang="en-US" sz="1150" dirty="0"/>
          </a:p>
        </p:txBody>
      </p:sp>
      <p:sp>
        <p:nvSpPr>
          <p:cNvPr id="18" name="Shape 13"/>
          <p:cNvSpPr/>
          <p:nvPr/>
        </p:nvSpPr>
        <p:spPr>
          <a:xfrm>
            <a:off x="5852160" y="2871216"/>
            <a:ext cx="502920" cy="502920"/>
          </a:xfrm>
          <a:prstGeom prst="ellipse">
            <a:avLst/>
          </a:prstGeom>
          <a:solidFill>
            <a:schemeClr val="accent2"/>
          </a:solidFill>
          <a:ln w="12700">
            <a:solidFill>
              <a:schemeClr val="accent2"/>
            </a:solidFill>
            <a:prstDash val="solid"/>
          </a:ln>
        </p:spPr>
      </p:sp>
      <p:pic>
        <p:nvPicPr>
          <p:cNvPr id="19" name="Image 2" descr="preencoded.png">    </p:cNvPr>
          <p:cNvPicPr>
            <a:picLocks noChangeAspect="1"/>
          </p:cNvPicPr>
          <p:nvPr/>
        </p:nvPicPr>
        <p:blipFill>
          <a:blip r:embed="rId3"/>
          <a:stretch>
            <a:fillRect/>
          </a:stretch>
        </p:blipFill>
        <p:spPr>
          <a:xfrm>
            <a:off x="5977890" y="2996946"/>
            <a:ext cx="251460" cy="251460"/>
          </a:xfrm>
          <a:prstGeom prst="rect">
            <a:avLst/>
          </a:prstGeom>
        </p:spPr>
      </p:pic>
      <p:sp>
        <p:nvSpPr>
          <p:cNvPr id="20" name="Text 14"/>
          <p:cNvSpPr txBox="1"/>
          <p:nvPr/>
        </p:nvSpPr>
        <p:spPr>
          <a:xfrm>
            <a:off x="6492240" y="2871216"/>
            <a:ext cx="2194560"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return</a:t>
            </a:r>
            <a:endParaRPr lang="en-US" sz="1400" dirty="0"/>
          </a:p>
        </p:txBody>
      </p:sp>
      <p:sp>
        <p:nvSpPr>
          <p:cNvPr id="21" name="Text 15"/>
          <p:cNvSpPr txBox="1"/>
          <p:nvPr/>
        </p:nvSpPr>
        <p:spPr>
          <a:xfrm>
            <a:off x="6492240" y="3127248"/>
            <a:ext cx="2194560" cy="457200"/>
          </a:xfrm>
          <a:prstGeom prst="rect">
            <a:avLst/>
          </a:prstGeom>
          <a:noFill/>
          <a:ln/>
        </p:spPr>
        <p:txBody>
          <a:bodyPr wrap="square" lIns="0" tIns="0" rIns="0" bIns="0" rtlCol="0" anchor="t"/>
          <a:lstStyle/>
          <a:p>
            <a:pPr indent="0" marL="0">
              <a:buNone/>
            </a:pPr>
            <a:r>
              <a:rPr lang="en-US" sz="1150" dirty="0">
                <a:solidFill>
                  <a:schemeClr val="tx2"/>
                </a:solidFill>
              </a:rPr>
              <a:t>mengembalikan hasil ke pemanggil</a:t>
            </a:r>
            <a:endParaRPr lang="en-US" sz="1150" dirty="0"/>
          </a:p>
        </p:txBody>
      </p:sp>
      <p:sp>
        <p:nvSpPr>
          <p:cNvPr id="22" name="Shape 16"/>
          <p:cNvSpPr/>
          <p:nvPr/>
        </p:nvSpPr>
        <p:spPr>
          <a:xfrm>
            <a:off x="5852160" y="3712464"/>
            <a:ext cx="502920" cy="502920"/>
          </a:xfrm>
          <a:prstGeom prst="ellipse">
            <a:avLst/>
          </a:prstGeom>
          <a:solidFill>
            <a:schemeClr val="accent2"/>
          </a:solidFill>
          <a:ln w="12700">
            <a:solidFill>
              <a:schemeClr val="accent2"/>
            </a:solidFill>
            <a:prstDash val="solid"/>
          </a:ln>
        </p:spPr>
      </p:sp>
      <p:pic>
        <p:nvPicPr>
          <p:cNvPr id="23" name="Image 3" descr="preencoded.png">    </p:cNvPr>
          <p:cNvPicPr>
            <a:picLocks noChangeAspect="1"/>
          </p:cNvPicPr>
          <p:nvPr/>
        </p:nvPicPr>
        <p:blipFill>
          <a:blip r:embed="rId4"/>
          <a:stretch>
            <a:fillRect/>
          </a:stretch>
        </p:blipFill>
        <p:spPr>
          <a:xfrm>
            <a:off x="5977890" y="3838194"/>
            <a:ext cx="251460" cy="251460"/>
          </a:xfrm>
          <a:prstGeom prst="rect">
            <a:avLst/>
          </a:prstGeom>
        </p:spPr>
      </p:pic>
      <p:sp>
        <p:nvSpPr>
          <p:cNvPr id="24" name="Text 17"/>
          <p:cNvSpPr txBox="1"/>
          <p:nvPr/>
        </p:nvSpPr>
        <p:spPr>
          <a:xfrm>
            <a:off x="6492240" y="3712464"/>
            <a:ext cx="2194560"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lambda</a:t>
            </a:r>
            <a:endParaRPr lang="en-US" sz="1400" dirty="0"/>
          </a:p>
        </p:txBody>
      </p:sp>
      <p:sp>
        <p:nvSpPr>
          <p:cNvPr id="25" name="Text 18"/>
          <p:cNvSpPr txBox="1"/>
          <p:nvPr/>
        </p:nvSpPr>
        <p:spPr>
          <a:xfrm>
            <a:off x="6492240" y="3968496"/>
            <a:ext cx="2194560" cy="457200"/>
          </a:xfrm>
          <a:prstGeom prst="rect">
            <a:avLst/>
          </a:prstGeom>
          <a:noFill/>
          <a:ln/>
        </p:spPr>
        <p:txBody>
          <a:bodyPr wrap="square" lIns="0" tIns="0" rIns="0" bIns="0" rtlCol="0" anchor="t"/>
          <a:lstStyle/>
          <a:p>
            <a:pPr indent="0" marL="0">
              <a:buNone/>
            </a:pPr>
            <a:r>
              <a:rPr lang="en-US" sz="1150" dirty="0">
                <a:solidFill>
                  <a:schemeClr val="tx2"/>
                </a:solidFill>
              </a:rPr>
              <a:t>fungsi singkat tanpa nama</a:t>
            </a:r>
            <a:endParaRPr lang="en-US" sz="11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Modul, Package &amp; pip</a:t>
            </a:r>
            <a:endParaRPr lang="en-US" sz="2800" dirty="0"/>
          </a:p>
        </p:txBody>
      </p:sp>
      <p:sp>
        <p:nvSpPr>
          <p:cNvPr id="4" name="Kode modul.py"/>
          <p:cNvSpPr/>
          <p:nvPr/>
        </p:nvSpPr>
        <p:spPr>
          <a:xfrm>
            <a:off x="457200" y="1143000"/>
            <a:ext cx="4206240" cy="2103120"/>
          </a:xfrm>
          <a:prstGeom prst="roundRect">
            <a:avLst>
              <a:gd name="adj" fmla="val 3478"/>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33832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modul.py</a:t>
            </a:r>
            <a:endParaRPr lang="en-US" sz="900" dirty="0"/>
          </a:p>
        </p:txBody>
      </p:sp>
      <p:sp>
        <p:nvSpPr>
          <p:cNvPr id="9" name="Text 6"/>
          <p:cNvSpPr txBox="1"/>
          <p:nvPr/>
        </p:nvSpPr>
        <p:spPr>
          <a:xfrm>
            <a:off x="594360" y="1490472"/>
            <a:ext cx="3931920" cy="1664208"/>
          </a:xfrm>
          <a:prstGeom prst="rect">
            <a:avLst/>
          </a:prstGeom>
          <a:noFill/>
          <a:ln/>
        </p:spPr>
        <p:txBody>
          <a:bodyPr wrap="square" lIns="0" tIns="0" rIns="0" bIns="0" rtlCol="0" anchor="t"/>
          <a:lstStyle/>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import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math</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from</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random</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import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randint</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import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datetime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as</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dt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math</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sqrt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16</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4.0</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randint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10</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7F8C9A"/>
                </a:solidFill>
                <a:latin typeface="Courier New" pitchFamily="34" charset="0"/>
                <a:ea typeface="Courier New" pitchFamily="34" charset="-122"/>
                <a:cs typeface="Courier New" pitchFamily="34" charset="-120"/>
              </a:rPr>
              <a:t># angka acak</a:t>
            </a:r>
            <a:endParaRPr lang="en-US" sz="1200" dirty="0"/>
          </a:p>
          <a:p>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dt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date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today</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p:txBody>
      </p:sp>
      <p:sp>
        <p:nvSpPr>
          <p:cNvPr id="10" name="Kode terminal"/>
          <p:cNvSpPr/>
          <p:nvPr/>
        </p:nvSpPr>
        <p:spPr>
          <a:xfrm>
            <a:off x="457200" y="3474720"/>
            <a:ext cx="4206240" cy="1097280"/>
          </a:xfrm>
          <a:prstGeom prst="roundRect">
            <a:avLst>
              <a:gd name="adj" fmla="val 6667"/>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11" name="Shape 8"/>
          <p:cNvSpPr/>
          <p:nvPr/>
        </p:nvSpPr>
        <p:spPr>
          <a:xfrm>
            <a:off x="594360" y="3593592"/>
            <a:ext cx="91440" cy="91440"/>
          </a:xfrm>
          <a:prstGeom prst="ellipse">
            <a:avLst/>
          </a:prstGeom>
          <a:solidFill>
            <a:srgbClr val="E2614B"/>
          </a:solidFill>
          <a:ln w="12700">
            <a:solidFill>
              <a:srgbClr val="E2614B"/>
            </a:solidFill>
            <a:prstDash val="solid"/>
          </a:ln>
        </p:spPr>
      </p:sp>
      <p:sp>
        <p:nvSpPr>
          <p:cNvPr id="12" name="Shape 9"/>
          <p:cNvSpPr/>
          <p:nvPr/>
        </p:nvSpPr>
        <p:spPr>
          <a:xfrm>
            <a:off x="749808" y="3593592"/>
            <a:ext cx="91440" cy="91440"/>
          </a:xfrm>
          <a:prstGeom prst="ellipse">
            <a:avLst/>
          </a:prstGeom>
          <a:solidFill>
            <a:srgbClr val="FFD43B"/>
          </a:solidFill>
          <a:ln w="12700">
            <a:solidFill>
              <a:srgbClr val="FFD43B"/>
            </a:solidFill>
            <a:prstDash val="solid"/>
          </a:ln>
        </p:spPr>
      </p:sp>
      <p:sp>
        <p:nvSpPr>
          <p:cNvPr id="13" name="Shape 10"/>
          <p:cNvSpPr/>
          <p:nvPr/>
        </p:nvSpPr>
        <p:spPr>
          <a:xfrm>
            <a:off x="905256" y="3593592"/>
            <a:ext cx="91440" cy="91440"/>
          </a:xfrm>
          <a:prstGeom prst="ellipse">
            <a:avLst/>
          </a:prstGeom>
          <a:solidFill>
            <a:srgbClr val="2E9E6A"/>
          </a:solidFill>
          <a:ln w="12700">
            <a:solidFill>
              <a:srgbClr val="2E9E6A"/>
            </a:solidFill>
            <a:prstDash val="solid"/>
          </a:ln>
        </p:spPr>
      </p:sp>
      <p:sp>
        <p:nvSpPr>
          <p:cNvPr id="14" name="Text 11"/>
          <p:cNvSpPr txBox="1"/>
          <p:nvPr/>
        </p:nvSpPr>
        <p:spPr>
          <a:xfrm>
            <a:off x="1097280" y="3529584"/>
            <a:ext cx="33832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terminal</a:t>
            </a:r>
            <a:endParaRPr lang="en-US" sz="900" dirty="0"/>
          </a:p>
        </p:txBody>
      </p:sp>
      <p:sp>
        <p:nvSpPr>
          <p:cNvPr id="15" name="Text 12"/>
          <p:cNvSpPr txBox="1"/>
          <p:nvPr/>
        </p:nvSpPr>
        <p:spPr>
          <a:xfrm>
            <a:off x="594360" y="3822192"/>
            <a:ext cx="3931920" cy="658368"/>
          </a:xfrm>
          <a:prstGeom prst="rect">
            <a:avLst/>
          </a:prstGeom>
          <a:noFill/>
          <a:ln/>
        </p:spPr>
        <p:txBody>
          <a:bodyPr wrap="square" lIns="0" tIns="0" rIns="0" bIns="0" rtlCol="0" anchor="t"/>
          <a:lstStyle/>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python</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m</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venv</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env</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pip</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install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requests</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pip</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list</a:t>
            </a:r>
            <a:endParaRPr lang="en-US" sz="1200" dirty="0"/>
          </a:p>
        </p:txBody>
      </p:sp>
      <p:sp>
        <p:nvSpPr>
          <p:cNvPr id="16" name="Text 13"/>
          <p:cNvSpPr txBox="1"/>
          <p:nvPr/>
        </p:nvSpPr>
        <p:spPr>
          <a:xfrm>
            <a:off x="4937760" y="1143000"/>
            <a:ext cx="3749040" cy="320040"/>
          </a:xfrm>
          <a:prstGeom prst="rect">
            <a:avLst/>
          </a:prstGeom>
          <a:noFill/>
          <a:ln/>
        </p:spPr>
        <p:txBody>
          <a:bodyPr wrap="square" lIns="0" tIns="0" rIns="0" bIns="0" rtlCol="0" anchor="t"/>
          <a:lstStyle/>
          <a:p>
            <a:pPr indent="0" marL="0">
              <a:buNone/>
            </a:pPr>
            <a:r>
              <a:rPr lang="en-US" sz="1500" b="1" dirty="0">
                <a:solidFill>
                  <a:schemeClr val="accent1"/>
                </a:solidFill>
              </a:rPr>
              <a:t>Modul bawaan yang sering dipakai</a:t>
            </a:r>
            <a:endParaRPr lang="en-US" sz="1500" dirty="0"/>
          </a:p>
        </p:txBody>
      </p:sp>
      <p:sp>
        <p:nvSpPr>
          <p:cNvPr id="17" name="Shape 14"/>
          <p:cNvSpPr/>
          <p:nvPr/>
        </p:nvSpPr>
        <p:spPr>
          <a:xfrm>
            <a:off x="4937760" y="1554480"/>
            <a:ext cx="1783080" cy="868680"/>
          </a:xfrm>
          <a:prstGeom prst="roundRect">
            <a:avLst>
              <a:gd name="adj" fmla="val 8421"/>
            </a:avLst>
          </a:prstGeom>
          <a:solidFill>
            <a:schemeClr val="bg2"/>
          </a:solidFill>
          <a:ln w="12700">
            <a:solidFill>
              <a:schemeClr val="bg2"/>
            </a:solidFill>
            <a:prstDash val="solid"/>
          </a:ln>
        </p:spPr>
      </p:sp>
      <p:sp>
        <p:nvSpPr>
          <p:cNvPr id="18" name="Text 15"/>
          <p:cNvSpPr txBox="1"/>
          <p:nvPr/>
        </p:nvSpPr>
        <p:spPr>
          <a:xfrm>
            <a:off x="5074920" y="166420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math</a:t>
            </a:r>
            <a:endParaRPr lang="en-US" sz="1400" dirty="0"/>
          </a:p>
        </p:txBody>
      </p:sp>
      <p:sp>
        <p:nvSpPr>
          <p:cNvPr id="19" name="Text 16"/>
          <p:cNvSpPr txBox="1"/>
          <p:nvPr/>
        </p:nvSpPr>
        <p:spPr>
          <a:xfrm>
            <a:off x="5074920" y="1993392"/>
            <a:ext cx="1554480" cy="320040"/>
          </a:xfrm>
          <a:prstGeom prst="rect">
            <a:avLst/>
          </a:prstGeom>
          <a:noFill/>
          <a:ln/>
        </p:spPr>
        <p:txBody>
          <a:bodyPr wrap="square" lIns="0" tIns="0" rIns="0" bIns="0" rtlCol="0" anchor="t"/>
          <a:lstStyle/>
          <a:p>
            <a:pPr indent="0" marL="0">
              <a:buNone/>
            </a:pPr>
            <a:r>
              <a:rPr lang="en-US" sz="1150" dirty="0">
                <a:solidFill>
                  <a:schemeClr val="tx2"/>
                </a:solidFill>
              </a:rPr>
              <a:t>fungsi matematika</a:t>
            </a:r>
            <a:endParaRPr lang="en-US" sz="1150" dirty="0"/>
          </a:p>
        </p:txBody>
      </p:sp>
      <p:sp>
        <p:nvSpPr>
          <p:cNvPr id="20" name="Shape 17"/>
          <p:cNvSpPr/>
          <p:nvPr/>
        </p:nvSpPr>
        <p:spPr>
          <a:xfrm>
            <a:off x="6839712" y="1554480"/>
            <a:ext cx="1783080" cy="868680"/>
          </a:xfrm>
          <a:prstGeom prst="roundRect">
            <a:avLst>
              <a:gd name="adj" fmla="val 8421"/>
            </a:avLst>
          </a:prstGeom>
          <a:solidFill>
            <a:schemeClr val="bg2"/>
          </a:solidFill>
          <a:ln w="12700">
            <a:solidFill>
              <a:schemeClr val="bg2"/>
            </a:solidFill>
            <a:prstDash val="solid"/>
          </a:ln>
        </p:spPr>
      </p:sp>
      <p:sp>
        <p:nvSpPr>
          <p:cNvPr id="21" name="Text 18"/>
          <p:cNvSpPr txBox="1"/>
          <p:nvPr/>
        </p:nvSpPr>
        <p:spPr>
          <a:xfrm>
            <a:off x="6976872" y="166420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random</a:t>
            </a:r>
            <a:endParaRPr lang="en-US" sz="1400" dirty="0"/>
          </a:p>
        </p:txBody>
      </p:sp>
      <p:sp>
        <p:nvSpPr>
          <p:cNvPr id="22" name="Text 19"/>
          <p:cNvSpPr txBox="1"/>
          <p:nvPr/>
        </p:nvSpPr>
        <p:spPr>
          <a:xfrm>
            <a:off x="6976872" y="1993392"/>
            <a:ext cx="1554480" cy="320040"/>
          </a:xfrm>
          <a:prstGeom prst="rect">
            <a:avLst/>
          </a:prstGeom>
          <a:noFill/>
          <a:ln/>
        </p:spPr>
        <p:txBody>
          <a:bodyPr wrap="square" lIns="0" tIns="0" rIns="0" bIns="0" rtlCol="0" anchor="t"/>
          <a:lstStyle/>
          <a:p>
            <a:pPr indent="0" marL="0">
              <a:buNone/>
            </a:pPr>
            <a:r>
              <a:rPr lang="en-US" sz="1150" dirty="0">
                <a:solidFill>
                  <a:schemeClr val="tx2"/>
                </a:solidFill>
              </a:rPr>
              <a:t>angka acak</a:t>
            </a:r>
            <a:endParaRPr lang="en-US" sz="1150" dirty="0"/>
          </a:p>
        </p:txBody>
      </p:sp>
      <p:sp>
        <p:nvSpPr>
          <p:cNvPr id="23" name="Shape 20"/>
          <p:cNvSpPr/>
          <p:nvPr/>
        </p:nvSpPr>
        <p:spPr>
          <a:xfrm>
            <a:off x="4937760" y="2560320"/>
            <a:ext cx="1783080" cy="868680"/>
          </a:xfrm>
          <a:prstGeom prst="roundRect">
            <a:avLst>
              <a:gd name="adj" fmla="val 8421"/>
            </a:avLst>
          </a:prstGeom>
          <a:solidFill>
            <a:schemeClr val="bg2"/>
          </a:solidFill>
          <a:ln w="12700">
            <a:solidFill>
              <a:schemeClr val="bg2"/>
            </a:solidFill>
            <a:prstDash val="solid"/>
          </a:ln>
        </p:spPr>
      </p:sp>
      <p:sp>
        <p:nvSpPr>
          <p:cNvPr id="24" name="Text 21"/>
          <p:cNvSpPr txBox="1"/>
          <p:nvPr/>
        </p:nvSpPr>
        <p:spPr>
          <a:xfrm>
            <a:off x="5074920" y="267004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datetime</a:t>
            </a:r>
            <a:endParaRPr lang="en-US" sz="1400" dirty="0"/>
          </a:p>
        </p:txBody>
      </p:sp>
      <p:sp>
        <p:nvSpPr>
          <p:cNvPr id="25" name="Text 22"/>
          <p:cNvSpPr txBox="1"/>
          <p:nvPr/>
        </p:nvSpPr>
        <p:spPr>
          <a:xfrm>
            <a:off x="5074920" y="2999232"/>
            <a:ext cx="1554480" cy="320040"/>
          </a:xfrm>
          <a:prstGeom prst="rect">
            <a:avLst/>
          </a:prstGeom>
          <a:noFill/>
          <a:ln/>
        </p:spPr>
        <p:txBody>
          <a:bodyPr wrap="square" lIns="0" tIns="0" rIns="0" bIns="0" rtlCol="0" anchor="t"/>
          <a:lstStyle/>
          <a:p>
            <a:pPr indent="0" marL="0">
              <a:buNone/>
            </a:pPr>
            <a:r>
              <a:rPr lang="en-US" sz="1150" dirty="0">
                <a:solidFill>
                  <a:schemeClr val="tx2"/>
                </a:solidFill>
              </a:rPr>
              <a:t>tanggal &amp; waktu</a:t>
            </a:r>
            <a:endParaRPr lang="en-US" sz="1150" dirty="0"/>
          </a:p>
        </p:txBody>
      </p:sp>
      <p:sp>
        <p:nvSpPr>
          <p:cNvPr id="26" name="Shape 23"/>
          <p:cNvSpPr/>
          <p:nvPr/>
        </p:nvSpPr>
        <p:spPr>
          <a:xfrm>
            <a:off x="6839712" y="2560320"/>
            <a:ext cx="1783080" cy="868680"/>
          </a:xfrm>
          <a:prstGeom prst="roundRect">
            <a:avLst>
              <a:gd name="adj" fmla="val 8421"/>
            </a:avLst>
          </a:prstGeom>
          <a:solidFill>
            <a:schemeClr val="bg2"/>
          </a:solidFill>
          <a:ln w="12700">
            <a:solidFill>
              <a:schemeClr val="bg2"/>
            </a:solidFill>
            <a:prstDash val="solid"/>
          </a:ln>
        </p:spPr>
      </p:sp>
      <p:sp>
        <p:nvSpPr>
          <p:cNvPr id="27" name="Text 24"/>
          <p:cNvSpPr txBox="1"/>
          <p:nvPr/>
        </p:nvSpPr>
        <p:spPr>
          <a:xfrm>
            <a:off x="6976872" y="267004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os</a:t>
            </a:r>
            <a:endParaRPr lang="en-US" sz="1400" dirty="0"/>
          </a:p>
        </p:txBody>
      </p:sp>
      <p:sp>
        <p:nvSpPr>
          <p:cNvPr id="28" name="Text 25"/>
          <p:cNvSpPr txBox="1"/>
          <p:nvPr/>
        </p:nvSpPr>
        <p:spPr>
          <a:xfrm>
            <a:off x="6976872" y="2999232"/>
            <a:ext cx="1554480" cy="320040"/>
          </a:xfrm>
          <a:prstGeom prst="rect">
            <a:avLst/>
          </a:prstGeom>
          <a:noFill/>
          <a:ln/>
        </p:spPr>
        <p:txBody>
          <a:bodyPr wrap="square" lIns="0" tIns="0" rIns="0" bIns="0" rtlCol="0" anchor="t"/>
          <a:lstStyle/>
          <a:p>
            <a:pPr indent="0" marL="0">
              <a:buNone/>
            </a:pPr>
            <a:r>
              <a:rPr lang="en-US" sz="1150" dirty="0">
                <a:solidFill>
                  <a:schemeClr val="tx2"/>
                </a:solidFill>
              </a:rPr>
              <a:t>file &amp; folder</a:t>
            </a:r>
            <a:endParaRPr lang="en-US" sz="1150" dirty="0"/>
          </a:p>
        </p:txBody>
      </p:sp>
      <p:sp>
        <p:nvSpPr>
          <p:cNvPr id="29" name="Shape 26"/>
          <p:cNvSpPr/>
          <p:nvPr/>
        </p:nvSpPr>
        <p:spPr>
          <a:xfrm>
            <a:off x="4937760" y="3566160"/>
            <a:ext cx="1783080" cy="868680"/>
          </a:xfrm>
          <a:prstGeom prst="roundRect">
            <a:avLst>
              <a:gd name="adj" fmla="val 8421"/>
            </a:avLst>
          </a:prstGeom>
          <a:solidFill>
            <a:schemeClr val="bg2"/>
          </a:solidFill>
          <a:ln w="12700">
            <a:solidFill>
              <a:schemeClr val="bg2"/>
            </a:solidFill>
            <a:prstDash val="solid"/>
          </a:ln>
        </p:spPr>
      </p:sp>
      <p:sp>
        <p:nvSpPr>
          <p:cNvPr id="30" name="Text 27"/>
          <p:cNvSpPr txBox="1"/>
          <p:nvPr/>
        </p:nvSpPr>
        <p:spPr>
          <a:xfrm>
            <a:off x="5074920" y="367588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json</a:t>
            </a:r>
            <a:endParaRPr lang="en-US" sz="1400" dirty="0"/>
          </a:p>
        </p:txBody>
      </p:sp>
      <p:sp>
        <p:nvSpPr>
          <p:cNvPr id="31" name="Text 28"/>
          <p:cNvSpPr txBox="1"/>
          <p:nvPr/>
        </p:nvSpPr>
        <p:spPr>
          <a:xfrm>
            <a:off x="5074920" y="4005072"/>
            <a:ext cx="1554480" cy="320040"/>
          </a:xfrm>
          <a:prstGeom prst="rect">
            <a:avLst/>
          </a:prstGeom>
          <a:noFill/>
          <a:ln/>
        </p:spPr>
        <p:txBody>
          <a:bodyPr wrap="square" lIns="0" tIns="0" rIns="0" bIns="0" rtlCol="0" anchor="t"/>
          <a:lstStyle/>
          <a:p>
            <a:pPr indent="0" marL="0">
              <a:buNone/>
            </a:pPr>
            <a:r>
              <a:rPr lang="en-US" sz="1150" dirty="0">
                <a:solidFill>
                  <a:schemeClr val="tx2"/>
                </a:solidFill>
              </a:rPr>
              <a:t>baca/tulis JSON</a:t>
            </a:r>
            <a:endParaRPr lang="en-US" sz="1150" dirty="0"/>
          </a:p>
        </p:txBody>
      </p:sp>
      <p:sp>
        <p:nvSpPr>
          <p:cNvPr id="32" name="Shape 29"/>
          <p:cNvSpPr/>
          <p:nvPr/>
        </p:nvSpPr>
        <p:spPr>
          <a:xfrm>
            <a:off x="6839712" y="3566160"/>
            <a:ext cx="1783080" cy="868680"/>
          </a:xfrm>
          <a:prstGeom prst="roundRect">
            <a:avLst>
              <a:gd name="adj" fmla="val 8421"/>
            </a:avLst>
          </a:prstGeom>
          <a:solidFill>
            <a:schemeClr val="bg2"/>
          </a:solidFill>
          <a:ln w="12700">
            <a:solidFill>
              <a:schemeClr val="bg2"/>
            </a:solidFill>
            <a:prstDash val="solid"/>
          </a:ln>
        </p:spPr>
      </p:sp>
      <p:sp>
        <p:nvSpPr>
          <p:cNvPr id="33" name="Text 30"/>
          <p:cNvSpPr txBox="1"/>
          <p:nvPr/>
        </p:nvSpPr>
        <p:spPr>
          <a:xfrm>
            <a:off x="6976872" y="3675888"/>
            <a:ext cx="155448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csv</a:t>
            </a:r>
            <a:endParaRPr lang="en-US" sz="1400" dirty="0"/>
          </a:p>
        </p:txBody>
      </p:sp>
      <p:sp>
        <p:nvSpPr>
          <p:cNvPr id="34" name="Text 31"/>
          <p:cNvSpPr txBox="1"/>
          <p:nvPr/>
        </p:nvSpPr>
        <p:spPr>
          <a:xfrm>
            <a:off x="6976872" y="4005072"/>
            <a:ext cx="1554480" cy="320040"/>
          </a:xfrm>
          <a:prstGeom prst="rect">
            <a:avLst/>
          </a:prstGeom>
          <a:noFill/>
          <a:ln/>
        </p:spPr>
        <p:txBody>
          <a:bodyPr wrap="square" lIns="0" tIns="0" rIns="0" bIns="0" rtlCol="0" anchor="t"/>
          <a:lstStyle/>
          <a:p>
            <a:pPr indent="0" marL="0">
              <a:buNone/>
            </a:pPr>
            <a:r>
              <a:rPr lang="en-US" sz="1150" dirty="0">
                <a:solidFill>
                  <a:schemeClr val="tx2"/>
                </a:solidFill>
              </a:rPr>
              <a:t>olah file CSV</a:t>
            </a:r>
            <a:endParaRPr lang="en-US" sz="11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6</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Konsep Lanjutan</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OOP, penanganan error, file, dan ekosistem library</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Pemrograman Berorientasi Objek (OOP)</a:t>
            </a:r>
            <a:endParaRPr lang="en-US" sz="2800" dirty="0"/>
          </a:p>
        </p:txBody>
      </p:sp>
      <p:sp>
        <p:nvSpPr>
          <p:cNvPr id="4" name="Kode oop.py"/>
          <p:cNvSpPr/>
          <p:nvPr/>
        </p:nvSpPr>
        <p:spPr>
          <a:xfrm>
            <a:off x="457200" y="1143000"/>
            <a:ext cx="493776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11480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oop.py</a:t>
            </a:r>
            <a:endParaRPr lang="en-US" sz="900" dirty="0"/>
          </a:p>
        </p:txBody>
      </p:sp>
      <p:sp>
        <p:nvSpPr>
          <p:cNvPr id="9" name="Text 6"/>
          <p:cNvSpPr txBox="1"/>
          <p:nvPr/>
        </p:nvSpPr>
        <p:spPr>
          <a:xfrm>
            <a:off x="594360" y="1490472"/>
            <a:ext cx="4663440" cy="2944368"/>
          </a:xfrm>
          <a:prstGeom prst="rect">
            <a:avLst/>
          </a:prstGeom>
          <a:noFill/>
          <a:ln/>
        </p:spPr>
        <p:txBody>
          <a:bodyPr wrap="square" lIns="0" tIns="0" rIns="0" bIns="0" rtlCol="0" anchor="t"/>
          <a:lstStyle/>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Hewan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__init__</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self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self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nama</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suara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self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Kucing</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Hewan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pewarisan</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D43B"/>
                </a:solidFill>
                <a:latin typeface="Courier New" pitchFamily="34" charset="0"/>
                <a:ea typeface="Courier New" pitchFamily="34" charset="-122"/>
                <a:cs typeface="Courier New" pitchFamily="34" charset="-120"/>
              </a:rPr>
              <a:t>suara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self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polimorfisme</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"Meong!"</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milo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Kucing</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"Milo"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milo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milo</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suara</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Milo Meong!</a:t>
            </a:r>
            <a:endParaRPr lang="en-US" sz="1150" dirty="0"/>
          </a:p>
        </p:txBody>
      </p:sp>
      <p:sp>
        <p:nvSpPr>
          <p:cNvPr id="10" name="Shape 7"/>
          <p:cNvSpPr/>
          <p:nvPr/>
        </p:nvSpPr>
        <p:spPr>
          <a:xfrm>
            <a:off x="5623560" y="1143000"/>
            <a:ext cx="1463040" cy="1600200"/>
          </a:xfrm>
          <a:prstGeom prst="roundRect">
            <a:avLst>
              <a:gd name="adj" fmla="val 5000"/>
            </a:avLst>
          </a:prstGeom>
          <a:solidFill>
            <a:schemeClr val="bg2"/>
          </a:solidFill>
          <a:ln w="12700">
            <a:solidFill>
              <a:schemeClr val="bg2"/>
            </a:solidFill>
            <a:prstDash val="solid"/>
          </a:ln>
        </p:spPr>
      </p:sp>
      <p:sp>
        <p:nvSpPr>
          <p:cNvPr id="11" name="Shape 8"/>
          <p:cNvSpPr/>
          <p:nvPr/>
        </p:nvSpPr>
        <p:spPr>
          <a:xfrm>
            <a:off x="6108192" y="1280160"/>
            <a:ext cx="502920" cy="502920"/>
          </a:xfrm>
          <a:prstGeom prst="ellipse">
            <a:avLst/>
          </a:prstGeom>
          <a:solidFill>
            <a:schemeClr val="accent1"/>
          </a:solidFill>
          <a:ln w="12700">
            <a:solidFill>
              <a:schemeClr val="accent1"/>
            </a:solidFill>
            <a:prstDash val="solid"/>
          </a:ln>
        </p:spPr>
      </p:sp>
      <p:pic>
        <p:nvPicPr>
          <p:cNvPr id="12" name="Image 0" descr="preencoded.png">    </p:cNvPr>
          <p:cNvPicPr>
            <a:picLocks noChangeAspect="1"/>
          </p:cNvPicPr>
          <p:nvPr/>
        </p:nvPicPr>
        <p:blipFill>
          <a:blip r:embed="rId1"/>
          <a:stretch>
            <a:fillRect/>
          </a:stretch>
        </p:blipFill>
        <p:spPr>
          <a:xfrm>
            <a:off x="6233922" y="1405890"/>
            <a:ext cx="251460" cy="251460"/>
          </a:xfrm>
          <a:prstGeom prst="rect">
            <a:avLst/>
          </a:prstGeom>
        </p:spPr>
      </p:pic>
      <p:sp>
        <p:nvSpPr>
          <p:cNvPr id="13" name="Text 9"/>
          <p:cNvSpPr txBox="1"/>
          <p:nvPr/>
        </p:nvSpPr>
        <p:spPr>
          <a:xfrm>
            <a:off x="5669280" y="1874520"/>
            <a:ext cx="1371600" cy="274320"/>
          </a:xfrm>
          <a:prstGeom prst="rect">
            <a:avLst/>
          </a:prstGeom>
          <a:noFill/>
          <a:ln/>
        </p:spPr>
        <p:txBody>
          <a:bodyPr wrap="square" lIns="0" tIns="0" rIns="0" bIns="0" rtlCol="0" anchor="t"/>
          <a:lstStyle/>
          <a:p>
            <a:pPr algn="ctr" indent="0" marL="0">
              <a:buNone/>
            </a:pPr>
            <a:r>
              <a:rPr lang="en-US" sz="1250" b="1" dirty="0">
                <a:solidFill>
                  <a:schemeClr val="tx1"/>
                </a:solidFill>
              </a:rPr>
              <a:t>Enkapsulasi</a:t>
            </a:r>
            <a:endParaRPr lang="en-US" sz="1250" dirty="0"/>
          </a:p>
        </p:txBody>
      </p:sp>
      <p:sp>
        <p:nvSpPr>
          <p:cNvPr id="14" name="Text 10"/>
          <p:cNvSpPr txBox="1"/>
          <p:nvPr/>
        </p:nvSpPr>
        <p:spPr>
          <a:xfrm>
            <a:off x="5715000" y="2148840"/>
            <a:ext cx="1280160" cy="502920"/>
          </a:xfrm>
          <a:prstGeom prst="rect">
            <a:avLst/>
          </a:prstGeom>
          <a:noFill/>
          <a:ln/>
        </p:spPr>
        <p:txBody>
          <a:bodyPr wrap="square" lIns="0" tIns="0" rIns="0" bIns="0" rtlCol="0" anchor="t"/>
          <a:lstStyle/>
          <a:p>
            <a:pPr algn="ctr" indent="0" marL="0">
              <a:buNone/>
            </a:pPr>
            <a:r>
              <a:rPr lang="en-US" sz="1050" dirty="0">
                <a:solidFill>
                  <a:schemeClr val="tx2"/>
                </a:solidFill>
              </a:rPr>
              <a:t>Membungkus data &amp; method</a:t>
            </a:r>
            <a:endParaRPr lang="en-US" sz="1050" dirty="0"/>
          </a:p>
        </p:txBody>
      </p:sp>
      <p:sp>
        <p:nvSpPr>
          <p:cNvPr id="15" name="Shape 11"/>
          <p:cNvSpPr/>
          <p:nvPr/>
        </p:nvSpPr>
        <p:spPr>
          <a:xfrm>
            <a:off x="7178040" y="1143000"/>
            <a:ext cx="1463040" cy="1600200"/>
          </a:xfrm>
          <a:prstGeom prst="roundRect">
            <a:avLst>
              <a:gd name="adj" fmla="val 5000"/>
            </a:avLst>
          </a:prstGeom>
          <a:solidFill>
            <a:schemeClr val="bg2"/>
          </a:solidFill>
          <a:ln w="12700">
            <a:solidFill>
              <a:schemeClr val="bg2"/>
            </a:solidFill>
            <a:prstDash val="solid"/>
          </a:ln>
        </p:spPr>
      </p:sp>
      <p:sp>
        <p:nvSpPr>
          <p:cNvPr id="16" name="Shape 12"/>
          <p:cNvSpPr/>
          <p:nvPr/>
        </p:nvSpPr>
        <p:spPr>
          <a:xfrm>
            <a:off x="7662672" y="1280160"/>
            <a:ext cx="502920" cy="502920"/>
          </a:xfrm>
          <a:prstGeom prst="ellipse">
            <a:avLst/>
          </a:prstGeom>
          <a:solidFill>
            <a:schemeClr val="accent1"/>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7788402" y="1405890"/>
            <a:ext cx="251460" cy="251460"/>
          </a:xfrm>
          <a:prstGeom prst="rect">
            <a:avLst/>
          </a:prstGeom>
        </p:spPr>
      </p:pic>
      <p:sp>
        <p:nvSpPr>
          <p:cNvPr id="18" name="Text 13"/>
          <p:cNvSpPr txBox="1"/>
          <p:nvPr/>
        </p:nvSpPr>
        <p:spPr>
          <a:xfrm>
            <a:off x="7223760" y="1874520"/>
            <a:ext cx="1371600" cy="274320"/>
          </a:xfrm>
          <a:prstGeom prst="rect">
            <a:avLst/>
          </a:prstGeom>
          <a:noFill/>
          <a:ln/>
        </p:spPr>
        <p:txBody>
          <a:bodyPr wrap="square" lIns="0" tIns="0" rIns="0" bIns="0" rtlCol="0" anchor="t"/>
          <a:lstStyle/>
          <a:p>
            <a:pPr algn="ctr" indent="0" marL="0">
              <a:buNone/>
            </a:pPr>
            <a:r>
              <a:rPr lang="en-US" sz="1250" b="1" dirty="0">
                <a:solidFill>
                  <a:schemeClr val="tx1"/>
                </a:solidFill>
              </a:rPr>
              <a:t>Pewarisan</a:t>
            </a:r>
            <a:endParaRPr lang="en-US" sz="1250" dirty="0"/>
          </a:p>
        </p:txBody>
      </p:sp>
      <p:sp>
        <p:nvSpPr>
          <p:cNvPr id="19" name="Text 14"/>
          <p:cNvSpPr txBox="1"/>
          <p:nvPr/>
        </p:nvSpPr>
        <p:spPr>
          <a:xfrm>
            <a:off x="7269480" y="2148840"/>
            <a:ext cx="1280160" cy="502920"/>
          </a:xfrm>
          <a:prstGeom prst="rect">
            <a:avLst/>
          </a:prstGeom>
          <a:noFill/>
          <a:ln/>
        </p:spPr>
        <p:txBody>
          <a:bodyPr wrap="square" lIns="0" tIns="0" rIns="0" bIns="0" rtlCol="0" anchor="t"/>
          <a:lstStyle/>
          <a:p>
            <a:pPr algn="ctr" indent="0" marL="0">
              <a:buNone/>
            </a:pPr>
            <a:r>
              <a:rPr lang="en-US" sz="1050" dirty="0">
                <a:solidFill>
                  <a:schemeClr val="tx2"/>
                </a:solidFill>
              </a:rPr>
              <a:t>Class anak mewarisi induk</a:t>
            </a:r>
            <a:endParaRPr lang="en-US" sz="1050" dirty="0"/>
          </a:p>
        </p:txBody>
      </p:sp>
      <p:sp>
        <p:nvSpPr>
          <p:cNvPr id="20" name="Shape 15"/>
          <p:cNvSpPr/>
          <p:nvPr/>
        </p:nvSpPr>
        <p:spPr>
          <a:xfrm>
            <a:off x="5623560" y="2880360"/>
            <a:ext cx="1463040" cy="1600200"/>
          </a:xfrm>
          <a:prstGeom prst="roundRect">
            <a:avLst>
              <a:gd name="adj" fmla="val 5000"/>
            </a:avLst>
          </a:prstGeom>
          <a:solidFill>
            <a:schemeClr val="bg2"/>
          </a:solidFill>
          <a:ln w="12700">
            <a:solidFill>
              <a:schemeClr val="bg2"/>
            </a:solidFill>
            <a:prstDash val="solid"/>
          </a:ln>
        </p:spPr>
      </p:sp>
      <p:sp>
        <p:nvSpPr>
          <p:cNvPr id="21" name="Shape 16"/>
          <p:cNvSpPr/>
          <p:nvPr/>
        </p:nvSpPr>
        <p:spPr>
          <a:xfrm>
            <a:off x="6108192" y="3017520"/>
            <a:ext cx="502920" cy="502920"/>
          </a:xfrm>
          <a:prstGeom prst="ellipse">
            <a:avLst/>
          </a:prstGeom>
          <a:solidFill>
            <a:schemeClr val="accent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6233922" y="3143250"/>
            <a:ext cx="251460" cy="251460"/>
          </a:xfrm>
          <a:prstGeom prst="rect">
            <a:avLst/>
          </a:prstGeom>
        </p:spPr>
      </p:pic>
      <p:sp>
        <p:nvSpPr>
          <p:cNvPr id="23" name="Text 17"/>
          <p:cNvSpPr txBox="1"/>
          <p:nvPr/>
        </p:nvSpPr>
        <p:spPr>
          <a:xfrm>
            <a:off x="5669280" y="3611880"/>
            <a:ext cx="1371600" cy="274320"/>
          </a:xfrm>
          <a:prstGeom prst="rect">
            <a:avLst/>
          </a:prstGeom>
          <a:noFill/>
          <a:ln/>
        </p:spPr>
        <p:txBody>
          <a:bodyPr wrap="square" lIns="0" tIns="0" rIns="0" bIns="0" rtlCol="0" anchor="t"/>
          <a:lstStyle/>
          <a:p>
            <a:pPr algn="ctr" indent="0" marL="0">
              <a:buNone/>
            </a:pPr>
            <a:r>
              <a:rPr lang="en-US" sz="1250" b="1" dirty="0">
                <a:solidFill>
                  <a:schemeClr val="tx1"/>
                </a:solidFill>
              </a:rPr>
              <a:t>Polimorfisme</a:t>
            </a:r>
            <a:endParaRPr lang="en-US" sz="1250" dirty="0"/>
          </a:p>
        </p:txBody>
      </p:sp>
      <p:sp>
        <p:nvSpPr>
          <p:cNvPr id="24" name="Text 18"/>
          <p:cNvSpPr txBox="1"/>
          <p:nvPr/>
        </p:nvSpPr>
        <p:spPr>
          <a:xfrm>
            <a:off x="5715000" y="3886200"/>
            <a:ext cx="1280160" cy="502920"/>
          </a:xfrm>
          <a:prstGeom prst="rect">
            <a:avLst/>
          </a:prstGeom>
          <a:noFill/>
          <a:ln/>
        </p:spPr>
        <p:txBody>
          <a:bodyPr wrap="square" lIns="0" tIns="0" rIns="0" bIns="0" rtlCol="0" anchor="t"/>
          <a:lstStyle/>
          <a:p>
            <a:pPr algn="ctr" indent="0" marL="0">
              <a:buNone/>
            </a:pPr>
            <a:r>
              <a:rPr lang="en-US" sz="1050" dirty="0">
                <a:solidFill>
                  <a:schemeClr val="tx2"/>
                </a:solidFill>
              </a:rPr>
              <a:t>Method sama, perilaku beda</a:t>
            </a:r>
            <a:endParaRPr lang="en-US" sz="1050" dirty="0"/>
          </a:p>
        </p:txBody>
      </p:sp>
      <p:sp>
        <p:nvSpPr>
          <p:cNvPr id="25" name="Shape 19"/>
          <p:cNvSpPr/>
          <p:nvPr/>
        </p:nvSpPr>
        <p:spPr>
          <a:xfrm>
            <a:off x="7178040" y="2880360"/>
            <a:ext cx="1463040" cy="1600200"/>
          </a:xfrm>
          <a:prstGeom prst="roundRect">
            <a:avLst>
              <a:gd name="adj" fmla="val 5000"/>
            </a:avLst>
          </a:prstGeom>
          <a:solidFill>
            <a:schemeClr val="bg2"/>
          </a:solidFill>
          <a:ln w="12700">
            <a:solidFill>
              <a:schemeClr val="bg2"/>
            </a:solidFill>
            <a:prstDash val="solid"/>
          </a:ln>
        </p:spPr>
      </p:sp>
      <p:sp>
        <p:nvSpPr>
          <p:cNvPr id="26" name="Shape 20"/>
          <p:cNvSpPr/>
          <p:nvPr/>
        </p:nvSpPr>
        <p:spPr>
          <a:xfrm>
            <a:off x="7662672" y="3017520"/>
            <a:ext cx="502920" cy="502920"/>
          </a:xfrm>
          <a:prstGeom prst="ellipse">
            <a:avLst/>
          </a:prstGeom>
          <a:solidFill>
            <a:schemeClr val="accent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7788402" y="3143250"/>
            <a:ext cx="251460" cy="251460"/>
          </a:xfrm>
          <a:prstGeom prst="rect">
            <a:avLst/>
          </a:prstGeom>
        </p:spPr>
      </p:pic>
      <p:sp>
        <p:nvSpPr>
          <p:cNvPr id="28" name="Text 21"/>
          <p:cNvSpPr txBox="1"/>
          <p:nvPr/>
        </p:nvSpPr>
        <p:spPr>
          <a:xfrm>
            <a:off x="7223760" y="3611880"/>
            <a:ext cx="1371600" cy="274320"/>
          </a:xfrm>
          <a:prstGeom prst="rect">
            <a:avLst/>
          </a:prstGeom>
          <a:noFill/>
          <a:ln/>
        </p:spPr>
        <p:txBody>
          <a:bodyPr wrap="square" lIns="0" tIns="0" rIns="0" bIns="0" rtlCol="0" anchor="t"/>
          <a:lstStyle/>
          <a:p>
            <a:pPr algn="ctr" indent="0" marL="0">
              <a:buNone/>
            </a:pPr>
            <a:r>
              <a:rPr lang="en-US" sz="1250" b="1" dirty="0">
                <a:solidFill>
                  <a:schemeClr val="tx1"/>
                </a:solidFill>
              </a:rPr>
              <a:t>Abstraksi</a:t>
            </a:r>
            <a:endParaRPr lang="en-US" sz="1250" dirty="0"/>
          </a:p>
        </p:txBody>
      </p:sp>
      <p:sp>
        <p:nvSpPr>
          <p:cNvPr id="29" name="Text 22"/>
          <p:cNvSpPr txBox="1"/>
          <p:nvPr/>
        </p:nvSpPr>
        <p:spPr>
          <a:xfrm>
            <a:off x="7269480" y="3886200"/>
            <a:ext cx="1280160" cy="502920"/>
          </a:xfrm>
          <a:prstGeom prst="rect">
            <a:avLst/>
          </a:prstGeom>
          <a:noFill/>
          <a:ln/>
        </p:spPr>
        <p:txBody>
          <a:bodyPr wrap="square" lIns="0" tIns="0" rIns="0" bIns="0" rtlCol="0" anchor="t"/>
          <a:lstStyle/>
          <a:p>
            <a:pPr algn="ctr" indent="0" marL="0">
              <a:buNone/>
            </a:pPr>
            <a:r>
              <a:rPr lang="en-US" sz="1050" dirty="0">
                <a:solidFill>
                  <a:schemeClr val="tx2"/>
                </a:solidFill>
              </a:rPr>
              <a:t>Sembunyikan detail rumit</a:t>
            </a:r>
            <a:endParaRPr lang="en-US" sz="10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Penanganan Error: try &amp; except</a:t>
            </a:r>
            <a:endParaRPr lang="en-US" sz="2800" dirty="0"/>
          </a:p>
        </p:txBody>
      </p:sp>
      <p:sp>
        <p:nvSpPr>
          <p:cNvPr id="4" name="Kode error.py"/>
          <p:cNvSpPr/>
          <p:nvPr/>
        </p:nvSpPr>
        <p:spPr>
          <a:xfrm>
            <a:off x="457200" y="1143000"/>
            <a:ext cx="457200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374904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error.py</a:t>
            </a:r>
            <a:endParaRPr lang="en-US" sz="900" dirty="0"/>
          </a:p>
        </p:txBody>
      </p:sp>
      <p:sp>
        <p:nvSpPr>
          <p:cNvPr id="9" name="Text 6"/>
          <p:cNvSpPr txBox="1"/>
          <p:nvPr/>
        </p:nvSpPr>
        <p:spPr>
          <a:xfrm>
            <a:off x="594360" y="1490472"/>
            <a:ext cx="4297680" cy="2944368"/>
          </a:xfrm>
          <a:prstGeom prst="rect">
            <a:avLst/>
          </a:prstGeom>
          <a:noFill/>
          <a:ln/>
        </p:spPr>
        <p:txBody>
          <a:bodyPr wrap="square" lIns="0" tIns="0" rIns="0" bIns="0" rtlCol="0" anchor="t"/>
          <a:lstStyle/>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try</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input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"Angka: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hasil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F78C6C"/>
                </a:solidFill>
                <a:latin typeface="Courier New" pitchFamily="34" charset="0"/>
                <a:ea typeface="Courier New" pitchFamily="34" charset="-122"/>
                <a:cs typeface="Courier New" pitchFamily="34" charset="-120"/>
              </a:rPr>
              <a:t>10</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except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ValueError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"Harus berupa angka!"</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except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ZeroDivisionError</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"Tidak bisa dibagi nol!"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else</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"Hasil:"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hasil</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C792EA"/>
                </a:solidFill>
                <a:latin typeface="Courier New" pitchFamily="34" charset="0"/>
                <a:ea typeface="Courier New" pitchFamily="34" charset="-122"/>
                <a:cs typeface="Courier New" pitchFamily="34" charset="-120"/>
              </a:rPr>
              <a:t>finally</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20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200" dirty="0">
                <a:solidFill>
                  <a:srgbClr val="C3E88D"/>
                </a:solidFill>
                <a:latin typeface="Courier New" pitchFamily="34" charset="0"/>
                <a:ea typeface="Courier New" pitchFamily="34" charset="-122"/>
                <a:cs typeface="Courier New" pitchFamily="34" charset="-120"/>
              </a:rPr>
              <a:t>"Selesai."</a:t>
            </a:r>
            <a:pPr indent="0" marL="0">
              <a:lnSpc>
                <a:spcPct val="105000"/>
              </a:lnSpc>
              <a:buNone/>
            </a:pPr>
            <a:r>
              <a:rPr lang="en-US" sz="1200" dirty="0">
                <a:solidFill>
                  <a:srgbClr val="D8DEE9"/>
                </a:solidFill>
                <a:latin typeface="Courier New" pitchFamily="34" charset="0"/>
                <a:ea typeface="Courier New" pitchFamily="34" charset="-122"/>
                <a:cs typeface="Courier New" pitchFamily="34" charset="-120"/>
              </a:rPr>
              <a:t>)</a:t>
            </a:r>
            <a:endParaRPr lang="en-US" sz="1200" dirty="0"/>
          </a:p>
        </p:txBody>
      </p:sp>
      <p:sp>
        <p:nvSpPr>
          <p:cNvPr id="10" name="Text 7"/>
          <p:cNvSpPr txBox="1"/>
          <p:nvPr/>
        </p:nvSpPr>
        <p:spPr>
          <a:xfrm>
            <a:off x="5303520" y="1143000"/>
            <a:ext cx="3383280" cy="320040"/>
          </a:xfrm>
          <a:prstGeom prst="rect">
            <a:avLst/>
          </a:prstGeom>
          <a:noFill/>
          <a:ln/>
        </p:spPr>
        <p:txBody>
          <a:bodyPr wrap="square" lIns="0" tIns="0" rIns="0" bIns="0" rtlCol="0" anchor="t"/>
          <a:lstStyle/>
          <a:p>
            <a:pPr indent="0" marL="0">
              <a:buNone/>
            </a:pPr>
            <a:r>
              <a:rPr lang="en-US" sz="1500" b="1" dirty="0">
                <a:solidFill>
                  <a:schemeClr val="accent1"/>
                </a:solidFill>
              </a:rPr>
              <a:t>Error yang sering muncul</a:t>
            </a:r>
            <a:endParaRPr lang="en-US" sz="1500" dirty="0"/>
          </a:p>
        </p:txBody>
      </p:sp>
      <p:pic>
        <p:nvPicPr>
          <p:cNvPr id="11" name="Image 0" descr="preencoded.png">    </p:cNvPr>
          <p:cNvPicPr>
            <a:picLocks noChangeAspect="1"/>
          </p:cNvPicPr>
          <p:nvPr/>
        </p:nvPicPr>
        <p:blipFill>
          <a:blip r:embed="rId1"/>
          <a:stretch>
            <a:fillRect/>
          </a:stretch>
        </p:blipFill>
        <p:spPr>
          <a:xfrm>
            <a:off x="5303520" y="1645920"/>
            <a:ext cx="246888" cy="228600"/>
          </a:xfrm>
          <a:prstGeom prst="rect">
            <a:avLst/>
          </a:prstGeom>
        </p:spPr>
      </p:pic>
      <p:sp>
        <p:nvSpPr>
          <p:cNvPr id="12" name="Text 8"/>
          <p:cNvSpPr txBox="1"/>
          <p:nvPr/>
        </p:nvSpPr>
        <p:spPr>
          <a:xfrm>
            <a:off x="5669280" y="155448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SyntaxError</a:t>
            </a:r>
            <a:endParaRPr lang="en-US" sz="1200" dirty="0"/>
          </a:p>
          <a:p>
            <a:pPr indent="0" marL="0">
              <a:buNone/>
            </a:pPr>
            <a:r>
              <a:rPr lang="en-US" sz="1100" dirty="0">
                <a:solidFill>
                  <a:schemeClr val="tx2"/>
                </a:solidFill>
              </a:rPr>
              <a:t>penulisan kode salah</a:t>
            </a:r>
            <a:endParaRPr lang="en-US" sz="1200" dirty="0"/>
          </a:p>
        </p:txBody>
      </p:sp>
      <p:pic>
        <p:nvPicPr>
          <p:cNvPr id="13" name="Image 1" descr="preencoded.png">    </p:cNvPr>
          <p:cNvPicPr>
            <a:picLocks noChangeAspect="1"/>
          </p:cNvPicPr>
          <p:nvPr/>
        </p:nvPicPr>
        <p:blipFill>
          <a:blip r:embed="rId2"/>
          <a:stretch>
            <a:fillRect/>
          </a:stretch>
        </p:blipFill>
        <p:spPr>
          <a:xfrm>
            <a:off x="5303520" y="2148840"/>
            <a:ext cx="246888" cy="228600"/>
          </a:xfrm>
          <a:prstGeom prst="rect">
            <a:avLst/>
          </a:prstGeom>
        </p:spPr>
      </p:pic>
      <p:sp>
        <p:nvSpPr>
          <p:cNvPr id="14" name="Text 9"/>
          <p:cNvSpPr txBox="1"/>
          <p:nvPr/>
        </p:nvSpPr>
        <p:spPr>
          <a:xfrm>
            <a:off x="5669280" y="205740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NameError</a:t>
            </a:r>
            <a:endParaRPr lang="en-US" sz="1200" dirty="0"/>
          </a:p>
          <a:p>
            <a:pPr indent="0" marL="0">
              <a:buNone/>
            </a:pPr>
            <a:r>
              <a:rPr lang="en-US" sz="1100" dirty="0">
                <a:solidFill>
                  <a:schemeClr val="tx2"/>
                </a:solidFill>
              </a:rPr>
              <a:t>variabel belum dibuat</a:t>
            </a:r>
            <a:endParaRPr lang="en-US" sz="1200" dirty="0"/>
          </a:p>
        </p:txBody>
      </p:sp>
      <p:pic>
        <p:nvPicPr>
          <p:cNvPr id="15" name="Image 2" descr="preencoded.png">    </p:cNvPr>
          <p:cNvPicPr>
            <a:picLocks noChangeAspect="1"/>
          </p:cNvPicPr>
          <p:nvPr/>
        </p:nvPicPr>
        <p:blipFill>
          <a:blip r:embed="rId3"/>
          <a:stretch>
            <a:fillRect/>
          </a:stretch>
        </p:blipFill>
        <p:spPr>
          <a:xfrm>
            <a:off x="5303520" y="2651760"/>
            <a:ext cx="246888" cy="228600"/>
          </a:xfrm>
          <a:prstGeom prst="rect">
            <a:avLst/>
          </a:prstGeom>
        </p:spPr>
      </p:pic>
      <p:sp>
        <p:nvSpPr>
          <p:cNvPr id="16" name="Text 10"/>
          <p:cNvSpPr txBox="1"/>
          <p:nvPr/>
        </p:nvSpPr>
        <p:spPr>
          <a:xfrm>
            <a:off x="5669280" y="256032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TypeError</a:t>
            </a:r>
            <a:endParaRPr lang="en-US" sz="1200" dirty="0"/>
          </a:p>
          <a:p>
            <a:pPr indent="0" marL="0">
              <a:buNone/>
            </a:pPr>
            <a:r>
              <a:rPr lang="en-US" sz="1100" dirty="0">
                <a:solidFill>
                  <a:schemeClr val="tx2"/>
                </a:solidFill>
              </a:rPr>
              <a:t>tipe data tidak cocok</a:t>
            </a:r>
            <a:endParaRPr lang="en-US" sz="1200" dirty="0"/>
          </a:p>
        </p:txBody>
      </p:sp>
      <p:pic>
        <p:nvPicPr>
          <p:cNvPr id="17" name="Image 3" descr="preencoded.png">    </p:cNvPr>
          <p:cNvPicPr>
            <a:picLocks noChangeAspect="1"/>
          </p:cNvPicPr>
          <p:nvPr/>
        </p:nvPicPr>
        <p:blipFill>
          <a:blip r:embed="rId4"/>
          <a:stretch>
            <a:fillRect/>
          </a:stretch>
        </p:blipFill>
        <p:spPr>
          <a:xfrm>
            <a:off x="5303520" y="3154680"/>
            <a:ext cx="246888" cy="228600"/>
          </a:xfrm>
          <a:prstGeom prst="rect">
            <a:avLst/>
          </a:prstGeom>
        </p:spPr>
      </p:pic>
      <p:sp>
        <p:nvSpPr>
          <p:cNvPr id="18" name="Text 11"/>
          <p:cNvSpPr txBox="1"/>
          <p:nvPr/>
        </p:nvSpPr>
        <p:spPr>
          <a:xfrm>
            <a:off x="5669280" y="306324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ValueError</a:t>
            </a:r>
            <a:endParaRPr lang="en-US" sz="1200" dirty="0"/>
          </a:p>
          <a:p>
            <a:pPr indent="0" marL="0">
              <a:buNone/>
            </a:pPr>
            <a:r>
              <a:rPr lang="en-US" sz="1100" dirty="0">
                <a:solidFill>
                  <a:schemeClr val="tx2"/>
                </a:solidFill>
              </a:rPr>
              <a:t>nilai tidak valid</a:t>
            </a:r>
            <a:endParaRPr lang="en-US" sz="1200" dirty="0"/>
          </a:p>
        </p:txBody>
      </p:sp>
      <p:pic>
        <p:nvPicPr>
          <p:cNvPr id="19" name="Image 4" descr="preencoded.png">    </p:cNvPr>
          <p:cNvPicPr>
            <a:picLocks noChangeAspect="1"/>
          </p:cNvPicPr>
          <p:nvPr/>
        </p:nvPicPr>
        <p:blipFill>
          <a:blip r:embed="rId5"/>
          <a:stretch>
            <a:fillRect/>
          </a:stretch>
        </p:blipFill>
        <p:spPr>
          <a:xfrm>
            <a:off x="5303520" y="3657600"/>
            <a:ext cx="246888" cy="228600"/>
          </a:xfrm>
          <a:prstGeom prst="rect">
            <a:avLst/>
          </a:prstGeom>
        </p:spPr>
      </p:pic>
      <p:sp>
        <p:nvSpPr>
          <p:cNvPr id="20" name="Text 12"/>
          <p:cNvSpPr txBox="1"/>
          <p:nvPr/>
        </p:nvSpPr>
        <p:spPr>
          <a:xfrm>
            <a:off x="5669280" y="356616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IndexError</a:t>
            </a:r>
            <a:endParaRPr lang="en-US" sz="1200" dirty="0"/>
          </a:p>
          <a:p>
            <a:pPr indent="0" marL="0">
              <a:buNone/>
            </a:pPr>
            <a:r>
              <a:rPr lang="en-US" sz="1100" dirty="0">
                <a:solidFill>
                  <a:schemeClr val="tx2"/>
                </a:solidFill>
              </a:rPr>
              <a:t>indeks di luar jangkauan</a:t>
            </a:r>
            <a:endParaRPr lang="en-US" sz="1200" dirty="0"/>
          </a:p>
        </p:txBody>
      </p:sp>
      <p:pic>
        <p:nvPicPr>
          <p:cNvPr id="21" name="Image 5" descr="preencoded.png">    </p:cNvPr>
          <p:cNvPicPr>
            <a:picLocks noChangeAspect="1"/>
          </p:cNvPicPr>
          <p:nvPr/>
        </p:nvPicPr>
        <p:blipFill>
          <a:blip r:embed="rId6"/>
          <a:stretch>
            <a:fillRect/>
          </a:stretch>
        </p:blipFill>
        <p:spPr>
          <a:xfrm>
            <a:off x="5303520" y="4160520"/>
            <a:ext cx="246888" cy="228600"/>
          </a:xfrm>
          <a:prstGeom prst="rect">
            <a:avLst/>
          </a:prstGeom>
        </p:spPr>
      </p:pic>
      <p:sp>
        <p:nvSpPr>
          <p:cNvPr id="22" name="Text 13"/>
          <p:cNvSpPr txBox="1"/>
          <p:nvPr/>
        </p:nvSpPr>
        <p:spPr>
          <a:xfrm>
            <a:off x="5669280" y="4069080"/>
            <a:ext cx="3017520" cy="4572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KeyError</a:t>
            </a:r>
            <a:endParaRPr lang="en-US" sz="1200" dirty="0"/>
          </a:p>
          <a:p>
            <a:pPr indent="0" marL="0">
              <a:buNone/>
            </a:pPr>
            <a:r>
              <a:rPr lang="en-US" sz="1100" dirty="0">
                <a:solidFill>
                  <a:schemeClr val="tx2"/>
                </a:solidFill>
              </a:rPr>
              <a:t>kunci dict tidak ada</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Bekerja dengan File</a:t>
            </a:r>
            <a:endParaRPr lang="en-US" sz="2800" dirty="0"/>
          </a:p>
        </p:txBody>
      </p:sp>
      <p:sp>
        <p:nvSpPr>
          <p:cNvPr id="4" name="Kode file.py"/>
          <p:cNvSpPr/>
          <p:nvPr/>
        </p:nvSpPr>
        <p:spPr>
          <a:xfrm>
            <a:off x="457200" y="1143000"/>
            <a:ext cx="5486400" cy="2743200"/>
          </a:xfrm>
          <a:prstGeom prst="roundRect">
            <a:avLst>
              <a:gd name="adj" fmla="val 2667"/>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66344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file.py</a:t>
            </a:r>
            <a:endParaRPr lang="en-US" sz="900" dirty="0"/>
          </a:p>
        </p:txBody>
      </p:sp>
      <p:sp>
        <p:nvSpPr>
          <p:cNvPr id="9" name="Text 6"/>
          <p:cNvSpPr txBox="1"/>
          <p:nvPr/>
        </p:nvSpPr>
        <p:spPr>
          <a:xfrm>
            <a:off x="594360" y="1490472"/>
            <a:ext cx="5212080" cy="2304288"/>
          </a:xfrm>
          <a:prstGeom prst="rect">
            <a:avLst/>
          </a:prstGeom>
          <a:noFill/>
          <a:ln/>
        </p:spPr>
        <p:txBody>
          <a:bodyPr wrap="square" lIns="0" tIns="0" rIns="0" bIns="0" rtlCol="0" anchor="t"/>
          <a:lstStyle/>
          <a:p>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menulis file</a:t>
            </a:r>
            <a:endParaRPr lang="en-US" sz="1150" dirty="0"/>
          </a:p>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with</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open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"catatan.txt"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"w"</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encoding</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"utf-8"</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as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write</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"Belajar Python\n"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write</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"Hari ke-1\n"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F8C9A"/>
                </a:solidFill>
                <a:latin typeface="Courier New" pitchFamily="34" charset="0"/>
                <a:ea typeface="Courier New" pitchFamily="34" charset="-122"/>
                <a:cs typeface="Courier New" pitchFamily="34" charset="-120"/>
              </a:rPr>
              <a:t># membaca file baris demi baris</a:t>
            </a:r>
            <a:endParaRPr lang="en-US" sz="1150" dirty="0"/>
          </a:p>
          <a:p>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with</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open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"catatan.txt"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"r"</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encoding</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C3E88D"/>
                </a:solidFill>
                <a:latin typeface="Courier New" pitchFamily="34" charset="0"/>
                <a:ea typeface="Courier New" pitchFamily="34" charset="-122"/>
                <a:cs typeface="Courier New" pitchFamily="34" charset="-120"/>
              </a:rPr>
              <a:t>"utf-8"</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as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baris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f</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baris</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strip</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6217920" y="1143000"/>
            <a:ext cx="2468880" cy="777240"/>
          </a:xfrm>
          <a:prstGeom prst="roundRect">
            <a:avLst>
              <a:gd name="adj" fmla="val 9412"/>
            </a:avLst>
          </a:prstGeom>
          <a:solidFill>
            <a:schemeClr val="bg2"/>
          </a:solidFill>
          <a:ln w="12700">
            <a:solidFill>
              <a:schemeClr val="bg2"/>
            </a:solidFill>
            <a:prstDash val="solid"/>
          </a:ln>
        </p:spPr>
      </p:sp>
      <p:sp>
        <p:nvSpPr>
          <p:cNvPr id="11" name="Shape 8"/>
          <p:cNvSpPr/>
          <p:nvPr/>
        </p:nvSpPr>
        <p:spPr>
          <a:xfrm>
            <a:off x="6355080" y="1289304"/>
            <a:ext cx="475488" cy="475488"/>
          </a:xfrm>
          <a:prstGeom prst="ellipse">
            <a:avLst/>
          </a:prstGeom>
          <a:solidFill>
            <a:schemeClr val="accent1"/>
          </a:solidFill>
          <a:ln w="12700">
            <a:solidFill>
              <a:schemeClr val="accent1"/>
            </a:solidFill>
            <a:prstDash val="solid"/>
          </a:ln>
        </p:spPr>
      </p:sp>
      <p:pic>
        <p:nvPicPr>
          <p:cNvPr id="12" name="Image 0" descr="preencoded.png">    </p:cNvPr>
          <p:cNvPicPr>
            <a:picLocks noChangeAspect="1"/>
          </p:cNvPicPr>
          <p:nvPr/>
        </p:nvPicPr>
        <p:blipFill>
          <a:blip r:embed="rId1"/>
          <a:stretch>
            <a:fillRect/>
          </a:stretch>
        </p:blipFill>
        <p:spPr>
          <a:xfrm>
            <a:off x="6473952" y="1408176"/>
            <a:ext cx="237744" cy="237744"/>
          </a:xfrm>
          <a:prstGeom prst="rect">
            <a:avLst/>
          </a:prstGeom>
        </p:spPr>
      </p:pic>
      <p:sp>
        <p:nvSpPr>
          <p:cNvPr id="13" name="Text 9"/>
          <p:cNvSpPr txBox="1"/>
          <p:nvPr/>
        </p:nvSpPr>
        <p:spPr>
          <a:xfrm>
            <a:off x="6949440" y="1234440"/>
            <a:ext cx="1691640" cy="594360"/>
          </a:xfrm>
          <a:prstGeom prst="rect">
            <a:avLst/>
          </a:prstGeom>
          <a:noFill/>
          <a:ln/>
        </p:spPr>
        <p:txBody>
          <a:bodyPr wrap="square" lIns="0" tIns="0" rIns="0" bIns="0" rtlCol="0" anchor="ctr"/>
          <a:lstStyle/>
          <a:p>
            <a:pPr indent="0" marL="0">
              <a:buNone/>
            </a:pPr>
            <a:r>
              <a:rPr lang="en-US" sz="1300" b="1" dirty="0">
                <a:solidFill>
                  <a:schemeClr val="tx1"/>
                </a:solidFill>
              </a:rPr>
              <a:t>"r" Read</a:t>
            </a:r>
            <a:endParaRPr lang="en-US" sz="1300" dirty="0"/>
          </a:p>
          <a:p>
            <a:pPr indent="0" marL="0">
              <a:buNone/>
            </a:pPr>
            <a:r>
              <a:rPr lang="en-US" sz="1100" dirty="0">
                <a:solidFill>
                  <a:schemeClr val="tx2"/>
                </a:solidFill>
              </a:rPr>
              <a:t>membaca (default)</a:t>
            </a:r>
            <a:endParaRPr lang="en-US" sz="1300" dirty="0"/>
          </a:p>
        </p:txBody>
      </p:sp>
      <p:sp>
        <p:nvSpPr>
          <p:cNvPr id="14" name="Shape 10"/>
          <p:cNvSpPr/>
          <p:nvPr/>
        </p:nvSpPr>
        <p:spPr>
          <a:xfrm>
            <a:off x="6217920" y="2057400"/>
            <a:ext cx="2468880" cy="777240"/>
          </a:xfrm>
          <a:prstGeom prst="roundRect">
            <a:avLst>
              <a:gd name="adj" fmla="val 9412"/>
            </a:avLst>
          </a:prstGeom>
          <a:solidFill>
            <a:schemeClr val="bg2"/>
          </a:solidFill>
          <a:ln w="12700">
            <a:solidFill>
              <a:schemeClr val="bg2"/>
            </a:solidFill>
            <a:prstDash val="solid"/>
          </a:ln>
        </p:spPr>
      </p:sp>
      <p:sp>
        <p:nvSpPr>
          <p:cNvPr id="15" name="Shape 11"/>
          <p:cNvSpPr/>
          <p:nvPr/>
        </p:nvSpPr>
        <p:spPr>
          <a:xfrm>
            <a:off x="6355080" y="2203704"/>
            <a:ext cx="475488" cy="475488"/>
          </a:xfrm>
          <a:prstGeom prst="ellipse">
            <a:avLst/>
          </a:prstGeom>
          <a:solidFill>
            <a:schemeClr val="accent1"/>
          </a:solidFill>
          <a:ln w="12700">
            <a:solidFill>
              <a:schemeClr val="accent1"/>
            </a:solidFill>
            <a:prstDash val="solid"/>
          </a:ln>
        </p:spPr>
      </p:sp>
      <p:pic>
        <p:nvPicPr>
          <p:cNvPr id="16" name="Image 1" descr="preencoded.png">    </p:cNvPr>
          <p:cNvPicPr>
            <a:picLocks noChangeAspect="1"/>
          </p:cNvPicPr>
          <p:nvPr/>
        </p:nvPicPr>
        <p:blipFill>
          <a:blip r:embed="rId2"/>
          <a:stretch>
            <a:fillRect/>
          </a:stretch>
        </p:blipFill>
        <p:spPr>
          <a:xfrm>
            <a:off x="6473952" y="2322576"/>
            <a:ext cx="237744" cy="237744"/>
          </a:xfrm>
          <a:prstGeom prst="rect">
            <a:avLst/>
          </a:prstGeom>
        </p:spPr>
      </p:pic>
      <p:sp>
        <p:nvSpPr>
          <p:cNvPr id="17" name="Text 12"/>
          <p:cNvSpPr txBox="1"/>
          <p:nvPr/>
        </p:nvSpPr>
        <p:spPr>
          <a:xfrm>
            <a:off x="6949440" y="2148840"/>
            <a:ext cx="1691640" cy="594360"/>
          </a:xfrm>
          <a:prstGeom prst="rect">
            <a:avLst/>
          </a:prstGeom>
          <a:noFill/>
          <a:ln/>
        </p:spPr>
        <p:txBody>
          <a:bodyPr wrap="square" lIns="0" tIns="0" rIns="0" bIns="0" rtlCol="0" anchor="ctr"/>
          <a:lstStyle/>
          <a:p>
            <a:pPr indent="0" marL="0">
              <a:buNone/>
            </a:pPr>
            <a:r>
              <a:rPr lang="en-US" sz="1300" b="1" dirty="0">
                <a:solidFill>
                  <a:schemeClr val="tx1"/>
                </a:solidFill>
              </a:rPr>
              <a:t>"w" Write</a:t>
            </a:r>
            <a:endParaRPr lang="en-US" sz="1300" dirty="0"/>
          </a:p>
          <a:p>
            <a:pPr indent="0" marL="0">
              <a:buNone/>
            </a:pPr>
            <a:r>
              <a:rPr lang="en-US" sz="1100" dirty="0">
                <a:solidFill>
                  <a:schemeClr val="tx2"/>
                </a:solidFill>
              </a:rPr>
              <a:t>menulis, menimpa isi</a:t>
            </a:r>
            <a:endParaRPr lang="en-US" sz="1300" dirty="0"/>
          </a:p>
        </p:txBody>
      </p:sp>
      <p:sp>
        <p:nvSpPr>
          <p:cNvPr id="18" name="Shape 13"/>
          <p:cNvSpPr/>
          <p:nvPr/>
        </p:nvSpPr>
        <p:spPr>
          <a:xfrm>
            <a:off x="6217920" y="2971800"/>
            <a:ext cx="2468880" cy="777240"/>
          </a:xfrm>
          <a:prstGeom prst="roundRect">
            <a:avLst>
              <a:gd name="adj" fmla="val 9412"/>
            </a:avLst>
          </a:prstGeom>
          <a:solidFill>
            <a:schemeClr val="bg2"/>
          </a:solidFill>
          <a:ln w="12700">
            <a:solidFill>
              <a:schemeClr val="bg2"/>
            </a:solidFill>
            <a:prstDash val="solid"/>
          </a:ln>
        </p:spPr>
      </p:sp>
      <p:sp>
        <p:nvSpPr>
          <p:cNvPr id="19" name="Shape 14"/>
          <p:cNvSpPr/>
          <p:nvPr/>
        </p:nvSpPr>
        <p:spPr>
          <a:xfrm>
            <a:off x="6355080" y="3118104"/>
            <a:ext cx="475488" cy="475488"/>
          </a:xfrm>
          <a:prstGeom prst="ellipse">
            <a:avLst/>
          </a:prstGeom>
          <a:solidFill>
            <a:schemeClr val="accent1"/>
          </a:solidFill>
          <a:ln w="12700">
            <a:solidFill>
              <a:schemeClr val="accent1"/>
            </a:solidFill>
            <a:prstDash val="solid"/>
          </a:ln>
        </p:spPr>
      </p:sp>
      <p:pic>
        <p:nvPicPr>
          <p:cNvPr id="20" name="Image 2" descr="preencoded.png">    </p:cNvPr>
          <p:cNvPicPr>
            <a:picLocks noChangeAspect="1"/>
          </p:cNvPicPr>
          <p:nvPr/>
        </p:nvPicPr>
        <p:blipFill>
          <a:blip r:embed="rId3"/>
          <a:stretch>
            <a:fillRect/>
          </a:stretch>
        </p:blipFill>
        <p:spPr>
          <a:xfrm>
            <a:off x="6473952" y="3236976"/>
            <a:ext cx="237744" cy="237744"/>
          </a:xfrm>
          <a:prstGeom prst="rect">
            <a:avLst/>
          </a:prstGeom>
        </p:spPr>
      </p:pic>
      <p:sp>
        <p:nvSpPr>
          <p:cNvPr id="21" name="Text 15"/>
          <p:cNvSpPr txBox="1"/>
          <p:nvPr/>
        </p:nvSpPr>
        <p:spPr>
          <a:xfrm>
            <a:off x="6949440" y="3063240"/>
            <a:ext cx="1691640" cy="594360"/>
          </a:xfrm>
          <a:prstGeom prst="rect">
            <a:avLst/>
          </a:prstGeom>
          <a:noFill/>
          <a:ln/>
        </p:spPr>
        <p:txBody>
          <a:bodyPr wrap="square" lIns="0" tIns="0" rIns="0" bIns="0" rtlCol="0" anchor="ctr"/>
          <a:lstStyle/>
          <a:p>
            <a:pPr indent="0" marL="0">
              <a:buNone/>
            </a:pPr>
            <a:r>
              <a:rPr lang="en-US" sz="1300" b="1" dirty="0">
                <a:solidFill>
                  <a:schemeClr val="tx1"/>
                </a:solidFill>
              </a:rPr>
              <a:t>"a" Append</a:t>
            </a:r>
            <a:endParaRPr lang="en-US" sz="1300" dirty="0"/>
          </a:p>
          <a:p>
            <a:pPr indent="0" marL="0">
              <a:buNone/>
            </a:pPr>
            <a:r>
              <a:rPr lang="en-US" sz="1100" dirty="0">
                <a:solidFill>
                  <a:schemeClr val="tx2"/>
                </a:solidFill>
              </a:rPr>
              <a:t>menambah di akhir</a:t>
            </a:r>
            <a:endParaRPr lang="en-US" sz="1300" dirty="0"/>
          </a:p>
        </p:txBody>
      </p:sp>
      <p:sp>
        <p:nvSpPr>
          <p:cNvPr id="22" name="Shape 16"/>
          <p:cNvSpPr/>
          <p:nvPr/>
        </p:nvSpPr>
        <p:spPr>
          <a:xfrm>
            <a:off x="457200" y="4023360"/>
            <a:ext cx="8229600" cy="502920"/>
          </a:xfrm>
          <a:prstGeom prst="roundRect">
            <a:avLst>
              <a:gd name="adj" fmla="val 14545"/>
            </a:avLst>
          </a:prstGeom>
          <a:solidFill>
            <a:schemeClr val="accent2"/>
          </a:solidFill>
          <a:ln w="12700">
            <a:solidFill>
              <a:schemeClr val="accent2"/>
            </a:solidFill>
            <a:prstDash val="solid"/>
          </a:ln>
        </p:spPr>
      </p:sp>
      <p:sp>
        <p:nvSpPr>
          <p:cNvPr id="23" name="Text 17"/>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200" b="1" dirty="0">
                <a:solidFill>
                  <a:schemeClr val="tx1"/>
                </a:solidFill>
              </a:rPr>
              <a:t>Tips: </a:t>
            </a:r>
            <a:pPr indent="0" marL="0">
              <a:buNone/>
            </a:pPr>
            <a:r>
              <a:rPr lang="en-US" sz="1200" dirty="0">
                <a:solidFill>
                  <a:schemeClr val="tx1"/>
                </a:solidFill>
              </a:rPr>
              <a:t>with open() otomatis menutup file walau terjadi error, jadi lebih aman daripada open() biasa.</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Ekosistem Library Populer</a:t>
            </a:r>
            <a:endParaRPr lang="en-US" sz="2800" dirty="0"/>
          </a:p>
        </p:txBody>
      </p:sp>
      <p:sp>
        <p:nvSpPr>
          <p:cNvPr id="4" name="Shape 1"/>
          <p:cNvSpPr/>
          <p:nvPr/>
        </p:nvSpPr>
        <p:spPr>
          <a:xfrm>
            <a:off x="457200" y="1143000"/>
            <a:ext cx="192024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7" name="Text 3"/>
          <p:cNvSpPr txBox="1"/>
          <p:nvPr/>
        </p:nvSpPr>
        <p:spPr>
          <a:xfrm>
            <a:off x="640080" y="196596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Pandas</a:t>
            </a:r>
            <a:endParaRPr lang="en-US" sz="1500" dirty="0"/>
          </a:p>
        </p:txBody>
      </p:sp>
      <p:sp>
        <p:nvSpPr>
          <p:cNvPr id="8" name="Text 4"/>
          <p:cNvSpPr txBox="1"/>
          <p:nvPr/>
        </p:nvSpPr>
        <p:spPr>
          <a:xfrm>
            <a:off x="640080" y="2258568"/>
            <a:ext cx="1645920" cy="320040"/>
          </a:xfrm>
          <a:prstGeom prst="rect">
            <a:avLst/>
          </a:prstGeom>
          <a:noFill/>
          <a:ln/>
        </p:spPr>
        <p:txBody>
          <a:bodyPr wrap="square" lIns="0" tIns="0" rIns="0" bIns="0" rtlCol="0" anchor="t"/>
          <a:lstStyle/>
          <a:p>
            <a:pPr indent="0" marL="0">
              <a:buNone/>
            </a:pPr>
            <a:r>
              <a:rPr lang="en-US" sz="1100" dirty="0">
                <a:solidFill>
                  <a:schemeClr val="tx2"/>
                </a:solidFill>
              </a:rPr>
              <a:t>Analisis data tabel</a:t>
            </a:r>
            <a:endParaRPr lang="en-US" sz="1100" dirty="0"/>
          </a:p>
        </p:txBody>
      </p:sp>
      <p:sp>
        <p:nvSpPr>
          <p:cNvPr id="9" name="Shape 5"/>
          <p:cNvSpPr/>
          <p:nvPr/>
        </p:nvSpPr>
        <p:spPr>
          <a:xfrm>
            <a:off x="2560320" y="1143000"/>
            <a:ext cx="1920240" cy="1554480"/>
          </a:xfrm>
          <a:prstGeom prst="roundRect">
            <a:avLst>
              <a:gd name="adj" fmla="val 4706"/>
            </a:avLst>
          </a:prstGeom>
          <a:solidFill>
            <a:schemeClr val="bg2"/>
          </a:solidFill>
          <a:ln w="12700">
            <a:solidFill>
              <a:schemeClr val="bg2"/>
            </a:solidFill>
            <a:prstDash val="solid"/>
          </a:ln>
        </p:spPr>
      </p:sp>
      <p:sp>
        <p:nvSpPr>
          <p:cNvPr id="10" name="Shape 6"/>
          <p:cNvSpPr/>
          <p:nvPr/>
        </p:nvSpPr>
        <p:spPr>
          <a:xfrm>
            <a:off x="2743200" y="1325880"/>
            <a:ext cx="502920" cy="5029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2868930" y="1451610"/>
            <a:ext cx="251460" cy="251460"/>
          </a:xfrm>
          <a:prstGeom prst="rect">
            <a:avLst/>
          </a:prstGeom>
        </p:spPr>
      </p:pic>
      <p:sp>
        <p:nvSpPr>
          <p:cNvPr id="12" name="Text 7"/>
          <p:cNvSpPr txBox="1"/>
          <p:nvPr/>
        </p:nvSpPr>
        <p:spPr>
          <a:xfrm>
            <a:off x="2743200" y="1965960"/>
            <a:ext cx="1645920" cy="292608"/>
          </a:xfrm>
          <a:prstGeom prst="rect">
            <a:avLst/>
          </a:prstGeom>
          <a:noFill/>
          <a:ln/>
        </p:spPr>
        <p:txBody>
          <a:bodyPr wrap="square" lIns="0" tIns="0" rIns="0" bIns="0" rtlCol="0" anchor="t"/>
          <a:lstStyle/>
          <a:p>
            <a:pPr indent="0" marL="0">
              <a:buNone/>
            </a:pPr>
            <a:r>
              <a:rPr lang="en-US" sz="1500" b="1" dirty="0">
                <a:solidFill>
                  <a:schemeClr val="tx1"/>
                </a:solidFill>
              </a:rPr>
              <a:t>NumPy</a:t>
            </a:r>
            <a:endParaRPr lang="en-US" sz="1500" dirty="0"/>
          </a:p>
        </p:txBody>
      </p:sp>
      <p:sp>
        <p:nvSpPr>
          <p:cNvPr id="13" name="Text 8"/>
          <p:cNvSpPr txBox="1"/>
          <p:nvPr/>
        </p:nvSpPr>
        <p:spPr>
          <a:xfrm>
            <a:off x="2743200" y="2258568"/>
            <a:ext cx="1645920" cy="320040"/>
          </a:xfrm>
          <a:prstGeom prst="rect">
            <a:avLst/>
          </a:prstGeom>
          <a:noFill/>
          <a:ln/>
        </p:spPr>
        <p:txBody>
          <a:bodyPr wrap="square" lIns="0" tIns="0" rIns="0" bIns="0" rtlCol="0" anchor="t"/>
          <a:lstStyle/>
          <a:p>
            <a:pPr indent="0" marL="0">
              <a:buNone/>
            </a:pPr>
            <a:r>
              <a:rPr lang="en-US" sz="1100" dirty="0">
                <a:solidFill>
                  <a:schemeClr val="tx2"/>
                </a:solidFill>
              </a:rPr>
              <a:t>Komputasi numerik</a:t>
            </a:r>
            <a:endParaRPr lang="en-US" sz="1100" dirty="0"/>
          </a:p>
        </p:txBody>
      </p:sp>
      <p:sp>
        <p:nvSpPr>
          <p:cNvPr id="14" name="Shape 9"/>
          <p:cNvSpPr/>
          <p:nvPr/>
        </p:nvSpPr>
        <p:spPr>
          <a:xfrm>
            <a:off x="4663440" y="1143000"/>
            <a:ext cx="1920240" cy="1554480"/>
          </a:xfrm>
          <a:prstGeom prst="roundRect">
            <a:avLst>
              <a:gd name="adj" fmla="val 4706"/>
            </a:avLst>
          </a:prstGeom>
          <a:solidFill>
            <a:schemeClr val="bg2"/>
          </a:solidFill>
          <a:ln w="12700">
            <a:solidFill>
              <a:schemeClr val="bg2"/>
            </a:solidFill>
            <a:prstDash val="solid"/>
          </a:ln>
        </p:spPr>
      </p:sp>
      <p:sp>
        <p:nvSpPr>
          <p:cNvPr id="15" name="Shape 10"/>
          <p:cNvSpPr/>
          <p:nvPr/>
        </p:nvSpPr>
        <p:spPr>
          <a:xfrm>
            <a:off x="4846320" y="1325880"/>
            <a:ext cx="502920" cy="50292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4972050" y="1451610"/>
            <a:ext cx="251460" cy="251460"/>
          </a:xfrm>
          <a:prstGeom prst="rect">
            <a:avLst/>
          </a:prstGeom>
        </p:spPr>
      </p:pic>
      <p:sp>
        <p:nvSpPr>
          <p:cNvPr id="17" name="Text 11"/>
          <p:cNvSpPr txBox="1"/>
          <p:nvPr/>
        </p:nvSpPr>
        <p:spPr>
          <a:xfrm>
            <a:off x="4846320" y="1965960"/>
            <a:ext cx="1645920" cy="292608"/>
          </a:xfrm>
          <a:prstGeom prst="rect">
            <a:avLst/>
          </a:prstGeom>
          <a:noFill/>
          <a:ln/>
        </p:spPr>
        <p:txBody>
          <a:bodyPr wrap="square" lIns="0" tIns="0" rIns="0" bIns="0" rtlCol="0" anchor="t"/>
          <a:lstStyle/>
          <a:p>
            <a:pPr indent="0" marL="0">
              <a:buNone/>
            </a:pPr>
            <a:r>
              <a:rPr lang="en-US" sz="1500" b="1" dirty="0">
                <a:solidFill>
                  <a:schemeClr val="tx1"/>
                </a:solidFill>
              </a:rPr>
              <a:t>Matplotlib</a:t>
            </a:r>
            <a:endParaRPr lang="en-US" sz="1500" dirty="0"/>
          </a:p>
        </p:txBody>
      </p:sp>
      <p:sp>
        <p:nvSpPr>
          <p:cNvPr id="18" name="Text 12"/>
          <p:cNvSpPr txBox="1"/>
          <p:nvPr/>
        </p:nvSpPr>
        <p:spPr>
          <a:xfrm>
            <a:off x="4846320" y="2258568"/>
            <a:ext cx="1645920" cy="320040"/>
          </a:xfrm>
          <a:prstGeom prst="rect">
            <a:avLst/>
          </a:prstGeom>
          <a:noFill/>
          <a:ln/>
        </p:spPr>
        <p:txBody>
          <a:bodyPr wrap="square" lIns="0" tIns="0" rIns="0" bIns="0" rtlCol="0" anchor="t"/>
          <a:lstStyle/>
          <a:p>
            <a:pPr indent="0" marL="0">
              <a:buNone/>
            </a:pPr>
            <a:r>
              <a:rPr lang="en-US" sz="1100" dirty="0">
                <a:solidFill>
                  <a:schemeClr val="tx2"/>
                </a:solidFill>
              </a:rPr>
              <a:t>Grafik &amp; visualisasi</a:t>
            </a:r>
            <a:endParaRPr lang="en-US" sz="1100" dirty="0"/>
          </a:p>
        </p:txBody>
      </p:sp>
      <p:sp>
        <p:nvSpPr>
          <p:cNvPr id="19" name="Shape 13"/>
          <p:cNvSpPr/>
          <p:nvPr/>
        </p:nvSpPr>
        <p:spPr>
          <a:xfrm>
            <a:off x="6766560" y="1143000"/>
            <a:ext cx="1920240" cy="1554480"/>
          </a:xfrm>
          <a:prstGeom prst="roundRect">
            <a:avLst>
              <a:gd name="adj" fmla="val 4706"/>
            </a:avLst>
          </a:prstGeom>
          <a:solidFill>
            <a:schemeClr val="bg2"/>
          </a:solidFill>
          <a:ln w="12700">
            <a:solidFill>
              <a:schemeClr val="bg2"/>
            </a:solidFill>
            <a:prstDash val="solid"/>
          </a:ln>
        </p:spPr>
      </p:sp>
      <p:sp>
        <p:nvSpPr>
          <p:cNvPr id="20" name="Shape 14"/>
          <p:cNvSpPr/>
          <p:nvPr/>
        </p:nvSpPr>
        <p:spPr>
          <a:xfrm>
            <a:off x="6949440" y="1325880"/>
            <a:ext cx="502920" cy="50292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7075170" y="1451610"/>
            <a:ext cx="251460" cy="251460"/>
          </a:xfrm>
          <a:prstGeom prst="rect">
            <a:avLst/>
          </a:prstGeom>
        </p:spPr>
      </p:pic>
      <p:sp>
        <p:nvSpPr>
          <p:cNvPr id="22" name="Text 15"/>
          <p:cNvSpPr txBox="1"/>
          <p:nvPr/>
        </p:nvSpPr>
        <p:spPr>
          <a:xfrm>
            <a:off x="6949440" y="1965960"/>
            <a:ext cx="1645920" cy="292608"/>
          </a:xfrm>
          <a:prstGeom prst="rect">
            <a:avLst/>
          </a:prstGeom>
          <a:noFill/>
          <a:ln/>
        </p:spPr>
        <p:txBody>
          <a:bodyPr wrap="square" lIns="0" tIns="0" rIns="0" bIns="0" rtlCol="0" anchor="t"/>
          <a:lstStyle/>
          <a:p>
            <a:pPr indent="0" marL="0">
              <a:buNone/>
            </a:pPr>
            <a:r>
              <a:rPr lang="en-US" sz="1500" b="1" dirty="0">
                <a:solidFill>
                  <a:schemeClr val="tx1"/>
                </a:solidFill>
              </a:rPr>
              <a:t>scikit-learn</a:t>
            </a:r>
            <a:endParaRPr lang="en-US" sz="1500" dirty="0"/>
          </a:p>
        </p:txBody>
      </p:sp>
      <p:sp>
        <p:nvSpPr>
          <p:cNvPr id="23" name="Text 16"/>
          <p:cNvSpPr txBox="1"/>
          <p:nvPr/>
        </p:nvSpPr>
        <p:spPr>
          <a:xfrm>
            <a:off x="6949440" y="2258568"/>
            <a:ext cx="1645920" cy="320040"/>
          </a:xfrm>
          <a:prstGeom prst="rect">
            <a:avLst/>
          </a:prstGeom>
          <a:noFill/>
          <a:ln/>
        </p:spPr>
        <p:txBody>
          <a:bodyPr wrap="square" lIns="0" tIns="0" rIns="0" bIns="0" rtlCol="0" anchor="t"/>
          <a:lstStyle/>
          <a:p>
            <a:pPr indent="0" marL="0">
              <a:buNone/>
            </a:pPr>
            <a:r>
              <a:rPr lang="en-US" sz="1100" dirty="0">
                <a:solidFill>
                  <a:schemeClr val="tx2"/>
                </a:solidFill>
              </a:rPr>
              <a:t>Machine learning</a:t>
            </a:r>
            <a:endParaRPr lang="en-US" sz="1100" dirty="0"/>
          </a:p>
        </p:txBody>
      </p:sp>
      <p:sp>
        <p:nvSpPr>
          <p:cNvPr id="24" name="Shape 17"/>
          <p:cNvSpPr/>
          <p:nvPr/>
        </p:nvSpPr>
        <p:spPr>
          <a:xfrm>
            <a:off x="457200" y="2880360"/>
            <a:ext cx="1920240" cy="1554480"/>
          </a:xfrm>
          <a:prstGeom prst="roundRect">
            <a:avLst>
              <a:gd name="adj" fmla="val 4706"/>
            </a:avLst>
          </a:prstGeom>
          <a:solidFill>
            <a:schemeClr val="bg2"/>
          </a:solidFill>
          <a:ln w="12700">
            <a:solidFill>
              <a:schemeClr val="bg2"/>
            </a:solidFill>
            <a:prstDash val="solid"/>
          </a:ln>
        </p:spPr>
      </p:sp>
      <p:sp>
        <p:nvSpPr>
          <p:cNvPr id="25" name="Shape 18"/>
          <p:cNvSpPr/>
          <p:nvPr/>
        </p:nvSpPr>
        <p:spPr>
          <a:xfrm>
            <a:off x="640080" y="3063240"/>
            <a:ext cx="502920" cy="502920"/>
          </a:xfrm>
          <a:prstGeom prst="ellipse">
            <a:avLst/>
          </a:prstGeom>
          <a:solidFill>
            <a:schemeClr val="accent2"/>
          </a:solidFill>
          <a:ln w="12700">
            <a:solidFill>
              <a:schemeClr val="accent2"/>
            </a:solidFill>
            <a:prstDash val="solid"/>
          </a:ln>
        </p:spPr>
      </p:sp>
      <p:pic>
        <p:nvPicPr>
          <p:cNvPr id="26" name="Image 4" descr="preencoded.png">    </p:cNvPr>
          <p:cNvPicPr>
            <a:picLocks noChangeAspect="1"/>
          </p:cNvPicPr>
          <p:nvPr/>
        </p:nvPicPr>
        <p:blipFill>
          <a:blip r:embed="rId5"/>
          <a:stretch>
            <a:fillRect/>
          </a:stretch>
        </p:blipFill>
        <p:spPr>
          <a:xfrm>
            <a:off x="765810" y="3188970"/>
            <a:ext cx="251460" cy="251460"/>
          </a:xfrm>
          <a:prstGeom prst="rect">
            <a:avLst/>
          </a:prstGeom>
        </p:spPr>
      </p:pic>
      <p:sp>
        <p:nvSpPr>
          <p:cNvPr id="27" name="Text 19"/>
          <p:cNvSpPr txBox="1"/>
          <p:nvPr/>
        </p:nvSpPr>
        <p:spPr>
          <a:xfrm>
            <a:off x="640080" y="3703320"/>
            <a:ext cx="1645920" cy="292608"/>
          </a:xfrm>
          <a:prstGeom prst="rect">
            <a:avLst/>
          </a:prstGeom>
          <a:noFill/>
          <a:ln/>
        </p:spPr>
        <p:txBody>
          <a:bodyPr wrap="square" lIns="0" tIns="0" rIns="0" bIns="0" rtlCol="0" anchor="t"/>
          <a:lstStyle/>
          <a:p>
            <a:pPr indent="0" marL="0">
              <a:buNone/>
            </a:pPr>
            <a:r>
              <a:rPr lang="en-US" sz="1500" b="1" dirty="0">
                <a:solidFill>
                  <a:schemeClr val="tx1"/>
                </a:solidFill>
              </a:rPr>
              <a:t>Django</a:t>
            </a:r>
            <a:endParaRPr lang="en-US" sz="1500" dirty="0"/>
          </a:p>
        </p:txBody>
      </p:sp>
      <p:sp>
        <p:nvSpPr>
          <p:cNvPr id="28" name="Text 20"/>
          <p:cNvSpPr txBox="1"/>
          <p:nvPr/>
        </p:nvSpPr>
        <p:spPr>
          <a:xfrm>
            <a:off x="640080" y="3995928"/>
            <a:ext cx="1645920" cy="320040"/>
          </a:xfrm>
          <a:prstGeom prst="rect">
            <a:avLst/>
          </a:prstGeom>
          <a:noFill/>
          <a:ln/>
        </p:spPr>
        <p:txBody>
          <a:bodyPr wrap="square" lIns="0" tIns="0" rIns="0" bIns="0" rtlCol="0" anchor="t"/>
          <a:lstStyle/>
          <a:p>
            <a:pPr indent="0" marL="0">
              <a:buNone/>
            </a:pPr>
            <a:r>
              <a:rPr lang="en-US" sz="1100" dirty="0">
                <a:solidFill>
                  <a:schemeClr val="tx2"/>
                </a:solidFill>
              </a:rPr>
              <a:t>Framework web lengkap</a:t>
            </a:r>
            <a:endParaRPr lang="en-US" sz="1100" dirty="0"/>
          </a:p>
        </p:txBody>
      </p:sp>
      <p:sp>
        <p:nvSpPr>
          <p:cNvPr id="29" name="Shape 21"/>
          <p:cNvSpPr/>
          <p:nvPr/>
        </p:nvSpPr>
        <p:spPr>
          <a:xfrm>
            <a:off x="2560320" y="2880360"/>
            <a:ext cx="1920240" cy="1554480"/>
          </a:xfrm>
          <a:prstGeom prst="roundRect">
            <a:avLst>
              <a:gd name="adj" fmla="val 4706"/>
            </a:avLst>
          </a:prstGeom>
          <a:solidFill>
            <a:schemeClr val="bg2"/>
          </a:solidFill>
          <a:ln w="12700">
            <a:solidFill>
              <a:schemeClr val="bg2"/>
            </a:solidFill>
            <a:prstDash val="solid"/>
          </a:ln>
        </p:spPr>
      </p:sp>
      <p:sp>
        <p:nvSpPr>
          <p:cNvPr id="30" name="Shape 22"/>
          <p:cNvSpPr/>
          <p:nvPr/>
        </p:nvSpPr>
        <p:spPr>
          <a:xfrm>
            <a:off x="2743200" y="3063240"/>
            <a:ext cx="502920" cy="502920"/>
          </a:xfrm>
          <a:prstGeom prst="ellipse">
            <a:avLst/>
          </a:prstGeom>
          <a:solidFill>
            <a:schemeClr val="accent2"/>
          </a:solidFill>
          <a:ln w="12700">
            <a:solidFill>
              <a:schemeClr val="accent2"/>
            </a:solidFill>
            <a:prstDash val="solid"/>
          </a:ln>
        </p:spPr>
      </p:sp>
      <p:pic>
        <p:nvPicPr>
          <p:cNvPr id="31" name="Image 5" descr="preencoded.png">    </p:cNvPr>
          <p:cNvPicPr>
            <a:picLocks noChangeAspect="1"/>
          </p:cNvPicPr>
          <p:nvPr/>
        </p:nvPicPr>
        <p:blipFill>
          <a:blip r:embed="rId6"/>
          <a:stretch>
            <a:fillRect/>
          </a:stretch>
        </p:blipFill>
        <p:spPr>
          <a:xfrm>
            <a:off x="2868930" y="3188970"/>
            <a:ext cx="251460" cy="251460"/>
          </a:xfrm>
          <a:prstGeom prst="rect">
            <a:avLst/>
          </a:prstGeom>
        </p:spPr>
      </p:pic>
      <p:sp>
        <p:nvSpPr>
          <p:cNvPr id="32" name="Text 23"/>
          <p:cNvSpPr txBox="1"/>
          <p:nvPr/>
        </p:nvSpPr>
        <p:spPr>
          <a:xfrm>
            <a:off x="2743200" y="3703320"/>
            <a:ext cx="1645920" cy="292608"/>
          </a:xfrm>
          <a:prstGeom prst="rect">
            <a:avLst/>
          </a:prstGeom>
          <a:noFill/>
          <a:ln/>
        </p:spPr>
        <p:txBody>
          <a:bodyPr wrap="square" lIns="0" tIns="0" rIns="0" bIns="0" rtlCol="0" anchor="t"/>
          <a:lstStyle/>
          <a:p>
            <a:pPr indent="0" marL="0">
              <a:buNone/>
            </a:pPr>
            <a:r>
              <a:rPr lang="en-US" sz="1500" b="1" dirty="0">
                <a:solidFill>
                  <a:schemeClr val="tx1"/>
                </a:solidFill>
              </a:rPr>
              <a:t>Flask</a:t>
            </a:r>
            <a:endParaRPr lang="en-US" sz="1500" dirty="0"/>
          </a:p>
        </p:txBody>
      </p:sp>
      <p:sp>
        <p:nvSpPr>
          <p:cNvPr id="33" name="Text 24"/>
          <p:cNvSpPr txBox="1"/>
          <p:nvPr/>
        </p:nvSpPr>
        <p:spPr>
          <a:xfrm>
            <a:off x="2743200" y="3995928"/>
            <a:ext cx="1645920" cy="320040"/>
          </a:xfrm>
          <a:prstGeom prst="rect">
            <a:avLst/>
          </a:prstGeom>
          <a:noFill/>
          <a:ln/>
        </p:spPr>
        <p:txBody>
          <a:bodyPr wrap="square" lIns="0" tIns="0" rIns="0" bIns="0" rtlCol="0" anchor="t"/>
          <a:lstStyle/>
          <a:p>
            <a:pPr indent="0" marL="0">
              <a:buNone/>
            </a:pPr>
            <a:r>
              <a:rPr lang="en-US" sz="1100" dirty="0">
                <a:solidFill>
                  <a:schemeClr val="tx2"/>
                </a:solidFill>
              </a:rPr>
              <a:t>Framework web ringan</a:t>
            </a:r>
            <a:endParaRPr lang="en-US" sz="1100" dirty="0"/>
          </a:p>
        </p:txBody>
      </p:sp>
      <p:sp>
        <p:nvSpPr>
          <p:cNvPr id="34" name="Shape 25"/>
          <p:cNvSpPr/>
          <p:nvPr/>
        </p:nvSpPr>
        <p:spPr>
          <a:xfrm>
            <a:off x="4663440" y="2880360"/>
            <a:ext cx="1920240" cy="1554480"/>
          </a:xfrm>
          <a:prstGeom prst="roundRect">
            <a:avLst>
              <a:gd name="adj" fmla="val 4706"/>
            </a:avLst>
          </a:prstGeom>
          <a:solidFill>
            <a:schemeClr val="bg2"/>
          </a:solidFill>
          <a:ln w="12700">
            <a:solidFill>
              <a:schemeClr val="bg2"/>
            </a:solidFill>
            <a:prstDash val="solid"/>
          </a:ln>
        </p:spPr>
      </p:sp>
      <p:sp>
        <p:nvSpPr>
          <p:cNvPr id="35" name="Shape 26"/>
          <p:cNvSpPr/>
          <p:nvPr/>
        </p:nvSpPr>
        <p:spPr>
          <a:xfrm>
            <a:off x="4846320" y="3063240"/>
            <a:ext cx="502920" cy="502920"/>
          </a:xfrm>
          <a:prstGeom prst="ellipse">
            <a:avLst/>
          </a:prstGeom>
          <a:solidFill>
            <a:schemeClr val="accent2"/>
          </a:solidFill>
          <a:ln w="12700">
            <a:solidFill>
              <a:schemeClr val="accent2"/>
            </a:solidFill>
            <a:prstDash val="solid"/>
          </a:ln>
        </p:spPr>
      </p:sp>
      <p:pic>
        <p:nvPicPr>
          <p:cNvPr id="36" name="Image 6" descr="preencoded.png">    </p:cNvPr>
          <p:cNvPicPr>
            <a:picLocks noChangeAspect="1"/>
          </p:cNvPicPr>
          <p:nvPr/>
        </p:nvPicPr>
        <p:blipFill>
          <a:blip r:embed="rId7"/>
          <a:stretch>
            <a:fillRect/>
          </a:stretch>
        </p:blipFill>
        <p:spPr>
          <a:xfrm>
            <a:off x="4972050" y="3188970"/>
            <a:ext cx="251460" cy="251460"/>
          </a:xfrm>
          <a:prstGeom prst="rect">
            <a:avLst/>
          </a:prstGeom>
        </p:spPr>
      </p:pic>
      <p:sp>
        <p:nvSpPr>
          <p:cNvPr id="37" name="Text 27"/>
          <p:cNvSpPr txBox="1"/>
          <p:nvPr/>
        </p:nvSpPr>
        <p:spPr>
          <a:xfrm>
            <a:off x="4846320" y="3703320"/>
            <a:ext cx="1645920" cy="292608"/>
          </a:xfrm>
          <a:prstGeom prst="rect">
            <a:avLst/>
          </a:prstGeom>
          <a:noFill/>
          <a:ln/>
        </p:spPr>
        <p:txBody>
          <a:bodyPr wrap="square" lIns="0" tIns="0" rIns="0" bIns="0" rtlCol="0" anchor="t"/>
          <a:lstStyle/>
          <a:p>
            <a:pPr indent="0" marL="0">
              <a:buNone/>
            </a:pPr>
            <a:r>
              <a:rPr lang="en-US" sz="1500" b="1" dirty="0">
                <a:solidFill>
                  <a:schemeClr val="tx1"/>
                </a:solidFill>
              </a:rPr>
              <a:t>FastAPI</a:t>
            </a:r>
            <a:endParaRPr lang="en-US" sz="1500" dirty="0"/>
          </a:p>
        </p:txBody>
      </p:sp>
      <p:sp>
        <p:nvSpPr>
          <p:cNvPr id="38" name="Text 28"/>
          <p:cNvSpPr txBox="1"/>
          <p:nvPr/>
        </p:nvSpPr>
        <p:spPr>
          <a:xfrm>
            <a:off x="4846320" y="3995928"/>
            <a:ext cx="1645920" cy="320040"/>
          </a:xfrm>
          <a:prstGeom prst="rect">
            <a:avLst/>
          </a:prstGeom>
          <a:noFill/>
          <a:ln/>
        </p:spPr>
        <p:txBody>
          <a:bodyPr wrap="square" lIns="0" tIns="0" rIns="0" bIns="0" rtlCol="0" anchor="t"/>
          <a:lstStyle/>
          <a:p>
            <a:pPr indent="0" marL="0">
              <a:buNone/>
            </a:pPr>
            <a:r>
              <a:rPr lang="en-US" sz="1100" dirty="0">
                <a:solidFill>
                  <a:schemeClr val="tx2"/>
                </a:solidFill>
              </a:rPr>
              <a:t>Membuat API cepat</a:t>
            </a:r>
            <a:endParaRPr lang="en-US" sz="1100" dirty="0"/>
          </a:p>
        </p:txBody>
      </p:sp>
      <p:sp>
        <p:nvSpPr>
          <p:cNvPr id="39" name="Shape 29"/>
          <p:cNvSpPr/>
          <p:nvPr/>
        </p:nvSpPr>
        <p:spPr>
          <a:xfrm>
            <a:off x="6766560" y="2880360"/>
            <a:ext cx="1920240" cy="1554480"/>
          </a:xfrm>
          <a:prstGeom prst="roundRect">
            <a:avLst>
              <a:gd name="adj" fmla="val 4706"/>
            </a:avLst>
          </a:prstGeom>
          <a:solidFill>
            <a:schemeClr val="bg2"/>
          </a:solidFill>
          <a:ln w="12700">
            <a:solidFill>
              <a:schemeClr val="bg2"/>
            </a:solidFill>
            <a:prstDash val="solid"/>
          </a:ln>
        </p:spPr>
      </p:sp>
      <p:sp>
        <p:nvSpPr>
          <p:cNvPr id="40" name="Shape 30"/>
          <p:cNvSpPr/>
          <p:nvPr/>
        </p:nvSpPr>
        <p:spPr>
          <a:xfrm>
            <a:off x="6949440" y="3063240"/>
            <a:ext cx="502920" cy="502920"/>
          </a:xfrm>
          <a:prstGeom prst="ellipse">
            <a:avLst/>
          </a:prstGeom>
          <a:solidFill>
            <a:schemeClr val="accent2"/>
          </a:solidFill>
          <a:ln w="12700">
            <a:solidFill>
              <a:schemeClr val="accent2"/>
            </a:solidFill>
            <a:prstDash val="solid"/>
          </a:ln>
        </p:spPr>
      </p:sp>
      <p:pic>
        <p:nvPicPr>
          <p:cNvPr id="41" name="Image 7" descr="preencoded.png">    </p:cNvPr>
          <p:cNvPicPr>
            <a:picLocks noChangeAspect="1"/>
          </p:cNvPicPr>
          <p:nvPr/>
        </p:nvPicPr>
        <p:blipFill>
          <a:blip r:embed="rId8"/>
          <a:stretch>
            <a:fillRect/>
          </a:stretch>
        </p:blipFill>
        <p:spPr>
          <a:xfrm>
            <a:off x="7075170" y="3188970"/>
            <a:ext cx="251460" cy="251460"/>
          </a:xfrm>
          <a:prstGeom prst="rect">
            <a:avLst/>
          </a:prstGeom>
        </p:spPr>
      </p:pic>
      <p:sp>
        <p:nvSpPr>
          <p:cNvPr id="42" name="Text 31"/>
          <p:cNvSpPr txBox="1"/>
          <p:nvPr/>
        </p:nvSpPr>
        <p:spPr>
          <a:xfrm>
            <a:off x="6949440" y="3703320"/>
            <a:ext cx="1645920" cy="292608"/>
          </a:xfrm>
          <a:prstGeom prst="rect">
            <a:avLst/>
          </a:prstGeom>
          <a:noFill/>
          <a:ln/>
        </p:spPr>
        <p:txBody>
          <a:bodyPr wrap="square" lIns="0" tIns="0" rIns="0" bIns="0" rtlCol="0" anchor="t"/>
          <a:lstStyle/>
          <a:p>
            <a:pPr indent="0" marL="0">
              <a:buNone/>
            </a:pPr>
            <a:r>
              <a:rPr lang="en-US" sz="1500" b="1" dirty="0">
                <a:solidFill>
                  <a:schemeClr val="tx1"/>
                </a:solidFill>
              </a:rPr>
              <a:t>Requests</a:t>
            </a:r>
            <a:endParaRPr lang="en-US" sz="1500" dirty="0"/>
          </a:p>
        </p:txBody>
      </p:sp>
      <p:sp>
        <p:nvSpPr>
          <p:cNvPr id="43" name="Text 32"/>
          <p:cNvSpPr txBox="1"/>
          <p:nvPr/>
        </p:nvSpPr>
        <p:spPr>
          <a:xfrm>
            <a:off x="6949440" y="3995928"/>
            <a:ext cx="1645920" cy="320040"/>
          </a:xfrm>
          <a:prstGeom prst="rect">
            <a:avLst/>
          </a:prstGeom>
          <a:noFill/>
          <a:ln/>
        </p:spPr>
        <p:txBody>
          <a:bodyPr wrap="square" lIns="0" tIns="0" rIns="0" bIns="0" rtlCol="0" anchor="t"/>
          <a:lstStyle/>
          <a:p>
            <a:pPr indent="0" marL="0">
              <a:buNone/>
            </a:pPr>
            <a:r>
              <a:rPr lang="en-US" sz="1100" dirty="0">
                <a:solidFill>
                  <a:schemeClr val="tx2"/>
                </a:solidFill>
              </a:rPr>
              <a:t>Akses HTTP / API</a:t>
            </a:r>
            <a:endParaRPr lang="en-US" sz="11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1600200"/>
            <a:ext cx="3657600" cy="365760"/>
          </a:xfrm>
          <a:prstGeom prst="rect">
            <a:avLst/>
          </a:prstGeom>
          <a:noFill/>
          <a:ln/>
        </p:spPr>
        <p:txBody>
          <a:bodyPr wrap="square" lIns="0" tIns="0" rIns="0" bIns="0" rtlCol="0" anchor="ctr"/>
          <a:lstStyle/>
          <a:p>
            <a:pPr indent="0" marL="0">
              <a:buNone/>
            </a:pPr>
            <a:r>
              <a:rPr lang="en-US" sz="1400" b="1" spc="400" kern="0" dirty="0">
                <a:solidFill>
                  <a:schemeClr val="accent2"/>
                </a:solidFill>
              </a:rPr>
              <a:t>BAGIAN 7</a:t>
            </a:r>
            <a:endParaRPr lang="en-US" sz="1400" dirty="0"/>
          </a:p>
        </p:txBody>
      </p:sp>
      <p:sp>
        <p:nvSpPr>
          <p:cNvPr id="3" name="Text 0"/>
          <p:cNvSpPr/>
          <p:nvPr>
            <p:ph idx="100" type="title" hasCustomPrompt="1"/>
          </p:nvPr>
        </p:nvSpPr>
        <p:spPr>
          <a:xfrm>
            <a:off x="548640" y="2057400"/>
            <a:ext cx="566928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Praktik</a:t>
            </a:r>
            <a:endParaRPr lang="en-US" sz="4000" dirty="0"/>
          </a:p>
        </p:txBody>
      </p:sp>
      <p:sp>
        <p:nvSpPr>
          <p:cNvPr id="4" name="Text 0"/>
          <p:cNvSpPr/>
          <p:nvPr>
            <p:ph idx="101" type="body" hasCustomPrompt="1"/>
          </p:nvPr>
        </p:nvSpPr>
        <p:spPr>
          <a:xfrm>
            <a:off x="548640" y="2926080"/>
            <a:ext cx="5669280" cy="731520"/>
          </a:xfrm>
          <a:prstGeom prst="rect">
            <a:avLst/>
          </a:prstGeom>
          <a:noFill/>
          <a:ln/>
        </p:spPr>
        <p:txBody>
          <a:bodyPr wrap="square" lIns="0" tIns="0" rIns="0" bIns="0" rtlCol="0" anchor="t"/>
          <a:lstStyle/>
          <a:p>
            <a:pPr indent="0" marL="0">
              <a:buNone/>
            </a:pPr>
            <a:r>
              <a:rPr lang="en-US" sz="1600" dirty="0">
                <a:solidFill>
                  <a:schemeClr val="accent4"/>
                </a:solidFill>
              </a:rPr>
              <a:t>Proyek mini, praktik terbaik, dan latihan soal</a:t>
            </a:r>
            <a:endParaRPr lang="en-US" sz="1600" dirty="0"/>
          </a:p>
        </p:txBody>
      </p:sp>
      <p:sp>
        <p:nvSpPr>
          <p:cNvPr id="5" name="Shape 3"/>
          <p:cNvSpPr/>
          <p:nvPr/>
        </p:nvSpPr>
        <p:spPr>
          <a:xfrm>
            <a:off x="6492240" y="1280160"/>
            <a:ext cx="2377440" cy="23774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78040" y="1965960"/>
            <a:ext cx="1005840" cy="1005840"/>
          </a:xfrm>
          <a:prstGeom prst="rect">
            <a:avLst/>
          </a:prstGeom>
        </p:spPr>
      </p:pic>
      <p:pic>
        <p:nvPicPr>
          <p:cNvPr id="7" name="Image 1" descr="logo.png">    </p:cNvPr>
          <p:cNvPicPr>
            <a:picLocks noChangeAspect="1"/>
          </p:cNvPicPr>
          <p:nvPr/>
        </p:nvPicPr>
        <p:blipFill>
          <a:blip r:embed="rId2"/>
          <a:stretch>
            <a:fillRect/>
          </a:stretch>
        </p:blipFill>
        <p:spPr>
          <a:xfrm>
            <a:off x="548640" y="4434840"/>
            <a:ext cx="320040" cy="320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Proyek Mini: Kalkulator Nilai Siswa</a:t>
            </a:r>
            <a:endParaRPr lang="en-US" sz="2800" dirty="0"/>
          </a:p>
        </p:txBody>
      </p:sp>
      <p:sp>
        <p:nvSpPr>
          <p:cNvPr id="4" name="Kode nilai_siswa.py"/>
          <p:cNvSpPr/>
          <p:nvPr/>
        </p:nvSpPr>
        <p:spPr>
          <a:xfrm>
            <a:off x="457200" y="1143000"/>
            <a:ext cx="5120640" cy="3383280"/>
          </a:xfrm>
          <a:prstGeom prst="roundRect">
            <a:avLst>
              <a:gd name="adj" fmla="val 2162"/>
            </a:avLst>
          </a:prstGeom>
          <a:solidFill>
            <a:srgbClr val="1E2433"/>
          </a:solidFill>
          <a:ln w="12700">
            <a:solidFill>
              <a:srgbClr val="1E2433"/>
            </a:solidFill>
            <a:prstDash val="solid"/>
          </a:ln>
          <a:effectLst>
            <a:outerShdw sx="100000" sy="100000" kx="0" ky="0" algn="bl" rotWithShape="0" blurRad="76200" dist="25400" dir="5400000">
              <a:srgbClr val="000000">
                <a:alpha val="25000"/>
              </a:srgbClr>
            </a:outerShdw>
          </a:effectLst>
        </p:spPr>
      </p:sp>
      <p:sp>
        <p:nvSpPr>
          <p:cNvPr id="5" name="Shape 2"/>
          <p:cNvSpPr/>
          <p:nvPr/>
        </p:nvSpPr>
        <p:spPr>
          <a:xfrm>
            <a:off x="594360" y="1261872"/>
            <a:ext cx="91440" cy="91440"/>
          </a:xfrm>
          <a:prstGeom prst="ellipse">
            <a:avLst/>
          </a:prstGeom>
          <a:solidFill>
            <a:srgbClr val="E2614B"/>
          </a:solidFill>
          <a:ln w="12700">
            <a:solidFill>
              <a:srgbClr val="E2614B"/>
            </a:solidFill>
            <a:prstDash val="solid"/>
          </a:ln>
        </p:spPr>
      </p:sp>
      <p:sp>
        <p:nvSpPr>
          <p:cNvPr id="6" name="Shape 3"/>
          <p:cNvSpPr/>
          <p:nvPr/>
        </p:nvSpPr>
        <p:spPr>
          <a:xfrm>
            <a:off x="749808" y="1261872"/>
            <a:ext cx="91440" cy="91440"/>
          </a:xfrm>
          <a:prstGeom prst="ellipse">
            <a:avLst/>
          </a:prstGeom>
          <a:solidFill>
            <a:srgbClr val="FFD43B"/>
          </a:solidFill>
          <a:ln w="12700">
            <a:solidFill>
              <a:srgbClr val="FFD43B"/>
            </a:solidFill>
            <a:prstDash val="solid"/>
          </a:ln>
        </p:spPr>
      </p:sp>
      <p:sp>
        <p:nvSpPr>
          <p:cNvPr id="7" name="Shape 4"/>
          <p:cNvSpPr/>
          <p:nvPr/>
        </p:nvSpPr>
        <p:spPr>
          <a:xfrm>
            <a:off x="905256" y="1261872"/>
            <a:ext cx="91440" cy="91440"/>
          </a:xfrm>
          <a:prstGeom prst="ellipse">
            <a:avLst/>
          </a:prstGeom>
          <a:solidFill>
            <a:srgbClr val="2E9E6A"/>
          </a:solidFill>
          <a:ln w="12700">
            <a:solidFill>
              <a:srgbClr val="2E9E6A"/>
            </a:solidFill>
            <a:prstDash val="solid"/>
          </a:ln>
        </p:spPr>
      </p:sp>
      <p:sp>
        <p:nvSpPr>
          <p:cNvPr id="8" name="Text 5"/>
          <p:cNvSpPr txBox="1"/>
          <p:nvPr/>
        </p:nvSpPr>
        <p:spPr>
          <a:xfrm>
            <a:off x="1097280" y="1197864"/>
            <a:ext cx="4297680" cy="219456"/>
          </a:xfrm>
          <a:prstGeom prst="rect">
            <a:avLst/>
          </a:prstGeom>
          <a:noFill/>
          <a:ln/>
        </p:spPr>
        <p:txBody>
          <a:bodyPr wrap="square" lIns="0" tIns="0" rIns="0" bIns="0" rtlCol="0" anchor="ctr"/>
          <a:lstStyle/>
          <a:p>
            <a:pPr indent="0" marL="0">
              <a:buNone/>
            </a:pPr>
            <a:r>
              <a:rPr lang="en-US" sz="900" dirty="0">
                <a:solidFill>
                  <a:srgbClr val="8A94A6"/>
                </a:solidFill>
                <a:latin typeface="Courier New" pitchFamily="34" charset="0"/>
                <a:ea typeface="Courier New" pitchFamily="34" charset="-122"/>
                <a:cs typeface="Courier New" pitchFamily="34" charset="-120"/>
              </a:rPr>
              <a:t>nilai_siswa.py</a:t>
            </a:r>
            <a:endParaRPr lang="en-US" sz="900" dirty="0"/>
          </a:p>
        </p:txBody>
      </p:sp>
      <p:sp>
        <p:nvSpPr>
          <p:cNvPr id="9" name="Text 6"/>
          <p:cNvSpPr txBox="1"/>
          <p:nvPr/>
        </p:nvSpPr>
        <p:spPr>
          <a:xfrm>
            <a:off x="594360" y="1490472"/>
            <a:ext cx="4846320" cy="2944368"/>
          </a:xfrm>
          <a:prstGeom prst="rect">
            <a:avLst/>
          </a:prstGeom>
          <a:noFill/>
          <a:ln/>
        </p:spPr>
        <p:txBody>
          <a:bodyPr wrap="square" lIns="0" tIns="0" rIns="0" bIns="0" rtlCol="0" anchor="t"/>
          <a:lstStyle/>
          <a:p>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def</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D43B"/>
                </a:solidFill>
                <a:latin typeface="Courier New" pitchFamily="34" charset="0"/>
                <a:ea typeface="Courier New" pitchFamily="34" charset="-122"/>
                <a:cs typeface="Courier New" pitchFamily="34" charset="-120"/>
              </a:rPr>
              <a:t>grade</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if</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78C6C"/>
                </a:solidFill>
                <a:latin typeface="Courier New" pitchFamily="34" charset="0"/>
                <a:ea typeface="Courier New" pitchFamily="34" charset="-122"/>
                <a:cs typeface="Courier New" pitchFamily="34" charset="-120"/>
              </a:rPr>
              <a:t>85</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"A"</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elif</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78C6C"/>
                </a:solidFill>
                <a:latin typeface="Courier New" pitchFamily="34" charset="0"/>
                <a:ea typeface="Courier New" pitchFamily="34" charset="-122"/>
                <a:cs typeface="Courier New" pitchFamily="34" charset="-120"/>
              </a:rPr>
              <a:t>70</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"B"</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elif</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&gt;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78C6C"/>
                </a:solidFill>
                <a:latin typeface="Courier New" pitchFamily="34" charset="0"/>
                <a:ea typeface="Courier New" pitchFamily="34" charset="-122"/>
                <a:cs typeface="Courier New" pitchFamily="34" charset="-120"/>
              </a:rPr>
              <a:t>55</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"C"</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"D"</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data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i</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range</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F78C6C"/>
                </a:solidFill>
                <a:latin typeface="Courier New" pitchFamily="34" charset="0"/>
                <a:ea typeface="Courier New" pitchFamily="34" charset="-122"/>
                <a:cs typeface="Courier New" pitchFamily="34" charset="-120"/>
              </a:rPr>
              <a:t>3</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input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"Nama siswa: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data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float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input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"Nilai: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for</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nama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C792EA"/>
                </a:solidFill>
                <a:latin typeface="Courier New" pitchFamily="34" charset="0"/>
                <a:ea typeface="Courier New" pitchFamily="34" charset="-122"/>
                <a:cs typeface="Courier New" pitchFamily="34" charset="-120"/>
              </a:rPr>
              <a:t>in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data</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items</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f"{nama:&lt;8} {n:&gt;5.1f}  {grade(n)}"</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82AAFF"/>
                </a:solidFill>
                <a:latin typeface="Courier New" pitchFamily="34" charset="0"/>
                <a:ea typeface="Courier New" pitchFamily="34" charset="-122"/>
                <a:cs typeface="Courier New" pitchFamily="34" charset="-120"/>
              </a:rPr>
              <a:t>print</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C3E88D"/>
                </a:solidFill>
                <a:latin typeface="Courier New" pitchFamily="34" charset="0"/>
                <a:ea typeface="Courier New" pitchFamily="34" charset="-122"/>
                <a:cs typeface="Courier New" pitchFamily="34" charset="-120"/>
              </a:rPr>
              <a:t>f"Rata-rata: {sum(data.values())/len(data):.1f}"</a:t>
            </a:r>
            <a:pPr indent="0" marL="0">
              <a:lnSpc>
                <a:spcPct val="10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p:txBody>
      </p:sp>
      <p:sp>
        <p:nvSpPr>
          <p:cNvPr id="10" name="Shape 7"/>
          <p:cNvSpPr/>
          <p:nvPr/>
        </p:nvSpPr>
        <p:spPr>
          <a:xfrm>
            <a:off x="5852160" y="1143000"/>
            <a:ext cx="2834640" cy="1463040"/>
          </a:xfrm>
          <a:prstGeom prst="roundRect">
            <a:avLst>
              <a:gd name="adj" fmla="val 3750"/>
            </a:avLst>
          </a:prstGeom>
          <a:solidFill>
            <a:schemeClr val="bg2"/>
          </a:solidFill>
          <a:ln w="12700">
            <a:solidFill>
              <a:schemeClr val="bg2"/>
            </a:solidFill>
            <a:prstDash val="solid"/>
          </a:ln>
        </p:spPr>
      </p:sp>
      <p:sp>
        <p:nvSpPr>
          <p:cNvPr id="11" name="Text 8"/>
          <p:cNvSpPr txBox="1"/>
          <p:nvPr/>
        </p:nvSpPr>
        <p:spPr>
          <a:xfrm>
            <a:off x="5989320" y="1216152"/>
            <a:ext cx="2560320" cy="1316736"/>
          </a:xfrm>
          <a:prstGeom prst="rect">
            <a:avLst/>
          </a:prstGeom>
          <a:noFill/>
          <a:ln/>
        </p:spPr>
        <p:txBody>
          <a:bodyPr wrap="square" lIns="0" tIns="0" rIns="0" bIns="0" rtlCol="0" anchor="t"/>
          <a:lstStyle/>
          <a:p>
            <a:pPr indent="0" marL="0">
              <a:buNone/>
            </a:pPr>
            <a:r>
              <a:rPr lang="en-US" sz="1000" b="1" dirty="0">
                <a:solidFill>
                  <a:schemeClr val="accent1"/>
                </a:solidFill>
              </a:rPr>
              <a:t>Output</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Ani        88.0  A</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Budi       72.5  B</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Citra      54.0  D</a:t>
            </a:r>
            <a:endParaRPr lang="en-US" sz="1000" dirty="0"/>
          </a:p>
          <a:p>
            <a:pPr indent="0" marL="0">
              <a:buNone/>
            </a:pPr>
            <a:r>
              <a:rPr lang="en-US" sz="1050" dirty="0">
                <a:solidFill>
                  <a:schemeClr val="tx1"/>
                </a:solidFill>
                <a:latin typeface="Courier New" pitchFamily="34" charset="0"/>
                <a:ea typeface="Courier New" pitchFamily="34" charset="-122"/>
                <a:cs typeface="Courier New" pitchFamily="34" charset="-120"/>
              </a:rPr>
              <a:t>Rata-rata: 71.5</a:t>
            </a:r>
            <a:endParaRPr lang="en-US" sz="1000" dirty="0"/>
          </a:p>
        </p:txBody>
      </p:sp>
      <p:sp>
        <p:nvSpPr>
          <p:cNvPr id="12" name="Text 9"/>
          <p:cNvSpPr txBox="1"/>
          <p:nvPr/>
        </p:nvSpPr>
        <p:spPr>
          <a:xfrm>
            <a:off x="5852160" y="2788920"/>
            <a:ext cx="2834640" cy="274320"/>
          </a:xfrm>
          <a:prstGeom prst="rect">
            <a:avLst/>
          </a:prstGeom>
          <a:noFill/>
          <a:ln/>
        </p:spPr>
        <p:txBody>
          <a:bodyPr wrap="square" lIns="0" tIns="0" rIns="0" bIns="0" rtlCol="0" anchor="t"/>
          <a:lstStyle/>
          <a:p>
            <a:pPr indent="0" marL="0">
              <a:buNone/>
            </a:pPr>
            <a:r>
              <a:rPr lang="en-US" sz="1300" b="1" dirty="0">
                <a:solidFill>
                  <a:schemeClr val="accent1"/>
                </a:solidFill>
              </a:rPr>
              <a:t>Konsep yang dipakai</a:t>
            </a:r>
            <a:endParaRPr lang="en-US" sz="1300" dirty="0"/>
          </a:p>
        </p:txBody>
      </p:sp>
      <p:sp>
        <p:nvSpPr>
          <p:cNvPr id="13" name="Shape 10"/>
          <p:cNvSpPr/>
          <p:nvPr/>
        </p:nvSpPr>
        <p:spPr>
          <a:xfrm>
            <a:off x="5852160" y="3127248"/>
            <a:ext cx="1371600" cy="384048"/>
          </a:xfrm>
          <a:prstGeom prst="roundRect">
            <a:avLst>
              <a:gd name="adj" fmla="val 50000"/>
            </a:avLst>
          </a:prstGeom>
          <a:solidFill>
            <a:schemeClr val="bg2"/>
          </a:solidFill>
          <a:ln w="12700">
            <a:solidFill>
              <a:schemeClr val="bg2"/>
            </a:solidFill>
            <a:prstDash val="solid"/>
          </a:ln>
        </p:spPr>
      </p:sp>
      <p:sp>
        <p:nvSpPr>
          <p:cNvPr id="14" name="Text 11"/>
          <p:cNvSpPr txBox="1"/>
          <p:nvPr/>
        </p:nvSpPr>
        <p:spPr>
          <a:xfrm>
            <a:off x="5852160" y="3127248"/>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Fungsi</a:t>
            </a:r>
            <a:endParaRPr lang="en-US" sz="1150" dirty="0"/>
          </a:p>
        </p:txBody>
      </p:sp>
      <p:sp>
        <p:nvSpPr>
          <p:cNvPr id="15" name="Shape 12"/>
          <p:cNvSpPr/>
          <p:nvPr/>
        </p:nvSpPr>
        <p:spPr>
          <a:xfrm>
            <a:off x="7296912" y="3127248"/>
            <a:ext cx="1371600" cy="384048"/>
          </a:xfrm>
          <a:prstGeom prst="roundRect">
            <a:avLst>
              <a:gd name="adj" fmla="val 50000"/>
            </a:avLst>
          </a:prstGeom>
          <a:solidFill>
            <a:schemeClr val="bg2"/>
          </a:solidFill>
          <a:ln w="12700">
            <a:solidFill>
              <a:schemeClr val="bg2"/>
            </a:solidFill>
            <a:prstDash val="solid"/>
          </a:ln>
        </p:spPr>
      </p:sp>
      <p:sp>
        <p:nvSpPr>
          <p:cNvPr id="16" name="Text 13"/>
          <p:cNvSpPr txBox="1"/>
          <p:nvPr/>
        </p:nvSpPr>
        <p:spPr>
          <a:xfrm>
            <a:off x="7296912" y="3127248"/>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Kondisi</a:t>
            </a:r>
            <a:endParaRPr lang="en-US" sz="1150" dirty="0"/>
          </a:p>
        </p:txBody>
      </p:sp>
      <p:sp>
        <p:nvSpPr>
          <p:cNvPr id="17" name="Shape 14"/>
          <p:cNvSpPr/>
          <p:nvPr/>
        </p:nvSpPr>
        <p:spPr>
          <a:xfrm>
            <a:off x="5852160" y="3602736"/>
            <a:ext cx="1371600" cy="384048"/>
          </a:xfrm>
          <a:prstGeom prst="roundRect">
            <a:avLst>
              <a:gd name="adj" fmla="val 50000"/>
            </a:avLst>
          </a:prstGeom>
          <a:solidFill>
            <a:schemeClr val="bg2"/>
          </a:solidFill>
          <a:ln w="12700">
            <a:solidFill>
              <a:schemeClr val="bg2"/>
            </a:solidFill>
            <a:prstDash val="solid"/>
          </a:ln>
        </p:spPr>
      </p:sp>
      <p:sp>
        <p:nvSpPr>
          <p:cNvPr id="18" name="Text 15"/>
          <p:cNvSpPr txBox="1"/>
          <p:nvPr/>
        </p:nvSpPr>
        <p:spPr>
          <a:xfrm>
            <a:off x="5852160" y="3602736"/>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Dictionary</a:t>
            </a:r>
            <a:endParaRPr lang="en-US" sz="1150" dirty="0"/>
          </a:p>
        </p:txBody>
      </p:sp>
      <p:sp>
        <p:nvSpPr>
          <p:cNvPr id="19" name="Shape 16"/>
          <p:cNvSpPr/>
          <p:nvPr/>
        </p:nvSpPr>
        <p:spPr>
          <a:xfrm>
            <a:off x="7296912" y="3602736"/>
            <a:ext cx="1371600" cy="384048"/>
          </a:xfrm>
          <a:prstGeom prst="roundRect">
            <a:avLst>
              <a:gd name="adj" fmla="val 50000"/>
            </a:avLst>
          </a:prstGeom>
          <a:solidFill>
            <a:schemeClr val="bg2"/>
          </a:solidFill>
          <a:ln w="12700">
            <a:solidFill>
              <a:schemeClr val="bg2"/>
            </a:solidFill>
            <a:prstDash val="solid"/>
          </a:ln>
        </p:spPr>
      </p:sp>
      <p:sp>
        <p:nvSpPr>
          <p:cNvPr id="20" name="Text 17"/>
          <p:cNvSpPr txBox="1"/>
          <p:nvPr/>
        </p:nvSpPr>
        <p:spPr>
          <a:xfrm>
            <a:off x="7296912" y="3602736"/>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Perulangan</a:t>
            </a:r>
            <a:endParaRPr lang="en-US" sz="1150" dirty="0"/>
          </a:p>
        </p:txBody>
      </p:sp>
      <p:sp>
        <p:nvSpPr>
          <p:cNvPr id="21" name="Shape 18"/>
          <p:cNvSpPr/>
          <p:nvPr/>
        </p:nvSpPr>
        <p:spPr>
          <a:xfrm>
            <a:off x="5852160" y="4078224"/>
            <a:ext cx="1371600" cy="384048"/>
          </a:xfrm>
          <a:prstGeom prst="roundRect">
            <a:avLst>
              <a:gd name="adj" fmla="val 50000"/>
            </a:avLst>
          </a:prstGeom>
          <a:solidFill>
            <a:schemeClr val="bg2"/>
          </a:solidFill>
          <a:ln w="12700">
            <a:solidFill>
              <a:schemeClr val="bg2"/>
            </a:solidFill>
            <a:prstDash val="solid"/>
          </a:ln>
        </p:spPr>
      </p:sp>
      <p:sp>
        <p:nvSpPr>
          <p:cNvPr id="22" name="Text 19"/>
          <p:cNvSpPr txBox="1"/>
          <p:nvPr/>
        </p:nvSpPr>
        <p:spPr>
          <a:xfrm>
            <a:off x="5852160" y="4078224"/>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Input</a:t>
            </a:r>
            <a:endParaRPr lang="en-US" sz="1150" dirty="0"/>
          </a:p>
        </p:txBody>
      </p:sp>
      <p:sp>
        <p:nvSpPr>
          <p:cNvPr id="23" name="Shape 20"/>
          <p:cNvSpPr/>
          <p:nvPr/>
        </p:nvSpPr>
        <p:spPr>
          <a:xfrm>
            <a:off x="7296912" y="4078224"/>
            <a:ext cx="1371600" cy="384048"/>
          </a:xfrm>
          <a:prstGeom prst="roundRect">
            <a:avLst>
              <a:gd name="adj" fmla="val 50000"/>
            </a:avLst>
          </a:prstGeom>
          <a:solidFill>
            <a:schemeClr val="bg2"/>
          </a:solidFill>
          <a:ln w="12700">
            <a:solidFill>
              <a:schemeClr val="bg2"/>
            </a:solidFill>
            <a:prstDash val="solid"/>
          </a:ln>
        </p:spPr>
      </p:sp>
      <p:sp>
        <p:nvSpPr>
          <p:cNvPr id="24" name="Text 21"/>
          <p:cNvSpPr txBox="1"/>
          <p:nvPr/>
        </p:nvSpPr>
        <p:spPr>
          <a:xfrm>
            <a:off x="7296912" y="4078224"/>
            <a:ext cx="1371600" cy="384048"/>
          </a:xfrm>
          <a:prstGeom prst="rect">
            <a:avLst/>
          </a:prstGeom>
          <a:noFill/>
          <a:ln/>
        </p:spPr>
        <p:txBody>
          <a:bodyPr wrap="square" lIns="0" tIns="0" rIns="0" bIns="0" rtlCol="0" anchor="ctr"/>
          <a:lstStyle/>
          <a:p>
            <a:pPr algn="ctr" indent="0" marL="0">
              <a:buNone/>
            </a:pPr>
            <a:r>
              <a:rPr lang="en-US" sz="1150" b="1" dirty="0">
                <a:solidFill>
                  <a:schemeClr val="accent1"/>
                </a:solidFill>
              </a:rPr>
              <a:t>f-string</a:t>
            </a:r>
            <a:endParaRPr lang="en-US" sz="11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Tips &amp; Praktik Terbaik</a:t>
            </a:r>
            <a:endParaRPr lang="en-US" sz="2800" dirty="0"/>
          </a:p>
        </p:txBody>
      </p:sp>
      <p:sp>
        <p:nvSpPr>
          <p:cNvPr id="4" name="Shape 1"/>
          <p:cNvSpPr/>
          <p:nvPr/>
        </p:nvSpPr>
        <p:spPr>
          <a:xfrm>
            <a:off x="457200" y="1143000"/>
            <a:ext cx="4023360" cy="1005840"/>
          </a:xfrm>
          <a:prstGeom prst="roundRect">
            <a:avLst>
              <a:gd name="adj" fmla="val 7273"/>
            </a:avLst>
          </a:prstGeom>
          <a:solidFill>
            <a:schemeClr val="bg2"/>
          </a:solidFill>
          <a:ln w="12700">
            <a:solidFill>
              <a:schemeClr val="bg2"/>
            </a:solidFill>
            <a:prstDash val="solid"/>
          </a:ln>
        </p:spPr>
      </p:sp>
      <p:sp>
        <p:nvSpPr>
          <p:cNvPr id="5" name="Shape 2"/>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77240" y="1508760"/>
            <a:ext cx="274320" cy="274320"/>
          </a:xfrm>
          <a:prstGeom prst="rect">
            <a:avLst/>
          </a:prstGeom>
        </p:spPr>
      </p:pic>
      <p:sp>
        <p:nvSpPr>
          <p:cNvPr id="7" name="Text 3"/>
          <p:cNvSpPr txBox="1"/>
          <p:nvPr/>
        </p:nvSpPr>
        <p:spPr>
          <a:xfrm>
            <a:off x="1371600" y="1325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Ikuti PEP 8</a:t>
            </a:r>
            <a:endParaRPr lang="en-US" sz="1500" dirty="0"/>
          </a:p>
        </p:txBody>
      </p:sp>
      <p:sp>
        <p:nvSpPr>
          <p:cNvPr id="8" name="Text 4"/>
          <p:cNvSpPr txBox="1"/>
          <p:nvPr/>
        </p:nvSpPr>
        <p:spPr>
          <a:xfrm>
            <a:off x="1371600" y="1645920"/>
            <a:ext cx="2971800" cy="365760"/>
          </a:xfrm>
          <a:prstGeom prst="rect">
            <a:avLst/>
          </a:prstGeom>
          <a:noFill/>
          <a:ln/>
        </p:spPr>
        <p:txBody>
          <a:bodyPr wrap="square" lIns="0" tIns="0" rIns="0" bIns="0" rtlCol="0" anchor="t"/>
          <a:lstStyle/>
          <a:p>
            <a:pPr indent="0" marL="0">
              <a:buNone/>
            </a:pPr>
            <a:r>
              <a:rPr lang="en-US" sz="1200" dirty="0">
                <a:solidFill>
                  <a:schemeClr val="tx2"/>
                </a:solidFill>
              </a:rPr>
              <a:t>Indentasi 4 spasi, nama variabel snake_case</a:t>
            </a:r>
            <a:endParaRPr lang="en-US" sz="1200" dirty="0"/>
          </a:p>
        </p:txBody>
      </p:sp>
      <p:sp>
        <p:nvSpPr>
          <p:cNvPr id="9" name="Shape 5"/>
          <p:cNvSpPr/>
          <p:nvPr/>
        </p:nvSpPr>
        <p:spPr>
          <a:xfrm>
            <a:off x="4663440" y="1143000"/>
            <a:ext cx="4023360" cy="1005840"/>
          </a:xfrm>
          <a:prstGeom prst="roundRect">
            <a:avLst>
              <a:gd name="adj" fmla="val 7273"/>
            </a:avLst>
          </a:prstGeom>
          <a:solidFill>
            <a:schemeClr val="bg2"/>
          </a:solidFill>
          <a:ln w="12700">
            <a:solidFill>
              <a:schemeClr val="bg2"/>
            </a:solidFill>
            <a:prstDash val="solid"/>
          </a:ln>
        </p:spPr>
      </p:sp>
      <p:sp>
        <p:nvSpPr>
          <p:cNvPr id="10" name="Shape 6"/>
          <p:cNvSpPr/>
          <p:nvPr/>
        </p:nvSpPr>
        <p:spPr>
          <a:xfrm>
            <a:off x="4846320" y="1371600"/>
            <a:ext cx="548640" cy="54864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4983480" y="1508760"/>
            <a:ext cx="274320" cy="274320"/>
          </a:xfrm>
          <a:prstGeom prst="rect">
            <a:avLst/>
          </a:prstGeom>
        </p:spPr>
      </p:pic>
      <p:sp>
        <p:nvSpPr>
          <p:cNvPr id="12" name="Text 7"/>
          <p:cNvSpPr txBox="1"/>
          <p:nvPr/>
        </p:nvSpPr>
        <p:spPr>
          <a:xfrm>
            <a:off x="5577840" y="1325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Nama yang jelas</a:t>
            </a:r>
            <a:endParaRPr lang="en-US" sz="1500" dirty="0"/>
          </a:p>
        </p:txBody>
      </p:sp>
      <p:sp>
        <p:nvSpPr>
          <p:cNvPr id="13" name="Text 8"/>
          <p:cNvSpPr txBox="1"/>
          <p:nvPr/>
        </p:nvSpPr>
        <p:spPr>
          <a:xfrm>
            <a:off x="5577840" y="1645920"/>
            <a:ext cx="2971800" cy="365760"/>
          </a:xfrm>
          <a:prstGeom prst="rect">
            <a:avLst/>
          </a:prstGeom>
          <a:noFill/>
          <a:ln/>
        </p:spPr>
        <p:txBody>
          <a:bodyPr wrap="square" lIns="0" tIns="0" rIns="0" bIns="0" rtlCol="0" anchor="t"/>
          <a:lstStyle/>
          <a:p>
            <a:pPr indent="0" marL="0">
              <a:buNone/>
            </a:pPr>
            <a:r>
              <a:rPr lang="en-US" sz="1200" dirty="0">
                <a:solidFill>
                  <a:schemeClr val="tx2"/>
                </a:solidFill>
              </a:rPr>
              <a:t>total_harga lebih baik daripada th</a:t>
            </a:r>
            <a:endParaRPr lang="en-US" sz="1200" dirty="0"/>
          </a:p>
        </p:txBody>
      </p:sp>
      <p:sp>
        <p:nvSpPr>
          <p:cNvPr id="14" name="Shape 9"/>
          <p:cNvSpPr/>
          <p:nvPr/>
        </p:nvSpPr>
        <p:spPr>
          <a:xfrm>
            <a:off x="457200" y="2286000"/>
            <a:ext cx="4023360" cy="1005840"/>
          </a:xfrm>
          <a:prstGeom prst="roundRect">
            <a:avLst>
              <a:gd name="adj" fmla="val 7273"/>
            </a:avLst>
          </a:prstGeom>
          <a:solidFill>
            <a:schemeClr val="bg2"/>
          </a:solidFill>
          <a:ln w="12700">
            <a:solidFill>
              <a:schemeClr val="bg2"/>
            </a:solidFill>
            <a:prstDash val="solid"/>
          </a:ln>
        </p:spPr>
      </p:sp>
      <p:sp>
        <p:nvSpPr>
          <p:cNvPr id="15" name="Shape 10"/>
          <p:cNvSpPr/>
          <p:nvPr/>
        </p:nvSpPr>
        <p:spPr>
          <a:xfrm>
            <a:off x="640080" y="2514600"/>
            <a:ext cx="548640" cy="54864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777240" y="2651760"/>
            <a:ext cx="274320" cy="274320"/>
          </a:xfrm>
          <a:prstGeom prst="rect">
            <a:avLst/>
          </a:prstGeom>
        </p:spPr>
      </p:pic>
      <p:sp>
        <p:nvSpPr>
          <p:cNvPr id="17" name="Text 11"/>
          <p:cNvSpPr txBox="1"/>
          <p:nvPr/>
        </p:nvSpPr>
        <p:spPr>
          <a:xfrm>
            <a:off x="1371600" y="2468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Tulis komentar</a:t>
            </a:r>
            <a:endParaRPr lang="en-US" sz="1500" dirty="0"/>
          </a:p>
        </p:txBody>
      </p:sp>
      <p:sp>
        <p:nvSpPr>
          <p:cNvPr id="18" name="Text 12"/>
          <p:cNvSpPr txBox="1"/>
          <p:nvPr/>
        </p:nvSpPr>
        <p:spPr>
          <a:xfrm>
            <a:off x="1371600" y="2788920"/>
            <a:ext cx="2971800" cy="365760"/>
          </a:xfrm>
          <a:prstGeom prst="rect">
            <a:avLst/>
          </a:prstGeom>
          <a:noFill/>
          <a:ln/>
        </p:spPr>
        <p:txBody>
          <a:bodyPr wrap="square" lIns="0" tIns="0" rIns="0" bIns="0" rtlCol="0" anchor="t"/>
          <a:lstStyle/>
          <a:p>
            <a:pPr indent="0" marL="0">
              <a:buNone/>
            </a:pPr>
            <a:r>
              <a:rPr lang="en-US" sz="1200" dirty="0">
                <a:solidFill>
                  <a:schemeClr val="tx2"/>
                </a:solidFill>
              </a:rPr>
              <a:t>Jelaskan alasan, bukan hal yang sudah jelas</a:t>
            </a:r>
            <a:endParaRPr lang="en-US" sz="1200" dirty="0"/>
          </a:p>
        </p:txBody>
      </p:sp>
      <p:sp>
        <p:nvSpPr>
          <p:cNvPr id="19" name="Shape 13"/>
          <p:cNvSpPr/>
          <p:nvPr/>
        </p:nvSpPr>
        <p:spPr>
          <a:xfrm>
            <a:off x="4663440" y="2286000"/>
            <a:ext cx="4023360" cy="1005840"/>
          </a:xfrm>
          <a:prstGeom prst="roundRect">
            <a:avLst>
              <a:gd name="adj" fmla="val 7273"/>
            </a:avLst>
          </a:prstGeom>
          <a:solidFill>
            <a:schemeClr val="bg2"/>
          </a:solidFill>
          <a:ln w="12700">
            <a:solidFill>
              <a:schemeClr val="bg2"/>
            </a:solidFill>
            <a:prstDash val="solid"/>
          </a:ln>
        </p:spPr>
      </p:sp>
      <p:sp>
        <p:nvSpPr>
          <p:cNvPr id="20" name="Shape 14"/>
          <p:cNvSpPr/>
          <p:nvPr/>
        </p:nvSpPr>
        <p:spPr>
          <a:xfrm>
            <a:off x="4846320" y="2514600"/>
            <a:ext cx="548640" cy="548640"/>
          </a:xfrm>
          <a:prstGeom prst="ellipse">
            <a:avLst/>
          </a:prstGeom>
          <a:solidFill>
            <a:schemeClr val="accent2"/>
          </a:solidFill>
          <a:ln w="12700">
            <a:solidFill>
              <a:schemeClr val="accent2"/>
            </a:solidFill>
            <a:prstDash val="solid"/>
          </a:ln>
        </p:spPr>
      </p:sp>
      <p:pic>
        <p:nvPicPr>
          <p:cNvPr id="21" name="Image 3" descr="preencoded.png">    </p:cNvPr>
          <p:cNvPicPr>
            <a:picLocks noChangeAspect="1"/>
          </p:cNvPicPr>
          <p:nvPr/>
        </p:nvPicPr>
        <p:blipFill>
          <a:blip r:embed="rId4"/>
          <a:stretch>
            <a:fillRect/>
          </a:stretch>
        </p:blipFill>
        <p:spPr>
          <a:xfrm>
            <a:off x="4983480" y="2651760"/>
            <a:ext cx="274320" cy="274320"/>
          </a:xfrm>
          <a:prstGeom prst="rect">
            <a:avLst/>
          </a:prstGeom>
        </p:spPr>
      </p:pic>
      <p:sp>
        <p:nvSpPr>
          <p:cNvPr id="22" name="Text 15"/>
          <p:cNvSpPr txBox="1"/>
          <p:nvPr/>
        </p:nvSpPr>
        <p:spPr>
          <a:xfrm>
            <a:off x="5577840" y="2468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Fungsi kecil</a:t>
            </a:r>
            <a:endParaRPr lang="en-US" sz="1500" dirty="0"/>
          </a:p>
        </p:txBody>
      </p:sp>
      <p:sp>
        <p:nvSpPr>
          <p:cNvPr id="23" name="Text 16"/>
          <p:cNvSpPr txBox="1"/>
          <p:nvPr/>
        </p:nvSpPr>
        <p:spPr>
          <a:xfrm>
            <a:off x="5577840" y="2788920"/>
            <a:ext cx="2971800" cy="365760"/>
          </a:xfrm>
          <a:prstGeom prst="rect">
            <a:avLst/>
          </a:prstGeom>
          <a:noFill/>
          <a:ln/>
        </p:spPr>
        <p:txBody>
          <a:bodyPr wrap="square" lIns="0" tIns="0" rIns="0" bIns="0" rtlCol="0" anchor="t"/>
          <a:lstStyle/>
          <a:p>
            <a:pPr indent="0" marL="0">
              <a:buNone/>
            </a:pPr>
            <a:r>
              <a:rPr lang="en-US" sz="1200" dirty="0">
                <a:solidFill>
                  <a:schemeClr val="tx2"/>
                </a:solidFill>
              </a:rPr>
              <a:t>Satu fungsi untuk satu tugas</a:t>
            </a:r>
            <a:endParaRPr lang="en-US" sz="1200" dirty="0"/>
          </a:p>
        </p:txBody>
      </p:sp>
      <p:sp>
        <p:nvSpPr>
          <p:cNvPr id="24" name="Shape 17"/>
          <p:cNvSpPr/>
          <p:nvPr/>
        </p:nvSpPr>
        <p:spPr>
          <a:xfrm>
            <a:off x="457200" y="3429000"/>
            <a:ext cx="4023360" cy="1005840"/>
          </a:xfrm>
          <a:prstGeom prst="roundRect">
            <a:avLst>
              <a:gd name="adj" fmla="val 7273"/>
            </a:avLst>
          </a:prstGeom>
          <a:solidFill>
            <a:schemeClr val="bg2"/>
          </a:solidFill>
          <a:ln w="12700">
            <a:solidFill>
              <a:schemeClr val="bg2"/>
            </a:solidFill>
            <a:prstDash val="solid"/>
          </a:ln>
        </p:spPr>
      </p:sp>
      <p:sp>
        <p:nvSpPr>
          <p:cNvPr id="25" name="Shape 18"/>
          <p:cNvSpPr/>
          <p:nvPr/>
        </p:nvSpPr>
        <p:spPr>
          <a:xfrm>
            <a:off x="640080" y="3657600"/>
            <a:ext cx="548640" cy="54864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777240" y="3794760"/>
            <a:ext cx="274320" cy="274320"/>
          </a:xfrm>
          <a:prstGeom prst="rect">
            <a:avLst/>
          </a:prstGeom>
        </p:spPr>
      </p:pic>
      <p:sp>
        <p:nvSpPr>
          <p:cNvPr id="27" name="Text 19"/>
          <p:cNvSpPr txBox="1"/>
          <p:nvPr/>
        </p:nvSpPr>
        <p:spPr>
          <a:xfrm>
            <a:off x="1371600" y="3611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Baca pesan error</a:t>
            </a:r>
            <a:endParaRPr lang="en-US" sz="1500" dirty="0"/>
          </a:p>
        </p:txBody>
      </p:sp>
      <p:sp>
        <p:nvSpPr>
          <p:cNvPr id="28" name="Text 20"/>
          <p:cNvSpPr txBox="1"/>
          <p:nvPr/>
        </p:nvSpPr>
        <p:spPr>
          <a:xfrm>
            <a:off x="1371600" y="3931920"/>
            <a:ext cx="2971800" cy="365760"/>
          </a:xfrm>
          <a:prstGeom prst="rect">
            <a:avLst/>
          </a:prstGeom>
          <a:noFill/>
          <a:ln/>
        </p:spPr>
        <p:txBody>
          <a:bodyPr wrap="square" lIns="0" tIns="0" rIns="0" bIns="0" rtlCol="0" anchor="t"/>
          <a:lstStyle/>
          <a:p>
            <a:pPr indent="0" marL="0">
              <a:buNone/>
            </a:pPr>
            <a:r>
              <a:rPr lang="en-US" sz="1200" dirty="0">
                <a:solidFill>
                  <a:schemeClr val="tx2"/>
                </a:solidFill>
              </a:rPr>
              <a:t>Traceback menunjukkan baris penyebab</a:t>
            </a:r>
            <a:endParaRPr lang="en-US" sz="1200" dirty="0"/>
          </a:p>
        </p:txBody>
      </p:sp>
      <p:sp>
        <p:nvSpPr>
          <p:cNvPr id="29" name="Shape 21"/>
          <p:cNvSpPr/>
          <p:nvPr/>
        </p:nvSpPr>
        <p:spPr>
          <a:xfrm>
            <a:off x="4663440" y="3429000"/>
            <a:ext cx="4023360" cy="1005840"/>
          </a:xfrm>
          <a:prstGeom prst="roundRect">
            <a:avLst>
              <a:gd name="adj" fmla="val 7273"/>
            </a:avLst>
          </a:prstGeom>
          <a:solidFill>
            <a:schemeClr val="bg2"/>
          </a:solidFill>
          <a:ln w="12700">
            <a:solidFill>
              <a:schemeClr val="bg2"/>
            </a:solidFill>
            <a:prstDash val="solid"/>
          </a:ln>
        </p:spPr>
      </p:sp>
      <p:sp>
        <p:nvSpPr>
          <p:cNvPr id="30" name="Shape 22"/>
          <p:cNvSpPr/>
          <p:nvPr/>
        </p:nvSpPr>
        <p:spPr>
          <a:xfrm>
            <a:off x="4846320" y="3657600"/>
            <a:ext cx="548640" cy="548640"/>
          </a:xfrm>
          <a:prstGeom prst="ellipse">
            <a:avLst/>
          </a:prstGeom>
          <a:solidFill>
            <a:schemeClr val="accent2"/>
          </a:solidFill>
          <a:ln w="12700">
            <a:solidFill>
              <a:schemeClr val="accent2"/>
            </a:solidFill>
            <a:prstDash val="solid"/>
          </a:ln>
        </p:spPr>
      </p:sp>
      <p:pic>
        <p:nvPicPr>
          <p:cNvPr id="31" name="Image 5" descr="preencoded.png">    </p:cNvPr>
          <p:cNvPicPr>
            <a:picLocks noChangeAspect="1"/>
          </p:cNvPicPr>
          <p:nvPr/>
        </p:nvPicPr>
        <p:blipFill>
          <a:blip r:embed="rId6"/>
          <a:stretch>
            <a:fillRect/>
          </a:stretch>
        </p:blipFill>
        <p:spPr>
          <a:xfrm>
            <a:off x="4983480" y="3794760"/>
            <a:ext cx="274320" cy="274320"/>
          </a:xfrm>
          <a:prstGeom prst="rect">
            <a:avLst/>
          </a:prstGeom>
        </p:spPr>
      </p:pic>
      <p:sp>
        <p:nvSpPr>
          <p:cNvPr id="32" name="Text 23"/>
          <p:cNvSpPr txBox="1"/>
          <p:nvPr/>
        </p:nvSpPr>
        <p:spPr>
          <a:xfrm>
            <a:off x="5577840" y="3611880"/>
            <a:ext cx="2971800" cy="292608"/>
          </a:xfrm>
          <a:prstGeom prst="rect">
            <a:avLst/>
          </a:prstGeom>
          <a:noFill/>
          <a:ln/>
        </p:spPr>
        <p:txBody>
          <a:bodyPr wrap="square" lIns="0" tIns="0" rIns="0" bIns="0" rtlCol="0" anchor="t"/>
          <a:lstStyle/>
          <a:p>
            <a:pPr indent="0" marL="0">
              <a:buNone/>
            </a:pPr>
            <a:r>
              <a:rPr lang="en-US" sz="1500" b="1" dirty="0">
                <a:solidFill>
                  <a:schemeClr val="tx1"/>
                </a:solidFill>
              </a:rPr>
              <a:t>Latihan rutin</a:t>
            </a:r>
            <a:endParaRPr lang="en-US" sz="1500" dirty="0"/>
          </a:p>
        </p:txBody>
      </p:sp>
      <p:sp>
        <p:nvSpPr>
          <p:cNvPr id="33" name="Text 24"/>
          <p:cNvSpPr txBox="1"/>
          <p:nvPr/>
        </p:nvSpPr>
        <p:spPr>
          <a:xfrm>
            <a:off x="5577840" y="3931920"/>
            <a:ext cx="2971800" cy="365760"/>
          </a:xfrm>
          <a:prstGeom prst="rect">
            <a:avLst/>
          </a:prstGeom>
          <a:noFill/>
          <a:ln/>
        </p:spPr>
        <p:txBody>
          <a:bodyPr wrap="square" lIns="0" tIns="0" rIns="0" bIns="0" rtlCol="0" anchor="t"/>
          <a:lstStyle/>
          <a:p>
            <a:pPr indent="0" marL="0">
              <a:buNone/>
            </a:pPr>
            <a:r>
              <a:rPr lang="en-US" sz="1200" dirty="0">
                <a:solidFill>
                  <a:schemeClr val="tx2"/>
                </a:solidFill>
              </a:rPr>
              <a:t>Sedikit tiap hari lebih efektif</a:t>
            </a:r>
            <a:endParaRPr lang="en-US" sz="12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Latihan Soal</a:t>
            </a:r>
            <a:endParaRPr lang="en-US" sz="2800" dirty="0"/>
          </a:p>
        </p:txBody>
      </p:sp>
      <p:sp>
        <p:nvSpPr>
          <p:cNvPr id="4" name="Shape 1"/>
          <p:cNvSpPr/>
          <p:nvPr/>
        </p:nvSpPr>
        <p:spPr>
          <a:xfrm>
            <a:off x="457200" y="1097280"/>
            <a:ext cx="8229600" cy="612648"/>
          </a:xfrm>
          <a:prstGeom prst="roundRect">
            <a:avLst>
              <a:gd name="adj" fmla="val 11940"/>
            </a:avLst>
          </a:prstGeom>
          <a:solidFill>
            <a:schemeClr val="bg2"/>
          </a:solidFill>
          <a:ln w="12700">
            <a:solidFill>
              <a:schemeClr val="bg2"/>
            </a:solidFill>
            <a:prstDash val="solid"/>
          </a:ln>
        </p:spPr>
      </p:sp>
      <p:sp>
        <p:nvSpPr>
          <p:cNvPr id="5" name="Shape 2"/>
          <p:cNvSpPr/>
          <p:nvPr/>
        </p:nvSpPr>
        <p:spPr>
          <a:xfrm>
            <a:off x="594360" y="1197864"/>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594360" y="1197864"/>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1188720" y="1097280"/>
            <a:ext cx="1737360" cy="612648"/>
          </a:xfrm>
          <a:prstGeom prst="rect">
            <a:avLst/>
          </a:prstGeom>
          <a:noFill/>
          <a:ln/>
        </p:spPr>
        <p:txBody>
          <a:bodyPr wrap="square" lIns="0" tIns="0" rIns="0" bIns="0" rtlCol="0" anchor="ctr"/>
          <a:lstStyle/>
          <a:p>
            <a:pPr indent="0" marL="0">
              <a:buNone/>
            </a:pPr>
            <a:r>
              <a:rPr lang="en-US" sz="1400" b="1" dirty="0">
                <a:solidFill>
                  <a:schemeClr val="tx1"/>
                </a:solidFill>
              </a:rPr>
              <a:t>Ganjil / Genap</a:t>
            </a:r>
            <a:endParaRPr lang="en-US" sz="1400" dirty="0"/>
          </a:p>
        </p:txBody>
      </p:sp>
      <p:sp>
        <p:nvSpPr>
          <p:cNvPr id="8" name="Text 5"/>
          <p:cNvSpPr txBox="1"/>
          <p:nvPr/>
        </p:nvSpPr>
        <p:spPr>
          <a:xfrm>
            <a:off x="2926080" y="1097280"/>
            <a:ext cx="4480560" cy="612648"/>
          </a:xfrm>
          <a:prstGeom prst="rect">
            <a:avLst/>
          </a:prstGeom>
          <a:noFill/>
          <a:ln/>
        </p:spPr>
        <p:txBody>
          <a:bodyPr wrap="square" lIns="0" tIns="0" rIns="0" bIns="0" rtlCol="0" anchor="ctr"/>
          <a:lstStyle/>
          <a:p>
            <a:pPr indent="0" marL="0">
              <a:buNone/>
            </a:pPr>
            <a:r>
              <a:rPr lang="en-US" sz="1200" dirty="0">
                <a:solidFill>
                  <a:schemeClr val="tx2"/>
                </a:solidFill>
              </a:rPr>
              <a:t>Minta input angka, tampilkan apakah ganjil atau genap.</a:t>
            </a:r>
            <a:endParaRPr lang="en-US" sz="1200" dirty="0"/>
          </a:p>
        </p:txBody>
      </p:sp>
      <p:sp>
        <p:nvSpPr>
          <p:cNvPr id="9" name="Shape 6"/>
          <p:cNvSpPr/>
          <p:nvPr/>
        </p:nvSpPr>
        <p:spPr>
          <a:xfrm>
            <a:off x="7498080" y="1252728"/>
            <a:ext cx="1051560" cy="310896"/>
          </a:xfrm>
          <a:prstGeom prst="roundRect">
            <a:avLst>
              <a:gd name="adj" fmla="val 50000"/>
            </a:avLst>
          </a:prstGeom>
          <a:solidFill>
            <a:schemeClr val="accent6"/>
          </a:solidFill>
          <a:ln w="12700">
            <a:solidFill>
              <a:schemeClr val="accent6"/>
            </a:solidFill>
            <a:prstDash val="solid"/>
          </a:ln>
        </p:spPr>
      </p:sp>
      <p:sp>
        <p:nvSpPr>
          <p:cNvPr id="10" name="Text 7"/>
          <p:cNvSpPr txBox="1"/>
          <p:nvPr/>
        </p:nvSpPr>
        <p:spPr>
          <a:xfrm>
            <a:off x="7498080" y="1252728"/>
            <a:ext cx="1051560" cy="310896"/>
          </a:xfrm>
          <a:prstGeom prst="rect">
            <a:avLst/>
          </a:prstGeom>
          <a:noFill/>
          <a:ln/>
        </p:spPr>
        <p:txBody>
          <a:bodyPr wrap="square" lIns="0" tIns="0" rIns="0" bIns="0" rtlCol="0" anchor="ctr"/>
          <a:lstStyle/>
          <a:p>
            <a:pPr algn="ctr" indent="0" marL="0">
              <a:buNone/>
            </a:pPr>
            <a:r>
              <a:rPr lang="en-US" sz="1050" b="1" dirty="0">
                <a:solidFill>
                  <a:schemeClr val="bg1"/>
                </a:solidFill>
              </a:rPr>
              <a:t>Mudah</a:t>
            </a:r>
            <a:endParaRPr lang="en-US" sz="1050" dirty="0"/>
          </a:p>
        </p:txBody>
      </p:sp>
      <p:sp>
        <p:nvSpPr>
          <p:cNvPr id="11" name="Shape 8"/>
          <p:cNvSpPr/>
          <p:nvPr/>
        </p:nvSpPr>
        <p:spPr>
          <a:xfrm>
            <a:off x="457200" y="1801368"/>
            <a:ext cx="8229600" cy="612648"/>
          </a:xfrm>
          <a:prstGeom prst="roundRect">
            <a:avLst>
              <a:gd name="adj" fmla="val 11940"/>
            </a:avLst>
          </a:prstGeom>
          <a:solidFill>
            <a:schemeClr val="bg2"/>
          </a:solidFill>
          <a:ln w="12700">
            <a:solidFill>
              <a:schemeClr val="bg2"/>
            </a:solidFill>
            <a:prstDash val="solid"/>
          </a:ln>
        </p:spPr>
      </p:sp>
      <p:sp>
        <p:nvSpPr>
          <p:cNvPr id="12" name="Shape 9"/>
          <p:cNvSpPr/>
          <p:nvPr/>
        </p:nvSpPr>
        <p:spPr>
          <a:xfrm>
            <a:off x="594360" y="1901952"/>
            <a:ext cx="411480" cy="411480"/>
          </a:xfrm>
          <a:prstGeom prst="ellipse">
            <a:avLst/>
          </a:prstGeom>
          <a:solidFill>
            <a:schemeClr val="accent1"/>
          </a:solidFill>
          <a:ln w="12700">
            <a:solidFill>
              <a:schemeClr val="accent1"/>
            </a:solidFill>
            <a:prstDash val="solid"/>
          </a:ln>
        </p:spPr>
      </p:sp>
      <p:sp>
        <p:nvSpPr>
          <p:cNvPr id="13" name="Text 10"/>
          <p:cNvSpPr txBox="1"/>
          <p:nvPr/>
        </p:nvSpPr>
        <p:spPr>
          <a:xfrm>
            <a:off x="594360" y="19019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 11"/>
          <p:cNvSpPr txBox="1"/>
          <p:nvPr/>
        </p:nvSpPr>
        <p:spPr>
          <a:xfrm>
            <a:off x="1188720" y="1801368"/>
            <a:ext cx="1737360" cy="612648"/>
          </a:xfrm>
          <a:prstGeom prst="rect">
            <a:avLst/>
          </a:prstGeom>
          <a:noFill/>
          <a:ln/>
        </p:spPr>
        <p:txBody>
          <a:bodyPr wrap="square" lIns="0" tIns="0" rIns="0" bIns="0" rtlCol="0" anchor="ctr"/>
          <a:lstStyle/>
          <a:p>
            <a:pPr indent="0" marL="0">
              <a:buNone/>
            </a:pPr>
            <a:r>
              <a:rPr lang="en-US" sz="1400" b="1" dirty="0">
                <a:solidFill>
                  <a:schemeClr val="tx1"/>
                </a:solidFill>
              </a:rPr>
              <a:t>FizzBuzz</a:t>
            </a:r>
            <a:endParaRPr lang="en-US" sz="1400" dirty="0"/>
          </a:p>
        </p:txBody>
      </p:sp>
      <p:sp>
        <p:nvSpPr>
          <p:cNvPr id="15" name="Text 12"/>
          <p:cNvSpPr txBox="1"/>
          <p:nvPr/>
        </p:nvSpPr>
        <p:spPr>
          <a:xfrm>
            <a:off x="2926080" y="1801368"/>
            <a:ext cx="4480560" cy="612648"/>
          </a:xfrm>
          <a:prstGeom prst="rect">
            <a:avLst/>
          </a:prstGeom>
          <a:noFill/>
          <a:ln/>
        </p:spPr>
        <p:txBody>
          <a:bodyPr wrap="square" lIns="0" tIns="0" rIns="0" bIns="0" rtlCol="0" anchor="ctr"/>
          <a:lstStyle/>
          <a:p>
            <a:pPr indent="0" marL="0">
              <a:buNone/>
            </a:pPr>
            <a:r>
              <a:rPr lang="en-US" sz="1200" dirty="0">
                <a:solidFill>
                  <a:schemeClr val="tx2"/>
                </a:solidFill>
              </a:rPr>
              <a:t>Cetak 1-100; kelipatan 3 "Fizz", 5 "Buzz", keduanya "FizzBuzz".</a:t>
            </a:r>
            <a:endParaRPr lang="en-US" sz="1200" dirty="0"/>
          </a:p>
        </p:txBody>
      </p:sp>
      <p:sp>
        <p:nvSpPr>
          <p:cNvPr id="16" name="Shape 13"/>
          <p:cNvSpPr/>
          <p:nvPr/>
        </p:nvSpPr>
        <p:spPr>
          <a:xfrm>
            <a:off x="7498080" y="1956816"/>
            <a:ext cx="1051560" cy="310896"/>
          </a:xfrm>
          <a:prstGeom prst="roundRect">
            <a:avLst>
              <a:gd name="adj" fmla="val 50000"/>
            </a:avLst>
          </a:prstGeom>
          <a:solidFill>
            <a:schemeClr val="accent6"/>
          </a:solidFill>
          <a:ln w="12700">
            <a:solidFill>
              <a:schemeClr val="accent6"/>
            </a:solidFill>
            <a:prstDash val="solid"/>
          </a:ln>
        </p:spPr>
      </p:sp>
      <p:sp>
        <p:nvSpPr>
          <p:cNvPr id="17" name="Text 14"/>
          <p:cNvSpPr txBox="1"/>
          <p:nvPr/>
        </p:nvSpPr>
        <p:spPr>
          <a:xfrm>
            <a:off x="7498080" y="1956816"/>
            <a:ext cx="1051560" cy="310896"/>
          </a:xfrm>
          <a:prstGeom prst="rect">
            <a:avLst/>
          </a:prstGeom>
          <a:noFill/>
          <a:ln/>
        </p:spPr>
        <p:txBody>
          <a:bodyPr wrap="square" lIns="0" tIns="0" rIns="0" bIns="0" rtlCol="0" anchor="ctr"/>
          <a:lstStyle/>
          <a:p>
            <a:pPr algn="ctr" indent="0" marL="0">
              <a:buNone/>
            </a:pPr>
            <a:r>
              <a:rPr lang="en-US" sz="1050" b="1" dirty="0">
                <a:solidFill>
                  <a:schemeClr val="bg1"/>
                </a:solidFill>
              </a:rPr>
              <a:t>Mudah</a:t>
            </a:r>
            <a:endParaRPr lang="en-US" sz="1050" dirty="0"/>
          </a:p>
        </p:txBody>
      </p:sp>
      <p:sp>
        <p:nvSpPr>
          <p:cNvPr id="18" name="Shape 15"/>
          <p:cNvSpPr/>
          <p:nvPr/>
        </p:nvSpPr>
        <p:spPr>
          <a:xfrm>
            <a:off x="457200" y="2505456"/>
            <a:ext cx="8229600" cy="612648"/>
          </a:xfrm>
          <a:prstGeom prst="roundRect">
            <a:avLst>
              <a:gd name="adj" fmla="val 11940"/>
            </a:avLst>
          </a:prstGeom>
          <a:solidFill>
            <a:schemeClr val="bg2"/>
          </a:solidFill>
          <a:ln w="12700">
            <a:solidFill>
              <a:schemeClr val="bg2"/>
            </a:solidFill>
            <a:prstDash val="solid"/>
          </a:ln>
        </p:spPr>
      </p:sp>
      <p:sp>
        <p:nvSpPr>
          <p:cNvPr id="19" name="Shape 16"/>
          <p:cNvSpPr/>
          <p:nvPr/>
        </p:nvSpPr>
        <p:spPr>
          <a:xfrm>
            <a:off x="594360" y="2606040"/>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594360" y="26060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8"/>
          <p:cNvSpPr txBox="1"/>
          <p:nvPr/>
        </p:nvSpPr>
        <p:spPr>
          <a:xfrm>
            <a:off x="1188720" y="2505456"/>
            <a:ext cx="1737360" cy="612648"/>
          </a:xfrm>
          <a:prstGeom prst="rect">
            <a:avLst/>
          </a:prstGeom>
          <a:noFill/>
          <a:ln/>
        </p:spPr>
        <p:txBody>
          <a:bodyPr wrap="square" lIns="0" tIns="0" rIns="0" bIns="0" rtlCol="0" anchor="ctr"/>
          <a:lstStyle/>
          <a:p>
            <a:pPr indent="0" marL="0">
              <a:buNone/>
            </a:pPr>
            <a:r>
              <a:rPr lang="en-US" sz="1400" b="1" dirty="0">
                <a:solidFill>
                  <a:schemeClr val="tx1"/>
                </a:solidFill>
              </a:rPr>
              <a:t>Konversi Suhu</a:t>
            </a:r>
            <a:endParaRPr lang="en-US" sz="1400" dirty="0"/>
          </a:p>
        </p:txBody>
      </p:sp>
      <p:sp>
        <p:nvSpPr>
          <p:cNvPr id="22" name="Text 19"/>
          <p:cNvSpPr txBox="1"/>
          <p:nvPr/>
        </p:nvSpPr>
        <p:spPr>
          <a:xfrm>
            <a:off x="2926080" y="2505456"/>
            <a:ext cx="4480560" cy="612648"/>
          </a:xfrm>
          <a:prstGeom prst="rect">
            <a:avLst/>
          </a:prstGeom>
          <a:noFill/>
          <a:ln/>
        </p:spPr>
        <p:txBody>
          <a:bodyPr wrap="square" lIns="0" tIns="0" rIns="0" bIns="0" rtlCol="0" anchor="ctr"/>
          <a:lstStyle/>
          <a:p>
            <a:pPr indent="0" marL="0">
              <a:buNone/>
            </a:pPr>
            <a:r>
              <a:rPr lang="en-US" sz="1200" dirty="0">
                <a:solidFill>
                  <a:schemeClr val="tx2"/>
                </a:solidFill>
              </a:rPr>
              <a:t>Buat fungsi celcius_ke_fahrenheit(c) dan uji beberapa nilai.</a:t>
            </a:r>
            <a:endParaRPr lang="en-US" sz="1200" dirty="0"/>
          </a:p>
        </p:txBody>
      </p:sp>
      <p:sp>
        <p:nvSpPr>
          <p:cNvPr id="23" name="Shape 20"/>
          <p:cNvSpPr/>
          <p:nvPr/>
        </p:nvSpPr>
        <p:spPr>
          <a:xfrm>
            <a:off x="7498080" y="2660904"/>
            <a:ext cx="1051560" cy="310896"/>
          </a:xfrm>
          <a:prstGeom prst="roundRect">
            <a:avLst>
              <a:gd name="adj" fmla="val 50000"/>
            </a:avLst>
          </a:prstGeom>
          <a:solidFill>
            <a:schemeClr val="accent3"/>
          </a:solidFill>
          <a:ln w="12700">
            <a:solidFill>
              <a:schemeClr val="accent3"/>
            </a:solidFill>
            <a:prstDash val="solid"/>
          </a:ln>
        </p:spPr>
      </p:sp>
      <p:sp>
        <p:nvSpPr>
          <p:cNvPr id="24" name="Text 21"/>
          <p:cNvSpPr txBox="1"/>
          <p:nvPr/>
        </p:nvSpPr>
        <p:spPr>
          <a:xfrm>
            <a:off x="7498080" y="2660904"/>
            <a:ext cx="1051560" cy="310896"/>
          </a:xfrm>
          <a:prstGeom prst="rect">
            <a:avLst/>
          </a:prstGeom>
          <a:noFill/>
          <a:ln/>
        </p:spPr>
        <p:txBody>
          <a:bodyPr wrap="square" lIns="0" tIns="0" rIns="0" bIns="0" rtlCol="0" anchor="ctr"/>
          <a:lstStyle/>
          <a:p>
            <a:pPr algn="ctr" indent="0" marL="0">
              <a:buNone/>
            </a:pPr>
            <a:r>
              <a:rPr lang="en-US" sz="1050" b="1" dirty="0">
                <a:solidFill>
                  <a:schemeClr val="bg1"/>
                </a:solidFill>
              </a:rPr>
              <a:t>Sedang</a:t>
            </a:r>
            <a:endParaRPr lang="en-US" sz="1050" dirty="0"/>
          </a:p>
        </p:txBody>
      </p:sp>
      <p:sp>
        <p:nvSpPr>
          <p:cNvPr id="25" name="Shape 22"/>
          <p:cNvSpPr/>
          <p:nvPr/>
        </p:nvSpPr>
        <p:spPr>
          <a:xfrm>
            <a:off x="457200" y="3209544"/>
            <a:ext cx="8229600" cy="612648"/>
          </a:xfrm>
          <a:prstGeom prst="roundRect">
            <a:avLst>
              <a:gd name="adj" fmla="val 11940"/>
            </a:avLst>
          </a:prstGeom>
          <a:solidFill>
            <a:schemeClr val="bg2"/>
          </a:solidFill>
          <a:ln w="12700">
            <a:solidFill>
              <a:schemeClr val="bg2"/>
            </a:solidFill>
            <a:prstDash val="solid"/>
          </a:ln>
        </p:spPr>
      </p:sp>
      <p:sp>
        <p:nvSpPr>
          <p:cNvPr id="26" name="Shape 23"/>
          <p:cNvSpPr/>
          <p:nvPr/>
        </p:nvSpPr>
        <p:spPr>
          <a:xfrm>
            <a:off x="594360" y="3310128"/>
            <a:ext cx="411480" cy="411480"/>
          </a:xfrm>
          <a:prstGeom prst="ellipse">
            <a:avLst/>
          </a:prstGeom>
          <a:solidFill>
            <a:schemeClr val="accent1"/>
          </a:solidFill>
          <a:ln w="12700">
            <a:solidFill>
              <a:schemeClr val="accent1"/>
            </a:solidFill>
            <a:prstDash val="solid"/>
          </a:ln>
        </p:spPr>
      </p:sp>
      <p:sp>
        <p:nvSpPr>
          <p:cNvPr id="27" name="Text 24"/>
          <p:cNvSpPr txBox="1"/>
          <p:nvPr/>
        </p:nvSpPr>
        <p:spPr>
          <a:xfrm>
            <a:off x="594360" y="331012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8" name="Text 25"/>
          <p:cNvSpPr txBox="1"/>
          <p:nvPr/>
        </p:nvSpPr>
        <p:spPr>
          <a:xfrm>
            <a:off x="1188720" y="3209544"/>
            <a:ext cx="1737360" cy="612648"/>
          </a:xfrm>
          <a:prstGeom prst="rect">
            <a:avLst/>
          </a:prstGeom>
          <a:noFill/>
          <a:ln/>
        </p:spPr>
        <p:txBody>
          <a:bodyPr wrap="square" lIns="0" tIns="0" rIns="0" bIns="0" rtlCol="0" anchor="ctr"/>
          <a:lstStyle/>
          <a:p>
            <a:pPr indent="0" marL="0">
              <a:buNone/>
            </a:pPr>
            <a:r>
              <a:rPr lang="en-US" sz="1400" b="1" dirty="0">
                <a:solidFill>
                  <a:schemeClr val="tx1"/>
                </a:solidFill>
              </a:rPr>
              <a:t>Daftar Belanja</a:t>
            </a:r>
            <a:endParaRPr lang="en-US" sz="1400" dirty="0"/>
          </a:p>
        </p:txBody>
      </p:sp>
      <p:sp>
        <p:nvSpPr>
          <p:cNvPr id="29" name="Text 26"/>
          <p:cNvSpPr txBox="1"/>
          <p:nvPr/>
        </p:nvSpPr>
        <p:spPr>
          <a:xfrm>
            <a:off x="2926080" y="3209544"/>
            <a:ext cx="4480560" cy="612648"/>
          </a:xfrm>
          <a:prstGeom prst="rect">
            <a:avLst/>
          </a:prstGeom>
          <a:noFill/>
          <a:ln/>
        </p:spPr>
        <p:txBody>
          <a:bodyPr wrap="square" lIns="0" tIns="0" rIns="0" bIns="0" rtlCol="0" anchor="ctr"/>
          <a:lstStyle/>
          <a:p>
            <a:pPr indent="0" marL="0">
              <a:buNone/>
            </a:pPr>
            <a:r>
              <a:rPr lang="en-US" sz="1200" dirty="0">
                <a:solidFill>
                  <a:schemeClr val="tx2"/>
                </a:solidFill>
              </a:rPr>
              <a:t>Simpan barang &amp; harga di dictionary, hitung total belanja.</a:t>
            </a:r>
            <a:endParaRPr lang="en-US" sz="1200" dirty="0"/>
          </a:p>
        </p:txBody>
      </p:sp>
      <p:sp>
        <p:nvSpPr>
          <p:cNvPr id="30" name="Shape 27"/>
          <p:cNvSpPr/>
          <p:nvPr/>
        </p:nvSpPr>
        <p:spPr>
          <a:xfrm>
            <a:off x="7498080" y="3364992"/>
            <a:ext cx="1051560" cy="310896"/>
          </a:xfrm>
          <a:prstGeom prst="roundRect">
            <a:avLst>
              <a:gd name="adj" fmla="val 50000"/>
            </a:avLst>
          </a:prstGeom>
          <a:solidFill>
            <a:schemeClr val="accent3"/>
          </a:solidFill>
          <a:ln w="12700">
            <a:solidFill>
              <a:schemeClr val="accent3"/>
            </a:solidFill>
            <a:prstDash val="solid"/>
          </a:ln>
        </p:spPr>
      </p:sp>
      <p:sp>
        <p:nvSpPr>
          <p:cNvPr id="31" name="Text 28"/>
          <p:cNvSpPr txBox="1"/>
          <p:nvPr/>
        </p:nvSpPr>
        <p:spPr>
          <a:xfrm>
            <a:off x="7498080" y="3364992"/>
            <a:ext cx="1051560" cy="310896"/>
          </a:xfrm>
          <a:prstGeom prst="rect">
            <a:avLst/>
          </a:prstGeom>
          <a:noFill/>
          <a:ln/>
        </p:spPr>
        <p:txBody>
          <a:bodyPr wrap="square" lIns="0" tIns="0" rIns="0" bIns="0" rtlCol="0" anchor="ctr"/>
          <a:lstStyle/>
          <a:p>
            <a:pPr algn="ctr" indent="0" marL="0">
              <a:buNone/>
            </a:pPr>
            <a:r>
              <a:rPr lang="en-US" sz="1050" b="1" dirty="0">
                <a:solidFill>
                  <a:schemeClr val="bg1"/>
                </a:solidFill>
              </a:rPr>
              <a:t>Sedang</a:t>
            </a:r>
            <a:endParaRPr lang="en-US" sz="1050" dirty="0"/>
          </a:p>
        </p:txBody>
      </p:sp>
      <p:sp>
        <p:nvSpPr>
          <p:cNvPr id="32" name="Shape 29"/>
          <p:cNvSpPr/>
          <p:nvPr/>
        </p:nvSpPr>
        <p:spPr>
          <a:xfrm>
            <a:off x="457200" y="3913632"/>
            <a:ext cx="8229600" cy="612648"/>
          </a:xfrm>
          <a:prstGeom prst="roundRect">
            <a:avLst>
              <a:gd name="adj" fmla="val 11940"/>
            </a:avLst>
          </a:prstGeom>
          <a:solidFill>
            <a:schemeClr val="bg2"/>
          </a:solidFill>
          <a:ln w="12700">
            <a:solidFill>
              <a:schemeClr val="bg2"/>
            </a:solidFill>
            <a:prstDash val="solid"/>
          </a:ln>
        </p:spPr>
      </p:sp>
      <p:sp>
        <p:nvSpPr>
          <p:cNvPr id="33" name="Shape 30"/>
          <p:cNvSpPr/>
          <p:nvPr/>
        </p:nvSpPr>
        <p:spPr>
          <a:xfrm>
            <a:off x="594360" y="4014216"/>
            <a:ext cx="411480" cy="411480"/>
          </a:xfrm>
          <a:prstGeom prst="ellipse">
            <a:avLst/>
          </a:prstGeom>
          <a:solidFill>
            <a:schemeClr val="accent1"/>
          </a:solidFill>
          <a:ln w="12700">
            <a:solidFill>
              <a:schemeClr val="accent1"/>
            </a:solidFill>
            <a:prstDash val="solid"/>
          </a:ln>
        </p:spPr>
      </p:sp>
      <p:sp>
        <p:nvSpPr>
          <p:cNvPr id="34" name="Text 31"/>
          <p:cNvSpPr txBox="1"/>
          <p:nvPr/>
        </p:nvSpPr>
        <p:spPr>
          <a:xfrm>
            <a:off x="594360" y="4014216"/>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5" name="Text 32"/>
          <p:cNvSpPr txBox="1"/>
          <p:nvPr/>
        </p:nvSpPr>
        <p:spPr>
          <a:xfrm>
            <a:off x="1188720" y="3913632"/>
            <a:ext cx="1737360" cy="612648"/>
          </a:xfrm>
          <a:prstGeom prst="rect">
            <a:avLst/>
          </a:prstGeom>
          <a:noFill/>
          <a:ln/>
        </p:spPr>
        <p:txBody>
          <a:bodyPr wrap="square" lIns="0" tIns="0" rIns="0" bIns="0" rtlCol="0" anchor="ctr"/>
          <a:lstStyle/>
          <a:p>
            <a:pPr indent="0" marL="0">
              <a:buNone/>
            </a:pPr>
            <a:r>
              <a:rPr lang="en-US" sz="1400" b="1" dirty="0">
                <a:solidFill>
                  <a:schemeClr val="tx1"/>
                </a:solidFill>
              </a:rPr>
              <a:t>Rekening Bank</a:t>
            </a:r>
            <a:endParaRPr lang="en-US" sz="1400" dirty="0"/>
          </a:p>
        </p:txBody>
      </p:sp>
      <p:sp>
        <p:nvSpPr>
          <p:cNvPr id="36" name="Text 33"/>
          <p:cNvSpPr txBox="1"/>
          <p:nvPr/>
        </p:nvSpPr>
        <p:spPr>
          <a:xfrm>
            <a:off x="2926080" y="3913632"/>
            <a:ext cx="4480560" cy="612648"/>
          </a:xfrm>
          <a:prstGeom prst="rect">
            <a:avLst/>
          </a:prstGeom>
          <a:noFill/>
          <a:ln/>
        </p:spPr>
        <p:txBody>
          <a:bodyPr wrap="square" lIns="0" tIns="0" rIns="0" bIns="0" rtlCol="0" anchor="ctr"/>
          <a:lstStyle/>
          <a:p>
            <a:pPr indent="0" marL="0">
              <a:buNone/>
            </a:pPr>
            <a:r>
              <a:rPr lang="en-US" sz="1200" dirty="0">
                <a:solidFill>
                  <a:schemeClr val="tx2"/>
                </a:solidFill>
              </a:rPr>
              <a:t>Buat class Rekening dengan method setor(), tarik(), dan cek_saldo().</a:t>
            </a:r>
            <a:endParaRPr lang="en-US" sz="1200" dirty="0"/>
          </a:p>
        </p:txBody>
      </p:sp>
      <p:sp>
        <p:nvSpPr>
          <p:cNvPr id="37" name="Shape 34"/>
          <p:cNvSpPr/>
          <p:nvPr/>
        </p:nvSpPr>
        <p:spPr>
          <a:xfrm>
            <a:off x="7498080" y="4069080"/>
            <a:ext cx="1051560" cy="310896"/>
          </a:xfrm>
          <a:prstGeom prst="roundRect">
            <a:avLst>
              <a:gd name="adj" fmla="val 50000"/>
            </a:avLst>
          </a:prstGeom>
          <a:solidFill>
            <a:schemeClr val="accent5"/>
          </a:solidFill>
          <a:ln w="12700">
            <a:solidFill>
              <a:schemeClr val="accent5"/>
            </a:solidFill>
            <a:prstDash val="solid"/>
          </a:ln>
        </p:spPr>
      </p:sp>
      <p:sp>
        <p:nvSpPr>
          <p:cNvPr id="38" name="Text 35"/>
          <p:cNvSpPr txBox="1"/>
          <p:nvPr/>
        </p:nvSpPr>
        <p:spPr>
          <a:xfrm>
            <a:off x="7498080" y="4069080"/>
            <a:ext cx="1051560" cy="310896"/>
          </a:xfrm>
          <a:prstGeom prst="rect">
            <a:avLst/>
          </a:prstGeom>
          <a:noFill/>
          <a:ln/>
        </p:spPr>
        <p:txBody>
          <a:bodyPr wrap="square" lIns="0" tIns="0" rIns="0" bIns="0" rtlCol="0" anchor="ctr"/>
          <a:lstStyle/>
          <a:p>
            <a:pPr algn="ctr" indent="0" marL="0">
              <a:buNone/>
            </a:pPr>
            <a:r>
              <a:rPr lang="en-US" sz="1050" b="1" dirty="0">
                <a:solidFill>
                  <a:schemeClr val="bg1"/>
                </a:solidFill>
              </a:rPr>
              <a:t>Menantang</a:t>
            </a:r>
            <a:endParaRPr lang="en-US" sz="105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Rangkuman &amp; Sumber Belajar</a:t>
            </a:r>
            <a:endParaRPr lang="en-US" sz="2800" dirty="0"/>
          </a:p>
        </p:txBody>
      </p:sp>
      <p:sp>
        <p:nvSpPr>
          <p:cNvPr id="4" name="Text 1"/>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chemeClr val="accent1"/>
                </a:solidFill>
              </a:rPr>
              <a:t>Yang sudah dipelajari</a:t>
            </a:r>
            <a:endParaRPr lang="en-US" sz="1500" dirty="0"/>
          </a:p>
        </p:txBody>
      </p:sp>
      <p:pic>
        <p:nvPicPr>
          <p:cNvPr id="5" name="Image 0" descr="preencoded.png">    </p:cNvPr>
          <p:cNvPicPr>
            <a:picLocks noChangeAspect="1"/>
          </p:cNvPicPr>
          <p:nvPr/>
        </p:nvPicPr>
        <p:blipFill>
          <a:blip r:embed="rId1"/>
          <a:stretch>
            <a:fillRect/>
          </a:stretch>
        </p:blipFill>
        <p:spPr>
          <a:xfrm>
            <a:off x="457200" y="1572768"/>
            <a:ext cx="256032" cy="256032"/>
          </a:xfrm>
          <a:prstGeom prst="rect">
            <a:avLst/>
          </a:prstGeom>
        </p:spPr>
      </p:pic>
      <p:sp>
        <p:nvSpPr>
          <p:cNvPr id="6" name="Text 2"/>
          <p:cNvSpPr txBox="1"/>
          <p:nvPr/>
        </p:nvSpPr>
        <p:spPr>
          <a:xfrm>
            <a:off x="841248" y="1508760"/>
            <a:ext cx="3566160" cy="384048"/>
          </a:xfrm>
          <a:prstGeom prst="rect">
            <a:avLst/>
          </a:prstGeom>
          <a:noFill/>
          <a:ln/>
        </p:spPr>
        <p:txBody>
          <a:bodyPr wrap="square" lIns="0" tIns="0" rIns="0" bIns="0" rtlCol="0" anchor="ctr"/>
          <a:lstStyle/>
          <a:p>
            <a:pPr indent="0" marL="0">
              <a:buNone/>
            </a:pPr>
            <a:r>
              <a:rPr lang="en-US" sz="1300" dirty="0">
                <a:solidFill>
                  <a:schemeClr val="tx1"/>
                </a:solidFill>
              </a:rPr>
              <a:t>Python: bahasa mudah dibaca dan serbaguna</a:t>
            </a:r>
            <a:endParaRPr lang="en-US" sz="1300" dirty="0"/>
          </a:p>
        </p:txBody>
      </p:sp>
      <p:pic>
        <p:nvPicPr>
          <p:cNvPr id="7" name="Image 1" descr="preencoded.png">    </p:cNvPr>
          <p:cNvPicPr>
            <a:picLocks noChangeAspect="1"/>
          </p:cNvPicPr>
          <p:nvPr/>
        </p:nvPicPr>
        <p:blipFill>
          <a:blip r:embed="rId2"/>
          <a:stretch>
            <a:fillRect/>
          </a:stretch>
        </p:blipFill>
        <p:spPr>
          <a:xfrm>
            <a:off x="457200" y="2075688"/>
            <a:ext cx="256032" cy="256032"/>
          </a:xfrm>
          <a:prstGeom prst="rect">
            <a:avLst/>
          </a:prstGeom>
        </p:spPr>
      </p:pic>
      <p:sp>
        <p:nvSpPr>
          <p:cNvPr id="8" name="Text 3"/>
          <p:cNvSpPr txBox="1"/>
          <p:nvPr/>
        </p:nvSpPr>
        <p:spPr>
          <a:xfrm>
            <a:off x="841248" y="2011680"/>
            <a:ext cx="3566160" cy="384048"/>
          </a:xfrm>
          <a:prstGeom prst="rect">
            <a:avLst/>
          </a:prstGeom>
          <a:noFill/>
          <a:ln/>
        </p:spPr>
        <p:txBody>
          <a:bodyPr wrap="square" lIns="0" tIns="0" rIns="0" bIns="0" rtlCol="0" anchor="ctr"/>
          <a:lstStyle/>
          <a:p>
            <a:pPr indent="0" marL="0">
              <a:buNone/>
            </a:pPr>
            <a:r>
              <a:rPr lang="en-US" sz="1300" dirty="0">
                <a:solidFill>
                  <a:schemeClr val="tx1"/>
                </a:solidFill>
              </a:rPr>
              <a:t>Variabel, tipe data, dan operator</a:t>
            </a:r>
            <a:endParaRPr lang="en-US" sz="1300" dirty="0"/>
          </a:p>
        </p:txBody>
      </p:sp>
      <p:pic>
        <p:nvPicPr>
          <p:cNvPr id="9" name="Image 2" descr="preencoded.png">    </p:cNvPr>
          <p:cNvPicPr>
            <a:picLocks noChangeAspect="1"/>
          </p:cNvPicPr>
          <p:nvPr/>
        </p:nvPicPr>
        <p:blipFill>
          <a:blip r:embed="rId3"/>
          <a:stretch>
            <a:fillRect/>
          </a:stretch>
        </p:blipFill>
        <p:spPr>
          <a:xfrm>
            <a:off x="457200" y="2578608"/>
            <a:ext cx="256032" cy="256032"/>
          </a:xfrm>
          <a:prstGeom prst="rect">
            <a:avLst/>
          </a:prstGeom>
        </p:spPr>
      </p:pic>
      <p:sp>
        <p:nvSpPr>
          <p:cNvPr id="10" name="Text 4"/>
          <p:cNvSpPr txBox="1"/>
          <p:nvPr/>
        </p:nvSpPr>
        <p:spPr>
          <a:xfrm>
            <a:off x="841248" y="2514600"/>
            <a:ext cx="3566160" cy="384048"/>
          </a:xfrm>
          <a:prstGeom prst="rect">
            <a:avLst/>
          </a:prstGeom>
          <a:noFill/>
          <a:ln/>
        </p:spPr>
        <p:txBody>
          <a:bodyPr wrap="square" lIns="0" tIns="0" rIns="0" bIns="0" rtlCol="0" anchor="ctr"/>
          <a:lstStyle/>
          <a:p>
            <a:pPr indent="0" marL="0">
              <a:buNone/>
            </a:pPr>
            <a:r>
              <a:rPr lang="en-US" sz="1300" dirty="0">
                <a:solidFill>
                  <a:schemeClr val="tx1"/>
                </a:solidFill>
              </a:rPr>
              <a:t>Kondisi if dan perulangan for / while</a:t>
            </a:r>
            <a:endParaRPr lang="en-US" sz="1300" dirty="0"/>
          </a:p>
        </p:txBody>
      </p:sp>
      <p:pic>
        <p:nvPicPr>
          <p:cNvPr id="11" name="Image 3" descr="preencoded.png">    </p:cNvPr>
          <p:cNvPicPr>
            <a:picLocks noChangeAspect="1"/>
          </p:cNvPicPr>
          <p:nvPr/>
        </p:nvPicPr>
        <p:blipFill>
          <a:blip r:embed="rId4"/>
          <a:stretch>
            <a:fillRect/>
          </a:stretch>
        </p:blipFill>
        <p:spPr>
          <a:xfrm>
            <a:off x="457200" y="3081528"/>
            <a:ext cx="256032" cy="256032"/>
          </a:xfrm>
          <a:prstGeom prst="rect">
            <a:avLst/>
          </a:prstGeom>
        </p:spPr>
      </p:pic>
      <p:sp>
        <p:nvSpPr>
          <p:cNvPr id="12" name="Text 5"/>
          <p:cNvSpPr txBox="1"/>
          <p:nvPr/>
        </p:nvSpPr>
        <p:spPr>
          <a:xfrm>
            <a:off x="841248" y="3017520"/>
            <a:ext cx="3566160" cy="384048"/>
          </a:xfrm>
          <a:prstGeom prst="rect">
            <a:avLst/>
          </a:prstGeom>
          <a:noFill/>
          <a:ln/>
        </p:spPr>
        <p:txBody>
          <a:bodyPr wrap="square" lIns="0" tIns="0" rIns="0" bIns="0" rtlCol="0" anchor="ctr"/>
          <a:lstStyle/>
          <a:p>
            <a:pPr indent="0" marL="0">
              <a:buNone/>
            </a:pPr>
            <a:r>
              <a:rPr lang="en-US" sz="1300" dirty="0">
                <a:solidFill>
                  <a:schemeClr val="tx1"/>
                </a:solidFill>
              </a:rPr>
              <a:t>List, tuple, set, dan dictionary</a:t>
            </a:r>
            <a:endParaRPr lang="en-US" sz="1300" dirty="0"/>
          </a:p>
        </p:txBody>
      </p:sp>
      <p:pic>
        <p:nvPicPr>
          <p:cNvPr id="13" name="Image 4" descr="preencoded.png">    </p:cNvPr>
          <p:cNvPicPr>
            <a:picLocks noChangeAspect="1"/>
          </p:cNvPicPr>
          <p:nvPr/>
        </p:nvPicPr>
        <p:blipFill>
          <a:blip r:embed="rId5"/>
          <a:stretch>
            <a:fillRect/>
          </a:stretch>
        </p:blipFill>
        <p:spPr>
          <a:xfrm>
            <a:off x="457200" y="3584448"/>
            <a:ext cx="256032" cy="256032"/>
          </a:xfrm>
          <a:prstGeom prst="rect">
            <a:avLst/>
          </a:prstGeom>
        </p:spPr>
      </p:pic>
      <p:sp>
        <p:nvSpPr>
          <p:cNvPr id="14" name="Text 6"/>
          <p:cNvSpPr txBox="1"/>
          <p:nvPr/>
        </p:nvSpPr>
        <p:spPr>
          <a:xfrm>
            <a:off x="841248" y="3520440"/>
            <a:ext cx="3566160" cy="384048"/>
          </a:xfrm>
          <a:prstGeom prst="rect">
            <a:avLst/>
          </a:prstGeom>
          <a:noFill/>
          <a:ln/>
        </p:spPr>
        <p:txBody>
          <a:bodyPr wrap="square" lIns="0" tIns="0" rIns="0" bIns="0" rtlCol="0" anchor="ctr"/>
          <a:lstStyle/>
          <a:p>
            <a:pPr indent="0" marL="0">
              <a:buNone/>
            </a:pPr>
            <a:r>
              <a:rPr lang="en-US" sz="1300" dirty="0">
                <a:solidFill>
                  <a:schemeClr val="tx1"/>
                </a:solidFill>
              </a:rPr>
              <a:t>Fungsi, modul, dan pip</a:t>
            </a:r>
            <a:endParaRPr lang="en-US" sz="1300" dirty="0"/>
          </a:p>
        </p:txBody>
      </p:sp>
      <p:pic>
        <p:nvPicPr>
          <p:cNvPr id="15" name="Image 5" descr="preencoded.png">    </p:cNvPr>
          <p:cNvPicPr>
            <a:picLocks noChangeAspect="1"/>
          </p:cNvPicPr>
          <p:nvPr/>
        </p:nvPicPr>
        <p:blipFill>
          <a:blip r:embed="rId6"/>
          <a:stretch>
            <a:fillRect/>
          </a:stretch>
        </p:blipFill>
        <p:spPr>
          <a:xfrm>
            <a:off x="457200" y="4087368"/>
            <a:ext cx="256032" cy="256032"/>
          </a:xfrm>
          <a:prstGeom prst="rect">
            <a:avLst/>
          </a:prstGeom>
        </p:spPr>
      </p:pic>
      <p:sp>
        <p:nvSpPr>
          <p:cNvPr id="16" name="Text 7"/>
          <p:cNvSpPr txBox="1"/>
          <p:nvPr/>
        </p:nvSpPr>
        <p:spPr>
          <a:xfrm>
            <a:off x="841248" y="4023360"/>
            <a:ext cx="3566160" cy="384048"/>
          </a:xfrm>
          <a:prstGeom prst="rect">
            <a:avLst/>
          </a:prstGeom>
          <a:noFill/>
          <a:ln/>
        </p:spPr>
        <p:txBody>
          <a:bodyPr wrap="square" lIns="0" tIns="0" rIns="0" bIns="0" rtlCol="0" anchor="ctr"/>
          <a:lstStyle/>
          <a:p>
            <a:pPr indent="0" marL="0">
              <a:buNone/>
            </a:pPr>
            <a:r>
              <a:rPr lang="en-US" sz="1300" dirty="0">
                <a:solidFill>
                  <a:schemeClr val="tx1"/>
                </a:solidFill>
              </a:rPr>
              <a:t>OOP, try-except, dan pengolahan file</a:t>
            </a:r>
            <a:endParaRPr lang="en-US" sz="1300" dirty="0"/>
          </a:p>
        </p:txBody>
      </p:sp>
      <p:sp>
        <p:nvSpPr>
          <p:cNvPr id="17" name="Text 8"/>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500" b="1" dirty="0">
                <a:solidFill>
                  <a:schemeClr val="accent1"/>
                </a:solidFill>
              </a:rPr>
              <a:t>Sumber belajar lanjutan</a:t>
            </a:r>
            <a:endParaRPr lang="en-US" sz="1500" dirty="0"/>
          </a:p>
        </p:txBody>
      </p:sp>
      <p:sp>
        <p:nvSpPr>
          <p:cNvPr id="18" name="Shape 9"/>
          <p:cNvSpPr/>
          <p:nvPr/>
        </p:nvSpPr>
        <p:spPr>
          <a:xfrm>
            <a:off x="4754880" y="1508760"/>
            <a:ext cx="3931920" cy="640080"/>
          </a:xfrm>
          <a:prstGeom prst="roundRect">
            <a:avLst>
              <a:gd name="adj" fmla="val 11429"/>
            </a:avLst>
          </a:prstGeom>
          <a:solidFill>
            <a:schemeClr val="bg2"/>
          </a:solidFill>
          <a:ln w="12700">
            <a:solidFill>
              <a:schemeClr val="bg2"/>
            </a:solidFill>
            <a:prstDash val="solid"/>
          </a:ln>
        </p:spPr>
      </p:sp>
      <p:sp>
        <p:nvSpPr>
          <p:cNvPr id="19" name="Shape 10"/>
          <p:cNvSpPr/>
          <p:nvPr/>
        </p:nvSpPr>
        <p:spPr>
          <a:xfrm>
            <a:off x="4864608" y="1600200"/>
            <a:ext cx="457200" cy="457200"/>
          </a:xfrm>
          <a:prstGeom prst="ellipse">
            <a:avLst/>
          </a:prstGeom>
          <a:solidFill>
            <a:schemeClr val="accent1"/>
          </a:solidFill>
          <a:ln w="12700">
            <a:solidFill>
              <a:schemeClr val="accent1"/>
            </a:solidFill>
            <a:prstDash val="solid"/>
          </a:ln>
        </p:spPr>
      </p:sp>
      <p:pic>
        <p:nvPicPr>
          <p:cNvPr id="20" name="Image 6" descr="preencoded.png">    </p:cNvPr>
          <p:cNvPicPr>
            <a:picLocks noChangeAspect="1"/>
          </p:cNvPicPr>
          <p:nvPr/>
        </p:nvPicPr>
        <p:blipFill>
          <a:blip r:embed="rId7"/>
          <a:stretch>
            <a:fillRect/>
          </a:stretch>
        </p:blipFill>
        <p:spPr>
          <a:xfrm>
            <a:off x="4978908" y="1714500"/>
            <a:ext cx="228600" cy="228600"/>
          </a:xfrm>
          <a:prstGeom prst="rect">
            <a:avLst/>
          </a:prstGeom>
        </p:spPr>
      </p:pic>
      <p:sp>
        <p:nvSpPr>
          <p:cNvPr id="21" name="Text 11"/>
          <p:cNvSpPr txBox="1"/>
          <p:nvPr/>
        </p:nvSpPr>
        <p:spPr>
          <a:xfrm>
            <a:off x="5440680" y="1554480"/>
            <a:ext cx="3154680" cy="548640"/>
          </a:xfrm>
          <a:prstGeom prst="rect">
            <a:avLst/>
          </a:prstGeom>
          <a:noFill/>
          <a:ln/>
        </p:spPr>
        <p:txBody>
          <a:bodyPr wrap="square" lIns="0" tIns="0" rIns="0" bIns="0" rtlCol="0" anchor="ctr"/>
          <a:lstStyle/>
          <a:p>
            <a:pPr indent="0" marL="0">
              <a:buNone/>
            </a:pPr>
            <a:r>
              <a:rPr lang="en-US" sz="1300" b="1" dirty="0">
                <a:solidFill>
                  <a:schemeClr val="tx1"/>
                </a:solidFill>
              </a:rPr>
              <a:t>docs.python.org</a:t>
            </a:r>
            <a:endParaRPr lang="en-US" sz="1300" dirty="0"/>
          </a:p>
          <a:p>
            <a:pPr indent="0" marL="0">
              <a:buNone/>
            </a:pPr>
            <a:r>
              <a:rPr lang="en-US" sz="1100" dirty="0">
                <a:solidFill>
                  <a:schemeClr val="tx2"/>
                </a:solidFill>
              </a:rPr>
              <a:t>Dokumentasi &amp; tutorial resmi</a:t>
            </a:r>
            <a:endParaRPr lang="en-US" sz="1300" dirty="0"/>
          </a:p>
        </p:txBody>
      </p:sp>
      <p:sp>
        <p:nvSpPr>
          <p:cNvPr id="22" name="Shape 12"/>
          <p:cNvSpPr/>
          <p:nvPr/>
        </p:nvSpPr>
        <p:spPr>
          <a:xfrm>
            <a:off x="4754880" y="2258568"/>
            <a:ext cx="3931920" cy="640080"/>
          </a:xfrm>
          <a:prstGeom prst="roundRect">
            <a:avLst>
              <a:gd name="adj" fmla="val 11429"/>
            </a:avLst>
          </a:prstGeom>
          <a:solidFill>
            <a:schemeClr val="bg2"/>
          </a:solidFill>
          <a:ln w="12700">
            <a:solidFill>
              <a:schemeClr val="bg2"/>
            </a:solidFill>
            <a:prstDash val="solid"/>
          </a:ln>
        </p:spPr>
      </p:sp>
      <p:sp>
        <p:nvSpPr>
          <p:cNvPr id="23" name="Shape 13"/>
          <p:cNvSpPr/>
          <p:nvPr/>
        </p:nvSpPr>
        <p:spPr>
          <a:xfrm>
            <a:off x="4864608" y="2350008"/>
            <a:ext cx="457200" cy="457200"/>
          </a:xfrm>
          <a:prstGeom prst="ellipse">
            <a:avLst/>
          </a:prstGeom>
          <a:solidFill>
            <a:schemeClr val="accent1"/>
          </a:solidFill>
          <a:ln w="12700">
            <a:solidFill>
              <a:schemeClr val="accent1"/>
            </a:solidFill>
            <a:prstDash val="solid"/>
          </a:ln>
        </p:spPr>
      </p:sp>
      <p:pic>
        <p:nvPicPr>
          <p:cNvPr id="24" name="Image 7" descr="preencoded.png">    </p:cNvPr>
          <p:cNvPicPr>
            <a:picLocks noChangeAspect="1"/>
          </p:cNvPicPr>
          <p:nvPr/>
        </p:nvPicPr>
        <p:blipFill>
          <a:blip r:embed="rId8"/>
          <a:stretch>
            <a:fillRect/>
          </a:stretch>
        </p:blipFill>
        <p:spPr>
          <a:xfrm>
            <a:off x="4978908" y="2464308"/>
            <a:ext cx="228600" cy="228600"/>
          </a:xfrm>
          <a:prstGeom prst="rect">
            <a:avLst/>
          </a:prstGeom>
        </p:spPr>
      </p:pic>
      <p:sp>
        <p:nvSpPr>
          <p:cNvPr id="25" name="Text 14"/>
          <p:cNvSpPr txBox="1"/>
          <p:nvPr/>
        </p:nvSpPr>
        <p:spPr>
          <a:xfrm>
            <a:off x="5440680" y="2304288"/>
            <a:ext cx="3154680" cy="548640"/>
          </a:xfrm>
          <a:prstGeom prst="rect">
            <a:avLst/>
          </a:prstGeom>
          <a:noFill/>
          <a:ln/>
        </p:spPr>
        <p:txBody>
          <a:bodyPr wrap="square" lIns="0" tIns="0" rIns="0" bIns="0" rtlCol="0" anchor="ctr"/>
          <a:lstStyle/>
          <a:p>
            <a:pPr indent="0" marL="0">
              <a:buNone/>
            </a:pPr>
            <a:r>
              <a:rPr lang="en-US" sz="1300" b="1" dirty="0">
                <a:solidFill>
                  <a:schemeClr val="tx1"/>
                </a:solidFill>
              </a:rPr>
              <a:t>pypi.org</a:t>
            </a:r>
            <a:endParaRPr lang="en-US" sz="1300" dirty="0"/>
          </a:p>
          <a:p>
            <a:pPr indent="0" marL="0">
              <a:buNone/>
            </a:pPr>
            <a:r>
              <a:rPr lang="en-US" sz="1100" dirty="0">
                <a:solidFill>
                  <a:schemeClr val="tx2"/>
                </a:solidFill>
              </a:rPr>
              <a:t>Katalog library Python</a:t>
            </a:r>
            <a:endParaRPr lang="en-US" sz="1300" dirty="0"/>
          </a:p>
        </p:txBody>
      </p:sp>
      <p:sp>
        <p:nvSpPr>
          <p:cNvPr id="26" name="Shape 15"/>
          <p:cNvSpPr/>
          <p:nvPr/>
        </p:nvSpPr>
        <p:spPr>
          <a:xfrm>
            <a:off x="4754880" y="3008376"/>
            <a:ext cx="3931920" cy="640080"/>
          </a:xfrm>
          <a:prstGeom prst="roundRect">
            <a:avLst>
              <a:gd name="adj" fmla="val 11429"/>
            </a:avLst>
          </a:prstGeom>
          <a:solidFill>
            <a:schemeClr val="bg2"/>
          </a:solidFill>
          <a:ln w="12700">
            <a:solidFill>
              <a:schemeClr val="bg2"/>
            </a:solidFill>
            <a:prstDash val="solid"/>
          </a:ln>
        </p:spPr>
      </p:sp>
      <p:sp>
        <p:nvSpPr>
          <p:cNvPr id="27" name="Shape 16"/>
          <p:cNvSpPr/>
          <p:nvPr/>
        </p:nvSpPr>
        <p:spPr>
          <a:xfrm>
            <a:off x="4864608" y="3099816"/>
            <a:ext cx="457200" cy="457200"/>
          </a:xfrm>
          <a:prstGeom prst="ellipse">
            <a:avLst/>
          </a:prstGeom>
          <a:solidFill>
            <a:schemeClr val="accent1"/>
          </a:solidFill>
          <a:ln w="12700">
            <a:solidFill>
              <a:schemeClr val="accent1"/>
            </a:solidFill>
            <a:prstDash val="solid"/>
          </a:ln>
        </p:spPr>
      </p:sp>
      <p:pic>
        <p:nvPicPr>
          <p:cNvPr id="28" name="Image 8" descr="preencoded.png">    </p:cNvPr>
          <p:cNvPicPr>
            <a:picLocks noChangeAspect="1"/>
          </p:cNvPicPr>
          <p:nvPr/>
        </p:nvPicPr>
        <p:blipFill>
          <a:blip r:embed="rId9"/>
          <a:stretch>
            <a:fillRect/>
          </a:stretch>
        </p:blipFill>
        <p:spPr>
          <a:xfrm>
            <a:off x="4978908" y="3214116"/>
            <a:ext cx="228600" cy="228600"/>
          </a:xfrm>
          <a:prstGeom prst="rect">
            <a:avLst/>
          </a:prstGeom>
        </p:spPr>
      </p:pic>
      <p:sp>
        <p:nvSpPr>
          <p:cNvPr id="29" name="Text 17"/>
          <p:cNvSpPr txBox="1"/>
          <p:nvPr/>
        </p:nvSpPr>
        <p:spPr>
          <a:xfrm>
            <a:off x="5440680" y="3054096"/>
            <a:ext cx="3154680" cy="548640"/>
          </a:xfrm>
          <a:prstGeom prst="rect">
            <a:avLst/>
          </a:prstGeom>
          <a:noFill/>
          <a:ln/>
        </p:spPr>
        <p:txBody>
          <a:bodyPr wrap="square" lIns="0" tIns="0" rIns="0" bIns="0" rtlCol="0" anchor="ctr"/>
          <a:lstStyle/>
          <a:p>
            <a:pPr indent="0" marL="0">
              <a:buNone/>
            </a:pPr>
            <a:r>
              <a:rPr lang="en-US" sz="1300" b="1" dirty="0">
                <a:solidFill>
                  <a:schemeClr val="tx1"/>
                </a:solidFill>
              </a:rPr>
              <a:t>Google Colab</a:t>
            </a:r>
            <a:endParaRPr lang="en-US" sz="1300" dirty="0"/>
          </a:p>
          <a:p>
            <a:pPr indent="0" marL="0">
              <a:buNone/>
            </a:pPr>
            <a:r>
              <a:rPr lang="en-US" sz="1100" dirty="0">
                <a:solidFill>
                  <a:schemeClr val="tx2"/>
                </a:solidFill>
              </a:rPr>
              <a:t>Coding Python di browser</a:t>
            </a:r>
            <a:endParaRPr lang="en-US" sz="1300" dirty="0"/>
          </a:p>
        </p:txBody>
      </p:sp>
      <p:sp>
        <p:nvSpPr>
          <p:cNvPr id="30" name="Shape 18"/>
          <p:cNvSpPr/>
          <p:nvPr/>
        </p:nvSpPr>
        <p:spPr>
          <a:xfrm>
            <a:off x="4754880" y="3758184"/>
            <a:ext cx="3931920" cy="640080"/>
          </a:xfrm>
          <a:prstGeom prst="roundRect">
            <a:avLst>
              <a:gd name="adj" fmla="val 11429"/>
            </a:avLst>
          </a:prstGeom>
          <a:solidFill>
            <a:schemeClr val="bg2"/>
          </a:solidFill>
          <a:ln w="12700">
            <a:solidFill>
              <a:schemeClr val="bg2"/>
            </a:solidFill>
            <a:prstDash val="solid"/>
          </a:ln>
        </p:spPr>
      </p:sp>
      <p:sp>
        <p:nvSpPr>
          <p:cNvPr id="31" name="Shape 19"/>
          <p:cNvSpPr/>
          <p:nvPr/>
        </p:nvSpPr>
        <p:spPr>
          <a:xfrm>
            <a:off x="4864608" y="3849624"/>
            <a:ext cx="457200" cy="457200"/>
          </a:xfrm>
          <a:prstGeom prst="ellipse">
            <a:avLst/>
          </a:prstGeom>
          <a:solidFill>
            <a:schemeClr val="accent1"/>
          </a:solidFill>
          <a:ln w="12700">
            <a:solidFill>
              <a:schemeClr val="accent1"/>
            </a:solidFill>
            <a:prstDash val="solid"/>
          </a:ln>
        </p:spPr>
      </p:sp>
      <p:pic>
        <p:nvPicPr>
          <p:cNvPr id="32" name="Image 9" descr="preencoded.png">    </p:cNvPr>
          <p:cNvPicPr>
            <a:picLocks noChangeAspect="1"/>
          </p:cNvPicPr>
          <p:nvPr/>
        </p:nvPicPr>
        <p:blipFill>
          <a:blip r:embed="rId10"/>
          <a:stretch>
            <a:fillRect/>
          </a:stretch>
        </p:blipFill>
        <p:spPr>
          <a:xfrm>
            <a:off x="4978908" y="3963924"/>
            <a:ext cx="228600" cy="228600"/>
          </a:xfrm>
          <a:prstGeom prst="rect">
            <a:avLst/>
          </a:prstGeom>
        </p:spPr>
      </p:pic>
      <p:sp>
        <p:nvSpPr>
          <p:cNvPr id="33" name="Text 20"/>
          <p:cNvSpPr txBox="1"/>
          <p:nvPr/>
        </p:nvSpPr>
        <p:spPr>
          <a:xfrm>
            <a:off x="5440680" y="3803904"/>
            <a:ext cx="3154680" cy="548640"/>
          </a:xfrm>
          <a:prstGeom prst="rect">
            <a:avLst/>
          </a:prstGeom>
          <a:noFill/>
          <a:ln/>
        </p:spPr>
        <p:txBody>
          <a:bodyPr wrap="square" lIns="0" tIns="0" rIns="0" bIns="0" rtlCol="0" anchor="ctr"/>
          <a:lstStyle/>
          <a:p>
            <a:pPr indent="0" marL="0">
              <a:buNone/>
            </a:pPr>
            <a:r>
              <a:rPr lang="en-US" sz="1300" b="1" dirty="0">
                <a:solidFill>
                  <a:schemeClr val="tx1"/>
                </a:solidFill>
              </a:rPr>
              <a:t>Stack Overflow</a:t>
            </a:r>
            <a:endParaRPr lang="en-US" sz="1300" dirty="0"/>
          </a:p>
          <a:p>
            <a:pPr indent="0" marL="0">
              <a:buNone/>
            </a:pPr>
            <a:r>
              <a:rPr lang="en-US" sz="1100" dirty="0">
                <a:solidFill>
                  <a:schemeClr val="tx2"/>
                </a:solidFill>
              </a:rPr>
              <a:t>Tanya jawab masalah kode</a:t>
            </a:r>
            <a:endParaRPr lang="en-US" sz="1300" dirty="0"/>
          </a:p>
        </p:txBody>
      </p:sp>
      <p:sp>
        <p:nvSpPr>
          <p:cNvPr id="25" name="Slide Number Placeholder 0"/>
          <p:cNvSpPr>
            <a:spLocks noGrp="1"/>
          </p:cNvSpPr>
          <p:nvPr>
            <p:ph type="sldNum" sz="quarter" idx="4294967295"/>
          </p:nvPr>
        </p:nvSpPr>
        <p:spPr>
          <a:xfrm>
            <a:off x="8229600" y="47274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3886200" y="685800"/>
            <a:ext cx="1371600" cy="1371600"/>
          </a:xfrm>
          <a:prstGeom prst="rect">
            <a:avLst/>
          </a:prstGeom>
        </p:spPr>
      </p:pic>
      <p:sp>
        <p:nvSpPr>
          <p:cNvPr id="3" name="Text 0"/>
          <p:cNvSpPr txBox="1"/>
          <p:nvPr/>
        </p:nvSpPr>
        <p:spPr>
          <a:xfrm>
            <a:off x="914400" y="2240280"/>
            <a:ext cx="731520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Arial" pitchFamily="34" charset="0"/>
                <a:ea typeface="Arial" pitchFamily="34" charset="-122"/>
                <a:cs typeface="Arial" pitchFamily="34" charset="-120"/>
              </a:rPr>
              <a:t>Terima Kasih</a:t>
            </a:r>
            <a:endParaRPr lang="en-US" sz="4000" dirty="0"/>
          </a:p>
        </p:txBody>
      </p:sp>
      <p:sp>
        <p:nvSpPr>
          <p:cNvPr id="4" name="Text 1"/>
          <p:cNvSpPr txBox="1"/>
          <p:nvPr/>
        </p:nvSpPr>
        <p:spPr>
          <a:xfrm>
            <a:off x="914400" y="2971800"/>
            <a:ext cx="7315200" cy="411480"/>
          </a:xfrm>
          <a:prstGeom prst="rect">
            <a:avLst/>
          </a:prstGeom>
          <a:noFill/>
          <a:ln/>
        </p:spPr>
        <p:txBody>
          <a:bodyPr wrap="square" lIns="0" tIns="0" rIns="0" bIns="0" rtlCol="0" anchor="t"/>
          <a:lstStyle/>
          <a:p>
            <a:pPr algn="ctr" indent="0" marL="0">
              <a:buNone/>
            </a:pPr>
            <a:r>
              <a:rPr lang="en-US" sz="1800" dirty="0">
                <a:solidFill>
                  <a:schemeClr val="accent2"/>
                </a:solidFill>
              </a:rPr>
              <a:t>Selamat mencoba dan terus berlatih!</a:t>
            </a:r>
            <a:endParaRPr lang="en-US" sz="1800" dirty="0"/>
          </a:p>
        </p:txBody>
      </p:sp>
      <p:sp>
        <p:nvSpPr>
          <p:cNvPr id="5" name="Shape 2"/>
          <p:cNvSpPr/>
          <p:nvPr/>
        </p:nvSpPr>
        <p:spPr>
          <a:xfrm>
            <a:off x="2743200" y="3657600"/>
            <a:ext cx="3657600" cy="548640"/>
          </a:xfrm>
          <a:prstGeom prst="roundRect">
            <a:avLst>
              <a:gd name="adj" fmla="val 16667"/>
            </a:avLst>
          </a:prstGeom>
          <a:solidFill>
            <a:srgbClr val="1E2433"/>
          </a:solidFill>
          <a:ln w="12700">
            <a:solidFill>
              <a:schemeClr val="accent1"/>
            </a:solidFill>
            <a:prstDash val="solid"/>
          </a:ln>
        </p:spPr>
      </p:sp>
      <p:sp>
        <p:nvSpPr>
          <p:cNvPr id="6" name="Text 3"/>
          <p:cNvSpPr txBox="1"/>
          <p:nvPr/>
        </p:nvSpPr>
        <p:spPr>
          <a:xfrm>
            <a:off x="2743200" y="3657600"/>
            <a:ext cx="3657600" cy="548640"/>
          </a:xfrm>
          <a:prstGeom prst="rect">
            <a:avLst/>
          </a:prstGeom>
          <a:noFill/>
          <a:ln/>
        </p:spPr>
        <p:txBody>
          <a:bodyPr wrap="square" lIns="0" tIns="0" rIns="0" bIns="0" rtlCol="0" anchor="ctr"/>
          <a:lstStyle/>
          <a:p>
            <a:pPr algn="ctr" indent="0" marL="0">
              <a:buNone/>
            </a:pPr>
            <a:r>
              <a:rPr lang="en-US" sz="1600" dirty="0">
                <a:solidFill>
                  <a:srgbClr val="82AAFF"/>
                </a:solidFill>
                <a:latin typeface="Courier New" pitchFamily="34" charset="0"/>
                <a:ea typeface="Courier New" pitchFamily="34" charset="-122"/>
                <a:cs typeface="Courier New" pitchFamily="34" charset="-120"/>
              </a:rPr>
              <a:t>print</a:t>
            </a:r>
            <a:pPr algn="ctr" indent="0" marL="0">
              <a:buNone/>
            </a:pPr>
            <a:r>
              <a:rPr lang="en-US" sz="1600" dirty="0">
                <a:solidFill>
                  <a:srgbClr val="D8DEE9"/>
                </a:solidFill>
                <a:latin typeface="Courier New" pitchFamily="34" charset="0"/>
                <a:ea typeface="Courier New" pitchFamily="34" charset="-122"/>
                <a:cs typeface="Courier New" pitchFamily="34" charset="-120"/>
              </a:rPr>
              <a:t>(</a:t>
            </a:r>
            <a:pPr algn="ctr" indent="0" marL="0">
              <a:buNone/>
            </a:pPr>
            <a:r>
              <a:rPr lang="en-US" sz="1600" dirty="0">
                <a:solidFill>
                  <a:srgbClr val="C3E88D"/>
                </a:solidFill>
                <a:latin typeface="Courier New" pitchFamily="34" charset="0"/>
                <a:ea typeface="Courier New" pitchFamily="34" charset="-122"/>
                <a:cs typeface="Courier New" pitchFamily="34" charset="-120"/>
              </a:rPr>
              <a:t>"Sampai jumpa!"</a:t>
            </a:r>
            <a:pPr algn="ctr" indent="0" marL="0">
              <a:buNone/>
            </a:pPr>
            <a:r>
              <a:rPr lang="en-US" sz="1600" dirty="0">
                <a:solidFill>
                  <a:srgbClr val="D8DEE9"/>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theme/theme1.xml><?xml version="1.0" encoding="utf-8"?>
<a:theme xmlns:a="http://schemas.openxmlformats.org/drawingml/2006/main" name="Python Biru Kuning">
  <a:themeElements>
    <a:clrScheme name="Python Biru Kuning">
      <a:dk1>
        <a:srgbClr val="16233A"/>
      </a:dk1>
      <a:lt1>
        <a:srgbClr val="FFFFFF"/>
      </a:lt1>
      <a:dk2>
        <a:srgbClr val="306998"/>
      </a:dk2>
      <a:lt2>
        <a:srgbClr val="EEF3F9"/>
      </a:lt2>
      <a:accent1>
        <a:srgbClr val="306998"/>
      </a:accent1>
      <a:accent2>
        <a:srgbClr val="FFD43B"/>
      </a:accent2>
      <a:accent3>
        <a:srgbClr val="4B8BBE"/>
      </a:accent3>
      <a:accent4>
        <a:srgbClr val="FFE873"/>
      </a:accent4>
      <a:accent5>
        <a:srgbClr val="E2614B"/>
      </a:accent5>
      <a:accent6>
        <a:srgbClr val="2E9E6A"/>
      </a:accent6>
      <a:hlink>
        <a:srgbClr val="4B8BBE"/>
      </a:hlink>
      <a:folHlink>
        <a:srgbClr val="306998"/>
      </a:folHlink>
    </a:clrScheme>
    <a:fontScheme name="Python Biru Ku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 Pemrograman Python</dc:title>
  <dc:subject>PptxGenJS Presentation</dc:subject>
  <dc:creator>Materi Python</dc:creator>
  <cp:lastModifiedBy>Materi Python</cp:lastModifiedBy>
  <cp:revision>1</cp:revision>
  <dcterms:created xsi:type="dcterms:W3CDTF">2026-10-21T05:55:37Z</dcterms:created>
  <dcterms:modified xsi:type="dcterms:W3CDTF">2026-10-21T05:55:37Z</dcterms:modified>
</cp:coreProperties>
</file>