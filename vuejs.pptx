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Presentasi ini membahas Vue.js secara menyeluruh, mulai dari pengenalan, konsep inti reaktivitas, sistem komponen, hingga ekosistem seperti Vue Router, Pinia, dan Nuxt. Fokus materi menggunakan Vue 3 dengan Composition API yang menjadi standar saat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 disusun bertahap: dari pemahaman konsep, praktik membuat proyek, penguasaan konsep inti, arsitektur komponen, ekosistem pendukung, sampai tahap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membangun fondasi pemahaman: apa itu Vue.js dan mengapa framework ini banyak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Kata kunci Vue: progressive, declarative, dan component-based. Progresif berarti kita bisa memakai Vue sedikit demi sedikit tanpa harus menulis ulang seluruh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lahir tahun 2014 dari tangan Evan You. Titik balik terbesar adalah Vue 3 pada 2020 yang membawa Composition API dan sistem reaktivitas berbasis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unggul pada keseimbangan antara kemudahan belajar dan kemampuan untuk aplikasi besar. Semua kebutuhan utama sudah disediakan tim inti secara resmi.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framework yang mutlak terbaik. Vue unggul di kemudahan belajar dan keseimbangan fitur, React di ukuran ekosistem, Angular di struktur enterprise yang ketat.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Kekuatan Vue terletak pada ekosistem yang terintegrasi. Vite, Vue Router, Pinia, dan Vitest dipelihara tim inti sehingga kompatibilitasnya terjamin.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bersifat praktis: menyiapkan lingkungan kerja dan memahami struktur proyek 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Prasyarat: Node.js versi 18 ke atas. Perintah npm create vue@latest akan menanyakan fitur yang ingin dipakai seperti TypeScript, Vue Router, Pinia, dan Vitest.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Konvensi penamaan folder ini bukan aturan wajib, tetapi menjadi standar komunitas sehingga proyek mudah dipahami oleh developer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SFC adalah ciri khas Vue. Menyatukan tiga hal yang saling berkaitan dalam satu berkas membuat komponen mudah dibaca dan dipindahkan.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bahwa kedua contoh menghasilkan komponen yang identik. Perbedaannya hanya pada cara pengorganisasian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setup adalah cara penulisan yang paling banyak dipakai di proyek Vue 3 modern karena paling ringkas dan performanya sedikit lebih baik saat kompilasi.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adalah jantung Vue. Menguasai reaktivitas dan directives berarti menguasai sebagian besar 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 besar Vue 3 dari Vue 2: Vue 2 memakai Object.defineProperty yang tidak bisa mendeteksi penambahan properti baru, sedangkan Vue 3 memakai Proxy yang jauh lebih lengkap.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 praktis: gunakan ref() sebagai default karena konsisten untuk semua tipe data. Kesalahan paling sering pemula adalah lupa menulis .value di dalam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Vue tetap berupa HTML valid, berbeda dengan JSX di React. Ini membuat desainer atau developer HTML mudah membacanya.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Directive adalah cara Vue menambahkan perilaku ke elemen HTML. Yang paling sering dipakai sehari-hari adalah v-bind, v-on, v-model, v-if, dan v-for.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Hindari memakai v-if dan v-for pada elemen yang sama karena prioritasnya membingungkan. Bungkus dengan template atau saring datanya lewat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Modifier membuat kode lebih deklaratif. Misalnya @submit.prevent jauh lebih ringkas daripada memanggil event.preventDefault() secara manual di dalam fungsi.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sangat cocok untuk filter, pencarian, penjumlahan total, dan format tampilan. Jika perlu efek samping seperti memanggil API, gunakan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umum: memakai watch untuk hal yang sebenarnya bisa diselesaikan computed. Ingat, computed untuk nilai turunan, watch untuk efek samping.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Binding class dengan sintaks objek adalah pola paling sering dipakai, misalnya untuk menandai menu yang sedang aktif atau field form yang bermasalah.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v-model bekerja pada input, textarea, select, checkbox, dan radio. Pada komponen kustom, v-model dapat dibuat sendiri lewat prop modelValue dan emit update:modelValue.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yang paling sering dipakai adalah onMounted untuk memuat data awal dan onUnmounted untuk membersihkan sumber daya seperti interval atau event listener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Vue pada dasarnya adalah pohon komponen. Bagian ini membahas bagaimana komponen berkomunikasi satu sama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emas Vue: data mengalir ke bawah, event mengalir ke atas. Komponen anak tidak boleh mengubah props secara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 ibarat parameter fungsi. Dengan validasi tipe, komponen menjadi terdokumentasi sendiri dan lebih aman dipakai orang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props turun dan emit naik menjaga aliran data tetap dapat diprediksi sehingga aplikasi lebih mudah dilacak ketika terjadi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membuat komponen benar-benar reusable. Contoh nyata: komponen modal, kartu, tabel, dan layout halaman yang isinya berbeda-beda.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dan inject sangat cocok untuk hal yang bersifat lintas komponen seperti tema, bahasa, atau konfigurasi, tanpa harus mengoper props berlapis-lapis.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Composable adalah pengganti mixin di Vue 2 dan jauh lebih baik karena sumber setiap variabel jelas terlihat, tidak ada tabrakan nama tersembunyi.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menguasai inti Vue, langkah berikutnya adalah memakai pustaka pendukung untuk membangun aplikasi utuh.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Lazy loading rute sangat penting untuk aplikasi besar karena hanya kode halaman yang sedang dibuka yang diunduh oleh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Pinia adalah penerus resmi Vuex. Gunakan Pinia ketika ada data yang dibutuhkan banyak komponen yang berjauhan, misalnya data pengguna login atau isi keranjang belanja.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membungkus satu elemen, TransitionGroup untuk daftar. Vue hanya menambahkan kelas CSS pada waktu yang tepat — animasinya tetap ditulis dengan CSS biasa.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Nuxt bila aplikasi membutuhkan SEO yang baik, waktu muat awal cepat, atau ingin menggabungkan frontend dan backend dalam satu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Piramida pengujian: banyak unit test yang murah dan cepat, sedikit end-to-end test yang mahal tetapi paling menyerupai pengalaman pengguna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penutup membahas bagaimana aplikasi Vue dibawa dari komputer lokal ke pengguna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build berupa berkas statis, sehingga aplikasi Vue bisa di-hosting di mana saja, bahkan pada layanan gratis seperti Netlify atau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 terbaik ini sebagian besar dapat ditegakkan otomatis dengan ESLint plugin resmi Vue, sehingga tim tidak perlu mengingat semuanya secara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melompati tahap dasar. Banyak kesulitan di tahap lanjut sebenarnya berakar dari pemahaman JavaScript yang belum kuat.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Dokumentasi resmi Vue termasuk salah satu yang terbaik di dunia framework JavaScript, lengkap dengan tutorial interaktif dan contoh kode yang bisa langsung dijalankan.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mengajak peserta langsung mencoba membuat proyek Vue pertama mereka.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1.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7863840" y="-1097280"/>
            <a:ext cx="6766560" cy="6766560"/>
          </a:xfrm>
          <a:prstGeom prst="ellipse">
            <a:avLst/>
          </a:prstGeom>
          <a:solidFill>
            <a:srgbClr val="35495E"/>
          </a:solidFill>
          <a:ln w="12700">
            <a:solidFill>
              <a:srgbClr val="333333"/>
            </a:solidFill>
            <a:prstDash val="solid"/>
          </a:ln>
        </p:spPr>
      </p:sp>
      <p:sp>
        <p:nvSpPr>
          <p:cNvPr id="3" name="Shape 1"/>
          <p:cNvSpPr/>
          <p:nvPr/>
        </p:nvSpPr>
        <p:spPr>
          <a:xfrm>
            <a:off x="9966960" y="4343400"/>
            <a:ext cx="1828800" cy="1828800"/>
          </a:xfrm>
          <a:prstGeom prst="ellipse">
            <a:avLst/>
          </a:prstGeom>
          <a:solidFill>
            <a:srgbClr val="32536B"/>
          </a:solidFill>
          <a:ln w="12700">
            <a:solidFill>
              <a:srgbClr val="333333"/>
            </a:solidFill>
            <a:prstDash val="solid"/>
          </a:ln>
        </p:spPr>
      </p:sp>
      <p:pic>
        <p:nvPicPr>
          <p:cNvPr id="4" name="Image 0" descr="preencoded.png">    </p:cNvPr>
          <p:cNvPicPr>
            <a:picLocks noChangeAspect="1"/>
          </p:cNvPicPr>
          <p:nvPr/>
        </p:nvPicPr>
        <p:blipFill>
          <a:blip r:embed="rId1"/>
          <a:stretch>
            <a:fillRect/>
          </a:stretch>
        </p:blipFill>
        <p:spPr>
          <a:xfrm>
            <a:off x="8732520" y="1234440"/>
            <a:ext cx="3017520" cy="2615184"/>
          </a:xfrm>
          <a:prstGeom prst="rect">
            <a:avLst/>
          </a:prstGeom>
        </p:spPr>
      </p:pic>
      <p:sp>
        <p:nvSpPr>
          <p:cNvPr id="5" name="Text 2"/>
          <p:cNvSpPr txBox="1"/>
          <p:nvPr/>
        </p:nvSpPr>
        <p:spPr>
          <a:xfrm>
            <a:off x="822960" y="1371600"/>
            <a:ext cx="7498080" cy="320040"/>
          </a:xfrm>
          <a:prstGeom prst="rect">
            <a:avLst/>
          </a:prstGeom>
          <a:noFill/>
          <a:ln/>
        </p:spPr>
        <p:txBody>
          <a:bodyPr wrap="square" lIns="0" tIns="0" rIns="0" bIns="0" rtlCol="0" anchor="ctr"/>
          <a:lstStyle/>
          <a:p>
            <a:pPr indent="0" marL="0">
              <a:buNone/>
            </a:pPr>
            <a:r>
              <a:rPr lang="en-US" sz="1300" b="1" spc="240" kern="0" dirty="0">
                <a:solidFill>
                  <a:srgbClr val="42B883"/>
                </a:solidFill>
                <a:latin typeface="Calibri" pitchFamily="34" charset="0"/>
                <a:ea typeface="Calibri" pitchFamily="34" charset="-122"/>
                <a:cs typeface="Calibri" pitchFamily="34" charset="-120"/>
              </a:rPr>
              <a:t>PROGRESSIVE JAVASCRIPT FRAMEWORK</a:t>
            </a:r>
            <a:endParaRPr lang="en-US" sz="1300" dirty="0"/>
          </a:p>
        </p:txBody>
      </p:sp>
      <p:sp>
        <p:nvSpPr>
          <p:cNvPr id="6" name="Text 3"/>
          <p:cNvSpPr txBox="1"/>
          <p:nvPr/>
        </p:nvSpPr>
        <p:spPr>
          <a:xfrm>
            <a:off x="777240" y="1783080"/>
            <a:ext cx="7498080" cy="1371600"/>
          </a:xfrm>
          <a:prstGeom prst="rect">
            <a:avLst/>
          </a:prstGeom>
          <a:noFill/>
          <a:ln/>
        </p:spPr>
        <p:txBody>
          <a:bodyPr wrap="square" lIns="0" tIns="0" rIns="0" bIns="0" rtlCol="0" anchor="ctr"/>
          <a:lstStyle/>
          <a:p>
            <a:pPr indent="0" marL="0">
              <a:buNone/>
            </a:pPr>
            <a:r>
              <a:rPr lang="en-US" sz="8800" b="1" dirty="0">
                <a:solidFill>
                  <a:srgbClr val="FFFFFF"/>
                </a:solidFill>
                <a:latin typeface="Calibri" pitchFamily="34" charset="0"/>
                <a:ea typeface="Calibri" pitchFamily="34" charset="-122"/>
                <a:cs typeface="Calibri" pitchFamily="34" charset="-120"/>
              </a:rPr>
              <a:t>Vue.js</a:t>
            </a:r>
            <a:endParaRPr lang="en-US" sz="8800" dirty="0"/>
          </a:p>
        </p:txBody>
      </p:sp>
      <p:sp>
        <p:nvSpPr>
          <p:cNvPr id="7" name="Text 4"/>
          <p:cNvSpPr txBox="1"/>
          <p:nvPr/>
        </p:nvSpPr>
        <p:spPr>
          <a:xfrm>
            <a:off x="822960" y="3154680"/>
            <a:ext cx="7498080" cy="457200"/>
          </a:xfrm>
          <a:prstGeom prst="rect">
            <a:avLst/>
          </a:prstGeom>
          <a:noFill/>
          <a:ln/>
        </p:spPr>
        <p:txBody>
          <a:bodyPr wrap="square" lIns="0" tIns="0" rIns="0" bIns="0" rtlCol="0" anchor="ctr"/>
          <a:lstStyle/>
          <a:p>
            <a:pPr indent="0" marL="0">
              <a:buNone/>
            </a:pPr>
            <a:r>
              <a:rPr lang="en-US" sz="2200" dirty="0">
                <a:solidFill>
                  <a:srgbClr val="CFDDE6"/>
                </a:solidFill>
                <a:latin typeface="Calibri" pitchFamily="34" charset="0"/>
                <a:ea typeface="Calibri" pitchFamily="34" charset="-122"/>
                <a:cs typeface="Calibri" pitchFamily="34" charset="-120"/>
              </a:rPr>
              <a:t>Membangun Antarmuka Web Modern yang Reaktif</a:t>
            </a:r>
            <a:endParaRPr lang="en-US" sz="2200" dirty="0"/>
          </a:p>
        </p:txBody>
      </p:sp>
      <p:sp>
        <p:nvSpPr>
          <p:cNvPr id="8" name="Text 5"/>
          <p:cNvSpPr txBox="1"/>
          <p:nvPr/>
        </p:nvSpPr>
        <p:spPr>
          <a:xfrm>
            <a:off x="822960" y="3703320"/>
            <a:ext cx="7315200" cy="731520"/>
          </a:xfrm>
          <a:prstGeom prst="rect">
            <a:avLst/>
          </a:prstGeom>
          <a:noFill/>
          <a:ln/>
        </p:spPr>
        <p:txBody>
          <a:bodyPr wrap="square" lIns="0" tIns="0" rIns="0" bIns="0" rtlCol="0" anchor="t"/>
          <a:lstStyle/>
          <a:p>
            <a:pPr indent="0" marL="0">
              <a:lnSpc>
                <a:spcPct val="120000"/>
              </a:lnSpc>
              <a:buNone/>
            </a:pPr>
            <a:r>
              <a:rPr lang="en-US" sz="1400" dirty="0">
                <a:solidFill>
                  <a:srgbClr val="9FB3C2"/>
                </a:solidFill>
                <a:latin typeface="Calibri" pitchFamily="34" charset="0"/>
                <a:ea typeface="Calibri" pitchFamily="34" charset="-122"/>
                <a:cs typeface="Calibri" pitchFamily="34" charset="-120"/>
              </a:rPr>
              <a:t>Materi pembelajaran lengkap: konsep dasar, Composition API,</a:t>
            </a:r>
            <a:endParaRPr lang="en-US" sz="1400" dirty="0"/>
          </a:p>
          <a:p>
            <a:pPr indent="0" marL="0">
              <a:lnSpc>
                <a:spcPct val="120000"/>
              </a:lnSpc>
              <a:buNone/>
            </a:pPr>
            <a:r>
              <a:rPr lang="en-US" sz="1400" dirty="0">
                <a:solidFill>
                  <a:srgbClr val="9FB3C2"/>
                </a:solidFill>
                <a:latin typeface="Calibri" pitchFamily="34" charset="0"/>
                <a:ea typeface="Calibri" pitchFamily="34" charset="-122"/>
                <a:cs typeface="Calibri" pitchFamily="34" charset="-120"/>
              </a:rPr>
              <a:t>komponen, routing, state management, hingga deployment.</a:t>
            </a:r>
            <a:endParaRPr lang="en-US" sz="1400" dirty="0"/>
          </a:p>
        </p:txBody>
      </p:sp>
      <p:sp>
        <p:nvSpPr>
          <p:cNvPr id="9" name="Shape 6"/>
          <p:cNvSpPr/>
          <p:nvPr/>
        </p:nvSpPr>
        <p:spPr>
          <a:xfrm>
            <a:off x="822960" y="4892040"/>
            <a:ext cx="845820" cy="384048"/>
          </a:xfrm>
          <a:prstGeom prst="roundRect">
            <a:avLst>
              <a:gd name="adj" fmla="val 47619"/>
            </a:avLst>
          </a:prstGeom>
          <a:solidFill>
            <a:srgbClr val="35495E"/>
          </a:solidFill>
          <a:ln w="12700">
            <a:solidFill>
              <a:srgbClr val="42B883"/>
            </a:solidFill>
            <a:prstDash val="solid"/>
          </a:ln>
        </p:spPr>
      </p:sp>
      <p:sp>
        <p:nvSpPr>
          <p:cNvPr id="10" name="Text 7"/>
          <p:cNvSpPr txBox="1"/>
          <p:nvPr/>
        </p:nvSpPr>
        <p:spPr>
          <a:xfrm>
            <a:off x="822960" y="4892040"/>
            <a:ext cx="845820" cy="384048"/>
          </a:xfrm>
          <a:prstGeom prst="rect">
            <a:avLst/>
          </a:prstGeom>
          <a:noFill/>
          <a:ln/>
        </p:spPr>
        <p:txBody>
          <a:bodyPr wrap="square" lIns="0" tIns="0" rIns="0" bIns="0" rtlCol="0" anchor="ctr"/>
          <a:lstStyle/>
          <a:p>
            <a:pPr algn="ctr" indent="0" marL="0">
              <a:buNone/>
            </a:pPr>
            <a:r>
              <a:rPr lang="en-US" sz="1150" b="1" dirty="0">
                <a:solidFill>
                  <a:srgbClr val="42B883"/>
                </a:solidFill>
                <a:latin typeface="Calibri" pitchFamily="34" charset="0"/>
                <a:ea typeface="Calibri" pitchFamily="34" charset="-122"/>
                <a:cs typeface="Calibri" pitchFamily="34" charset="-120"/>
              </a:rPr>
              <a:t>Vue 3</a:t>
            </a:r>
            <a:endParaRPr lang="en-US" sz="1150" dirty="0"/>
          </a:p>
        </p:txBody>
      </p:sp>
      <p:sp>
        <p:nvSpPr>
          <p:cNvPr id="11" name="Shape 8"/>
          <p:cNvSpPr/>
          <p:nvPr/>
        </p:nvSpPr>
        <p:spPr>
          <a:xfrm>
            <a:off x="1833372" y="4892040"/>
            <a:ext cx="1897380" cy="384048"/>
          </a:xfrm>
          <a:prstGeom prst="roundRect">
            <a:avLst>
              <a:gd name="adj" fmla="val 47619"/>
            </a:avLst>
          </a:prstGeom>
          <a:solidFill>
            <a:srgbClr val="35495E"/>
          </a:solidFill>
          <a:ln w="12700">
            <a:solidFill>
              <a:srgbClr val="42B883"/>
            </a:solidFill>
            <a:prstDash val="solid"/>
          </a:ln>
        </p:spPr>
      </p:sp>
      <p:sp>
        <p:nvSpPr>
          <p:cNvPr id="12" name="Text 9"/>
          <p:cNvSpPr txBox="1"/>
          <p:nvPr/>
        </p:nvSpPr>
        <p:spPr>
          <a:xfrm>
            <a:off x="1833372" y="4892040"/>
            <a:ext cx="1897380" cy="384048"/>
          </a:xfrm>
          <a:prstGeom prst="rect">
            <a:avLst/>
          </a:prstGeom>
          <a:noFill/>
          <a:ln/>
        </p:spPr>
        <p:txBody>
          <a:bodyPr wrap="square" lIns="0" tIns="0" rIns="0" bIns="0" rtlCol="0" anchor="ctr"/>
          <a:lstStyle/>
          <a:p>
            <a:pPr algn="ctr" indent="0" marL="0">
              <a:buNone/>
            </a:pPr>
            <a:r>
              <a:rPr lang="en-US" sz="1150" b="1" dirty="0">
                <a:solidFill>
                  <a:srgbClr val="42B883"/>
                </a:solidFill>
                <a:latin typeface="Calibri" pitchFamily="34" charset="0"/>
                <a:ea typeface="Calibri" pitchFamily="34" charset="-122"/>
                <a:cs typeface="Calibri" pitchFamily="34" charset="-120"/>
              </a:rPr>
              <a:t>Composition API</a:t>
            </a:r>
            <a:endParaRPr lang="en-US" sz="1150" dirty="0"/>
          </a:p>
        </p:txBody>
      </p:sp>
      <p:sp>
        <p:nvSpPr>
          <p:cNvPr id="13" name="Shape 10"/>
          <p:cNvSpPr/>
          <p:nvPr/>
        </p:nvSpPr>
        <p:spPr>
          <a:xfrm>
            <a:off x="3895344" y="4892040"/>
            <a:ext cx="740664" cy="384048"/>
          </a:xfrm>
          <a:prstGeom prst="roundRect">
            <a:avLst>
              <a:gd name="adj" fmla="val 47619"/>
            </a:avLst>
          </a:prstGeom>
          <a:solidFill>
            <a:srgbClr val="35495E"/>
          </a:solidFill>
          <a:ln w="12700">
            <a:solidFill>
              <a:srgbClr val="42B883"/>
            </a:solidFill>
            <a:prstDash val="solid"/>
          </a:ln>
        </p:spPr>
      </p:sp>
      <p:sp>
        <p:nvSpPr>
          <p:cNvPr id="14" name="Text 11"/>
          <p:cNvSpPr txBox="1"/>
          <p:nvPr/>
        </p:nvSpPr>
        <p:spPr>
          <a:xfrm>
            <a:off x="3895344" y="4892040"/>
            <a:ext cx="740664" cy="384048"/>
          </a:xfrm>
          <a:prstGeom prst="rect">
            <a:avLst/>
          </a:prstGeom>
          <a:noFill/>
          <a:ln/>
        </p:spPr>
        <p:txBody>
          <a:bodyPr wrap="square" lIns="0" tIns="0" rIns="0" bIns="0" rtlCol="0" anchor="ctr"/>
          <a:lstStyle/>
          <a:p>
            <a:pPr algn="ctr" indent="0" marL="0">
              <a:buNone/>
            </a:pPr>
            <a:r>
              <a:rPr lang="en-US" sz="1150" b="1" dirty="0">
                <a:solidFill>
                  <a:srgbClr val="42B883"/>
                </a:solidFill>
                <a:latin typeface="Calibri" pitchFamily="34" charset="0"/>
                <a:ea typeface="Calibri" pitchFamily="34" charset="-122"/>
                <a:cs typeface="Calibri" pitchFamily="34" charset="-120"/>
              </a:rPr>
              <a:t>Vite</a:t>
            </a:r>
            <a:endParaRPr lang="en-US" sz="1150" dirty="0"/>
          </a:p>
        </p:txBody>
      </p:sp>
      <p:sp>
        <p:nvSpPr>
          <p:cNvPr id="15" name="Shape 12"/>
          <p:cNvSpPr/>
          <p:nvPr/>
        </p:nvSpPr>
        <p:spPr>
          <a:xfrm>
            <a:off x="4800600" y="4892040"/>
            <a:ext cx="845820" cy="384048"/>
          </a:xfrm>
          <a:prstGeom prst="roundRect">
            <a:avLst>
              <a:gd name="adj" fmla="val 47619"/>
            </a:avLst>
          </a:prstGeom>
          <a:solidFill>
            <a:srgbClr val="35495E"/>
          </a:solidFill>
          <a:ln w="12700">
            <a:solidFill>
              <a:srgbClr val="42B883"/>
            </a:solidFill>
            <a:prstDash val="solid"/>
          </a:ln>
        </p:spPr>
      </p:sp>
      <p:sp>
        <p:nvSpPr>
          <p:cNvPr id="16" name="Text 13"/>
          <p:cNvSpPr txBox="1"/>
          <p:nvPr/>
        </p:nvSpPr>
        <p:spPr>
          <a:xfrm>
            <a:off x="4800600" y="4892040"/>
            <a:ext cx="845820" cy="384048"/>
          </a:xfrm>
          <a:prstGeom prst="rect">
            <a:avLst/>
          </a:prstGeom>
          <a:noFill/>
          <a:ln/>
        </p:spPr>
        <p:txBody>
          <a:bodyPr wrap="square" lIns="0" tIns="0" rIns="0" bIns="0" rtlCol="0" anchor="ctr"/>
          <a:lstStyle/>
          <a:p>
            <a:pPr algn="ctr" indent="0" marL="0">
              <a:buNone/>
            </a:pPr>
            <a:r>
              <a:rPr lang="en-US" sz="1150" b="1" dirty="0">
                <a:solidFill>
                  <a:srgbClr val="42B883"/>
                </a:solidFill>
                <a:latin typeface="Calibri" pitchFamily="34" charset="0"/>
                <a:ea typeface="Calibri" pitchFamily="34" charset="-122"/>
                <a:cs typeface="Calibri" pitchFamily="34" charset="-120"/>
              </a:rPr>
              <a:t>Pinia</a:t>
            </a:r>
            <a:endParaRPr lang="en-US" sz="1150" dirty="0"/>
          </a:p>
        </p:txBody>
      </p:sp>
      <p:sp>
        <p:nvSpPr>
          <p:cNvPr id="17" name="Shape 14"/>
          <p:cNvSpPr/>
          <p:nvPr/>
        </p:nvSpPr>
        <p:spPr>
          <a:xfrm>
            <a:off x="5811012" y="4892040"/>
            <a:ext cx="740664" cy="384048"/>
          </a:xfrm>
          <a:prstGeom prst="roundRect">
            <a:avLst>
              <a:gd name="adj" fmla="val 47619"/>
            </a:avLst>
          </a:prstGeom>
          <a:solidFill>
            <a:srgbClr val="35495E"/>
          </a:solidFill>
          <a:ln w="12700">
            <a:solidFill>
              <a:srgbClr val="42B883"/>
            </a:solidFill>
            <a:prstDash val="solid"/>
          </a:ln>
        </p:spPr>
      </p:sp>
      <p:sp>
        <p:nvSpPr>
          <p:cNvPr id="18" name="Text 15"/>
          <p:cNvSpPr txBox="1"/>
          <p:nvPr/>
        </p:nvSpPr>
        <p:spPr>
          <a:xfrm>
            <a:off x="5811012" y="4892040"/>
            <a:ext cx="740664" cy="384048"/>
          </a:xfrm>
          <a:prstGeom prst="rect">
            <a:avLst/>
          </a:prstGeom>
          <a:noFill/>
          <a:ln/>
        </p:spPr>
        <p:txBody>
          <a:bodyPr wrap="square" lIns="0" tIns="0" rIns="0" bIns="0" rtlCol="0" anchor="ctr"/>
          <a:lstStyle/>
          <a:p>
            <a:pPr algn="ctr" indent="0" marL="0">
              <a:buNone/>
            </a:pPr>
            <a:r>
              <a:rPr lang="en-US" sz="1150" b="1" dirty="0">
                <a:solidFill>
                  <a:srgbClr val="42B883"/>
                </a:solidFill>
                <a:latin typeface="Calibri" pitchFamily="34" charset="0"/>
                <a:ea typeface="Calibri" pitchFamily="34" charset="-122"/>
                <a:cs typeface="Calibri" pitchFamily="34" charset="-120"/>
              </a:rPr>
              <a:t>Nuxt</a:t>
            </a:r>
            <a:endParaRPr lang="en-US" sz="1150" dirty="0"/>
          </a:p>
        </p:txBody>
      </p:sp>
      <p:sp>
        <p:nvSpPr>
          <p:cNvPr id="19" name="Shape 16"/>
          <p:cNvSpPr/>
          <p:nvPr/>
        </p:nvSpPr>
        <p:spPr>
          <a:xfrm>
            <a:off x="841248" y="5806440"/>
            <a:ext cx="914400" cy="36576"/>
          </a:xfrm>
          <a:prstGeom prst="rect">
            <a:avLst/>
          </a:prstGeom>
          <a:solidFill>
            <a:srgbClr val="42B883"/>
          </a:solidFill>
          <a:ln w="12700">
            <a:solidFill>
              <a:srgbClr val="333333"/>
            </a:solidFill>
            <a:prstDash val="solid"/>
          </a:ln>
        </p:spPr>
      </p:sp>
      <p:sp>
        <p:nvSpPr>
          <p:cNvPr id="20" name="Text 17"/>
          <p:cNvSpPr txBox="1"/>
          <p:nvPr/>
        </p:nvSpPr>
        <p:spPr>
          <a:xfrm>
            <a:off x="822960" y="5943600"/>
            <a:ext cx="6858000" cy="320040"/>
          </a:xfrm>
          <a:prstGeom prst="rect">
            <a:avLst/>
          </a:prstGeom>
          <a:noFill/>
          <a:ln/>
        </p:spPr>
        <p:txBody>
          <a:bodyPr wrap="square" lIns="0" tIns="0" rIns="0" bIns="0" rtlCol="0" anchor="ctr"/>
          <a:lstStyle/>
          <a:p>
            <a:pPr indent="0" marL="0">
              <a:buNone/>
            </a:pPr>
            <a:r>
              <a:rPr lang="en-US" sz="1250" dirty="0">
                <a:solidFill>
                  <a:srgbClr val="8FA4B4"/>
                </a:solidFill>
                <a:latin typeface="Calibri" pitchFamily="34" charset="0"/>
                <a:ea typeface="Calibri" pitchFamily="34" charset="-122"/>
                <a:cs typeface="Calibri" pitchFamily="34" charset="-120"/>
              </a:rPr>
              <a:t>Panduan lengkap Vue 3  •  Dari konsep dasar hingga produksi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Peta Materi</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Enam bagian utama yang akan kita pelajari secara berurutan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3619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859536" y="1920240"/>
            <a:ext cx="512064" cy="512064"/>
          </a:xfrm>
          <a:prstGeom prst="ellipse">
            <a:avLst/>
          </a:prstGeom>
          <a:solidFill>
            <a:srgbClr val="42B883"/>
          </a:solidFill>
          <a:ln w="12700">
            <a:solidFill>
              <a:srgbClr val="42B883"/>
            </a:solidFill>
            <a:prstDash val="solid"/>
          </a:ln>
        </p:spPr>
      </p:sp>
      <p:pic>
        <p:nvPicPr>
          <p:cNvPr id="7" name="Image 1" descr="preencoded.png">    </p:cNvPr>
          <p:cNvPicPr>
            <a:picLocks noChangeAspect="1"/>
          </p:cNvPicPr>
          <p:nvPr/>
        </p:nvPicPr>
        <p:blipFill>
          <a:blip r:embed="rId2"/>
          <a:stretch>
            <a:fillRect/>
          </a:stretch>
        </p:blipFill>
        <p:spPr>
          <a:xfrm>
            <a:off x="1002914" y="2063618"/>
            <a:ext cx="225308" cy="225308"/>
          </a:xfrm>
          <a:prstGeom prst="rect">
            <a:avLst/>
          </a:prstGeom>
        </p:spPr>
      </p:pic>
      <p:sp>
        <p:nvSpPr>
          <p:cNvPr id="8" name="Text 4"/>
          <p:cNvSpPr txBox="1"/>
          <p:nvPr/>
        </p:nvSpPr>
        <p:spPr>
          <a:xfrm>
            <a:off x="859536" y="261518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01 · Pengenalan</a:t>
            </a:r>
            <a:endParaRPr lang="en-US" sz="1600" dirty="0"/>
          </a:p>
        </p:txBody>
      </p:sp>
      <p:sp>
        <p:nvSpPr>
          <p:cNvPr id="9" name="Text 5"/>
          <p:cNvSpPr txBox="1"/>
          <p:nvPr/>
        </p:nvSpPr>
        <p:spPr>
          <a:xfrm>
            <a:off x="859536" y="296265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Definisi, sejarah, karakteristik, perbandingan framework, dan ekosistem Vue.</a:t>
            </a:r>
            <a:endParaRPr lang="en-US" sz="1200" dirty="0"/>
          </a:p>
        </p:txBody>
      </p:sp>
      <p:sp>
        <p:nvSpPr>
          <p:cNvPr id="10" name="Shape 6"/>
          <p:cNvSpPr/>
          <p:nvPr/>
        </p:nvSpPr>
        <p:spPr>
          <a:xfrm>
            <a:off x="4334256" y="153619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Shape 7"/>
          <p:cNvSpPr/>
          <p:nvPr/>
        </p:nvSpPr>
        <p:spPr>
          <a:xfrm>
            <a:off x="4645152" y="1920240"/>
            <a:ext cx="512064" cy="512064"/>
          </a:xfrm>
          <a:prstGeom prst="ellipse">
            <a:avLst/>
          </a:prstGeom>
          <a:solidFill>
            <a:srgbClr val="42B883"/>
          </a:solidFill>
          <a:ln w="12700">
            <a:solidFill>
              <a:srgbClr val="42B883"/>
            </a:solidFill>
            <a:prstDash val="solid"/>
          </a:ln>
        </p:spPr>
      </p:sp>
      <p:pic>
        <p:nvPicPr>
          <p:cNvPr id="12" name="Image 2" descr="preencoded.png">    </p:cNvPr>
          <p:cNvPicPr>
            <a:picLocks noChangeAspect="1"/>
          </p:cNvPicPr>
          <p:nvPr/>
        </p:nvPicPr>
        <p:blipFill>
          <a:blip r:embed="rId3"/>
          <a:stretch>
            <a:fillRect/>
          </a:stretch>
        </p:blipFill>
        <p:spPr>
          <a:xfrm>
            <a:off x="4788530" y="2063618"/>
            <a:ext cx="225308" cy="225308"/>
          </a:xfrm>
          <a:prstGeom prst="rect">
            <a:avLst/>
          </a:prstGeom>
        </p:spPr>
      </p:pic>
      <p:sp>
        <p:nvSpPr>
          <p:cNvPr id="13" name="Text 8"/>
          <p:cNvSpPr txBox="1"/>
          <p:nvPr/>
        </p:nvSpPr>
        <p:spPr>
          <a:xfrm>
            <a:off x="4645152" y="261518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02 · Memulai Proyek</a:t>
            </a:r>
            <a:endParaRPr lang="en-US" sz="1600" dirty="0"/>
          </a:p>
        </p:txBody>
      </p:sp>
      <p:sp>
        <p:nvSpPr>
          <p:cNvPr id="14" name="Text 9"/>
          <p:cNvSpPr txBox="1"/>
          <p:nvPr/>
        </p:nvSpPr>
        <p:spPr>
          <a:xfrm>
            <a:off x="4645152" y="296265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Instalasi, struktur folder, Single File Component, Options vs Composition API.</a:t>
            </a:r>
            <a:endParaRPr lang="en-US" sz="1200" dirty="0"/>
          </a:p>
        </p:txBody>
      </p:sp>
      <p:sp>
        <p:nvSpPr>
          <p:cNvPr id="15" name="Shape 10"/>
          <p:cNvSpPr/>
          <p:nvPr/>
        </p:nvSpPr>
        <p:spPr>
          <a:xfrm>
            <a:off x="8119872" y="153619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6" name="Shape 11"/>
          <p:cNvSpPr/>
          <p:nvPr/>
        </p:nvSpPr>
        <p:spPr>
          <a:xfrm>
            <a:off x="8430768" y="1920240"/>
            <a:ext cx="512064" cy="512064"/>
          </a:xfrm>
          <a:prstGeom prst="ellipse">
            <a:avLst/>
          </a:prstGeom>
          <a:solidFill>
            <a:srgbClr val="42B883"/>
          </a:solidFill>
          <a:ln w="12700">
            <a:solidFill>
              <a:srgbClr val="42B883"/>
            </a:solidFill>
            <a:prstDash val="solid"/>
          </a:ln>
        </p:spPr>
      </p:sp>
      <p:pic>
        <p:nvPicPr>
          <p:cNvPr id="17" name="Image 3" descr="preencoded.png">    </p:cNvPr>
          <p:cNvPicPr>
            <a:picLocks noChangeAspect="1"/>
          </p:cNvPicPr>
          <p:nvPr/>
        </p:nvPicPr>
        <p:blipFill>
          <a:blip r:embed="rId4"/>
          <a:stretch>
            <a:fillRect/>
          </a:stretch>
        </p:blipFill>
        <p:spPr>
          <a:xfrm>
            <a:off x="8574146" y="2063618"/>
            <a:ext cx="225308" cy="225308"/>
          </a:xfrm>
          <a:prstGeom prst="rect">
            <a:avLst/>
          </a:prstGeom>
        </p:spPr>
      </p:pic>
      <p:sp>
        <p:nvSpPr>
          <p:cNvPr id="18" name="Text 12"/>
          <p:cNvSpPr txBox="1"/>
          <p:nvPr/>
        </p:nvSpPr>
        <p:spPr>
          <a:xfrm>
            <a:off x="8430768" y="261518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03 · Konsep Inti</a:t>
            </a:r>
            <a:endParaRPr lang="en-US" sz="1600" dirty="0"/>
          </a:p>
        </p:txBody>
      </p:sp>
      <p:sp>
        <p:nvSpPr>
          <p:cNvPr id="19" name="Text 13"/>
          <p:cNvSpPr txBox="1"/>
          <p:nvPr/>
        </p:nvSpPr>
        <p:spPr>
          <a:xfrm>
            <a:off x="8430768" y="296265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Reaktivitas, template syntax, directives, computed, watcher, lifecycle hooks.</a:t>
            </a:r>
            <a:endParaRPr lang="en-US" sz="1200" dirty="0"/>
          </a:p>
        </p:txBody>
      </p:sp>
      <p:sp>
        <p:nvSpPr>
          <p:cNvPr id="20" name="Shape 14"/>
          <p:cNvSpPr/>
          <p:nvPr/>
        </p:nvSpPr>
        <p:spPr>
          <a:xfrm>
            <a:off x="548640" y="400507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1" name="Shape 15"/>
          <p:cNvSpPr/>
          <p:nvPr/>
        </p:nvSpPr>
        <p:spPr>
          <a:xfrm>
            <a:off x="859536" y="4389120"/>
            <a:ext cx="512064" cy="512064"/>
          </a:xfrm>
          <a:prstGeom prst="ellipse">
            <a:avLst/>
          </a:prstGeom>
          <a:solidFill>
            <a:srgbClr val="42B883"/>
          </a:solidFill>
          <a:ln w="12700">
            <a:solidFill>
              <a:srgbClr val="42B883"/>
            </a:solidFill>
            <a:prstDash val="solid"/>
          </a:ln>
        </p:spPr>
      </p:sp>
      <p:pic>
        <p:nvPicPr>
          <p:cNvPr id="22" name="Image 4" descr="preencoded.png">    </p:cNvPr>
          <p:cNvPicPr>
            <a:picLocks noChangeAspect="1"/>
          </p:cNvPicPr>
          <p:nvPr/>
        </p:nvPicPr>
        <p:blipFill>
          <a:blip r:embed="rId5"/>
          <a:stretch>
            <a:fillRect/>
          </a:stretch>
        </p:blipFill>
        <p:spPr>
          <a:xfrm>
            <a:off x="1002914" y="4532498"/>
            <a:ext cx="225308" cy="225308"/>
          </a:xfrm>
          <a:prstGeom prst="rect">
            <a:avLst/>
          </a:prstGeom>
        </p:spPr>
      </p:pic>
      <p:sp>
        <p:nvSpPr>
          <p:cNvPr id="23" name="Text 16"/>
          <p:cNvSpPr txBox="1"/>
          <p:nvPr/>
        </p:nvSpPr>
        <p:spPr>
          <a:xfrm>
            <a:off x="859536" y="508406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04 · Komponen</a:t>
            </a:r>
            <a:endParaRPr lang="en-US" sz="1600" dirty="0"/>
          </a:p>
        </p:txBody>
      </p:sp>
      <p:sp>
        <p:nvSpPr>
          <p:cNvPr id="24" name="Text 17"/>
          <p:cNvSpPr txBox="1"/>
          <p:nvPr/>
        </p:nvSpPr>
        <p:spPr>
          <a:xfrm>
            <a:off x="859536" y="543153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Props, emits, slots, provide/inject, dan composables untuk logika reusable.</a:t>
            </a:r>
            <a:endParaRPr lang="en-US" sz="1200" dirty="0"/>
          </a:p>
        </p:txBody>
      </p:sp>
      <p:sp>
        <p:nvSpPr>
          <p:cNvPr id="25" name="Shape 18"/>
          <p:cNvSpPr/>
          <p:nvPr/>
        </p:nvSpPr>
        <p:spPr>
          <a:xfrm>
            <a:off x="4334256" y="400507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19"/>
          <p:cNvSpPr/>
          <p:nvPr/>
        </p:nvSpPr>
        <p:spPr>
          <a:xfrm>
            <a:off x="4645152" y="4389120"/>
            <a:ext cx="512064" cy="512064"/>
          </a:xfrm>
          <a:prstGeom prst="ellipse">
            <a:avLst/>
          </a:prstGeom>
          <a:solidFill>
            <a:srgbClr val="42B883"/>
          </a:solidFill>
          <a:ln w="12700">
            <a:solidFill>
              <a:srgbClr val="42B883"/>
            </a:solidFill>
            <a:prstDash val="solid"/>
          </a:ln>
        </p:spPr>
      </p:sp>
      <p:pic>
        <p:nvPicPr>
          <p:cNvPr id="27" name="Image 5" descr="preencoded.png">    </p:cNvPr>
          <p:cNvPicPr>
            <a:picLocks noChangeAspect="1"/>
          </p:cNvPicPr>
          <p:nvPr/>
        </p:nvPicPr>
        <p:blipFill>
          <a:blip r:embed="rId6"/>
          <a:stretch>
            <a:fillRect/>
          </a:stretch>
        </p:blipFill>
        <p:spPr>
          <a:xfrm>
            <a:off x="4788530" y="4532498"/>
            <a:ext cx="225308" cy="225308"/>
          </a:xfrm>
          <a:prstGeom prst="rect">
            <a:avLst/>
          </a:prstGeom>
        </p:spPr>
      </p:pic>
      <p:sp>
        <p:nvSpPr>
          <p:cNvPr id="28" name="Text 20"/>
          <p:cNvSpPr txBox="1"/>
          <p:nvPr/>
        </p:nvSpPr>
        <p:spPr>
          <a:xfrm>
            <a:off x="4645152" y="508406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05 · Ekosistem</a:t>
            </a:r>
            <a:endParaRPr lang="en-US" sz="1600" dirty="0"/>
          </a:p>
        </p:txBody>
      </p:sp>
      <p:sp>
        <p:nvSpPr>
          <p:cNvPr id="29" name="Text 21"/>
          <p:cNvSpPr txBox="1"/>
          <p:nvPr/>
        </p:nvSpPr>
        <p:spPr>
          <a:xfrm>
            <a:off x="4645152" y="543153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Vue Router, Pinia, transisi, Nuxt.js, dan pengujian aplikasi.</a:t>
            </a:r>
            <a:endParaRPr lang="en-US" sz="1200" dirty="0"/>
          </a:p>
        </p:txBody>
      </p:sp>
      <p:sp>
        <p:nvSpPr>
          <p:cNvPr id="30" name="Shape 22"/>
          <p:cNvSpPr/>
          <p:nvPr/>
        </p:nvSpPr>
        <p:spPr>
          <a:xfrm>
            <a:off x="8119872" y="400507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1" name="Shape 23"/>
          <p:cNvSpPr/>
          <p:nvPr/>
        </p:nvSpPr>
        <p:spPr>
          <a:xfrm>
            <a:off x="8430768" y="4389120"/>
            <a:ext cx="512064" cy="512064"/>
          </a:xfrm>
          <a:prstGeom prst="ellipse">
            <a:avLst/>
          </a:prstGeom>
          <a:solidFill>
            <a:srgbClr val="42B883"/>
          </a:solidFill>
          <a:ln w="12700">
            <a:solidFill>
              <a:srgbClr val="42B883"/>
            </a:solidFill>
            <a:prstDash val="solid"/>
          </a:ln>
        </p:spPr>
      </p:sp>
      <p:pic>
        <p:nvPicPr>
          <p:cNvPr id="32" name="Image 6" descr="preencoded.png">    </p:cNvPr>
          <p:cNvPicPr>
            <a:picLocks noChangeAspect="1"/>
          </p:cNvPicPr>
          <p:nvPr/>
        </p:nvPicPr>
        <p:blipFill>
          <a:blip r:embed="rId7"/>
          <a:stretch>
            <a:fillRect/>
          </a:stretch>
        </p:blipFill>
        <p:spPr>
          <a:xfrm>
            <a:off x="8574146" y="4532498"/>
            <a:ext cx="225308" cy="225308"/>
          </a:xfrm>
          <a:prstGeom prst="rect">
            <a:avLst/>
          </a:prstGeom>
        </p:spPr>
      </p:pic>
      <p:sp>
        <p:nvSpPr>
          <p:cNvPr id="33" name="Text 24"/>
          <p:cNvSpPr txBox="1"/>
          <p:nvPr/>
        </p:nvSpPr>
        <p:spPr>
          <a:xfrm>
            <a:off x="8430768" y="508406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06 · Produksi</a:t>
            </a:r>
            <a:endParaRPr lang="en-US" sz="1600" dirty="0"/>
          </a:p>
        </p:txBody>
      </p:sp>
      <p:sp>
        <p:nvSpPr>
          <p:cNvPr id="34" name="Text 25"/>
          <p:cNvSpPr txBox="1"/>
          <p:nvPr/>
        </p:nvSpPr>
        <p:spPr>
          <a:xfrm>
            <a:off x="8430768" y="543153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Build, deployment, best practices, serta roadmap belajar lanjutan.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366760" y="1143000"/>
            <a:ext cx="4480560" cy="448056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01200" y="2514600"/>
            <a:ext cx="2011680" cy="1737360"/>
          </a:xfrm>
          <a:prstGeom prst="rect">
            <a:avLst/>
          </a:prstGeom>
        </p:spPr>
      </p:pic>
      <p:sp>
        <p:nvSpPr>
          <p:cNvPr id="4" name="Text 1"/>
          <p:cNvSpPr txBox="1"/>
          <p:nvPr/>
        </p:nvSpPr>
        <p:spPr>
          <a:xfrm>
            <a:off x="822960" y="1554480"/>
            <a:ext cx="2194560" cy="1463040"/>
          </a:xfrm>
          <a:prstGeom prst="rect">
            <a:avLst/>
          </a:prstGeom>
          <a:noFill/>
          <a:ln/>
        </p:spPr>
        <p:txBody>
          <a:bodyPr wrap="square" lIns="0" tIns="0" rIns="0" bIns="0" rtlCol="0" anchor="ctr"/>
          <a:lstStyle/>
          <a:p>
            <a:pPr indent="0" marL="0">
              <a:buNone/>
            </a:pPr>
            <a:r>
              <a:rPr lang="en-US" sz="10000" b="1" dirty="0">
                <a:solidFill>
                  <a:srgbClr val="42B883"/>
                </a:solidFill>
                <a:latin typeface="Calibri" pitchFamily="34" charset="0"/>
                <a:ea typeface="Calibri" pitchFamily="34" charset="-122"/>
                <a:cs typeface="Calibri" pitchFamily="34" charset="-120"/>
              </a:rPr>
              <a:t>01</a:t>
            </a:r>
            <a:endParaRPr lang="en-US" sz="10000" dirty="0"/>
          </a:p>
        </p:txBody>
      </p:sp>
      <p:sp>
        <p:nvSpPr>
          <p:cNvPr id="5" name="Text 2"/>
          <p:cNvSpPr txBox="1"/>
          <p:nvPr/>
        </p:nvSpPr>
        <p:spPr>
          <a:xfrm>
            <a:off x="822960" y="3127248"/>
            <a:ext cx="722376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Pengenalan Vue.js</a:t>
            </a:r>
            <a:endParaRPr lang="en-US" sz="4000" dirty="0"/>
          </a:p>
        </p:txBody>
      </p:sp>
      <p:sp>
        <p:nvSpPr>
          <p:cNvPr id="6" name="Text 3"/>
          <p:cNvSpPr txBox="1"/>
          <p:nvPr/>
        </p:nvSpPr>
        <p:spPr>
          <a:xfrm>
            <a:off x="822960" y="3977640"/>
            <a:ext cx="6949440" cy="777240"/>
          </a:xfrm>
          <a:prstGeom prst="rect">
            <a:avLst/>
          </a:prstGeom>
          <a:noFill/>
          <a:ln/>
        </p:spPr>
        <p:txBody>
          <a:bodyPr wrap="square" lIns="0" tIns="0" rIns="0" bIns="0" rtlCol="0" anchor="t"/>
          <a:lstStyle/>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Memahami apa itu Vue, mengapa ia lahir, dan di mana posisinya</a:t>
            </a:r>
            <a:endParaRPr lang="en-US" sz="1500" dirty="0"/>
          </a:p>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di antara framework front-end lainnya.</a:t>
            </a:r>
            <a:endParaRPr lang="en-US" sz="1500" dirty="0"/>
          </a:p>
        </p:txBody>
      </p:sp>
      <p:sp>
        <p:nvSpPr>
          <p:cNvPr id="7" name="Shape 4"/>
          <p:cNvSpPr/>
          <p:nvPr/>
        </p:nvSpPr>
        <p:spPr>
          <a:xfrm>
            <a:off x="822960" y="4983480"/>
            <a:ext cx="566928" cy="566928"/>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981700" y="5142220"/>
            <a:ext cx="249448" cy="2494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Apa itu Vue.js?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Framework JavaScript progresif untuk membangun antarmuka pengguna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63040"/>
            <a:ext cx="11091672" cy="1325880"/>
          </a:xfrm>
          <a:prstGeom prst="roundRect">
            <a:avLst>
              <a:gd name="adj" fmla="val 620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pic>
        <p:nvPicPr>
          <p:cNvPr id="6" name="Image 1" descr="preencoded.png">    </p:cNvPr>
          <p:cNvPicPr>
            <a:picLocks noChangeAspect="1"/>
          </p:cNvPicPr>
          <p:nvPr/>
        </p:nvPicPr>
        <p:blipFill>
          <a:blip r:embed="rId2"/>
          <a:stretch>
            <a:fillRect/>
          </a:stretch>
        </p:blipFill>
        <p:spPr>
          <a:xfrm>
            <a:off x="868680" y="1773936"/>
            <a:ext cx="566928" cy="566928"/>
          </a:xfrm>
          <a:prstGeom prst="rect">
            <a:avLst/>
          </a:prstGeom>
        </p:spPr>
      </p:pic>
      <p:sp>
        <p:nvSpPr>
          <p:cNvPr id="7" name="Text 3"/>
          <p:cNvSpPr txBox="1"/>
          <p:nvPr/>
        </p:nvSpPr>
        <p:spPr>
          <a:xfrm>
            <a:off x="1645920" y="1664208"/>
            <a:ext cx="9692640" cy="960120"/>
          </a:xfrm>
          <a:prstGeom prst="rect">
            <a:avLst/>
          </a:prstGeom>
          <a:noFill/>
          <a:ln/>
        </p:spPr>
        <p:txBody>
          <a:bodyPr wrap="square" lIns="0" tIns="0" rIns="0" bIns="0" rtlCol="0" anchor="t"/>
          <a:lstStyle/>
          <a:p>
            <a:pPr indent="0" marL="0">
              <a:lnSpc>
                <a:spcPct val="115000"/>
              </a:lnSpc>
              <a:buNone/>
            </a:pPr>
            <a:r>
              <a:rPr lang="en-US" sz="1400" dirty="0">
                <a:solidFill>
                  <a:srgbClr val="35495E"/>
                </a:solidFill>
                <a:latin typeface="Calibri" pitchFamily="34" charset="0"/>
                <a:ea typeface="Calibri" pitchFamily="34" charset="-122"/>
                <a:cs typeface="Calibri" pitchFamily="34" charset="-120"/>
              </a:rPr>
              <a:t>Vue.js adalah framework JavaScript open-source berbasis standar HTML, CSS, dan JavaScript yang digunakan untuk membangun antarmuka pengguna (user interface) dan aplikasi satu halaman (Single Page Application) yang interaktif.</a:t>
            </a:r>
            <a:endParaRPr lang="en-US" sz="1400" dirty="0"/>
          </a:p>
        </p:txBody>
      </p:sp>
      <p:sp>
        <p:nvSpPr>
          <p:cNvPr id="8" name="Shape 4"/>
          <p:cNvSpPr/>
          <p:nvPr/>
        </p:nvSpPr>
        <p:spPr>
          <a:xfrm>
            <a:off x="548640" y="3063240"/>
            <a:ext cx="11091672" cy="932688"/>
          </a:xfrm>
          <a:prstGeom prst="roundRect">
            <a:avLst>
              <a:gd name="adj" fmla="val 8824"/>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9" name="Shape 5"/>
          <p:cNvSpPr/>
          <p:nvPr/>
        </p:nvSpPr>
        <p:spPr>
          <a:xfrm>
            <a:off x="841248" y="3291840"/>
            <a:ext cx="475488" cy="475488"/>
          </a:xfrm>
          <a:prstGeom prst="ellipse">
            <a:avLst/>
          </a:prstGeom>
          <a:solidFill>
            <a:srgbClr val="42B883"/>
          </a:solidFill>
          <a:ln w="12700">
            <a:solidFill>
              <a:srgbClr val="42B883"/>
            </a:solidFill>
            <a:prstDash val="solid"/>
          </a:ln>
        </p:spPr>
      </p:sp>
      <p:pic>
        <p:nvPicPr>
          <p:cNvPr id="10" name="Image 2" descr="preencoded.png">    </p:cNvPr>
          <p:cNvPicPr>
            <a:picLocks noChangeAspect="1"/>
          </p:cNvPicPr>
          <p:nvPr/>
        </p:nvPicPr>
        <p:blipFill>
          <a:blip r:embed="rId3"/>
          <a:stretch>
            <a:fillRect/>
          </a:stretch>
        </p:blipFill>
        <p:spPr>
          <a:xfrm>
            <a:off x="974385" y="3424977"/>
            <a:ext cx="209215" cy="209215"/>
          </a:xfrm>
          <a:prstGeom prst="rect">
            <a:avLst/>
          </a:prstGeom>
        </p:spPr>
      </p:pic>
      <p:sp>
        <p:nvSpPr>
          <p:cNvPr id="11" name="Text 6"/>
          <p:cNvSpPr txBox="1"/>
          <p:nvPr/>
        </p:nvSpPr>
        <p:spPr>
          <a:xfrm>
            <a:off x="1517904" y="3200400"/>
            <a:ext cx="3108960" cy="292608"/>
          </a:xfrm>
          <a:prstGeom prst="rect">
            <a:avLst/>
          </a:prstGeom>
          <a:noFill/>
          <a:ln/>
        </p:spPr>
        <p:txBody>
          <a:bodyPr wrap="square" lIns="0" tIns="0" rIns="0" bIns="0" rtlCol="0" anchor="ctr"/>
          <a:lstStyle/>
          <a:p>
            <a:pPr indent="0" marL="0">
              <a:buNone/>
            </a:pPr>
            <a:r>
              <a:rPr lang="en-US" sz="1500" b="1" dirty="0">
                <a:solidFill>
                  <a:srgbClr val="2F9E6E"/>
                </a:solidFill>
                <a:latin typeface="Calibri" pitchFamily="34" charset="0"/>
                <a:ea typeface="Calibri" pitchFamily="34" charset="-122"/>
                <a:cs typeface="Calibri" pitchFamily="34" charset="-120"/>
              </a:rPr>
              <a:t>Progressive Framework</a:t>
            </a:r>
            <a:endParaRPr lang="en-US" sz="1500" dirty="0"/>
          </a:p>
        </p:txBody>
      </p:sp>
      <p:sp>
        <p:nvSpPr>
          <p:cNvPr id="12" name="Text 7"/>
          <p:cNvSpPr txBox="1"/>
          <p:nvPr/>
        </p:nvSpPr>
        <p:spPr>
          <a:xfrm>
            <a:off x="1517904" y="3520440"/>
            <a:ext cx="9829800" cy="411480"/>
          </a:xfrm>
          <a:prstGeom prst="rect">
            <a:avLst/>
          </a:prstGeom>
          <a:noFill/>
          <a:ln/>
        </p:spPr>
        <p:txBody>
          <a:bodyPr wrap="square" lIns="0" tIns="0" rIns="0" bIns="0" rtlCol="0" anchor="t"/>
          <a:lstStyle/>
          <a:p>
            <a:pPr indent="0" marL="0">
              <a:buNone/>
            </a:pPr>
            <a:r>
              <a:rPr lang="en-US" sz="1250" dirty="0">
                <a:solidFill>
                  <a:srgbClr val="6B7C8C"/>
                </a:solidFill>
                <a:latin typeface="Calibri" pitchFamily="34" charset="0"/>
                <a:ea typeface="Calibri" pitchFamily="34" charset="-122"/>
                <a:cs typeface="Calibri" pitchFamily="34" charset="-120"/>
              </a:rPr>
              <a:t>Dapat diadopsi bertahap — dari sekadar menambah interaktivitas pada satu halaman HTML, sampai membangun aplikasi berskala besar.</a:t>
            </a:r>
            <a:endParaRPr lang="en-US" sz="1250" dirty="0"/>
          </a:p>
        </p:txBody>
      </p:sp>
      <p:sp>
        <p:nvSpPr>
          <p:cNvPr id="13" name="Shape 8"/>
          <p:cNvSpPr/>
          <p:nvPr/>
        </p:nvSpPr>
        <p:spPr>
          <a:xfrm>
            <a:off x="548640" y="4142232"/>
            <a:ext cx="11091672" cy="932688"/>
          </a:xfrm>
          <a:prstGeom prst="roundRect">
            <a:avLst>
              <a:gd name="adj" fmla="val 8824"/>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4" name="Shape 9"/>
          <p:cNvSpPr/>
          <p:nvPr/>
        </p:nvSpPr>
        <p:spPr>
          <a:xfrm>
            <a:off x="841248" y="4370832"/>
            <a:ext cx="475488" cy="475488"/>
          </a:xfrm>
          <a:prstGeom prst="ellipse">
            <a:avLst/>
          </a:prstGeom>
          <a:solidFill>
            <a:srgbClr val="42B883"/>
          </a:solidFill>
          <a:ln w="12700">
            <a:solidFill>
              <a:srgbClr val="42B883"/>
            </a:solidFill>
            <a:prstDash val="solid"/>
          </a:ln>
        </p:spPr>
      </p:sp>
      <p:pic>
        <p:nvPicPr>
          <p:cNvPr id="15" name="Image 3" descr="preencoded.png">    </p:cNvPr>
          <p:cNvPicPr>
            <a:picLocks noChangeAspect="1"/>
          </p:cNvPicPr>
          <p:nvPr/>
        </p:nvPicPr>
        <p:blipFill>
          <a:blip r:embed="rId4"/>
          <a:stretch>
            <a:fillRect/>
          </a:stretch>
        </p:blipFill>
        <p:spPr>
          <a:xfrm>
            <a:off x="974385" y="4503969"/>
            <a:ext cx="209215" cy="209215"/>
          </a:xfrm>
          <a:prstGeom prst="rect">
            <a:avLst/>
          </a:prstGeom>
        </p:spPr>
      </p:pic>
      <p:sp>
        <p:nvSpPr>
          <p:cNvPr id="16" name="Text 10"/>
          <p:cNvSpPr txBox="1"/>
          <p:nvPr/>
        </p:nvSpPr>
        <p:spPr>
          <a:xfrm>
            <a:off x="1517904" y="4279392"/>
            <a:ext cx="3108960" cy="292608"/>
          </a:xfrm>
          <a:prstGeom prst="rect">
            <a:avLst/>
          </a:prstGeom>
          <a:noFill/>
          <a:ln/>
        </p:spPr>
        <p:txBody>
          <a:bodyPr wrap="square" lIns="0" tIns="0" rIns="0" bIns="0" rtlCol="0" anchor="ctr"/>
          <a:lstStyle/>
          <a:p>
            <a:pPr indent="0" marL="0">
              <a:buNone/>
            </a:pPr>
            <a:r>
              <a:rPr lang="en-US" sz="1500" b="1" dirty="0">
                <a:solidFill>
                  <a:srgbClr val="2F9E6E"/>
                </a:solidFill>
                <a:latin typeface="Calibri" pitchFamily="34" charset="0"/>
                <a:ea typeface="Calibri" pitchFamily="34" charset="-122"/>
                <a:cs typeface="Calibri" pitchFamily="34" charset="-120"/>
              </a:rPr>
              <a:t>Declarative Rendering</a:t>
            </a:r>
            <a:endParaRPr lang="en-US" sz="1500" dirty="0"/>
          </a:p>
        </p:txBody>
      </p:sp>
      <p:sp>
        <p:nvSpPr>
          <p:cNvPr id="17" name="Text 11"/>
          <p:cNvSpPr txBox="1"/>
          <p:nvPr/>
        </p:nvSpPr>
        <p:spPr>
          <a:xfrm>
            <a:off x="1517904" y="4599432"/>
            <a:ext cx="9829800" cy="411480"/>
          </a:xfrm>
          <a:prstGeom prst="rect">
            <a:avLst/>
          </a:prstGeom>
          <a:noFill/>
          <a:ln/>
        </p:spPr>
        <p:txBody>
          <a:bodyPr wrap="square" lIns="0" tIns="0" rIns="0" bIns="0" rtlCol="0" anchor="t"/>
          <a:lstStyle/>
          <a:p>
            <a:pPr indent="0" marL="0">
              <a:buNone/>
            </a:pPr>
            <a:r>
              <a:rPr lang="en-US" sz="1250" dirty="0">
                <a:solidFill>
                  <a:srgbClr val="6B7C8C"/>
                </a:solidFill>
                <a:latin typeface="Calibri" pitchFamily="34" charset="0"/>
                <a:ea typeface="Calibri" pitchFamily="34" charset="-122"/>
                <a:cs typeface="Calibri" pitchFamily="34" charset="-120"/>
              </a:rPr>
              <a:t>Kita cukup mendeskripsikan tampilan yang diinginkan; Vue yang mengurus pembaruan DOM secara otomatis saat data berubah.</a:t>
            </a:r>
            <a:endParaRPr lang="en-US" sz="1250" dirty="0"/>
          </a:p>
        </p:txBody>
      </p:sp>
      <p:sp>
        <p:nvSpPr>
          <p:cNvPr id="18" name="Shape 12"/>
          <p:cNvSpPr/>
          <p:nvPr/>
        </p:nvSpPr>
        <p:spPr>
          <a:xfrm>
            <a:off x="548640" y="5221224"/>
            <a:ext cx="11091672" cy="932688"/>
          </a:xfrm>
          <a:prstGeom prst="roundRect">
            <a:avLst>
              <a:gd name="adj" fmla="val 8824"/>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9" name="Shape 13"/>
          <p:cNvSpPr/>
          <p:nvPr/>
        </p:nvSpPr>
        <p:spPr>
          <a:xfrm>
            <a:off x="841248" y="5449824"/>
            <a:ext cx="475488" cy="475488"/>
          </a:xfrm>
          <a:prstGeom prst="ellipse">
            <a:avLst/>
          </a:prstGeom>
          <a:solidFill>
            <a:srgbClr val="42B883"/>
          </a:solidFill>
          <a:ln w="12700">
            <a:solidFill>
              <a:srgbClr val="42B883"/>
            </a:solidFill>
            <a:prstDash val="solid"/>
          </a:ln>
        </p:spPr>
      </p:sp>
      <p:pic>
        <p:nvPicPr>
          <p:cNvPr id="20" name="Image 4" descr="preencoded.png">    </p:cNvPr>
          <p:cNvPicPr>
            <a:picLocks noChangeAspect="1"/>
          </p:cNvPicPr>
          <p:nvPr/>
        </p:nvPicPr>
        <p:blipFill>
          <a:blip r:embed="rId5"/>
          <a:stretch>
            <a:fillRect/>
          </a:stretch>
        </p:blipFill>
        <p:spPr>
          <a:xfrm>
            <a:off x="974385" y="5582961"/>
            <a:ext cx="209215" cy="209215"/>
          </a:xfrm>
          <a:prstGeom prst="rect">
            <a:avLst/>
          </a:prstGeom>
        </p:spPr>
      </p:pic>
      <p:sp>
        <p:nvSpPr>
          <p:cNvPr id="21" name="Text 14"/>
          <p:cNvSpPr txBox="1"/>
          <p:nvPr/>
        </p:nvSpPr>
        <p:spPr>
          <a:xfrm>
            <a:off x="1517904" y="5358384"/>
            <a:ext cx="3108960" cy="292608"/>
          </a:xfrm>
          <a:prstGeom prst="rect">
            <a:avLst/>
          </a:prstGeom>
          <a:noFill/>
          <a:ln/>
        </p:spPr>
        <p:txBody>
          <a:bodyPr wrap="square" lIns="0" tIns="0" rIns="0" bIns="0" rtlCol="0" anchor="ctr"/>
          <a:lstStyle/>
          <a:p>
            <a:pPr indent="0" marL="0">
              <a:buNone/>
            </a:pPr>
            <a:r>
              <a:rPr lang="en-US" sz="1500" b="1" dirty="0">
                <a:solidFill>
                  <a:srgbClr val="2F9E6E"/>
                </a:solidFill>
                <a:latin typeface="Calibri" pitchFamily="34" charset="0"/>
                <a:ea typeface="Calibri" pitchFamily="34" charset="-122"/>
                <a:cs typeface="Calibri" pitchFamily="34" charset="-120"/>
              </a:rPr>
              <a:t>Component-Based</a:t>
            </a:r>
            <a:endParaRPr lang="en-US" sz="1500" dirty="0"/>
          </a:p>
        </p:txBody>
      </p:sp>
      <p:sp>
        <p:nvSpPr>
          <p:cNvPr id="22" name="Text 15"/>
          <p:cNvSpPr txBox="1"/>
          <p:nvPr/>
        </p:nvSpPr>
        <p:spPr>
          <a:xfrm>
            <a:off x="1517904" y="5678424"/>
            <a:ext cx="9829800" cy="411480"/>
          </a:xfrm>
          <a:prstGeom prst="rect">
            <a:avLst/>
          </a:prstGeom>
          <a:noFill/>
          <a:ln/>
        </p:spPr>
        <p:txBody>
          <a:bodyPr wrap="square" lIns="0" tIns="0" rIns="0" bIns="0" rtlCol="0" anchor="t"/>
          <a:lstStyle/>
          <a:p>
            <a:pPr indent="0" marL="0">
              <a:buNone/>
            </a:pPr>
            <a:r>
              <a:rPr lang="en-US" sz="1250" dirty="0">
                <a:solidFill>
                  <a:srgbClr val="6B7C8C"/>
                </a:solidFill>
                <a:latin typeface="Calibri" pitchFamily="34" charset="0"/>
                <a:ea typeface="Calibri" pitchFamily="34" charset="-122"/>
                <a:cs typeface="Calibri" pitchFamily="34" charset="-120"/>
              </a:rPr>
              <a:t>Antarmuka dipecah menjadi komponen kecil yang mandiri, dapat digunakan ulang, dan mudah dirawat.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Sejarah &amp; Evolusi</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Perjalanan Vue.js dari proyek personal hingga framework kelas dunia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600200"/>
            <a:ext cx="2093976" cy="566928"/>
          </a:xfrm>
          <a:prstGeom prst="roundRect">
            <a:avLst>
              <a:gd name="adj" fmla="val 16129"/>
            </a:avLst>
          </a:prstGeom>
          <a:solidFill>
            <a:srgbClr val="35495E"/>
          </a:solidFill>
          <a:ln w="12700">
            <a:solidFill>
              <a:srgbClr val="333333"/>
            </a:solidFill>
            <a:prstDash val="solid"/>
          </a:ln>
        </p:spPr>
      </p:sp>
      <p:sp>
        <p:nvSpPr>
          <p:cNvPr id="6" name="Text 3"/>
          <p:cNvSpPr txBox="1"/>
          <p:nvPr/>
        </p:nvSpPr>
        <p:spPr>
          <a:xfrm>
            <a:off x="548640" y="1600200"/>
            <a:ext cx="2093976"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2014</a:t>
            </a:r>
            <a:endParaRPr lang="en-US" sz="2200" dirty="0"/>
          </a:p>
        </p:txBody>
      </p:sp>
      <p:sp>
        <p:nvSpPr>
          <p:cNvPr id="7" name="Shape 4"/>
          <p:cNvSpPr/>
          <p:nvPr/>
        </p:nvSpPr>
        <p:spPr>
          <a:xfrm>
            <a:off x="548640" y="2331720"/>
            <a:ext cx="2093976" cy="2743200"/>
          </a:xfrm>
          <a:prstGeom prst="roundRect">
            <a:avLst>
              <a:gd name="adj" fmla="val 39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8" name="Shape 5"/>
          <p:cNvSpPr/>
          <p:nvPr/>
        </p:nvSpPr>
        <p:spPr>
          <a:xfrm>
            <a:off x="1513332" y="2212848"/>
            <a:ext cx="164592" cy="164592"/>
          </a:xfrm>
          <a:prstGeom prst="ellipse">
            <a:avLst/>
          </a:prstGeom>
          <a:solidFill>
            <a:srgbClr val="35495E"/>
          </a:solidFill>
          <a:ln w="12700">
            <a:solidFill>
              <a:srgbClr val="333333"/>
            </a:solidFill>
            <a:prstDash val="solid"/>
          </a:ln>
        </p:spPr>
      </p:sp>
      <p:sp>
        <p:nvSpPr>
          <p:cNvPr id="9" name="Text 6"/>
          <p:cNvSpPr txBox="1"/>
          <p:nvPr/>
        </p:nvSpPr>
        <p:spPr>
          <a:xfrm>
            <a:off x="731520" y="2523744"/>
            <a:ext cx="1728216" cy="548640"/>
          </a:xfrm>
          <a:prstGeom prst="rect">
            <a:avLst/>
          </a:prstGeom>
          <a:noFill/>
          <a:ln/>
        </p:spPr>
        <p:txBody>
          <a:bodyPr wrap="square" lIns="0" tIns="0" rIns="0" bIns="0" rtlCol="0" anchor="t"/>
          <a:lstStyle/>
          <a:p>
            <a:pPr algn="ctr" indent="0" marL="0">
              <a:lnSpc>
                <a:spcPct val="105000"/>
              </a:lnSpc>
              <a:buNone/>
            </a:pPr>
            <a:r>
              <a:rPr lang="en-US" sz="1350" b="1" dirty="0">
                <a:solidFill>
                  <a:srgbClr val="35495E"/>
                </a:solidFill>
                <a:latin typeface="Calibri" pitchFamily="34" charset="0"/>
                <a:ea typeface="Calibri" pitchFamily="34" charset="-122"/>
                <a:cs typeface="Calibri" pitchFamily="34" charset="-120"/>
              </a:rPr>
              <a:t>Rilis Perdana</a:t>
            </a:r>
            <a:endParaRPr lang="en-US" sz="1350" dirty="0"/>
          </a:p>
        </p:txBody>
      </p:sp>
      <p:sp>
        <p:nvSpPr>
          <p:cNvPr id="10" name="Text 7"/>
          <p:cNvSpPr txBox="1"/>
          <p:nvPr/>
        </p:nvSpPr>
        <p:spPr>
          <a:xfrm>
            <a:off x="731520" y="3127248"/>
            <a:ext cx="1728216" cy="1783080"/>
          </a:xfrm>
          <a:prstGeom prst="rect">
            <a:avLst/>
          </a:prstGeom>
          <a:noFill/>
          <a:ln/>
        </p:spPr>
        <p:txBody>
          <a:bodyPr wrap="square" lIns="0" tIns="0" rIns="0" bIns="0" rtlCol="0" anchor="t"/>
          <a:lstStyle/>
          <a:p>
            <a:pPr indent="0" marL="0">
              <a:lnSpc>
                <a:spcPct val="114000"/>
              </a:lnSpc>
              <a:buNone/>
            </a:pPr>
            <a:r>
              <a:rPr lang="en-US" sz="1150" dirty="0">
                <a:solidFill>
                  <a:srgbClr val="6B7C8C"/>
                </a:solidFill>
                <a:latin typeface="Calibri" pitchFamily="34" charset="0"/>
                <a:ea typeface="Calibri" pitchFamily="34" charset="-122"/>
                <a:cs typeface="Calibri" pitchFamily="34" charset="-120"/>
              </a:rPr>
              <a:t>Evan You, mantan engineer Google, merilis Vue.js sebagai proyek personal yang terinspirasi AngularJS namun lebih ringan.</a:t>
            </a:r>
            <a:endParaRPr lang="en-US" sz="1150" dirty="0"/>
          </a:p>
        </p:txBody>
      </p:sp>
      <p:sp>
        <p:nvSpPr>
          <p:cNvPr id="11" name="Shape 8"/>
          <p:cNvSpPr/>
          <p:nvPr/>
        </p:nvSpPr>
        <p:spPr>
          <a:xfrm>
            <a:off x="2862072" y="1600200"/>
            <a:ext cx="2093976" cy="566928"/>
          </a:xfrm>
          <a:prstGeom prst="roundRect">
            <a:avLst>
              <a:gd name="adj" fmla="val 16129"/>
            </a:avLst>
          </a:prstGeom>
          <a:solidFill>
            <a:srgbClr val="35495E"/>
          </a:solidFill>
          <a:ln w="12700">
            <a:solidFill>
              <a:srgbClr val="333333"/>
            </a:solidFill>
            <a:prstDash val="solid"/>
          </a:ln>
        </p:spPr>
      </p:sp>
      <p:sp>
        <p:nvSpPr>
          <p:cNvPr id="12" name="Text 9"/>
          <p:cNvSpPr txBox="1"/>
          <p:nvPr/>
        </p:nvSpPr>
        <p:spPr>
          <a:xfrm>
            <a:off x="2862072" y="1600200"/>
            <a:ext cx="2093976"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2016</a:t>
            </a:r>
            <a:endParaRPr lang="en-US" sz="2200" dirty="0"/>
          </a:p>
        </p:txBody>
      </p:sp>
      <p:sp>
        <p:nvSpPr>
          <p:cNvPr id="13" name="Shape 10"/>
          <p:cNvSpPr/>
          <p:nvPr/>
        </p:nvSpPr>
        <p:spPr>
          <a:xfrm>
            <a:off x="2862072" y="2331720"/>
            <a:ext cx="2093976" cy="2743200"/>
          </a:xfrm>
          <a:prstGeom prst="roundRect">
            <a:avLst>
              <a:gd name="adj" fmla="val 39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4" name="Shape 11"/>
          <p:cNvSpPr/>
          <p:nvPr/>
        </p:nvSpPr>
        <p:spPr>
          <a:xfrm>
            <a:off x="3826764" y="2212848"/>
            <a:ext cx="164592" cy="164592"/>
          </a:xfrm>
          <a:prstGeom prst="ellipse">
            <a:avLst/>
          </a:prstGeom>
          <a:solidFill>
            <a:srgbClr val="35495E"/>
          </a:solidFill>
          <a:ln w="12700">
            <a:solidFill>
              <a:srgbClr val="333333"/>
            </a:solidFill>
            <a:prstDash val="solid"/>
          </a:ln>
        </p:spPr>
      </p:sp>
      <p:sp>
        <p:nvSpPr>
          <p:cNvPr id="15" name="Text 12"/>
          <p:cNvSpPr txBox="1"/>
          <p:nvPr/>
        </p:nvSpPr>
        <p:spPr>
          <a:xfrm>
            <a:off x="3044952" y="2523744"/>
            <a:ext cx="1728216" cy="548640"/>
          </a:xfrm>
          <a:prstGeom prst="rect">
            <a:avLst/>
          </a:prstGeom>
          <a:noFill/>
          <a:ln/>
        </p:spPr>
        <p:txBody>
          <a:bodyPr wrap="square" lIns="0" tIns="0" rIns="0" bIns="0" rtlCol="0" anchor="t"/>
          <a:lstStyle/>
          <a:p>
            <a:pPr algn="ctr" indent="0" marL="0">
              <a:lnSpc>
                <a:spcPct val="105000"/>
              </a:lnSpc>
              <a:buNone/>
            </a:pPr>
            <a:r>
              <a:rPr lang="en-US" sz="1350" b="1" dirty="0">
                <a:solidFill>
                  <a:srgbClr val="35495E"/>
                </a:solidFill>
                <a:latin typeface="Calibri" pitchFamily="34" charset="0"/>
                <a:ea typeface="Calibri" pitchFamily="34" charset="-122"/>
                <a:cs typeface="Calibri" pitchFamily="34" charset="-120"/>
              </a:rPr>
              <a:t>Vue 2</a:t>
            </a:r>
            <a:endParaRPr lang="en-US" sz="1350" dirty="0"/>
          </a:p>
        </p:txBody>
      </p:sp>
      <p:sp>
        <p:nvSpPr>
          <p:cNvPr id="16" name="Text 13"/>
          <p:cNvSpPr txBox="1"/>
          <p:nvPr/>
        </p:nvSpPr>
        <p:spPr>
          <a:xfrm>
            <a:off x="3044952" y="3127248"/>
            <a:ext cx="1728216" cy="1783080"/>
          </a:xfrm>
          <a:prstGeom prst="rect">
            <a:avLst/>
          </a:prstGeom>
          <a:noFill/>
          <a:ln/>
        </p:spPr>
        <p:txBody>
          <a:bodyPr wrap="square" lIns="0" tIns="0" rIns="0" bIns="0" rtlCol="0" anchor="t"/>
          <a:lstStyle/>
          <a:p>
            <a:pPr indent="0" marL="0">
              <a:lnSpc>
                <a:spcPct val="114000"/>
              </a:lnSpc>
              <a:buNone/>
            </a:pPr>
            <a:r>
              <a:rPr lang="en-US" sz="1150" dirty="0">
                <a:solidFill>
                  <a:srgbClr val="6B7C8C"/>
                </a:solidFill>
                <a:latin typeface="Calibri" pitchFamily="34" charset="0"/>
                <a:ea typeface="Calibri" pitchFamily="34" charset="-122"/>
                <a:cs typeface="Calibri" pitchFamily="34" charset="-120"/>
              </a:rPr>
              <a:t>Virtual DOM diperkenalkan. Vue meledak popularitasnya dan mulai diadopsi perusahaan besar seperti Alibaba dan Xiaomi.</a:t>
            </a:r>
            <a:endParaRPr lang="en-US" sz="1150" dirty="0"/>
          </a:p>
        </p:txBody>
      </p:sp>
      <p:sp>
        <p:nvSpPr>
          <p:cNvPr id="17" name="Shape 14"/>
          <p:cNvSpPr/>
          <p:nvPr/>
        </p:nvSpPr>
        <p:spPr>
          <a:xfrm>
            <a:off x="5175504" y="1600200"/>
            <a:ext cx="2093976" cy="566928"/>
          </a:xfrm>
          <a:prstGeom prst="roundRect">
            <a:avLst>
              <a:gd name="adj" fmla="val 16129"/>
            </a:avLst>
          </a:prstGeom>
          <a:solidFill>
            <a:srgbClr val="42B883"/>
          </a:solidFill>
          <a:ln w="12700">
            <a:solidFill>
              <a:srgbClr val="333333"/>
            </a:solidFill>
            <a:prstDash val="solid"/>
          </a:ln>
        </p:spPr>
      </p:sp>
      <p:sp>
        <p:nvSpPr>
          <p:cNvPr id="18" name="Text 15"/>
          <p:cNvSpPr txBox="1"/>
          <p:nvPr/>
        </p:nvSpPr>
        <p:spPr>
          <a:xfrm>
            <a:off x="5175504" y="1600200"/>
            <a:ext cx="2093976"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2020</a:t>
            </a:r>
            <a:endParaRPr lang="en-US" sz="2200" dirty="0"/>
          </a:p>
        </p:txBody>
      </p:sp>
      <p:sp>
        <p:nvSpPr>
          <p:cNvPr id="19" name="Shape 16"/>
          <p:cNvSpPr/>
          <p:nvPr/>
        </p:nvSpPr>
        <p:spPr>
          <a:xfrm>
            <a:off x="5175504" y="2331720"/>
            <a:ext cx="2093976" cy="2743200"/>
          </a:xfrm>
          <a:prstGeom prst="roundRect">
            <a:avLst>
              <a:gd name="adj" fmla="val 39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0" name="Shape 17"/>
          <p:cNvSpPr/>
          <p:nvPr/>
        </p:nvSpPr>
        <p:spPr>
          <a:xfrm>
            <a:off x="6140196" y="2212848"/>
            <a:ext cx="164592" cy="164592"/>
          </a:xfrm>
          <a:prstGeom prst="ellipse">
            <a:avLst/>
          </a:prstGeom>
          <a:solidFill>
            <a:srgbClr val="42B883"/>
          </a:solidFill>
          <a:ln w="12700">
            <a:solidFill>
              <a:srgbClr val="333333"/>
            </a:solidFill>
            <a:prstDash val="solid"/>
          </a:ln>
        </p:spPr>
      </p:sp>
      <p:sp>
        <p:nvSpPr>
          <p:cNvPr id="21" name="Text 18"/>
          <p:cNvSpPr txBox="1"/>
          <p:nvPr/>
        </p:nvSpPr>
        <p:spPr>
          <a:xfrm>
            <a:off x="5358384" y="2523744"/>
            <a:ext cx="1728216" cy="548640"/>
          </a:xfrm>
          <a:prstGeom prst="rect">
            <a:avLst/>
          </a:prstGeom>
          <a:noFill/>
          <a:ln/>
        </p:spPr>
        <p:txBody>
          <a:bodyPr wrap="square" lIns="0" tIns="0" rIns="0" bIns="0" rtlCol="0" anchor="t"/>
          <a:lstStyle/>
          <a:p>
            <a:pPr algn="ctr" indent="0" marL="0">
              <a:lnSpc>
                <a:spcPct val="105000"/>
              </a:lnSpc>
              <a:buNone/>
            </a:pPr>
            <a:r>
              <a:rPr lang="en-US" sz="1350" b="1" dirty="0">
                <a:solidFill>
                  <a:srgbClr val="35495E"/>
                </a:solidFill>
                <a:latin typeface="Calibri" pitchFamily="34" charset="0"/>
                <a:ea typeface="Calibri" pitchFamily="34" charset="-122"/>
                <a:cs typeface="Calibri" pitchFamily="34" charset="-120"/>
              </a:rPr>
              <a:t>Vue 3 "One Piece"</a:t>
            </a:r>
            <a:endParaRPr lang="en-US" sz="1350" dirty="0"/>
          </a:p>
        </p:txBody>
      </p:sp>
      <p:sp>
        <p:nvSpPr>
          <p:cNvPr id="22" name="Text 19"/>
          <p:cNvSpPr txBox="1"/>
          <p:nvPr/>
        </p:nvSpPr>
        <p:spPr>
          <a:xfrm>
            <a:off x="5358384" y="3127248"/>
            <a:ext cx="1728216" cy="1783080"/>
          </a:xfrm>
          <a:prstGeom prst="rect">
            <a:avLst/>
          </a:prstGeom>
          <a:noFill/>
          <a:ln/>
        </p:spPr>
        <p:txBody>
          <a:bodyPr wrap="square" lIns="0" tIns="0" rIns="0" bIns="0" rtlCol="0" anchor="t"/>
          <a:lstStyle/>
          <a:p>
            <a:pPr indent="0" marL="0">
              <a:lnSpc>
                <a:spcPct val="114000"/>
              </a:lnSpc>
              <a:buNone/>
            </a:pPr>
            <a:r>
              <a:rPr lang="en-US" sz="1150" dirty="0">
                <a:solidFill>
                  <a:srgbClr val="6B7C8C"/>
                </a:solidFill>
                <a:latin typeface="Calibri" pitchFamily="34" charset="0"/>
                <a:ea typeface="Calibri" pitchFamily="34" charset="-122"/>
                <a:cs typeface="Calibri" pitchFamily="34" charset="-120"/>
              </a:rPr>
              <a:t>Ditulis ulang dengan TypeScript. Membawa Composition API, Proxy-based reactivity, dan performa jauh lebih cepat.</a:t>
            </a:r>
            <a:endParaRPr lang="en-US" sz="1150" dirty="0"/>
          </a:p>
        </p:txBody>
      </p:sp>
      <p:sp>
        <p:nvSpPr>
          <p:cNvPr id="23" name="Shape 20"/>
          <p:cNvSpPr/>
          <p:nvPr/>
        </p:nvSpPr>
        <p:spPr>
          <a:xfrm>
            <a:off x="7488936" y="1600200"/>
            <a:ext cx="2093976" cy="566928"/>
          </a:xfrm>
          <a:prstGeom prst="roundRect">
            <a:avLst>
              <a:gd name="adj" fmla="val 16129"/>
            </a:avLst>
          </a:prstGeom>
          <a:solidFill>
            <a:srgbClr val="35495E"/>
          </a:solidFill>
          <a:ln w="12700">
            <a:solidFill>
              <a:srgbClr val="333333"/>
            </a:solidFill>
            <a:prstDash val="solid"/>
          </a:ln>
        </p:spPr>
      </p:sp>
      <p:sp>
        <p:nvSpPr>
          <p:cNvPr id="24" name="Text 21"/>
          <p:cNvSpPr txBox="1"/>
          <p:nvPr/>
        </p:nvSpPr>
        <p:spPr>
          <a:xfrm>
            <a:off x="7488936" y="1600200"/>
            <a:ext cx="2093976"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2022</a:t>
            </a:r>
            <a:endParaRPr lang="en-US" sz="2200" dirty="0"/>
          </a:p>
        </p:txBody>
      </p:sp>
      <p:sp>
        <p:nvSpPr>
          <p:cNvPr id="25" name="Shape 22"/>
          <p:cNvSpPr/>
          <p:nvPr/>
        </p:nvSpPr>
        <p:spPr>
          <a:xfrm>
            <a:off x="7488936" y="2331720"/>
            <a:ext cx="2093976" cy="2743200"/>
          </a:xfrm>
          <a:prstGeom prst="roundRect">
            <a:avLst>
              <a:gd name="adj" fmla="val 39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23"/>
          <p:cNvSpPr/>
          <p:nvPr/>
        </p:nvSpPr>
        <p:spPr>
          <a:xfrm>
            <a:off x="8453628" y="2212848"/>
            <a:ext cx="164592" cy="164592"/>
          </a:xfrm>
          <a:prstGeom prst="ellipse">
            <a:avLst/>
          </a:prstGeom>
          <a:solidFill>
            <a:srgbClr val="35495E"/>
          </a:solidFill>
          <a:ln w="12700">
            <a:solidFill>
              <a:srgbClr val="333333"/>
            </a:solidFill>
            <a:prstDash val="solid"/>
          </a:ln>
        </p:spPr>
      </p:sp>
      <p:sp>
        <p:nvSpPr>
          <p:cNvPr id="27" name="Text 24"/>
          <p:cNvSpPr txBox="1"/>
          <p:nvPr/>
        </p:nvSpPr>
        <p:spPr>
          <a:xfrm>
            <a:off x="7671816" y="2523744"/>
            <a:ext cx="1728216" cy="548640"/>
          </a:xfrm>
          <a:prstGeom prst="rect">
            <a:avLst/>
          </a:prstGeom>
          <a:noFill/>
          <a:ln/>
        </p:spPr>
        <p:txBody>
          <a:bodyPr wrap="square" lIns="0" tIns="0" rIns="0" bIns="0" rtlCol="0" anchor="t"/>
          <a:lstStyle/>
          <a:p>
            <a:pPr algn="ctr" indent="0" marL="0">
              <a:lnSpc>
                <a:spcPct val="105000"/>
              </a:lnSpc>
              <a:buNone/>
            </a:pPr>
            <a:r>
              <a:rPr lang="en-US" sz="1350" b="1" dirty="0">
                <a:solidFill>
                  <a:srgbClr val="35495E"/>
                </a:solidFill>
                <a:latin typeface="Calibri" pitchFamily="34" charset="0"/>
                <a:ea typeface="Calibri" pitchFamily="34" charset="-122"/>
                <a:cs typeface="Calibri" pitchFamily="34" charset="-120"/>
              </a:rPr>
              <a:t>Vue 3 Jadi Default</a:t>
            </a:r>
            <a:endParaRPr lang="en-US" sz="1350" dirty="0"/>
          </a:p>
        </p:txBody>
      </p:sp>
      <p:sp>
        <p:nvSpPr>
          <p:cNvPr id="28" name="Text 25"/>
          <p:cNvSpPr txBox="1"/>
          <p:nvPr/>
        </p:nvSpPr>
        <p:spPr>
          <a:xfrm>
            <a:off x="7671816" y="3127248"/>
            <a:ext cx="1728216" cy="1783080"/>
          </a:xfrm>
          <a:prstGeom prst="rect">
            <a:avLst/>
          </a:prstGeom>
          <a:noFill/>
          <a:ln/>
        </p:spPr>
        <p:txBody>
          <a:bodyPr wrap="square" lIns="0" tIns="0" rIns="0" bIns="0" rtlCol="0" anchor="t"/>
          <a:lstStyle/>
          <a:p>
            <a:pPr indent="0" marL="0">
              <a:lnSpc>
                <a:spcPct val="114000"/>
              </a:lnSpc>
              <a:buNone/>
            </a:pPr>
            <a:r>
              <a:rPr lang="en-US" sz="1150" dirty="0">
                <a:solidFill>
                  <a:srgbClr val="6B7C8C"/>
                </a:solidFill>
                <a:latin typeface="Calibri" pitchFamily="34" charset="0"/>
                <a:ea typeface="Calibri" pitchFamily="34" charset="-122"/>
                <a:cs typeface="Calibri" pitchFamily="34" charset="-120"/>
              </a:rPr>
              <a:t>Vue 3 menjadi versi utama. Vite menggantikan Vue CLI, Pinia menggantikan Vuex sebagai state management resmi.</a:t>
            </a:r>
            <a:endParaRPr lang="en-US" sz="1150" dirty="0"/>
          </a:p>
        </p:txBody>
      </p:sp>
      <p:sp>
        <p:nvSpPr>
          <p:cNvPr id="29" name="Shape 26"/>
          <p:cNvSpPr/>
          <p:nvPr/>
        </p:nvSpPr>
        <p:spPr>
          <a:xfrm>
            <a:off x="9802368" y="1600200"/>
            <a:ext cx="2093976" cy="566928"/>
          </a:xfrm>
          <a:prstGeom prst="roundRect">
            <a:avLst>
              <a:gd name="adj" fmla="val 16129"/>
            </a:avLst>
          </a:prstGeom>
          <a:solidFill>
            <a:srgbClr val="35495E"/>
          </a:solidFill>
          <a:ln w="12700">
            <a:solidFill>
              <a:srgbClr val="333333"/>
            </a:solidFill>
            <a:prstDash val="solid"/>
          </a:ln>
        </p:spPr>
      </p:sp>
      <p:sp>
        <p:nvSpPr>
          <p:cNvPr id="30" name="Text 27"/>
          <p:cNvSpPr txBox="1"/>
          <p:nvPr/>
        </p:nvSpPr>
        <p:spPr>
          <a:xfrm>
            <a:off x="9802368" y="1600200"/>
            <a:ext cx="2093976"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Kini</a:t>
            </a:r>
            <a:endParaRPr lang="en-US" sz="2200" dirty="0"/>
          </a:p>
        </p:txBody>
      </p:sp>
      <p:sp>
        <p:nvSpPr>
          <p:cNvPr id="31" name="Shape 28"/>
          <p:cNvSpPr/>
          <p:nvPr/>
        </p:nvSpPr>
        <p:spPr>
          <a:xfrm>
            <a:off x="9802368" y="2331720"/>
            <a:ext cx="2093976" cy="2743200"/>
          </a:xfrm>
          <a:prstGeom prst="roundRect">
            <a:avLst>
              <a:gd name="adj" fmla="val 39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2" name="Shape 29"/>
          <p:cNvSpPr/>
          <p:nvPr/>
        </p:nvSpPr>
        <p:spPr>
          <a:xfrm>
            <a:off x="10767060" y="2212848"/>
            <a:ext cx="164592" cy="164592"/>
          </a:xfrm>
          <a:prstGeom prst="ellipse">
            <a:avLst/>
          </a:prstGeom>
          <a:solidFill>
            <a:srgbClr val="35495E"/>
          </a:solidFill>
          <a:ln w="12700">
            <a:solidFill>
              <a:srgbClr val="333333"/>
            </a:solidFill>
            <a:prstDash val="solid"/>
          </a:ln>
        </p:spPr>
      </p:sp>
      <p:sp>
        <p:nvSpPr>
          <p:cNvPr id="33" name="Text 30"/>
          <p:cNvSpPr txBox="1"/>
          <p:nvPr/>
        </p:nvSpPr>
        <p:spPr>
          <a:xfrm>
            <a:off x="9985248" y="2523744"/>
            <a:ext cx="1728216" cy="548640"/>
          </a:xfrm>
          <a:prstGeom prst="rect">
            <a:avLst/>
          </a:prstGeom>
          <a:noFill/>
          <a:ln/>
        </p:spPr>
        <p:txBody>
          <a:bodyPr wrap="square" lIns="0" tIns="0" rIns="0" bIns="0" rtlCol="0" anchor="t"/>
          <a:lstStyle/>
          <a:p>
            <a:pPr algn="ctr" indent="0" marL="0">
              <a:lnSpc>
                <a:spcPct val="105000"/>
              </a:lnSpc>
              <a:buNone/>
            </a:pPr>
            <a:r>
              <a:rPr lang="en-US" sz="1350" b="1" dirty="0">
                <a:solidFill>
                  <a:srgbClr val="35495E"/>
                </a:solidFill>
                <a:latin typeface="Calibri" pitchFamily="34" charset="0"/>
                <a:ea typeface="Calibri" pitchFamily="34" charset="-122"/>
                <a:cs typeface="Calibri" pitchFamily="34" charset="-120"/>
              </a:rPr>
              <a:t>Ekosistem Matang</a:t>
            </a:r>
            <a:endParaRPr lang="en-US" sz="1350" dirty="0"/>
          </a:p>
        </p:txBody>
      </p:sp>
      <p:sp>
        <p:nvSpPr>
          <p:cNvPr id="34" name="Text 31"/>
          <p:cNvSpPr txBox="1"/>
          <p:nvPr/>
        </p:nvSpPr>
        <p:spPr>
          <a:xfrm>
            <a:off x="9985248" y="3127248"/>
            <a:ext cx="1728216" cy="1783080"/>
          </a:xfrm>
          <a:prstGeom prst="rect">
            <a:avLst/>
          </a:prstGeom>
          <a:noFill/>
          <a:ln/>
        </p:spPr>
        <p:txBody>
          <a:bodyPr wrap="square" lIns="0" tIns="0" rIns="0" bIns="0" rtlCol="0" anchor="t"/>
          <a:lstStyle/>
          <a:p>
            <a:pPr indent="0" marL="0">
              <a:lnSpc>
                <a:spcPct val="114000"/>
              </a:lnSpc>
              <a:buNone/>
            </a:pPr>
            <a:r>
              <a:rPr lang="en-US" sz="1150" dirty="0">
                <a:solidFill>
                  <a:srgbClr val="6B7C8C"/>
                </a:solidFill>
                <a:latin typeface="Calibri" pitchFamily="34" charset="0"/>
                <a:ea typeface="Calibri" pitchFamily="34" charset="-122"/>
                <a:cs typeface="Calibri" pitchFamily="34" charset="-120"/>
              </a:rPr>
              <a:t>Vapor Mode, dukungan TypeScript penuh, Nuxt 3+, dan komunitas global yang sangat aktif.</a:t>
            </a:r>
            <a:endParaRPr lang="en-US" sz="1150" dirty="0"/>
          </a:p>
        </p:txBody>
      </p:sp>
      <p:sp>
        <p:nvSpPr>
          <p:cNvPr id="35" name="Shape 32"/>
          <p:cNvSpPr/>
          <p:nvPr/>
        </p:nvSpPr>
        <p:spPr>
          <a:xfrm>
            <a:off x="548640" y="5440680"/>
            <a:ext cx="11091672" cy="640080"/>
          </a:xfrm>
          <a:prstGeom prst="roundRect">
            <a:avLst>
              <a:gd name="adj" fmla="val 14286"/>
            </a:avLst>
          </a:prstGeom>
          <a:solidFill>
            <a:srgbClr val="E9F5EF"/>
          </a:solidFill>
          <a:ln w="12700">
            <a:solidFill>
              <a:srgbClr val="333333"/>
            </a:solidFill>
            <a:prstDash val="solid"/>
          </a:ln>
        </p:spPr>
      </p:sp>
      <p:sp>
        <p:nvSpPr>
          <p:cNvPr id="36" name="Text 33"/>
          <p:cNvSpPr txBox="1"/>
          <p:nvPr/>
        </p:nvSpPr>
        <p:spPr>
          <a:xfrm>
            <a:off x="548640" y="5440680"/>
            <a:ext cx="11091672" cy="640080"/>
          </a:xfrm>
          <a:prstGeom prst="rect">
            <a:avLst/>
          </a:prstGeom>
          <a:noFill/>
          <a:ln/>
        </p:spPr>
        <p:txBody>
          <a:bodyPr wrap="square" lIns="0" tIns="0" rIns="0" bIns="0" rtlCol="0" anchor="ctr"/>
          <a:lstStyle/>
          <a:p>
            <a:pPr algn="ctr" indent="0" marL="0">
              <a:buNone/>
            </a:pPr>
            <a:r>
              <a:rPr lang="en-US" sz="1250" b="1" dirty="0">
                <a:solidFill>
                  <a:srgbClr val="2F9E6E"/>
                </a:solidFill>
                <a:latin typeface="Calibri" pitchFamily="34" charset="0"/>
                <a:ea typeface="Calibri" pitchFamily="34" charset="-122"/>
                <a:cs typeface="Calibri" pitchFamily="34" charset="-120"/>
              </a:rPr>
              <a:t>Fokus materi ini adalah Vue 3 dengan Composition API — pendekatan yang direkomendasikan resmi untuk proyek baru.</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Karakteristik Utama Vue.js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Enam alasan mengapa Vue banyak dipilih pengembang web</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3619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859536" y="1920240"/>
            <a:ext cx="512064" cy="512064"/>
          </a:xfrm>
          <a:prstGeom prst="ellipse">
            <a:avLst/>
          </a:prstGeom>
          <a:solidFill>
            <a:srgbClr val="42B883"/>
          </a:solidFill>
          <a:ln w="12700">
            <a:solidFill>
              <a:srgbClr val="42B883"/>
            </a:solidFill>
            <a:prstDash val="solid"/>
          </a:ln>
        </p:spPr>
      </p:sp>
      <p:pic>
        <p:nvPicPr>
          <p:cNvPr id="7" name="Image 1" descr="preencoded.png">    </p:cNvPr>
          <p:cNvPicPr>
            <a:picLocks noChangeAspect="1"/>
          </p:cNvPicPr>
          <p:nvPr/>
        </p:nvPicPr>
        <p:blipFill>
          <a:blip r:embed="rId2"/>
          <a:stretch>
            <a:fillRect/>
          </a:stretch>
        </p:blipFill>
        <p:spPr>
          <a:xfrm>
            <a:off x="1002914" y="2063618"/>
            <a:ext cx="225308" cy="225308"/>
          </a:xfrm>
          <a:prstGeom prst="rect">
            <a:avLst/>
          </a:prstGeom>
        </p:spPr>
      </p:pic>
      <p:sp>
        <p:nvSpPr>
          <p:cNvPr id="8" name="Text 4"/>
          <p:cNvSpPr txBox="1"/>
          <p:nvPr/>
        </p:nvSpPr>
        <p:spPr>
          <a:xfrm>
            <a:off x="859536" y="261518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Ringan &amp; Cepat</a:t>
            </a:r>
            <a:endParaRPr lang="en-US" sz="1600" dirty="0"/>
          </a:p>
        </p:txBody>
      </p:sp>
      <p:sp>
        <p:nvSpPr>
          <p:cNvPr id="9" name="Text 5"/>
          <p:cNvSpPr txBox="1"/>
          <p:nvPr/>
        </p:nvSpPr>
        <p:spPr>
          <a:xfrm>
            <a:off x="859536" y="296265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Ukuran runtime hanya sekitar 34 KB (gzip) dengan performa rendering yang sangat baik.</a:t>
            </a:r>
            <a:endParaRPr lang="en-US" sz="1200" dirty="0"/>
          </a:p>
        </p:txBody>
      </p:sp>
      <p:sp>
        <p:nvSpPr>
          <p:cNvPr id="10" name="Shape 6"/>
          <p:cNvSpPr/>
          <p:nvPr/>
        </p:nvSpPr>
        <p:spPr>
          <a:xfrm>
            <a:off x="4334256" y="153619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Shape 7"/>
          <p:cNvSpPr/>
          <p:nvPr/>
        </p:nvSpPr>
        <p:spPr>
          <a:xfrm>
            <a:off x="4645152" y="1920240"/>
            <a:ext cx="512064" cy="512064"/>
          </a:xfrm>
          <a:prstGeom prst="ellipse">
            <a:avLst/>
          </a:prstGeom>
          <a:solidFill>
            <a:srgbClr val="42B883"/>
          </a:solidFill>
          <a:ln w="12700">
            <a:solidFill>
              <a:srgbClr val="42B883"/>
            </a:solidFill>
            <a:prstDash val="solid"/>
          </a:ln>
        </p:spPr>
      </p:sp>
      <p:pic>
        <p:nvPicPr>
          <p:cNvPr id="12" name="Image 2" descr="preencoded.png">    </p:cNvPr>
          <p:cNvPicPr>
            <a:picLocks noChangeAspect="1"/>
          </p:cNvPicPr>
          <p:nvPr/>
        </p:nvPicPr>
        <p:blipFill>
          <a:blip r:embed="rId3"/>
          <a:stretch>
            <a:fillRect/>
          </a:stretch>
        </p:blipFill>
        <p:spPr>
          <a:xfrm>
            <a:off x="4788530" y="2063618"/>
            <a:ext cx="225308" cy="225308"/>
          </a:xfrm>
          <a:prstGeom prst="rect">
            <a:avLst/>
          </a:prstGeom>
        </p:spPr>
      </p:pic>
      <p:sp>
        <p:nvSpPr>
          <p:cNvPr id="13" name="Text 8"/>
          <p:cNvSpPr txBox="1"/>
          <p:nvPr/>
        </p:nvSpPr>
        <p:spPr>
          <a:xfrm>
            <a:off x="4645152" y="261518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Reaktif Otomatis</a:t>
            </a:r>
            <a:endParaRPr lang="en-US" sz="1600" dirty="0"/>
          </a:p>
        </p:txBody>
      </p:sp>
      <p:sp>
        <p:nvSpPr>
          <p:cNvPr id="14" name="Text 9"/>
          <p:cNvSpPr txBox="1"/>
          <p:nvPr/>
        </p:nvSpPr>
        <p:spPr>
          <a:xfrm>
            <a:off x="4645152" y="296265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Perubahan data langsung tercermin di tampilan tanpa manipulasi DOM manual.</a:t>
            </a:r>
            <a:endParaRPr lang="en-US" sz="1200" dirty="0"/>
          </a:p>
        </p:txBody>
      </p:sp>
      <p:sp>
        <p:nvSpPr>
          <p:cNvPr id="15" name="Shape 10"/>
          <p:cNvSpPr/>
          <p:nvPr/>
        </p:nvSpPr>
        <p:spPr>
          <a:xfrm>
            <a:off x="8119872" y="153619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6" name="Shape 11"/>
          <p:cNvSpPr/>
          <p:nvPr/>
        </p:nvSpPr>
        <p:spPr>
          <a:xfrm>
            <a:off x="8430768" y="1920240"/>
            <a:ext cx="512064" cy="512064"/>
          </a:xfrm>
          <a:prstGeom prst="ellipse">
            <a:avLst/>
          </a:prstGeom>
          <a:solidFill>
            <a:srgbClr val="42B883"/>
          </a:solidFill>
          <a:ln w="12700">
            <a:solidFill>
              <a:srgbClr val="42B883"/>
            </a:solidFill>
            <a:prstDash val="solid"/>
          </a:ln>
        </p:spPr>
      </p:sp>
      <p:pic>
        <p:nvPicPr>
          <p:cNvPr id="17" name="Image 3" descr="preencoded.png">    </p:cNvPr>
          <p:cNvPicPr>
            <a:picLocks noChangeAspect="1"/>
          </p:cNvPicPr>
          <p:nvPr/>
        </p:nvPicPr>
        <p:blipFill>
          <a:blip r:embed="rId4"/>
          <a:stretch>
            <a:fillRect/>
          </a:stretch>
        </p:blipFill>
        <p:spPr>
          <a:xfrm>
            <a:off x="8574146" y="2063618"/>
            <a:ext cx="225308" cy="225308"/>
          </a:xfrm>
          <a:prstGeom prst="rect">
            <a:avLst/>
          </a:prstGeom>
        </p:spPr>
      </p:pic>
      <p:sp>
        <p:nvSpPr>
          <p:cNvPr id="18" name="Text 12"/>
          <p:cNvSpPr txBox="1"/>
          <p:nvPr/>
        </p:nvSpPr>
        <p:spPr>
          <a:xfrm>
            <a:off x="8430768" y="261518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Berbasis Komponen</a:t>
            </a:r>
            <a:endParaRPr lang="en-US" sz="1600" dirty="0"/>
          </a:p>
        </p:txBody>
      </p:sp>
      <p:sp>
        <p:nvSpPr>
          <p:cNvPr id="19" name="Text 13"/>
          <p:cNvSpPr txBox="1"/>
          <p:nvPr/>
        </p:nvSpPr>
        <p:spPr>
          <a:xfrm>
            <a:off x="8430768" y="296265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Satu file berisi template, logika, dan style yang saling terkait dalam satu tempat.</a:t>
            </a:r>
            <a:endParaRPr lang="en-US" sz="1200" dirty="0"/>
          </a:p>
        </p:txBody>
      </p:sp>
      <p:sp>
        <p:nvSpPr>
          <p:cNvPr id="20" name="Shape 14"/>
          <p:cNvSpPr/>
          <p:nvPr/>
        </p:nvSpPr>
        <p:spPr>
          <a:xfrm>
            <a:off x="548640" y="400507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1" name="Shape 15"/>
          <p:cNvSpPr/>
          <p:nvPr/>
        </p:nvSpPr>
        <p:spPr>
          <a:xfrm>
            <a:off x="859536" y="4389120"/>
            <a:ext cx="512064" cy="512064"/>
          </a:xfrm>
          <a:prstGeom prst="ellipse">
            <a:avLst/>
          </a:prstGeom>
          <a:solidFill>
            <a:srgbClr val="42B883"/>
          </a:solidFill>
          <a:ln w="12700">
            <a:solidFill>
              <a:srgbClr val="42B883"/>
            </a:solidFill>
            <a:prstDash val="solid"/>
          </a:ln>
        </p:spPr>
      </p:sp>
      <p:pic>
        <p:nvPicPr>
          <p:cNvPr id="22" name="Image 4" descr="preencoded.png">    </p:cNvPr>
          <p:cNvPicPr>
            <a:picLocks noChangeAspect="1"/>
          </p:cNvPicPr>
          <p:nvPr/>
        </p:nvPicPr>
        <p:blipFill>
          <a:blip r:embed="rId5"/>
          <a:stretch>
            <a:fillRect/>
          </a:stretch>
        </p:blipFill>
        <p:spPr>
          <a:xfrm>
            <a:off x="1002914" y="4532498"/>
            <a:ext cx="225308" cy="225308"/>
          </a:xfrm>
          <a:prstGeom prst="rect">
            <a:avLst/>
          </a:prstGeom>
        </p:spPr>
      </p:pic>
      <p:sp>
        <p:nvSpPr>
          <p:cNvPr id="23" name="Text 16"/>
          <p:cNvSpPr txBox="1"/>
          <p:nvPr/>
        </p:nvSpPr>
        <p:spPr>
          <a:xfrm>
            <a:off x="859536" y="508406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Kurva Belajar Landai</a:t>
            </a:r>
            <a:endParaRPr lang="en-US" sz="1600" dirty="0"/>
          </a:p>
        </p:txBody>
      </p:sp>
      <p:sp>
        <p:nvSpPr>
          <p:cNvPr id="24" name="Text 17"/>
          <p:cNvSpPr txBox="1"/>
          <p:nvPr/>
        </p:nvSpPr>
        <p:spPr>
          <a:xfrm>
            <a:off x="859536" y="543153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Cukup bermodal HTML, CSS, dan JavaScript dasar untuk mulai produktif.</a:t>
            </a:r>
            <a:endParaRPr lang="en-US" sz="1200" dirty="0"/>
          </a:p>
        </p:txBody>
      </p:sp>
      <p:sp>
        <p:nvSpPr>
          <p:cNvPr id="25" name="Shape 18"/>
          <p:cNvSpPr/>
          <p:nvPr/>
        </p:nvSpPr>
        <p:spPr>
          <a:xfrm>
            <a:off x="4334256" y="400507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19"/>
          <p:cNvSpPr/>
          <p:nvPr/>
        </p:nvSpPr>
        <p:spPr>
          <a:xfrm>
            <a:off x="4645152" y="4389120"/>
            <a:ext cx="512064" cy="512064"/>
          </a:xfrm>
          <a:prstGeom prst="ellipse">
            <a:avLst/>
          </a:prstGeom>
          <a:solidFill>
            <a:srgbClr val="42B883"/>
          </a:solidFill>
          <a:ln w="12700">
            <a:solidFill>
              <a:srgbClr val="42B883"/>
            </a:solidFill>
            <a:prstDash val="solid"/>
          </a:ln>
        </p:spPr>
      </p:sp>
      <p:pic>
        <p:nvPicPr>
          <p:cNvPr id="27" name="Image 5" descr="preencoded.png">    </p:cNvPr>
          <p:cNvPicPr>
            <a:picLocks noChangeAspect="1"/>
          </p:cNvPicPr>
          <p:nvPr/>
        </p:nvPicPr>
        <p:blipFill>
          <a:blip r:embed="rId6"/>
          <a:stretch>
            <a:fillRect/>
          </a:stretch>
        </p:blipFill>
        <p:spPr>
          <a:xfrm>
            <a:off x="4788530" y="4532498"/>
            <a:ext cx="225308" cy="225308"/>
          </a:xfrm>
          <a:prstGeom prst="rect">
            <a:avLst/>
          </a:prstGeom>
        </p:spPr>
      </p:pic>
      <p:sp>
        <p:nvSpPr>
          <p:cNvPr id="28" name="Text 20"/>
          <p:cNvSpPr txBox="1"/>
          <p:nvPr/>
        </p:nvSpPr>
        <p:spPr>
          <a:xfrm>
            <a:off x="4645152" y="508406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Ekosistem Resmi</a:t>
            </a:r>
            <a:endParaRPr lang="en-US" sz="1600" dirty="0"/>
          </a:p>
        </p:txBody>
      </p:sp>
      <p:sp>
        <p:nvSpPr>
          <p:cNvPr id="29" name="Text 21"/>
          <p:cNvSpPr txBox="1"/>
          <p:nvPr/>
        </p:nvSpPr>
        <p:spPr>
          <a:xfrm>
            <a:off x="4645152" y="543153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Router, state management, build tool, dan testing didukung tim inti Vue.</a:t>
            </a:r>
            <a:endParaRPr lang="en-US" sz="1200" dirty="0"/>
          </a:p>
        </p:txBody>
      </p:sp>
      <p:sp>
        <p:nvSpPr>
          <p:cNvPr id="30" name="Shape 22"/>
          <p:cNvSpPr/>
          <p:nvPr/>
        </p:nvSpPr>
        <p:spPr>
          <a:xfrm>
            <a:off x="8119872" y="4005072"/>
            <a:ext cx="3493008" cy="2084832"/>
          </a:xfrm>
          <a:prstGeom prst="roundRect">
            <a:avLst>
              <a:gd name="adj" fmla="val 394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1" name="Shape 23"/>
          <p:cNvSpPr/>
          <p:nvPr/>
        </p:nvSpPr>
        <p:spPr>
          <a:xfrm>
            <a:off x="8430768" y="4389120"/>
            <a:ext cx="512064" cy="512064"/>
          </a:xfrm>
          <a:prstGeom prst="ellipse">
            <a:avLst/>
          </a:prstGeom>
          <a:solidFill>
            <a:srgbClr val="E9F5EF"/>
          </a:solidFill>
          <a:ln w="12700">
            <a:solidFill>
              <a:srgbClr val="333333"/>
            </a:solidFill>
            <a:prstDash val="solid"/>
          </a:ln>
        </p:spPr>
      </p:sp>
      <p:pic>
        <p:nvPicPr>
          <p:cNvPr id="32" name="Image 6" descr="preencoded.png">    </p:cNvPr>
          <p:cNvPicPr>
            <a:picLocks noChangeAspect="1"/>
          </p:cNvPicPr>
          <p:nvPr/>
        </p:nvPicPr>
        <p:blipFill>
          <a:blip r:embed="rId7"/>
          <a:stretch>
            <a:fillRect/>
          </a:stretch>
        </p:blipFill>
        <p:spPr>
          <a:xfrm>
            <a:off x="8531352" y="4489704"/>
            <a:ext cx="310896" cy="310896"/>
          </a:xfrm>
          <a:prstGeom prst="rect">
            <a:avLst/>
          </a:prstGeom>
        </p:spPr>
      </p:pic>
      <p:sp>
        <p:nvSpPr>
          <p:cNvPr id="33" name="Text 24"/>
          <p:cNvSpPr txBox="1"/>
          <p:nvPr/>
        </p:nvSpPr>
        <p:spPr>
          <a:xfrm>
            <a:off x="8430768" y="5084064"/>
            <a:ext cx="2871216" cy="292608"/>
          </a:xfrm>
          <a:prstGeom prst="rect">
            <a:avLst/>
          </a:prstGeom>
          <a:noFill/>
          <a:ln/>
        </p:spPr>
        <p:txBody>
          <a:bodyPr wrap="square" lIns="0" tIns="0" rIns="0" bIns="0" rtlCol="0" anchor="ctr"/>
          <a:lstStyle/>
          <a:p>
            <a:pPr indent="0" marL="0">
              <a:buNone/>
            </a:pPr>
            <a:r>
              <a:rPr lang="en-US" sz="1600" b="1" dirty="0">
                <a:solidFill>
                  <a:srgbClr val="35495E"/>
                </a:solidFill>
                <a:latin typeface="Calibri" pitchFamily="34" charset="0"/>
                <a:ea typeface="Calibri" pitchFamily="34" charset="-122"/>
                <a:cs typeface="Calibri" pitchFamily="34" charset="-120"/>
              </a:rPr>
              <a:t>Dukungan TypeScript</a:t>
            </a:r>
            <a:endParaRPr lang="en-US" sz="1600" dirty="0"/>
          </a:p>
        </p:txBody>
      </p:sp>
      <p:sp>
        <p:nvSpPr>
          <p:cNvPr id="34" name="Text 25"/>
          <p:cNvSpPr txBox="1"/>
          <p:nvPr/>
        </p:nvSpPr>
        <p:spPr>
          <a:xfrm>
            <a:off x="8430768" y="5431536"/>
            <a:ext cx="2871216" cy="566928"/>
          </a:xfrm>
          <a:prstGeom prst="rect">
            <a:avLst/>
          </a:prstGeom>
          <a:noFill/>
          <a:ln/>
        </p:spPr>
        <p:txBody>
          <a:bodyPr wrap="square" lIns="0" tIns="0" rIns="0" bIns="0" rtlCol="0" anchor="t"/>
          <a:lstStyle/>
          <a:p>
            <a:pPr indent="0" marL="0">
              <a:lnSpc>
                <a:spcPct val="112000"/>
              </a:lnSpc>
              <a:buNone/>
            </a:pPr>
            <a:r>
              <a:rPr lang="en-US" sz="1200" dirty="0">
                <a:solidFill>
                  <a:srgbClr val="6B7C8C"/>
                </a:solidFill>
                <a:latin typeface="Calibri" pitchFamily="34" charset="0"/>
                <a:ea typeface="Calibri" pitchFamily="34" charset="-122"/>
                <a:cs typeface="Calibri" pitchFamily="34" charset="-120"/>
              </a:rPr>
              <a:t>Vue 3 ditulis dengan TypeScript sehingga type inference bekerja sangat baik.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Vue vs React vs Angular</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Perbandingan tiga framework front-end paling populer saat ini</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587752"/>
                <a:gridCol w="2834640"/>
                <a:gridCol w="2834640"/>
                <a:gridCol w="2834640"/>
              </a:tblGrid>
              <a:tr h="5257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Aspek</a:t>
                      </a:r>
                      <a:endParaRPr lang="en-US" sz="140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35495E"/>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Vue.js</a:t>
                      </a:r>
                      <a:endParaRPr lang="en-US" sz="140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42B88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React</a:t>
                      </a:r>
                      <a:endParaRPr lang="en-US" sz="140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087EA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Angular</a:t>
                      </a:r>
                      <a:endParaRPr lang="en-US" sz="140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C3002F"/>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Tipe</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Framework progresif</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Library UI</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Framework penuh</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Pengembang</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Evan You &amp; komunitas</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Meta (Facebook)</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Google</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Bahasa Template</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HTML + directives</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JSX (JavaScript)</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HTML + directives</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Kurva Belajar</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Landai — paling mudah</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Sedang</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Curam</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Ukuran Bundle</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 34 KB</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 45 KB</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 150 KB</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State Management</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Pinia (resmi)</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Redux/Zustand (pihak ke-3)</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RxJS + Signals</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EDF4F1"/>
                    </a:solidFill>
                  </a:tcPr>
                </a:tc>
              </a:tr>
              <a:tr h="525780">
                <a:tc>
                  <a:txBody>
                    <a:bodyPr/>
                    <a:lstStyle/>
                    <a:p>
                      <a:pPr algn="l" indent="0" marL="0">
                        <a:buNone/>
                      </a:pPr>
                      <a:r>
                        <a:rPr lang="en-US" sz="1250" b="1" dirty="0">
                          <a:solidFill>
                            <a:srgbClr val="35495E"/>
                          </a:solidFill>
                          <a:latin typeface="Calibri" pitchFamily="34" charset="0"/>
                          <a:ea typeface="Calibri" pitchFamily="34" charset="-122"/>
                          <a:cs typeface="Calibri" pitchFamily="34" charset="-120"/>
                        </a:rPr>
                        <a:t>Cocok Untuk</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Proyek kecil sampai besar</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Aplikasi berskala besar</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B7C8C"/>
                          </a:solidFill>
                          <a:latin typeface="Calibri" pitchFamily="34" charset="0"/>
                          <a:ea typeface="Calibri" pitchFamily="34" charset="-122"/>
                          <a:cs typeface="Calibri" pitchFamily="34" charset="-120"/>
                        </a:rPr>
                        <a:t>Aplikasi enterprise</a:t>
                      </a:r>
                      <a:endParaRPr lang="en-US" sz="1250" dirty="0">
                        <a:latin typeface="Calibri" charset="0"/>
                        <a:ea typeface="Calibri" charset="0"/>
                        <a:cs typeface="Calibri" charset="0"/>
                      </a:endParaRPr>
                    </a:p>
                  </a:txBody>
                  <a:tcPr marL="127000" marR="127000" marT="50800" marB="50800" anchor="ctr">
                    <a:lnL w="12700" cap="flat" cmpd="sng" algn="ctr">
                      <a:solidFill>
                        <a:srgbClr val="DCE7E2"/>
                      </a:solidFill>
                      <a:prstDash val="solid"/>
                      <a:round/>
                      <a:headEnd type="none" w="med" len="med"/>
                      <a:tailEnd type="none" w="med" len="med"/>
                    </a:lnL>
                    <a:lnR w="12700" cap="flat" cmpd="sng" algn="ctr">
                      <a:solidFill>
                        <a:srgbClr val="DCE7E2"/>
                      </a:solidFill>
                      <a:prstDash val="solid"/>
                      <a:round/>
                      <a:headEnd type="none" w="med" len="med"/>
                      <a:tailEnd type="none" w="med" len="med"/>
                    </a:lnR>
                    <a:lnT w="12700" cap="flat" cmpd="sng" algn="ctr">
                      <a:solidFill>
                        <a:srgbClr val="DCE7E2"/>
                      </a:solidFill>
                      <a:prstDash val="solid"/>
                      <a:round/>
                      <a:headEnd type="none" w="med" len="med"/>
                      <a:tailEnd type="none" w="med" len="med"/>
                    </a:lnT>
                    <a:lnB w="12700" cap="flat" cmpd="sng" algn="ctr">
                      <a:solidFill>
                        <a:srgbClr val="DCE7E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200" i="1" dirty="0">
                <a:solidFill>
                  <a:srgbClr val="2F9E6E"/>
                </a:solidFill>
                <a:latin typeface="Calibri" pitchFamily="34" charset="0"/>
                <a:ea typeface="Calibri" pitchFamily="34" charset="-122"/>
                <a:cs typeface="Calibri" pitchFamily="34" charset="-120"/>
              </a:rPr>
              <a:t>Ketiganya mampu menyelesaikan masalah yang sama — pemilihan lebih ditentukan kebutuhan tim, skala proyek, dan ekosistem yang dipakai.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Ekosistem Vue.js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Perkakas resmi dan pihak ketiga yang melengkapi pengembangan Vue</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749808" y="1920240"/>
            <a:ext cx="566928" cy="566928"/>
          </a:xfrm>
          <a:prstGeom prst="ellipse">
            <a:avLst/>
          </a:prstGeom>
          <a:solidFill>
            <a:srgbClr val="F1F6F4"/>
          </a:solidFill>
          <a:ln w="12700">
            <a:solidFill>
              <a:srgbClr val="333333"/>
            </a:solidFill>
            <a:prstDash val="solid"/>
          </a:ln>
        </p:spPr>
      </p:sp>
      <p:pic>
        <p:nvPicPr>
          <p:cNvPr id="7" name="Image 1" descr="preencoded.png">    </p:cNvPr>
          <p:cNvPicPr>
            <a:picLocks noChangeAspect="1"/>
          </p:cNvPicPr>
          <p:nvPr/>
        </p:nvPicPr>
        <p:blipFill>
          <a:blip r:embed="rId2"/>
          <a:stretch>
            <a:fillRect/>
          </a:stretch>
        </p:blipFill>
        <p:spPr>
          <a:xfrm>
            <a:off x="877824" y="2048256"/>
            <a:ext cx="310896" cy="310896"/>
          </a:xfrm>
          <a:prstGeom prst="rect">
            <a:avLst/>
          </a:prstGeom>
        </p:spPr>
      </p:pic>
      <p:sp>
        <p:nvSpPr>
          <p:cNvPr id="8" name="Text 4"/>
          <p:cNvSpPr txBox="1"/>
          <p:nvPr/>
        </p:nvSpPr>
        <p:spPr>
          <a:xfrm>
            <a:off x="1426464" y="1847088"/>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Vite</a:t>
            </a:r>
            <a:endParaRPr lang="en-US" sz="1450" dirty="0"/>
          </a:p>
        </p:txBody>
      </p:sp>
      <p:sp>
        <p:nvSpPr>
          <p:cNvPr id="9" name="Text 5"/>
          <p:cNvSpPr txBox="1"/>
          <p:nvPr/>
        </p:nvSpPr>
        <p:spPr>
          <a:xfrm>
            <a:off x="1426464" y="2176272"/>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Build tool &amp; dev server super cepat</a:t>
            </a:r>
            <a:endParaRPr lang="en-US" sz="1100" dirty="0"/>
          </a:p>
        </p:txBody>
      </p:sp>
      <p:sp>
        <p:nvSpPr>
          <p:cNvPr id="10" name="Shape 6"/>
          <p:cNvSpPr/>
          <p:nvPr/>
        </p:nvSpPr>
        <p:spPr>
          <a:xfrm>
            <a:off x="3493008" y="1517904"/>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Shape 7"/>
          <p:cNvSpPr/>
          <p:nvPr/>
        </p:nvSpPr>
        <p:spPr>
          <a:xfrm>
            <a:off x="3694176" y="1920240"/>
            <a:ext cx="566928" cy="566928"/>
          </a:xfrm>
          <a:prstGeom prst="ellipse">
            <a:avLst/>
          </a:prstGeom>
          <a:solidFill>
            <a:srgbClr val="F1F6F4"/>
          </a:solidFill>
          <a:ln w="12700">
            <a:solidFill>
              <a:srgbClr val="333333"/>
            </a:solidFill>
            <a:prstDash val="solid"/>
          </a:ln>
        </p:spPr>
      </p:sp>
      <p:pic>
        <p:nvPicPr>
          <p:cNvPr id="12" name="Image 2" descr="preencoded.png">    </p:cNvPr>
          <p:cNvPicPr>
            <a:picLocks noChangeAspect="1"/>
          </p:cNvPicPr>
          <p:nvPr/>
        </p:nvPicPr>
        <p:blipFill>
          <a:blip r:embed="rId3"/>
          <a:stretch>
            <a:fillRect/>
          </a:stretch>
        </p:blipFill>
        <p:spPr>
          <a:xfrm>
            <a:off x="3822192" y="2048256"/>
            <a:ext cx="310896" cy="310896"/>
          </a:xfrm>
          <a:prstGeom prst="rect">
            <a:avLst/>
          </a:prstGeom>
        </p:spPr>
      </p:pic>
      <p:sp>
        <p:nvSpPr>
          <p:cNvPr id="13" name="Text 8"/>
          <p:cNvSpPr txBox="1"/>
          <p:nvPr/>
        </p:nvSpPr>
        <p:spPr>
          <a:xfrm>
            <a:off x="4370832" y="1847088"/>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Vue Router</a:t>
            </a:r>
            <a:endParaRPr lang="en-US" sz="1450" dirty="0"/>
          </a:p>
        </p:txBody>
      </p:sp>
      <p:sp>
        <p:nvSpPr>
          <p:cNvPr id="14" name="Text 9"/>
          <p:cNvSpPr txBox="1"/>
          <p:nvPr/>
        </p:nvSpPr>
        <p:spPr>
          <a:xfrm>
            <a:off x="4370832" y="2176272"/>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Routing resmi untuk SPA</a:t>
            </a:r>
            <a:endParaRPr lang="en-US" sz="1100" dirty="0"/>
          </a:p>
        </p:txBody>
      </p:sp>
      <p:sp>
        <p:nvSpPr>
          <p:cNvPr id="15" name="Shape 10"/>
          <p:cNvSpPr/>
          <p:nvPr/>
        </p:nvSpPr>
        <p:spPr>
          <a:xfrm>
            <a:off x="6437376" y="1517904"/>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6" name="Shape 11"/>
          <p:cNvSpPr/>
          <p:nvPr/>
        </p:nvSpPr>
        <p:spPr>
          <a:xfrm>
            <a:off x="6638544" y="1920240"/>
            <a:ext cx="566928" cy="566928"/>
          </a:xfrm>
          <a:prstGeom prst="ellipse">
            <a:avLst/>
          </a:prstGeom>
          <a:solidFill>
            <a:srgbClr val="F1F6F4"/>
          </a:solidFill>
          <a:ln w="12700">
            <a:solidFill>
              <a:srgbClr val="333333"/>
            </a:solidFill>
            <a:prstDash val="solid"/>
          </a:ln>
        </p:spPr>
      </p:sp>
      <p:pic>
        <p:nvPicPr>
          <p:cNvPr id="17" name="Image 3" descr="preencoded.png">    </p:cNvPr>
          <p:cNvPicPr>
            <a:picLocks noChangeAspect="1"/>
          </p:cNvPicPr>
          <p:nvPr/>
        </p:nvPicPr>
        <p:blipFill>
          <a:blip r:embed="rId4"/>
          <a:stretch>
            <a:fillRect/>
          </a:stretch>
        </p:blipFill>
        <p:spPr>
          <a:xfrm>
            <a:off x="6766560" y="2048256"/>
            <a:ext cx="310896" cy="310896"/>
          </a:xfrm>
          <a:prstGeom prst="rect">
            <a:avLst/>
          </a:prstGeom>
        </p:spPr>
      </p:pic>
      <p:sp>
        <p:nvSpPr>
          <p:cNvPr id="18" name="Text 12"/>
          <p:cNvSpPr txBox="1"/>
          <p:nvPr/>
        </p:nvSpPr>
        <p:spPr>
          <a:xfrm>
            <a:off x="7315200" y="1847088"/>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Pinia</a:t>
            </a:r>
            <a:endParaRPr lang="en-US" sz="1450" dirty="0"/>
          </a:p>
        </p:txBody>
      </p:sp>
      <p:sp>
        <p:nvSpPr>
          <p:cNvPr id="19" name="Text 13"/>
          <p:cNvSpPr txBox="1"/>
          <p:nvPr/>
        </p:nvSpPr>
        <p:spPr>
          <a:xfrm>
            <a:off x="7315200" y="2176272"/>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State management resmi Vue 3</a:t>
            </a:r>
            <a:endParaRPr lang="en-US" sz="1100" dirty="0"/>
          </a:p>
        </p:txBody>
      </p:sp>
      <p:sp>
        <p:nvSpPr>
          <p:cNvPr id="20" name="Shape 14"/>
          <p:cNvSpPr/>
          <p:nvPr/>
        </p:nvSpPr>
        <p:spPr>
          <a:xfrm>
            <a:off x="9381744" y="1517904"/>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1" name="Shape 15"/>
          <p:cNvSpPr/>
          <p:nvPr/>
        </p:nvSpPr>
        <p:spPr>
          <a:xfrm>
            <a:off x="9582912" y="1920240"/>
            <a:ext cx="566928" cy="566928"/>
          </a:xfrm>
          <a:prstGeom prst="ellipse">
            <a:avLst/>
          </a:prstGeom>
          <a:solidFill>
            <a:srgbClr val="F1F6F4"/>
          </a:solidFill>
          <a:ln w="12700">
            <a:solidFill>
              <a:srgbClr val="333333"/>
            </a:solidFill>
            <a:prstDash val="solid"/>
          </a:ln>
        </p:spPr>
      </p:sp>
      <p:pic>
        <p:nvPicPr>
          <p:cNvPr id="22" name="Image 4" descr="preencoded.png">    </p:cNvPr>
          <p:cNvPicPr>
            <a:picLocks noChangeAspect="1"/>
          </p:cNvPicPr>
          <p:nvPr/>
        </p:nvPicPr>
        <p:blipFill>
          <a:blip r:embed="rId5"/>
          <a:stretch>
            <a:fillRect/>
          </a:stretch>
        </p:blipFill>
        <p:spPr>
          <a:xfrm>
            <a:off x="9710928" y="2048256"/>
            <a:ext cx="310896" cy="310896"/>
          </a:xfrm>
          <a:prstGeom prst="rect">
            <a:avLst/>
          </a:prstGeom>
        </p:spPr>
      </p:pic>
      <p:sp>
        <p:nvSpPr>
          <p:cNvPr id="23" name="Text 16"/>
          <p:cNvSpPr txBox="1"/>
          <p:nvPr/>
        </p:nvSpPr>
        <p:spPr>
          <a:xfrm>
            <a:off x="10259568" y="1847088"/>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Nuxt</a:t>
            </a:r>
            <a:endParaRPr lang="en-US" sz="1450" dirty="0"/>
          </a:p>
        </p:txBody>
      </p:sp>
      <p:sp>
        <p:nvSpPr>
          <p:cNvPr id="24" name="Text 17"/>
          <p:cNvSpPr txBox="1"/>
          <p:nvPr/>
        </p:nvSpPr>
        <p:spPr>
          <a:xfrm>
            <a:off x="10259568" y="2176272"/>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Meta-framework SSR &amp; SSG</a:t>
            </a:r>
            <a:endParaRPr lang="en-US" sz="1100" dirty="0"/>
          </a:p>
        </p:txBody>
      </p:sp>
      <p:sp>
        <p:nvSpPr>
          <p:cNvPr id="25" name="Shape 18"/>
          <p:cNvSpPr/>
          <p:nvPr/>
        </p:nvSpPr>
        <p:spPr>
          <a:xfrm>
            <a:off x="548640" y="3182112"/>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19"/>
          <p:cNvSpPr/>
          <p:nvPr/>
        </p:nvSpPr>
        <p:spPr>
          <a:xfrm>
            <a:off x="749808" y="3584448"/>
            <a:ext cx="566928" cy="566928"/>
          </a:xfrm>
          <a:prstGeom prst="ellipse">
            <a:avLst/>
          </a:prstGeom>
          <a:solidFill>
            <a:srgbClr val="F1F6F4"/>
          </a:solidFill>
          <a:ln w="12700">
            <a:solidFill>
              <a:srgbClr val="333333"/>
            </a:solidFill>
            <a:prstDash val="solid"/>
          </a:ln>
        </p:spPr>
      </p:sp>
      <p:pic>
        <p:nvPicPr>
          <p:cNvPr id="27" name="Image 5" descr="preencoded.png">    </p:cNvPr>
          <p:cNvPicPr>
            <a:picLocks noChangeAspect="1"/>
          </p:cNvPicPr>
          <p:nvPr/>
        </p:nvPicPr>
        <p:blipFill>
          <a:blip r:embed="rId6"/>
          <a:stretch>
            <a:fillRect/>
          </a:stretch>
        </p:blipFill>
        <p:spPr>
          <a:xfrm>
            <a:off x="877824" y="3712464"/>
            <a:ext cx="310896" cy="310896"/>
          </a:xfrm>
          <a:prstGeom prst="rect">
            <a:avLst/>
          </a:prstGeom>
        </p:spPr>
      </p:pic>
      <p:sp>
        <p:nvSpPr>
          <p:cNvPr id="28" name="Text 20"/>
          <p:cNvSpPr txBox="1"/>
          <p:nvPr/>
        </p:nvSpPr>
        <p:spPr>
          <a:xfrm>
            <a:off x="1426464" y="3511296"/>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Vitest</a:t>
            </a:r>
            <a:endParaRPr lang="en-US" sz="1450" dirty="0"/>
          </a:p>
        </p:txBody>
      </p:sp>
      <p:sp>
        <p:nvSpPr>
          <p:cNvPr id="29" name="Text 21"/>
          <p:cNvSpPr txBox="1"/>
          <p:nvPr/>
        </p:nvSpPr>
        <p:spPr>
          <a:xfrm>
            <a:off x="1426464" y="3840480"/>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Unit testing berbasis Vite</a:t>
            </a:r>
            <a:endParaRPr lang="en-US" sz="1100" dirty="0"/>
          </a:p>
        </p:txBody>
      </p:sp>
      <p:sp>
        <p:nvSpPr>
          <p:cNvPr id="30" name="Shape 22"/>
          <p:cNvSpPr/>
          <p:nvPr/>
        </p:nvSpPr>
        <p:spPr>
          <a:xfrm>
            <a:off x="3493008" y="3182112"/>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1" name="Shape 23"/>
          <p:cNvSpPr/>
          <p:nvPr/>
        </p:nvSpPr>
        <p:spPr>
          <a:xfrm>
            <a:off x="3694176" y="3584448"/>
            <a:ext cx="566928" cy="566928"/>
          </a:xfrm>
          <a:prstGeom prst="ellipse">
            <a:avLst/>
          </a:prstGeom>
          <a:solidFill>
            <a:srgbClr val="F1F6F4"/>
          </a:solidFill>
          <a:ln w="12700">
            <a:solidFill>
              <a:srgbClr val="333333"/>
            </a:solidFill>
            <a:prstDash val="solid"/>
          </a:ln>
        </p:spPr>
      </p:sp>
      <p:pic>
        <p:nvPicPr>
          <p:cNvPr id="32" name="Image 6" descr="preencoded.png">    </p:cNvPr>
          <p:cNvPicPr>
            <a:picLocks noChangeAspect="1"/>
          </p:cNvPicPr>
          <p:nvPr/>
        </p:nvPicPr>
        <p:blipFill>
          <a:blip r:embed="rId7"/>
          <a:stretch>
            <a:fillRect/>
          </a:stretch>
        </p:blipFill>
        <p:spPr>
          <a:xfrm>
            <a:off x="3822192" y="3712464"/>
            <a:ext cx="310896" cy="310896"/>
          </a:xfrm>
          <a:prstGeom prst="rect">
            <a:avLst/>
          </a:prstGeom>
        </p:spPr>
      </p:pic>
      <p:sp>
        <p:nvSpPr>
          <p:cNvPr id="33" name="Text 24"/>
          <p:cNvSpPr txBox="1"/>
          <p:nvPr/>
        </p:nvSpPr>
        <p:spPr>
          <a:xfrm>
            <a:off x="4370832" y="3511296"/>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VueUse</a:t>
            </a:r>
            <a:endParaRPr lang="en-US" sz="1450" dirty="0"/>
          </a:p>
        </p:txBody>
      </p:sp>
      <p:sp>
        <p:nvSpPr>
          <p:cNvPr id="34" name="Text 25"/>
          <p:cNvSpPr txBox="1"/>
          <p:nvPr/>
        </p:nvSpPr>
        <p:spPr>
          <a:xfrm>
            <a:off x="4370832" y="3840480"/>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Kumpulan composables siap pakai</a:t>
            </a:r>
            <a:endParaRPr lang="en-US" sz="1100" dirty="0"/>
          </a:p>
        </p:txBody>
      </p:sp>
      <p:sp>
        <p:nvSpPr>
          <p:cNvPr id="35" name="Shape 26"/>
          <p:cNvSpPr/>
          <p:nvPr/>
        </p:nvSpPr>
        <p:spPr>
          <a:xfrm>
            <a:off x="6437376" y="3182112"/>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6" name="Shape 27"/>
          <p:cNvSpPr/>
          <p:nvPr/>
        </p:nvSpPr>
        <p:spPr>
          <a:xfrm>
            <a:off x="6638544" y="3584448"/>
            <a:ext cx="566928" cy="566928"/>
          </a:xfrm>
          <a:prstGeom prst="ellipse">
            <a:avLst/>
          </a:prstGeom>
          <a:solidFill>
            <a:srgbClr val="F1F6F4"/>
          </a:solidFill>
          <a:ln w="12700">
            <a:solidFill>
              <a:srgbClr val="333333"/>
            </a:solidFill>
            <a:prstDash val="solid"/>
          </a:ln>
        </p:spPr>
      </p:sp>
      <p:pic>
        <p:nvPicPr>
          <p:cNvPr id="37" name="Image 7" descr="preencoded.png">    </p:cNvPr>
          <p:cNvPicPr>
            <a:picLocks noChangeAspect="1"/>
          </p:cNvPicPr>
          <p:nvPr/>
        </p:nvPicPr>
        <p:blipFill>
          <a:blip r:embed="rId8"/>
          <a:stretch>
            <a:fillRect/>
          </a:stretch>
        </p:blipFill>
        <p:spPr>
          <a:xfrm>
            <a:off x="6766560" y="3712464"/>
            <a:ext cx="310896" cy="310896"/>
          </a:xfrm>
          <a:prstGeom prst="rect">
            <a:avLst/>
          </a:prstGeom>
        </p:spPr>
      </p:pic>
      <p:sp>
        <p:nvSpPr>
          <p:cNvPr id="38" name="Text 28"/>
          <p:cNvSpPr txBox="1"/>
          <p:nvPr/>
        </p:nvSpPr>
        <p:spPr>
          <a:xfrm>
            <a:off x="7315200" y="3511296"/>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Vuetify</a:t>
            </a:r>
            <a:endParaRPr lang="en-US" sz="1450" dirty="0"/>
          </a:p>
        </p:txBody>
      </p:sp>
      <p:sp>
        <p:nvSpPr>
          <p:cNvPr id="39" name="Text 29"/>
          <p:cNvSpPr txBox="1"/>
          <p:nvPr/>
        </p:nvSpPr>
        <p:spPr>
          <a:xfrm>
            <a:off x="7315200" y="3840480"/>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Library komponen Material Design</a:t>
            </a:r>
            <a:endParaRPr lang="en-US" sz="1100" dirty="0"/>
          </a:p>
        </p:txBody>
      </p:sp>
      <p:sp>
        <p:nvSpPr>
          <p:cNvPr id="40" name="Shape 30"/>
          <p:cNvSpPr/>
          <p:nvPr/>
        </p:nvSpPr>
        <p:spPr>
          <a:xfrm>
            <a:off x="9381744" y="3182112"/>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1" name="Shape 31"/>
          <p:cNvSpPr/>
          <p:nvPr/>
        </p:nvSpPr>
        <p:spPr>
          <a:xfrm>
            <a:off x="9582912" y="3584448"/>
            <a:ext cx="566928" cy="566928"/>
          </a:xfrm>
          <a:prstGeom prst="ellipse">
            <a:avLst/>
          </a:prstGeom>
          <a:solidFill>
            <a:srgbClr val="F1F6F4"/>
          </a:solidFill>
          <a:ln w="12700">
            <a:solidFill>
              <a:srgbClr val="333333"/>
            </a:solidFill>
            <a:prstDash val="solid"/>
          </a:ln>
        </p:spPr>
      </p:sp>
      <p:pic>
        <p:nvPicPr>
          <p:cNvPr id="42" name="Image 8" descr="preencoded.png">    </p:cNvPr>
          <p:cNvPicPr>
            <a:picLocks noChangeAspect="1"/>
          </p:cNvPicPr>
          <p:nvPr/>
        </p:nvPicPr>
        <p:blipFill>
          <a:blip r:embed="rId9"/>
          <a:stretch>
            <a:fillRect/>
          </a:stretch>
        </p:blipFill>
        <p:spPr>
          <a:xfrm>
            <a:off x="9710928" y="3712464"/>
            <a:ext cx="310896" cy="310896"/>
          </a:xfrm>
          <a:prstGeom prst="rect">
            <a:avLst/>
          </a:prstGeom>
        </p:spPr>
      </p:pic>
      <p:sp>
        <p:nvSpPr>
          <p:cNvPr id="43" name="Text 32"/>
          <p:cNvSpPr txBox="1"/>
          <p:nvPr/>
        </p:nvSpPr>
        <p:spPr>
          <a:xfrm>
            <a:off x="10259568" y="3511296"/>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Axios</a:t>
            </a:r>
            <a:endParaRPr lang="en-US" sz="1450" dirty="0"/>
          </a:p>
        </p:txBody>
      </p:sp>
      <p:sp>
        <p:nvSpPr>
          <p:cNvPr id="44" name="Text 33"/>
          <p:cNvSpPr txBox="1"/>
          <p:nvPr/>
        </p:nvSpPr>
        <p:spPr>
          <a:xfrm>
            <a:off x="10259568" y="3840480"/>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HTTP client untuk konsumsi API</a:t>
            </a:r>
            <a:endParaRPr lang="en-US" sz="1100" dirty="0"/>
          </a:p>
        </p:txBody>
      </p:sp>
      <p:sp>
        <p:nvSpPr>
          <p:cNvPr id="45" name="Shape 34"/>
          <p:cNvSpPr/>
          <p:nvPr/>
        </p:nvSpPr>
        <p:spPr>
          <a:xfrm>
            <a:off x="548640" y="4846320"/>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6" name="Shape 35"/>
          <p:cNvSpPr/>
          <p:nvPr/>
        </p:nvSpPr>
        <p:spPr>
          <a:xfrm>
            <a:off x="749808" y="5248656"/>
            <a:ext cx="566928" cy="566928"/>
          </a:xfrm>
          <a:prstGeom prst="ellipse">
            <a:avLst/>
          </a:prstGeom>
          <a:solidFill>
            <a:srgbClr val="F1F6F4"/>
          </a:solidFill>
          <a:ln w="12700">
            <a:solidFill>
              <a:srgbClr val="333333"/>
            </a:solidFill>
            <a:prstDash val="solid"/>
          </a:ln>
        </p:spPr>
      </p:sp>
      <p:pic>
        <p:nvPicPr>
          <p:cNvPr id="47" name="Image 9" descr="preencoded.png">    </p:cNvPr>
          <p:cNvPicPr>
            <a:picLocks noChangeAspect="1"/>
          </p:cNvPicPr>
          <p:nvPr/>
        </p:nvPicPr>
        <p:blipFill>
          <a:blip r:embed="rId10"/>
          <a:stretch>
            <a:fillRect/>
          </a:stretch>
        </p:blipFill>
        <p:spPr>
          <a:xfrm>
            <a:off x="877824" y="5376672"/>
            <a:ext cx="310896" cy="310896"/>
          </a:xfrm>
          <a:prstGeom prst="rect">
            <a:avLst/>
          </a:prstGeom>
        </p:spPr>
      </p:pic>
      <p:sp>
        <p:nvSpPr>
          <p:cNvPr id="48" name="Text 36"/>
          <p:cNvSpPr txBox="1"/>
          <p:nvPr/>
        </p:nvSpPr>
        <p:spPr>
          <a:xfrm>
            <a:off x="1426464" y="5175504"/>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Tailwind CSS</a:t>
            </a:r>
            <a:endParaRPr lang="en-US" sz="1450" dirty="0"/>
          </a:p>
        </p:txBody>
      </p:sp>
      <p:sp>
        <p:nvSpPr>
          <p:cNvPr id="49" name="Text 37"/>
          <p:cNvSpPr txBox="1"/>
          <p:nvPr/>
        </p:nvSpPr>
        <p:spPr>
          <a:xfrm>
            <a:off x="1426464" y="5504688"/>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Utility-first CSS framework</a:t>
            </a:r>
            <a:endParaRPr lang="en-US" sz="1100" dirty="0"/>
          </a:p>
        </p:txBody>
      </p:sp>
      <p:sp>
        <p:nvSpPr>
          <p:cNvPr id="50" name="Shape 38"/>
          <p:cNvSpPr/>
          <p:nvPr/>
        </p:nvSpPr>
        <p:spPr>
          <a:xfrm>
            <a:off x="3493008" y="4846320"/>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51" name="Shape 39"/>
          <p:cNvSpPr/>
          <p:nvPr/>
        </p:nvSpPr>
        <p:spPr>
          <a:xfrm>
            <a:off x="3694176" y="5248656"/>
            <a:ext cx="566928" cy="566928"/>
          </a:xfrm>
          <a:prstGeom prst="ellipse">
            <a:avLst/>
          </a:prstGeom>
          <a:solidFill>
            <a:srgbClr val="F1F6F4"/>
          </a:solidFill>
          <a:ln w="12700">
            <a:solidFill>
              <a:srgbClr val="333333"/>
            </a:solidFill>
            <a:prstDash val="solid"/>
          </a:ln>
        </p:spPr>
      </p:sp>
      <p:pic>
        <p:nvPicPr>
          <p:cNvPr id="52" name="Image 10" descr="preencoded.png">    </p:cNvPr>
          <p:cNvPicPr>
            <a:picLocks noChangeAspect="1"/>
          </p:cNvPicPr>
          <p:nvPr/>
        </p:nvPicPr>
        <p:blipFill>
          <a:blip r:embed="rId11"/>
          <a:stretch>
            <a:fillRect/>
          </a:stretch>
        </p:blipFill>
        <p:spPr>
          <a:xfrm>
            <a:off x="3822192" y="5376672"/>
            <a:ext cx="310896" cy="310896"/>
          </a:xfrm>
          <a:prstGeom prst="rect">
            <a:avLst/>
          </a:prstGeom>
        </p:spPr>
      </p:pic>
      <p:sp>
        <p:nvSpPr>
          <p:cNvPr id="53" name="Text 40"/>
          <p:cNvSpPr txBox="1"/>
          <p:nvPr/>
        </p:nvSpPr>
        <p:spPr>
          <a:xfrm>
            <a:off x="4370832" y="5175504"/>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VitePress</a:t>
            </a:r>
            <a:endParaRPr lang="en-US" sz="1450" dirty="0"/>
          </a:p>
        </p:txBody>
      </p:sp>
      <p:sp>
        <p:nvSpPr>
          <p:cNvPr id="54" name="Text 41"/>
          <p:cNvSpPr txBox="1"/>
          <p:nvPr/>
        </p:nvSpPr>
        <p:spPr>
          <a:xfrm>
            <a:off x="4370832" y="5504688"/>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Generator situs dokumentasi</a:t>
            </a:r>
            <a:endParaRPr lang="en-US" sz="1100" dirty="0"/>
          </a:p>
        </p:txBody>
      </p:sp>
      <p:sp>
        <p:nvSpPr>
          <p:cNvPr id="55" name="Shape 42"/>
          <p:cNvSpPr/>
          <p:nvPr/>
        </p:nvSpPr>
        <p:spPr>
          <a:xfrm>
            <a:off x="6437376" y="4846320"/>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56" name="Shape 43"/>
          <p:cNvSpPr/>
          <p:nvPr/>
        </p:nvSpPr>
        <p:spPr>
          <a:xfrm>
            <a:off x="6638544" y="5248656"/>
            <a:ext cx="566928" cy="566928"/>
          </a:xfrm>
          <a:prstGeom prst="ellipse">
            <a:avLst/>
          </a:prstGeom>
          <a:solidFill>
            <a:srgbClr val="F1F6F4"/>
          </a:solidFill>
          <a:ln w="12700">
            <a:solidFill>
              <a:srgbClr val="333333"/>
            </a:solidFill>
            <a:prstDash val="solid"/>
          </a:ln>
        </p:spPr>
      </p:sp>
      <p:pic>
        <p:nvPicPr>
          <p:cNvPr id="57" name="Image 11" descr="preencoded.png">    </p:cNvPr>
          <p:cNvPicPr>
            <a:picLocks noChangeAspect="1"/>
          </p:cNvPicPr>
          <p:nvPr/>
        </p:nvPicPr>
        <p:blipFill>
          <a:blip r:embed="rId12"/>
          <a:stretch>
            <a:fillRect/>
          </a:stretch>
        </p:blipFill>
        <p:spPr>
          <a:xfrm>
            <a:off x="6766560" y="5376672"/>
            <a:ext cx="310896" cy="310896"/>
          </a:xfrm>
          <a:prstGeom prst="rect">
            <a:avLst/>
          </a:prstGeom>
        </p:spPr>
      </p:pic>
      <p:sp>
        <p:nvSpPr>
          <p:cNvPr id="58" name="Text 44"/>
          <p:cNvSpPr txBox="1"/>
          <p:nvPr/>
        </p:nvSpPr>
        <p:spPr>
          <a:xfrm>
            <a:off x="7315200" y="5175504"/>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ESLint</a:t>
            </a:r>
            <a:endParaRPr lang="en-US" sz="1450" dirty="0"/>
          </a:p>
        </p:txBody>
      </p:sp>
      <p:sp>
        <p:nvSpPr>
          <p:cNvPr id="59" name="Text 45"/>
          <p:cNvSpPr txBox="1"/>
          <p:nvPr/>
        </p:nvSpPr>
        <p:spPr>
          <a:xfrm>
            <a:off x="7315200" y="5504688"/>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Linting &amp; standar penulisan kode</a:t>
            </a:r>
            <a:endParaRPr lang="en-US" sz="1100" dirty="0"/>
          </a:p>
        </p:txBody>
      </p:sp>
      <p:sp>
        <p:nvSpPr>
          <p:cNvPr id="60" name="Shape 46"/>
          <p:cNvSpPr/>
          <p:nvPr/>
        </p:nvSpPr>
        <p:spPr>
          <a:xfrm>
            <a:off x="9381744" y="4846320"/>
            <a:ext cx="26791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1" name="Shape 47"/>
          <p:cNvSpPr/>
          <p:nvPr/>
        </p:nvSpPr>
        <p:spPr>
          <a:xfrm>
            <a:off x="9582912" y="5248656"/>
            <a:ext cx="566928" cy="566928"/>
          </a:xfrm>
          <a:prstGeom prst="ellipse">
            <a:avLst/>
          </a:prstGeom>
          <a:solidFill>
            <a:srgbClr val="F1F6F4"/>
          </a:solidFill>
          <a:ln w="12700">
            <a:solidFill>
              <a:srgbClr val="333333"/>
            </a:solidFill>
            <a:prstDash val="solid"/>
          </a:ln>
        </p:spPr>
      </p:sp>
      <p:pic>
        <p:nvPicPr>
          <p:cNvPr id="62" name="Image 12" descr="preencoded.png">    </p:cNvPr>
          <p:cNvPicPr>
            <a:picLocks noChangeAspect="1"/>
          </p:cNvPicPr>
          <p:nvPr/>
        </p:nvPicPr>
        <p:blipFill>
          <a:blip r:embed="rId13"/>
          <a:stretch>
            <a:fillRect/>
          </a:stretch>
        </p:blipFill>
        <p:spPr>
          <a:xfrm>
            <a:off x="9710928" y="5376672"/>
            <a:ext cx="310896" cy="310896"/>
          </a:xfrm>
          <a:prstGeom prst="rect">
            <a:avLst/>
          </a:prstGeom>
        </p:spPr>
      </p:pic>
      <p:sp>
        <p:nvSpPr>
          <p:cNvPr id="63" name="Text 48"/>
          <p:cNvSpPr txBox="1"/>
          <p:nvPr/>
        </p:nvSpPr>
        <p:spPr>
          <a:xfrm>
            <a:off x="10259568" y="5175504"/>
            <a:ext cx="1636776" cy="292608"/>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TypeScript</a:t>
            </a:r>
            <a:endParaRPr lang="en-US" sz="1450" dirty="0"/>
          </a:p>
        </p:txBody>
      </p:sp>
      <p:sp>
        <p:nvSpPr>
          <p:cNvPr id="64" name="Text 49"/>
          <p:cNvSpPr txBox="1"/>
          <p:nvPr/>
        </p:nvSpPr>
        <p:spPr>
          <a:xfrm>
            <a:off x="10259568" y="5504688"/>
            <a:ext cx="1655064" cy="53035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Static typing untuk kode Vue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366760" y="1143000"/>
            <a:ext cx="4480560" cy="448056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01200" y="2514600"/>
            <a:ext cx="2011680" cy="1737360"/>
          </a:xfrm>
          <a:prstGeom prst="rect">
            <a:avLst/>
          </a:prstGeom>
        </p:spPr>
      </p:pic>
      <p:sp>
        <p:nvSpPr>
          <p:cNvPr id="4" name="Text 1"/>
          <p:cNvSpPr txBox="1"/>
          <p:nvPr/>
        </p:nvSpPr>
        <p:spPr>
          <a:xfrm>
            <a:off x="822960" y="1554480"/>
            <a:ext cx="2194560" cy="1463040"/>
          </a:xfrm>
          <a:prstGeom prst="rect">
            <a:avLst/>
          </a:prstGeom>
          <a:noFill/>
          <a:ln/>
        </p:spPr>
        <p:txBody>
          <a:bodyPr wrap="square" lIns="0" tIns="0" rIns="0" bIns="0" rtlCol="0" anchor="ctr"/>
          <a:lstStyle/>
          <a:p>
            <a:pPr indent="0" marL="0">
              <a:buNone/>
            </a:pPr>
            <a:r>
              <a:rPr lang="en-US" sz="10000" b="1" dirty="0">
                <a:solidFill>
                  <a:srgbClr val="42B883"/>
                </a:solidFill>
                <a:latin typeface="Calibri" pitchFamily="34" charset="0"/>
                <a:ea typeface="Calibri" pitchFamily="34" charset="-122"/>
                <a:cs typeface="Calibri" pitchFamily="34" charset="-120"/>
              </a:rPr>
              <a:t>02</a:t>
            </a:r>
            <a:endParaRPr lang="en-US" sz="10000" dirty="0"/>
          </a:p>
        </p:txBody>
      </p:sp>
      <p:sp>
        <p:nvSpPr>
          <p:cNvPr id="5" name="Text 2"/>
          <p:cNvSpPr txBox="1"/>
          <p:nvPr/>
        </p:nvSpPr>
        <p:spPr>
          <a:xfrm>
            <a:off x="822960" y="3127248"/>
            <a:ext cx="722376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Memulai Proyek Vue</a:t>
            </a:r>
            <a:endParaRPr lang="en-US" sz="4000" dirty="0"/>
          </a:p>
        </p:txBody>
      </p:sp>
      <p:sp>
        <p:nvSpPr>
          <p:cNvPr id="6" name="Text 3"/>
          <p:cNvSpPr txBox="1"/>
          <p:nvPr/>
        </p:nvSpPr>
        <p:spPr>
          <a:xfrm>
            <a:off x="822960" y="3977640"/>
            <a:ext cx="6949440" cy="777240"/>
          </a:xfrm>
          <a:prstGeom prst="rect">
            <a:avLst/>
          </a:prstGeom>
          <a:noFill/>
          <a:ln/>
        </p:spPr>
        <p:txBody>
          <a:bodyPr wrap="square" lIns="0" tIns="0" rIns="0" bIns="0" rtlCol="0" anchor="t"/>
          <a:lstStyle/>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Instalasi, struktur folder, anatomi komponen,</a:t>
            </a:r>
            <a:endParaRPr lang="en-US" sz="1500" dirty="0"/>
          </a:p>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serta perbedaan Options API dan Composition API.</a:t>
            </a:r>
            <a:endParaRPr lang="en-US" sz="1500" dirty="0"/>
          </a:p>
        </p:txBody>
      </p:sp>
      <p:sp>
        <p:nvSpPr>
          <p:cNvPr id="7" name="Shape 4"/>
          <p:cNvSpPr/>
          <p:nvPr/>
        </p:nvSpPr>
        <p:spPr>
          <a:xfrm>
            <a:off x="822960" y="4983480"/>
            <a:ext cx="566928" cy="566928"/>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981700" y="5142220"/>
            <a:ext cx="249448" cy="2494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Instalasi &amp; Setup Proyek</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Dua cara memakai Vue sesuai kebutuhan proyek</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63040"/>
            <a:ext cx="5394960" cy="4864608"/>
          </a:xfrm>
          <a:prstGeom prst="roundRect">
            <a:avLst>
              <a:gd name="adj" fmla="val 169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841248" y="1691640"/>
            <a:ext cx="411480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CARA 1 · VIA CDN</a:t>
            </a:r>
            <a:endParaRPr lang="en-US" sz="1200" dirty="0"/>
          </a:p>
        </p:txBody>
      </p:sp>
      <p:sp>
        <p:nvSpPr>
          <p:cNvPr id="7" name="Text 4"/>
          <p:cNvSpPr txBox="1"/>
          <p:nvPr/>
        </p:nvSpPr>
        <p:spPr>
          <a:xfrm>
            <a:off x="841248" y="1938528"/>
            <a:ext cx="4846320" cy="256032"/>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Cocok untuk belajar &amp; halaman sederhana</a:t>
            </a:r>
            <a:endParaRPr lang="en-US" sz="1200" dirty="0"/>
          </a:p>
        </p:txBody>
      </p:sp>
      <p:sp>
        <p:nvSpPr>
          <p:cNvPr id="8" name="Shape 5"/>
          <p:cNvSpPr/>
          <p:nvPr/>
        </p:nvSpPr>
        <p:spPr>
          <a:xfrm>
            <a:off x="841248" y="2267712"/>
            <a:ext cx="4809744" cy="2965902"/>
          </a:xfrm>
          <a:prstGeom prst="roundRect">
            <a:avLst>
              <a:gd name="adj" fmla="val 2158"/>
            </a:avLst>
          </a:prstGeom>
          <a:solidFill>
            <a:srgbClr val="253340"/>
          </a:solidFill>
          <a:ln w="12700">
            <a:solidFill>
              <a:srgbClr val="253340"/>
            </a:solidFill>
            <a:prstDash val="solid"/>
          </a:ln>
        </p:spPr>
      </p:sp>
      <p:sp>
        <p:nvSpPr>
          <p:cNvPr id="9" name="Text 6"/>
          <p:cNvSpPr txBox="1"/>
          <p:nvPr/>
        </p:nvSpPr>
        <p:spPr>
          <a:xfrm>
            <a:off x="969264" y="2386584"/>
            <a:ext cx="4553712" cy="2728158"/>
          </a:xfrm>
          <a:prstGeom prst="rect">
            <a:avLst/>
          </a:prstGeom>
          <a:noFill/>
          <a:ln/>
        </p:spPr>
        <p:txBody>
          <a:bodyPr wrap="square" lIns="0" tIns="0" rIns="0" bIns="0" rtlCol="0" anchor="t"/>
          <a:lstStyle/>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&lt;!DOCTYPE html&gt;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&lt;div id="app"&gt;{{ pesan }}&lt;/div&gt;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&lt;script type="module"&gt;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import { createApp, ref } from</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"https://unpkg.com/vue@3/dist/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vue.esm-browser.js";</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createApp({</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setup()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const pesan = ref("Halo Vue!");</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return { pesan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}).mount("#app");</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&lt;/script&gt;</a:t>
            </a:r>
            <a:endParaRPr lang="en-US" sz="1150" dirty="0"/>
          </a:p>
        </p:txBody>
      </p:sp>
      <p:sp>
        <p:nvSpPr>
          <p:cNvPr id="10" name="Text 7"/>
          <p:cNvSpPr txBox="1"/>
          <p:nvPr/>
        </p:nvSpPr>
        <p:spPr>
          <a:xfrm>
            <a:off x="841248" y="5596128"/>
            <a:ext cx="4809744" cy="548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Tanpa proses build</a:t>
            </a:r>
            <a:endParaRPr lang="en-US" sz="1150" dirty="0"/>
          </a:p>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Tidak mendukung file .vue</a:t>
            </a:r>
            <a:endParaRPr lang="en-US" sz="1150" dirty="0"/>
          </a:p>
        </p:txBody>
      </p:sp>
      <p:sp>
        <p:nvSpPr>
          <p:cNvPr id="11" name="Shape 8"/>
          <p:cNvSpPr/>
          <p:nvPr/>
        </p:nvSpPr>
        <p:spPr>
          <a:xfrm>
            <a:off x="6245352" y="1463040"/>
            <a:ext cx="5394960" cy="4864608"/>
          </a:xfrm>
          <a:prstGeom prst="roundRect">
            <a:avLst>
              <a:gd name="adj" fmla="val 169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Text 9"/>
          <p:cNvSpPr txBox="1"/>
          <p:nvPr/>
        </p:nvSpPr>
        <p:spPr>
          <a:xfrm>
            <a:off x="6537960" y="1691640"/>
            <a:ext cx="411480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CARA 2 · VIA NPM + VITE (REKOMENDASI)</a:t>
            </a:r>
            <a:endParaRPr lang="en-US" sz="1200" dirty="0"/>
          </a:p>
        </p:txBody>
      </p:sp>
      <p:sp>
        <p:nvSpPr>
          <p:cNvPr id="13" name="Text 10"/>
          <p:cNvSpPr txBox="1"/>
          <p:nvPr/>
        </p:nvSpPr>
        <p:spPr>
          <a:xfrm>
            <a:off x="6537960" y="1938528"/>
            <a:ext cx="4846320" cy="256032"/>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Standar untuk aplikasi nyata</a:t>
            </a:r>
            <a:endParaRPr lang="en-US" sz="1200" dirty="0"/>
          </a:p>
        </p:txBody>
      </p:sp>
      <p:sp>
        <p:nvSpPr>
          <p:cNvPr id="14" name="Shape 11"/>
          <p:cNvSpPr/>
          <p:nvPr/>
        </p:nvSpPr>
        <p:spPr>
          <a:xfrm>
            <a:off x="6537960" y="2267712"/>
            <a:ext cx="4809744" cy="2604586"/>
          </a:xfrm>
          <a:prstGeom prst="roundRect">
            <a:avLst>
              <a:gd name="adj" fmla="val 2458"/>
            </a:avLst>
          </a:prstGeom>
          <a:solidFill>
            <a:srgbClr val="253340"/>
          </a:solidFill>
          <a:ln w="12700">
            <a:solidFill>
              <a:srgbClr val="253340"/>
            </a:solidFill>
            <a:prstDash val="solid"/>
          </a:ln>
        </p:spPr>
      </p:sp>
      <p:sp>
        <p:nvSpPr>
          <p:cNvPr id="15" name="Text 12"/>
          <p:cNvSpPr txBox="1"/>
          <p:nvPr/>
        </p:nvSpPr>
        <p:spPr>
          <a:xfrm>
            <a:off x="6665976" y="2386584"/>
            <a:ext cx="4553712" cy="2366842"/>
          </a:xfrm>
          <a:prstGeom prst="rect">
            <a:avLst/>
          </a:prstGeom>
          <a:noFill/>
          <a:ln/>
        </p:spPr>
        <p:txBody>
          <a:bodyPr wrap="square" lIns="0" tIns="0" rIns="0" bIns="0" rtlCol="0" anchor="t"/>
          <a:lstStyle/>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1. Membuat proyek baru</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npm create vue@latest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2. Masuk ke folder proyek</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cd nama-proyek</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3. Pasang dependensi</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npm install</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4. Jalankan dev server</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npm run dev</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 Local: http://localhost:5173/</a:t>
            </a:r>
            <a:endParaRPr lang="en-US" sz="1150" dirty="0"/>
          </a:p>
        </p:txBody>
      </p:sp>
      <p:sp>
        <p:nvSpPr>
          <p:cNvPr id="16" name="Text 13"/>
          <p:cNvSpPr txBox="1"/>
          <p:nvPr/>
        </p:nvSpPr>
        <p:spPr>
          <a:xfrm>
            <a:off x="6537960" y="5596128"/>
            <a:ext cx="4809744" cy="548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Hot Module Replacement instan</a:t>
            </a:r>
            <a:endParaRPr lang="en-US" sz="1150" dirty="0"/>
          </a:p>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Mendukung SFC, router, Pinia, TypeScript</a:t>
            </a:r>
            <a:endParaRPr lang="en-US" sz="1150" dirty="0"/>
          </a:p>
        </p:txBody>
      </p:sp>
      <p:pic>
        <p:nvPicPr>
          <p:cNvPr id="17" name="Image 1" descr="preencoded.png">    </p:cNvPr>
          <p:cNvPicPr>
            <a:picLocks noChangeAspect="1"/>
          </p:cNvPicPr>
          <p:nvPr/>
        </p:nvPicPr>
        <p:blipFill>
          <a:blip r:embed="rId2"/>
          <a:stretch>
            <a:fillRect/>
          </a:stretch>
        </p:blipFill>
        <p:spPr>
          <a:xfrm>
            <a:off x="10927080" y="1664208"/>
            <a:ext cx="329184" cy="3291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Struktur Proyek Vue + Vite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Mengenali fungsi setiap folder dan berkas utama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5029200" cy="3774936"/>
          </a:xfrm>
          <a:prstGeom prst="roundRect">
            <a:avLst>
              <a:gd name="adj" fmla="val 1696"/>
            </a:avLst>
          </a:prstGeom>
          <a:solidFill>
            <a:srgbClr val="253340"/>
          </a:solidFill>
          <a:ln w="12700">
            <a:solidFill>
              <a:srgbClr val="253340"/>
            </a:solidFill>
            <a:prstDash val="solid"/>
          </a:ln>
        </p:spPr>
      </p:sp>
      <p:sp>
        <p:nvSpPr>
          <p:cNvPr id="6" name="Text 3"/>
          <p:cNvSpPr txBox="1"/>
          <p:nvPr/>
        </p:nvSpPr>
        <p:spPr>
          <a:xfrm>
            <a:off x="676656" y="1636776"/>
            <a:ext cx="4773168" cy="3537192"/>
          </a:xfrm>
          <a:prstGeom prst="rect">
            <a:avLst/>
          </a:prstGeom>
          <a:noFill/>
          <a:ln/>
        </p:spPr>
        <p:txBody>
          <a:bodyPr wrap="square" lIns="0" tIns="0" rIns="0" bIns="0" rtlCol="0" anchor="t"/>
          <a:lstStyle/>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nama-proyek/</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node_modules/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public/</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favicon.ico</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src/</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assets/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components/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composables/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router/</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stores/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views/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App.vue</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 main.js</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index.html</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package.json</a:t>
            </a:r>
            <a:endParaRPr lang="en-US" sz="1400" dirty="0"/>
          </a:p>
          <a:p>
            <a:pPr indent="0" marL="0">
              <a:lnSpc>
                <a:spcPct val="105000"/>
              </a:lnSpc>
              <a:buNone/>
            </a:pPr>
            <a:r>
              <a:rPr lang="en-US" sz="1400" dirty="0">
                <a:solidFill>
                  <a:srgbClr val="E4ECF2"/>
                </a:solidFill>
                <a:latin typeface="Courier New" pitchFamily="34" charset="0"/>
                <a:ea typeface="Courier New" pitchFamily="34" charset="-122"/>
                <a:cs typeface="Courier New" pitchFamily="34" charset="-120"/>
              </a:rPr>
              <a:t>└── vite.config.js</a:t>
            </a:r>
            <a:endParaRPr lang="en-US" sz="1400" dirty="0"/>
          </a:p>
        </p:txBody>
      </p:sp>
      <p:sp>
        <p:nvSpPr>
          <p:cNvPr id="7" name="Shape 4"/>
          <p:cNvSpPr/>
          <p:nvPr/>
        </p:nvSpPr>
        <p:spPr>
          <a:xfrm>
            <a:off x="548640" y="5413248"/>
            <a:ext cx="5029200" cy="749808"/>
          </a:xfrm>
          <a:prstGeom prst="roundRect">
            <a:avLst>
              <a:gd name="adj" fmla="val 10976"/>
            </a:avLst>
          </a:prstGeom>
          <a:solidFill>
            <a:srgbClr val="E9F5EF"/>
          </a:solidFill>
          <a:ln w="12700">
            <a:solidFill>
              <a:srgbClr val="333333"/>
            </a:solidFill>
            <a:prstDash val="solid"/>
          </a:ln>
        </p:spPr>
      </p:sp>
      <p:sp>
        <p:nvSpPr>
          <p:cNvPr id="8" name="Text 5"/>
          <p:cNvSpPr txBox="1"/>
          <p:nvPr/>
        </p:nvSpPr>
        <p:spPr>
          <a:xfrm>
            <a:off x="777240" y="5413248"/>
            <a:ext cx="4572000" cy="749808"/>
          </a:xfrm>
          <a:prstGeom prst="rect">
            <a:avLst/>
          </a:prstGeom>
          <a:noFill/>
          <a:ln/>
        </p:spPr>
        <p:txBody>
          <a:bodyPr wrap="square" lIns="0" tIns="0" rIns="0" bIns="0" rtlCol="0" anchor="ctr"/>
          <a:lstStyle/>
          <a:p>
            <a:pPr indent="0" marL="0">
              <a:lnSpc>
                <a:spcPct val="112000"/>
              </a:lnSpc>
              <a:buNone/>
            </a:pPr>
            <a:r>
              <a:rPr lang="en-US" sz="1150" dirty="0">
                <a:solidFill>
                  <a:srgbClr val="35495E"/>
                </a:solidFill>
                <a:latin typeface="Calibri" pitchFamily="34" charset="0"/>
                <a:ea typeface="Calibri" pitchFamily="34" charset="-122"/>
                <a:cs typeface="Calibri" pitchFamily="34" charset="-120"/>
              </a:rPr>
              <a:t>Alias @ menunjuk ke folder src/, sehingga import bisa ditulis singkat: import Kartu from "@/components/Kartu.vue".</a:t>
            </a:r>
            <a:endParaRPr lang="en-US" sz="1150" dirty="0"/>
          </a:p>
        </p:txBody>
      </p:sp>
      <p:sp>
        <p:nvSpPr>
          <p:cNvPr id="9" name="Shape 6"/>
          <p:cNvSpPr/>
          <p:nvPr/>
        </p:nvSpPr>
        <p:spPr>
          <a:xfrm>
            <a:off x="5806440" y="1517904"/>
            <a:ext cx="5833872" cy="521208"/>
          </a:xfrm>
          <a:prstGeom prst="roundRect">
            <a:avLst>
              <a:gd name="adj" fmla="val 12281"/>
            </a:avLst>
          </a:prstGeom>
          <a:solidFill>
            <a:srgbClr val="EDF4F1"/>
          </a:solidFill>
          <a:ln w="12700">
            <a:solidFill>
              <a:srgbClr val="333333"/>
            </a:solidFill>
            <a:prstDash val="solid"/>
          </a:ln>
        </p:spPr>
      </p:sp>
      <p:sp>
        <p:nvSpPr>
          <p:cNvPr id="10" name="Text 7"/>
          <p:cNvSpPr txBox="1"/>
          <p:nvPr/>
        </p:nvSpPr>
        <p:spPr>
          <a:xfrm>
            <a:off x="5961888" y="1517904"/>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src/</a:t>
            </a:r>
            <a:endParaRPr lang="en-US" sz="1200" dirty="0"/>
          </a:p>
        </p:txBody>
      </p:sp>
      <p:sp>
        <p:nvSpPr>
          <p:cNvPr id="11" name="Text 8"/>
          <p:cNvSpPr txBox="1"/>
          <p:nvPr/>
        </p:nvSpPr>
        <p:spPr>
          <a:xfrm>
            <a:off x="7443216" y="1517904"/>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Seluruh kode sumber aplikasi berada di sini.</a:t>
            </a:r>
            <a:endParaRPr lang="en-US" sz="1200" dirty="0"/>
          </a:p>
        </p:txBody>
      </p:sp>
      <p:sp>
        <p:nvSpPr>
          <p:cNvPr id="12" name="Shape 9"/>
          <p:cNvSpPr/>
          <p:nvPr/>
        </p:nvSpPr>
        <p:spPr>
          <a:xfrm>
            <a:off x="5806440" y="2116836"/>
            <a:ext cx="5833872" cy="521208"/>
          </a:xfrm>
          <a:prstGeom prst="roundRect">
            <a:avLst>
              <a:gd name="adj" fmla="val 12281"/>
            </a:avLst>
          </a:prstGeom>
          <a:solidFill>
            <a:srgbClr val="FFFFFF"/>
          </a:solidFill>
          <a:ln w="12700">
            <a:solidFill>
              <a:srgbClr val="333333"/>
            </a:solidFill>
            <a:prstDash val="solid"/>
          </a:ln>
        </p:spPr>
      </p:sp>
      <p:sp>
        <p:nvSpPr>
          <p:cNvPr id="13" name="Text 10"/>
          <p:cNvSpPr txBox="1"/>
          <p:nvPr/>
        </p:nvSpPr>
        <p:spPr>
          <a:xfrm>
            <a:off x="5961888" y="2116836"/>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main.js</a:t>
            </a:r>
            <a:endParaRPr lang="en-US" sz="1200" dirty="0"/>
          </a:p>
        </p:txBody>
      </p:sp>
      <p:sp>
        <p:nvSpPr>
          <p:cNvPr id="14" name="Text 11"/>
          <p:cNvSpPr txBox="1"/>
          <p:nvPr/>
        </p:nvSpPr>
        <p:spPr>
          <a:xfrm>
            <a:off x="7443216" y="2116836"/>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Titik masuk aplikasi — membuat instance Vue lalu mount ke DOM.</a:t>
            </a:r>
            <a:endParaRPr lang="en-US" sz="1200" dirty="0"/>
          </a:p>
        </p:txBody>
      </p:sp>
      <p:sp>
        <p:nvSpPr>
          <p:cNvPr id="15" name="Shape 12"/>
          <p:cNvSpPr/>
          <p:nvPr/>
        </p:nvSpPr>
        <p:spPr>
          <a:xfrm>
            <a:off x="5806440" y="2715768"/>
            <a:ext cx="5833872" cy="521208"/>
          </a:xfrm>
          <a:prstGeom prst="roundRect">
            <a:avLst>
              <a:gd name="adj" fmla="val 12281"/>
            </a:avLst>
          </a:prstGeom>
          <a:solidFill>
            <a:srgbClr val="EDF4F1"/>
          </a:solidFill>
          <a:ln w="12700">
            <a:solidFill>
              <a:srgbClr val="333333"/>
            </a:solidFill>
            <a:prstDash val="solid"/>
          </a:ln>
        </p:spPr>
      </p:sp>
      <p:sp>
        <p:nvSpPr>
          <p:cNvPr id="16" name="Text 13"/>
          <p:cNvSpPr txBox="1"/>
          <p:nvPr/>
        </p:nvSpPr>
        <p:spPr>
          <a:xfrm>
            <a:off x="5961888" y="2715768"/>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App.vue</a:t>
            </a:r>
            <a:endParaRPr lang="en-US" sz="1200" dirty="0"/>
          </a:p>
        </p:txBody>
      </p:sp>
      <p:sp>
        <p:nvSpPr>
          <p:cNvPr id="17" name="Text 14"/>
          <p:cNvSpPr txBox="1"/>
          <p:nvPr/>
        </p:nvSpPr>
        <p:spPr>
          <a:xfrm>
            <a:off x="7443216" y="2715768"/>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Komponen akar (root) yang membungkus semua komponen lain.</a:t>
            </a:r>
            <a:endParaRPr lang="en-US" sz="1200" dirty="0"/>
          </a:p>
        </p:txBody>
      </p:sp>
      <p:sp>
        <p:nvSpPr>
          <p:cNvPr id="18" name="Shape 15"/>
          <p:cNvSpPr/>
          <p:nvPr/>
        </p:nvSpPr>
        <p:spPr>
          <a:xfrm>
            <a:off x="5806440" y="3314700"/>
            <a:ext cx="5833872" cy="521208"/>
          </a:xfrm>
          <a:prstGeom prst="roundRect">
            <a:avLst>
              <a:gd name="adj" fmla="val 12281"/>
            </a:avLst>
          </a:prstGeom>
          <a:solidFill>
            <a:srgbClr val="FFFFFF"/>
          </a:solidFill>
          <a:ln w="12700">
            <a:solidFill>
              <a:srgbClr val="333333"/>
            </a:solidFill>
            <a:prstDash val="solid"/>
          </a:ln>
        </p:spPr>
      </p:sp>
      <p:sp>
        <p:nvSpPr>
          <p:cNvPr id="19" name="Text 16"/>
          <p:cNvSpPr txBox="1"/>
          <p:nvPr/>
        </p:nvSpPr>
        <p:spPr>
          <a:xfrm>
            <a:off x="5961888" y="3314700"/>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components/</a:t>
            </a:r>
            <a:endParaRPr lang="en-US" sz="1200" dirty="0"/>
          </a:p>
        </p:txBody>
      </p:sp>
      <p:sp>
        <p:nvSpPr>
          <p:cNvPr id="20" name="Text 17"/>
          <p:cNvSpPr txBox="1"/>
          <p:nvPr/>
        </p:nvSpPr>
        <p:spPr>
          <a:xfrm>
            <a:off x="7443216" y="3314700"/>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Komponen kecil yang dapat digunakan ulang di banyak halaman.</a:t>
            </a:r>
            <a:endParaRPr lang="en-US" sz="1200" dirty="0"/>
          </a:p>
        </p:txBody>
      </p:sp>
      <p:sp>
        <p:nvSpPr>
          <p:cNvPr id="21" name="Shape 18"/>
          <p:cNvSpPr/>
          <p:nvPr/>
        </p:nvSpPr>
        <p:spPr>
          <a:xfrm>
            <a:off x="5806440" y="3913632"/>
            <a:ext cx="5833872" cy="521208"/>
          </a:xfrm>
          <a:prstGeom prst="roundRect">
            <a:avLst>
              <a:gd name="adj" fmla="val 12281"/>
            </a:avLst>
          </a:prstGeom>
          <a:solidFill>
            <a:srgbClr val="EDF4F1"/>
          </a:solidFill>
          <a:ln w="12700">
            <a:solidFill>
              <a:srgbClr val="333333"/>
            </a:solidFill>
            <a:prstDash val="solid"/>
          </a:ln>
        </p:spPr>
      </p:sp>
      <p:sp>
        <p:nvSpPr>
          <p:cNvPr id="22" name="Text 19"/>
          <p:cNvSpPr txBox="1"/>
          <p:nvPr/>
        </p:nvSpPr>
        <p:spPr>
          <a:xfrm>
            <a:off x="5961888" y="3913632"/>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views/</a:t>
            </a:r>
            <a:endParaRPr lang="en-US" sz="1200" dirty="0"/>
          </a:p>
        </p:txBody>
      </p:sp>
      <p:sp>
        <p:nvSpPr>
          <p:cNvPr id="23" name="Text 20"/>
          <p:cNvSpPr txBox="1"/>
          <p:nvPr/>
        </p:nvSpPr>
        <p:spPr>
          <a:xfrm>
            <a:off x="7443216" y="3913632"/>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Komponen tingkat halaman yang dipetakan oleh Vue Router.</a:t>
            </a:r>
            <a:endParaRPr lang="en-US" sz="1200" dirty="0"/>
          </a:p>
        </p:txBody>
      </p:sp>
      <p:sp>
        <p:nvSpPr>
          <p:cNvPr id="24" name="Shape 21"/>
          <p:cNvSpPr/>
          <p:nvPr/>
        </p:nvSpPr>
        <p:spPr>
          <a:xfrm>
            <a:off x="5806440" y="4512564"/>
            <a:ext cx="5833872" cy="521208"/>
          </a:xfrm>
          <a:prstGeom prst="roundRect">
            <a:avLst>
              <a:gd name="adj" fmla="val 12281"/>
            </a:avLst>
          </a:prstGeom>
          <a:solidFill>
            <a:srgbClr val="FFFFFF"/>
          </a:solidFill>
          <a:ln w="12700">
            <a:solidFill>
              <a:srgbClr val="333333"/>
            </a:solidFill>
            <a:prstDash val="solid"/>
          </a:ln>
        </p:spPr>
      </p:sp>
      <p:sp>
        <p:nvSpPr>
          <p:cNvPr id="25" name="Text 22"/>
          <p:cNvSpPr txBox="1"/>
          <p:nvPr/>
        </p:nvSpPr>
        <p:spPr>
          <a:xfrm>
            <a:off x="5961888" y="4512564"/>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stores/</a:t>
            </a:r>
            <a:endParaRPr lang="en-US" sz="1200" dirty="0"/>
          </a:p>
        </p:txBody>
      </p:sp>
      <p:sp>
        <p:nvSpPr>
          <p:cNvPr id="26" name="Text 23"/>
          <p:cNvSpPr txBox="1"/>
          <p:nvPr/>
        </p:nvSpPr>
        <p:spPr>
          <a:xfrm>
            <a:off x="7443216" y="4512564"/>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Berkas state management Pinia.</a:t>
            </a:r>
            <a:endParaRPr lang="en-US" sz="1200" dirty="0"/>
          </a:p>
        </p:txBody>
      </p:sp>
      <p:sp>
        <p:nvSpPr>
          <p:cNvPr id="27" name="Shape 24"/>
          <p:cNvSpPr/>
          <p:nvPr/>
        </p:nvSpPr>
        <p:spPr>
          <a:xfrm>
            <a:off x="5806440" y="5111496"/>
            <a:ext cx="5833872" cy="521208"/>
          </a:xfrm>
          <a:prstGeom prst="roundRect">
            <a:avLst>
              <a:gd name="adj" fmla="val 12281"/>
            </a:avLst>
          </a:prstGeom>
          <a:solidFill>
            <a:srgbClr val="EDF4F1"/>
          </a:solidFill>
          <a:ln w="12700">
            <a:solidFill>
              <a:srgbClr val="333333"/>
            </a:solidFill>
            <a:prstDash val="solid"/>
          </a:ln>
        </p:spPr>
      </p:sp>
      <p:sp>
        <p:nvSpPr>
          <p:cNvPr id="28" name="Text 25"/>
          <p:cNvSpPr txBox="1"/>
          <p:nvPr/>
        </p:nvSpPr>
        <p:spPr>
          <a:xfrm>
            <a:off x="5961888" y="5111496"/>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public/</a:t>
            </a:r>
            <a:endParaRPr lang="en-US" sz="1200" dirty="0"/>
          </a:p>
        </p:txBody>
      </p:sp>
      <p:sp>
        <p:nvSpPr>
          <p:cNvPr id="29" name="Text 26"/>
          <p:cNvSpPr txBox="1"/>
          <p:nvPr/>
        </p:nvSpPr>
        <p:spPr>
          <a:xfrm>
            <a:off x="7443216" y="5111496"/>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Aset statis yang disalin apa adanya tanpa diproses build.</a:t>
            </a:r>
            <a:endParaRPr lang="en-US" sz="1200" dirty="0"/>
          </a:p>
        </p:txBody>
      </p:sp>
      <p:sp>
        <p:nvSpPr>
          <p:cNvPr id="30" name="Shape 27"/>
          <p:cNvSpPr/>
          <p:nvPr/>
        </p:nvSpPr>
        <p:spPr>
          <a:xfrm>
            <a:off x="5806440" y="5710428"/>
            <a:ext cx="5833872" cy="521208"/>
          </a:xfrm>
          <a:prstGeom prst="roundRect">
            <a:avLst>
              <a:gd name="adj" fmla="val 12281"/>
            </a:avLst>
          </a:prstGeom>
          <a:solidFill>
            <a:srgbClr val="FFFFFF"/>
          </a:solidFill>
          <a:ln w="12700">
            <a:solidFill>
              <a:srgbClr val="333333"/>
            </a:solidFill>
            <a:prstDash val="solid"/>
          </a:ln>
        </p:spPr>
      </p:sp>
      <p:sp>
        <p:nvSpPr>
          <p:cNvPr id="31" name="Text 28"/>
          <p:cNvSpPr txBox="1"/>
          <p:nvPr/>
        </p:nvSpPr>
        <p:spPr>
          <a:xfrm>
            <a:off x="5961888" y="5710428"/>
            <a:ext cx="1481328" cy="521208"/>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index.html</a:t>
            </a:r>
            <a:endParaRPr lang="en-US" sz="1200" dirty="0"/>
          </a:p>
        </p:txBody>
      </p:sp>
      <p:sp>
        <p:nvSpPr>
          <p:cNvPr id="32" name="Text 29"/>
          <p:cNvSpPr txBox="1"/>
          <p:nvPr/>
        </p:nvSpPr>
        <p:spPr>
          <a:xfrm>
            <a:off x="7443216" y="5710428"/>
            <a:ext cx="4078224" cy="521208"/>
          </a:xfrm>
          <a:prstGeom prst="rect">
            <a:avLst/>
          </a:prstGeom>
          <a:noFill/>
          <a:ln/>
        </p:spPr>
        <p:txBody>
          <a:bodyPr wrap="square" lIns="0" tIns="0" rIns="0" bIns="0" rtlCol="0" anchor="ctr"/>
          <a:lstStyle/>
          <a:p>
            <a:pPr indent="0" marL="0">
              <a:buNone/>
            </a:pPr>
            <a:r>
              <a:rPr lang="en-US" sz="1200" dirty="0">
                <a:solidFill>
                  <a:srgbClr val="6B7C8C"/>
                </a:solidFill>
                <a:latin typeface="Calibri" pitchFamily="34" charset="0"/>
                <a:ea typeface="Calibri" pitchFamily="34" charset="-122"/>
                <a:cs typeface="Calibri" pitchFamily="34" charset="-120"/>
              </a:rPr>
              <a:t>Berkas HTML tunggal tempat aplikasi ditempelkan.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Single File Component (SFC)</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Satu berkas .vue berisi template, logika, dan gaya sekaligus</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6583680" cy="3932030"/>
          </a:xfrm>
          <a:prstGeom prst="roundRect">
            <a:avLst>
              <a:gd name="adj" fmla="val 1628"/>
            </a:avLst>
          </a:prstGeom>
          <a:solidFill>
            <a:srgbClr val="253340"/>
          </a:solidFill>
          <a:ln w="12700">
            <a:solidFill>
              <a:srgbClr val="253340"/>
            </a:solidFill>
            <a:prstDash val="solid"/>
          </a:ln>
        </p:spPr>
      </p:sp>
      <p:sp>
        <p:nvSpPr>
          <p:cNvPr id="6" name="Text 3"/>
          <p:cNvSpPr txBox="1"/>
          <p:nvPr/>
        </p:nvSpPr>
        <p:spPr>
          <a:xfrm>
            <a:off x="676656" y="1636776"/>
            <a:ext cx="6327648" cy="3694286"/>
          </a:xfrm>
          <a:prstGeom prst="rect">
            <a:avLst/>
          </a:prstGeom>
          <a:noFill/>
          <a:ln/>
        </p:spPr>
        <p:txBody>
          <a:bodyPr wrap="square" lIns="0" tIns="0" rIns="0" bIns="0" rtlCol="0" anchor="t"/>
          <a:lstStyle/>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 setup&gt;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import { ref } from "vue";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const hitungan = ref(0);</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const tambah = () =&gt; hitungan.value++;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&lt;template&gt;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&lt;div class="kartu"&gt;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&lt;h2&gt;Jumlah klik: {{ hitungan }}&lt;/h2&gt;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&lt;button @click="tambah"&gt;Tambah&lt;/button&gt;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&lt;/div&gt;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&lt;/template&gt;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&lt;style scoped&gt;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.kartu { padding: 16px; border-radius: 8px; }</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button { background: #42b883; color: #fff; }</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&lt;/style&gt;</a:t>
            </a:r>
            <a:endParaRPr lang="en-US" sz="1300" dirty="0"/>
          </a:p>
        </p:txBody>
      </p:sp>
      <p:sp>
        <p:nvSpPr>
          <p:cNvPr id="7" name="Shape 4"/>
          <p:cNvSpPr/>
          <p:nvPr/>
        </p:nvSpPr>
        <p:spPr>
          <a:xfrm>
            <a:off x="7360920" y="1517904"/>
            <a:ext cx="42793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8" name="Shape 5"/>
          <p:cNvSpPr/>
          <p:nvPr/>
        </p:nvSpPr>
        <p:spPr>
          <a:xfrm>
            <a:off x="7589520" y="1746504"/>
            <a:ext cx="420624" cy="420624"/>
          </a:xfrm>
          <a:prstGeom prst="ellipse">
            <a:avLst/>
          </a:prstGeom>
          <a:solidFill>
            <a:srgbClr val="42B883"/>
          </a:solidFill>
          <a:ln w="12700">
            <a:solidFill>
              <a:srgbClr val="42B883"/>
            </a:solidFill>
            <a:prstDash val="solid"/>
          </a:ln>
        </p:spPr>
      </p:sp>
      <p:pic>
        <p:nvPicPr>
          <p:cNvPr id="9" name="Image 1" descr="preencoded.png">    </p:cNvPr>
          <p:cNvPicPr>
            <a:picLocks noChangeAspect="1"/>
          </p:cNvPicPr>
          <p:nvPr/>
        </p:nvPicPr>
        <p:blipFill>
          <a:blip r:embed="rId2"/>
          <a:stretch>
            <a:fillRect/>
          </a:stretch>
        </p:blipFill>
        <p:spPr>
          <a:xfrm>
            <a:off x="7707295" y="1864279"/>
            <a:ext cx="185075" cy="185075"/>
          </a:xfrm>
          <a:prstGeom prst="rect">
            <a:avLst/>
          </a:prstGeom>
        </p:spPr>
      </p:pic>
      <p:sp>
        <p:nvSpPr>
          <p:cNvPr id="10" name="Text 6"/>
          <p:cNvSpPr txBox="1"/>
          <p:nvPr/>
        </p:nvSpPr>
        <p:spPr>
          <a:xfrm>
            <a:off x="8119872" y="1719072"/>
            <a:ext cx="3291840" cy="292608"/>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&lt;script&gt;</a:t>
            </a:r>
            <a:endParaRPr lang="en-US" sz="1350" dirty="0"/>
          </a:p>
        </p:txBody>
      </p:sp>
      <p:sp>
        <p:nvSpPr>
          <p:cNvPr id="11" name="Text 7"/>
          <p:cNvSpPr txBox="1"/>
          <p:nvPr/>
        </p:nvSpPr>
        <p:spPr>
          <a:xfrm>
            <a:off x="7589520" y="2139696"/>
            <a:ext cx="3794760" cy="685800"/>
          </a:xfrm>
          <a:prstGeom prst="rect">
            <a:avLst/>
          </a:prstGeom>
          <a:noFill/>
          <a:ln/>
        </p:spPr>
        <p:txBody>
          <a:bodyPr wrap="square" lIns="0" tIns="0" rIns="0" bIns="0" rtlCol="0" anchor="t"/>
          <a:lstStyle/>
          <a:p>
            <a:pPr indent="0" marL="0">
              <a:lnSpc>
                <a:spcPct val="110000"/>
              </a:lnSpc>
              <a:buNone/>
            </a:pPr>
            <a:r>
              <a:rPr lang="en-US" sz="1150" dirty="0">
                <a:solidFill>
                  <a:srgbClr val="6B7C8C"/>
                </a:solidFill>
                <a:latin typeface="Calibri" pitchFamily="34" charset="0"/>
                <a:ea typeface="Calibri" pitchFamily="34" charset="-122"/>
                <a:cs typeface="Calibri" pitchFamily="34" charset="-120"/>
              </a:rPr>
              <a:t>Berisi logika komponen: data reaktif, fungsi, dan import. Dengan script setup, kode menjadi jauh lebih ringkas.</a:t>
            </a:r>
            <a:endParaRPr lang="en-US" sz="1150" dirty="0"/>
          </a:p>
        </p:txBody>
      </p:sp>
      <p:sp>
        <p:nvSpPr>
          <p:cNvPr id="12" name="Shape 8"/>
          <p:cNvSpPr/>
          <p:nvPr/>
        </p:nvSpPr>
        <p:spPr>
          <a:xfrm>
            <a:off x="7360920" y="2999232"/>
            <a:ext cx="42793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7589520" y="3227832"/>
            <a:ext cx="420624" cy="420624"/>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7707295" y="3345607"/>
            <a:ext cx="185075" cy="185075"/>
          </a:xfrm>
          <a:prstGeom prst="rect">
            <a:avLst/>
          </a:prstGeom>
        </p:spPr>
      </p:pic>
      <p:sp>
        <p:nvSpPr>
          <p:cNvPr id="15" name="Text 10"/>
          <p:cNvSpPr txBox="1"/>
          <p:nvPr/>
        </p:nvSpPr>
        <p:spPr>
          <a:xfrm>
            <a:off x="8119872" y="3200400"/>
            <a:ext cx="3291840" cy="292608"/>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&lt;template&gt;</a:t>
            </a:r>
            <a:endParaRPr lang="en-US" sz="1350" dirty="0"/>
          </a:p>
        </p:txBody>
      </p:sp>
      <p:sp>
        <p:nvSpPr>
          <p:cNvPr id="16" name="Text 11"/>
          <p:cNvSpPr txBox="1"/>
          <p:nvPr/>
        </p:nvSpPr>
        <p:spPr>
          <a:xfrm>
            <a:off x="7589520" y="3621024"/>
            <a:ext cx="3794760" cy="685800"/>
          </a:xfrm>
          <a:prstGeom prst="rect">
            <a:avLst/>
          </a:prstGeom>
          <a:noFill/>
          <a:ln/>
        </p:spPr>
        <p:txBody>
          <a:bodyPr wrap="square" lIns="0" tIns="0" rIns="0" bIns="0" rtlCol="0" anchor="t"/>
          <a:lstStyle/>
          <a:p>
            <a:pPr indent="0" marL="0">
              <a:lnSpc>
                <a:spcPct val="110000"/>
              </a:lnSpc>
              <a:buNone/>
            </a:pPr>
            <a:r>
              <a:rPr lang="en-US" sz="1150" dirty="0">
                <a:solidFill>
                  <a:srgbClr val="6B7C8C"/>
                </a:solidFill>
                <a:latin typeface="Calibri" pitchFamily="34" charset="0"/>
                <a:ea typeface="Calibri" pitchFamily="34" charset="-122"/>
                <a:cs typeface="Calibri" pitchFamily="34" charset="-120"/>
              </a:rPr>
              <a:t>Struktur HTML yang ditampilkan. Boleh memakai directives dan interpolasi {{ }} untuk menampilkan data.</a:t>
            </a:r>
            <a:endParaRPr lang="en-US" sz="1150" dirty="0"/>
          </a:p>
        </p:txBody>
      </p:sp>
      <p:sp>
        <p:nvSpPr>
          <p:cNvPr id="17" name="Shape 12"/>
          <p:cNvSpPr/>
          <p:nvPr/>
        </p:nvSpPr>
        <p:spPr>
          <a:xfrm>
            <a:off x="7360920" y="4480560"/>
            <a:ext cx="4279392" cy="1371600"/>
          </a:xfrm>
          <a:prstGeom prst="roundRect">
            <a:avLst>
              <a:gd name="adj" fmla="val 6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Shape 13"/>
          <p:cNvSpPr/>
          <p:nvPr/>
        </p:nvSpPr>
        <p:spPr>
          <a:xfrm>
            <a:off x="7589520" y="4709160"/>
            <a:ext cx="420624" cy="420624"/>
          </a:xfrm>
          <a:prstGeom prst="ellipse">
            <a:avLst/>
          </a:prstGeom>
          <a:solidFill>
            <a:srgbClr val="42B883"/>
          </a:solidFill>
          <a:ln w="12700">
            <a:solidFill>
              <a:srgbClr val="42B883"/>
            </a:solidFill>
            <a:prstDash val="solid"/>
          </a:ln>
        </p:spPr>
      </p:sp>
      <p:pic>
        <p:nvPicPr>
          <p:cNvPr id="19" name="Image 3" descr="preencoded.png">    </p:cNvPr>
          <p:cNvPicPr>
            <a:picLocks noChangeAspect="1"/>
          </p:cNvPicPr>
          <p:nvPr/>
        </p:nvPicPr>
        <p:blipFill>
          <a:blip r:embed="rId4"/>
          <a:stretch>
            <a:fillRect/>
          </a:stretch>
        </p:blipFill>
        <p:spPr>
          <a:xfrm>
            <a:off x="7707295" y="4826935"/>
            <a:ext cx="185075" cy="185075"/>
          </a:xfrm>
          <a:prstGeom prst="rect">
            <a:avLst/>
          </a:prstGeom>
        </p:spPr>
      </p:pic>
      <p:sp>
        <p:nvSpPr>
          <p:cNvPr id="20" name="Text 14"/>
          <p:cNvSpPr txBox="1"/>
          <p:nvPr/>
        </p:nvSpPr>
        <p:spPr>
          <a:xfrm>
            <a:off x="8119872" y="4681728"/>
            <a:ext cx="3291840" cy="292608"/>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&lt;style scoped&gt;</a:t>
            </a:r>
            <a:endParaRPr lang="en-US" sz="1350" dirty="0"/>
          </a:p>
        </p:txBody>
      </p:sp>
      <p:sp>
        <p:nvSpPr>
          <p:cNvPr id="21" name="Text 15"/>
          <p:cNvSpPr txBox="1"/>
          <p:nvPr/>
        </p:nvSpPr>
        <p:spPr>
          <a:xfrm>
            <a:off x="7589520" y="5102352"/>
            <a:ext cx="3794760" cy="685800"/>
          </a:xfrm>
          <a:prstGeom prst="rect">
            <a:avLst/>
          </a:prstGeom>
          <a:noFill/>
          <a:ln/>
        </p:spPr>
        <p:txBody>
          <a:bodyPr wrap="square" lIns="0" tIns="0" rIns="0" bIns="0" rtlCol="0" anchor="t"/>
          <a:lstStyle/>
          <a:p>
            <a:pPr indent="0" marL="0">
              <a:lnSpc>
                <a:spcPct val="110000"/>
              </a:lnSpc>
              <a:buNone/>
            </a:pPr>
            <a:r>
              <a:rPr lang="en-US" sz="1150" dirty="0">
                <a:solidFill>
                  <a:srgbClr val="6B7C8C"/>
                </a:solidFill>
                <a:latin typeface="Calibri" pitchFamily="34" charset="0"/>
                <a:ea typeface="Calibri" pitchFamily="34" charset="-122"/>
                <a:cs typeface="Calibri" pitchFamily="34" charset="-120"/>
              </a:rPr>
              <a:t>Gaya CSS komponen. Atribut scoped membuat CSS hanya berlaku untuk komponen ini saja, tidak bocor ke komponen lain.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Options API vs Composition API</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Dua gaya penulisan komponen dengan hasil akhir yang sama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44752"/>
            <a:ext cx="5394960" cy="4526280"/>
          </a:xfrm>
          <a:prstGeom prst="roundRect">
            <a:avLst>
              <a:gd name="adj" fmla="val 181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841248" y="1645920"/>
            <a:ext cx="4572000" cy="256032"/>
          </a:xfrm>
          <a:prstGeom prst="rect">
            <a:avLst/>
          </a:prstGeom>
          <a:noFill/>
          <a:ln/>
        </p:spPr>
        <p:txBody>
          <a:bodyPr wrap="square" lIns="0" tIns="0" rIns="0" bIns="0" rtlCol="0" anchor="ctr"/>
          <a:lstStyle/>
          <a:p>
            <a:pPr indent="0" marL="0">
              <a:buNone/>
            </a:pPr>
            <a:r>
              <a:rPr lang="en-US" sz="1300" b="1" dirty="0">
                <a:solidFill>
                  <a:srgbClr val="35495E"/>
                </a:solidFill>
                <a:latin typeface="Calibri" pitchFamily="34" charset="0"/>
                <a:ea typeface="Calibri" pitchFamily="34" charset="-122"/>
                <a:cs typeface="Calibri" pitchFamily="34" charset="-120"/>
              </a:rPr>
              <a:t>OPTIONS API  ·  gaya Vue 2</a:t>
            </a:r>
            <a:endParaRPr lang="en-US" sz="1300" dirty="0"/>
          </a:p>
        </p:txBody>
      </p:sp>
      <p:sp>
        <p:nvSpPr>
          <p:cNvPr id="7" name="Shape 4"/>
          <p:cNvSpPr/>
          <p:nvPr/>
        </p:nvSpPr>
        <p:spPr>
          <a:xfrm>
            <a:off x="841248" y="1975104"/>
            <a:ext cx="4809744" cy="2895210"/>
          </a:xfrm>
          <a:prstGeom prst="roundRect">
            <a:avLst>
              <a:gd name="adj" fmla="val 2211"/>
            </a:avLst>
          </a:prstGeom>
          <a:solidFill>
            <a:srgbClr val="253340"/>
          </a:solidFill>
          <a:ln w="12700">
            <a:solidFill>
              <a:srgbClr val="253340"/>
            </a:solidFill>
            <a:prstDash val="solid"/>
          </a:ln>
        </p:spPr>
      </p:sp>
      <p:sp>
        <p:nvSpPr>
          <p:cNvPr id="8" name="Text 5"/>
          <p:cNvSpPr txBox="1"/>
          <p:nvPr/>
        </p:nvSpPr>
        <p:spPr>
          <a:xfrm>
            <a:off x="969264" y="2093976"/>
            <a:ext cx="4553712" cy="2657466"/>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export default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data()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return { hitungan: 0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computed: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ganda() { return this.hitungan * 2;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methods: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tambah() { this.hitungan++;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mounted()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console.log("Komponen siap");</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p:txBody>
      </p:sp>
      <p:sp>
        <p:nvSpPr>
          <p:cNvPr id="9" name="Text 6"/>
          <p:cNvSpPr txBox="1"/>
          <p:nvPr/>
        </p:nvSpPr>
        <p:spPr>
          <a:xfrm>
            <a:off x="841248" y="5230368"/>
            <a:ext cx="4809744" cy="658368"/>
          </a:xfrm>
          <a:prstGeom prst="rect">
            <a:avLst/>
          </a:prstGeom>
          <a:noFill/>
          <a:ln/>
        </p:spPr>
        <p:txBody>
          <a:bodyPr wrap="square" lIns="0" tIns="0" rIns="0" bIns="0" rtlCol="0" anchor="t"/>
          <a:lstStyle/>
          <a:p>
            <a:pPr indent="0" marL="0">
              <a:lnSpc>
                <a:spcPct val="110000"/>
              </a:lnSpc>
              <a:buNone/>
            </a:pPr>
            <a:r>
              <a:rPr lang="en-US" sz="1200" dirty="0">
                <a:solidFill>
                  <a:srgbClr val="6B7C8C"/>
                </a:solidFill>
                <a:latin typeface="Calibri" pitchFamily="34" charset="0"/>
                <a:ea typeface="Calibri" pitchFamily="34" charset="-122"/>
                <a:cs typeface="Calibri" pitchFamily="34" charset="-120"/>
              </a:rPr>
              <a:t>Kode dikelompokkan menurut jenis opsi (data, methods, computed). Mudah bagi pemula, tetapi logika satu fitur bisa tersebar di banyak bagian.</a:t>
            </a:r>
            <a:endParaRPr lang="en-US" sz="1200" dirty="0"/>
          </a:p>
        </p:txBody>
      </p:sp>
      <p:sp>
        <p:nvSpPr>
          <p:cNvPr id="10" name="Shape 7"/>
          <p:cNvSpPr/>
          <p:nvPr/>
        </p:nvSpPr>
        <p:spPr>
          <a:xfrm>
            <a:off x="6245352" y="1444752"/>
            <a:ext cx="5394960" cy="4526280"/>
          </a:xfrm>
          <a:prstGeom prst="roundRect">
            <a:avLst>
              <a:gd name="adj" fmla="val 1818"/>
            </a:avLst>
          </a:prstGeom>
          <a:solidFill>
            <a:srgbClr val="EAF7F0"/>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Text 8"/>
          <p:cNvSpPr txBox="1"/>
          <p:nvPr/>
        </p:nvSpPr>
        <p:spPr>
          <a:xfrm>
            <a:off x="6537960" y="1645920"/>
            <a:ext cx="4572000" cy="256032"/>
          </a:xfrm>
          <a:prstGeom prst="rect">
            <a:avLst/>
          </a:prstGeom>
          <a:noFill/>
          <a:ln/>
        </p:spPr>
        <p:txBody>
          <a:bodyPr wrap="square" lIns="0" tIns="0" rIns="0" bIns="0" rtlCol="0" anchor="ctr"/>
          <a:lstStyle/>
          <a:p>
            <a:pPr indent="0" marL="0">
              <a:buNone/>
            </a:pPr>
            <a:r>
              <a:rPr lang="en-US" sz="1300" b="1" dirty="0">
                <a:solidFill>
                  <a:srgbClr val="2F9E6E"/>
                </a:solidFill>
                <a:latin typeface="Calibri" pitchFamily="34" charset="0"/>
                <a:ea typeface="Calibri" pitchFamily="34" charset="-122"/>
                <a:cs typeface="Calibri" pitchFamily="34" charset="-120"/>
              </a:rPr>
              <a:t>COMPOSITION API  ·  rekomendasi Vue 3</a:t>
            </a:r>
            <a:endParaRPr lang="en-US" sz="1300" dirty="0"/>
          </a:p>
        </p:txBody>
      </p:sp>
      <p:sp>
        <p:nvSpPr>
          <p:cNvPr id="12" name="Shape 9"/>
          <p:cNvSpPr/>
          <p:nvPr/>
        </p:nvSpPr>
        <p:spPr>
          <a:xfrm>
            <a:off x="6537960" y="1975104"/>
            <a:ext cx="4809744" cy="2895210"/>
          </a:xfrm>
          <a:prstGeom prst="roundRect">
            <a:avLst>
              <a:gd name="adj" fmla="val 2211"/>
            </a:avLst>
          </a:prstGeom>
          <a:solidFill>
            <a:srgbClr val="253340"/>
          </a:solidFill>
          <a:ln w="12700">
            <a:solidFill>
              <a:srgbClr val="253340"/>
            </a:solidFill>
            <a:prstDash val="solid"/>
          </a:ln>
        </p:spPr>
      </p:sp>
      <p:sp>
        <p:nvSpPr>
          <p:cNvPr id="13" name="Text 10"/>
          <p:cNvSpPr txBox="1"/>
          <p:nvPr/>
        </p:nvSpPr>
        <p:spPr>
          <a:xfrm>
            <a:off x="6665976" y="2093976"/>
            <a:ext cx="4553712" cy="2657466"/>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 ref, computed, onMounted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from "vue";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hitungan = ref(0);</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ganda = computed(</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=&gt; hitungan.value * 2);</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function tambah() { hitungan.value++;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onMounted(() =&gt;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console.log("Komponen siap");</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p:txBody>
      </p:sp>
      <p:sp>
        <p:nvSpPr>
          <p:cNvPr id="14" name="Text 11"/>
          <p:cNvSpPr txBox="1"/>
          <p:nvPr/>
        </p:nvSpPr>
        <p:spPr>
          <a:xfrm>
            <a:off x="6537960" y="5230368"/>
            <a:ext cx="4809744" cy="658368"/>
          </a:xfrm>
          <a:prstGeom prst="rect">
            <a:avLst/>
          </a:prstGeom>
          <a:noFill/>
          <a:ln/>
        </p:spPr>
        <p:txBody>
          <a:bodyPr wrap="square" lIns="0" tIns="0" rIns="0" bIns="0" rtlCol="0" anchor="t"/>
          <a:lstStyle/>
          <a:p>
            <a:pPr indent="0" marL="0">
              <a:lnSpc>
                <a:spcPct val="110000"/>
              </a:lnSpc>
              <a:buNone/>
            </a:pPr>
            <a:r>
              <a:rPr lang="en-US" sz="1200" dirty="0">
                <a:solidFill>
                  <a:srgbClr val="35495E"/>
                </a:solidFill>
                <a:latin typeface="Calibri" pitchFamily="34" charset="0"/>
                <a:ea typeface="Calibri" pitchFamily="34" charset="-122"/>
                <a:cs typeface="Calibri" pitchFamily="34" charset="-120"/>
              </a:rPr>
              <a:t>Kode dikelompokkan menurut fitur/logika. Lebih ringkas, mudah dipakai ulang lewat composable, dan dukungan TypeScript lebih baik.</a:t>
            </a:r>
            <a:endParaRPr lang="en-US" sz="1200" dirty="0"/>
          </a:p>
        </p:txBody>
      </p:sp>
      <p:sp>
        <p:nvSpPr>
          <p:cNvPr id="15" name="Text 12"/>
          <p:cNvSpPr txBox="1"/>
          <p:nvPr/>
        </p:nvSpPr>
        <p:spPr>
          <a:xfrm>
            <a:off x="548640" y="6053328"/>
            <a:ext cx="11091672" cy="365760"/>
          </a:xfrm>
          <a:prstGeom prst="rect">
            <a:avLst/>
          </a:prstGeom>
          <a:noFill/>
          <a:ln/>
        </p:spPr>
        <p:txBody>
          <a:bodyPr wrap="square" lIns="0" tIns="0" rIns="0" bIns="0" rtlCol="0" anchor="ctr"/>
          <a:lstStyle/>
          <a:p>
            <a:pPr algn="ctr" indent="0" marL="0">
              <a:buNone/>
            </a:pPr>
            <a:r>
              <a:rPr lang="en-US" sz="1250" i="1" dirty="0">
                <a:solidFill>
                  <a:srgbClr val="2F9E6E"/>
                </a:solidFill>
                <a:latin typeface="Calibri" pitchFamily="34" charset="0"/>
                <a:ea typeface="Calibri" pitchFamily="34" charset="-122"/>
                <a:cs typeface="Calibri" pitchFamily="34" charset="-120"/>
              </a:rPr>
              <a:t>Keduanya tetap didukung penuh di Vue 3. Untuk proyek baru, Composition API dengan &lt;script setup&gt; adalah pilihan yang disarankan.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Sintaks &lt;script setup&gt;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Gula sintaksis yang membuat Composition API jauh lebih ringkas</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6035040" cy="2910919"/>
          </a:xfrm>
          <a:prstGeom prst="roundRect">
            <a:avLst>
              <a:gd name="adj" fmla="val 2199"/>
            </a:avLst>
          </a:prstGeom>
          <a:solidFill>
            <a:srgbClr val="253340"/>
          </a:solidFill>
          <a:ln w="12700">
            <a:solidFill>
              <a:srgbClr val="253340"/>
            </a:solidFill>
            <a:prstDash val="solid"/>
          </a:ln>
        </p:spPr>
      </p:sp>
      <p:sp>
        <p:nvSpPr>
          <p:cNvPr id="6" name="Text 3"/>
          <p:cNvSpPr txBox="1"/>
          <p:nvPr/>
        </p:nvSpPr>
        <p:spPr>
          <a:xfrm>
            <a:off x="676656" y="1636776"/>
            <a:ext cx="5779008" cy="2673175"/>
          </a:xfrm>
          <a:prstGeom prst="rect">
            <a:avLst/>
          </a:prstGeom>
          <a:noFill/>
          <a:ln/>
        </p:spPr>
        <p:txBody>
          <a:bodyPr wrap="square" lIns="0" tIns="0" rIns="0" bIns="0" rtlCol="0" anchor="t"/>
          <a:lstStyle/>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 setup&gt;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import { ref } from "vue";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import KartuProduk from "./KartuProduk.vue";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7E93A3"/>
                </a:solidFill>
                <a:latin typeface="Courier New" pitchFamily="34" charset="0"/>
                <a:ea typeface="Courier New" pitchFamily="34" charset="-122"/>
                <a:cs typeface="Courier New" pitchFamily="34" charset="-120"/>
              </a:rPr>
              <a:t>// otomatis tersedia di template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const judul = ref("Daftar Produk");</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const daftar = ref(["Buku", "Pena", "Tas"]);</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&lt;template&gt;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&lt;h1&gt;{{ judul }}&lt;/h1&gt;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&lt;KartuProduk v-for="p in daftar" :nama="p" /&gt;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&lt;/template&gt;</a:t>
            </a:r>
            <a:endParaRPr lang="en-US" sz="1300" dirty="0"/>
          </a:p>
        </p:txBody>
      </p:sp>
      <p:sp>
        <p:nvSpPr>
          <p:cNvPr id="7" name="Shape 4"/>
          <p:cNvSpPr/>
          <p:nvPr/>
        </p:nvSpPr>
        <p:spPr>
          <a:xfrm>
            <a:off x="6812280" y="1517904"/>
            <a:ext cx="4828032"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8" name="Shape 5"/>
          <p:cNvSpPr/>
          <p:nvPr/>
        </p:nvSpPr>
        <p:spPr>
          <a:xfrm>
            <a:off x="7040880" y="1764792"/>
            <a:ext cx="420624" cy="420624"/>
          </a:xfrm>
          <a:prstGeom prst="ellipse">
            <a:avLst/>
          </a:prstGeom>
          <a:solidFill>
            <a:srgbClr val="42B883"/>
          </a:solidFill>
          <a:ln w="12700">
            <a:solidFill>
              <a:srgbClr val="42B883"/>
            </a:solidFill>
            <a:prstDash val="solid"/>
          </a:ln>
        </p:spPr>
      </p:sp>
      <p:pic>
        <p:nvPicPr>
          <p:cNvPr id="9" name="Image 1" descr="preencoded.png">    </p:cNvPr>
          <p:cNvPicPr>
            <a:picLocks noChangeAspect="1"/>
          </p:cNvPicPr>
          <p:nvPr/>
        </p:nvPicPr>
        <p:blipFill>
          <a:blip r:embed="rId2"/>
          <a:stretch>
            <a:fillRect/>
          </a:stretch>
        </p:blipFill>
        <p:spPr>
          <a:xfrm>
            <a:off x="7158655" y="1882567"/>
            <a:ext cx="185075" cy="185075"/>
          </a:xfrm>
          <a:prstGeom prst="rect">
            <a:avLst/>
          </a:prstGeom>
        </p:spPr>
      </p:pic>
      <p:sp>
        <p:nvSpPr>
          <p:cNvPr id="10" name="Text 6"/>
          <p:cNvSpPr txBox="1"/>
          <p:nvPr/>
        </p:nvSpPr>
        <p:spPr>
          <a:xfrm>
            <a:off x="7571232" y="1682496"/>
            <a:ext cx="384048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Tanpa return</a:t>
            </a:r>
            <a:endParaRPr lang="en-US" sz="1350" dirty="0"/>
          </a:p>
        </p:txBody>
      </p:sp>
      <p:sp>
        <p:nvSpPr>
          <p:cNvPr id="11" name="Text 7"/>
          <p:cNvSpPr txBox="1"/>
          <p:nvPr/>
        </p:nvSpPr>
        <p:spPr>
          <a:xfrm>
            <a:off x="7571232" y="1975104"/>
            <a:ext cx="3840480" cy="45720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Semua variabel dan fungsi di dalam script setup otomatis terekspos ke template.</a:t>
            </a:r>
            <a:endParaRPr lang="en-US" sz="1100" dirty="0"/>
          </a:p>
        </p:txBody>
      </p:sp>
      <p:sp>
        <p:nvSpPr>
          <p:cNvPr id="12" name="Shape 8"/>
          <p:cNvSpPr/>
          <p:nvPr/>
        </p:nvSpPr>
        <p:spPr>
          <a:xfrm>
            <a:off x="6812280" y="2606040"/>
            <a:ext cx="4828032"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7040880" y="2852928"/>
            <a:ext cx="420624" cy="420624"/>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7158655" y="2970703"/>
            <a:ext cx="185075" cy="185075"/>
          </a:xfrm>
          <a:prstGeom prst="rect">
            <a:avLst/>
          </a:prstGeom>
        </p:spPr>
      </p:pic>
      <p:sp>
        <p:nvSpPr>
          <p:cNvPr id="15" name="Text 10"/>
          <p:cNvSpPr txBox="1"/>
          <p:nvPr/>
        </p:nvSpPr>
        <p:spPr>
          <a:xfrm>
            <a:off x="7571232" y="2770632"/>
            <a:ext cx="384048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Import = Komponen</a:t>
            </a:r>
            <a:endParaRPr lang="en-US" sz="1350" dirty="0"/>
          </a:p>
        </p:txBody>
      </p:sp>
      <p:sp>
        <p:nvSpPr>
          <p:cNvPr id="16" name="Text 11"/>
          <p:cNvSpPr txBox="1"/>
          <p:nvPr/>
        </p:nvSpPr>
        <p:spPr>
          <a:xfrm>
            <a:off x="7571232" y="3063240"/>
            <a:ext cx="3840480" cy="45720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Komponen yang di-import langsung bisa dipakai tanpa perlu didaftarkan lewat opsi components.</a:t>
            </a:r>
            <a:endParaRPr lang="en-US" sz="1100" dirty="0"/>
          </a:p>
        </p:txBody>
      </p:sp>
      <p:sp>
        <p:nvSpPr>
          <p:cNvPr id="17" name="Shape 12"/>
          <p:cNvSpPr/>
          <p:nvPr/>
        </p:nvSpPr>
        <p:spPr>
          <a:xfrm>
            <a:off x="6812280" y="3694176"/>
            <a:ext cx="4828032"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Shape 13"/>
          <p:cNvSpPr/>
          <p:nvPr/>
        </p:nvSpPr>
        <p:spPr>
          <a:xfrm>
            <a:off x="7040880" y="3941064"/>
            <a:ext cx="420624" cy="420624"/>
          </a:xfrm>
          <a:prstGeom prst="ellipse">
            <a:avLst/>
          </a:prstGeom>
          <a:solidFill>
            <a:srgbClr val="E9F5EF"/>
          </a:solidFill>
          <a:ln w="12700">
            <a:solidFill>
              <a:srgbClr val="333333"/>
            </a:solidFill>
            <a:prstDash val="solid"/>
          </a:ln>
        </p:spPr>
      </p:sp>
      <p:pic>
        <p:nvPicPr>
          <p:cNvPr id="19" name="Image 3" descr="preencoded.png">    </p:cNvPr>
          <p:cNvPicPr>
            <a:picLocks noChangeAspect="1"/>
          </p:cNvPicPr>
          <p:nvPr/>
        </p:nvPicPr>
        <p:blipFill>
          <a:blip r:embed="rId4"/>
          <a:stretch>
            <a:fillRect/>
          </a:stretch>
        </p:blipFill>
        <p:spPr>
          <a:xfrm>
            <a:off x="7123176" y="4023360"/>
            <a:ext cx="256032" cy="256032"/>
          </a:xfrm>
          <a:prstGeom prst="rect">
            <a:avLst/>
          </a:prstGeom>
        </p:spPr>
      </p:pic>
      <p:sp>
        <p:nvSpPr>
          <p:cNvPr id="20" name="Text 14"/>
          <p:cNvSpPr txBox="1"/>
          <p:nvPr/>
        </p:nvSpPr>
        <p:spPr>
          <a:xfrm>
            <a:off x="7571232" y="3858768"/>
            <a:ext cx="384048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TypeScript Ramah</a:t>
            </a:r>
            <a:endParaRPr lang="en-US" sz="1350" dirty="0"/>
          </a:p>
        </p:txBody>
      </p:sp>
      <p:sp>
        <p:nvSpPr>
          <p:cNvPr id="21" name="Text 15"/>
          <p:cNvSpPr txBox="1"/>
          <p:nvPr/>
        </p:nvSpPr>
        <p:spPr>
          <a:xfrm>
            <a:off x="7571232" y="4151376"/>
            <a:ext cx="3840480" cy="45720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Type inference bekerja alami untuk props, emits, dan variabel reaktif.</a:t>
            </a:r>
            <a:endParaRPr lang="en-US" sz="1100" dirty="0"/>
          </a:p>
        </p:txBody>
      </p:sp>
      <p:sp>
        <p:nvSpPr>
          <p:cNvPr id="22" name="Shape 16"/>
          <p:cNvSpPr/>
          <p:nvPr/>
        </p:nvSpPr>
        <p:spPr>
          <a:xfrm>
            <a:off x="6812280" y="4782312"/>
            <a:ext cx="4828032" cy="1024128"/>
          </a:xfrm>
          <a:prstGeom prst="roundRect">
            <a:avLst>
              <a:gd name="adj" fmla="val 803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3" name="Shape 17"/>
          <p:cNvSpPr/>
          <p:nvPr/>
        </p:nvSpPr>
        <p:spPr>
          <a:xfrm>
            <a:off x="7040880" y="5029200"/>
            <a:ext cx="420624" cy="420624"/>
          </a:xfrm>
          <a:prstGeom prst="ellipse">
            <a:avLst/>
          </a:prstGeom>
          <a:solidFill>
            <a:srgbClr val="42B883"/>
          </a:solidFill>
          <a:ln w="12700">
            <a:solidFill>
              <a:srgbClr val="42B883"/>
            </a:solidFill>
            <a:prstDash val="solid"/>
          </a:ln>
        </p:spPr>
      </p:sp>
      <p:pic>
        <p:nvPicPr>
          <p:cNvPr id="24" name="Image 4" descr="preencoded.png">    </p:cNvPr>
          <p:cNvPicPr>
            <a:picLocks noChangeAspect="1"/>
          </p:cNvPicPr>
          <p:nvPr/>
        </p:nvPicPr>
        <p:blipFill>
          <a:blip r:embed="rId5"/>
          <a:stretch>
            <a:fillRect/>
          </a:stretch>
        </p:blipFill>
        <p:spPr>
          <a:xfrm>
            <a:off x="7158655" y="5146975"/>
            <a:ext cx="185075" cy="185075"/>
          </a:xfrm>
          <a:prstGeom prst="rect">
            <a:avLst/>
          </a:prstGeom>
        </p:spPr>
      </p:pic>
      <p:sp>
        <p:nvSpPr>
          <p:cNvPr id="25" name="Text 18"/>
          <p:cNvSpPr txBox="1"/>
          <p:nvPr/>
        </p:nvSpPr>
        <p:spPr>
          <a:xfrm>
            <a:off x="7571232" y="4946904"/>
            <a:ext cx="384048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Lebih Sedikit Kode</a:t>
            </a:r>
            <a:endParaRPr lang="en-US" sz="1350" dirty="0"/>
          </a:p>
        </p:txBody>
      </p:sp>
      <p:sp>
        <p:nvSpPr>
          <p:cNvPr id="26" name="Text 19"/>
          <p:cNvSpPr txBox="1"/>
          <p:nvPr/>
        </p:nvSpPr>
        <p:spPr>
          <a:xfrm>
            <a:off x="7571232" y="5239512"/>
            <a:ext cx="3840480" cy="45720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Menghilangkan boilerplate export default dan fungsi setup() eksplisit.</a:t>
            </a:r>
            <a:endParaRPr lang="en-US" sz="1100" dirty="0"/>
          </a:p>
        </p:txBody>
      </p:sp>
      <p:sp>
        <p:nvSpPr>
          <p:cNvPr id="27" name="Shape 20"/>
          <p:cNvSpPr/>
          <p:nvPr/>
        </p:nvSpPr>
        <p:spPr>
          <a:xfrm>
            <a:off x="548640" y="4937760"/>
            <a:ext cx="6035040" cy="914400"/>
          </a:xfrm>
          <a:prstGeom prst="roundRect">
            <a:avLst>
              <a:gd name="adj" fmla="val 9000"/>
            </a:avLst>
          </a:prstGeom>
          <a:solidFill>
            <a:srgbClr val="E9F5EF"/>
          </a:solidFill>
          <a:ln w="12700">
            <a:solidFill>
              <a:srgbClr val="333333"/>
            </a:solidFill>
            <a:prstDash val="solid"/>
          </a:ln>
        </p:spPr>
      </p:sp>
      <p:sp>
        <p:nvSpPr>
          <p:cNvPr id="28" name="Text 21"/>
          <p:cNvSpPr txBox="1"/>
          <p:nvPr/>
        </p:nvSpPr>
        <p:spPr>
          <a:xfrm>
            <a:off x="777240" y="4937760"/>
            <a:ext cx="5577840" cy="914400"/>
          </a:xfrm>
          <a:prstGeom prst="rect">
            <a:avLst/>
          </a:prstGeom>
          <a:noFill/>
          <a:ln/>
        </p:spPr>
        <p:txBody>
          <a:bodyPr wrap="square" lIns="0" tIns="0" rIns="0" bIns="0" rtlCol="0" anchor="ctr"/>
          <a:lstStyle/>
          <a:p>
            <a:pPr indent="0" marL="0">
              <a:lnSpc>
                <a:spcPct val="115000"/>
              </a:lnSpc>
              <a:buNone/>
            </a:pPr>
            <a:r>
              <a:rPr lang="en-US" sz="1200" dirty="0">
                <a:solidFill>
                  <a:srgbClr val="35495E"/>
                </a:solidFill>
                <a:latin typeface="Calibri" pitchFamily="34" charset="0"/>
                <a:ea typeface="Calibri" pitchFamily="34" charset="-122"/>
                <a:cs typeface="Calibri" pitchFamily="34" charset="-120"/>
              </a:rPr>
              <a:t>Catatan: &lt;script setup&gt; hanya bisa dipakai di dalam berkas .vue (SFC), tidak berlaku pada penggunaan Vue via CDN tanpa build step.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366760" y="1143000"/>
            <a:ext cx="4480560" cy="448056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01200" y="2514600"/>
            <a:ext cx="2011680" cy="1737360"/>
          </a:xfrm>
          <a:prstGeom prst="rect">
            <a:avLst/>
          </a:prstGeom>
        </p:spPr>
      </p:pic>
      <p:sp>
        <p:nvSpPr>
          <p:cNvPr id="4" name="Text 1"/>
          <p:cNvSpPr txBox="1"/>
          <p:nvPr/>
        </p:nvSpPr>
        <p:spPr>
          <a:xfrm>
            <a:off x="822960" y="1554480"/>
            <a:ext cx="2194560" cy="1463040"/>
          </a:xfrm>
          <a:prstGeom prst="rect">
            <a:avLst/>
          </a:prstGeom>
          <a:noFill/>
          <a:ln/>
        </p:spPr>
        <p:txBody>
          <a:bodyPr wrap="square" lIns="0" tIns="0" rIns="0" bIns="0" rtlCol="0" anchor="ctr"/>
          <a:lstStyle/>
          <a:p>
            <a:pPr indent="0" marL="0">
              <a:buNone/>
            </a:pPr>
            <a:r>
              <a:rPr lang="en-US" sz="10000" b="1" dirty="0">
                <a:solidFill>
                  <a:srgbClr val="42B883"/>
                </a:solidFill>
                <a:latin typeface="Calibri" pitchFamily="34" charset="0"/>
                <a:ea typeface="Calibri" pitchFamily="34" charset="-122"/>
                <a:cs typeface="Calibri" pitchFamily="34" charset="-120"/>
              </a:rPr>
              <a:t>03</a:t>
            </a:r>
            <a:endParaRPr lang="en-US" sz="10000" dirty="0"/>
          </a:p>
        </p:txBody>
      </p:sp>
      <p:sp>
        <p:nvSpPr>
          <p:cNvPr id="5" name="Text 2"/>
          <p:cNvSpPr txBox="1"/>
          <p:nvPr/>
        </p:nvSpPr>
        <p:spPr>
          <a:xfrm>
            <a:off x="822960" y="3127248"/>
            <a:ext cx="722376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Konsep Inti Vue</a:t>
            </a:r>
            <a:endParaRPr lang="en-US" sz="4000" dirty="0"/>
          </a:p>
        </p:txBody>
      </p:sp>
      <p:sp>
        <p:nvSpPr>
          <p:cNvPr id="6" name="Text 3"/>
          <p:cNvSpPr txBox="1"/>
          <p:nvPr/>
        </p:nvSpPr>
        <p:spPr>
          <a:xfrm>
            <a:off x="822960" y="3977640"/>
            <a:ext cx="6949440" cy="777240"/>
          </a:xfrm>
          <a:prstGeom prst="rect">
            <a:avLst/>
          </a:prstGeom>
          <a:noFill/>
          <a:ln/>
        </p:spPr>
        <p:txBody>
          <a:bodyPr wrap="square" lIns="0" tIns="0" rIns="0" bIns="0" rtlCol="0" anchor="t"/>
          <a:lstStyle/>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Reaktivitas, template syntax, directives, computed,</a:t>
            </a:r>
            <a:endParaRPr lang="en-US" sz="1500" dirty="0"/>
          </a:p>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watcher, dan siklus hidup komponen.</a:t>
            </a:r>
            <a:endParaRPr lang="en-US" sz="1500" dirty="0"/>
          </a:p>
        </p:txBody>
      </p:sp>
      <p:sp>
        <p:nvSpPr>
          <p:cNvPr id="7" name="Shape 4"/>
          <p:cNvSpPr/>
          <p:nvPr/>
        </p:nvSpPr>
        <p:spPr>
          <a:xfrm>
            <a:off x="822960" y="4983480"/>
            <a:ext cx="566928" cy="566928"/>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981700" y="5142220"/>
            <a:ext cx="249448" cy="2494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Sistem Reaktivitas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Bagaimana Vue tahu kapan harus memperbarui tampilan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11091672" cy="457200"/>
          </a:xfrm>
          <a:prstGeom prst="rect">
            <a:avLst/>
          </a:prstGeom>
          <a:noFill/>
          <a:ln/>
        </p:spPr>
        <p:txBody>
          <a:bodyPr wrap="square" lIns="0" tIns="0" rIns="0" bIns="0" rtlCol="0" anchor="t"/>
          <a:lstStyle/>
          <a:p>
            <a:pPr indent="0" marL="0">
              <a:lnSpc>
                <a:spcPct val="115000"/>
              </a:lnSpc>
              <a:buNone/>
            </a:pPr>
            <a:r>
              <a:rPr lang="en-US" sz="1300" dirty="0">
                <a:solidFill>
                  <a:srgbClr val="35495E"/>
                </a:solidFill>
                <a:latin typeface="Calibri" pitchFamily="34" charset="0"/>
                <a:ea typeface="Calibri" pitchFamily="34" charset="-122"/>
                <a:cs typeface="Calibri" pitchFamily="34" charset="-120"/>
              </a:rPr>
              <a:t>Vue 3 membungkus objek data dengan JavaScript Proxy. Setiap kali data dibaca, Vue mencatat siapa yang memakainya (track). Setiap kali data diubah, Vue memberi tahu semua bagian yang bergantung padanya untuk diperbarui (trigger).</a:t>
            </a:r>
            <a:endParaRPr lang="en-US" sz="1300" dirty="0"/>
          </a:p>
        </p:txBody>
      </p:sp>
      <p:sp>
        <p:nvSpPr>
          <p:cNvPr id="6" name="Shape 3"/>
          <p:cNvSpPr/>
          <p:nvPr/>
        </p:nvSpPr>
        <p:spPr>
          <a:xfrm>
            <a:off x="548640" y="2212848"/>
            <a:ext cx="2487168" cy="2148840"/>
          </a:xfrm>
          <a:prstGeom prst="roundRect">
            <a:avLst>
              <a:gd name="adj" fmla="val 38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7" name="Shape 4"/>
          <p:cNvSpPr/>
          <p:nvPr/>
        </p:nvSpPr>
        <p:spPr>
          <a:xfrm>
            <a:off x="1517904" y="2487168"/>
            <a:ext cx="548640" cy="548640"/>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1671523" y="2640787"/>
            <a:ext cx="241402" cy="241402"/>
          </a:xfrm>
          <a:prstGeom prst="rect">
            <a:avLst/>
          </a:prstGeom>
        </p:spPr>
      </p:pic>
      <p:sp>
        <p:nvSpPr>
          <p:cNvPr id="9" name="Text 5"/>
          <p:cNvSpPr txBox="1"/>
          <p:nvPr/>
        </p:nvSpPr>
        <p:spPr>
          <a:xfrm>
            <a:off x="676656" y="3182112"/>
            <a:ext cx="2231136" cy="292608"/>
          </a:xfrm>
          <a:prstGeom prst="rect">
            <a:avLst/>
          </a:prstGeom>
          <a:noFill/>
          <a:ln/>
        </p:spPr>
        <p:txBody>
          <a:bodyPr wrap="square" lIns="0" tIns="0" rIns="0" bIns="0" rtlCol="0" anchor="ctr"/>
          <a:lstStyle/>
          <a:p>
            <a:pPr algn="ctr" indent="0" marL="0">
              <a:buNone/>
            </a:pPr>
            <a:r>
              <a:rPr lang="en-US" sz="1450" b="1" dirty="0">
                <a:solidFill>
                  <a:srgbClr val="35495E"/>
                </a:solidFill>
                <a:latin typeface="Calibri" pitchFamily="34" charset="0"/>
                <a:ea typeface="Calibri" pitchFamily="34" charset="-122"/>
                <a:cs typeface="Calibri" pitchFamily="34" charset="-120"/>
              </a:rPr>
              <a:t>Data Reaktif</a:t>
            </a:r>
            <a:endParaRPr lang="en-US" sz="1450" dirty="0"/>
          </a:p>
        </p:txBody>
      </p:sp>
      <p:sp>
        <p:nvSpPr>
          <p:cNvPr id="10" name="Text 6"/>
          <p:cNvSpPr txBox="1"/>
          <p:nvPr/>
        </p:nvSpPr>
        <p:spPr>
          <a:xfrm>
            <a:off x="676656" y="3520440"/>
            <a:ext cx="2231136" cy="731520"/>
          </a:xfrm>
          <a:prstGeom prst="rect">
            <a:avLst/>
          </a:prstGeom>
          <a:noFill/>
          <a:ln/>
        </p:spPr>
        <p:txBody>
          <a:bodyPr wrap="square" lIns="0" tIns="0" rIns="0" bIns="0" rtlCol="0" anchor="t"/>
          <a:lstStyle/>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ref() / reactive()</a:t>
            </a:r>
            <a:endParaRPr lang="en-US" sz="1150" dirty="0"/>
          </a:p>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membungkus data dengan Proxy</a:t>
            </a:r>
            <a:endParaRPr lang="en-US" sz="1150" dirty="0"/>
          </a:p>
        </p:txBody>
      </p:sp>
      <p:sp>
        <p:nvSpPr>
          <p:cNvPr id="11" name="Shape 7"/>
          <p:cNvSpPr/>
          <p:nvPr/>
        </p:nvSpPr>
        <p:spPr>
          <a:xfrm>
            <a:off x="3099816" y="3154680"/>
            <a:ext cx="256032" cy="237744"/>
          </a:xfrm>
          <a:prstGeom prst="rightArrow">
            <a:avLst/>
          </a:prstGeom>
          <a:solidFill>
            <a:srgbClr val="42B883"/>
          </a:solidFill>
          <a:ln w="12700">
            <a:solidFill>
              <a:srgbClr val="333333"/>
            </a:solidFill>
            <a:prstDash val="solid"/>
          </a:ln>
        </p:spPr>
      </p:sp>
      <p:sp>
        <p:nvSpPr>
          <p:cNvPr id="12" name="Shape 8"/>
          <p:cNvSpPr/>
          <p:nvPr/>
        </p:nvSpPr>
        <p:spPr>
          <a:xfrm>
            <a:off x="3419856" y="2212848"/>
            <a:ext cx="2487168" cy="2148840"/>
          </a:xfrm>
          <a:prstGeom prst="roundRect">
            <a:avLst>
              <a:gd name="adj" fmla="val 38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4389120" y="2487168"/>
            <a:ext cx="548640" cy="548640"/>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4542739" y="2640787"/>
            <a:ext cx="241402" cy="241402"/>
          </a:xfrm>
          <a:prstGeom prst="rect">
            <a:avLst/>
          </a:prstGeom>
        </p:spPr>
      </p:pic>
      <p:sp>
        <p:nvSpPr>
          <p:cNvPr id="15" name="Text 10"/>
          <p:cNvSpPr txBox="1"/>
          <p:nvPr/>
        </p:nvSpPr>
        <p:spPr>
          <a:xfrm>
            <a:off x="3547872" y="3182112"/>
            <a:ext cx="2231136" cy="292608"/>
          </a:xfrm>
          <a:prstGeom prst="rect">
            <a:avLst/>
          </a:prstGeom>
          <a:noFill/>
          <a:ln/>
        </p:spPr>
        <p:txBody>
          <a:bodyPr wrap="square" lIns="0" tIns="0" rIns="0" bIns="0" rtlCol="0" anchor="ctr"/>
          <a:lstStyle/>
          <a:p>
            <a:pPr algn="ctr" indent="0" marL="0">
              <a:buNone/>
            </a:pPr>
            <a:r>
              <a:rPr lang="en-US" sz="1450" b="1" dirty="0">
                <a:solidFill>
                  <a:srgbClr val="35495E"/>
                </a:solidFill>
                <a:latin typeface="Calibri" pitchFamily="34" charset="0"/>
                <a:ea typeface="Calibri" pitchFamily="34" charset="-122"/>
                <a:cs typeface="Calibri" pitchFamily="34" charset="-120"/>
              </a:rPr>
              <a:t>Pelacakan (Track)</a:t>
            </a:r>
            <a:endParaRPr lang="en-US" sz="1450" dirty="0"/>
          </a:p>
        </p:txBody>
      </p:sp>
      <p:sp>
        <p:nvSpPr>
          <p:cNvPr id="16" name="Text 11"/>
          <p:cNvSpPr txBox="1"/>
          <p:nvPr/>
        </p:nvSpPr>
        <p:spPr>
          <a:xfrm>
            <a:off x="3547872" y="3520440"/>
            <a:ext cx="2231136" cy="731520"/>
          </a:xfrm>
          <a:prstGeom prst="rect">
            <a:avLst/>
          </a:prstGeom>
          <a:noFill/>
          <a:ln/>
        </p:spPr>
        <p:txBody>
          <a:bodyPr wrap="square" lIns="0" tIns="0" rIns="0" bIns="0" rtlCol="0" anchor="t"/>
          <a:lstStyle/>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Vue mencatat komponen mana</a:t>
            </a:r>
            <a:endParaRPr lang="en-US" sz="1150" dirty="0"/>
          </a:p>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yang membaca data tersebut</a:t>
            </a:r>
            <a:endParaRPr lang="en-US" sz="1150" dirty="0"/>
          </a:p>
        </p:txBody>
      </p:sp>
      <p:sp>
        <p:nvSpPr>
          <p:cNvPr id="17" name="Shape 12"/>
          <p:cNvSpPr/>
          <p:nvPr/>
        </p:nvSpPr>
        <p:spPr>
          <a:xfrm>
            <a:off x="5971032" y="3154680"/>
            <a:ext cx="256032" cy="237744"/>
          </a:xfrm>
          <a:prstGeom prst="rightArrow">
            <a:avLst/>
          </a:prstGeom>
          <a:solidFill>
            <a:srgbClr val="42B883"/>
          </a:solidFill>
          <a:ln w="12700">
            <a:solidFill>
              <a:srgbClr val="333333"/>
            </a:solidFill>
            <a:prstDash val="solid"/>
          </a:ln>
        </p:spPr>
      </p:sp>
      <p:sp>
        <p:nvSpPr>
          <p:cNvPr id="18" name="Shape 13"/>
          <p:cNvSpPr/>
          <p:nvPr/>
        </p:nvSpPr>
        <p:spPr>
          <a:xfrm>
            <a:off x="6291072" y="2212848"/>
            <a:ext cx="2487168" cy="2148840"/>
          </a:xfrm>
          <a:prstGeom prst="roundRect">
            <a:avLst>
              <a:gd name="adj" fmla="val 38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9" name="Shape 14"/>
          <p:cNvSpPr/>
          <p:nvPr/>
        </p:nvSpPr>
        <p:spPr>
          <a:xfrm>
            <a:off x="7260336" y="2487168"/>
            <a:ext cx="548640" cy="548640"/>
          </a:xfrm>
          <a:prstGeom prst="ellipse">
            <a:avLst/>
          </a:prstGeom>
          <a:solidFill>
            <a:srgbClr val="42B883"/>
          </a:solidFill>
          <a:ln w="12700">
            <a:solidFill>
              <a:srgbClr val="42B883"/>
            </a:solidFill>
            <a:prstDash val="solid"/>
          </a:ln>
        </p:spPr>
      </p:sp>
      <p:pic>
        <p:nvPicPr>
          <p:cNvPr id="20" name="Image 3" descr="preencoded.png">    </p:cNvPr>
          <p:cNvPicPr>
            <a:picLocks noChangeAspect="1"/>
          </p:cNvPicPr>
          <p:nvPr/>
        </p:nvPicPr>
        <p:blipFill>
          <a:blip r:embed="rId4"/>
          <a:stretch>
            <a:fillRect/>
          </a:stretch>
        </p:blipFill>
        <p:spPr>
          <a:xfrm>
            <a:off x="7413955" y="2640787"/>
            <a:ext cx="241402" cy="241402"/>
          </a:xfrm>
          <a:prstGeom prst="rect">
            <a:avLst/>
          </a:prstGeom>
        </p:spPr>
      </p:pic>
      <p:sp>
        <p:nvSpPr>
          <p:cNvPr id="21" name="Text 15"/>
          <p:cNvSpPr txBox="1"/>
          <p:nvPr/>
        </p:nvSpPr>
        <p:spPr>
          <a:xfrm>
            <a:off x="6419088" y="3182112"/>
            <a:ext cx="2231136" cy="292608"/>
          </a:xfrm>
          <a:prstGeom prst="rect">
            <a:avLst/>
          </a:prstGeom>
          <a:noFill/>
          <a:ln/>
        </p:spPr>
        <p:txBody>
          <a:bodyPr wrap="square" lIns="0" tIns="0" rIns="0" bIns="0" rtlCol="0" anchor="ctr"/>
          <a:lstStyle/>
          <a:p>
            <a:pPr algn="ctr" indent="0" marL="0">
              <a:buNone/>
            </a:pPr>
            <a:r>
              <a:rPr lang="en-US" sz="1450" b="1" dirty="0">
                <a:solidFill>
                  <a:srgbClr val="35495E"/>
                </a:solidFill>
                <a:latin typeface="Calibri" pitchFamily="34" charset="0"/>
                <a:ea typeface="Calibri" pitchFamily="34" charset="-122"/>
                <a:cs typeface="Calibri" pitchFamily="34" charset="-120"/>
              </a:rPr>
              <a:t>Pemicu (Trigger)</a:t>
            </a:r>
            <a:endParaRPr lang="en-US" sz="1450" dirty="0"/>
          </a:p>
        </p:txBody>
      </p:sp>
      <p:sp>
        <p:nvSpPr>
          <p:cNvPr id="22" name="Text 16"/>
          <p:cNvSpPr txBox="1"/>
          <p:nvPr/>
        </p:nvSpPr>
        <p:spPr>
          <a:xfrm>
            <a:off x="6419088" y="3520440"/>
            <a:ext cx="2231136" cy="731520"/>
          </a:xfrm>
          <a:prstGeom prst="rect">
            <a:avLst/>
          </a:prstGeom>
          <a:noFill/>
          <a:ln/>
        </p:spPr>
        <p:txBody>
          <a:bodyPr wrap="square" lIns="0" tIns="0" rIns="0" bIns="0" rtlCol="0" anchor="t"/>
          <a:lstStyle/>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Perubahan nilai memberi sinyal</a:t>
            </a:r>
            <a:endParaRPr lang="en-US" sz="1150" dirty="0"/>
          </a:p>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ke seluruh dependensi</a:t>
            </a:r>
            <a:endParaRPr lang="en-US" sz="1150" dirty="0"/>
          </a:p>
        </p:txBody>
      </p:sp>
      <p:sp>
        <p:nvSpPr>
          <p:cNvPr id="23" name="Shape 17"/>
          <p:cNvSpPr/>
          <p:nvPr/>
        </p:nvSpPr>
        <p:spPr>
          <a:xfrm>
            <a:off x="8842248" y="3154680"/>
            <a:ext cx="256032" cy="237744"/>
          </a:xfrm>
          <a:prstGeom prst="rightArrow">
            <a:avLst/>
          </a:prstGeom>
          <a:solidFill>
            <a:srgbClr val="42B883"/>
          </a:solidFill>
          <a:ln w="12700">
            <a:solidFill>
              <a:srgbClr val="333333"/>
            </a:solidFill>
            <a:prstDash val="solid"/>
          </a:ln>
        </p:spPr>
      </p:sp>
      <p:sp>
        <p:nvSpPr>
          <p:cNvPr id="24" name="Shape 18"/>
          <p:cNvSpPr/>
          <p:nvPr/>
        </p:nvSpPr>
        <p:spPr>
          <a:xfrm>
            <a:off x="9162288" y="2212848"/>
            <a:ext cx="2487168" cy="2148840"/>
          </a:xfrm>
          <a:prstGeom prst="roundRect">
            <a:avLst>
              <a:gd name="adj" fmla="val 383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5" name="Shape 19"/>
          <p:cNvSpPr/>
          <p:nvPr/>
        </p:nvSpPr>
        <p:spPr>
          <a:xfrm>
            <a:off x="10131552" y="2487168"/>
            <a:ext cx="548640" cy="548640"/>
          </a:xfrm>
          <a:prstGeom prst="ellipse">
            <a:avLst/>
          </a:prstGeom>
          <a:solidFill>
            <a:srgbClr val="42B883"/>
          </a:solidFill>
          <a:ln w="12700">
            <a:solidFill>
              <a:srgbClr val="42B883"/>
            </a:solidFill>
            <a:prstDash val="solid"/>
          </a:ln>
        </p:spPr>
      </p:sp>
      <p:pic>
        <p:nvPicPr>
          <p:cNvPr id="26" name="Image 4" descr="preencoded.png">    </p:cNvPr>
          <p:cNvPicPr>
            <a:picLocks noChangeAspect="1"/>
          </p:cNvPicPr>
          <p:nvPr/>
        </p:nvPicPr>
        <p:blipFill>
          <a:blip r:embed="rId5"/>
          <a:stretch>
            <a:fillRect/>
          </a:stretch>
        </p:blipFill>
        <p:spPr>
          <a:xfrm>
            <a:off x="10285171" y="2640787"/>
            <a:ext cx="241402" cy="241402"/>
          </a:xfrm>
          <a:prstGeom prst="rect">
            <a:avLst/>
          </a:prstGeom>
        </p:spPr>
      </p:pic>
      <p:sp>
        <p:nvSpPr>
          <p:cNvPr id="27" name="Text 20"/>
          <p:cNvSpPr txBox="1"/>
          <p:nvPr/>
        </p:nvSpPr>
        <p:spPr>
          <a:xfrm>
            <a:off x="9290304" y="3182112"/>
            <a:ext cx="2231136" cy="292608"/>
          </a:xfrm>
          <a:prstGeom prst="rect">
            <a:avLst/>
          </a:prstGeom>
          <a:noFill/>
          <a:ln/>
        </p:spPr>
        <p:txBody>
          <a:bodyPr wrap="square" lIns="0" tIns="0" rIns="0" bIns="0" rtlCol="0" anchor="ctr"/>
          <a:lstStyle/>
          <a:p>
            <a:pPr algn="ctr" indent="0" marL="0">
              <a:buNone/>
            </a:pPr>
            <a:r>
              <a:rPr lang="en-US" sz="1450" b="1" dirty="0">
                <a:solidFill>
                  <a:srgbClr val="35495E"/>
                </a:solidFill>
                <a:latin typeface="Calibri" pitchFamily="34" charset="0"/>
                <a:ea typeface="Calibri" pitchFamily="34" charset="-122"/>
                <a:cs typeface="Calibri" pitchFamily="34" charset="-120"/>
              </a:rPr>
              <a:t>Render Ulang</a:t>
            </a:r>
            <a:endParaRPr lang="en-US" sz="1450" dirty="0"/>
          </a:p>
        </p:txBody>
      </p:sp>
      <p:sp>
        <p:nvSpPr>
          <p:cNvPr id="28" name="Text 21"/>
          <p:cNvSpPr txBox="1"/>
          <p:nvPr/>
        </p:nvSpPr>
        <p:spPr>
          <a:xfrm>
            <a:off x="9290304" y="3520440"/>
            <a:ext cx="2231136" cy="731520"/>
          </a:xfrm>
          <a:prstGeom prst="rect">
            <a:avLst/>
          </a:prstGeom>
          <a:noFill/>
          <a:ln/>
        </p:spPr>
        <p:txBody>
          <a:bodyPr wrap="square" lIns="0" tIns="0" rIns="0" bIns="0" rtlCol="0" anchor="t"/>
          <a:lstStyle/>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Virtual DOM dibandingkan,</a:t>
            </a:r>
            <a:endParaRPr lang="en-US" sz="1150" dirty="0"/>
          </a:p>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hanya bagian berubah diperbarui</a:t>
            </a:r>
            <a:endParaRPr lang="en-US" sz="1150" dirty="0"/>
          </a:p>
        </p:txBody>
      </p:sp>
      <p:sp>
        <p:nvSpPr>
          <p:cNvPr id="29" name="Shape 22"/>
          <p:cNvSpPr/>
          <p:nvPr/>
        </p:nvSpPr>
        <p:spPr>
          <a:xfrm>
            <a:off x="548640" y="4572000"/>
            <a:ext cx="11091672" cy="475488"/>
          </a:xfrm>
          <a:prstGeom prst="roundRect">
            <a:avLst>
              <a:gd name="adj" fmla="val 19231"/>
            </a:avLst>
          </a:prstGeom>
          <a:solidFill>
            <a:srgbClr val="E9F5EF"/>
          </a:solidFill>
          <a:ln w="12700">
            <a:solidFill>
              <a:srgbClr val="333333"/>
            </a:solidFill>
            <a:prstDash val="solid"/>
          </a:ln>
        </p:spPr>
      </p:sp>
      <p:sp>
        <p:nvSpPr>
          <p:cNvPr id="30" name="Text 23"/>
          <p:cNvSpPr txBox="1"/>
          <p:nvPr/>
        </p:nvSpPr>
        <p:spPr>
          <a:xfrm>
            <a:off x="548640" y="4572000"/>
            <a:ext cx="11091672" cy="475488"/>
          </a:xfrm>
          <a:prstGeom prst="rect">
            <a:avLst/>
          </a:prstGeom>
          <a:noFill/>
          <a:ln/>
        </p:spPr>
        <p:txBody>
          <a:bodyPr wrap="square" lIns="0" tIns="0" rIns="0" bIns="0" rtlCol="0" anchor="ctr"/>
          <a:lstStyle/>
          <a:p>
            <a:pPr algn="ctr" indent="0" marL="0">
              <a:buNone/>
            </a:pPr>
            <a:r>
              <a:rPr lang="en-US" sz="1200" b="1" dirty="0">
                <a:solidFill>
                  <a:srgbClr val="2F9E6E"/>
                </a:solidFill>
                <a:latin typeface="Calibri" pitchFamily="34" charset="0"/>
                <a:ea typeface="Calibri" pitchFamily="34" charset="-122"/>
                <a:cs typeface="Calibri" pitchFamily="34" charset="-120"/>
              </a:rPr>
              <a:t>Siklus berulang otomatis setiap kali data berubah — tanpa satu baris pun manipulasi DOM manual</a:t>
            </a:r>
            <a:endParaRPr lang="en-US" sz="1200" dirty="0"/>
          </a:p>
        </p:txBody>
      </p:sp>
      <p:sp>
        <p:nvSpPr>
          <p:cNvPr id="31" name="Shape 24"/>
          <p:cNvSpPr/>
          <p:nvPr/>
        </p:nvSpPr>
        <p:spPr>
          <a:xfrm>
            <a:off x="548640" y="5257800"/>
            <a:ext cx="11091672" cy="868698"/>
          </a:xfrm>
          <a:prstGeom prst="roundRect">
            <a:avLst>
              <a:gd name="adj" fmla="val 7368"/>
            </a:avLst>
          </a:prstGeom>
          <a:solidFill>
            <a:srgbClr val="253340"/>
          </a:solidFill>
          <a:ln w="12700">
            <a:solidFill>
              <a:srgbClr val="253340"/>
            </a:solidFill>
            <a:prstDash val="solid"/>
          </a:ln>
        </p:spPr>
      </p:sp>
      <p:sp>
        <p:nvSpPr>
          <p:cNvPr id="32" name="Text 25"/>
          <p:cNvSpPr txBox="1"/>
          <p:nvPr/>
        </p:nvSpPr>
        <p:spPr>
          <a:xfrm>
            <a:off x="676656" y="5376672"/>
            <a:ext cx="10835640" cy="630954"/>
          </a:xfrm>
          <a:prstGeom prst="rect">
            <a:avLst/>
          </a:prstGeom>
          <a:noFill/>
          <a:ln/>
        </p:spPr>
        <p:txBody>
          <a:bodyPr wrap="square" lIns="0" tIns="0" rIns="0" bIns="0" rtlCol="0" anchor="t"/>
          <a:lstStyle/>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const jumlah = ref(0);              // dibungkus Proxy, menjadi reaktif</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jumlah.value = 5;                   // Vue mendeteksi perubahan ini</a:t>
            </a:r>
            <a:endParaRPr lang="en-US" sz="1300" dirty="0"/>
          </a:p>
          <a:p>
            <a:pPr indent="0" marL="0">
              <a:lnSpc>
                <a:spcPct val="105000"/>
              </a:lnSpc>
              <a:buNone/>
            </a:pPr>
            <a:r>
              <a:rPr lang="en-US" sz="1300" dirty="0">
                <a:solidFill>
                  <a:srgbClr val="7E93A3"/>
                </a:solidFill>
                <a:latin typeface="Courier New" pitchFamily="34" charset="0"/>
                <a:ea typeface="Courier New" pitchFamily="34" charset="-122"/>
                <a:cs typeface="Courier New" pitchFamily="34" charset="-120"/>
              </a:rPr>
              <a:t>// -&gt; semua template &amp; computed yang memakai "jumlah" ikut diperbarui otomatis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ref() vs reactive()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Dua cara membuat data menjadi reaktif di Composition API</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81328"/>
            <a:ext cx="5394960" cy="3474720"/>
          </a:xfrm>
          <a:prstGeom prst="roundRect">
            <a:avLst>
              <a:gd name="adj" fmla="val 236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841248" y="1664208"/>
            <a:ext cx="4572000" cy="256032"/>
          </a:xfrm>
          <a:prstGeom prst="rect">
            <a:avLst/>
          </a:prstGeom>
          <a:noFill/>
          <a:ln/>
        </p:spPr>
        <p:txBody>
          <a:bodyPr wrap="square" lIns="0" tIns="0" rIns="0" bIns="0" rtlCol="0" anchor="ctr"/>
          <a:lstStyle/>
          <a:p>
            <a:pPr indent="0" marL="0">
              <a:buNone/>
            </a:pPr>
            <a:r>
              <a:rPr lang="en-US" sz="1600" b="1" dirty="0">
                <a:solidFill>
                  <a:srgbClr val="2F9E6E"/>
                </a:solidFill>
                <a:latin typeface="Calibri" pitchFamily="34" charset="0"/>
                <a:ea typeface="Calibri" pitchFamily="34" charset="-122"/>
                <a:cs typeface="Calibri" pitchFamily="34" charset="-120"/>
              </a:rPr>
              <a:t>ref()</a:t>
            </a:r>
            <a:endParaRPr lang="en-US" sz="1600" dirty="0"/>
          </a:p>
        </p:txBody>
      </p:sp>
      <p:sp>
        <p:nvSpPr>
          <p:cNvPr id="7" name="Text 4"/>
          <p:cNvSpPr txBox="1"/>
          <p:nvPr/>
        </p:nvSpPr>
        <p:spPr>
          <a:xfrm>
            <a:off x="841248" y="1938528"/>
            <a:ext cx="4809744" cy="256032"/>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Untuk semua tipe data — primitif maupun objek</a:t>
            </a:r>
            <a:endParaRPr lang="en-US" sz="1150" dirty="0"/>
          </a:p>
        </p:txBody>
      </p:sp>
      <p:sp>
        <p:nvSpPr>
          <p:cNvPr id="8" name="Shape 5"/>
          <p:cNvSpPr/>
          <p:nvPr/>
        </p:nvSpPr>
        <p:spPr>
          <a:xfrm>
            <a:off x="841248" y="2249424"/>
            <a:ext cx="4809744" cy="2518184"/>
          </a:xfrm>
          <a:prstGeom prst="roundRect">
            <a:avLst>
              <a:gd name="adj" fmla="val 2542"/>
            </a:avLst>
          </a:prstGeom>
          <a:solidFill>
            <a:srgbClr val="253340"/>
          </a:solidFill>
          <a:ln w="12700">
            <a:solidFill>
              <a:srgbClr val="253340"/>
            </a:solidFill>
            <a:prstDash val="solid"/>
          </a:ln>
        </p:spPr>
      </p:sp>
      <p:sp>
        <p:nvSpPr>
          <p:cNvPr id="9" name="Text 6"/>
          <p:cNvSpPr txBox="1"/>
          <p:nvPr/>
        </p:nvSpPr>
        <p:spPr>
          <a:xfrm>
            <a:off x="969264" y="2368296"/>
            <a:ext cx="4553712" cy="2280440"/>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 ref } from "vue";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nama = ref("Budi");</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umur = ref(20);</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hobi = ref(["baca", "koding"]);</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di JavaScript wajib pakai .value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nama.value = "Andi";</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umur.value++;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di template TIDAK perlu .value</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&lt;p&gt;{{ nama }}&lt;/p&gt;</a:t>
            </a:r>
            <a:endParaRPr lang="en-US" sz="1200" dirty="0"/>
          </a:p>
        </p:txBody>
      </p:sp>
      <p:sp>
        <p:nvSpPr>
          <p:cNvPr id="10" name="Shape 7"/>
          <p:cNvSpPr/>
          <p:nvPr/>
        </p:nvSpPr>
        <p:spPr>
          <a:xfrm>
            <a:off x="6245352" y="1481328"/>
            <a:ext cx="5394960" cy="3474720"/>
          </a:xfrm>
          <a:prstGeom prst="roundRect">
            <a:avLst>
              <a:gd name="adj" fmla="val 236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Text 8"/>
          <p:cNvSpPr txBox="1"/>
          <p:nvPr/>
        </p:nvSpPr>
        <p:spPr>
          <a:xfrm>
            <a:off x="6537960" y="1664208"/>
            <a:ext cx="4572000" cy="256032"/>
          </a:xfrm>
          <a:prstGeom prst="rect">
            <a:avLst/>
          </a:prstGeom>
          <a:noFill/>
          <a:ln/>
        </p:spPr>
        <p:txBody>
          <a:bodyPr wrap="square" lIns="0" tIns="0" rIns="0" bIns="0" rtlCol="0" anchor="ctr"/>
          <a:lstStyle/>
          <a:p>
            <a:pPr indent="0" marL="0">
              <a:buNone/>
            </a:pPr>
            <a:r>
              <a:rPr lang="en-US" sz="1600" b="1" dirty="0">
                <a:solidFill>
                  <a:srgbClr val="2F9E6E"/>
                </a:solidFill>
                <a:latin typeface="Calibri" pitchFamily="34" charset="0"/>
                <a:ea typeface="Calibri" pitchFamily="34" charset="-122"/>
                <a:cs typeface="Calibri" pitchFamily="34" charset="-120"/>
              </a:rPr>
              <a:t>reactive()</a:t>
            </a:r>
            <a:endParaRPr lang="en-US" sz="1600" dirty="0"/>
          </a:p>
        </p:txBody>
      </p:sp>
      <p:sp>
        <p:nvSpPr>
          <p:cNvPr id="12" name="Text 9"/>
          <p:cNvSpPr txBox="1"/>
          <p:nvPr/>
        </p:nvSpPr>
        <p:spPr>
          <a:xfrm>
            <a:off x="6537960" y="1938528"/>
            <a:ext cx="4809744" cy="256032"/>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Khusus untuk objek, array, Map, dan Set</a:t>
            </a:r>
            <a:endParaRPr lang="en-US" sz="1150" dirty="0"/>
          </a:p>
        </p:txBody>
      </p:sp>
      <p:sp>
        <p:nvSpPr>
          <p:cNvPr id="13" name="Shape 10"/>
          <p:cNvSpPr/>
          <p:nvPr/>
        </p:nvSpPr>
        <p:spPr>
          <a:xfrm>
            <a:off x="6537960" y="2249424"/>
            <a:ext cx="4809744" cy="2518184"/>
          </a:xfrm>
          <a:prstGeom prst="roundRect">
            <a:avLst>
              <a:gd name="adj" fmla="val 2542"/>
            </a:avLst>
          </a:prstGeom>
          <a:solidFill>
            <a:srgbClr val="253340"/>
          </a:solidFill>
          <a:ln w="12700">
            <a:solidFill>
              <a:srgbClr val="253340"/>
            </a:solidFill>
            <a:prstDash val="solid"/>
          </a:ln>
        </p:spPr>
      </p:sp>
      <p:sp>
        <p:nvSpPr>
          <p:cNvPr id="14" name="Text 11"/>
          <p:cNvSpPr txBox="1"/>
          <p:nvPr/>
        </p:nvSpPr>
        <p:spPr>
          <a:xfrm>
            <a:off x="6665976" y="2368296"/>
            <a:ext cx="4553712" cy="2280440"/>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 reactive } from "vue";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mahasiswa = reactive({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nama: "Budi",</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nim: "123456",</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nilai: [80, 90]</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akses langsung tanpa .value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mahasiswa.nama = "Andi";</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mahasiswa.nilai.push(75);</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p:txBody>
      </p:sp>
      <p:sp>
        <p:nvSpPr>
          <p:cNvPr id="15" name="Shape 12"/>
          <p:cNvSpPr/>
          <p:nvPr/>
        </p:nvSpPr>
        <p:spPr>
          <a:xfrm>
            <a:off x="548640" y="5138928"/>
            <a:ext cx="11091672" cy="1170432"/>
          </a:xfrm>
          <a:prstGeom prst="roundRect">
            <a:avLst>
              <a:gd name="adj" fmla="val 7031"/>
            </a:avLst>
          </a:prstGeom>
          <a:solidFill>
            <a:srgbClr val="FFFFFF"/>
          </a:solidFill>
          <a:ln w="12700">
            <a:solidFill>
              <a:srgbClr val="333333"/>
            </a:solidFill>
            <a:prstDash val="solid"/>
          </a:ln>
          <a:effectLst>
            <a:outerShdw sx="100000" sy="100000" kx="0" ky="0" algn="bl" rotWithShape="0" blurRad="127000" dist="25400" dir="5400000">
              <a:srgbClr val="B9C7C1">
                <a:alpha val="40000"/>
              </a:srgbClr>
            </a:outerShdw>
          </a:effectLst>
        </p:spPr>
      </p:sp>
      <p:sp>
        <p:nvSpPr>
          <p:cNvPr id="16" name="Text 13"/>
          <p:cNvSpPr txBox="1"/>
          <p:nvPr/>
        </p:nvSpPr>
        <p:spPr>
          <a:xfrm>
            <a:off x="685800" y="5248656"/>
            <a:ext cx="2606040" cy="237744"/>
          </a:xfrm>
          <a:prstGeom prst="rect">
            <a:avLst/>
          </a:prstGeom>
          <a:noFill/>
          <a:ln/>
        </p:spPr>
        <p:txBody>
          <a:bodyPr wrap="square" lIns="0" tIns="0" rIns="0" bIns="0" rtlCol="0" anchor="ctr"/>
          <a:lstStyle/>
          <a:p>
            <a:pPr indent="0" marL="0">
              <a:buNone/>
            </a:pPr>
            <a:r>
              <a:rPr lang="en-US" sz="1050" b="1" spc="80" kern="0" dirty="0">
                <a:solidFill>
                  <a:srgbClr val="42B883"/>
                </a:solidFill>
                <a:latin typeface="Calibri" pitchFamily="34" charset="0"/>
                <a:ea typeface="Calibri" pitchFamily="34" charset="-122"/>
                <a:cs typeface="Calibri" pitchFamily="34" charset="-120"/>
              </a:rPr>
              <a:t>TIPE DATA</a:t>
            </a:r>
            <a:endParaRPr lang="en-US" sz="1050" dirty="0"/>
          </a:p>
        </p:txBody>
      </p:sp>
      <p:sp>
        <p:nvSpPr>
          <p:cNvPr id="17" name="Text 14"/>
          <p:cNvSpPr txBox="1"/>
          <p:nvPr/>
        </p:nvSpPr>
        <p:spPr>
          <a:xfrm>
            <a:off x="685800" y="5522976"/>
            <a:ext cx="2606040" cy="274320"/>
          </a:xfrm>
          <a:prstGeom prst="rect">
            <a:avLst/>
          </a:prstGeom>
          <a:noFill/>
          <a:ln/>
        </p:spPr>
        <p:txBody>
          <a:bodyPr wrap="square" lIns="0" tIns="0" rIns="0" bIns="0" rtlCol="0" anchor="ctr"/>
          <a:lstStyle/>
          <a:p>
            <a:pPr indent="0" marL="0">
              <a:buNone/>
            </a:pPr>
            <a:r>
              <a:rPr lang="en-US" sz="1150" b="1" dirty="0">
                <a:solidFill>
                  <a:srgbClr val="35495E"/>
                </a:solidFill>
                <a:latin typeface="Calibri" pitchFamily="34" charset="0"/>
                <a:ea typeface="Calibri" pitchFamily="34" charset="-122"/>
                <a:cs typeface="Calibri" pitchFamily="34" charset="-120"/>
              </a:rPr>
              <a:t>ref: </a:t>
            </a:r>
            <a:pPr indent="0" marL="0">
              <a:buNone/>
            </a:pPr>
            <a:r>
              <a:rPr lang="en-US" sz="1150" dirty="0">
                <a:solidFill>
                  <a:srgbClr val="6B7C8C"/>
                </a:solidFill>
                <a:latin typeface="Calibri" pitchFamily="34" charset="0"/>
                <a:ea typeface="Calibri" pitchFamily="34" charset="-122"/>
                <a:cs typeface="Calibri" pitchFamily="34" charset="-120"/>
              </a:rPr>
              <a:t>Semua tipe</a:t>
            </a:r>
            <a:endParaRPr lang="en-US" sz="1150" dirty="0"/>
          </a:p>
        </p:txBody>
      </p:sp>
      <p:sp>
        <p:nvSpPr>
          <p:cNvPr id="18" name="Text 15"/>
          <p:cNvSpPr txBox="1"/>
          <p:nvPr/>
        </p:nvSpPr>
        <p:spPr>
          <a:xfrm>
            <a:off x="685800" y="5815584"/>
            <a:ext cx="2606040" cy="365760"/>
          </a:xfrm>
          <a:prstGeom prst="rect">
            <a:avLst/>
          </a:prstGeom>
          <a:noFill/>
          <a:ln/>
        </p:spPr>
        <p:txBody>
          <a:bodyPr wrap="square" lIns="0" tIns="0" rIns="0" bIns="0" rtlCol="0" anchor="t"/>
          <a:lstStyle/>
          <a:p>
            <a:pPr indent="0" marL="0">
              <a:buNone/>
            </a:pPr>
            <a:r>
              <a:rPr lang="en-US" sz="1150" b="1" dirty="0">
                <a:solidFill>
                  <a:srgbClr val="35495E"/>
                </a:solidFill>
                <a:latin typeface="Calibri" pitchFamily="34" charset="0"/>
                <a:ea typeface="Calibri" pitchFamily="34" charset="-122"/>
                <a:cs typeface="Calibri" pitchFamily="34" charset="-120"/>
              </a:rPr>
              <a:t>reactive: </a:t>
            </a:r>
            <a:pPr indent="0" marL="0">
              <a:buNone/>
            </a:pPr>
            <a:r>
              <a:rPr lang="en-US" sz="1150" dirty="0">
                <a:solidFill>
                  <a:srgbClr val="6B7C8C"/>
                </a:solidFill>
                <a:latin typeface="Calibri" pitchFamily="34" charset="0"/>
                <a:ea typeface="Calibri" pitchFamily="34" charset="-122"/>
                <a:cs typeface="Calibri" pitchFamily="34" charset="-120"/>
              </a:rPr>
              <a:t>Hanya objek/array</a:t>
            </a:r>
            <a:endParaRPr lang="en-US" sz="1150" dirty="0"/>
          </a:p>
        </p:txBody>
      </p:sp>
      <p:sp>
        <p:nvSpPr>
          <p:cNvPr id="19" name="Text 16"/>
          <p:cNvSpPr txBox="1"/>
          <p:nvPr/>
        </p:nvSpPr>
        <p:spPr>
          <a:xfrm>
            <a:off x="3429000" y="5248656"/>
            <a:ext cx="2606040" cy="237744"/>
          </a:xfrm>
          <a:prstGeom prst="rect">
            <a:avLst/>
          </a:prstGeom>
          <a:noFill/>
          <a:ln/>
        </p:spPr>
        <p:txBody>
          <a:bodyPr wrap="square" lIns="0" tIns="0" rIns="0" bIns="0" rtlCol="0" anchor="ctr"/>
          <a:lstStyle/>
          <a:p>
            <a:pPr indent="0" marL="0">
              <a:buNone/>
            </a:pPr>
            <a:r>
              <a:rPr lang="en-US" sz="1050" b="1" spc="80" kern="0" dirty="0">
                <a:solidFill>
                  <a:srgbClr val="42B883"/>
                </a:solidFill>
                <a:latin typeface="Calibri" pitchFamily="34" charset="0"/>
                <a:ea typeface="Calibri" pitchFamily="34" charset="-122"/>
                <a:cs typeface="Calibri" pitchFamily="34" charset="-120"/>
              </a:rPr>
              <a:t>AKSES NILAI</a:t>
            </a:r>
            <a:endParaRPr lang="en-US" sz="1050" dirty="0"/>
          </a:p>
        </p:txBody>
      </p:sp>
      <p:sp>
        <p:nvSpPr>
          <p:cNvPr id="20" name="Text 17"/>
          <p:cNvSpPr txBox="1"/>
          <p:nvPr/>
        </p:nvSpPr>
        <p:spPr>
          <a:xfrm>
            <a:off x="3429000" y="5522976"/>
            <a:ext cx="2606040" cy="274320"/>
          </a:xfrm>
          <a:prstGeom prst="rect">
            <a:avLst/>
          </a:prstGeom>
          <a:noFill/>
          <a:ln/>
        </p:spPr>
        <p:txBody>
          <a:bodyPr wrap="square" lIns="0" tIns="0" rIns="0" bIns="0" rtlCol="0" anchor="ctr"/>
          <a:lstStyle/>
          <a:p>
            <a:pPr indent="0" marL="0">
              <a:buNone/>
            </a:pPr>
            <a:r>
              <a:rPr lang="en-US" sz="1150" b="1" dirty="0">
                <a:solidFill>
                  <a:srgbClr val="35495E"/>
                </a:solidFill>
                <a:latin typeface="Calibri" pitchFamily="34" charset="0"/>
                <a:ea typeface="Calibri" pitchFamily="34" charset="-122"/>
                <a:cs typeface="Calibri" pitchFamily="34" charset="-120"/>
              </a:rPr>
              <a:t>ref: </a:t>
            </a:r>
            <a:pPr indent="0" marL="0">
              <a:buNone/>
            </a:pPr>
            <a:r>
              <a:rPr lang="en-US" sz="1150" dirty="0">
                <a:solidFill>
                  <a:srgbClr val="6B7C8C"/>
                </a:solidFill>
                <a:latin typeface="Calibri" pitchFamily="34" charset="0"/>
                <a:ea typeface="Calibri" pitchFamily="34" charset="-122"/>
                <a:cs typeface="Calibri" pitchFamily="34" charset="-120"/>
              </a:rPr>
              <a:t>Perlu .value di script</a:t>
            </a:r>
            <a:endParaRPr lang="en-US" sz="1150" dirty="0"/>
          </a:p>
        </p:txBody>
      </p:sp>
      <p:sp>
        <p:nvSpPr>
          <p:cNvPr id="21" name="Text 18"/>
          <p:cNvSpPr txBox="1"/>
          <p:nvPr/>
        </p:nvSpPr>
        <p:spPr>
          <a:xfrm>
            <a:off x="3429000" y="5815584"/>
            <a:ext cx="2606040" cy="365760"/>
          </a:xfrm>
          <a:prstGeom prst="rect">
            <a:avLst/>
          </a:prstGeom>
          <a:noFill/>
          <a:ln/>
        </p:spPr>
        <p:txBody>
          <a:bodyPr wrap="square" lIns="0" tIns="0" rIns="0" bIns="0" rtlCol="0" anchor="t"/>
          <a:lstStyle/>
          <a:p>
            <a:pPr indent="0" marL="0">
              <a:buNone/>
            </a:pPr>
            <a:r>
              <a:rPr lang="en-US" sz="1150" b="1" dirty="0">
                <a:solidFill>
                  <a:srgbClr val="35495E"/>
                </a:solidFill>
                <a:latin typeface="Calibri" pitchFamily="34" charset="0"/>
                <a:ea typeface="Calibri" pitchFamily="34" charset="-122"/>
                <a:cs typeface="Calibri" pitchFamily="34" charset="-120"/>
              </a:rPr>
              <a:t>reactive: </a:t>
            </a:r>
            <a:pPr indent="0" marL="0">
              <a:buNone/>
            </a:pPr>
            <a:r>
              <a:rPr lang="en-US" sz="1150" dirty="0">
                <a:solidFill>
                  <a:srgbClr val="6B7C8C"/>
                </a:solidFill>
                <a:latin typeface="Calibri" pitchFamily="34" charset="0"/>
                <a:ea typeface="Calibri" pitchFamily="34" charset="-122"/>
                <a:cs typeface="Calibri" pitchFamily="34" charset="-120"/>
              </a:rPr>
              <a:t>Langsung ke properti</a:t>
            </a:r>
            <a:endParaRPr lang="en-US" sz="1150" dirty="0"/>
          </a:p>
        </p:txBody>
      </p:sp>
      <p:sp>
        <p:nvSpPr>
          <p:cNvPr id="22" name="Text 19"/>
          <p:cNvSpPr txBox="1"/>
          <p:nvPr/>
        </p:nvSpPr>
        <p:spPr>
          <a:xfrm>
            <a:off x="6172200" y="5248656"/>
            <a:ext cx="2606040" cy="237744"/>
          </a:xfrm>
          <a:prstGeom prst="rect">
            <a:avLst/>
          </a:prstGeom>
          <a:noFill/>
          <a:ln/>
        </p:spPr>
        <p:txBody>
          <a:bodyPr wrap="square" lIns="0" tIns="0" rIns="0" bIns="0" rtlCol="0" anchor="ctr"/>
          <a:lstStyle/>
          <a:p>
            <a:pPr indent="0" marL="0">
              <a:buNone/>
            </a:pPr>
            <a:r>
              <a:rPr lang="en-US" sz="1050" b="1" spc="80" kern="0" dirty="0">
                <a:solidFill>
                  <a:srgbClr val="42B883"/>
                </a:solidFill>
                <a:latin typeface="Calibri" pitchFamily="34" charset="0"/>
                <a:ea typeface="Calibri" pitchFamily="34" charset="-122"/>
                <a:cs typeface="Calibri" pitchFamily="34" charset="-120"/>
              </a:rPr>
              <a:t>DESTRUCTURING</a:t>
            </a:r>
            <a:endParaRPr lang="en-US" sz="1050" dirty="0"/>
          </a:p>
        </p:txBody>
      </p:sp>
      <p:sp>
        <p:nvSpPr>
          <p:cNvPr id="23" name="Text 20"/>
          <p:cNvSpPr txBox="1"/>
          <p:nvPr/>
        </p:nvSpPr>
        <p:spPr>
          <a:xfrm>
            <a:off x="6172200" y="5522976"/>
            <a:ext cx="2606040" cy="274320"/>
          </a:xfrm>
          <a:prstGeom prst="rect">
            <a:avLst/>
          </a:prstGeom>
          <a:noFill/>
          <a:ln/>
        </p:spPr>
        <p:txBody>
          <a:bodyPr wrap="square" lIns="0" tIns="0" rIns="0" bIns="0" rtlCol="0" anchor="ctr"/>
          <a:lstStyle/>
          <a:p>
            <a:pPr indent="0" marL="0">
              <a:buNone/>
            </a:pPr>
            <a:r>
              <a:rPr lang="en-US" sz="1150" b="1" dirty="0">
                <a:solidFill>
                  <a:srgbClr val="35495E"/>
                </a:solidFill>
                <a:latin typeface="Calibri" pitchFamily="34" charset="0"/>
                <a:ea typeface="Calibri" pitchFamily="34" charset="-122"/>
                <a:cs typeface="Calibri" pitchFamily="34" charset="-120"/>
              </a:rPr>
              <a:t>ref: </a:t>
            </a:r>
            <a:pPr indent="0" marL="0">
              <a:buNone/>
            </a:pPr>
            <a:r>
              <a:rPr lang="en-US" sz="1150" dirty="0">
                <a:solidFill>
                  <a:srgbClr val="6B7C8C"/>
                </a:solidFill>
                <a:latin typeface="Calibri" pitchFamily="34" charset="0"/>
                <a:ea typeface="Calibri" pitchFamily="34" charset="-122"/>
                <a:cs typeface="Calibri" pitchFamily="34" charset="-120"/>
              </a:rPr>
              <a:t>Aman dengan toRefs()</a:t>
            </a:r>
            <a:endParaRPr lang="en-US" sz="1150" dirty="0"/>
          </a:p>
        </p:txBody>
      </p:sp>
      <p:sp>
        <p:nvSpPr>
          <p:cNvPr id="24" name="Text 21"/>
          <p:cNvSpPr txBox="1"/>
          <p:nvPr/>
        </p:nvSpPr>
        <p:spPr>
          <a:xfrm>
            <a:off x="6172200" y="5815584"/>
            <a:ext cx="2606040" cy="365760"/>
          </a:xfrm>
          <a:prstGeom prst="rect">
            <a:avLst/>
          </a:prstGeom>
          <a:noFill/>
          <a:ln/>
        </p:spPr>
        <p:txBody>
          <a:bodyPr wrap="square" lIns="0" tIns="0" rIns="0" bIns="0" rtlCol="0" anchor="t"/>
          <a:lstStyle/>
          <a:p>
            <a:pPr indent="0" marL="0">
              <a:buNone/>
            </a:pPr>
            <a:r>
              <a:rPr lang="en-US" sz="1150" b="1" dirty="0">
                <a:solidFill>
                  <a:srgbClr val="35495E"/>
                </a:solidFill>
                <a:latin typeface="Calibri" pitchFamily="34" charset="0"/>
                <a:ea typeface="Calibri" pitchFamily="34" charset="-122"/>
                <a:cs typeface="Calibri" pitchFamily="34" charset="-120"/>
              </a:rPr>
              <a:t>reactive: </a:t>
            </a:r>
            <a:pPr indent="0" marL="0">
              <a:buNone/>
            </a:pPr>
            <a:r>
              <a:rPr lang="en-US" sz="1150" dirty="0">
                <a:solidFill>
                  <a:srgbClr val="6B7C8C"/>
                </a:solidFill>
                <a:latin typeface="Calibri" pitchFamily="34" charset="0"/>
                <a:ea typeface="Calibri" pitchFamily="34" charset="-122"/>
                <a:cs typeface="Calibri" pitchFamily="34" charset="-120"/>
              </a:rPr>
              <a:t>Hilang reaktivitasnya</a:t>
            </a:r>
            <a:endParaRPr lang="en-US" sz="1150" dirty="0"/>
          </a:p>
        </p:txBody>
      </p:sp>
      <p:sp>
        <p:nvSpPr>
          <p:cNvPr id="25" name="Text 22"/>
          <p:cNvSpPr txBox="1"/>
          <p:nvPr/>
        </p:nvSpPr>
        <p:spPr>
          <a:xfrm>
            <a:off x="8915400" y="5248656"/>
            <a:ext cx="2606040" cy="237744"/>
          </a:xfrm>
          <a:prstGeom prst="rect">
            <a:avLst/>
          </a:prstGeom>
          <a:noFill/>
          <a:ln/>
        </p:spPr>
        <p:txBody>
          <a:bodyPr wrap="square" lIns="0" tIns="0" rIns="0" bIns="0" rtlCol="0" anchor="ctr"/>
          <a:lstStyle/>
          <a:p>
            <a:pPr indent="0" marL="0">
              <a:buNone/>
            </a:pPr>
            <a:r>
              <a:rPr lang="en-US" sz="1050" b="1" spc="80" kern="0" dirty="0">
                <a:solidFill>
                  <a:srgbClr val="42B883"/>
                </a:solidFill>
                <a:latin typeface="Calibri" pitchFamily="34" charset="0"/>
                <a:ea typeface="Calibri" pitchFamily="34" charset="-122"/>
                <a:cs typeface="Calibri" pitchFamily="34" charset="-120"/>
              </a:rPr>
              <a:t>REKOMENDASI</a:t>
            </a:r>
            <a:endParaRPr lang="en-US" sz="1050" dirty="0"/>
          </a:p>
        </p:txBody>
      </p:sp>
      <p:sp>
        <p:nvSpPr>
          <p:cNvPr id="26" name="Text 23"/>
          <p:cNvSpPr txBox="1"/>
          <p:nvPr/>
        </p:nvSpPr>
        <p:spPr>
          <a:xfrm>
            <a:off x="8915400" y="5522976"/>
            <a:ext cx="2606040" cy="274320"/>
          </a:xfrm>
          <a:prstGeom prst="rect">
            <a:avLst/>
          </a:prstGeom>
          <a:noFill/>
          <a:ln/>
        </p:spPr>
        <p:txBody>
          <a:bodyPr wrap="square" lIns="0" tIns="0" rIns="0" bIns="0" rtlCol="0" anchor="ctr"/>
          <a:lstStyle/>
          <a:p>
            <a:pPr indent="0" marL="0">
              <a:buNone/>
            </a:pPr>
            <a:r>
              <a:rPr lang="en-US" sz="1150" b="1" dirty="0">
                <a:solidFill>
                  <a:srgbClr val="35495E"/>
                </a:solidFill>
                <a:latin typeface="Calibri" pitchFamily="34" charset="0"/>
                <a:ea typeface="Calibri" pitchFamily="34" charset="-122"/>
                <a:cs typeface="Calibri" pitchFamily="34" charset="-120"/>
              </a:rPr>
              <a:t>ref: </a:t>
            </a:r>
            <a:pPr indent="0" marL="0">
              <a:buNone/>
            </a:pPr>
            <a:r>
              <a:rPr lang="en-US" sz="1150" dirty="0">
                <a:solidFill>
                  <a:srgbClr val="6B7C8C"/>
                </a:solidFill>
                <a:latin typeface="Calibri" pitchFamily="34" charset="0"/>
                <a:ea typeface="Calibri" pitchFamily="34" charset="-122"/>
                <a:cs typeface="Calibri" pitchFamily="34" charset="-120"/>
              </a:rPr>
              <a:t>Pilihan utama</a:t>
            </a:r>
            <a:endParaRPr lang="en-US" sz="1150" dirty="0"/>
          </a:p>
        </p:txBody>
      </p:sp>
      <p:sp>
        <p:nvSpPr>
          <p:cNvPr id="27" name="Text 24"/>
          <p:cNvSpPr txBox="1"/>
          <p:nvPr/>
        </p:nvSpPr>
        <p:spPr>
          <a:xfrm>
            <a:off x="8915400" y="5815584"/>
            <a:ext cx="2606040" cy="365760"/>
          </a:xfrm>
          <a:prstGeom prst="rect">
            <a:avLst/>
          </a:prstGeom>
          <a:noFill/>
          <a:ln/>
        </p:spPr>
        <p:txBody>
          <a:bodyPr wrap="square" lIns="0" tIns="0" rIns="0" bIns="0" rtlCol="0" anchor="t"/>
          <a:lstStyle/>
          <a:p>
            <a:pPr indent="0" marL="0">
              <a:buNone/>
            </a:pPr>
            <a:r>
              <a:rPr lang="en-US" sz="1150" b="1" dirty="0">
                <a:solidFill>
                  <a:srgbClr val="35495E"/>
                </a:solidFill>
                <a:latin typeface="Calibri" pitchFamily="34" charset="0"/>
                <a:ea typeface="Calibri" pitchFamily="34" charset="-122"/>
                <a:cs typeface="Calibri" pitchFamily="34" charset="-120"/>
              </a:rPr>
              <a:t>reactive: </a:t>
            </a:r>
            <a:pPr indent="0" marL="0">
              <a:buNone/>
            </a:pPr>
            <a:r>
              <a:rPr lang="en-US" sz="1150" dirty="0">
                <a:solidFill>
                  <a:srgbClr val="6B7C8C"/>
                </a:solidFill>
                <a:latin typeface="Calibri" pitchFamily="34" charset="0"/>
                <a:ea typeface="Calibri" pitchFamily="34" charset="-122"/>
                <a:cs typeface="Calibri" pitchFamily="34" charset="-120"/>
              </a:rPr>
              <a:t>Untuk objek kompleks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Sintaks Template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Menghubungkan data dengan tampilan menggunakan HTML yang valid</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63040"/>
            <a:ext cx="11091672" cy="1115568"/>
          </a:xfrm>
          <a:prstGeom prst="roundRect">
            <a:avLst>
              <a:gd name="adj" fmla="val 737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749808" y="1755648"/>
            <a:ext cx="548640" cy="502920"/>
          </a:xfrm>
          <a:prstGeom prst="rect">
            <a:avLst/>
          </a:prstGeom>
          <a:noFill/>
          <a:ln/>
        </p:spPr>
        <p:txBody>
          <a:bodyPr wrap="square" lIns="0" tIns="0" rIns="0" bIns="0" rtlCol="0" anchor="ctr"/>
          <a:lstStyle/>
          <a:p>
            <a:pPr indent="0" marL="0">
              <a:buNone/>
            </a:pPr>
            <a:r>
              <a:rPr lang="en-US" sz="2600" b="1" dirty="0">
                <a:solidFill>
                  <a:srgbClr val="D6E7DE"/>
                </a:solidFill>
                <a:latin typeface="Calibri" pitchFamily="34" charset="0"/>
                <a:ea typeface="Calibri" pitchFamily="34" charset="-122"/>
                <a:cs typeface="Calibri" pitchFamily="34" charset="-120"/>
              </a:rPr>
              <a:t>01</a:t>
            </a:r>
            <a:endParaRPr lang="en-US" sz="2600" dirty="0"/>
          </a:p>
        </p:txBody>
      </p:sp>
      <p:sp>
        <p:nvSpPr>
          <p:cNvPr id="7" name="Text 4"/>
          <p:cNvSpPr txBox="1"/>
          <p:nvPr/>
        </p:nvSpPr>
        <p:spPr>
          <a:xfrm>
            <a:off x="1371600" y="1645920"/>
            <a:ext cx="411480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Interpolasi Teks</a:t>
            </a:r>
            <a:endParaRPr lang="en-US" sz="1500" dirty="0"/>
          </a:p>
        </p:txBody>
      </p:sp>
      <p:sp>
        <p:nvSpPr>
          <p:cNvPr id="8" name="Text 5"/>
          <p:cNvSpPr txBox="1"/>
          <p:nvPr/>
        </p:nvSpPr>
        <p:spPr>
          <a:xfrm>
            <a:off x="1371600" y="1975104"/>
            <a:ext cx="4572000" cy="502920"/>
          </a:xfrm>
          <a:prstGeom prst="rect">
            <a:avLst/>
          </a:prstGeom>
          <a:noFill/>
          <a:ln/>
        </p:spPr>
        <p:txBody>
          <a:bodyPr wrap="square" lIns="0" tIns="0" rIns="0" bIns="0" rtlCol="0" anchor="t"/>
          <a:lstStyle/>
          <a:p>
            <a:pPr indent="0" marL="0">
              <a:lnSpc>
                <a:spcPct val="108000"/>
              </a:lnSpc>
              <a:buNone/>
            </a:pPr>
            <a:r>
              <a:rPr lang="en-US" sz="1200" dirty="0">
                <a:solidFill>
                  <a:srgbClr val="6B7C8C"/>
                </a:solidFill>
                <a:latin typeface="Calibri" pitchFamily="34" charset="0"/>
                <a:ea typeface="Calibri" pitchFamily="34" charset="-122"/>
                <a:cs typeface="Calibri" pitchFamily="34" charset="-120"/>
              </a:rPr>
              <a:t>Menampilkan nilai variabel di antara kurung kurawal ganda (mustache).</a:t>
            </a:r>
            <a:endParaRPr lang="en-US" sz="1200" dirty="0"/>
          </a:p>
        </p:txBody>
      </p:sp>
      <p:sp>
        <p:nvSpPr>
          <p:cNvPr id="9" name="Shape 6"/>
          <p:cNvSpPr/>
          <p:nvPr/>
        </p:nvSpPr>
        <p:spPr>
          <a:xfrm>
            <a:off x="6035040" y="1709928"/>
            <a:ext cx="5440680" cy="633057"/>
          </a:xfrm>
          <a:prstGeom prst="roundRect">
            <a:avLst>
              <a:gd name="adj" fmla="val 10111"/>
            </a:avLst>
          </a:prstGeom>
          <a:solidFill>
            <a:srgbClr val="253340"/>
          </a:solidFill>
          <a:ln w="12700">
            <a:solidFill>
              <a:srgbClr val="253340"/>
            </a:solidFill>
            <a:prstDash val="solid"/>
          </a:ln>
        </p:spPr>
      </p:sp>
      <p:sp>
        <p:nvSpPr>
          <p:cNvPr id="10" name="Text 7"/>
          <p:cNvSpPr txBox="1"/>
          <p:nvPr/>
        </p:nvSpPr>
        <p:spPr>
          <a:xfrm>
            <a:off x="6163056" y="1828800"/>
            <a:ext cx="5184648" cy="395313"/>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&lt;p&gt;Halo, {{ nama }}&lt;/p&gt;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&lt;p&gt;Total: {{ harga * jumlah }}&lt;/p&gt;</a:t>
            </a:r>
            <a:endParaRPr lang="en-US" sz="1200" dirty="0"/>
          </a:p>
        </p:txBody>
      </p:sp>
      <p:sp>
        <p:nvSpPr>
          <p:cNvPr id="11" name="Shape 8"/>
          <p:cNvSpPr/>
          <p:nvPr/>
        </p:nvSpPr>
        <p:spPr>
          <a:xfrm>
            <a:off x="548640" y="2706624"/>
            <a:ext cx="11091672" cy="1115568"/>
          </a:xfrm>
          <a:prstGeom prst="roundRect">
            <a:avLst>
              <a:gd name="adj" fmla="val 737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Text 9"/>
          <p:cNvSpPr txBox="1"/>
          <p:nvPr/>
        </p:nvSpPr>
        <p:spPr>
          <a:xfrm>
            <a:off x="749808" y="2999232"/>
            <a:ext cx="548640" cy="502920"/>
          </a:xfrm>
          <a:prstGeom prst="rect">
            <a:avLst/>
          </a:prstGeom>
          <a:noFill/>
          <a:ln/>
        </p:spPr>
        <p:txBody>
          <a:bodyPr wrap="square" lIns="0" tIns="0" rIns="0" bIns="0" rtlCol="0" anchor="ctr"/>
          <a:lstStyle/>
          <a:p>
            <a:pPr indent="0" marL="0">
              <a:buNone/>
            </a:pPr>
            <a:r>
              <a:rPr lang="en-US" sz="2600" b="1" dirty="0">
                <a:solidFill>
                  <a:srgbClr val="D6E7DE"/>
                </a:solidFill>
                <a:latin typeface="Calibri" pitchFamily="34" charset="0"/>
                <a:ea typeface="Calibri" pitchFamily="34" charset="-122"/>
                <a:cs typeface="Calibri" pitchFamily="34" charset="-120"/>
              </a:rPr>
              <a:t>02</a:t>
            </a:r>
            <a:endParaRPr lang="en-US" sz="2600" dirty="0"/>
          </a:p>
        </p:txBody>
      </p:sp>
      <p:sp>
        <p:nvSpPr>
          <p:cNvPr id="13" name="Text 10"/>
          <p:cNvSpPr txBox="1"/>
          <p:nvPr/>
        </p:nvSpPr>
        <p:spPr>
          <a:xfrm>
            <a:off x="1371600" y="2889504"/>
            <a:ext cx="411480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Ekspresi JavaScript</a:t>
            </a:r>
            <a:endParaRPr lang="en-US" sz="1500" dirty="0"/>
          </a:p>
        </p:txBody>
      </p:sp>
      <p:sp>
        <p:nvSpPr>
          <p:cNvPr id="14" name="Text 11"/>
          <p:cNvSpPr txBox="1"/>
          <p:nvPr/>
        </p:nvSpPr>
        <p:spPr>
          <a:xfrm>
            <a:off x="1371600" y="3218688"/>
            <a:ext cx="4572000" cy="502920"/>
          </a:xfrm>
          <a:prstGeom prst="rect">
            <a:avLst/>
          </a:prstGeom>
          <a:noFill/>
          <a:ln/>
        </p:spPr>
        <p:txBody>
          <a:bodyPr wrap="square" lIns="0" tIns="0" rIns="0" bIns="0" rtlCol="0" anchor="t"/>
          <a:lstStyle/>
          <a:p>
            <a:pPr indent="0" marL="0">
              <a:lnSpc>
                <a:spcPct val="108000"/>
              </a:lnSpc>
              <a:buNone/>
            </a:pPr>
            <a:r>
              <a:rPr lang="en-US" sz="1200" dirty="0">
                <a:solidFill>
                  <a:srgbClr val="6B7C8C"/>
                </a:solidFill>
                <a:latin typeface="Calibri" pitchFamily="34" charset="0"/>
                <a:ea typeface="Calibri" pitchFamily="34" charset="-122"/>
                <a:cs typeface="Calibri" pitchFamily="34" charset="-120"/>
              </a:rPr>
              <a:t>Boleh menulis ekspresi satu baris, bukan pernyataan atau blok kode.</a:t>
            </a:r>
            <a:endParaRPr lang="en-US" sz="1200" dirty="0"/>
          </a:p>
        </p:txBody>
      </p:sp>
      <p:sp>
        <p:nvSpPr>
          <p:cNvPr id="15" name="Shape 12"/>
          <p:cNvSpPr/>
          <p:nvPr/>
        </p:nvSpPr>
        <p:spPr>
          <a:xfrm>
            <a:off x="6035040" y="2953512"/>
            <a:ext cx="5440680" cy="633057"/>
          </a:xfrm>
          <a:prstGeom prst="roundRect">
            <a:avLst>
              <a:gd name="adj" fmla="val 10111"/>
            </a:avLst>
          </a:prstGeom>
          <a:solidFill>
            <a:srgbClr val="253340"/>
          </a:solidFill>
          <a:ln w="12700">
            <a:solidFill>
              <a:srgbClr val="253340"/>
            </a:solidFill>
            <a:prstDash val="solid"/>
          </a:ln>
        </p:spPr>
      </p:sp>
      <p:sp>
        <p:nvSpPr>
          <p:cNvPr id="16" name="Text 13"/>
          <p:cNvSpPr txBox="1"/>
          <p:nvPr/>
        </p:nvSpPr>
        <p:spPr>
          <a:xfrm>
            <a:off x="6163056" y="3072384"/>
            <a:ext cx="5184648" cy="395313"/>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nama.toUpperCase()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lulus ? "Lulus" : "Mengulang" }}</a:t>
            </a:r>
            <a:endParaRPr lang="en-US" sz="1200" dirty="0"/>
          </a:p>
        </p:txBody>
      </p:sp>
      <p:sp>
        <p:nvSpPr>
          <p:cNvPr id="17" name="Shape 14"/>
          <p:cNvSpPr/>
          <p:nvPr/>
        </p:nvSpPr>
        <p:spPr>
          <a:xfrm>
            <a:off x="548640" y="3950208"/>
            <a:ext cx="11091672" cy="1115568"/>
          </a:xfrm>
          <a:prstGeom prst="roundRect">
            <a:avLst>
              <a:gd name="adj" fmla="val 737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Text 15"/>
          <p:cNvSpPr txBox="1"/>
          <p:nvPr/>
        </p:nvSpPr>
        <p:spPr>
          <a:xfrm>
            <a:off x="749808" y="4242816"/>
            <a:ext cx="548640" cy="502920"/>
          </a:xfrm>
          <a:prstGeom prst="rect">
            <a:avLst/>
          </a:prstGeom>
          <a:noFill/>
          <a:ln/>
        </p:spPr>
        <p:txBody>
          <a:bodyPr wrap="square" lIns="0" tIns="0" rIns="0" bIns="0" rtlCol="0" anchor="ctr"/>
          <a:lstStyle/>
          <a:p>
            <a:pPr indent="0" marL="0">
              <a:buNone/>
            </a:pPr>
            <a:r>
              <a:rPr lang="en-US" sz="2600" b="1" dirty="0">
                <a:solidFill>
                  <a:srgbClr val="D6E7DE"/>
                </a:solidFill>
                <a:latin typeface="Calibri" pitchFamily="34" charset="0"/>
                <a:ea typeface="Calibri" pitchFamily="34" charset="-122"/>
                <a:cs typeface="Calibri" pitchFamily="34" charset="-120"/>
              </a:rPr>
              <a:t>03</a:t>
            </a:r>
            <a:endParaRPr lang="en-US" sz="2600" dirty="0"/>
          </a:p>
        </p:txBody>
      </p:sp>
      <p:sp>
        <p:nvSpPr>
          <p:cNvPr id="19" name="Text 16"/>
          <p:cNvSpPr txBox="1"/>
          <p:nvPr/>
        </p:nvSpPr>
        <p:spPr>
          <a:xfrm>
            <a:off x="1371600" y="4133088"/>
            <a:ext cx="411480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Binding Atribut</a:t>
            </a:r>
            <a:endParaRPr lang="en-US" sz="1500" dirty="0"/>
          </a:p>
        </p:txBody>
      </p:sp>
      <p:sp>
        <p:nvSpPr>
          <p:cNvPr id="20" name="Text 17"/>
          <p:cNvSpPr txBox="1"/>
          <p:nvPr/>
        </p:nvSpPr>
        <p:spPr>
          <a:xfrm>
            <a:off x="1371600" y="4462272"/>
            <a:ext cx="4572000" cy="502920"/>
          </a:xfrm>
          <a:prstGeom prst="rect">
            <a:avLst/>
          </a:prstGeom>
          <a:noFill/>
          <a:ln/>
        </p:spPr>
        <p:txBody>
          <a:bodyPr wrap="square" lIns="0" tIns="0" rIns="0" bIns="0" rtlCol="0" anchor="t"/>
          <a:lstStyle/>
          <a:p>
            <a:pPr indent="0" marL="0">
              <a:lnSpc>
                <a:spcPct val="108000"/>
              </a:lnSpc>
              <a:buNone/>
            </a:pPr>
            <a:r>
              <a:rPr lang="en-US" sz="1200" dirty="0">
                <a:solidFill>
                  <a:srgbClr val="6B7C8C"/>
                </a:solidFill>
                <a:latin typeface="Calibri" pitchFamily="34" charset="0"/>
                <a:ea typeface="Calibri" pitchFamily="34" charset="-122"/>
                <a:cs typeface="Calibri" pitchFamily="34" charset="-120"/>
              </a:rPr>
              <a:t>v-bind menghubungkan data ke atribut HTML. Singkatannya tanda titik dua.</a:t>
            </a:r>
            <a:endParaRPr lang="en-US" sz="1200" dirty="0"/>
          </a:p>
        </p:txBody>
      </p:sp>
      <p:sp>
        <p:nvSpPr>
          <p:cNvPr id="21" name="Shape 18"/>
          <p:cNvSpPr/>
          <p:nvPr/>
        </p:nvSpPr>
        <p:spPr>
          <a:xfrm>
            <a:off x="6035040" y="4197096"/>
            <a:ext cx="5440680" cy="633057"/>
          </a:xfrm>
          <a:prstGeom prst="roundRect">
            <a:avLst>
              <a:gd name="adj" fmla="val 10111"/>
            </a:avLst>
          </a:prstGeom>
          <a:solidFill>
            <a:srgbClr val="253340"/>
          </a:solidFill>
          <a:ln w="12700">
            <a:solidFill>
              <a:srgbClr val="253340"/>
            </a:solidFill>
            <a:prstDash val="solid"/>
          </a:ln>
        </p:spPr>
      </p:sp>
      <p:sp>
        <p:nvSpPr>
          <p:cNvPr id="22" name="Text 19"/>
          <p:cNvSpPr txBox="1"/>
          <p:nvPr/>
        </p:nvSpPr>
        <p:spPr>
          <a:xfrm>
            <a:off x="6163056" y="4315968"/>
            <a:ext cx="5184648" cy="395313"/>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&lt;img v-bind:src="urlGambar"&gt;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&lt;a :href="tautan" :title="judul"&gt;Klik&lt;/a&gt;</a:t>
            </a:r>
            <a:endParaRPr lang="en-US" sz="1200" dirty="0"/>
          </a:p>
        </p:txBody>
      </p:sp>
      <p:sp>
        <p:nvSpPr>
          <p:cNvPr id="23" name="Shape 20"/>
          <p:cNvSpPr/>
          <p:nvPr/>
        </p:nvSpPr>
        <p:spPr>
          <a:xfrm>
            <a:off x="548640" y="5193792"/>
            <a:ext cx="11091672" cy="1115568"/>
          </a:xfrm>
          <a:prstGeom prst="roundRect">
            <a:avLst>
              <a:gd name="adj" fmla="val 737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4" name="Text 21"/>
          <p:cNvSpPr txBox="1"/>
          <p:nvPr/>
        </p:nvSpPr>
        <p:spPr>
          <a:xfrm>
            <a:off x="749808" y="5486400"/>
            <a:ext cx="548640" cy="502920"/>
          </a:xfrm>
          <a:prstGeom prst="rect">
            <a:avLst/>
          </a:prstGeom>
          <a:noFill/>
          <a:ln/>
        </p:spPr>
        <p:txBody>
          <a:bodyPr wrap="square" lIns="0" tIns="0" rIns="0" bIns="0" rtlCol="0" anchor="ctr"/>
          <a:lstStyle/>
          <a:p>
            <a:pPr indent="0" marL="0">
              <a:buNone/>
            </a:pPr>
            <a:r>
              <a:rPr lang="en-US" sz="2600" b="1" dirty="0">
                <a:solidFill>
                  <a:srgbClr val="D6E7DE"/>
                </a:solidFill>
                <a:latin typeface="Calibri" pitchFamily="34" charset="0"/>
                <a:ea typeface="Calibri" pitchFamily="34" charset="-122"/>
                <a:cs typeface="Calibri" pitchFamily="34" charset="-120"/>
              </a:rPr>
              <a:t>04</a:t>
            </a:r>
            <a:endParaRPr lang="en-US" sz="2600" dirty="0"/>
          </a:p>
        </p:txBody>
      </p:sp>
      <p:sp>
        <p:nvSpPr>
          <p:cNvPr id="25" name="Text 22"/>
          <p:cNvSpPr txBox="1"/>
          <p:nvPr/>
        </p:nvSpPr>
        <p:spPr>
          <a:xfrm>
            <a:off x="1371600" y="5376672"/>
            <a:ext cx="411480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Raw HTML</a:t>
            </a:r>
            <a:endParaRPr lang="en-US" sz="1500" dirty="0"/>
          </a:p>
        </p:txBody>
      </p:sp>
      <p:sp>
        <p:nvSpPr>
          <p:cNvPr id="26" name="Text 23"/>
          <p:cNvSpPr txBox="1"/>
          <p:nvPr/>
        </p:nvSpPr>
        <p:spPr>
          <a:xfrm>
            <a:off x="1371600" y="5705856"/>
            <a:ext cx="4572000" cy="502920"/>
          </a:xfrm>
          <a:prstGeom prst="rect">
            <a:avLst/>
          </a:prstGeom>
          <a:noFill/>
          <a:ln/>
        </p:spPr>
        <p:txBody>
          <a:bodyPr wrap="square" lIns="0" tIns="0" rIns="0" bIns="0" rtlCol="0" anchor="t"/>
          <a:lstStyle/>
          <a:p>
            <a:pPr indent="0" marL="0">
              <a:lnSpc>
                <a:spcPct val="108000"/>
              </a:lnSpc>
              <a:buNone/>
            </a:pPr>
            <a:r>
              <a:rPr lang="en-US" sz="1200" dirty="0">
                <a:solidFill>
                  <a:srgbClr val="6B7C8C"/>
                </a:solidFill>
                <a:latin typeface="Calibri" pitchFamily="34" charset="0"/>
                <a:ea typeface="Calibri" pitchFamily="34" charset="-122"/>
                <a:cs typeface="Calibri" pitchFamily="34" charset="-120"/>
              </a:rPr>
              <a:t>v-html menampilkan string sebagai HTML — hati-hati risiko XSS.</a:t>
            </a:r>
            <a:endParaRPr lang="en-US" sz="1200" dirty="0"/>
          </a:p>
        </p:txBody>
      </p:sp>
      <p:sp>
        <p:nvSpPr>
          <p:cNvPr id="27" name="Shape 24"/>
          <p:cNvSpPr/>
          <p:nvPr/>
        </p:nvSpPr>
        <p:spPr>
          <a:xfrm>
            <a:off x="6035040" y="5440680"/>
            <a:ext cx="5440680" cy="444545"/>
          </a:xfrm>
          <a:prstGeom prst="roundRect">
            <a:avLst>
              <a:gd name="adj" fmla="val 14399"/>
            </a:avLst>
          </a:prstGeom>
          <a:solidFill>
            <a:srgbClr val="253340"/>
          </a:solidFill>
          <a:ln w="12700">
            <a:solidFill>
              <a:srgbClr val="253340"/>
            </a:solidFill>
            <a:prstDash val="solid"/>
          </a:ln>
        </p:spPr>
      </p:sp>
      <p:sp>
        <p:nvSpPr>
          <p:cNvPr id="28" name="Text 25"/>
          <p:cNvSpPr txBox="1"/>
          <p:nvPr/>
        </p:nvSpPr>
        <p:spPr>
          <a:xfrm>
            <a:off x="6163056" y="5559552"/>
            <a:ext cx="5184648" cy="206801"/>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v-html="kontenHtml"&gt;&lt;/div&gt;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Directives Bawaan Vue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Atribut khusus berawalan v- yang memberi perilaku reaktif pada elemen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63040"/>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749808" y="1627632"/>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v-bind</a:t>
            </a:r>
            <a:endParaRPr lang="en-US" sz="1350" dirty="0"/>
          </a:p>
        </p:txBody>
      </p:sp>
      <p:sp>
        <p:nvSpPr>
          <p:cNvPr id="7" name="Shape 4"/>
          <p:cNvSpPr/>
          <p:nvPr/>
        </p:nvSpPr>
        <p:spPr>
          <a:xfrm>
            <a:off x="3456432" y="1636776"/>
            <a:ext cx="484632" cy="256032"/>
          </a:xfrm>
          <a:prstGeom prst="roundRect">
            <a:avLst>
              <a:gd name="adj" fmla="val 21429"/>
            </a:avLst>
          </a:prstGeom>
          <a:solidFill>
            <a:srgbClr val="E9F5EF"/>
          </a:solidFill>
          <a:ln w="12700">
            <a:solidFill>
              <a:srgbClr val="333333"/>
            </a:solidFill>
            <a:prstDash val="solid"/>
          </a:ln>
        </p:spPr>
      </p:sp>
      <p:sp>
        <p:nvSpPr>
          <p:cNvPr id="8" name="Text 5"/>
          <p:cNvSpPr txBox="1"/>
          <p:nvPr/>
        </p:nvSpPr>
        <p:spPr>
          <a:xfrm>
            <a:off x="3456432" y="1636776"/>
            <a:ext cx="484632" cy="256032"/>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a:t>
            </a:r>
            <a:endParaRPr lang="en-US" sz="1100" dirty="0"/>
          </a:p>
        </p:txBody>
      </p:sp>
      <p:sp>
        <p:nvSpPr>
          <p:cNvPr id="9" name="Text 6"/>
          <p:cNvSpPr txBox="1"/>
          <p:nvPr/>
        </p:nvSpPr>
        <p:spPr>
          <a:xfrm>
            <a:off x="749808" y="1938528"/>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Mengikat atribut ke data</a:t>
            </a:r>
            <a:endParaRPr lang="en-US" sz="1150" dirty="0"/>
          </a:p>
        </p:txBody>
      </p:sp>
      <p:sp>
        <p:nvSpPr>
          <p:cNvPr id="10" name="Text 7"/>
          <p:cNvSpPr txBox="1"/>
          <p:nvPr/>
        </p:nvSpPr>
        <p:spPr>
          <a:xfrm>
            <a:off x="749808" y="2221992"/>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:src="gambar"</a:t>
            </a:r>
            <a:endParaRPr lang="en-US" sz="1100" dirty="0"/>
          </a:p>
        </p:txBody>
      </p:sp>
      <p:sp>
        <p:nvSpPr>
          <p:cNvPr id="11" name="Shape 8"/>
          <p:cNvSpPr/>
          <p:nvPr/>
        </p:nvSpPr>
        <p:spPr>
          <a:xfrm>
            <a:off x="4361688" y="1463040"/>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Text 9"/>
          <p:cNvSpPr txBox="1"/>
          <p:nvPr/>
        </p:nvSpPr>
        <p:spPr>
          <a:xfrm>
            <a:off x="4562856" y="1627632"/>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v-on</a:t>
            </a:r>
            <a:endParaRPr lang="en-US" sz="1350" dirty="0"/>
          </a:p>
        </p:txBody>
      </p:sp>
      <p:sp>
        <p:nvSpPr>
          <p:cNvPr id="13" name="Shape 10"/>
          <p:cNvSpPr/>
          <p:nvPr/>
        </p:nvSpPr>
        <p:spPr>
          <a:xfrm>
            <a:off x="7269480" y="1636776"/>
            <a:ext cx="484632" cy="256032"/>
          </a:xfrm>
          <a:prstGeom prst="roundRect">
            <a:avLst>
              <a:gd name="adj" fmla="val 21429"/>
            </a:avLst>
          </a:prstGeom>
          <a:solidFill>
            <a:srgbClr val="E9F5EF"/>
          </a:solidFill>
          <a:ln w="12700">
            <a:solidFill>
              <a:srgbClr val="333333"/>
            </a:solidFill>
            <a:prstDash val="solid"/>
          </a:ln>
        </p:spPr>
      </p:sp>
      <p:sp>
        <p:nvSpPr>
          <p:cNvPr id="14" name="Text 11"/>
          <p:cNvSpPr txBox="1"/>
          <p:nvPr/>
        </p:nvSpPr>
        <p:spPr>
          <a:xfrm>
            <a:off x="7269480" y="1636776"/>
            <a:ext cx="484632" cy="256032"/>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a:t>
            </a:r>
            <a:endParaRPr lang="en-US" sz="1100" dirty="0"/>
          </a:p>
        </p:txBody>
      </p:sp>
      <p:sp>
        <p:nvSpPr>
          <p:cNvPr id="15" name="Text 12"/>
          <p:cNvSpPr txBox="1"/>
          <p:nvPr/>
        </p:nvSpPr>
        <p:spPr>
          <a:xfrm>
            <a:off x="4562856" y="1938528"/>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Menangani event dari pengguna</a:t>
            </a:r>
            <a:endParaRPr lang="en-US" sz="1150" dirty="0"/>
          </a:p>
        </p:txBody>
      </p:sp>
      <p:sp>
        <p:nvSpPr>
          <p:cNvPr id="16" name="Text 13"/>
          <p:cNvSpPr txBox="1"/>
          <p:nvPr/>
        </p:nvSpPr>
        <p:spPr>
          <a:xfrm>
            <a:off x="4562856" y="2221992"/>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@click="simpan"</a:t>
            </a:r>
            <a:endParaRPr lang="en-US" sz="1100" dirty="0"/>
          </a:p>
        </p:txBody>
      </p:sp>
      <p:sp>
        <p:nvSpPr>
          <p:cNvPr id="17" name="Shape 14"/>
          <p:cNvSpPr/>
          <p:nvPr/>
        </p:nvSpPr>
        <p:spPr>
          <a:xfrm>
            <a:off x="8174736" y="1463040"/>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Text 15"/>
          <p:cNvSpPr txBox="1"/>
          <p:nvPr/>
        </p:nvSpPr>
        <p:spPr>
          <a:xfrm>
            <a:off x="8375904" y="1627632"/>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v-model</a:t>
            </a:r>
            <a:endParaRPr lang="en-US" sz="1350" dirty="0"/>
          </a:p>
        </p:txBody>
      </p:sp>
      <p:sp>
        <p:nvSpPr>
          <p:cNvPr id="19" name="Text 16"/>
          <p:cNvSpPr txBox="1"/>
          <p:nvPr/>
        </p:nvSpPr>
        <p:spPr>
          <a:xfrm>
            <a:off x="8375904" y="1938528"/>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Two-way binding untuk form</a:t>
            </a:r>
            <a:endParaRPr lang="en-US" sz="1150" dirty="0"/>
          </a:p>
        </p:txBody>
      </p:sp>
      <p:sp>
        <p:nvSpPr>
          <p:cNvPr id="20" name="Text 17"/>
          <p:cNvSpPr txBox="1"/>
          <p:nvPr/>
        </p:nvSpPr>
        <p:spPr>
          <a:xfrm>
            <a:off x="8375904" y="2221992"/>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v-model="email"</a:t>
            </a:r>
            <a:endParaRPr lang="en-US" sz="1100" dirty="0"/>
          </a:p>
        </p:txBody>
      </p:sp>
      <p:sp>
        <p:nvSpPr>
          <p:cNvPr id="21" name="Shape 18"/>
          <p:cNvSpPr/>
          <p:nvPr/>
        </p:nvSpPr>
        <p:spPr>
          <a:xfrm>
            <a:off x="548640" y="2761488"/>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2" name="Text 19"/>
          <p:cNvSpPr txBox="1"/>
          <p:nvPr/>
        </p:nvSpPr>
        <p:spPr>
          <a:xfrm>
            <a:off x="749808" y="2926080"/>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v-if / v-else</a:t>
            </a:r>
            <a:endParaRPr lang="en-US" sz="1350" dirty="0"/>
          </a:p>
        </p:txBody>
      </p:sp>
      <p:sp>
        <p:nvSpPr>
          <p:cNvPr id="23" name="Text 20"/>
          <p:cNvSpPr txBox="1"/>
          <p:nvPr/>
        </p:nvSpPr>
        <p:spPr>
          <a:xfrm>
            <a:off x="749808" y="3236976"/>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Render kondisional (DOM dibuat/dihapus)</a:t>
            </a:r>
            <a:endParaRPr lang="en-US" sz="1150" dirty="0"/>
          </a:p>
        </p:txBody>
      </p:sp>
      <p:sp>
        <p:nvSpPr>
          <p:cNvPr id="24" name="Text 21"/>
          <p:cNvSpPr txBox="1"/>
          <p:nvPr/>
        </p:nvSpPr>
        <p:spPr>
          <a:xfrm>
            <a:off x="749808" y="3520440"/>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v-if="login"</a:t>
            </a:r>
            <a:endParaRPr lang="en-US" sz="1100" dirty="0"/>
          </a:p>
        </p:txBody>
      </p:sp>
      <p:sp>
        <p:nvSpPr>
          <p:cNvPr id="25" name="Shape 22"/>
          <p:cNvSpPr/>
          <p:nvPr/>
        </p:nvSpPr>
        <p:spPr>
          <a:xfrm>
            <a:off x="4361688" y="2761488"/>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Text 23"/>
          <p:cNvSpPr txBox="1"/>
          <p:nvPr/>
        </p:nvSpPr>
        <p:spPr>
          <a:xfrm>
            <a:off x="4562856" y="2926080"/>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v-show</a:t>
            </a:r>
            <a:endParaRPr lang="en-US" sz="1350" dirty="0"/>
          </a:p>
        </p:txBody>
      </p:sp>
      <p:sp>
        <p:nvSpPr>
          <p:cNvPr id="27" name="Text 24"/>
          <p:cNvSpPr txBox="1"/>
          <p:nvPr/>
        </p:nvSpPr>
        <p:spPr>
          <a:xfrm>
            <a:off x="4562856" y="3236976"/>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Sembunyikan lewat CSS display</a:t>
            </a:r>
            <a:endParaRPr lang="en-US" sz="1150" dirty="0"/>
          </a:p>
        </p:txBody>
      </p:sp>
      <p:sp>
        <p:nvSpPr>
          <p:cNvPr id="28" name="Text 25"/>
          <p:cNvSpPr txBox="1"/>
          <p:nvPr/>
        </p:nvSpPr>
        <p:spPr>
          <a:xfrm>
            <a:off x="4562856" y="3520440"/>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v-show="tampil"</a:t>
            </a:r>
            <a:endParaRPr lang="en-US" sz="1100" dirty="0"/>
          </a:p>
        </p:txBody>
      </p:sp>
      <p:sp>
        <p:nvSpPr>
          <p:cNvPr id="29" name="Shape 26"/>
          <p:cNvSpPr/>
          <p:nvPr/>
        </p:nvSpPr>
        <p:spPr>
          <a:xfrm>
            <a:off x="8174736" y="2761488"/>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0" name="Text 27"/>
          <p:cNvSpPr txBox="1"/>
          <p:nvPr/>
        </p:nvSpPr>
        <p:spPr>
          <a:xfrm>
            <a:off x="8375904" y="2926080"/>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v-for</a:t>
            </a:r>
            <a:endParaRPr lang="en-US" sz="1350" dirty="0"/>
          </a:p>
        </p:txBody>
      </p:sp>
      <p:sp>
        <p:nvSpPr>
          <p:cNvPr id="31" name="Text 28"/>
          <p:cNvSpPr txBox="1"/>
          <p:nvPr/>
        </p:nvSpPr>
        <p:spPr>
          <a:xfrm>
            <a:off x="8375904" y="3236976"/>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Perulangan daftar data</a:t>
            </a:r>
            <a:endParaRPr lang="en-US" sz="1150" dirty="0"/>
          </a:p>
        </p:txBody>
      </p:sp>
      <p:sp>
        <p:nvSpPr>
          <p:cNvPr id="32" name="Text 29"/>
          <p:cNvSpPr txBox="1"/>
          <p:nvPr/>
        </p:nvSpPr>
        <p:spPr>
          <a:xfrm>
            <a:off x="8375904" y="3520440"/>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v-for="i in list"</a:t>
            </a:r>
            <a:endParaRPr lang="en-US" sz="1100" dirty="0"/>
          </a:p>
        </p:txBody>
      </p:sp>
      <p:sp>
        <p:nvSpPr>
          <p:cNvPr id="33" name="Shape 30"/>
          <p:cNvSpPr/>
          <p:nvPr/>
        </p:nvSpPr>
        <p:spPr>
          <a:xfrm>
            <a:off x="548640" y="4059936"/>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4" name="Text 31"/>
          <p:cNvSpPr txBox="1"/>
          <p:nvPr/>
        </p:nvSpPr>
        <p:spPr>
          <a:xfrm>
            <a:off x="749808" y="4224528"/>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v-html</a:t>
            </a:r>
            <a:endParaRPr lang="en-US" sz="1350" dirty="0"/>
          </a:p>
        </p:txBody>
      </p:sp>
      <p:sp>
        <p:nvSpPr>
          <p:cNvPr id="35" name="Text 32"/>
          <p:cNvSpPr txBox="1"/>
          <p:nvPr/>
        </p:nvSpPr>
        <p:spPr>
          <a:xfrm>
            <a:off x="749808" y="4535424"/>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Menyisipkan konten sebagai HTML</a:t>
            </a:r>
            <a:endParaRPr lang="en-US" sz="1150" dirty="0"/>
          </a:p>
        </p:txBody>
      </p:sp>
      <p:sp>
        <p:nvSpPr>
          <p:cNvPr id="36" name="Text 33"/>
          <p:cNvSpPr txBox="1"/>
          <p:nvPr/>
        </p:nvSpPr>
        <p:spPr>
          <a:xfrm>
            <a:off x="749808" y="4818888"/>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v-html="isi"</a:t>
            </a:r>
            <a:endParaRPr lang="en-US" sz="1100" dirty="0"/>
          </a:p>
        </p:txBody>
      </p:sp>
      <p:sp>
        <p:nvSpPr>
          <p:cNvPr id="37" name="Shape 34"/>
          <p:cNvSpPr/>
          <p:nvPr/>
        </p:nvSpPr>
        <p:spPr>
          <a:xfrm>
            <a:off x="4361688" y="4059936"/>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8" name="Text 35"/>
          <p:cNvSpPr txBox="1"/>
          <p:nvPr/>
        </p:nvSpPr>
        <p:spPr>
          <a:xfrm>
            <a:off x="4562856" y="4224528"/>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v-text</a:t>
            </a:r>
            <a:endParaRPr lang="en-US" sz="1350" dirty="0"/>
          </a:p>
        </p:txBody>
      </p:sp>
      <p:sp>
        <p:nvSpPr>
          <p:cNvPr id="39" name="Text 36"/>
          <p:cNvSpPr txBox="1"/>
          <p:nvPr/>
        </p:nvSpPr>
        <p:spPr>
          <a:xfrm>
            <a:off x="4562856" y="4535424"/>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Mengisi textContent elemen</a:t>
            </a:r>
            <a:endParaRPr lang="en-US" sz="1150" dirty="0"/>
          </a:p>
        </p:txBody>
      </p:sp>
      <p:sp>
        <p:nvSpPr>
          <p:cNvPr id="40" name="Text 37"/>
          <p:cNvSpPr txBox="1"/>
          <p:nvPr/>
        </p:nvSpPr>
        <p:spPr>
          <a:xfrm>
            <a:off x="4562856" y="4818888"/>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v-text="pesan"</a:t>
            </a:r>
            <a:endParaRPr lang="en-US" sz="1100" dirty="0"/>
          </a:p>
        </p:txBody>
      </p:sp>
      <p:sp>
        <p:nvSpPr>
          <p:cNvPr id="41" name="Shape 38"/>
          <p:cNvSpPr/>
          <p:nvPr/>
        </p:nvSpPr>
        <p:spPr>
          <a:xfrm>
            <a:off x="8174736" y="4059936"/>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2" name="Text 39"/>
          <p:cNvSpPr txBox="1"/>
          <p:nvPr/>
        </p:nvSpPr>
        <p:spPr>
          <a:xfrm>
            <a:off x="8375904" y="4224528"/>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v-once</a:t>
            </a:r>
            <a:endParaRPr lang="en-US" sz="1350" dirty="0"/>
          </a:p>
        </p:txBody>
      </p:sp>
      <p:sp>
        <p:nvSpPr>
          <p:cNvPr id="43" name="Text 40"/>
          <p:cNvSpPr txBox="1"/>
          <p:nvPr/>
        </p:nvSpPr>
        <p:spPr>
          <a:xfrm>
            <a:off x="8375904" y="4535424"/>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Render sekali saja, lalu statis</a:t>
            </a:r>
            <a:endParaRPr lang="en-US" sz="1150" dirty="0"/>
          </a:p>
        </p:txBody>
      </p:sp>
      <p:sp>
        <p:nvSpPr>
          <p:cNvPr id="44" name="Text 41"/>
          <p:cNvSpPr txBox="1"/>
          <p:nvPr/>
        </p:nvSpPr>
        <p:spPr>
          <a:xfrm>
            <a:off x="8375904" y="4818888"/>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v-once</a:t>
            </a:r>
            <a:endParaRPr lang="en-US" sz="1100" dirty="0"/>
          </a:p>
        </p:txBody>
      </p:sp>
      <p:sp>
        <p:nvSpPr>
          <p:cNvPr id="45" name="Shape 42"/>
          <p:cNvSpPr/>
          <p:nvPr/>
        </p:nvSpPr>
        <p:spPr>
          <a:xfrm>
            <a:off x="548640" y="5358384"/>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6" name="Text 43"/>
          <p:cNvSpPr txBox="1"/>
          <p:nvPr/>
        </p:nvSpPr>
        <p:spPr>
          <a:xfrm>
            <a:off x="749808" y="5522976"/>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v-pre</a:t>
            </a:r>
            <a:endParaRPr lang="en-US" sz="1350" dirty="0"/>
          </a:p>
        </p:txBody>
      </p:sp>
      <p:sp>
        <p:nvSpPr>
          <p:cNvPr id="47" name="Text 44"/>
          <p:cNvSpPr txBox="1"/>
          <p:nvPr/>
        </p:nvSpPr>
        <p:spPr>
          <a:xfrm>
            <a:off x="749808" y="5833872"/>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Lewati kompilasi pada elemen</a:t>
            </a:r>
            <a:endParaRPr lang="en-US" sz="1150" dirty="0"/>
          </a:p>
        </p:txBody>
      </p:sp>
      <p:sp>
        <p:nvSpPr>
          <p:cNvPr id="48" name="Text 45"/>
          <p:cNvSpPr txBox="1"/>
          <p:nvPr/>
        </p:nvSpPr>
        <p:spPr>
          <a:xfrm>
            <a:off x="749808" y="6117336"/>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v-pre</a:t>
            </a:r>
            <a:endParaRPr lang="en-US" sz="1100" dirty="0"/>
          </a:p>
        </p:txBody>
      </p:sp>
      <p:sp>
        <p:nvSpPr>
          <p:cNvPr id="49" name="Shape 46"/>
          <p:cNvSpPr/>
          <p:nvPr/>
        </p:nvSpPr>
        <p:spPr>
          <a:xfrm>
            <a:off x="4361688" y="5358384"/>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50" name="Text 47"/>
          <p:cNvSpPr txBox="1"/>
          <p:nvPr/>
        </p:nvSpPr>
        <p:spPr>
          <a:xfrm>
            <a:off x="4562856" y="5522976"/>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v-slot</a:t>
            </a:r>
            <a:endParaRPr lang="en-US" sz="1350" dirty="0"/>
          </a:p>
        </p:txBody>
      </p:sp>
      <p:sp>
        <p:nvSpPr>
          <p:cNvPr id="51" name="Shape 48"/>
          <p:cNvSpPr/>
          <p:nvPr/>
        </p:nvSpPr>
        <p:spPr>
          <a:xfrm>
            <a:off x="7269480" y="5532120"/>
            <a:ext cx="484632" cy="256032"/>
          </a:xfrm>
          <a:prstGeom prst="roundRect">
            <a:avLst>
              <a:gd name="adj" fmla="val 21429"/>
            </a:avLst>
          </a:prstGeom>
          <a:solidFill>
            <a:srgbClr val="E9F5EF"/>
          </a:solidFill>
          <a:ln w="12700">
            <a:solidFill>
              <a:srgbClr val="333333"/>
            </a:solidFill>
            <a:prstDash val="solid"/>
          </a:ln>
        </p:spPr>
      </p:sp>
      <p:sp>
        <p:nvSpPr>
          <p:cNvPr id="52" name="Text 49"/>
          <p:cNvSpPr txBox="1"/>
          <p:nvPr/>
        </p:nvSpPr>
        <p:spPr>
          <a:xfrm>
            <a:off x="7269480" y="5532120"/>
            <a:ext cx="484632" cy="256032"/>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a:t>
            </a:r>
            <a:endParaRPr lang="en-US" sz="1100" dirty="0"/>
          </a:p>
        </p:txBody>
      </p:sp>
      <p:sp>
        <p:nvSpPr>
          <p:cNvPr id="53" name="Text 50"/>
          <p:cNvSpPr txBox="1"/>
          <p:nvPr/>
        </p:nvSpPr>
        <p:spPr>
          <a:xfrm>
            <a:off x="4562856" y="5833872"/>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Menempatkan konten pada slot bernama</a:t>
            </a:r>
            <a:endParaRPr lang="en-US" sz="1150" dirty="0"/>
          </a:p>
        </p:txBody>
      </p:sp>
      <p:sp>
        <p:nvSpPr>
          <p:cNvPr id="54" name="Text 51"/>
          <p:cNvSpPr txBox="1"/>
          <p:nvPr/>
        </p:nvSpPr>
        <p:spPr>
          <a:xfrm>
            <a:off x="4562856" y="6117336"/>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#judul</a:t>
            </a:r>
            <a:endParaRPr lang="en-US" sz="1100" dirty="0"/>
          </a:p>
        </p:txBody>
      </p:sp>
      <p:sp>
        <p:nvSpPr>
          <p:cNvPr id="55" name="Shape 52"/>
          <p:cNvSpPr/>
          <p:nvPr/>
        </p:nvSpPr>
        <p:spPr>
          <a:xfrm>
            <a:off x="8174736" y="5358384"/>
            <a:ext cx="359359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56" name="Text 53"/>
          <p:cNvSpPr txBox="1"/>
          <p:nvPr/>
        </p:nvSpPr>
        <p:spPr>
          <a:xfrm>
            <a:off x="8375904" y="5522976"/>
            <a:ext cx="2011680" cy="274320"/>
          </a:xfrm>
          <a:prstGeom prst="rect">
            <a:avLst/>
          </a:prstGeom>
          <a:noFill/>
          <a:ln/>
        </p:spPr>
        <p:txBody>
          <a:bodyPr wrap="square" lIns="0" tIns="0" rIns="0" bIns="0" rtlCol="0" anchor="ctr"/>
          <a:lstStyle/>
          <a:p>
            <a:pPr indent="0" marL="0">
              <a:buNone/>
            </a:pPr>
            <a:r>
              <a:rPr lang="en-US" sz="1350" b="1" dirty="0">
                <a:solidFill>
                  <a:srgbClr val="2F9E6E"/>
                </a:solidFill>
                <a:latin typeface="Courier New" pitchFamily="34" charset="0"/>
                <a:ea typeface="Courier New" pitchFamily="34" charset="-122"/>
                <a:cs typeface="Courier New" pitchFamily="34" charset="-120"/>
              </a:rPr>
              <a:t>v-cloak</a:t>
            </a:r>
            <a:endParaRPr lang="en-US" sz="1350" dirty="0"/>
          </a:p>
        </p:txBody>
      </p:sp>
      <p:sp>
        <p:nvSpPr>
          <p:cNvPr id="57" name="Text 54"/>
          <p:cNvSpPr txBox="1"/>
          <p:nvPr/>
        </p:nvSpPr>
        <p:spPr>
          <a:xfrm>
            <a:off x="8375904" y="5833872"/>
            <a:ext cx="3191256" cy="27432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Sembunyikan template sebelum siap</a:t>
            </a:r>
            <a:endParaRPr lang="en-US" sz="1150" dirty="0"/>
          </a:p>
        </p:txBody>
      </p:sp>
      <p:sp>
        <p:nvSpPr>
          <p:cNvPr id="58" name="Text 55"/>
          <p:cNvSpPr txBox="1"/>
          <p:nvPr/>
        </p:nvSpPr>
        <p:spPr>
          <a:xfrm>
            <a:off x="8375904" y="6117336"/>
            <a:ext cx="3191256" cy="237744"/>
          </a:xfrm>
          <a:prstGeom prst="rect">
            <a:avLst/>
          </a:prstGeom>
          <a:noFill/>
          <a:ln/>
        </p:spPr>
        <p:txBody>
          <a:bodyPr wrap="square" lIns="0" tIns="0" rIns="0" bIns="0" rtlCol="0" anchor="ctr"/>
          <a:lstStyle/>
          <a:p>
            <a:pPr indent="0" marL="0">
              <a:buNone/>
            </a:pPr>
            <a:r>
              <a:rPr lang="en-US" sz="1100" dirty="0">
                <a:solidFill>
                  <a:srgbClr val="35495E"/>
                </a:solidFill>
                <a:latin typeface="Courier New" pitchFamily="34" charset="0"/>
                <a:ea typeface="Courier New" pitchFamily="34" charset="-122"/>
                <a:cs typeface="Courier New" pitchFamily="34" charset="-120"/>
              </a:rPr>
              <a:t>v-cloak</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Rendering Kondisional &amp; List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Menampilkan elemen secara dinamis berdasarkan data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RENDERING KONDISIONAL</a:t>
            </a:r>
            <a:endParaRPr lang="en-US" sz="1200" dirty="0"/>
          </a:p>
        </p:txBody>
      </p:sp>
      <p:sp>
        <p:nvSpPr>
          <p:cNvPr id="6" name="Shape 3"/>
          <p:cNvSpPr/>
          <p:nvPr/>
        </p:nvSpPr>
        <p:spPr>
          <a:xfrm>
            <a:off x="548640" y="1755648"/>
            <a:ext cx="5394960" cy="2706697"/>
          </a:xfrm>
          <a:prstGeom prst="roundRect">
            <a:avLst>
              <a:gd name="adj" fmla="val 2365"/>
            </a:avLst>
          </a:prstGeom>
          <a:solidFill>
            <a:srgbClr val="253340"/>
          </a:solidFill>
          <a:ln w="12700">
            <a:solidFill>
              <a:srgbClr val="253340"/>
            </a:solidFill>
            <a:prstDash val="solid"/>
          </a:ln>
        </p:spPr>
      </p:sp>
      <p:sp>
        <p:nvSpPr>
          <p:cNvPr id="7" name="Text 4"/>
          <p:cNvSpPr txBox="1"/>
          <p:nvPr/>
        </p:nvSpPr>
        <p:spPr>
          <a:xfrm>
            <a:off x="676656" y="1874520"/>
            <a:ext cx="5138928" cy="2468953"/>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 v-if="nilai &gt;= 80"&gt;Sangat Baik&lt;/p&gt;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 v-else-if="nilai &gt;= 60"&gt;Cukup&lt;/p&gt;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 v-else&gt;Perlu Perbaikan&lt;/p&gt;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 v-show: elemen tetap ada di DOM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&lt;div v-show="tampilDetail"&gt;Detail...&lt;/div&gt;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 kondisi untuk beberapa elemen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&lt;template v-if="sudahLogin"&gt;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&lt;h2&gt;Halo, selamat datang kembali.&lt;/h2&gt;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8" name="Shape 5"/>
          <p:cNvSpPr/>
          <p:nvPr/>
        </p:nvSpPr>
        <p:spPr>
          <a:xfrm>
            <a:off x="548640" y="4709160"/>
            <a:ext cx="5394960" cy="1572768"/>
          </a:xfrm>
          <a:prstGeom prst="roundRect">
            <a:avLst>
              <a:gd name="adj" fmla="val 5233"/>
            </a:avLst>
          </a:prstGeom>
          <a:solidFill>
            <a:srgbClr val="FFFFFF"/>
          </a:solidFill>
          <a:ln w="12700">
            <a:solidFill>
              <a:srgbClr val="333333"/>
            </a:solidFill>
            <a:prstDash val="solid"/>
          </a:ln>
          <a:effectLst>
            <a:outerShdw sx="100000" sy="100000" kx="0" ky="0" algn="bl" rotWithShape="0" blurRad="127000" dist="25400" dir="5400000">
              <a:srgbClr val="B9C7C1">
                <a:alpha val="40000"/>
              </a:srgbClr>
            </a:outerShdw>
          </a:effectLst>
        </p:spPr>
      </p:sp>
      <p:sp>
        <p:nvSpPr>
          <p:cNvPr id="9" name="Text 6"/>
          <p:cNvSpPr txBox="1"/>
          <p:nvPr/>
        </p:nvSpPr>
        <p:spPr>
          <a:xfrm>
            <a:off x="777240" y="4828032"/>
            <a:ext cx="4937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v-if vs v-show</a:t>
            </a:r>
            <a:endParaRPr lang="en-US" sz="1350" dirty="0"/>
          </a:p>
        </p:txBody>
      </p:sp>
      <p:sp>
        <p:nvSpPr>
          <p:cNvPr id="10" name="Text 7"/>
          <p:cNvSpPr txBox="1"/>
          <p:nvPr/>
        </p:nvSpPr>
        <p:spPr>
          <a:xfrm>
            <a:off x="777240" y="5157216"/>
            <a:ext cx="4937760" cy="1097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v-if benar-benar membuat &amp; menghapus elemen dari DOM — biaya awal ringan, biaya beralih mahal.</a:t>
            </a:r>
            <a:endParaRPr lang="en-US" sz="1150" dirty="0"/>
          </a:p>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v-show hanya mengubah CSS display — biaya awal lebih besar, tetapi beralih sangat murah.</a:t>
            </a:r>
            <a:endParaRPr lang="en-US" sz="1150" dirty="0"/>
          </a:p>
          <a:p>
            <a:pPr marL="342900" indent="-342900">
              <a:spcAft>
                <a:spcPts val="600"/>
              </a:spcAft>
              <a:buSzPct val="100000"/>
              <a:buChar char="▪"/>
            </a:pPr>
            <a:r>
              <a:rPr lang="en-US" sz="1150" dirty="0">
                <a:solidFill>
                  <a:srgbClr val="6B7C8C"/>
                </a:solidFill>
                <a:latin typeface="Calibri" pitchFamily="34" charset="0"/>
                <a:ea typeface="Calibri" pitchFamily="34" charset="-122"/>
                <a:cs typeface="Calibri" pitchFamily="34" charset="-120"/>
              </a:rPr>
              <a:t>Pakai v-show bila kondisi sering berubah, v-if bila jarang berubah.</a:t>
            </a:r>
            <a:endParaRPr lang="en-US" sz="1150" dirty="0"/>
          </a:p>
        </p:txBody>
      </p:sp>
      <p:sp>
        <p:nvSpPr>
          <p:cNvPr id="11" name="Text 8"/>
          <p:cNvSpPr txBox="1"/>
          <p:nvPr/>
        </p:nvSpPr>
        <p:spPr>
          <a:xfrm>
            <a:off x="6245352" y="1463040"/>
            <a:ext cx="548640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RENDERING LIST</a:t>
            </a:r>
            <a:endParaRPr lang="en-US" sz="1200" dirty="0"/>
          </a:p>
        </p:txBody>
      </p:sp>
      <p:sp>
        <p:nvSpPr>
          <p:cNvPr id="12" name="Shape 9"/>
          <p:cNvSpPr/>
          <p:nvPr/>
        </p:nvSpPr>
        <p:spPr>
          <a:xfrm>
            <a:off x="6245352" y="1755648"/>
            <a:ext cx="5394960" cy="2518184"/>
          </a:xfrm>
          <a:prstGeom prst="roundRect">
            <a:avLst>
              <a:gd name="adj" fmla="val 2542"/>
            </a:avLst>
          </a:prstGeom>
          <a:solidFill>
            <a:srgbClr val="253340"/>
          </a:solidFill>
          <a:ln w="12700">
            <a:solidFill>
              <a:srgbClr val="253340"/>
            </a:solidFill>
            <a:prstDash val="solid"/>
          </a:ln>
        </p:spPr>
      </p:sp>
      <p:sp>
        <p:nvSpPr>
          <p:cNvPr id="13" name="Text 10"/>
          <p:cNvSpPr txBox="1"/>
          <p:nvPr/>
        </p:nvSpPr>
        <p:spPr>
          <a:xfrm>
            <a:off x="6373368" y="1874520"/>
            <a:ext cx="5138928" cy="2280440"/>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mahasiswa = ref([</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id: 1, nama: "Budi", nilai: 85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id: 2, nama: "Ani",  nilai: 92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&lt;li v-for="(m, i) in mahasiswa" :key="m.id"&gt;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i + 1 }}. {{ m.nama }} - {{ m.nilai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&lt;/li&gt;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14" name="Shape 11"/>
          <p:cNvSpPr/>
          <p:nvPr/>
        </p:nvSpPr>
        <p:spPr>
          <a:xfrm>
            <a:off x="6245352" y="4709160"/>
            <a:ext cx="5394960" cy="1572768"/>
          </a:xfrm>
          <a:prstGeom prst="roundRect">
            <a:avLst>
              <a:gd name="adj" fmla="val 5233"/>
            </a:avLst>
          </a:prstGeom>
          <a:solidFill>
            <a:srgbClr val="FFF6E5"/>
          </a:solidFill>
          <a:ln w="12700">
            <a:solidFill>
              <a:srgbClr val="333333"/>
            </a:solidFill>
            <a:prstDash val="solid"/>
          </a:ln>
          <a:effectLst>
            <a:outerShdw sx="100000" sy="100000" kx="0" ky="0" algn="bl" rotWithShape="0" blurRad="127000" dist="25400" dir="5400000">
              <a:srgbClr val="B9C7C1">
                <a:alpha val="40000"/>
              </a:srgbClr>
            </a:outerShdw>
          </a:effectLst>
        </p:spPr>
      </p:sp>
      <p:sp>
        <p:nvSpPr>
          <p:cNvPr id="15" name="Shape 12"/>
          <p:cNvSpPr/>
          <p:nvPr/>
        </p:nvSpPr>
        <p:spPr>
          <a:xfrm>
            <a:off x="6473952" y="4846320"/>
            <a:ext cx="402336" cy="402336"/>
          </a:xfrm>
          <a:prstGeom prst="ellipse">
            <a:avLst/>
          </a:prstGeom>
          <a:solidFill>
            <a:srgbClr val="E8A33D"/>
          </a:solidFill>
          <a:ln w="12700">
            <a:solidFill>
              <a:srgbClr val="E8A33D"/>
            </a:solidFill>
            <a:prstDash val="solid"/>
          </a:ln>
        </p:spPr>
      </p:sp>
      <p:pic>
        <p:nvPicPr>
          <p:cNvPr id="16" name="Image 1" descr="preencoded.png">    </p:cNvPr>
          <p:cNvPicPr>
            <a:picLocks noChangeAspect="1"/>
          </p:cNvPicPr>
          <p:nvPr/>
        </p:nvPicPr>
        <p:blipFill>
          <a:blip r:embed="rId2"/>
          <a:stretch>
            <a:fillRect/>
          </a:stretch>
        </p:blipFill>
        <p:spPr>
          <a:xfrm>
            <a:off x="6586606" y="4958974"/>
            <a:ext cx="177028" cy="177028"/>
          </a:xfrm>
          <a:prstGeom prst="rect">
            <a:avLst/>
          </a:prstGeom>
        </p:spPr>
      </p:pic>
      <p:sp>
        <p:nvSpPr>
          <p:cNvPr id="17" name="Text 13"/>
          <p:cNvSpPr txBox="1"/>
          <p:nvPr/>
        </p:nvSpPr>
        <p:spPr>
          <a:xfrm>
            <a:off x="7004304" y="4828032"/>
            <a:ext cx="4389120" cy="274320"/>
          </a:xfrm>
          <a:prstGeom prst="rect">
            <a:avLst/>
          </a:prstGeom>
          <a:noFill/>
          <a:ln/>
        </p:spPr>
        <p:txBody>
          <a:bodyPr wrap="square" lIns="0" tIns="0" rIns="0" bIns="0" rtlCol="0" anchor="ctr"/>
          <a:lstStyle/>
          <a:p>
            <a:pPr indent="0" marL="0">
              <a:buNone/>
            </a:pPr>
            <a:r>
              <a:rPr lang="en-US" sz="1350" b="1" dirty="0">
                <a:solidFill>
                  <a:srgbClr val="8A6112"/>
                </a:solidFill>
                <a:latin typeface="Calibri" pitchFamily="34" charset="0"/>
                <a:ea typeface="Calibri" pitchFamily="34" charset="-122"/>
                <a:cs typeface="Calibri" pitchFamily="34" charset="-120"/>
              </a:rPr>
              <a:t>Wajib pakai :key</a:t>
            </a:r>
            <a:endParaRPr lang="en-US" sz="1350" dirty="0"/>
          </a:p>
        </p:txBody>
      </p:sp>
      <p:sp>
        <p:nvSpPr>
          <p:cNvPr id="18" name="Text 14"/>
          <p:cNvSpPr txBox="1"/>
          <p:nvPr/>
        </p:nvSpPr>
        <p:spPr>
          <a:xfrm>
            <a:off x="6473952" y="5248656"/>
            <a:ext cx="4937760" cy="960120"/>
          </a:xfrm>
          <a:prstGeom prst="rect">
            <a:avLst/>
          </a:prstGeom>
          <a:noFill/>
          <a:ln/>
        </p:spPr>
        <p:txBody>
          <a:bodyPr wrap="square" lIns="0" tIns="0" rIns="0" bIns="0" rtlCol="0" anchor="t"/>
          <a:lstStyle/>
          <a:p>
            <a:pPr indent="0" marL="0">
              <a:lnSpc>
                <a:spcPct val="112000"/>
              </a:lnSpc>
              <a:buNone/>
            </a:pPr>
            <a:r>
              <a:rPr lang="en-US" sz="1150" dirty="0">
                <a:solidFill>
                  <a:srgbClr val="7A5610"/>
                </a:solidFill>
                <a:latin typeface="Calibri" pitchFamily="34" charset="0"/>
                <a:ea typeface="Calibri" pitchFamily="34" charset="-122"/>
                <a:cs typeface="Calibri" pitchFamily="34" charset="-120"/>
              </a:rPr>
              <a:t>Atribut :key memberi identitas unik pada setiap item sehingga Vue dapat melacak elemen mana yang berubah, berpindah, atau dihapus. Gunakan id dari data — hindari memakai indeks array bila urutan daftar bisa berubah.</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Penanganan Event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Merespons interaksi pengguna dengan v-on (@)</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5989320" cy="2518184"/>
          </a:xfrm>
          <a:prstGeom prst="roundRect">
            <a:avLst>
              <a:gd name="adj" fmla="val 2542"/>
            </a:avLst>
          </a:prstGeom>
          <a:solidFill>
            <a:srgbClr val="253340"/>
          </a:solidFill>
          <a:ln w="12700">
            <a:solidFill>
              <a:srgbClr val="253340"/>
            </a:solidFill>
            <a:prstDash val="solid"/>
          </a:ln>
        </p:spPr>
      </p:sp>
      <p:sp>
        <p:nvSpPr>
          <p:cNvPr id="6" name="Text 3"/>
          <p:cNvSpPr txBox="1"/>
          <p:nvPr/>
        </p:nvSpPr>
        <p:spPr>
          <a:xfrm>
            <a:off x="676656" y="1636776"/>
            <a:ext cx="5733288" cy="2280440"/>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hitung = ref(0);</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function simpan(nama) { console.log("Simpan", nama);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&lt;button v-on:click="hitung++"&gt;Tambah&lt;/button&gt;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&lt;button @click="hitung++"&gt;Bentuk singkat&lt;/button&gt;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&lt;button @click="simpan('Budi')"&gt;Simpan&lt;/button&gt;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&lt;input @keyup.enter="simpan(nilai)"&gt;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&lt;form @submit.prevent="simpan"&gt;...&lt;/form&gt;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7" name="Text 4"/>
          <p:cNvSpPr txBox="1"/>
          <p:nvPr/>
        </p:nvSpPr>
        <p:spPr>
          <a:xfrm>
            <a:off x="6812280" y="1517904"/>
            <a:ext cx="475488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EVENT MODIFIERS</a:t>
            </a:r>
            <a:endParaRPr lang="en-US" sz="1200" dirty="0"/>
          </a:p>
        </p:txBody>
      </p:sp>
      <p:sp>
        <p:nvSpPr>
          <p:cNvPr id="8" name="Shape 5"/>
          <p:cNvSpPr/>
          <p:nvPr/>
        </p:nvSpPr>
        <p:spPr>
          <a:xfrm>
            <a:off x="6812280" y="1847088"/>
            <a:ext cx="4828032" cy="548640"/>
          </a:xfrm>
          <a:prstGeom prst="roundRect">
            <a:avLst>
              <a:gd name="adj" fmla="val 11667"/>
            </a:avLst>
          </a:prstGeom>
          <a:solidFill>
            <a:srgbClr val="EDF4F1"/>
          </a:solidFill>
          <a:ln w="12700">
            <a:solidFill>
              <a:srgbClr val="333333"/>
            </a:solidFill>
            <a:prstDash val="solid"/>
          </a:ln>
        </p:spPr>
      </p:sp>
      <p:sp>
        <p:nvSpPr>
          <p:cNvPr id="9" name="Text 6"/>
          <p:cNvSpPr txBox="1"/>
          <p:nvPr/>
        </p:nvSpPr>
        <p:spPr>
          <a:xfrm>
            <a:off x="6995160" y="1847088"/>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.prevent</a:t>
            </a:r>
            <a:endParaRPr lang="en-US" sz="1200" dirty="0"/>
          </a:p>
        </p:txBody>
      </p:sp>
      <p:sp>
        <p:nvSpPr>
          <p:cNvPr id="10" name="Text 7"/>
          <p:cNvSpPr txBox="1"/>
          <p:nvPr/>
        </p:nvSpPr>
        <p:spPr>
          <a:xfrm>
            <a:off x="8796528" y="1847088"/>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Menjalankan event.preventDefault()</a:t>
            </a:r>
            <a:endParaRPr lang="en-US" sz="1100" dirty="0"/>
          </a:p>
        </p:txBody>
      </p:sp>
      <p:sp>
        <p:nvSpPr>
          <p:cNvPr id="11" name="Shape 8"/>
          <p:cNvSpPr/>
          <p:nvPr/>
        </p:nvSpPr>
        <p:spPr>
          <a:xfrm>
            <a:off x="6812280" y="2468880"/>
            <a:ext cx="4828032" cy="548640"/>
          </a:xfrm>
          <a:prstGeom prst="roundRect">
            <a:avLst>
              <a:gd name="adj" fmla="val 11667"/>
            </a:avLst>
          </a:prstGeom>
          <a:solidFill>
            <a:srgbClr val="FFFFFF"/>
          </a:solidFill>
          <a:ln w="12700">
            <a:solidFill>
              <a:srgbClr val="333333"/>
            </a:solidFill>
            <a:prstDash val="solid"/>
          </a:ln>
        </p:spPr>
      </p:sp>
      <p:sp>
        <p:nvSpPr>
          <p:cNvPr id="12" name="Text 9"/>
          <p:cNvSpPr txBox="1"/>
          <p:nvPr/>
        </p:nvSpPr>
        <p:spPr>
          <a:xfrm>
            <a:off x="6995160" y="2468880"/>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.stop</a:t>
            </a:r>
            <a:endParaRPr lang="en-US" sz="1200" dirty="0"/>
          </a:p>
        </p:txBody>
      </p:sp>
      <p:sp>
        <p:nvSpPr>
          <p:cNvPr id="13" name="Text 10"/>
          <p:cNvSpPr txBox="1"/>
          <p:nvPr/>
        </p:nvSpPr>
        <p:spPr>
          <a:xfrm>
            <a:off x="8796528" y="2468880"/>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Menghentikan penyebaran event (stopPropagation)</a:t>
            </a:r>
            <a:endParaRPr lang="en-US" sz="1100" dirty="0"/>
          </a:p>
        </p:txBody>
      </p:sp>
      <p:sp>
        <p:nvSpPr>
          <p:cNvPr id="14" name="Shape 11"/>
          <p:cNvSpPr/>
          <p:nvPr/>
        </p:nvSpPr>
        <p:spPr>
          <a:xfrm>
            <a:off x="6812280" y="3090672"/>
            <a:ext cx="4828032" cy="548640"/>
          </a:xfrm>
          <a:prstGeom prst="roundRect">
            <a:avLst>
              <a:gd name="adj" fmla="val 11667"/>
            </a:avLst>
          </a:prstGeom>
          <a:solidFill>
            <a:srgbClr val="EDF4F1"/>
          </a:solidFill>
          <a:ln w="12700">
            <a:solidFill>
              <a:srgbClr val="333333"/>
            </a:solidFill>
            <a:prstDash val="solid"/>
          </a:ln>
        </p:spPr>
      </p:sp>
      <p:sp>
        <p:nvSpPr>
          <p:cNvPr id="15" name="Text 12"/>
          <p:cNvSpPr txBox="1"/>
          <p:nvPr/>
        </p:nvSpPr>
        <p:spPr>
          <a:xfrm>
            <a:off x="6995160" y="3090672"/>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.once</a:t>
            </a:r>
            <a:endParaRPr lang="en-US" sz="1200" dirty="0"/>
          </a:p>
        </p:txBody>
      </p:sp>
      <p:sp>
        <p:nvSpPr>
          <p:cNvPr id="16" name="Text 13"/>
          <p:cNvSpPr txBox="1"/>
          <p:nvPr/>
        </p:nvSpPr>
        <p:spPr>
          <a:xfrm>
            <a:off x="8796528" y="3090672"/>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Handler hanya dijalankan satu kali</a:t>
            </a:r>
            <a:endParaRPr lang="en-US" sz="1100" dirty="0"/>
          </a:p>
        </p:txBody>
      </p:sp>
      <p:sp>
        <p:nvSpPr>
          <p:cNvPr id="17" name="Shape 14"/>
          <p:cNvSpPr/>
          <p:nvPr/>
        </p:nvSpPr>
        <p:spPr>
          <a:xfrm>
            <a:off x="6812280" y="3712464"/>
            <a:ext cx="4828032" cy="548640"/>
          </a:xfrm>
          <a:prstGeom prst="roundRect">
            <a:avLst>
              <a:gd name="adj" fmla="val 11667"/>
            </a:avLst>
          </a:prstGeom>
          <a:solidFill>
            <a:srgbClr val="FFFFFF"/>
          </a:solidFill>
          <a:ln w="12700">
            <a:solidFill>
              <a:srgbClr val="333333"/>
            </a:solidFill>
            <a:prstDash val="solid"/>
          </a:ln>
        </p:spPr>
      </p:sp>
      <p:sp>
        <p:nvSpPr>
          <p:cNvPr id="18" name="Text 15"/>
          <p:cNvSpPr txBox="1"/>
          <p:nvPr/>
        </p:nvSpPr>
        <p:spPr>
          <a:xfrm>
            <a:off x="6995160" y="3712464"/>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.self</a:t>
            </a:r>
            <a:endParaRPr lang="en-US" sz="1200" dirty="0"/>
          </a:p>
        </p:txBody>
      </p:sp>
      <p:sp>
        <p:nvSpPr>
          <p:cNvPr id="19" name="Text 16"/>
          <p:cNvSpPr txBox="1"/>
          <p:nvPr/>
        </p:nvSpPr>
        <p:spPr>
          <a:xfrm>
            <a:off x="8796528" y="3712464"/>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Hanya jika event berasal dari elemen itu sendiri</a:t>
            </a:r>
            <a:endParaRPr lang="en-US" sz="1100" dirty="0"/>
          </a:p>
        </p:txBody>
      </p:sp>
      <p:sp>
        <p:nvSpPr>
          <p:cNvPr id="20" name="Shape 17"/>
          <p:cNvSpPr/>
          <p:nvPr/>
        </p:nvSpPr>
        <p:spPr>
          <a:xfrm>
            <a:off x="6812280" y="4334256"/>
            <a:ext cx="4828032" cy="548640"/>
          </a:xfrm>
          <a:prstGeom prst="roundRect">
            <a:avLst>
              <a:gd name="adj" fmla="val 11667"/>
            </a:avLst>
          </a:prstGeom>
          <a:solidFill>
            <a:srgbClr val="EDF4F1"/>
          </a:solidFill>
          <a:ln w="12700">
            <a:solidFill>
              <a:srgbClr val="333333"/>
            </a:solidFill>
            <a:prstDash val="solid"/>
          </a:ln>
        </p:spPr>
      </p:sp>
      <p:sp>
        <p:nvSpPr>
          <p:cNvPr id="21" name="Text 18"/>
          <p:cNvSpPr txBox="1"/>
          <p:nvPr/>
        </p:nvSpPr>
        <p:spPr>
          <a:xfrm>
            <a:off x="6995160" y="4334256"/>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.enter / .esc</a:t>
            </a:r>
            <a:endParaRPr lang="en-US" sz="1200" dirty="0"/>
          </a:p>
        </p:txBody>
      </p:sp>
      <p:sp>
        <p:nvSpPr>
          <p:cNvPr id="22" name="Text 19"/>
          <p:cNvSpPr txBox="1"/>
          <p:nvPr/>
        </p:nvSpPr>
        <p:spPr>
          <a:xfrm>
            <a:off x="8796528" y="4334256"/>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Modifier tombol keyboard tertentu</a:t>
            </a:r>
            <a:endParaRPr lang="en-US" sz="1100" dirty="0"/>
          </a:p>
        </p:txBody>
      </p:sp>
      <p:sp>
        <p:nvSpPr>
          <p:cNvPr id="23" name="Shape 20"/>
          <p:cNvSpPr/>
          <p:nvPr/>
        </p:nvSpPr>
        <p:spPr>
          <a:xfrm>
            <a:off x="6812280" y="4956048"/>
            <a:ext cx="4828032" cy="548640"/>
          </a:xfrm>
          <a:prstGeom prst="roundRect">
            <a:avLst>
              <a:gd name="adj" fmla="val 11667"/>
            </a:avLst>
          </a:prstGeom>
          <a:solidFill>
            <a:srgbClr val="FFFFFF"/>
          </a:solidFill>
          <a:ln w="12700">
            <a:solidFill>
              <a:srgbClr val="333333"/>
            </a:solidFill>
            <a:prstDash val="solid"/>
          </a:ln>
        </p:spPr>
      </p:sp>
      <p:sp>
        <p:nvSpPr>
          <p:cNvPr id="24" name="Text 21"/>
          <p:cNvSpPr txBox="1"/>
          <p:nvPr/>
        </p:nvSpPr>
        <p:spPr>
          <a:xfrm>
            <a:off x="6995160" y="4956048"/>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.ctrl / .shift</a:t>
            </a:r>
            <a:endParaRPr lang="en-US" sz="1200" dirty="0"/>
          </a:p>
        </p:txBody>
      </p:sp>
      <p:sp>
        <p:nvSpPr>
          <p:cNvPr id="25" name="Text 22"/>
          <p:cNvSpPr txBox="1"/>
          <p:nvPr/>
        </p:nvSpPr>
        <p:spPr>
          <a:xfrm>
            <a:off x="8796528" y="4956048"/>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Modifier tombol sistem</a:t>
            </a:r>
            <a:endParaRPr lang="en-US" sz="1100" dirty="0"/>
          </a:p>
        </p:txBody>
      </p:sp>
      <p:sp>
        <p:nvSpPr>
          <p:cNvPr id="26" name="Shape 23"/>
          <p:cNvSpPr/>
          <p:nvPr/>
        </p:nvSpPr>
        <p:spPr>
          <a:xfrm>
            <a:off x="6812280" y="5577840"/>
            <a:ext cx="4828032" cy="548640"/>
          </a:xfrm>
          <a:prstGeom prst="roundRect">
            <a:avLst>
              <a:gd name="adj" fmla="val 11667"/>
            </a:avLst>
          </a:prstGeom>
          <a:solidFill>
            <a:srgbClr val="EDF4F1"/>
          </a:solidFill>
          <a:ln w="12700">
            <a:solidFill>
              <a:srgbClr val="333333"/>
            </a:solidFill>
            <a:prstDash val="solid"/>
          </a:ln>
        </p:spPr>
      </p:sp>
      <p:sp>
        <p:nvSpPr>
          <p:cNvPr id="27" name="Text 24"/>
          <p:cNvSpPr txBox="1"/>
          <p:nvPr/>
        </p:nvSpPr>
        <p:spPr>
          <a:xfrm>
            <a:off x="6995160" y="5577840"/>
            <a:ext cx="1783080" cy="548640"/>
          </a:xfrm>
          <a:prstGeom prst="rect">
            <a:avLst/>
          </a:prstGeom>
          <a:noFill/>
          <a:ln/>
        </p:spPr>
        <p:txBody>
          <a:bodyPr wrap="square" lIns="0" tIns="0" rIns="0" bIns="0" rtlCol="0" anchor="ctr"/>
          <a:lstStyle/>
          <a:p>
            <a:pPr indent="0" marL="0">
              <a:buNone/>
            </a:pPr>
            <a:r>
              <a:rPr lang="en-US" sz="1200" b="1" dirty="0">
                <a:solidFill>
                  <a:srgbClr val="2F9E6E"/>
                </a:solidFill>
                <a:latin typeface="Courier New" pitchFamily="34" charset="0"/>
                <a:ea typeface="Courier New" pitchFamily="34" charset="-122"/>
                <a:cs typeface="Courier New" pitchFamily="34" charset="-120"/>
              </a:rPr>
              <a:t>.passive</a:t>
            </a:r>
            <a:endParaRPr lang="en-US" sz="1200" dirty="0"/>
          </a:p>
        </p:txBody>
      </p:sp>
      <p:sp>
        <p:nvSpPr>
          <p:cNvPr id="28" name="Text 25"/>
          <p:cNvSpPr txBox="1"/>
          <p:nvPr/>
        </p:nvSpPr>
        <p:spPr>
          <a:xfrm>
            <a:off x="8796528" y="5577840"/>
            <a:ext cx="2724912" cy="54864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Tingkatkan performa event scroll</a:t>
            </a:r>
            <a:endParaRPr lang="en-US" sz="1100" dirty="0"/>
          </a:p>
        </p:txBody>
      </p:sp>
      <p:sp>
        <p:nvSpPr>
          <p:cNvPr id="29" name="Shape 26"/>
          <p:cNvSpPr/>
          <p:nvPr/>
        </p:nvSpPr>
        <p:spPr>
          <a:xfrm>
            <a:off x="548640" y="4498848"/>
            <a:ext cx="5989320" cy="1627632"/>
          </a:xfrm>
          <a:prstGeom prst="roundRect">
            <a:avLst>
              <a:gd name="adj" fmla="val 5056"/>
            </a:avLst>
          </a:prstGeom>
          <a:solidFill>
            <a:srgbClr val="E9F5EF"/>
          </a:solidFill>
          <a:ln w="12700">
            <a:solidFill>
              <a:srgbClr val="333333"/>
            </a:solidFill>
            <a:prstDash val="solid"/>
          </a:ln>
        </p:spPr>
      </p:sp>
      <p:sp>
        <p:nvSpPr>
          <p:cNvPr id="30" name="Shape 27"/>
          <p:cNvSpPr/>
          <p:nvPr/>
        </p:nvSpPr>
        <p:spPr>
          <a:xfrm>
            <a:off x="777240" y="4700016"/>
            <a:ext cx="420624" cy="420624"/>
          </a:xfrm>
          <a:prstGeom prst="ellipse">
            <a:avLst/>
          </a:prstGeom>
          <a:solidFill>
            <a:srgbClr val="42B883"/>
          </a:solidFill>
          <a:ln w="12700">
            <a:solidFill>
              <a:srgbClr val="42B883"/>
            </a:solidFill>
            <a:prstDash val="solid"/>
          </a:ln>
        </p:spPr>
      </p:sp>
      <p:pic>
        <p:nvPicPr>
          <p:cNvPr id="31" name="Image 1" descr="preencoded.png">    </p:cNvPr>
          <p:cNvPicPr>
            <a:picLocks noChangeAspect="1"/>
          </p:cNvPicPr>
          <p:nvPr/>
        </p:nvPicPr>
        <p:blipFill>
          <a:blip r:embed="rId2"/>
          <a:stretch>
            <a:fillRect/>
          </a:stretch>
        </p:blipFill>
        <p:spPr>
          <a:xfrm>
            <a:off x="895015" y="4817791"/>
            <a:ext cx="185075" cy="185075"/>
          </a:xfrm>
          <a:prstGeom prst="rect">
            <a:avLst/>
          </a:prstGeom>
        </p:spPr>
      </p:pic>
      <p:sp>
        <p:nvSpPr>
          <p:cNvPr id="32" name="Text 28"/>
          <p:cNvSpPr txBox="1"/>
          <p:nvPr/>
        </p:nvSpPr>
        <p:spPr>
          <a:xfrm>
            <a:off x="1307592" y="4681728"/>
            <a:ext cx="502920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Inline vs Method Handler</a:t>
            </a:r>
            <a:endParaRPr lang="en-US" sz="1350" dirty="0"/>
          </a:p>
        </p:txBody>
      </p:sp>
      <p:sp>
        <p:nvSpPr>
          <p:cNvPr id="33" name="Text 29"/>
          <p:cNvSpPr txBox="1"/>
          <p:nvPr/>
        </p:nvSpPr>
        <p:spPr>
          <a:xfrm>
            <a:off x="777240" y="5193792"/>
            <a:ext cx="5532120" cy="822960"/>
          </a:xfrm>
          <a:prstGeom prst="rect">
            <a:avLst/>
          </a:prstGeom>
          <a:noFill/>
          <a:ln/>
        </p:spPr>
        <p:txBody>
          <a:bodyPr wrap="square" lIns="0" tIns="0" rIns="0" bIns="0" rtlCol="0" anchor="t"/>
          <a:lstStyle/>
          <a:p>
            <a:pPr indent="0" marL="0">
              <a:lnSpc>
                <a:spcPct val="112000"/>
              </a:lnSpc>
              <a:buNone/>
            </a:pPr>
            <a:r>
              <a:rPr lang="en-US" sz="1200" dirty="0">
                <a:solidFill>
                  <a:srgbClr val="35495E"/>
                </a:solidFill>
                <a:latin typeface="Calibri" pitchFamily="34" charset="0"/>
                <a:ea typeface="Calibri" pitchFamily="34" charset="-122"/>
                <a:cs typeface="Calibri" pitchFamily="34" charset="-120"/>
              </a:rPr>
              <a:t>Gunakan handler inline untuk logika sangat sederhana seperti menambah angka. Untuk logika lebih dari satu baris, pindahkan ke sebuah fungsi agar template tetap bersih dan mudah diuji.</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Computed Properties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Nilai turunan yang dihitung otomatis dan disimpan dalam cache</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6492240" cy="3649261"/>
          </a:xfrm>
          <a:prstGeom prst="roundRect">
            <a:avLst>
              <a:gd name="adj" fmla="val 1754"/>
            </a:avLst>
          </a:prstGeom>
          <a:solidFill>
            <a:srgbClr val="253340"/>
          </a:solidFill>
          <a:ln w="12700">
            <a:solidFill>
              <a:srgbClr val="253340"/>
            </a:solidFill>
            <a:prstDash val="solid"/>
          </a:ln>
        </p:spPr>
      </p:sp>
      <p:sp>
        <p:nvSpPr>
          <p:cNvPr id="6" name="Text 3"/>
          <p:cNvSpPr txBox="1"/>
          <p:nvPr/>
        </p:nvSpPr>
        <p:spPr>
          <a:xfrm>
            <a:off x="676656" y="1636776"/>
            <a:ext cx="6236208" cy="3411517"/>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 ref, computed } from "vue";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daftarBelanja = ref([</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nama: "Buku", harga: 50000, jumlah: 2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nama: "Pena", harga: 5000,  jumlah: 10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dihitung ulang HANYA jika daftarBelanja berubah</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totalHarga = computed(()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daftarBelanja.value.reduce(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(t, b) =&gt; t + b.harga * b.jumlah, 0)</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&lt;p&gt;Total: Rp {{ totalHarga.toLocaleString() }}&lt;/p&gt;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7" name="Shape 4"/>
          <p:cNvSpPr/>
          <p:nvPr/>
        </p:nvSpPr>
        <p:spPr>
          <a:xfrm>
            <a:off x="7269480" y="151790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8" name="Shape 5"/>
          <p:cNvSpPr/>
          <p:nvPr/>
        </p:nvSpPr>
        <p:spPr>
          <a:xfrm>
            <a:off x="7498080" y="1773936"/>
            <a:ext cx="420624" cy="420624"/>
          </a:xfrm>
          <a:prstGeom prst="ellipse">
            <a:avLst/>
          </a:prstGeom>
          <a:solidFill>
            <a:srgbClr val="42B883"/>
          </a:solidFill>
          <a:ln w="12700">
            <a:solidFill>
              <a:srgbClr val="42B883"/>
            </a:solidFill>
            <a:prstDash val="solid"/>
          </a:ln>
        </p:spPr>
      </p:sp>
      <p:pic>
        <p:nvPicPr>
          <p:cNvPr id="9" name="Image 1" descr="preencoded.png">    </p:cNvPr>
          <p:cNvPicPr>
            <a:picLocks noChangeAspect="1"/>
          </p:cNvPicPr>
          <p:nvPr/>
        </p:nvPicPr>
        <p:blipFill>
          <a:blip r:embed="rId2"/>
          <a:stretch>
            <a:fillRect/>
          </a:stretch>
        </p:blipFill>
        <p:spPr>
          <a:xfrm>
            <a:off x="7615855" y="1891711"/>
            <a:ext cx="185075" cy="185075"/>
          </a:xfrm>
          <a:prstGeom prst="rect">
            <a:avLst/>
          </a:prstGeom>
        </p:spPr>
      </p:pic>
      <p:sp>
        <p:nvSpPr>
          <p:cNvPr id="10" name="Text 6"/>
          <p:cNvSpPr txBox="1"/>
          <p:nvPr/>
        </p:nvSpPr>
        <p:spPr>
          <a:xfrm>
            <a:off x="8028432" y="1691640"/>
            <a:ext cx="342900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Cache Otomatis</a:t>
            </a:r>
            <a:endParaRPr lang="en-US" sz="1350" dirty="0"/>
          </a:p>
        </p:txBody>
      </p:sp>
      <p:sp>
        <p:nvSpPr>
          <p:cNvPr id="11" name="Text 7"/>
          <p:cNvSpPr txBox="1"/>
          <p:nvPr/>
        </p:nvSpPr>
        <p:spPr>
          <a:xfrm>
            <a:off x="8028432" y="2002536"/>
            <a:ext cx="342900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Hasil disimpan dan hanya dihitung ulang saat dependensinya benar-benar berubah.</a:t>
            </a:r>
            <a:endParaRPr lang="en-US" sz="1100" dirty="0"/>
          </a:p>
        </p:txBody>
      </p:sp>
      <p:sp>
        <p:nvSpPr>
          <p:cNvPr id="12" name="Shape 8"/>
          <p:cNvSpPr/>
          <p:nvPr/>
        </p:nvSpPr>
        <p:spPr>
          <a:xfrm>
            <a:off x="7269480" y="270662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7498080" y="2962656"/>
            <a:ext cx="420624" cy="420624"/>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7615855" y="3080431"/>
            <a:ext cx="185075" cy="185075"/>
          </a:xfrm>
          <a:prstGeom prst="rect">
            <a:avLst/>
          </a:prstGeom>
        </p:spPr>
      </p:pic>
      <p:sp>
        <p:nvSpPr>
          <p:cNvPr id="15" name="Text 10"/>
          <p:cNvSpPr txBox="1"/>
          <p:nvPr/>
        </p:nvSpPr>
        <p:spPr>
          <a:xfrm>
            <a:off x="8028432" y="2880360"/>
            <a:ext cx="342900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Deklaratif</a:t>
            </a:r>
            <a:endParaRPr lang="en-US" sz="1350" dirty="0"/>
          </a:p>
        </p:txBody>
      </p:sp>
      <p:sp>
        <p:nvSpPr>
          <p:cNvPr id="16" name="Text 11"/>
          <p:cNvSpPr txBox="1"/>
          <p:nvPr/>
        </p:nvSpPr>
        <p:spPr>
          <a:xfrm>
            <a:off x="8028432" y="3191256"/>
            <a:ext cx="342900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Template menjadi bersih karena logika perhitungan dipindahkan ke script.</a:t>
            </a:r>
            <a:endParaRPr lang="en-US" sz="1100" dirty="0"/>
          </a:p>
        </p:txBody>
      </p:sp>
      <p:sp>
        <p:nvSpPr>
          <p:cNvPr id="17" name="Shape 12"/>
          <p:cNvSpPr/>
          <p:nvPr/>
        </p:nvSpPr>
        <p:spPr>
          <a:xfrm>
            <a:off x="7269480" y="389534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Shape 13"/>
          <p:cNvSpPr/>
          <p:nvPr/>
        </p:nvSpPr>
        <p:spPr>
          <a:xfrm>
            <a:off x="7498080" y="4151376"/>
            <a:ext cx="420624" cy="420624"/>
          </a:xfrm>
          <a:prstGeom prst="ellipse">
            <a:avLst/>
          </a:prstGeom>
          <a:solidFill>
            <a:srgbClr val="42B883"/>
          </a:solidFill>
          <a:ln w="12700">
            <a:solidFill>
              <a:srgbClr val="42B883"/>
            </a:solidFill>
            <a:prstDash val="solid"/>
          </a:ln>
        </p:spPr>
      </p:sp>
      <p:pic>
        <p:nvPicPr>
          <p:cNvPr id="19" name="Image 3" descr="preencoded.png">    </p:cNvPr>
          <p:cNvPicPr>
            <a:picLocks noChangeAspect="1"/>
          </p:cNvPicPr>
          <p:nvPr/>
        </p:nvPicPr>
        <p:blipFill>
          <a:blip r:embed="rId4"/>
          <a:stretch>
            <a:fillRect/>
          </a:stretch>
        </p:blipFill>
        <p:spPr>
          <a:xfrm>
            <a:off x="7615855" y="4269151"/>
            <a:ext cx="185075" cy="185075"/>
          </a:xfrm>
          <a:prstGeom prst="rect">
            <a:avLst/>
          </a:prstGeom>
        </p:spPr>
      </p:pic>
      <p:sp>
        <p:nvSpPr>
          <p:cNvPr id="20" name="Text 14"/>
          <p:cNvSpPr txBox="1"/>
          <p:nvPr/>
        </p:nvSpPr>
        <p:spPr>
          <a:xfrm>
            <a:off x="8028432" y="4069080"/>
            <a:ext cx="342900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vs Method</a:t>
            </a:r>
            <a:endParaRPr lang="en-US" sz="1350" dirty="0"/>
          </a:p>
        </p:txBody>
      </p:sp>
      <p:sp>
        <p:nvSpPr>
          <p:cNvPr id="21" name="Text 15"/>
          <p:cNvSpPr txBox="1"/>
          <p:nvPr/>
        </p:nvSpPr>
        <p:spPr>
          <a:xfrm>
            <a:off x="8028432" y="4379976"/>
            <a:ext cx="342900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Method dijalankan ulang setiap render, computed tidak — lebih efisien untuk perhitungan berat.</a:t>
            </a:r>
            <a:endParaRPr lang="en-US" sz="1100" dirty="0"/>
          </a:p>
        </p:txBody>
      </p:sp>
      <p:sp>
        <p:nvSpPr>
          <p:cNvPr id="22" name="Shape 16"/>
          <p:cNvSpPr/>
          <p:nvPr/>
        </p:nvSpPr>
        <p:spPr>
          <a:xfrm>
            <a:off x="7269480" y="508406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3" name="Shape 17"/>
          <p:cNvSpPr/>
          <p:nvPr/>
        </p:nvSpPr>
        <p:spPr>
          <a:xfrm>
            <a:off x="7498080" y="5340096"/>
            <a:ext cx="420624" cy="420624"/>
          </a:xfrm>
          <a:prstGeom prst="ellipse">
            <a:avLst/>
          </a:prstGeom>
          <a:solidFill>
            <a:srgbClr val="42B883"/>
          </a:solidFill>
          <a:ln w="12700">
            <a:solidFill>
              <a:srgbClr val="42B883"/>
            </a:solidFill>
            <a:prstDash val="solid"/>
          </a:ln>
        </p:spPr>
      </p:sp>
      <p:pic>
        <p:nvPicPr>
          <p:cNvPr id="24" name="Image 4" descr="preencoded.png">    </p:cNvPr>
          <p:cNvPicPr>
            <a:picLocks noChangeAspect="1"/>
          </p:cNvPicPr>
          <p:nvPr/>
        </p:nvPicPr>
        <p:blipFill>
          <a:blip r:embed="rId5"/>
          <a:stretch>
            <a:fillRect/>
          </a:stretch>
        </p:blipFill>
        <p:spPr>
          <a:xfrm>
            <a:off x="7615855" y="5457871"/>
            <a:ext cx="185075" cy="185075"/>
          </a:xfrm>
          <a:prstGeom prst="rect">
            <a:avLst/>
          </a:prstGeom>
        </p:spPr>
      </p:pic>
      <p:sp>
        <p:nvSpPr>
          <p:cNvPr id="25" name="Text 18"/>
          <p:cNvSpPr txBox="1"/>
          <p:nvPr/>
        </p:nvSpPr>
        <p:spPr>
          <a:xfrm>
            <a:off x="8028432" y="5257800"/>
            <a:ext cx="342900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Bisa Writable</a:t>
            </a:r>
            <a:endParaRPr lang="en-US" sz="1350" dirty="0"/>
          </a:p>
        </p:txBody>
      </p:sp>
      <p:sp>
        <p:nvSpPr>
          <p:cNvPr id="26" name="Text 19"/>
          <p:cNvSpPr txBox="1"/>
          <p:nvPr/>
        </p:nvSpPr>
        <p:spPr>
          <a:xfrm>
            <a:off x="8028432" y="5568696"/>
            <a:ext cx="342900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Dengan opsi get dan set, computed juga dapat menerima penulisan nilai.</a:t>
            </a:r>
            <a:endParaRPr lang="en-US" sz="1100" dirty="0"/>
          </a:p>
        </p:txBody>
      </p:sp>
      <p:sp>
        <p:nvSpPr>
          <p:cNvPr id="27" name="Text 20"/>
          <p:cNvSpPr txBox="1"/>
          <p:nvPr/>
        </p:nvSpPr>
        <p:spPr>
          <a:xfrm>
            <a:off x="548640" y="5532120"/>
            <a:ext cx="6492240" cy="640080"/>
          </a:xfrm>
          <a:prstGeom prst="rect">
            <a:avLst/>
          </a:prstGeom>
          <a:noFill/>
          <a:ln/>
        </p:spPr>
        <p:txBody>
          <a:bodyPr wrap="square" lIns="0" tIns="0" rIns="0" bIns="0" rtlCol="0" anchor="t"/>
          <a:lstStyle/>
          <a:p>
            <a:pPr indent="0" marL="0">
              <a:lnSpc>
                <a:spcPct val="110000"/>
              </a:lnSpc>
              <a:buNone/>
            </a:pPr>
            <a:r>
              <a:rPr lang="en-US" sz="1250" i="1" dirty="0">
                <a:solidFill>
                  <a:srgbClr val="2F9E6E"/>
                </a:solidFill>
                <a:latin typeface="Calibri" pitchFamily="34" charset="0"/>
                <a:ea typeface="Calibri" pitchFamily="34" charset="-122"/>
                <a:cs typeface="Calibri" pitchFamily="34" charset="-120"/>
              </a:rPr>
              <a:t>Aturan penting: computed harus bebas efek samping — jangan lakukan pemanggilan API atau mengubah data lain di dalamnya.</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Watchers: watch &amp; watchEffect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Menjalankan efek samping ketika data reaktif berubah</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81328"/>
            <a:ext cx="5394960" cy="4114800"/>
          </a:xfrm>
          <a:prstGeom prst="roundRect">
            <a:avLst>
              <a:gd name="adj" fmla="val 2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841248" y="1664208"/>
            <a:ext cx="4572000" cy="256032"/>
          </a:xfrm>
          <a:prstGeom prst="rect">
            <a:avLst/>
          </a:prstGeom>
          <a:noFill/>
          <a:ln/>
        </p:spPr>
        <p:txBody>
          <a:bodyPr wrap="square" lIns="0" tIns="0" rIns="0" bIns="0" rtlCol="0" anchor="ctr"/>
          <a:lstStyle/>
          <a:p>
            <a:pPr indent="0" marL="0">
              <a:buNone/>
            </a:pPr>
            <a:r>
              <a:rPr lang="en-US" sz="1500" b="1" dirty="0">
                <a:solidFill>
                  <a:srgbClr val="2F9E6E"/>
                </a:solidFill>
                <a:latin typeface="Calibri" pitchFamily="34" charset="0"/>
                <a:ea typeface="Calibri" pitchFamily="34" charset="-122"/>
                <a:cs typeface="Calibri" pitchFamily="34" charset="-120"/>
              </a:rPr>
              <a:t>watch()</a:t>
            </a:r>
            <a:endParaRPr lang="en-US" sz="1500" dirty="0"/>
          </a:p>
        </p:txBody>
      </p:sp>
      <p:sp>
        <p:nvSpPr>
          <p:cNvPr id="7" name="Text 4"/>
          <p:cNvSpPr txBox="1"/>
          <p:nvPr/>
        </p:nvSpPr>
        <p:spPr>
          <a:xfrm>
            <a:off x="841248" y="1938528"/>
            <a:ext cx="4809744" cy="256032"/>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Eksplisit — kita tentukan sumber yang diawasi</a:t>
            </a:r>
            <a:endParaRPr lang="en-US" sz="1150" dirty="0"/>
          </a:p>
        </p:txBody>
      </p:sp>
      <p:sp>
        <p:nvSpPr>
          <p:cNvPr id="8" name="Shape 5"/>
          <p:cNvSpPr/>
          <p:nvPr/>
        </p:nvSpPr>
        <p:spPr>
          <a:xfrm>
            <a:off x="841248" y="2249424"/>
            <a:ext cx="4809744" cy="2518184"/>
          </a:xfrm>
          <a:prstGeom prst="roundRect">
            <a:avLst>
              <a:gd name="adj" fmla="val 2542"/>
            </a:avLst>
          </a:prstGeom>
          <a:solidFill>
            <a:srgbClr val="253340"/>
          </a:solidFill>
          <a:ln w="12700">
            <a:solidFill>
              <a:srgbClr val="253340"/>
            </a:solidFill>
            <a:prstDash val="solid"/>
          </a:ln>
        </p:spPr>
      </p:sp>
      <p:sp>
        <p:nvSpPr>
          <p:cNvPr id="9" name="Text 6"/>
          <p:cNvSpPr txBox="1"/>
          <p:nvPr/>
        </p:nvSpPr>
        <p:spPr>
          <a:xfrm>
            <a:off x="969264" y="2368296"/>
            <a:ext cx="4553712" cy="2280440"/>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 ref, watch } from "vue";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kataKunci = ref("");</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watch(kataKunci, async (baru, lama) =&gt;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if (baru.length &gt; 2)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hasil.value = await cariAPI(baru);</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opsi tambahan:</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 immediate: true, deep: true }</a:t>
            </a:r>
            <a:endParaRPr lang="en-US" sz="1200" dirty="0"/>
          </a:p>
        </p:txBody>
      </p:sp>
      <p:sp>
        <p:nvSpPr>
          <p:cNvPr id="10" name="Text 7"/>
          <p:cNvSpPr txBox="1"/>
          <p:nvPr/>
        </p:nvSpPr>
        <p:spPr>
          <a:xfrm>
            <a:off x="841248" y="4937760"/>
            <a:ext cx="4809744" cy="603504"/>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6B7C8C"/>
                </a:solidFill>
                <a:latin typeface="Calibri" pitchFamily="34" charset="0"/>
                <a:ea typeface="Calibri" pitchFamily="34" charset="-122"/>
                <a:cs typeface="Calibri" pitchFamily="34" charset="-120"/>
              </a:rPr>
              <a:t>Memberi akses nilai lama dan nilai baru</a:t>
            </a:r>
            <a:endParaRPr lang="en-US" sz="1100" dirty="0"/>
          </a:p>
          <a:p>
            <a:pPr marL="342900" indent="-342900">
              <a:spcAft>
                <a:spcPts val="600"/>
              </a:spcAft>
              <a:buSzPct val="100000"/>
              <a:buChar char="▪"/>
            </a:pPr>
            <a:r>
              <a:rPr lang="en-US" sz="1100" dirty="0">
                <a:solidFill>
                  <a:srgbClr val="6B7C8C"/>
                </a:solidFill>
                <a:latin typeface="Calibri" pitchFamily="34" charset="0"/>
                <a:ea typeface="Calibri" pitchFamily="34" charset="-122"/>
                <a:cs typeface="Calibri" pitchFamily="34" charset="-120"/>
              </a:rPr>
              <a:t>Malas (lazy) — tidak jalan saat inisialisasi</a:t>
            </a:r>
            <a:endParaRPr lang="en-US" sz="1100" dirty="0"/>
          </a:p>
        </p:txBody>
      </p:sp>
      <p:sp>
        <p:nvSpPr>
          <p:cNvPr id="11" name="Shape 8"/>
          <p:cNvSpPr/>
          <p:nvPr/>
        </p:nvSpPr>
        <p:spPr>
          <a:xfrm>
            <a:off x="6245352" y="1481328"/>
            <a:ext cx="5394960" cy="4114800"/>
          </a:xfrm>
          <a:prstGeom prst="roundRect">
            <a:avLst>
              <a:gd name="adj" fmla="val 2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Text 9"/>
          <p:cNvSpPr txBox="1"/>
          <p:nvPr/>
        </p:nvSpPr>
        <p:spPr>
          <a:xfrm>
            <a:off x="6537960" y="1664208"/>
            <a:ext cx="4572000" cy="256032"/>
          </a:xfrm>
          <a:prstGeom prst="rect">
            <a:avLst/>
          </a:prstGeom>
          <a:noFill/>
          <a:ln/>
        </p:spPr>
        <p:txBody>
          <a:bodyPr wrap="square" lIns="0" tIns="0" rIns="0" bIns="0" rtlCol="0" anchor="ctr"/>
          <a:lstStyle/>
          <a:p>
            <a:pPr indent="0" marL="0">
              <a:buNone/>
            </a:pPr>
            <a:r>
              <a:rPr lang="en-US" sz="1500" b="1" dirty="0">
                <a:solidFill>
                  <a:srgbClr val="2F9E6E"/>
                </a:solidFill>
                <a:latin typeface="Calibri" pitchFamily="34" charset="0"/>
                <a:ea typeface="Calibri" pitchFamily="34" charset="-122"/>
                <a:cs typeface="Calibri" pitchFamily="34" charset="-120"/>
              </a:rPr>
              <a:t>watchEffect()</a:t>
            </a:r>
            <a:endParaRPr lang="en-US" sz="1500" dirty="0"/>
          </a:p>
        </p:txBody>
      </p:sp>
      <p:sp>
        <p:nvSpPr>
          <p:cNvPr id="13" name="Text 10"/>
          <p:cNvSpPr txBox="1"/>
          <p:nvPr/>
        </p:nvSpPr>
        <p:spPr>
          <a:xfrm>
            <a:off x="6537960" y="1938528"/>
            <a:ext cx="4809744" cy="256032"/>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Otomatis melacak semua data yang dipakai</a:t>
            </a:r>
            <a:endParaRPr lang="en-US" sz="1150" dirty="0"/>
          </a:p>
        </p:txBody>
      </p:sp>
      <p:sp>
        <p:nvSpPr>
          <p:cNvPr id="14" name="Shape 11"/>
          <p:cNvSpPr/>
          <p:nvPr/>
        </p:nvSpPr>
        <p:spPr>
          <a:xfrm>
            <a:off x="6537960" y="2249424"/>
            <a:ext cx="4809744" cy="2518184"/>
          </a:xfrm>
          <a:prstGeom prst="roundRect">
            <a:avLst>
              <a:gd name="adj" fmla="val 2542"/>
            </a:avLst>
          </a:prstGeom>
          <a:solidFill>
            <a:srgbClr val="253340"/>
          </a:solidFill>
          <a:ln w="12700">
            <a:solidFill>
              <a:srgbClr val="253340"/>
            </a:solidFill>
            <a:prstDash val="solid"/>
          </a:ln>
        </p:spPr>
      </p:sp>
      <p:sp>
        <p:nvSpPr>
          <p:cNvPr id="15" name="Text 12"/>
          <p:cNvSpPr txBox="1"/>
          <p:nvPr/>
        </p:nvSpPr>
        <p:spPr>
          <a:xfrm>
            <a:off x="6665976" y="2368296"/>
            <a:ext cx="4553712" cy="2280440"/>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 ref, watchEffect } from "vue";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idUser = ref(1);</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watchEffect(async () =&gt;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 idUser otomatis terlacak</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data.value = await ambilUser(idUser.value);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langsung dijalankan sekali saat</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komponen dibuat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p:txBody>
      </p:sp>
      <p:sp>
        <p:nvSpPr>
          <p:cNvPr id="16" name="Text 13"/>
          <p:cNvSpPr txBox="1"/>
          <p:nvPr/>
        </p:nvSpPr>
        <p:spPr>
          <a:xfrm>
            <a:off x="6537960" y="4937760"/>
            <a:ext cx="4809744" cy="603504"/>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6B7C8C"/>
                </a:solidFill>
                <a:latin typeface="Calibri" pitchFamily="34" charset="0"/>
                <a:ea typeface="Calibri" pitchFamily="34" charset="-122"/>
                <a:cs typeface="Calibri" pitchFamily="34" charset="-120"/>
              </a:rPr>
              <a:t>Langsung berjalan saat komponen dibuat</a:t>
            </a:r>
            <a:endParaRPr lang="en-US" sz="1100" dirty="0"/>
          </a:p>
          <a:p>
            <a:pPr marL="342900" indent="-342900">
              <a:spcAft>
                <a:spcPts val="600"/>
              </a:spcAft>
              <a:buSzPct val="100000"/>
              <a:buChar char="▪"/>
            </a:pPr>
            <a:r>
              <a:rPr lang="en-US" sz="1100" dirty="0">
                <a:solidFill>
                  <a:srgbClr val="6B7C8C"/>
                </a:solidFill>
                <a:latin typeface="Calibri" pitchFamily="34" charset="0"/>
                <a:ea typeface="Calibri" pitchFamily="34" charset="-122"/>
                <a:cs typeface="Calibri" pitchFamily="34" charset="-120"/>
              </a:rPr>
              <a:t>Tidak memberi nilai lama</a:t>
            </a:r>
            <a:endParaRPr lang="en-US" sz="1100" dirty="0"/>
          </a:p>
        </p:txBody>
      </p:sp>
      <p:sp>
        <p:nvSpPr>
          <p:cNvPr id="17" name="Shape 14"/>
          <p:cNvSpPr/>
          <p:nvPr/>
        </p:nvSpPr>
        <p:spPr>
          <a:xfrm>
            <a:off x="548640" y="5705856"/>
            <a:ext cx="11091672" cy="658368"/>
          </a:xfrm>
          <a:prstGeom prst="roundRect">
            <a:avLst>
              <a:gd name="adj" fmla="val 12500"/>
            </a:avLst>
          </a:prstGeom>
          <a:solidFill>
            <a:srgbClr val="E9F5EF"/>
          </a:solidFill>
          <a:ln w="12700">
            <a:solidFill>
              <a:srgbClr val="333333"/>
            </a:solidFill>
            <a:prstDash val="solid"/>
          </a:ln>
        </p:spPr>
      </p:sp>
      <p:sp>
        <p:nvSpPr>
          <p:cNvPr id="18" name="Text 15"/>
          <p:cNvSpPr txBox="1"/>
          <p:nvPr/>
        </p:nvSpPr>
        <p:spPr>
          <a:xfrm>
            <a:off x="822960" y="5705856"/>
            <a:ext cx="10515600" cy="658368"/>
          </a:xfrm>
          <a:prstGeom prst="rect">
            <a:avLst/>
          </a:prstGeom>
          <a:noFill/>
          <a:ln/>
        </p:spPr>
        <p:txBody>
          <a:bodyPr wrap="square" lIns="0" tIns="0" rIns="0" bIns="0" rtlCol="0" anchor="ctr"/>
          <a:lstStyle/>
          <a:p>
            <a:pPr indent="0" marL="0">
              <a:buNone/>
            </a:pPr>
            <a:r>
              <a:rPr lang="en-US" sz="1200" dirty="0">
                <a:solidFill>
                  <a:srgbClr val="35495E"/>
                </a:solidFill>
                <a:latin typeface="Calibri" pitchFamily="34" charset="0"/>
                <a:ea typeface="Calibri" pitchFamily="34" charset="-122"/>
                <a:cs typeface="Calibri" pitchFamily="34" charset="-120"/>
              </a:rPr>
              <a:t>Kapan memakai watcher? Saat butuh efek samping: memanggil API, menyimpan ke localStorage, memanipulasi DOM langsung, atau memicu animasi. Untuk sekadar menurunkan nilai dari data lain, computed lebih tepat.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Binding Class &amp; Style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Mengubah tampilan elemen secara dinamis mengikuti data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BINDING CLASS</a:t>
            </a:r>
            <a:endParaRPr lang="en-US" sz="1200" dirty="0"/>
          </a:p>
        </p:txBody>
      </p:sp>
      <p:sp>
        <p:nvSpPr>
          <p:cNvPr id="6" name="Shape 3"/>
          <p:cNvSpPr/>
          <p:nvPr/>
        </p:nvSpPr>
        <p:spPr>
          <a:xfrm>
            <a:off x="548640" y="1755648"/>
            <a:ext cx="5394960" cy="2518184"/>
          </a:xfrm>
          <a:prstGeom prst="roundRect">
            <a:avLst>
              <a:gd name="adj" fmla="val 2542"/>
            </a:avLst>
          </a:prstGeom>
          <a:solidFill>
            <a:srgbClr val="253340"/>
          </a:solidFill>
          <a:ln w="12700">
            <a:solidFill>
              <a:srgbClr val="253340"/>
            </a:solidFill>
            <a:prstDash val="solid"/>
          </a:ln>
        </p:spPr>
      </p:sp>
      <p:sp>
        <p:nvSpPr>
          <p:cNvPr id="7" name="Text 4"/>
          <p:cNvSpPr txBox="1"/>
          <p:nvPr/>
        </p:nvSpPr>
        <p:spPr>
          <a:xfrm>
            <a:off x="676656" y="1874520"/>
            <a:ext cx="5138928" cy="2280440"/>
          </a:xfrm>
          <a:prstGeom prst="rect">
            <a:avLst/>
          </a:prstGeom>
          <a:noFill/>
          <a:ln/>
        </p:spPr>
        <p:txBody>
          <a:bodyPr wrap="square" lIns="0" tIns="0" rIns="0" bIns="0" rtlCol="0" anchor="t"/>
          <a:lstStyle/>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objek: kunci = nama kelas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:class="{ aktif: isAktif,</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error: adaError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array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:class="[kelasDasar, kelasTema]"&gt;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gabungan objek di dalam array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:class="[{ aktif: isAktif }, kelasDasar]"&gt;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digabung dengan class statis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class="kartu" :class="statusKelas"&gt;</a:t>
            </a:r>
            <a:endParaRPr lang="en-US" sz="1200" dirty="0"/>
          </a:p>
        </p:txBody>
      </p:sp>
      <p:sp>
        <p:nvSpPr>
          <p:cNvPr id="8" name="Text 5"/>
          <p:cNvSpPr txBox="1"/>
          <p:nvPr/>
        </p:nvSpPr>
        <p:spPr>
          <a:xfrm>
            <a:off x="6245352" y="1463040"/>
            <a:ext cx="548640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BINDING STYLE</a:t>
            </a:r>
            <a:endParaRPr lang="en-US" sz="1200" dirty="0"/>
          </a:p>
        </p:txBody>
      </p:sp>
      <p:sp>
        <p:nvSpPr>
          <p:cNvPr id="9" name="Shape 6"/>
          <p:cNvSpPr/>
          <p:nvPr/>
        </p:nvSpPr>
        <p:spPr>
          <a:xfrm>
            <a:off x="6245352" y="1755648"/>
            <a:ext cx="5394960" cy="2518184"/>
          </a:xfrm>
          <a:prstGeom prst="roundRect">
            <a:avLst>
              <a:gd name="adj" fmla="val 2542"/>
            </a:avLst>
          </a:prstGeom>
          <a:solidFill>
            <a:srgbClr val="253340"/>
          </a:solidFill>
          <a:ln w="12700">
            <a:solidFill>
              <a:srgbClr val="253340"/>
            </a:solidFill>
            <a:prstDash val="solid"/>
          </a:ln>
        </p:spPr>
      </p:sp>
      <p:sp>
        <p:nvSpPr>
          <p:cNvPr id="10" name="Text 7"/>
          <p:cNvSpPr txBox="1"/>
          <p:nvPr/>
        </p:nvSpPr>
        <p:spPr>
          <a:xfrm>
            <a:off x="6373368" y="1874520"/>
            <a:ext cx="5138928" cy="2280440"/>
          </a:xfrm>
          <a:prstGeom prst="rect">
            <a:avLst/>
          </a:prstGeom>
          <a:noFill/>
          <a:ln/>
        </p:spPr>
        <p:txBody>
          <a:bodyPr wrap="square" lIns="0" tIns="0" rIns="0" bIns="0" rtlCol="0" anchor="t"/>
          <a:lstStyle/>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objek gaya inline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:style="{ color: warnaTeks,</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fontSize: ukuran + 'px'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properti CSS memakai camelCase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:style="{ backgroundColor: bg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array beberapa objek gaya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:style="[gayaDasar, gayaTambahan]"&gt;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&lt;!-- objek gaya dari script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&lt;div :style="objekGaya"&gt;</a:t>
            </a:r>
            <a:endParaRPr lang="en-US" sz="1200" dirty="0"/>
          </a:p>
        </p:txBody>
      </p:sp>
      <p:sp>
        <p:nvSpPr>
          <p:cNvPr id="11" name="Shape 8"/>
          <p:cNvSpPr/>
          <p:nvPr/>
        </p:nvSpPr>
        <p:spPr>
          <a:xfrm>
            <a:off x="548640" y="4553712"/>
            <a:ext cx="3575304" cy="1737360"/>
          </a:xfrm>
          <a:prstGeom prst="roundRect">
            <a:avLst>
              <a:gd name="adj" fmla="val 473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Shape 9"/>
          <p:cNvSpPr/>
          <p:nvPr/>
        </p:nvSpPr>
        <p:spPr>
          <a:xfrm>
            <a:off x="804672" y="4773168"/>
            <a:ext cx="457200" cy="457200"/>
          </a:xfrm>
          <a:prstGeom prst="ellipse">
            <a:avLst/>
          </a:prstGeom>
          <a:solidFill>
            <a:srgbClr val="42B883"/>
          </a:solidFill>
          <a:ln w="12700">
            <a:solidFill>
              <a:srgbClr val="42B883"/>
            </a:solidFill>
            <a:prstDash val="solid"/>
          </a:ln>
        </p:spPr>
      </p:sp>
      <p:pic>
        <p:nvPicPr>
          <p:cNvPr id="13" name="Image 1" descr="preencoded.png">    </p:cNvPr>
          <p:cNvPicPr>
            <a:picLocks noChangeAspect="1"/>
          </p:cNvPicPr>
          <p:nvPr/>
        </p:nvPicPr>
        <p:blipFill>
          <a:blip r:embed="rId2"/>
          <a:stretch>
            <a:fillRect/>
          </a:stretch>
        </p:blipFill>
        <p:spPr>
          <a:xfrm>
            <a:off x="932688" y="4901184"/>
            <a:ext cx="201168" cy="201168"/>
          </a:xfrm>
          <a:prstGeom prst="rect">
            <a:avLst/>
          </a:prstGeom>
        </p:spPr>
      </p:pic>
      <p:sp>
        <p:nvSpPr>
          <p:cNvPr id="14" name="Text 10"/>
          <p:cNvSpPr txBox="1"/>
          <p:nvPr/>
        </p:nvSpPr>
        <p:spPr>
          <a:xfrm>
            <a:off x="804672" y="5340096"/>
            <a:ext cx="3063240" cy="292608"/>
          </a:xfrm>
          <a:prstGeom prst="rect">
            <a:avLst/>
          </a:prstGeom>
          <a:noFill/>
          <a:ln/>
        </p:spPr>
        <p:txBody>
          <a:bodyPr wrap="square" lIns="0" tIns="0" rIns="0" bIns="0" rtlCol="0" anchor="ctr"/>
          <a:lstStyle/>
          <a:p>
            <a:pPr indent="0" marL="0">
              <a:buNone/>
            </a:pPr>
            <a:r>
              <a:rPr lang="en-US" sz="1400" b="1" dirty="0">
                <a:solidFill>
                  <a:srgbClr val="35495E"/>
                </a:solidFill>
                <a:latin typeface="Calibri" pitchFamily="34" charset="0"/>
                <a:ea typeface="Calibri" pitchFamily="34" charset="-122"/>
                <a:cs typeface="Calibri" pitchFamily="34" charset="-120"/>
              </a:rPr>
              <a:t>Utamakan Class</a:t>
            </a:r>
            <a:endParaRPr lang="en-US" sz="1400" dirty="0"/>
          </a:p>
        </p:txBody>
      </p:sp>
      <p:sp>
        <p:nvSpPr>
          <p:cNvPr id="15" name="Text 11"/>
          <p:cNvSpPr txBox="1"/>
          <p:nvPr/>
        </p:nvSpPr>
        <p:spPr>
          <a:xfrm>
            <a:off x="804672" y="5669280"/>
            <a:ext cx="3063240" cy="548640"/>
          </a:xfrm>
          <a:prstGeom prst="rect">
            <a:avLst/>
          </a:prstGeom>
          <a:noFill/>
          <a:ln/>
        </p:spPr>
        <p:txBody>
          <a:bodyPr wrap="square" lIns="0" tIns="0" rIns="0" bIns="0" rtlCol="0" anchor="t"/>
          <a:lstStyle/>
          <a:p>
            <a:pPr indent="0" marL="0">
              <a:lnSpc>
                <a:spcPct val="110000"/>
              </a:lnSpc>
              <a:buNone/>
            </a:pPr>
            <a:r>
              <a:rPr lang="en-US" sz="1150" dirty="0">
                <a:solidFill>
                  <a:srgbClr val="6B7C8C"/>
                </a:solidFill>
                <a:latin typeface="Calibri" pitchFamily="34" charset="0"/>
                <a:ea typeface="Calibri" pitchFamily="34" charset="-122"/>
                <a:cs typeface="Calibri" pitchFamily="34" charset="-120"/>
              </a:rPr>
              <a:t>Lebih mudah dirawat dan dapat dipakai ulang dibanding gaya inline.</a:t>
            </a:r>
            <a:endParaRPr lang="en-US" sz="1150" dirty="0"/>
          </a:p>
        </p:txBody>
      </p:sp>
      <p:sp>
        <p:nvSpPr>
          <p:cNvPr id="16" name="Shape 12"/>
          <p:cNvSpPr/>
          <p:nvPr/>
        </p:nvSpPr>
        <p:spPr>
          <a:xfrm>
            <a:off x="4306824" y="4553712"/>
            <a:ext cx="3575304" cy="1737360"/>
          </a:xfrm>
          <a:prstGeom prst="roundRect">
            <a:avLst>
              <a:gd name="adj" fmla="val 473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7" name="Shape 13"/>
          <p:cNvSpPr/>
          <p:nvPr/>
        </p:nvSpPr>
        <p:spPr>
          <a:xfrm>
            <a:off x="4562856" y="4773168"/>
            <a:ext cx="457200" cy="457200"/>
          </a:xfrm>
          <a:prstGeom prst="ellipse">
            <a:avLst/>
          </a:prstGeom>
          <a:solidFill>
            <a:srgbClr val="42B883"/>
          </a:solidFill>
          <a:ln w="12700">
            <a:solidFill>
              <a:srgbClr val="42B883"/>
            </a:solidFill>
            <a:prstDash val="solid"/>
          </a:ln>
        </p:spPr>
      </p:sp>
      <p:pic>
        <p:nvPicPr>
          <p:cNvPr id="18" name="Image 2" descr="preencoded.png">    </p:cNvPr>
          <p:cNvPicPr>
            <a:picLocks noChangeAspect="1"/>
          </p:cNvPicPr>
          <p:nvPr/>
        </p:nvPicPr>
        <p:blipFill>
          <a:blip r:embed="rId3"/>
          <a:stretch>
            <a:fillRect/>
          </a:stretch>
        </p:blipFill>
        <p:spPr>
          <a:xfrm>
            <a:off x="4690872" y="4901184"/>
            <a:ext cx="201168" cy="201168"/>
          </a:xfrm>
          <a:prstGeom prst="rect">
            <a:avLst/>
          </a:prstGeom>
        </p:spPr>
      </p:pic>
      <p:sp>
        <p:nvSpPr>
          <p:cNvPr id="19" name="Text 14"/>
          <p:cNvSpPr txBox="1"/>
          <p:nvPr/>
        </p:nvSpPr>
        <p:spPr>
          <a:xfrm>
            <a:off x="4562856" y="5340096"/>
            <a:ext cx="3063240" cy="292608"/>
          </a:xfrm>
          <a:prstGeom prst="rect">
            <a:avLst/>
          </a:prstGeom>
          <a:noFill/>
          <a:ln/>
        </p:spPr>
        <p:txBody>
          <a:bodyPr wrap="square" lIns="0" tIns="0" rIns="0" bIns="0" rtlCol="0" anchor="ctr"/>
          <a:lstStyle/>
          <a:p>
            <a:pPr indent="0" marL="0">
              <a:buNone/>
            </a:pPr>
            <a:r>
              <a:rPr lang="en-US" sz="1400" b="1" dirty="0">
                <a:solidFill>
                  <a:srgbClr val="35495E"/>
                </a:solidFill>
                <a:latin typeface="Calibri" pitchFamily="34" charset="0"/>
                <a:ea typeface="Calibri" pitchFamily="34" charset="-122"/>
                <a:cs typeface="Calibri" pitchFamily="34" charset="-120"/>
              </a:rPr>
              <a:t>Gabung Computed</a:t>
            </a:r>
            <a:endParaRPr lang="en-US" sz="1400" dirty="0"/>
          </a:p>
        </p:txBody>
      </p:sp>
      <p:sp>
        <p:nvSpPr>
          <p:cNvPr id="20" name="Text 15"/>
          <p:cNvSpPr txBox="1"/>
          <p:nvPr/>
        </p:nvSpPr>
        <p:spPr>
          <a:xfrm>
            <a:off x="4562856" y="5669280"/>
            <a:ext cx="3063240" cy="548640"/>
          </a:xfrm>
          <a:prstGeom prst="rect">
            <a:avLst/>
          </a:prstGeom>
          <a:noFill/>
          <a:ln/>
        </p:spPr>
        <p:txBody>
          <a:bodyPr wrap="square" lIns="0" tIns="0" rIns="0" bIns="0" rtlCol="0" anchor="t"/>
          <a:lstStyle/>
          <a:p>
            <a:pPr indent="0" marL="0">
              <a:lnSpc>
                <a:spcPct val="110000"/>
              </a:lnSpc>
              <a:buNone/>
            </a:pPr>
            <a:r>
              <a:rPr lang="en-US" sz="1150" dirty="0">
                <a:solidFill>
                  <a:srgbClr val="6B7C8C"/>
                </a:solidFill>
                <a:latin typeface="Calibri" pitchFamily="34" charset="0"/>
                <a:ea typeface="Calibri" pitchFamily="34" charset="-122"/>
                <a:cs typeface="Calibri" pitchFamily="34" charset="-120"/>
              </a:rPr>
              <a:t>Logika kelas yang rumit sebaiknya dipindah ke computed property.</a:t>
            </a:r>
            <a:endParaRPr lang="en-US" sz="1150" dirty="0"/>
          </a:p>
        </p:txBody>
      </p:sp>
      <p:sp>
        <p:nvSpPr>
          <p:cNvPr id="21" name="Shape 16"/>
          <p:cNvSpPr/>
          <p:nvPr/>
        </p:nvSpPr>
        <p:spPr>
          <a:xfrm>
            <a:off x="8065008" y="4553712"/>
            <a:ext cx="3575304" cy="1737360"/>
          </a:xfrm>
          <a:prstGeom prst="roundRect">
            <a:avLst>
              <a:gd name="adj" fmla="val 473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2" name="Shape 17"/>
          <p:cNvSpPr/>
          <p:nvPr/>
        </p:nvSpPr>
        <p:spPr>
          <a:xfrm>
            <a:off x="8321040" y="4773168"/>
            <a:ext cx="457200" cy="457200"/>
          </a:xfrm>
          <a:prstGeom prst="ellipse">
            <a:avLst/>
          </a:prstGeom>
          <a:solidFill>
            <a:srgbClr val="42B883"/>
          </a:solidFill>
          <a:ln w="12700">
            <a:solidFill>
              <a:srgbClr val="42B883"/>
            </a:solidFill>
            <a:prstDash val="solid"/>
          </a:ln>
        </p:spPr>
      </p:sp>
      <p:pic>
        <p:nvPicPr>
          <p:cNvPr id="23" name="Image 3" descr="preencoded.png">    </p:cNvPr>
          <p:cNvPicPr>
            <a:picLocks noChangeAspect="1"/>
          </p:cNvPicPr>
          <p:nvPr/>
        </p:nvPicPr>
        <p:blipFill>
          <a:blip r:embed="rId4"/>
          <a:stretch>
            <a:fillRect/>
          </a:stretch>
        </p:blipFill>
        <p:spPr>
          <a:xfrm>
            <a:off x="8449056" y="4901184"/>
            <a:ext cx="201168" cy="201168"/>
          </a:xfrm>
          <a:prstGeom prst="rect">
            <a:avLst/>
          </a:prstGeom>
        </p:spPr>
      </p:pic>
      <p:sp>
        <p:nvSpPr>
          <p:cNvPr id="24" name="Text 18"/>
          <p:cNvSpPr txBox="1"/>
          <p:nvPr/>
        </p:nvSpPr>
        <p:spPr>
          <a:xfrm>
            <a:off x="8321040" y="5340096"/>
            <a:ext cx="3063240" cy="292608"/>
          </a:xfrm>
          <a:prstGeom prst="rect">
            <a:avLst/>
          </a:prstGeom>
          <a:noFill/>
          <a:ln/>
        </p:spPr>
        <p:txBody>
          <a:bodyPr wrap="square" lIns="0" tIns="0" rIns="0" bIns="0" rtlCol="0" anchor="ctr"/>
          <a:lstStyle/>
          <a:p>
            <a:pPr indent="0" marL="0">
              <a:buNone/>
            </a:pPr>
            <a:r>
              <a:rPr lang="en-US" sz="1400" b="1" dirty="0">
                <a:solidFill>
                  <a:srgbClr val="35495E"/>
                </a:solidFill>
                <a:latin typeface="Calibri" pitchFamily="34" charset="0"/>
                <a:ea typeface="Calibri" pitchFamily="34" charset="-122"/>
                <a:cs typeface="Calibri" pitchFamily="34" charset="-120"/>
              </a:rPr>
              <a:t>Style Scoped</a:t>
            </a:r>
            <a:endParaRPr lang="en-US" sz="1400" dirty="0"/>
          </a:p>
        </p:txBody>
      </p:sp>
      <p:sp>
        <p:nvSpPr>
          <p:cNvPr id="25" name="Text 19"/>
          <p:cNvSpPr txBox="1"/>
          <p:nvPr/>
        </p:nvSpPr>
        <p:spPr>
          <a:xfrm>
            <a:off x="8321040" y="5669280"/>
            <a:ext cx="3063240" cy="548640"/>
          </a:xfrm>
          <a:prstGeom prst="rect">
            <a:avLst/>
          </a:prstGeom>
          <a:noFill/>
          <a:ln/>
        </p:spPr>
        <p:txBody>
          <a:bodyPr wrap="square" lIns="0" tIns="0" rIns="0" bIns="0" rtlCol="0" anchor="t"/>
          <a:lstStyle/>
          <a:p>
            <a:pPr indent="0" marL="0">
              <a:lnSpc>
                <a:spcPct val="110000"/>
              </a:lnSpc>
              <a:buNone/>
            </a:pPr>
            <a:r>
              <a:rPr lang="en-US" sz="1150" dirty="0">
                <a:solidFill>
                  <a:srgbClr val="6B7C8C"/>
                </a:solidFill>
                <a:latin typeface="Calibri" pitchFamily="34" charset="0"/>
                <a:ea typeface="Calibri" pitchFamily="34" charset="-122"/>
                <a:cs typeface="Calibri" pitchFamily="34" charset="-120"/>
              </a:rPr>
              <a:t>Atribut scoped mencegah CSS satu komponen memengaruhi komponen lain.</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Form Input Binding (v-model)</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Two-way data binding antara elemen form dan data komponen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6492240" cy="3460748"/>
          </a:xfrm>
          <a:prstGeom prst="roundRect">
            <a:avLst>
              <a:gd name="adj" fmla="val 1850"/>
            </a:avLst>
          </a:prstGeom>
          <a:solidFill>
            <a:srgbClr val="253340"/>
          </a:solidFill>
          <a:ln w="12700">
            <a:solidFill>
              <a:srgbClr val="253340"/>
            </a:solidFill>
            <a:prstDash val="solid"/>
          </a:ln>
        </p:spPr>
      </p:sp>
      <p:sp>
        <p:nvSpPr>
          <p:cNvPr id="6" name="Text 3"/>
          <p:cNvSpPr txBox="1"/>
          <p:nvPr/>
        </p:nvSpPr>
        <p:spPr>
          <a:xfrm>
            <a:off x="676656" y="1636776"/>
            <a:ext cx="6236208" cy="3223004"/>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form = reactive({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nama: "", email: "", pesan: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setuju: false, jenisKelamin: "", provinsi: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&lt;input v-model="form.nama" placeholder="Nama"&gt;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&lt;input type="email" v-model="form.email"&gt;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&lt;textarea v-model="form.pesan"&gt;&lt;/textarea&gt;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&lt;input type="checkbox" v-model="form.setuju"&gt;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&lt;input type="radio" value="L" v-model="form.jenisKelamin"&gt;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&lt;select v-model="form.provinsi"&gt;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&lt;option value="jateng"&gt;Jawa Tengah&lt;/option&gt;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&lt;/select&gt;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7" name="Text 4"/>
          <p:cNvSpPr txBox="1"/>
          <p:nvPr/>
        </p:nvSpPr>
        <p:spPr>
          <a:xfrm>
            <a:off x="7269480" y="1517904"/>
            <a:ext cx="438912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MODIFIER v-model</a:t>
            </a:r>
            <a:endParaRPr lang="en-US" sz="1200" dirty="0"/>
          </a:p>
        </p:txBody>
      </p:sp>
      <p:sp>
        <p:nvSpPr>
          <p:cNvPr id="8" name="Shape 5"/>
          <p:cNvSpPr/>
          <p:nvPr/>
        </p:nvSpPr>
        <p:spPr>
          <a:xfrm>
            <a:off x="7269480" y="1874520"/>
            <a:ext cx="4370832" cy="640080"/>
          </a:xfrm>
          <a:prstGeom prst="roundRect">
            <a:avLst>
              <a:gd name="adj" fmla="val 1285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9" name="Text 6"/>
          <p:cNvSpPr txBox="1"/>
          <p:nvPr/>
        </p:nvSpPr>
        <p:spPr>
          <a:xfrm>
            <a:off x="7452360" y="1874520"/>
            <a:ext cx="1143000" cy="640080"/>
          </a:xfrm>
          <a:prstGeom prst="rect">
            <a:avLst/>
          </a:prstGeom>
          <a:noFill/>
          <a:ln/>
        </p:spPr>
        <p:txBody>
          <a:bodyPr wrap="square" lIns="0" tIns="0" rIns="0" bIns="0" rtlCol="0" anchor="ctr"/>
          <a:lstStyle/>
          <a:p>
            <a:pPr indent="0" marL="0">
              <a:buNone/>
            </a:pPr>
            <a:r>
              <a:rPr lang="en-US" sz="1250" b="1" dirty="0">
                <a:solidFill>
                  <a:srgbClr val="2F9E6E"/>
                </a:solidFill>
                <a:latin typeface="Courier New" pitchFamily="34" charset="0"/>
                <a:ea typeface="Courier New" pitchFamily="34" charset="-122"/>
                <a:cs typeface="Courier New" pitchFamily="34" charset="-120"/>
              </a:rPr>
              <a:t>.lazy</a:t>
            </a:r>
            <a:endParaRPr lang="en-US" sz="1250" dirty="0"/>
          </a:p>
        </p:txBody>
      </p:sp>
      <p:sp>
        <p:nvSpPr>
          <p:cNvPr id="10" name="Text 7"/>
          <p:cNvSpPr txBox="1"/>
          <p:nvPr/>
        </p:nvSpPr>
        <p:spPr>
          <a:xfrm>
            <a:off x="8595360" y="1874520"/>
            <a:ext cx="2880360" cy="64008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Sinkronkan saat event change, bukan input</a:t>
            </a:r>
            <a:endParaRPr lang="en-US" sz="1150" dirty="0"/>
          </a:p>
        </p:txBody>
      </p:sp>
      <p:sp>
        <p:nvSpPr>
          <p:cNvPr id="11" name="Shape 8"/>
          <p:cNvSpPr/>
          <p:nvPr/>
        </p:nvSpPr>
        <p:spPr>
          <a:xfrm>
            <a:off x="7269480" y="2606040"/>
            <a:ext cx="4370832" cy="640080"/>
          </a:xfrm>
          <a:prstGeom prst="roundRect">
            <a:avLst>
              <a:gd name="adj" fmla="val 1285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Text 9"/>
          <p:cNvSpPr txBox="1"/>
          <p:nvPr/>
        </p:nvSpPr>
        <p:spPr>
          <a:xfrm>
            <a:off x="7452360" y="2606040"/>
            <a:ext cx="1143000" cy="640080"/>
          </a:xfrm>
          <a:prstGeom prst="rect">
            <a:avLst/>
          </a:prstGeom>
          <a:noFill/>
          <a:ln/>
        </p:spPr>
        <p:txBody>
          <a:bodyPr wrap="square" lIns="0" tIns="0" rIns="0" bIns="0" rtlCol="0" anchor="ctr"/>
          <a:lstStyle/>
          <a:p>
            <a:pPr indent="0" marL="0">
              <a:buNone/>
            </a:pPr>
            <a:r>
              <a:rPr lang="en-US" sz="1250" b="1" dirty="0">
                <a:solidFill>
                  <a:srgbClr val="2F9E6E"/>
                </a:solidFill>
                <a:latin typeface="Courier New" pitchFamily="34" charset="0"/>
                <a:ea typeface="Courier New" pitchFamily="34" charset="-122"/>
                <a:cs typeface="Courier New" pitchFamily="34" charset="-120"/>
              </a:rPr>
              <a:t>.number</a:t>
            </a:r>
            <a:endParaRPr lang="en-US" sz="1250" dirty="0"/>
          </a:p>
        </p:txBody>
      </p:sp>
      <p:sp>
        <p:nvSpPr>
          <p:cNvPr id="13" name="Text 10"/>
          <p:cNvSpPr txBox="1"/>
          <p:nvPr/>
        </p:nvSpPr>
        <p:spPr>
          <a:xfrm>
            <a:off x="8595360" y="2606040"/>
            <a:ext cx="2880360" cy="64008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Ubah masukan menjadi tipe angka</a:t>
            </a:r>
            <a:endParaRPr lang="en-US" sz="1150" dirty="0"/>
          </a:p>
        </p:txBody>
      </p:sp>
      <p:sp>
        <p:nvSpPr>
          <p:cNvPr id="14" name="Shape 11"/>
          <p:cNvSpPr/>
          <p:nvPr/>
        </p:nvSpPr>
        <p:spPr>
          <a:xfrm>
            <a:off x="7269480" y="3337560"/>
            <a:ext cx="4370832" cy="640080"/>
          </a:xfrm>
          <a:prstGeom prst="roundRect">
            <a:avLst>
              <a:gd name="adj" fmla="val 1285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5" name="Text 12"/>
          <p:cNvSpPr txBox="1"/>
          <p:nvPr/>
        </p:nvSpPr>
        <p:spPr>
          <a:xfrm>
            <a:off x="7452360" y="3337560"/>
            <a:ext cx="1143000" cy="640080"/>
          </a:xfrm>
          <a:prstGeom prst="rect">
            <a:avLst/>
          </a:prstGeom>
          <a:noFill/>
          <a:ln/>
        </p:spPr>
        <p:txBody>
          <a:bodyPr wrap="square" lIns="0" tIns="0" rIns="0" bIns="0" rtlCol="0" anchor="ctr"/>
          <a:lstStyle/>
          <a:p>
            <a:pPr indent="0" marL="0">
              <a:buNone/>
            </a:pPr>
            <a:r>
              <a:rPr lang="en-US" sz="1250" b="1" dirty="0">
                <a:solidFill>
                  <a:srgbClr val="2F9E6E"/>
                </a:solidFill>
                <a:latin typeface="Courier New" pitchFamily="34" charset="0"/>
                <a:ea typeface="Courier New" pitchFamily="34" charset="-122"/>
                <a:cs typeface="Courier New" pitchFamily="34" charset="-120"/>
              </a:rPr>
              <a:t>.trim</a:t>
            </a:r>
            <a:endParaRPr lang="en-US" sz="1250" dirty="0"/>
          </a:p>
        </p:txBody>
      </p:sp>
      <p:sp>
        <p:nvSpPr>
          <p:cNvPr id="16" name="Text 13"/>
          <p:cNvSpPr txBox="1"/>
          <p:nvPr/>
        </p:nvSpPr>
        <p:spPr>
          <a:xfrm>
            <a:off x="8595360" y="3337560"/>
            <a:ext cx="2880360" cy="640080"/>
          </a:xfrm>
          <a:prstGeom prst="rect">
            <a:avLst/>
          </a:prstGeom>
          <a:noFill/>
          <a:ln/>
        </p:spPr>
        <p:txBody>
          <a:bodyPr wrap="square" lIns="0" tIns="0" rIns="0" bIns="0" rtlCol="0" anchor="ctr"/>
          <a:lstStyle/>
          <a:p>
            <a:pPr indent="0" marL="0">
              <a:buNone/>
            </a:pPr>
            <a:r>
              <a:rPr lang="en-US" sz="1150" dirty="0">
                <a:solidFill>
                  <a:srgbClr val="6B7C8C"/>
                </a:solidFill>
                <a:latin typeface="Calibri" pitchFamily="34" charset="0"/>
                <a:ea typeface="Calibri" pitchFamily="34" charset="-122"/>
                <a:cs typeface="Calibri" pitchFamily="34" charset="-120"/>
              </a:rPr>
              <a:t>Hapus spasi di awal &amp; akhir teks</a:t>
            </a:r>
            <a:endParaRPr lang="en-US" sz="1150" dirty="0"/>
          </a:p>
        </p:txBody>
      </p:sp>
      <p:sp>
        <p:nvSpPr>
          <p:cNvPr id="17" name="Shape 14"/>
          <p:cNvSpPr/>
          <p:nvPr/>
        </p:nvSpPr>
        <p:spPr>
          <a:xfrm>
            <a:off x="7269480" y="4224528"/>
            <a:ext cx="4370832" cy="821570"/>
          </a:xfrm>
          <a:prstGeom prst="roundRect">
            <a:avLst>
              <a:gd name="adj" fmla="val 7791"/>
            </a:avLst>
          </a:prstGeom>
          <a:solidFill>
            <a:srgbClr val="253340"/>
          </a:solidFill>
          <a:ln w="12700">
            <a:solidFill>
              <a:srgbClr val="253340"/>
            </a:solidFill>
            <a:prstDash val="solid"/>
          </a:ln>
        </p:spPr>
      </p:sp>
      <p:sp>
        <p:nvSpPr>
          <p:cNvPr id="18" name="Text 15"/>
          <p:cNvSpPr txBox="1"/>
          <p:nvPr/>
        </p:nvSpPr>
        <p:spPr>
          <a:xfrm>
            <a:off x="7397496" y="4343400"/>
            <a:ext cx="4114800" cy="583826"/>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&lt;input v-model.trim="nama"&gt;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&lt;input v-model.number="umur"&gt;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&lt;input v-model.lazy="catatan"&gt;</a:t>
            </a:r>
            <a:endParaRPr lang="en-US" sz="1200" dirty="0"/>
          </a:p>
        </p:txBody>
      </p:sp>
      <p:sp>
        <p:nvSpPr>
          <p:cNvPr id="19" name="Shape 16"/>
          <p:cNvSpPr/>
          <p:nvPr/>
        </p:nvSpPr>
        <p:spPr>
          <a:xfrm>
            <a:off x="548640" y="5541264"/>
            <a:ext cx="11091672" cy="676656"/>
          </a:xfrm>
          <a:prstGeom prst="roundRect">
            <a:avLst>
              <a:gd name="adj" fmla="val 12162"/>
            </a:avLst>
          </a:prstGeom>
          <a:solidFill>
            <a:srgbClr val="E9F5EF"/>
          </a:solidFill>
          <a:ln w="12700">
            <a:solidFill>
              <a:srgbClr val="333333"/>
            </a:solidFill>
            <a:prstDash val="solid"/>
          </a:ln>
        </p:spPr>
      </p:sp>
      <p:sp>
        <p:nvSpPr>
          <p:cNvPr id="20" name="Text 17"/>
          <p:cNvSpPr txBox="1"/>
          <p:nvPr/>
        </p:nvSpPr>
        <p:spPr>
          <a:xfrm>
            <a:off x="822960" y="5541264"/>
            <a:ext cx="10515600" cy="676656"/>
          </a:xfrm>
          <a:prstGeom prst="rect">
            <a:avLst/>
          </a:prstGeom>
          <a:noFill/>
          <a:ln/>
        </p:spPr>
        <p:txBody>
          <a:bodyPr wrap="square" lIns="0" tIns="0" rIns="0" bIns="0" rtlCol="0" anchor="ctr"/>
          <a:lstStyle/>
          <a:p>
            <a:pPr indent="0" marL="0">
              <a:buNone/>
            </a:pPr>
            <a:r>
              <a:rPr lang="en-US" sz="1250" dirty="0">
                <a:solidFill>
                  <a:srgbClr val="35495E"/>
                </a:solidFill>
                <a:latin typeface="Calibri" pitchFamily="34" charset="0"/>
                <a:ea typeface="Calibri" pitchFamily="34" charset="-122"/>
                <a:cs typeface="Calibri" pitchFamily="34" charset="-120"/>
              </a:rPr>
              <a:t>Di balik layar, v-model hanyalah gabungan dari :value (binding nilai) dan @input (menangkap perubahan) — bukan sihir.</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Lifecycle Hooks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Titik-titik waktu yang bisa kita sisipi kode selama hidup sebuah komponen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36192"/>
            <a:ext cx="2651760" cy="2606040"/>
          </a:xfrm>
          <a:prstGeom prst="roundRect">
            <a:avLst>
              <a:gd name="adj" fmla="val 315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548640" y="1536192"/>
            <a:ext cx="2651760" cy="566928"/>
          </a:xfrm>
          <a:prstGeom prst="roundRect">
            <a:avLst>
              <a:gd name="adj" fmla="val 14516"/>
            </a:avLst>
          </a:prstGeom>
          <a:solidFill>
            <a:srgbClr val="35495E"/>
          </a:solidFill>
          <a:ln w="12700">
            <a:solidFill>
              <a:srgbClr val="333333"/>
            </a:solidFill>
            <a:prstDash val="solid"/>
          </a:ln>
        </p:spPr>
      </p:sp>
      <p:sp>
        <p:nvSpPr>
          <p:cNvPr id="7" name="Text 4"/>
          <p:cNvSpPr txBox="1"/>
          <p:nvPr/>
        </p:nvSpPr>
        <p:spPr>
          <a:xfrm>
            <a:off x="1188720" y="1536192"/>
            <a:ext cx="187452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Pembuatan</a:t>
            </a:r>
            <a:endParaRPr lang="en-US" sz="1400" dirty="0"/>
          </a:p>
        </p:txBody>
      </p:sp>
      <p:sp>
        <p:nvSpPr>
          <p:cNvPr id="8" name="Shape 5"/>
          <p:cNvSpPr/>
          <p:nvPr/>
        </p:nvSpPr>
        <p:spPr>
          <a:xfrm>
            <a:off x="713232" y="1655064"/>
            <a:ext cx="329184" cy="329184"/>
          </a:xfrm>
          <a:prstGeom prst="ellipse">
            <a:avLst/>
          </a:prstGeom>
          <a:solidFill>
            <a:srgbClr val="42B883"/>
          </a:solidFill>
          <a:ln w="12700">
            <a:solidFill>
              <a:srgbClr val="42B883"/>
            </a:solidFill>
            <a:prstDash val="solid"/>
          </a:ln>
        </p:spPr>
      </p:sp>
      <p:pic>
        <p:nvPicPr>
          <p:cNvPr id="9" name="Image 1" descr="preencoded.png">    </p:cNvPr>
          <p:cNvPicPr>
            <a:picLocks noChangeAspect="1"/>
          </p:cNvPicPr>
          <p:nvPr/>
        </p:nvPicPr>
        <p:blipFill>
          <a:blip r:embed="rId2"/>
          <a:stretch>
            <a:fillRect/>
          </a:stretch>
        </p:blipFill>
        <p:spPr>
          <a:xfrm>
            <a:off x="805404" y="1747236"/>
            <a:ext cx="144841" cy="144841"/>
          </a:xfrm>
          <a:prstGeom prst="rect">
            <a:avLst/>
          </a:prstGeom>
        </p:spPr>
      </p:pic>
      <p:sp>
        <p:nvSpPr>
          <p:cNvPr id="10" name="Shape 6"/>
          <p:cNvSpPr/>
          <p:nvPr/>
        </p:nvSpPr>
        <p:spPr>
          <a:xfrm>
            <a:off x="731520" y="2267712"/>
            <a:ext cx="2286000" cy="310896"/>
          </a:xfrm>
          <a:prstGeom prst="roundRect">
            <a:avLst>
              <a:gd name="adj" fmla="val 17647"/>
            </a:avLst>
          </a:prstGeom>
          <a:solidFill>
            <a:srgbClr val="E9F5EF"/>
          </a:solidFill>
          <a:ln w="12700">
            <a:solidFill>
              <a:srgbClr val="333333"/>
            </a:solidFill>
            <a:prstDash val="solid"/>
          </a:ln>
        </p:spPr>
      </p:sp>
      <p:sp>
        <p:nvSpPr>
          <p:cNvPr id="11" name="Text 7"/>
          <p:cNvSpPr txBox="1"/>
          <p:nvPr/>
        </p:nvSpPr>
        <p:spPr>
          <a:xfrm>
            <a:off x="731520" y="2267712"/>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setup()</a:t>
            </a:r>
            <a:endParaRPr lang="en-US" sz="1100" dirty="0"/>
          </a:p>
        </p:txBody>
      </p:sp>
      <p:sp>
        <p:nvSpPr>
          <p:cNvPr id="12" name="Shape 8"/>
          <p:cNvSpPr/>
          <p:nvPr/>
        </p:nvSpPr>
        <p:spPr>
          <a:xfrm>
            <a:off x="731520" y="2651760"/>
            <a:ext cx="2286000" cy="310896"/>
          </a:xfrm>
          <a:prstGeom prst="roundRect">
            <a:avLst>
              <a:gd name="adj" fmla="val 17647"/>
            </a:avLst>
          </a:prstGeom>
          <a:solidFill>
            <a:srgbClr val="E9F5EF"/>
          </a:solidFill>
          <a:ln w="12700">
            <a:solidFill>
              <a:srgbClr val="333333"/>
            </a:solidFill>
            <a:prstDash val="solid"/>
          </a:ln>
        </p:spPr>
      </p:sp>
      <p:sp>
        <p:nvSpPr>
          <p:cNvPr id="13" name="Text 9"/>
          <p:cNvSpPr txBox="1"/>
          <p:nvPr/>
        </p:nvSpPr>
        <p:spPr>
          <a:xfrm>
            <a:off x="731520" y="2651760"/>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onBeforeMount()</a:t>
            </a:r>
            <a:endParaRPr lang="en-US" sz="1100" dirty="0"/>
          </a:p>
        </p:txBody>
      </p:sp>
      <p:sp>
        <p:nvSpPr>
          <p:cNvPr id="14" name="Text 10"/>
          <p:cNvSpPr txBox="1"/>
          <p:nvPr/>
        </p:nvSpPr>
        <p:spPr>
          <a:xfrm>
            <a:off x="731520" y="3163824"/>
            <a:ext cx="2286000" cy="91440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Komponen diinisialisasi, data reaktif disiapkan. DOM belum tersedia.</a:t>
            </a:r>
            <a:endParaRPr lang="en-US" sz="1150" dirty="0"/>
          </a:p>
        </p:txBody>
      </p:sp>
      <p:sp>
        <p:nvSpPr>
          <p:cNvPr id="15" name="Shape 11"/>
          <p:cNvSpPr/>
          <p:nvPr/>
        </p:nvSpPr>
        <p:spPr>
          <a:xfrm>
            <a:off x="3218688" y="1719072"/>
            <a:ext cx="237744" cy="201168"/>
          </a:xfrm>
          <a:prstGeom prst="rightArrow">
            <a:avLst/>
          </a:prstGeom>
          <a:solidFill>
            <a:srgbClr val="42B883"/>
          </a:solidFill>
          <a:ln w="12700">
            <a:solidFill>
              <a:srgbClr val="333333"/>
            </a:solidFill>
            <a:prstDash val="solid"/>
          </a:ln>
        </p:spPr>
      </p:sp>
      <p:sp>
        <p:nvSpPr>
          <p:cNvPr id="16" name="Shape 12"/>
          <p:cNvSpPr/>
          <p:nvPr/>
        </p:nvSpPr>
        <p:spPr>
          <a:xfrm>
            <a:off x="3483864" y="1536192"/>
            <a:ext cx="2651760" cy="2606040"/>
          </a:xfrm>
          <a:prstGeom prst="roundRect">
            <a:avLst>
              <a:gd name="adj" fmla="val 315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7" name="Shape 13"/>
          <p:cNvSpPr/>
          <p:nvPr/>
        </p:nvSpPr>
        <p:spPr>
          <a:xfrm>
            <a:off x="3483864" y="1536192"/>
            <a:ext cx="2651760" cy="566928"/>
          </a:xfrm>
          <a:prstGeom prst="roundRect">
            <a:avLst>
              <a:gd name="adj" fmla="val 14516"/>
            </a:avLst>
          </a:prstGeom>
          <a:solidFill>
            <a:srgbClr val="35495E"/>
          </a:solidFill>
          <a:ln w="12700">
            <a:solidFill>
              <a:srgbClr val="333333"/>
            </a:solidFill>
            <a:prstDash val="solid"/>
          </a:ln>
        </p:spPr>
      </p:sp>
      <p:sp>
        <p:nvSpPr>
          <p:cNvPr id="18" name="Text 14"/>
          <p:cNvSpPr txBox="1"/>
          <p:nvPr/>
        </p:nvSpPr>
        <p:spPr>
          <a:xfrm>
            <a:off x="4123944" y="1536192"/>
            <a:ext cx="187452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Pemasangan</a:t>
            </a:r>
            <a:endParaRPr lang="en-US" sz="1400" dirty="0"/>
          </a:p>
        </p:txBody>
      </p:sp>
      <p:sp>
        <p:nvSpPr>
          <p:cNvPr id="19" name="Shape 15"/>
          <p:cNvSpPr/>
          <p:nvPr/>
        </p:nvSpPr>
        <p:spPr>
          <a:xfrm>
            <a:off x="3648456" y="1655064"/>
            <a:ext cx="329184" cy="329184"/>
          </a:xfrm>
          <a:prstGeom prst="ellipse">
            <a:avLst/>
          </a:prstGeom>
          <a:solidFill>
            <a:srgbClr val="42B883"/>
          </a:solidFill>
          <a:ln w="12700">
            <a:solidFill>
              <a:srgbClr val="42B883"/>
            </a:solidFill>
            <a:prstDash val="solid"/>
          </a:ln>
        </p:spPr>
      </p:sp>
      <p:pic>
        <p:nvPicPr>
          <p:cNvPr id="20" name="Image 2" descr="preencoded.png">    </p:cNvPr>
          <p:cNvPicPr>
            <a:picLocks noChangeAspect="1"/>
          </p:cNvPicPr>
          <p:nvPr/>
        </p:nvPicPr>
        <p:blipFill>
          <a:blip r:embed="rId3"/>
          <a:stretch>
            <a:fillRect/>
          </a:stretch>
        </p:blipFill>
        <p:spPr>
          <a:xfrm>
            <a:off x="3740628" y="1747236"/>
            <a:ext cx="144841" cy="144841"/>
          </a:xfrm>
          <a:prstGeom prst="rect">
            <a:avLst/>
          </a:prstGeom>
        </p:spPr>
      </p:pic>
      <p:sp>
        <p:nvSpPr>
          <p:cNvPr id="21" name="Shape 16"/>
          <p:cNvSpPr/>
          <p:nvPr/>
        </p:nvSpPr>
        <p:spPr>
          <a:xfrm>
            <a:off x="3666744" y="2267712"/>
            <a:ext cx="2286000" cy="310896"/>
          </a:xfrm>
          <a:prstGeom prst="roundRect">
            <a:avLst>
              <a:gd name="adj" fmla="val 17647"/>
            </a:avLst>
          </a:prstGeom>
          <a:solidFill>
            <a:srgbClr val="E9F5EF"/>
          </a:solidFill>
          <a:ln w="12700">
            <a:solidFill>
              <a:srgbClr val="333333"/>
            </a:solidFill>
            <a:prstDash val="solid"/>
          </a:ln>
        </p:spPr>
      </p:sp>
      <p:sp>
        <p:nvSpPr>
          <p:cNvPr id="22" name="Text 17"/>
          <p:cNvSpPr txBox="1"/>
          <p:nvPr/>
        </p:nvSpPr>
        <p:spPr>
          <a:xfrm>
            <a:off x="3666744" y="2267712"/>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onMounted()</a:t>
            </a:r>
            <a:endParaRPr lang="en-US" sz="1100" dirty="0"/>
          </a:p>
        </p:txBody>
      </p:sp>
      <p:sp>
        <p:nvSpPr>
          <p:cNvPr id="23" name="Text 18"/>
          <p:cNvSpPr txBox="1"/>
          <p:nvPr/>
        </p:nvSpPr>
        <p:spPr>
          <a:xfrm>
            <a:off x="3666744" y="3163824"/>
            <a:ext cx="2286000" cy="91440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DOM sudah terpasang. Tempat ideal memanggil API atau mengakses elemen DOM.</a:t>
            </a:r>
            <a:endParaRPr lang="en-US" sz="1150" dirty="0"/>
          </a:p>
        </p:txBody>
      </p:sp>
      <p:sp>
        <p:nvSpPr>
          <p:cNvPr id="24" name="Shape 19"/>
          <p:cNvSpPr/>
          <p:nvPr/>
        </p:nvSpPr>
        <p:spPr>
          <a:xfrm>
            <a:off x="6153912" y="1719072"/>
            <a:ext cx="237744" cy="201168"/>
          </a:xfrm>
          <a:prstGeom prst="rightArrow">
            <a:avLst/>
          </a:prstGeom>
          <a:solidFill>
            <a:srgbClr val="42B883"/>
          </a:solidFill>
          <a:ln w="12700">
            <a:solidFill>
              <a:srgbClr val="333333"/>
            </a:solidFill>
            <a:prstDash val="solid"/>
          </a:ln>
        </p:spPr>
      </p:sp>
      <p:sp>
        <p:nvSpPr>
          <p:cNvPr id="25" name="Shape 20"/>
          <p:cNvSpPr/>
          <p:nvPr/>
        </p:nvSpPr>
        <p:spPr>
          <a:xfrm>
            <a:off x="6419088" y="1536192"/>
            <a:ext cx="2651760" cy="2606040"/>
          </a:xfrm>
          <a:prstGeom prst="roundRect">
            <a:avLst>
              <a:gd name="adj" fmla="val 315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21"/>
          <p:cNvSpPr/>
          <p:nvPr/>
        </p:nvSpPr>
        <p:spPr>
          <a:xfrm>
            <a:off x="6419088" y="1536192"/>
            <a:ext cx="2651760" cy="566928"/>
          </a:xfrm>
          <a:prstGeom prst="roundRect">
            <a:avLst>
              <a:gd name="adj" fmla="val 14516"/>
            </a:avLst>
          </a:prstGeom>
          <a:solidFill>
            <a:srgbClr val="35495E"/>
          </a:solidFill>
          <a:ln w="12700">
            <a:solidFill>
              <a:srgbClr val="333333"/>
            </a:solidFill>
            <a:prstDash val="solid"/>
          </a:ln>
        </p:spPr>
      </p:sp>
      <p:sp>
        <p:nvSpPr>
          <p:cNvPr id="27" name="Text 22"/>
          <p:cNvSpPr txBox="1"/>
          <p:nvPr/>
        </p:nvSpPr>
        <p:spPr>
          <a:xfrm>
            <a:off x="7059168" y="1536192"/>
            <a:ext cx="187452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Pembaruan</a:t>
            </a:r>
            <a:endParaRPr lang="en-US" sz="1400" dirty="0"/>
          </a:p>
        </p:txBody>
      </p:sp>
      <p:sp>
        <p:nvSpPr>
          <p:cNvPr id="28" name="Shape 23"/>
          <p:cNvSpPr/>
          <p:nvPr/>
        </p:nvSpPr>
        <p:spPr>
          <a:xfrm>
            <a:off x="6583680" y="1655064"/>
            <a:ext cx="329184" cy="329184"/>
          </a:xfrm>
          <a:prstGeom prst="ellipse">
            <a:avLst/>
          </a:prstGeom>
          <a:solidFill>
            <a:srgbClr val="42B883"/>
          </a:solidFill>
          <a:ln w="12700">
            <a:solidFill>
              <a:srgbClr val="42B883"/>
            </a:solidFill>
            <a:prstDash val="solid"/>
          </a:ln>
        </p:spPr>
      </p:sp>
      <p:pic>
        <p:nvPicPr>
          <p:cNvPr id="29" name="Image 3" descr="preencoded.png">    </p:cNvPr>
          <p:cNvPicPr>
            <a:picLocks noChangeAspect="1"/>
          </p:cNvPicPr>
          <p:nvPr/>
        </p:nvPicPr>
        <p:blipFill>
          <a:blip r:embed="rId4"/>
          <a:stretch>
            <a:fillRect/>
          </a:stretch>
        </p:blipFill>
        <p:spPr>
          <a:xfrm>
            <a:off x="6675852" y="1747236"/>
            <a:ext cx="144841" cy="144841"/>
          </a:xfrm>
          <a:prstGeom prst="rect">
            <a:avLst/>
          </a:prstGeom>
        </p:spPr>
      </p:pic>
      <p:sp>
        <p:nvSpPr>
          <p:cNvPr id="30" name="Shape 24"/>
          <p:cNvSpPr/>
          <p:nvPr/>
        </p:nvSpPr>
        <p:spPr>
          <a:xfrm>
            <a:off x="6601968" y="2267712"/>
            <a:ext cx="2286000" cy="310896"/>
          </a:xfrm>
          <a:prstGeom prst="roundRect">
            <a:avLst>
              <a:gd name="adj" fmla="val 17647"/>
            </a:avLst>
          </a:prstGeom>
          <a:solidFill>
            <a:srgbClr val="E9F5EF"/>
          </a:solidFill>
          <a:ln w="12700">
            <a:solidFill>
              <a:srgbClr val="333333"/>
            </a:solidFill>
            <a:prstDash val="solid"/>
          </a:ln>
        </p:spPr>
      </p:sp>
      <p:sp>
        <p:nvSpPr>
          <p:cNvPr id="31" name="Text 25"/>
          <p:cNvSpPr txBox="1"/>
          <p:nvPr/>
        </p:nvSpPr>
        <p:spPr>
          <a:xfrm>
            <a:off x="6601968" y="2267712"/>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onBeforeUpdate()</a:t>
            </a:r>
            <a:endParaRPr lang="en-US" sz="1100" dirty="0"/>
          </a:p>
        </p:txBody>
      </p:sp>
      <p:sp>
        <p:nvSpPr>
          <p:cNvPr id="32" name="Shape 26"/>
          <p:cNvSpPr/>
          <p:nvPr/>
        </p:nvSpPr>
        <p:spPr>
          <a:xfrm>
            <a:off x="6601968" y="2651760"/>
            <a:ext cx="2286000" cy="310896"/>
          </a:xfrm>
          <a:prstGeom prst="roundRect">
            <a:avLst>
              <a:gd name="adj" fmla="val 17647"/>
            </a:avLst>
          </a:prstGeom>
          <a:solidFill>
            <a:srgbClr val="E9F5EF"/>
          </a:solidFill>
          <a:ln w="12700">
            <a:solidFill>
              <a:srgbClr val="333333"/>
            </a:solidFill>
            <a:prstDash val="solid"/>
          </a:ln>
        </p:spPr>
      </p:sp>
      <p:sp>
        <p:nvSpPr>
          <p:cNvPr id="33" name="Text 27"/>
          <p:cNvSpPr txBox="1"/>
          <p:nvPr/>
        </p:nvSpPr>
        <p:spPr>
          <a:xfrm>
            <a:off x="6601968" y="2651760"/>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onUpdated()</a:t>
            </a:r>
            <a:endParaRPr lang="en-US" sz="1100" dirty="0"/>
          </a:p>
        </p:txBody>
      </p:sp>
      <p:sp>
        <p:nvSpPr>
          <p:cNvPr id="34" name="Text 28"/>
          <p:cNvSpPr txBox="1"/>
          <p:nvPr/>
        </p:nvSpPr>
        <p:spPr>
          <a:xfrm>
            <a:off x="6601968" y="3163824"/>
            <a:ext cx="2286000" cy="91440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Dipicu setiap kali data reaktif berubah dan DOM diperbarui ulang.</a:t>
            </a:r>
            <a:endParaRPr lang="en-US" sz="1150" dirty="0"/>
          </a:p>
        </p:txBody>
      </p:sp>
      <p:sp>
        <p:nvSpPr>
          <p:cNvPr id="35" name="Shape 29"/>
          <p:cNvSpPr/>
          <p:nvPr/>
        </p:nvSpPr>
        <p:spPr>
          <a:xfrm>
            <a:off x="9089136" y="1719072"/>
            <a:ext cx="237744" cy="201168"/>
          </a:xfrm>
          <a:prstGeom prst="rightArrow">
            <a:avLst/>
          </a:prstGeom>
          <a:solidFill>
            <a:srgbClr val="42B883"/>
          </a:solidFill>
          <a:ln w="12700">
            <a:solidFill>
              <a:srgbClr val="333333"/>
            </a:solidFill>
            <a:prstDash val="solid"/>
          </a:ln>
        </p:spPr>
      </p:sp>
      <p:sp>
        <p:nvSpPr>
          <p:cNvPr id="36" name="Shape 30"/>
          <p:cNvSpPr/>
          <p:nvPr/>
        </p:nvSpPr>
        <p:spPr>
          <a:xfrm>
            <a:off x="9354312" y="1536192"/>
            <a:ext cx="2651760" cy="2606040"/>
          </a:xfrm>
          <a:prstGeom prst="roundRect">
            <a:avLst>
              <a:gd name="adj" fmla="val 3158"/>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7" name="Shape 31"/>
          <p:cNvSpPr/>
          <p:nvPr/>
        </p:nvSpPr>
        <p:spPr>
          <a:xfrm>
            <a:off x="9354312" y="1536192"/>
            <a:ext cx="2651760" cy="566928"/>
          </a:xfrm>
          <a:prstGeom prst="roundRect">
            <a:avLst>
              <a:gd name="adj" fmla="val 14516"/>
            </a:avLst>
          </a:prstGeom>
          <a:solidFill>
            <a:srgbClr val="35495E"/>
          </a:solidFill>
          <a:ln w="12700">
            <a:solidFill>
              <a:srgbClr val="333333"/>
            </a:solidFill>
            <a:prstDash val="solid"/>
          </a:ln>
        </p:spPr>
      </p:sp>
      <p:sp>
        <p:nvSpPr>
          <p:cNvPr id="38" name="Text 32"/>
          <p:cNvSpPr txBox="1"/>
          <p:nvPr/>
        </p:nvSpPr>
        <p:spPr>
          <a:xfrm>
            <a:off x="9994392" y="1536192"/>
            <a:ext cx="1874520"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Pembongkaran</a:t>
            </a:r>
            <a:endParaRPr lang="en-US" sz="1400" dirty="0"/>
          </a:p>
        </p:txBody>
      </p:sp>
      <p:sp>
        <p:nvSpPr>
          <p:cNvPr id="39" name="Shape 33"/>
          <p:cNvSpPr/>
          <p:nvPr/>
        </p:nvSpPr>
        <p:spPr>
          <a:xfrm>
            <a:off x="9518904" y="1655064"/>
            <a:ext cx="329184" cy="329184"/>
          </a:xfrm>
          <a:prstGeom prst="ellipse">
            <a:avLst/>
          </a:prstGeom>
          <a:solidFill>
            <a:srgbClr val="42B883"/>
          </a:solidFill>
          <a:ln w="12700">
            <a:solidFill>
              <a:srgbClr val="42B883"/>
            </a:solidFill>
            <a:prstDash val="solid"/>
          </a:ln>
        </p:spPr>
      </p:sp>
      <p:pic>
        <p:nvPicPr>
          <p:cNvPr id="40" name="Image 4" descr="preencoded.png">    </p:cNvPr>
          <p:cNvPicPr>
            <a:picLocks noChangeAspect="1"/>
          </p:cNvPicPr>
          <p:nvPr/>
        </p:nvPicPr>
        <p:blipFill>
          <a:blip r:embed="rId5"/>
          <a:stretch>
            <a:fillRect/>
          </a:stretch>
        </p:blipFill>
        <p:spPr>
          <a:xfrm>
            <a:off x="9611076" y="1747236"/>
            <a:ext cx="144841" cy="144841"/>
          </a:xfrm>
          <a:prstGeom prst="rect">
            <a:avLst/>
          </a:prstGeom>
        </p:spPr>
      </p:pic>
      <p:sp>
        <p:nvSpPr>
          <p:cNvPr id="41" name="Shape 34"/>
          <p:cNvSpPr/>
          <p:nvPr/>
        </p:nvSpPr>
        <p:spPr>
          <a:xfrm>
            <a:off x="9537192" y="2267712"/>
            <a:ext cx="2286000" cy="310896"/>
          </a:xfrm>
          <a:prstGeom prst="roundRect">
            <a:avLst>
              <a:gd name="adj" fmla="val 17647"/>
            </a:avLst>
          </a:prstGeom>
          <a:solidFill>
            <a:srgbClr val="E9F5EF"/>
          </a:solidFill>
          <a:ln w="12700">
            <a:solidFill>
              <a:srgbClr val="333333"/>
            </a:solidFill>
            <a:prstDash val="solid"/>
          </a:ln>
        </p:spPr>
      </p:sp>
      <p:sp>
        <p:nvSpPr>
          <p:cNvPr id="42" name="Text 35"/>
          <p:cNvSpPr txBox="1"/>
          <p:nvPr/>
        </p:nvSpPr>
        <p:spPr>
          <a:xfrm>
            <a:off x="9537192" y="2267712"/>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onBeforeUnmount()</a:t>
            </a:r>
            <a:endParaRPr lang="en-US" sz="1100" dirty="0"/>
          </a:p>
        </p:txBody>
      </p:sp>
      <p:sp>
        <p:nvSpPr>
          <p:cNvPr id="43" name="Shape 36"/>
          <p:cNvSpPr/>
          <p:nvPr/>
        </p:nvSpPr>
        <p:spPr>
          <a:xfrm>
            <a:off x="9537192" y="2651760"/>
            <a:ext cx="2286000" cy="310896"/>
          </a:xfrm>
          <a:prstGeom prst="roundRect">
            <a:avLst>
              <a:gd name="adj" fmla="val 17647"/>
            </a:avLst>
          </a:prstGeom>
          <a:solidFill>
            <a:srgbClr val="E9F5EF"/>
          </a:solidFill>
          <a:ln w="12700">
            <a:solidFill>
              <a:srgbClr val="333333"/>
            </a:solidFill>
            <a:prstDash val="solid"/>
          </a:ln>
        </p:spPr>
      </p:sp>
      <p:sp>
        <p:nvSpPr>
          <p:cNvPr id="44" name="Text 37"/>
          <p:cNvSpPr txBox="1"/>
          <p:nvPr/>
        </p:nvSpPr>
        <p:spPr>
          <a:xfrm>
            <a:off x="9537192" y="2651760"/>
            <a:ext cx="2286000" cy="310896"/>
          </a:xfrm>
          <a:prstGeom prst="rect">
            <a:avLst/>
          </a:prstGeom>
          <a:noFill/>
          <a:ln/>
        </p:spPr>
        <p:txBody>
          <a:bodyPr wrap="square" lIns="0" tIns="0" rIns="0" bIns="0" rtlCol="0" anchor="ctr"/>
          <a:lstStyle/>
          <a:p>
            <a:pPr algn="ctr" indent="0" marL="0">
              <a:buNone/>
            </a:pPr>
            <a:r>
              <a:rPr lang="en-US" sz="1100" b="1" dirty="0">
                <a:solidFill>
                  <a:srgbClr val="2F9E6E"/>
                </a:solidFill>
                <a:latin typeface="Courier New" pitchFamily="34" charset="0"/>
                <a:ea typeface="Courier New" pitchFamily="34" charset="-122"/>
                <a:cs typeface="Courier New" pitchFamily="34" charset="-120"/>
              </a:rPr>
              <a:t>onUnmounted()</a:t>
            </a:r>
            <a:endParaRPr lang="en-US" sz="1100" dirty="0"/>
          </a:p>
        </p:txBody>
      </p:sp>
      <p:sp>
        <p:nvSpPr>
          <p:cNvPr id="45" name="Text 38"/>
          <p:cNvSpPr txBox="1"/>
          <p:nvPr/>
        </p:nvSpPr>
        <p:spPr>
          <a:xfrm>
            <a:off x="9537192" y="3163824"/>
            <a:ext cx="2286000" cy="91440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Komponen dilepas. Tempat membersihkan timer, listener, dan koneksi.</a:t>
            </a:r>
            <a:endParaRPr lang="en-US" sz="1150" dirty="0"/>
          </a:p>
        </p:txBody>
      </p:sp>
      <p:sp>
        <p:nvSpPr>
          <p:cNvPr id="46" name="Shape 39"/>
          <p:cNvSpPr/>
          <p:nvPr/>
        </p:nvSpPr>
        <p:spPr>
          <a:xfrm>
            <a:off x="548640" y="4389120"/>
            <a:ext cx="11091672" cy="1339980"/>
          </a:xfrm>
          <a:prstGeom prst="roundRect">
            <a:avLst>
              <a:gd name="adj" fmla="val 4777"/>
            </a:avLst>
          </a:prstGeom>
          <a:solidFill>
            <a:srgbClr val="253340"/>
          </a:solidFill>
          <a:ln w="12700">
            <a:solidFill>
              <a:srgbClr val="253340"/>
            </a:solidFill>
            <a:prstDash val="solid"/>
          </a:ln>
        </p:spPr>
      </p:sp>
      <p:sp>
        <p:nvSpPr>
          <p:cNvPr id="47" name="Text 40"/>
          <p:cNvSpPr txBox="1"/>
          <p:nvPr/>
        </p:nvSpPr>
        <p:spPr>
          <a:xfrm>
            <a:off x="676656" y="4507992"/>
            <a:ext cx="10835640" cy="1102236"/>
          </a:xfrm>
          <a:prstGeom prst="rect">
            <a:avLst/>
          </a:prstGeom>
          <a:noFill/>
          <a:ln/>
        </p:spPr>
        <p:txBody>
          <a:bodyPr wrap="square" lIns="0" tIns="0" rIns="0" bIns="0" rtlCol="0" anchor="t"/>
          <a:lstStyle/>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&lt;script setup&gt;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import { ref, onMounted, onUnmounted } from "vue";</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const data = ref(null);</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onMounted(async () =&gt; { data.value = await fetch("/api/produk").then(r =&gt; r.json());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onUnmounted(() =&gt; { clearInterval(timerId); });   // bersihkan agar tidak bocor memori</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&lt;/script&gt;</a:t>
            </a:r>
            <a:endParaRPr lang="en-US" sz="1150" dirty="0"/>
          </a:p>
        </p:txBody>
      </p:sp>
      <p:sp>
        <p:nvSpPr>
          <p:cNvPr id="48" name="Shape 41"/>
          <p:cNvSpPr/>
          <p:nvPr/>
        </p:nvSpPr>
        <p:spPr>
          <a:xfrm>
            <a:off x="548640" y="5852160"/>
            <a:ext cx="11091672" cy="502920"/>
          </a:xfrm>
          <a:prstGeom prst="roundRect">
            <a:avLst>
              <a:gd name="adj" fmla="val 16364"/>
            </a:avLst>
          </a:prstGeom>
          <a:solidFill>
            <a:srgbClr val="E9F5EF"/>
          </a:solidFill>
          <a:ln w="12700">
            <a:solidFill>
              <a:srgbClr val="333333"/>
            </a:solidFill>
            <a:prstDash val="solid"/>
          </a:ln>
        </p:spPr>
      </p:sp>
      <p:sp>
        <p:nvSpPr>
          <p:cNvPr id="49" name="Text 42"/>
          <p:cNvSpPr txBox="1"/>
          <p:nvPr/>
        </p:nvSpPr>
        <p:spPr>
          <a:xfrm>
            <a:off x="822960" y="5852160"/>
            <a:ext cx="10607040" cy="502920"/>
          </a:xfrm>
          <a:prstGeom prst="rect">
            <a:avLst/>
          </a:prstGeom>
          <a:noFill/>
          <a:ln/>
        </p:spPr>
        <p:txBody>
          <a:bodyPr wrap="square" lIns="0" tIns="0" rIns="0" bIns="0" rtlCol="0" anchor="ctr"/>
          <a:lstStyle/>
          <a:p>
            <a:pPr indent="0" marL="0">
              <a:buNone/>
            </a:pPr>
            <a:r>
              <a:rPr lang="en-US" sz="1150" dirty="0">
                <a:solidFill>
                  <a:srgbClr val="35495E"/>
                </a:solidFill>
                <a:latin typeface="Calibri" pitchFamily="34" charset="0"/>
                <a:ea typeface="Calibri" pitchFamily="34" charset="-122"/>
                <a:cs typeface="Calibri" pitchFamily="34" charset="-120"/>
              </a:rPr>
              <a:t>Hook lain: onErrorCaptured() untuk menangkap error dari komponen anak, serta onActivated() dan onDeactivated() untuk komponen di dalam &lt;KeepAlive&gt;.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366760" y="1143000"/>
            <a:ext cx="4480560" cy="448056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01200" y="2514600"/>
            <a:ext cx="2011680" cy="1737360"/>
          </a:xfrm>
          <a:prstGeom prst="rect">
            <a:avLst/>
          </a:prstGeom>
        </p:spPr>
      </p:pic>
      <p:sp>
        <p:nvSpPr>
          <p:cNvPr id="4" name="Text 1"/>
          <p:cNvSpPr txBox="1"/>
          <p:nvPr/>
        </p:nvSpPr>
        <p:spPr>
          <a:xfrm>
            <a:off x="822960" y="1554480"/>
            <a:ext cx="2194560" cy="1463040"/>
          </a:xfrm>
          <a:prstGeom prst="rect">
            <a:avLst/>
          </a:prstGeom>
          <a:noFill/>
          <a:ln/>
        </p:spPr>
        <p:txBody>
          <a:bodyPr wrap="square" lIns="0" tIns="0" rIns="0" bIns="0" rtlCol="0" anchor="ctr"/>
          <a:lstStyle/>
          <a:p>
            <a:pPr indent="0" marL="0">
              <a:buNone/>
            </a:pPr>
            <a:r>
              <a:rPr lang="en-US" sz="10000" b="1" dirty="0">
                <a:solidFill>
                  <a:srgbClr val="42B883"/>
                </a:solidFill>
                <a:latin typeface="Calibri" pitchFamily="34" charset="0"/>
                <a:ea typeface="Calibri" pitchFamily="34" charset="-122"/>
                <a:cs typeface="Calibri" pitchFamily="34" charset="-120"/>
              </a:rPr>
              <a:t>04</a:t>
            </a:r>
            <a:endParaRPr lang="en-US" sz="10000" dirty="0"/>
          </a:p>
        </p:txBody>
      </p:sp>
      <p:sp>
        <p:nvSpPr>
          <p:cNvPr id="5" name="Text 2"/>
          <p:cNvSpPr txBox="1"/>
          <p:nvPr/>
        </p:nvSpPr>
        <p:spPr>
          <a:xfrm>
            <a:off x="822960" y="3127248"/>
            <a:ext cx="722376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Arsitektur Komponen</a:t>
            </a:r>
            <a:endParaRPr lang="en-US" sz="4000" dirty="0"/>
          </a:p>
        </p:txBody>
      </p:sp>
      <p:sp>
        <p:nvSpPr>
          <p:cNvPr id="6" name="Text 3"/>
          <p:cNvSpPr txBox="1"/>
          <p:nvPr/>
        </p:nvSpPr>
        <p:spPr>
          <a:xfrm>
            <a:off x="822960" y="3977640"/>
            <a:ext cx="6949440" cy="777240"/>
          </a:xfrm>
          <a:prstGeom prst="rect">
            <a:avLst/>
          </a:prstGeom>
          <a:noFill/>
          <a:ln/>
        </p:spPr>
        <p:txBody>
          <a:bodyPr wrap="square" lIns="0" tIns="0" rIns="0" bIns="0" rtlCol="0" anchor="t"/>
          <a:lstStyle/>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Props, emits, slots, provide/inject, dan composables —</a:t>
            </a:r>
            <a:endParaRPr lang="en-US" sz="1500" dirty="0"/>
          </a:p>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cara komponen saling berkomunikasi dan berbagi logika.</a:t>
            </a:r>
            <a:endParaRPr lang="en-US" sz="1500" dirty="0"/>
          </a:p>
        </p:txBody>
      </p:sp>
      <p:sp>
        <p:nvSpPr>
          <p:cNvPr id="7" name="Shape 4"/>
          <p:cNvSpPr/>
          <p:nvPr/>
        </p:nvSpPr>
        <p:spPr>
          <a:xfrm>
            <a:off x="822960" y="4983480"/>
            <a:ext cx="566928" cy="566928"/>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981700" y="5142220"/>
            <a:ext cx="249448" cy="24944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Pola Komunikasi Antar Komponen</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Aplikasi Vue adalah pohon komponen yang saling bertukar data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54480"/>
            <a:ext cx="5577840" cy="4297680"/>
          </a:xfrm>
          <a:prstGeom prst="roundRect">
            <a:avLst>
              <a:gd name="adj" fmla="val 1915"/>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2148840" y="1874520"/>
            <a:ext cx="2377440" cy="566928"/>
          </a:xfrm>
          <a:prstGeom prst="roundRect">
            <a:avLst>
              <a:gd name="adj" fmla="val 12903"/>
            </a:avLst>
          </a:prstGeom>
          <a:solidFill>
            <a:srgbClr val="35495E"/>
          </a:solidFill>
          <a:ln w="12700">
            <a:solidFill>
              <a:srgbClr val="333333"/>
            </a:solidFill>
            <a:prstDash val="solid"/>
          </a:ln>
        </p:spPr>
      </p:sp>
      <p:sp>
        <p:nvSpPr>
          <p:cNvPr id="7" name="Text 4"/>
          <p:cNvSpPr txBox="1"/>
          <p:nvPr/>
        </p:nvSpPr>
        <p:spPr>
          <a:xfrm>
            <a:off x="2148840" y="1874520"/>
            <a:ext cx="23774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App.vue (Induk)</a:t>
            </a:r>
            <a:endParaRPr lang="en-US" sz="1250" dirty="0"/>
          </a:p>
        </p:txBody>
      </p:sp>
      <p:sp>
        <p:nvSpPr>
          <p:cNvPr id="8" name="Shape 5"/>
          <p:cNvSpPr/>
          <p:nvPr/>
        </p:nvSpPr>
        <p:spPr>
          <a:xfrm>
            <a:off x="960120" y="3977640"/>
            <a:ext cx="2148840" cy="566928"/>
          </a:xfrm>
          <a:prstGeom prst="roundRect">
            <a:avLst>
              <a:gd name="adj" fmla="val 12903"/>
            </a:avLst>
          </a:prstGeom>
          <a:solidFill>
            <a:srgbClr val="42B883"/>
          </a:solidFill>
          <a:ln w="12700">
            <a:solidFill>
              <a:srgbClr val="333333"/>
            </a:solidFill>
            <a:prstDash val="solid"/>
          </a:ln>
        </p:spPr>
      </p:sp>
      <p:sp>
        <p:nvSpPr>
          <p:cNvPr id="9" name="Text 6"/>
          <p:cNvSpPr txBox="1"/>
          <p:nvPr/>
        </p:nvSpPr>
        <p:spPr>
          <a:xfrm>
            <a:off x="960120" y="3977640"/>
            <a:ext cx="21488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Komponen A</a:t>
            </a:r>
            <a:endParaRPr lang="en-US" sz="1250" dirty="0"/>
          </a:p>
        </p:txBody>
      </p:sp>
      <p:sp>
        <p:nvSpPr>
          <p:cNvPr id="10" name="Shape 7"/>
          <p:cNvSpPr/>
          <p:nvPr/>
        </p:nvSpPr>
        <p:spPr>
          <a:xfrm>
            <a:off x="3337560" y="2441448"/>
            <a:ext cx="-1298448" cy="1536192"/>
          </a:xfrm>
          <a:prstGeom prst="line">
            <a:avLst/>
          </a:prstGeom>
          <a:noFill/>
          <a:ln w="19050">
            <a:solidFill>
              <a:srgbClr val="BFD3CA"/>
            </a:solidFill>
            <a:prstDash val="solid"/>
          </a:ln>
        </p:spPr>
      </p:sp>
      <p:sp>
        <p:nvSpPr>
          <p:cNvPr id="11" name="Shape 8"/>
          <p:cNvSpPr/>
          <p:nvPr/>
        </p:nvSpPr>
        <p:spPr>
          <a:xfrm>
            <a:off x="3566160" y="3977640"/>
            <a:ext cx="2148840" cy="566928"/>
          </a:xfrm>
          <a:prstGeom prst="roundRect">
            <a:avLst>
              <a:gd name="adj" fmla="val 12903"/>
            </a:avLst>
          </a:prstGeom>
          <a:solidFill>
            <a:srgbClr val="42B883"/>
          </a:solidFill>
          <a:ln w="12700">
            <a:solidFill>
              <a:srgbClr val="333333"/>
            </a:solidFill>
            <a:prstDash val="solid"/>
          </a:ln>
        </p:spPr>
      </p:sp>
      <p:sp>
        <p:nvSpPr>
          <p:cNvPr id="12" name="Text 9"/>
          <p:cNvSpPr txBox="1"/>
          <p:nvPr/>
        </p:nvSpPr>
        <p:spPr>
          <a:xfrm>
            <a:off x="3566160" y="3977640"/>
            <a:ext cx="21488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Komponen B</a:t>
            </a:r>
            <a:endParaRPr lang="en-US" sz="1250" dirty="0"/>
          </a:p>
        </p:txBody>
      </p:sp>
      <p:sp>
        <p:nvSpPr>
          <p:cNvPr id="13" name="Shape 10"/>
          <p:cNvSpPr/>
          <p:nvPr/>
        </p:nvSpPr>
        <p:spPr>
          <a:xfrm>
            <a:off x="3337560" y="2441448"/>
            <a:ext cx="1298448" cy="1536192"/>
          </a:xfrm>
          <a:prstGeom prst="line">
            <a:avLst/>
          </a:prstGeom>
          <a:noFill/>
          <a:ln w="19050">
            <a:solidFill>
              <a:srgbClr val="BFD3CA"/>
            </a:solidFill>
            <a:prstDash val="solid"/>
          </a:ln>
        </p:spPr>
      </p:sp>
      <p:sp>
        <p:nvSpPr>
          <p:cNvPr id="14" name="Shape 11"/>
          <p:cNvSpPr/>
          <p:nvPr/>
        </p:nvSpPr>
        <p:spPr>
          <a:xfrm>
            <a:off x="2286000" y="2697480"/>
            <a:ext cx="237744" cy="457200"/>
          </a:xfrm>
          <a:prstGeom prst="downArrow">
            <a:avLst/>
          </a:prstGeom>
          <a:solidFill>
            <a:srgbClr val="42B883"/>
          </a:solidFill>
          <a:ln w="12700">
            <a:solidFill>
              <a:srgbClr val="333333"/>
            </a:solidFill>
            <a:prstDash val="solid"/>
          </a:ln>
        </p:spPr>
      </p:sp>
      <p:sp>
        <p:nvSpPr>
          <p:cNvPr id="15" name="Text 12"/>
          <p:cNvSpPr txBox="1"/>
          <p:nvPr/>
        </p:nvSpPr>
        <p:spPr>
          <a:xfrm>
            <a:off x="1234440" y="2743200"/>
            <a:ext cx="1005840" cy="365760"/>
          </a:xfrm>
          <a:prstGeom prst="rect">
            <a:avLst/>
          </a:prstGeom>
          <a:noFill/>
          <a:ln/>
        </p:spPr>
        <p:txBody>
          <a:bodyPr wrap="square" lIns="0" tIns="0" rIns="0" bIns="0" rtlCol="0" anchor="ctr"/>
          <a:lstStyle/>
          <a:p>
            <a:pPr algn="r" indent="0" marL="0">
              <a:buNone/>
            </a:pPr>
            <a:r>
              <a:rPr lang="en-US" sz="1150" b="1" dirty="0">
                <a:solidFill>
                  <a:srgbClr val="2F9E6E"/>
                </a:solidFill>
                <a:latin typeface="Calibri" pitchFamily="34" charset="0"/>
                <a:ea typeface="Calibri" pitchFamily="34" charset="-122"/>
                <a:cs typeface="Calibri" pitchFamily="34" charset="-120"/>
              </a:rPr>
              <a:t>props</a:t>
            </a:r>
            <a:endParaRPr lang="en-US" sz="1150" dirty="0"/>
          </a:p>
        </p:txBody>
      </p:sp>
      <p:sp>
        <p:nvSpPr>
          <p:cNvPr id="16" name="Shape 13"/>
          <p:cNvSpPr/>
          <p:nvPr/>
        </p:nvSpPr>
        <p:spPr>
          <a:xfrm>
            <a:off x="4160520" y="2697480"/>
            <a:ext cx="237744" cy="457200"/>
          </a:xfrm>
          <a:prstGeom prst="upArrow">
            <a:avLst/>
          </a:prstGeom>
          <a:solidFill>
            <a:srgbClr val="E8A33D"/>
          </a:solidFill>
          <a:ln w="12700">
            <a:solidFill>
              <a:srgbClr val="333333"/>
            </a:solidFill>
            <a:prstDash val="solid"/>
          </a:ln>
        </p:spPr>
      </p:sp>
      <p:sp>
        <p:nvSpPr>
          <p:cNvPr id="17" name="Text 14"/>
          <p:cNvSpPr txBox="1"/>
          <p:nvPr/>
        </p:nvSpPr>
        <p:spPr>
          <a:xfrm>
            <a:off x="4480560" y="2743200"/>
            <a:ext cx="1280160" cy="365760"/>
          </a:xfrm>
          <a:prstGeom prst="rect">
            <a:avLst/>
          </a:prstGeom>
          <a:noFill/>
          <a:ln/>
        </p:spPr>
        <p:txBody>
          <a:bodyPr wrap="square" lIns="0" tIns="0" rIns="0" bIns="0" rtlCol="0" anchor="ctr"/>
          <a:lstStyle/>
          <a:p>
            <a:pPr indent="0" marL="0">
              <a:buNone/>
            </a:pPr>
            <a:r>
              <a:rPr lang="en-US" sz="1150" b="1" dirty="0">
                <a:solidFill>
                  <a:srgbClr val="B7791F"/>
                </a:solidFill>
                <a:latin typeface="Calibri" pitchFamily="34" charset="0"/>
                <a:ea typeface="Calibri" pitchFamily="34" charset="-122"/>
                <a:cs typeface="Calibri" pitchFamily="34" charset="-120"/>
              </a:rPr>
              <a:t>emit</a:t>
            </a:r>
            <a:endParaRPr lang="en-US" sz="1150" dirty="0"/>
          </a:p>
        </p:txBody>
      </p:sp>
      <p:sp>
        <p:nvSpPr>
          <p:cNvPr id="18" name="Text 15"/>
          <p:cNvSpPr txBox="1"/>
          <p:nvPr/>
        </p:nvSpPr>
        <p:spPr>
          <a:xfrm>
            <a:off x="822960" y="4846320"/>
            <a:ext cx="5029200" cy="777240"/>
          </a:xfrm>
          <a:prstGeom prst="rect">
            <a:avLst/>
          </a:prstGeom>
          <a:noFill/>
          <a:ln/>
        </p:spPr>
        <p:txBody>
          <a:bodyPr wrap="square" lIns="0" tIns="0" rIns="0" bIns="0" rtlCol="0" anchor="t"/>
          <a:lstStyle/>
          <a:p>
            <a:pPr algn="ctr" indent="0" marL="0">
              <a:lnSpc>
                <a:spcPct val="112000"/>
              </a:lnSpc>
              <a:buNone/>
            </a:pPr>
            <a:r>
              <a:rPr lang="en-US" sz="1150" dirty="0">
                <a:solidFill>
                  <a:srgbClr val="6B7C8C"/>
                </a:solidFill>
                <a:latin typeface="Calibri" pitchFamily="34" charset="0"/>
                <a:ea typeface="Calibri" pitchFamily="34" charset="-122"/>
                <a:cs typeface="Calibri" pitchFamily="34" charset="-120"/>
              </a:rPr>
              <a:t>Aliran data satu arah (one-way data flow): induk mengirim data ke anak lewat props, anak melapor ke induk lewat event.</a:t>
            </a:r>
            <a:endParaRPr lang="en-US" sz="1150" dirty="0"/>
          </a:p>
        </p:txBody>
      </p:sp>
      <p:sp>
        <p:nvSpPr>
          <p:cNvPr id="19" name="Shape 16"/>
          <p:cNvSpPr/>
          <p:nvPr/>
        </p:nvSpPr>
        <p:spPr>
          <a:xfrm>
            <a:off x="6400800" y="1554480"/>
            <a:ext cx="5239512" cy="749808"/>
          </a:xfrm>
          <a:prstGeom prst="roundRect">
            <a:avLst>
              <a:gd name="adj" fmla="val 1097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0" name="Shape 17"/>
          <p:cNvSpPr/>
          <p:nvPr/>
        </p:nvSpPr>
        <p:spPr>
          <a:xfrm>
            <a:off x="6601968" y="1709928"/>
            <a:ext cx="438912" cy="438912"/>
          </a:xfrm>
          <a:prstGeom prst="ellipse">
            <a:avLst/>
          </a:prstGeom>
          <a:solidFill>
            <a:srgbClr val="42B883"/>
          </a:solidFill>
          <a:ln w="12700">
            <a:solidFill>
              <a:srgbClr val="42B883"/>
            </a:solidFill>
            <a:prstDash val="solid"/>
          </a:ln>
        </p:spPr>
      </p:sp>
      <p:pic>
        <p:nvPicPr>
          <p:cNvPr id="21" name="Image 1" descr="preencoded.png">    </p:cNvPr>
          <p:cNvPicPr>
            <a:picLocks noChangeAspect="1"/>
          </p:cNvPicPr>
          <p:nvPr/>
        </p:nvPicPr>
        <p:blipFill>
          <a:blip r:embed="rId2"/>
          <a:stretch>
            <a:fillRect/>
          </a:stretch>
        </p:blipFill>
        <p:spPr>
          <a:xfrm>
            <a:off x="6724863" y="1832823"/>
            <a:ext cx="193121" cy="193121"/>
          </a:xfrm>
          <a:prstGeom prst="rect">
            <a:avLst/>
          </a:prstGeom>
        </p:spPr>
      </p:pic>
      <p:sp>
        <p:nvSpPr>
          <p:cNvPr id="22" name="Text 18"/>
          <p:cNvSpPr txBox="1"/>
          <p:nvPr/>
        </p:nvSpPr>
        <p:spPr>
          <a:xfrm>
            <a:off x="7178040" y="1627632"/>
            <a:ext cx="420624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Props</a:t>
            </a:r>
            <a:endParaRPr lang="en-US" sz="1350" dirty="0"/>
          </a:p>
        </p:txBody>
      </p:sp>
      <p:sp>
        <p:nvSpPr>
          <p:cNvPr id="23" name="Text 19"/>
          <p:cNvSpPr txBox="1"/>
          <p:nvPr/>
        </p:nvSpPr>
        <p:spPr>
          <a:xfrm>
            <a:off x="7178040" y="1901952"/>
            <a:ext cx="4279392" cy="365760"/>
          </a:xfrm>
          <a:prstGeom prst="rect">
            <a:avLst/>
          </a:prstGeom>
          <a:noFill/>
          <a:ln/>
        </p:spPr>
        <p:txBody>
          <a:bodyPr wrap="square" lIns="0" tIns="0" rIns="0" bIns="0" rtlCol="0" anchor="t"/>
          <a:lstStyle/>
          <a:p>
            <a:pPr indent="0" marL="0">
              <a:buNone/>
            </a:pPr>
            <a:r>
              <a:rPr lang="en-US" sz="1100" dirty="0">
                <a:solidFill>
                  <a:srgbClr val="6B7C8C"/>
                </a:solidFill>
                <a:latin typeface="Calibri" pitchFamily="34" charset="0"/>
                <a:ea typeface="Calibri" pitchFamily="34" charset="-122"/>
                <a:cs typeface="Calibri" pitchFamily="34" charset="-120"/>
              </a:rPr>
              <a:t>Induk → Anak. Mengirim data ke bawah, bersifat read-only bagi anak.</a:t>
            </a:r>
            <a:endParaRPr lang="en-US" sz="1100" dirty="0"/>
          </a:p>
        </p:txBody>
      </p:sp>
      <p:sp>
        <p:nvSpPr>
          <p:cNvPr id="24" name="Shape 20"/>
          <p:cNvSpPr/>
          <p:nvPr/>
        </p:nvSpPr>
        <p:spPr>
          <a:xfrm>
            <a:off x="6400800" y="2432304"/>
            <a:ext cx="5239512" cy="749808"/>
          </a:xfrm>
          <a:prstGeom prst="roundRect">
            <a:avLst>
              <a:gd name="adj" fmla="val 1097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5" name="Shape 21"/>
          <p:cNvSpPr/>
          <p:nvPr/>
        </p:nvSpPr>
        <p:spPr>
          <a:xfrm>
            <a:off x="6601968" y="2587752"/>
            <a:ext cx="438912" cy="438912"/>
          </a:xfrm>
          <a:prstGeom prst="ellipse">
            <a:avLst/>
          </a:prstGeom>
          <a:solidFill>
            <a:srgbClr val="42B883"/>
          </a:solidFill>
          <a:ln w="12700">
            <a:solidFill>
              <a:srgbClr val="42B883"/>
            </a:solidFill>
            <a:prstDash val="solid"/>
          </a:ln>
        </p:spPr>
      </p:sp>
      <p:pic>
        <p:nvPicPr>
          <p:cNvPr id="26" name="Image 2" descr="preencoded.png">    </p:cNvPr>
          <p:cNvPicPr>
            <a:picLocks noChangeAspect="1"/>
          </p:cNvPicPr>
          <p:nvPr/>
        </p:nvPicPr>
        <p:blipFill>
          <a:blip r:embed="rId3"/>
          <a:stretch>
            <a:fillRect/>
          </a:stretch>
        </p:blipFill>
        <p:spPr>
          <a:xfrm>
            <a:off x="6724863" y="2710647"/>
            <a:ext cx="193121" cy="193121"/>
          </a:xfrm>
          <a:prstGeom prst="rect">
            <a:avLst/>
          </a:prstGeom>
        </p:spPr>
      </p:pic>
      <p:sp>
        <p:nvSpPr>
          <p:cNvPr id="27" name="Text 22"/>
          <p:cNvSpPr txBox="1"/>
          <p:nvPr/>
        </p:nvSpPr>
        <p:spPr>
          <a:xfrm>
            <a:off x="7178040" y="2505456"/>
            <a:ext cx="420624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Emits</a:t>
            </a:r>
            <a:endParaRPr lang="en-US" sz="1350" dirty="0"/>
          </a:p>
        </p:txBody>
      </p:sp>
      <p:sp>
        <p:nvSpPr>
          <p:cNvPr id="28" name="Text 23"/>
          <p:cNvSpPr txBox="1"/>
          <p:nvPr/>
        </p:nvSpPr>
        <p:spPr>
          <a:xfrm>
            <a:off x="7178040" y="2779776"/>
            <a:ext cx="4279392" cy="365760"/>
          </a:xfrm>
          <a:prstGeom prst="rect">
            <a:avLst/>
          </a:prstGeom>
          <a:noFill/>
          <a:ln/>
        </p:spPr>
        <p:txBody>
          <a:bodyPr wrap="square" lIns="0" tIns="0" rIns="0" bIns="0" rtlCol="0" anchor="t"/>
          <a:lstStyle/>
          <a:p>
            <a:pPr indent="0" marL="0">
              <a:buNone/>
            </a:pPr>
            <a:r>
              <a:rPr lang="en-US" sz="1100" dirty="0">
                <a:solidFill>
                  <a:srgbClr val="6B7C8C"/>
                </a:solidFill>
                <a:latin typeface="Calibri" pitchFamily="34" charset="0"/>
                <a:ea typeface="Calibri" pitchFamily="34" charset="-122"/>
                <a:cs typeface="Calibri" pitchFamily="34" charset="-120"/>
              </a:rPr>
              <a:t>Anak → Induk. Anak memancarkan event kustom yang ditangkap induk.</a:t>
            </a:r>
            <a:endParaRPr lang="en-US" sz="1100" dirty="0"/>
          </a:p>
        </p:txBody>
      </p:sp>
      <p:sp>
        <p:nvSpPr>
          <p:cNvPr id="29" name="Shape 24"/>
          <p:cNvSpPr/>
          <p:nvPr/>
        </p:nvSpPr>
        <p:spPr>
          <a:xfrm>
            <a:off x="6400800" y="3310128"/>
            <a:ext cx="5239512" cy="749808"/>
          </a:xfrm>
          <a:prstGeom prst="roundRect">
            <a:avLst>
              <a:gd name="adj" fmla="val 1097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0" name="Shape 25"/>
          <p:cNvSpPr/>
          <p:nvPr/>
        </p:nvSpPr>
        <p:spPr>
          <a:xfrm>
            <a:off x="6601968" y="3465576"/>
            <a:ext cx="438912" cy="438912"/>
          </a:xfrm>
          <a:prstGeom prst="ellipse">
            <a:avLst/>
          </a:prstGeom>
          <a:solidFill>
            <a:srgbClr val="42B883"/>
          </a:solidFill>
          <a:ln w="12700">
            <a:solidFill>
              <a:srgbClr val="42B883"/>
            </a:solidFill>
            <a:prstDash val="solid"/>
          </a:ln>
        </p:spPr>
      </p:sp>
      <p:pic>
        <p:nvPicPr>
          <p:cNvPr id="31" name="Image 3" descr="preencoded.png">    </p:cNvPr>
          <p:cNvPicPr>
            <a:picLocks noChangeAspect="1"/>
          </p:cNvPicPr>
          <p:nvPr/>
        </p:nvPicPr>
        <p:blipFill>
          <a:blip r:embed="rId4"/>
          <a:stretch>
            <a:fillRect/>
          </a:stretch>
        </p:blipFill>
        <p:spPr>
          <a:xfrm>
            <a:off x="6724863" y="3588471"/>
            <a:ext cx="193121" cy="193121"/>
          </a:xfrm>
          <a:prstGeom prst="rect">
            <a:avLst/>
          </a:prstGeom>
        </p:spPr>
      </p:pic>
      <p:sp>
        <p:nvSpPr>
          <p:cNvPr id="32" name="Text 26"/>
          <p:cNvSpPr txBox="1"/>
          <p:nvPr/>
        </p:nvSpPr>
        <p:spPr>
          <a:xfrm>
            <a:off x="7178040" y="3383280"/>
            <a:ext cx="420624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Slots</a:t>
            </a:r>
            <a:endParaRPr lang="en-US" sz="1350" dirty="0"/>
          </a:p>
        </p:txBody>
      </p:sp>
      <p:sp>
        <p:nvSpPr>
          <p:cNvPr id="33" name="Text 27"/>
          <p:cNvSpPr txBox="1"/>
          <p:nvPr/>
        </p:nvSpPr>
        <p:spPr>
          <a:xfrm>
            <a:off x="7178040" y="3657600"/>
            <a:ext cx="4279392" cy="365760"/>
          </a:xfrm>
          <a:prstGeom prst="rect">
            <a:avLst/>
          </a:prstGeom>
          <a:noFill/>
          <a:ln/>
        </p:spPr>
        <p:txBody>
          <a:bodyPr wrap="square" lIns="0" tIns="0" rIns="0" bIns="0" rtlCol="0" anchor="t"/>
          <a:lstStyle/>
          <a:p>
            <a:pPr indent="0" marL="0">
              <a:buNone/>
            </a:pPr>
            <a:r>
              <a:rPr lang="en-US" sz="1100" dirty="0">
                <a:solidFill>
                  <a:srgbClr val="6B7C8C"/>
                </a:solidFill>
                <a:latin typeface="Calibri" pitchFamily="34" charset="0"/>
                <a:ea typeface="Calibri" pitchFamily="34" charset="-122"/>
                <a:cs typeface="Calibri" pitchFamily="34" charset="-120"/>
              </a:rPr>
              <a:t>Induk menyisipkan potongan template ke dalam komponen anak.</a:t>
            </a:r>
            <a:endParaRPr lang="en-US" sz="1100" dirty="0"/>
          </a:p>
        </p:txBody>
      </p:sp>
      <p:sp>
        <p:nvSpPr>
          <p:cNvPr id="34" name="Shape 28"/>
          <p:cNvSpPr/>
          <p:nvPr/>
        </p:nvSpPr>
        <p:spPr>
          <a:xfrm>
            <a:off x="6400800" y="4187952"/>
            <a:ext cx="5239512" cy="749808"/>
          </a:xfrm>
          <a:prstGeom prst="roundRect">
            <a:avLst>
              <a:gd name="adj" fmla="val 1097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5" name="Shape 29"/>
          <p:cNvSpPr/>
          <p:nvPr/>
        </p:nvSpPr>
        <p:spPr>
          <a:xfrm>
            <a:off x="6601968" y="4343400"/>
            <a:ext cx="438912" cy="438912"/>
          </a:xfrm>
          <a:prstGeom prst="ellipse">
            <a:avLst/>
          </a:prstGeom>
          <a:solidFill>
            <a:srgbClr val="42B883"/>
          </a:solidFill>
          <a:ln w="12700">
            <a:solidFill>
              <a:srgbClr val="42B883"/>
            </a:solidFill>
            <a:prstDash val="solid"/>
          </a:ln>
        </p:spPr>
      </p:sp>
      <p:pic>
        <p:nvPicPr>
          <p:cNvPr id="36" name="Image 4" descr="preencoded.png">    </p:cNvPr>
          <p:cNvPicPr>
            <a:picLocks noChangeAspect="1"/>
          </p:cNvPicPr>
          <p:nvPr/>
        </p:nvPicPr>
        <p:blipFill>
          <a:blip r:embed="rId5"/>
          <a:stretch>
            <a:fillRect/>
          </a:stretch>
        </p:blipFill>
        <p:spPr>
          <a:xfrm>
            <a:off x="6724863" y="4466295"/>
            <a:ext cx="193121" cy="193121"/>
          </a:xfrm>
          <a:prstGeom prst="rect">
            <a:avLst/>
          </a:prstGeom>
        </p:spPr>
      </p:pic>
      <p:sp>
        <p:nvSpPr>
          <p:cNvPr id="37" name="Text 30"/>
          <p:cNvSpPr txBox="1"/>
          <p:nvPr/>
        </p:nvSpPr>
        <p:spPr>
          <a:xfrm>
            <a:off x="7178040" y="4261104"/>
            <a:ext cx="420624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Provide / Inject</a:t>
            </a:r>
            <a:endParaRPr lang="en-US" sz="1350" dirty="0"/>
          </a:p>
        </p:txBody>
      </p:sp>
      <p:sp>
        <p:nvSpPr>
          <p:cNvPr id="38" name="Text 31"/>
          <p:cNvSpPr txBox="1"/>
          <p:nvPr/>
        </p:nvSpPr>
        <p:spPr>
          <a:xfrm>
            <a:off x="7178040" y="4535424"/>
            <a:ext cx="4279392" cy="365760"/>
          </a:xfrm>
          <a:prstGeom prst="rect">
            <a:avLst/>
          </a:prstGeom>
          <a:noFill/>
          <a:ln/>
        </p:spPr>
        <p:txBody>
          <a:bodyPr wrap="square" lIns="0" tIns="0" rIns="0" bIns="0" rtlCol="0" anchor="t"/>
          <a:lstStyle/>
          <a:p>
            <a:pPr indent="0" marL="0">
              <a:buNone/>
            </a:pPr>
            <a:r>
              <a:rPr lang="en-US" sz="1100" dirty="0">
                <a:solidFill>
                  <a:srgbClr val="6B7C8C"/>
                </a:solidFill>
                <a:latin typeface="Calibri" pitchFamily="34" charset="0"/>
                <a:ea typeface="Calibri" pitchFamily="34" charset="-122"/>
                <a:cs typeface="Calibri" pitchFamily="34" charset="-120"/>
              </a:rPr>
              <a:t>Induk membagikan data ke seluruh keturunan tanpa lewat setiap level.</a:t>
            </a:r>
            <a:endParaRPr lang="en-US" sz="1100" dirty="0"/>
          </a:p>
        </p:txBody>
      </p:sp>
      <p:sp>
        <p:nvSpPr>
          <p:cNvPr id="39" name="Shape 32"/>
          <p:cNvSpPr/>
          <p:nvPr/>
        </p:nvSpPr>
        <p:spPr>
          <a:xfrm>
            <a:off x="6400800" y="5065776"/>
            <a:ext cx="5239512" cy="749808"/>
          </a:xfrm>
          <a:prstGeom prst="roundRect">
            <a:avLst>
              <a:gd name="adj" fmla="val 1097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0" name="Shape 33"/>
          <p:cNvSpPr/>
          <p:nvPr/>
        </p:nvSpPr>
        <p:spPr>
          <a:xfrm>
            <a:off x="6601968" y="5221224"/>
            <a:ext cx="438912" cy="438912"/>
          </a:xfrm>
          <a:prstGeom prst="ellipse">
            <a:avLst/>
          </a:prstGeom>
          <a:solidFill>
            <a:srgbClr val="42B883"/>
          </a:solidFill>
          <a:ln w="12700">
            <a:solidFill>
              <a:srgbClr val="42B883"/>
            </a:solidFill>
            <a:prstDash val="solid"/>
          </a:ln>
        </p:spPr>
      </p:sp>
      <p:pic>
        <p:nvPicPr>
          <p:cNvPr id="41" name="Image 5" descr="preencoded.png">    </p:cNvPr>
          <p:cNvPicPr>
            <a:picLocks noChangeAspect="1"/>
          </p:cNvPicPr>
          <p:nvPr/>
        </p:nvPicPr>
        <p:blipFill>
          <a:blip r:embed="rId6"/>
          <a:stretch>
            <a:fillRect/>
          </a:stretch>
        </p:blipFill>
        <p:spPr>
          <a:xfrm>
            <a:off x="6724863" y="5344119"/>
            <a:ext cx="193121" cy="193121"/>
          </a:xfrm>
          <a:prstGeom prst="rect">
            <a:avLst/>
          </a:prstGeom>
        </p:spPr>
      </p:pic>
      <p:sp>
        <p:nvSpPr>
          <p:cNvPr id="42" name="Text 34"/>
          <p:cNvSpPr txBox="1"/>
          <p:nvPr/>
        </p:nvSpPr>
        <p:spPr>
          <a:xfrm>
            <a:off x="7178040" y="5138928"/>
            <a:ext cx="420624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Pinia Store</a:t>
            </a:r>
            <a:endParaRPr lang="en-US" sz="1350" dirty="0"/>
          </a:p>
        </p:txBody>
      </p:sp>
      <p:sp>
        <p:nvSpPr>
          <p:cNvPr id="43" name="Text 35"/>
          <p:cNvSpPr txBox="1"/>
          <p:nvPr/>
        </p:nvSpPr>
        <p:spPr>
          <a:xfrm>
            <a:off x="7178040" y="5413248"/>
            <a:ext cx="4279392" cy="365760"/>
          </a:xfrm>
          <a:prstGeom prst="rect">
            <a:avLst/>
          </a:prstGeom>
          <a:noFill/>
          <a:ln/>
        </p:spPr>
        <p:txBody>
          <a:bodyPr wrap="square" lIns="0" tIns="0" rIns="0" bIns="0" rtlCol="0" anchor="t"/>
          <a:lstStyle/>
          <a:p>
            <a:pPr indent="0" marL="0">
              <a:buNone/>
            </a:pPr>
            <a:r>
              <a:rPr lang="en-US" sz="1100" dirty="0">
                <a:solidFill>
                  <a:srgbClr val="6B7C8C"/>
                </a:solidFill>
                <a:latin typeface="Calibri" pitchFamily="34" charset="0"/>
                <a:ea typeface="Calibri" pitchFamily="34" charset="-122"/>
                <a:cs typeface="Calibri" pitchFamily="34" charset="-120"/>
              </a:rPr>
              <a:t>State global yang bisa diakses komponen mana pun di aplikasi.</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Props — Mengirim Data ke Komponen Anak</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Antarmuka masuk (input) sebuah komponen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KOMPONEN ANAK · KartuMahasiswa.vue</a:t>
            </a:r>
            <a:endParaRPr lang="en-US" sz="1150" dirty="0"/>
          </a:p>
        </p:txBody>
      </p:sp>
      <p:sp>
        <p:nvSpPr>
          <p:cNvPr id="6" name="Shape 3"/>
          <p:cNvSpPr/>
          <p:nvPr/>
        </p:nvSpPr>
        <p:spPr>
          <a:xfrm>
            <a:off x="548640" y="1755648"/>
            <a:ext cx="5394960" cy="2895210"/>
          </a:xfrm>
          <a:prstGeom prst="roundRect">
            <a:avLst>
              <a:gd name="adj" fmla="val 2211"/>
            </a:avLst>
          </a:prstGeom>
          <a:solidFill>
            <a:srgbClr val="253340"/>
          </a:solidFill>
          <a:ln w="12700">
            <a:solidFill>
              <a:srgbClr val="253340"/>
            </a:solidFill>
            <a:prstDash val="solid"/>
          </a:ln>
        </p:spPr>
      </p:sp>
      <p:sp>
        <p:nvSpPr>
          <p:cNvPr id="7" name="Text 4"/>
          <p:cNvSpPr txBox="1"/>
          <p:nvPr/>
        </p:nvSpPr>
        <p:spPr>
          <a:xfrm>
            <a:off x="676656" y="1874520"/>
            <a:ext cx="5138928" cy="2657466"/>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deklarasi props dengan validasi</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props = defineProps({</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nama:  { type: String, required: true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nim:   { type: String, default: "-"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nilai: { type: Number, default: 0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aktif: { type: Boolean, default: true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&lt;h3&gt;{{ nama }}&lt;/h3&gt;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&lt;p&gt;NIM: {{ nim }} — Nilai: {{ nilai }}&lt;/p&gt;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8" name="Text 5"/>
          <p:cNvSpPr txBox="1"/>
          <p:nvPr/>
        </p:nvSpPr>
        <p:spPr>
          <a:xfrm>
            <a:off x="6245352"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KOMPONEN INDUK · App.vue</a:t>
            </a:r>
            <a:endParaRPr lang="en-US" sz="1150" dirty="0"/>
          </a:p>
        </p:txBody>
      </p:sp>
      <p:sp>
        <p:nvSpPr>
          <p:cNvPr id="9" name="Shape 6"/>
          <p:cNvSpPr/>
          <p:nvPr/>
        </p:nvSpPr>
        <p:spPr>
          <a:xfrm>
            <a:off x="6245352" y="1755648"/>
            <a:ext cx="5394960" cy="3083723"/>
          </a:xfrm>
          <a:prstGeom prst="roundRect">
            <a:avLst>
              <a:gd name="adj" fmla="val 2076"/>
            </a:avLst>
          </a:prstGeom>
          <a:solidFill>
            <a:srgbClr val="253340"/>
          </a:solidFill>
          <a:ln w="12700">
            <a:solidFill>
              <a:srgbClr val="253340"/>
            </a:solidFill>
            <a:prstDash val="solid"/>
          </a:ln>
        </p:spPr>
      </p:sp>
      <p:sp>
        <p:nvSpPr>
          <p:cNvPr id="10" name="Text 7"/>
          <p:cNvSpPr txBox="1"/>
          <p:nvPr/>
        </p:nvSpPr>
        <p:spPr>
          <a:xfrm>
            <a:off x="6373368" y="1874520"/>
            <a:ext cx="5138928" cy="2845979"/>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KartuMahasiswa from "./KartuMahasiswa.vue";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daftar = ref([</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 id: 1, nama: "Budi", nim: "101", nilai: 88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 nilai statis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&lt;KartuMahasiswa nama="Ani" nim="102"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 nilai dinamis: pakai v-bind (:)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&lt;KartuMahasiswa v-for="m in daftar" :key="m.id"</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:nama="m.nama" :nim="m.nim" :nilai="m.nilai"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11" name="Shape 8"/>
          <p:cNvSpPr/>
          <p:nvPr/>
        </p:nvSpPr>
        <p:spPr>
          <a:xfrm>
            <a:off x="548640" y="5230368"/>
            <a:ext cx="3575304" cy="1078992"/>
          </a:xfrm>
          <a:prstGeom prst="roundRect">
            <a:avLst>
              <a:gd name="adj" fmla="val 762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Shape 9"/>
          <p:cNvSpPr/>
          <p:nvPr/>
        </p:nvSpPr>
        <p:spPr>
          <a:xfrm>
            <a:off x="768096" y="5394960"/>
            <a:ext cx="420624" cy="420624"/>
          </a:xfrm>
          <a:prstGeom prst="ellipse">
            <a:avLst/>
          </a:prstGeom>
          <a:solidFill>
            <a:srgbClr val="42B883"/>
          </a:solidFill>
          <a:ln w="12700">
            <a:solidFill>
              <a:srgbClr val="42B883"/>
            </a:solidFill>
            <a:prstDash val="solid"/>
          </a:ln>
        </p:spPr>
      </p:sp>
      <p:pic>
        <p:nvPicPr>
          <p:cNvPr id="13" name="Image 1" descr="preencoded.png">    </p:cNvPr>
          <p:cNvPicPr>
            <a:picLocks noChangeAspect="1"/>
          </p:cNvPicPr>
          <p:nvPr/>
        </p:nvPicPr>
        <p:blipFill>
          <a:blip r:embed="rId2"/>
          <a:stretch>
            <a:fillRect/>
          </a:stretch>
        </p:blipFill>
        <p:spPr>
          <a:xfrm>
            <a:off x="885871" y="5512735"/>
            <a:ext cx="185075" cy="185075"/>
          </a:xfrm>
          <a:prstGeom prst="rect">
            <a:avLst/>
          </a:prstGeom>
        </p:spPr>
      </p:pic>
      <p:sp>
        <p:nvSpPr>
          <p:cNvPr id="14" name="Text 10"/>
          <p:cNvSpPr txBox="1"/>
          <p:nvPr/>
        </p:nvSpPr>
        <p:spPr>
          <a:xfrm>
            <a:off x="1280160" y="5376672"/>
            <a:ext cx="2651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Read-Only</a:t>
            </a:r>
            <a:endParaRPr lang="en-US" sz="1350" dirty="0"/>
          </a:p>
        </p:txBody>
      </p:sp>
      <p:sp>
        <p:nvSpPr>
          <p:cNvPr id="15" name="Text 11"/>
          <p:cNvSpPr txBox="1"/>
          <p:nvPr/>
        </p:nvSpPr>
        <p:spPr>
          <a:xfrm>
            <a:off x="768096" y="5760720"/>
            <a:ext cx="3154680" cy="530352"/>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Props tidak boleh diubah langsung oleh anak. Salin ke ref lokal bila perlu diubah.</a:t>
            </a:r>
            <a:endParaRPr lang="en-US" sz="1100" dirty="0"/>
          </a:p>
        </p:txBody>
      </p:sp>
      <p:sp>
        <p:nvSpPr>
          <p:cNvPr id="16" name="Shape 12"/>
          <p:cNvSpPr/>
          <p:nvPr/>
        </p:nvSpPr>
        <p:spPr>
          <a:xfrm>
            <a:off x="4306824" y="5230368"/>
            <a:ext cx="3575304" cy="1078992"/>
          </a:xfrm>
          <a:prstGeom prst="roundRect">
            <a:avLst>
              <a:gd name="adj" fmla="val 762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7" name="Shape 13"/>
          <p:cNvSpPr/>
          <p:nvPr/>
        </p:nvSpPr>
        <p:spPr>
          <a:xfrm>
            <a:off x="4526280" y="5394960"/>
            <a:ext cx="420624" cy="420624"/>
          </a:xfrm>
          <a:prstGeom prst="ellipse">
            <a:avLst/>
          </a:prstGeom>
          <a:solidFill>
            <a:srgbClr val="42B883"/>
          </a:solidFill>
          <a:ln w="12700">
            <a:solidFill>
              <a:srgbClr val="42B883"/>
            </a:solidFill>
            <a:prstDash val="solid"/>
          </a:ln>
        </p:spPr>
      </p:sp>
      <p:pic>
        <p:nvPicPr>
          <p:cNvPr id="18" name="Image 2" descr="preencoded.png">    </p:cNvPr>
          <p:cNvPicPr>
            <a:picLocks noChangeAspect="1"/>
          </p:cNvPicPr>
          <p:nvPr/>
        </p:nvPicPr>
        <p:blipFill>
          <a:blip r:embed="rId3"/>
          <a:stretch>
            <a:fillRect/>
          </a:stretch>
        </p:blipFill>
        <p:spPr>
          <a:xfrm>
            <a:off x="4644055" y="5512735"/>
            <a:ext cx="185075" cy="185075"/>
          </a:xfrm>
          <a:prstGeom prst="rect">
            <a:avLst/>
          </a:prstGeom>
        </p:spPr>
      </p:pic>
      <p:sp>
        <p:nvSpPr>
          <p:cNvPr id="19" name="Text 14"/>
          <p:cNvSpPr txBox="1"/>
          <p:nvPr/>
        </p:nvSpPr>
        <p:spPr>
          <a:xfrm>
            <a:off x="5038344" y="5376672"/>
            <a:ext cx="2651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Validasi Tipe</a:t>
            </a:r>
            <a:endParaRPr lang="en-US" sz="1350" dirty="0"/>
          </a:p>
        </p:txBody>
      </p:sp>
      <p:sp>
        <p:nvSpPr>
          <p:cNvPr id="20" name="Text 15"/>
          <p:cNvSpPr txBox="1"/>
          <p:nvPr/>
        </p:nvSpPr>
        <p:spPr>
          <a:xfrm>
            <a:off x="4526280" y="5760720"/>
            <a:ext cx="3154680" cy="530352"/>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type, required, default, dan validator membantu mencegah bug sejak awal.</a:t>
            </a:r>
            <a:endParaRPr lang="en-US" sz="1100" dirty="0"/>
          </a:p>
        </p:txBody>
      </p:sp>
      <p:sp>
        <p:nvSpPr>
          <p:cNvPr id="21" name="Shape 16"/>
          <p:cNvSpPr/>
          <p:nvPr/>
        </p:nvSpPr>
        <p:spPr>
          <a:xfrm>
            <a:off x="8065008" y="5230368"/>
            <a:ext cx="3575304" cy="1078992"/>
          </a:xfrm>
          <a:prstGeom prst="roundRect">
            <a:avLst>
              <a:gd name="adj" fmla="val 7627"/>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2" name="Shape 17"/>
          <p:cNvSpPr/>
          <p:nvPr/>
        </p:nvSpPr>
        <p:spPr>
          <a:xfrm>
            <a:off x="8284464" y="5394960"/>
            <a:ext cx="420624" cy="420624"/>
          </a:xfrm>
          <a:prstGeom prst="ellipse">
            <a:avLst/>
          </a:prstGeom>
          <a:solidFill>
            <a:srgbClr val="42B883"/>
          </a:solidFill>
          <a:ln w="12700">
            <a:solidFill>
              <a:srgbClr val="42B883"/>
            </a:solidFill>
            <a:prstDash val="solid"/>
          </a:ln>
        </p:spPr>
      </p:sp>
      <p:pic>
        <p:nvPicPr>
          <p:cNvPr id="23" name="Image 3" descr="preencoded.png">    </p:cNvPr>
          <p:cNvPicPr>
            <a:picLocks noChangeAspect="1"/>
          </p:cNvPicPr>
          <p:nvPr/>
        </p:nvPicPr>
        <p:blipFill>
          <a:blip r:embed="rId4"/>
          <a:stretch>
            <a:fillRect/>
          </a:stretch>
        </p:blipFill>
        <p:spPr>
          <a:xfrm>
            <a:off x="8402239" y="5512735"/>
            <a:ext cx="185075" cy="185075"/>
          </a:xfrm>
          <a:prstGeom prst="rect">
            <a:avLst/>
          </a:prstGeom>
        </p:spPr>
      </p:pic>
      <p:sp>
        <p:nvSpPr>
          <p:cNvPr id="24" name="Text 18"/>
          <p:cNvSpPr txBox="1"/>
          <p:nvPr/>
        </p:nvSpPr>
        <p:spPr>
          <a:xfrm>
            <a:off x="8796528" y="5376672"/>
            <a:ext cx="2651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Penamaan</a:t>
            </a:r>
            <a:endParaRPr lang="en-US" sz="1350" dirty="0"/>
          </a:p>
        </p:txBody>
      </p:sp>
      <p:sp>
        <p:nvSpPr>
          <p:cNvPr id="25" name="Text 19"/>
          <p:cNvSpPr txBox="1"/>
          <p:nvPr/>
        </p:nvSpPr>
        <p:spPr>
          <a:xfrm>
            <a:off x="8284464" y="5760720"/>
            <a:ext cx="3154680" cy="530352"/>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Tulis camelCase di script, kebab-case saat dipakai di template HTML.</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Emits — Mengirim Event ke Induk</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Antarmuka keluar (output) sebuah komponen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KOMPONEN ANAK · TombolHapus.vue</a:t>
            </a:r>
            <a:endParaRPr lang="en-US" sz="1150" dirty="0"/>
          </a:p>
        </p:txBody>
      </p:sp>
      <p:sp>
        <p:nvSpPr>
          <p:cNvPr id="6" name="Shape 3"/>
          <p:cNvSpPr/>
          <p:nvPr/>
        </p:nvSpPr>
        <p:spPr>
          <a:xfrm>
            <a:off x="548640" y="1755648"/>
            <a:ext cx="5394960" cy="3272235"/>
          </a:xfrm>
          <a:prstGeom prst="roundRect">
            <a:avLst>
              <a:gd name="adj" fmla="val 1956"/>
            </a:avLst>
          </a:prstGeom>
          <a:solidFill>
            <a:srgbClr val="253340"/>
          </a:solidFill>
          <a:ln w="12700">
            <a:solidFill>
              <a:srgbClr val="253340"/>
            </a:solidFill>
            <a:prstDash val="solid"/>
          </a:ln>
        </p:spPr>
      </p:sp>
      <p:sp>
        <p:nvSpPr>
          <p:cNvPr id="7" name="Text 4"/>
          <p:cNvSpPr txBox="1"/>
          <p:nvPr/>
        </p:nvSpPr>
        <p:spPr>
          <a:xfrm>
            <a:off x="676656" y="1874520"/>
            <a:ext cx="5138928" cy="3034491"/>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defineProps({ id: Number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deklarasikan event yang dipancarkan</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emit = defineEmits(["hapus", "ubah"]);</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function konfirmasiHapus(id)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if (confirm("Yakin hapus?"))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emit("hapus", id);   // kirim ke induk</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&lt;button @click="konfirmasiHapus(id)"&gt;Hapus&lt;/button&gt;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8" name="Text 5"/>
          <p:cNvSpPr txBox="1"/>
          <p:nvPr/>
        </p:nvSpPr>
        <p:spPr>
          <a:xfrm>
            <a:off x="6245352"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KOMPONEN INDUK · App.vue</a:t>
            </a:r>
            <a:endParaRPr lang="en-US" sz="1150" dirty="0"/>
          </a:p>
        </p:txBody>
      </p:sp>
      <p:sp>
        <p:nvSpPr>
          <p:cNvPr id="9" name="Shape 6"/>
          <p:cNvSpPr/>
          <p:nvPr/>
        </p:nvSpPr>
        <p:spPr>
          <a:xfrm>
            <a:off x="6245352" y="1755648"/>
            <a:ext cx="5394960" cy="3083723"/>
          </a:xfrm>
          <a:prstGeom prst="roundRect">
            <a:avLst>
              <a:gd name="adj" fmla="val 2076"/>
            </a:avLst>
          </a:prstGeom>
          <a:solidFill>
            <a:srgbClr val="253340"/>
          </a:solidFill>
          <a:ln w="12700">
            <a:solidFill>
              <a:srgbClr val="253340"/>
            </a:solidFill>
            <a:prstDash val="solid"/>
          </a:ln>
        </p:spPr>
      </p:sp>
      <p:sp>
        <p:nvSpPr>
          <p:cNvPr id="10" name="Text 7"/>
          <p:cNvSpPr txBox="1"/>
          <p:nvPr/>
        </p:nvSpPr>
        <p:spPr>
          <a:xfrm>
            <a:off x="6373368" y="1874520"/>
            <a:ext cx="5138928" cy="2845979"/>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 setup&gt;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import TombolHapus from "./TombolHapus.vue";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const daftar = ref([...]);</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tangani event dari anak</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function hapusData(id)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daftar.value = daftar.value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.filter(item =&gt; item.id !== id);</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&lt;/script&gt;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&lt;TombolHapus :id="item.id"</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@hapus="hapusData"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11" name="Shape 8"/>
          <p:cNvSpPr/>
          <p:nvPr/>
        </p:nvSpPr>
        <p:spPr>
          <a:xfrm>
            <a:off x="548640" y="5413248"/>
            <a:ext cx="11091672" cy="914400"/>
          </a:xfrm>
          <a:prstGeom prst="roundRect">
            <a:avLst>
              <a:gd name="adj" fmla="val 9000"/>
            </a:avLst>
          </a:prstGeom>
          <a:solidFill>
            <a:srgbClr val="E9F5EF"/>
          </a:solidFill>
          <a:ln w="12700">
            <a:solidFill>
              <a:srgbClr val="333333"/>
            </a:solidFill>
            <a:prstDash val="solid"/>
          </a:ln>
        </p:spPr>
      </p:sp>
      <p:sp>
        <p:nvSpPr>
          <p:cNvPr id="12" name="Shape 9"/>
          <p:cNvSpPr/>
          <p:nvPr/>
        </p:nvSpPr>
        <p:spPr>
          <a:xfrm>
            <a:off x="822960" y="5541264"/>
            <a:ext cx="438912" cy="438912"/>
          </a:xfrm>
          <a:prstGeom prst="ellipse">
            <a:avLst/>
          </a:prstGeom>
          <a:solidFill>
            <a:srgbClr val="42B883"/>
          </a:solidFill>
          <a:ln w="12700">
            <a:solidFill>
              <a:srgbClr val="42B883"/>
            </a:solidFill>
            <a:prstDash val="solid"/>
          </a:ln>
        </p:spPr>
      </p:sp>
      <p:pic>
        <p:nvPicPr>
          <p:cNvPr id="13" name="Image 1" descr="preencoded.png">    </p:cNvPr>
          <p:cNvPicPr>
            <a:picLocks noChangeAspect="1"/>
          </p:cNvPicPr>
          <p:nvPr/>
        </p:nvPicPr>
        <p:blipFill>
          <a:blip r:embed="rId2"/>
          <a:stretch>
            <a:fillRect/>
          </a:stretch>
        </p:blipFill>
        <p:spPr>
          <a:xfrm>
            <a:off x="945855" y="5664159"/>
            <a:ext cx="193121" cy="193121"/>
          </a:xfrm>
          <a:prstGeom prst="rect">
            <a:avLst/>
          </a:prstGeom>
        </p:spPr>
      </p:pic>
      <p:sp>
        <p:nvSpPr>
          <p:cNvPr id="14" name="Text 10"/>
          <p:cNvSpPr txBox="1"/>
          <p:nvPr/>
        </p:nvSpPr>
        <p:spPr>
          <a:xfrm>
            <a:off x="1426464" y="5504688"/>
            <a:ext cx="54864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Membuat v-model pada komponen kustom</a:t>
            </a:r>
            <a:endParaRPr lang="en-US" sz="1350" dirty="0"/>
          </a:p>
        </p:txBody>
      </p:sp>
      <p:sp>
        <p:nvSpPr>
          <p:cNvPr id="15" name="Text 11"/>
          <p:cNvSpPr txBox="1"/>
          <p:nvPr/>
        </p:nvSpPr>
        <p:spPr>
          <a:xfrm>
            <a:off x="1426464" y="5797296"/>
            <a:ext cx="10012680" cy="457200"/>
          </a:xfrm>
          <a:prstGeom prst="rect">
            <a:avLst/>
          </a:prstGeom>
          <a:noFill/>
          <a:ln/>
        </p:spPr>
        <p:txBody>
          <a:bodyPr wrap="square" lIns="0" tIns="0" rIns="0" bIns="0" rtlCol="0" anchor="t"/>
          <a:lstStyle/>
          <a:p>
            <a:pPr indent="0" marL="0">
              <a:lnSpc>
                <a:spcPct val="112000"/>
              </a:lnSpc>
              <a:buNone/>
            </a:pPr>
            <a:r>
              <a:rPr lang="en-US" sz="1150" dirty="0">
                <a:solidFill>
                  <a:srgbClr val="35495E"/>
                </a:solidFill>
                <a:latin typeface="Calibri" pitchFamily="34" charset="0"/>
                <a:ea typeface="Calibri" pitchFamily="34" charset="-122"/>
                <a:cs typeface="Calibri" pitchFamily="34" charset="-120"/>
              </a:rPr>
              <a:t>Gabungkan prop bernama modelValue dengan event update:modelValue, maka komponen kita bisa dipakai dengan v-model layaknya input bawaan. Vue 3.4+ menyediakan makro defineModel() yang menyederhanakan pola ini menjadi satu baris.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Slots — Menyisipkan Konten</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Membuat komponen fleksibel yang isinya ditentukan oleh induk</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DEFINISI SLOT · Kartu.vue</a:t>
            </a:r>
            <a:endParaRPr lang="en-US" sz="1150" dirty="0"/>
          </a:p>
        </p:txBody>
      </p:sp>
      <p:sp>
        <p:nvSpPr>
          <p:cNvPr id="6" name="Shape 3"/>
          <p:cNvSpPr/>
          <p:nvPr/>
        </p:nvSpPr>
        <p:spPr>
          <a:xfrm>
            <a:off x="548640" y="1755648"/>
            <a:ext cx="5394960" cy="2895210"/>
          </a:xfrm>
          <a:prstGeom prst="roundRect">
            <a:avLst>
              <a:gd name="adj" fmla="val 2211"/>
            </a:avLst>
          </a:prstGeom>
          <a:solidFill>
            <a:srgbClr val="253340"/>
          </a:solidFill>
          <a:ln w="12700">
            <a:solidFill>
              <a:srgbClr val="253340"/>
            </a:solidFill>
            <a:prstDash val="solid"/>
          </a:ln>
        </p:spPr>
      </p:sp>
      <p:sp>
        <p:nvSpPr>
          <p:cNvPr id="7" name="Text 4"/>
          <p:cNvSpPr txBox="1"/>
          <p:nvPr/>
        </p:nvSpPr>
        <p:spPr>
          <a:xfrm>
            <a:off x="676656" y="1874520"/>
            <a:ext cx="5138928" cy="2657466"/>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&lt;div class="kartu"&gt;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&lt;header&gt;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&lt;slot name="judul"&gt;Judul Bawaan&lt;/slot&gt;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&lt;/header&gt;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 slot default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&lt;slot&gt;&lt;/slot&gt;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&lt;footer&gt;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&lt;slot name="kaki"&gt;&lt;/slot&gt;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&lt;/footer&gt;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&lt;/div&gt;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8" name="Text 5"/>
          <p:cNvSpPr txBox="1"/>
          <p:nvPr/>
        </p:nvSpPr>
        <p:spPr>
          <a:xfrm>
            <a:off x="6245352"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PENGGUNAAN · App.vue</a:t>
            </a:r>
            <a:endParaRPr lang="en-US" sz="1150" dirty="0"/>
          </a:p>
        </p:txBody>
      </p:sp>
      <p:sp>
        <p:nvSpPr>
          <p:cNvPr id="9" name="Shape 6"/>
          <p:cNvSpPr/>
          <p:nvPr/>
        </p:nvSpPr>
        <p:spPr>
          <a:xfrm>
            <a:off x="6245352" y="1755648"/>
            <a:ext cx="5394960" cy="2895210"/>
          </a:xfrm>
          <a:prstGeom prst="roundRect">
            <a:avLst>
              <a:gd name="adj" fmla="val 2211"/>
            </a:avLst>
          </a:prstGeom>
          <a:solidFill>
            <a:srgbClr val="253340"/>
          </a:solidFill>
          <a:ln w="12700">
            <a:solidFill>
              <a:srgbClr val="253340"/>
            </a:solidFill>
            <a:prstDash val="solid"/>
          </a:ln>
        </p:spPr>
      </p:sp>
      <p:sp>
        <p:nvSpPr>
          <p:cNvPr id="10" name="Text 7"/>
          <p:cNvSpPr txBox="1"/>
          <p:nvPr/>
        </p:nvSpPr>
        <p:spPr>
          <a:xfrm>
            <a:off x="6373368" y="1874520"/>
            <a:ext cx="5138928" cy="2657466"/>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&lt;Kartu&gt;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&lt;template #judul&gt;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&lt;h2&gt;Profil Mahasiswa&lt;/h2&gt;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&lt;!-- masuk ke slot default --&gt;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&lt;p&gt;Isi konten kartu di sini.&lt;/p&gt;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&lt;template #kaki&gt;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&lt;button&gt;Simpan&lt;/button&gt;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&lt;/Kartu&gt;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p:txBody>
      </p:sp>
      <p:sp>
        <p:nvSpPr>
          <p:cNvPr id="11" name="Shape 8"/>
          <p:cNvSpPr/>
          <p:nvPr/>
        </p:nvSpPr>
        <p:spPr>
          <a:xfrm>
            <a:off x="548640" y="4892040"/>
            <a:ext cx="357530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Shape 9"/>
          <p:cNvSpPr/>
          <p:nvPr/>
        </p:nvSpPr>
        <p:spPr>
          <a:xfrm>
            <a:off x="786384" y="5074920"/>
            <a:ext cx="420624" cy="420624"/>
          </a:xfrm>
          <a:prstGeom prst="ellipse">
            <a:avLst/>
          </a:prstGeom>
          <a:solidFill>
            <a:srgbClr val="42B883"/>
          </a:solidFill>
          <a:ln w="12700">
            <a:solidFill>
              <a:srgbClr val="42B883"/>
            </a:solidFill>
            <a:prstDash val="solid"/>
          </a:ln>
        </p:spPr>
      </p:sp>
      <p:pic>
        <p:nvPicPr>
          <p:cNvPr id="13" name="Image 1" descr="preencoded.png">    </p:cNvPr>
          <p:cNvPicPr>
            <a:picLocks noChangeAspect="1"/>
          </p:cNvPicPr>
          <p:nvPr/>
        </p:nvPicPr>
        <p:blipFill>
          <a:blip r:embed="rId2"/>
          <a:stretch>
            <a:fillRect/>
          </a:stretch>
        </p:blipFill>
        <p:spPr>
          <a:xfrm>
            <a:off x="904159" y="5192695"/>
            <a:ext cx="185075" cy="185075"/>
          </a:xfrm>
          <a:prstGeom prst="rect">
            <a:avLst/>
          </a:prstGeom>
        </p:spPr>
      </p:pic>
      <p:sp>
        <p:nvSpPr>
          <p:cNvPr id="14" name="Text 10"/>
          <p:cNvSpPr txBox="1"/>
          <p:nvPr/>
        </p:nvSpPr>
        <p:spPr>
          <a:xfrm>
            <a:off x="1298448" y="5056632"/>
            <a:ext cx="2651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Default Slot</a:t>
            </a:r>
            <a:endParaRPr lang="en-US" sz="1350" dirty="0"/>
          </a:p>
        </p:txBody>
      </p:sp>
      <p:sp>
        <p:nvSpPr>
          <p:cNvPr id="15" name="Text 11"/>
          <p:cNvSpPr txBox="1"/>
          <p:nvPr/>
        </p:nvSpPr>
        <p:spPr>
          <a:xfrm>
            <a:off x="786384" y="5449824"/>
            <a:ext cx="3154680" cy="77724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Konten tanpa nama yang masuk ke &lt;slot&gt;&lt;/slot&gt;. Bisa diberi isi cadangan (fallback).</a:t>
            </a:r>
            <a:endParaRPr lang="en-US" sz="1100" dirty="0"/>
          </a:p>
        </p:txBody>
      </p:sp>
      <p:sp>
        <p:nvSpPr>
          <p:cNvPr id="16" name="Shape 12"/>
          <p:cNvSpPr/>
          <p:nvPr/>
        </p:nvSpPr>
        <p:spPr>
          <a:xfrm>
            <a:off x="4306824" y="4892040"/>
            <a:ext cx="357530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7" name="Shape 13"/>
          <p:cNvSpPr/>
          <p:nvPr/>
        </p:nvSpPr>
        <p:spPr>
          <a:xfrm>
            <a:off x="4544568" y="5074920"/>
            <a:ext cx="420624" cy="420624"/>
          </a:xfrm>
          <a:prstGeom prst="ellipse">
            <a:avLst/>
          </a:prstGeom>
          <a:solidFill>
            <a:srgbClr val="42B883"/>
          </a:solidFill>
          <a:ln w="12700">
            <a:solidFill>
              <a:srgbClr val="42B883"/>
            </a:solidFill>
            <a:prstDash val="solid"/>
          </a:ln>
        </p:spPr>
      </p:sp>
      <p:pic>
        <p:nvPicPr>
          <p:cNvPr id="18" name="Image 2" descr="preencoded.png">    </p:cNvPr>
          <p:cNvPicPr>
            <a:picLocks noChangeAspect="1"/>
          </p:cNvPicPr>
          <p:nvPr/>
        </p:nvPicPr>
        <p:blipFill>
          <a:blip r:embed="rId3"/>
          <a:stretch>
            <a:fillRect/>
          </a:stretch>
        </p:blipFill>
        <p:spPr>
          <a:xfrm>
            <a:off x="4662343" y="5192695"/>
            <a:ext cx="185075" cy="185075"/>
          </a:xfrm>
          <a:prstGeom prst="rect">
            <a:avLst/>
          </a:prstGeom>
        </p:spPr>
      </p:pic>
      <p:sp>
        <p:nvSpPr>
          <p:cNvPr id="19" name="Text 14"/>
          <p:cNvSpPr txBox="1"/>
          <p:nvPr/>
        </p:nvSpPr>
        <p:spPr>
          <a:xfrm>
            <a:off x="5056632" y="5056632"/>
            <a:ext cx="2651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Named Slot</a:t>
            </a:r>
            <a:endParaRPr lang="en-US" sz="1350" dirty="0"/>
          </a:p>
        </p:txBody>
      </p:sp>
      <p:sp>
        <p:nvSpPr>
          <p:cNvPr id="20" name="Text 15"/>
          <p:cNvSpPr txBox="1"/>
          <p:nvPr/>
        </p:nvSpPr>
        <p:spPr>
          <a:xfrm>
            <a:off x="4544568" y="5449824"/>
            <a:ext cx="3154680" cy="77724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Beberapa lubang konten bernama, dipanggil dengan #nama atau v-slot:nama.</a:t>
            </a:r>
            <a:endParaRPr lang="en-US" sz="1100" dirty="0"/>
          </a:p>
        </p:txBody>
      </p:sp>
      <p:sp>
        <p:nvSpPr>
          <p:cNvPr id="21" name="Shape 16"/>
          <p:cNvSpPr/>
          <p:nvPr/>
        </p:nvSpPr>
        <p:spPr>
          <a:xfrm>
            <a:off x="8065008" y="4892040"/>
            <a:ext cx="3575304" cy="1417320"/>
          </a:xfrm>
          <a:prstGeom prst="roundRect">
            <a:avLst>
              <a:gd name="adj" fmla="val 580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2" name="Shape 17"/>
          <p:cNvSpPr/>
          <p:nvPr/>
        </p:nvSpPr>
        <p:spPr>
          <a:xfrm>
            <a:off x="8302752" y="5074920"/>
            <a:ext cx="420624" cy="420624"/>
          </a:xfrm>
          <a:prstGeom prst="ellipse">
            <a:avLst/>
          </a:prstGeom>
          <a:solidFill>
            <a:srgbClr val="42B883"/>
          </a:solidFill>
          <a:ln w="12700">
            <a:solidFill>
              <a:srgbClr val="42B883"/>
            </a:solidFill>
            <a:prstDash val="solid"/>
          </a:ln>
        </p:spPr>
      </p:sp>
      <p:pic>
        <p:nvPicPr>
          <p:cNvPr id="23" name="Image 3" descr="preencoded.png">    </p:cNvPr>
          <p:cNvPicPr>
            <a:picLocks noChangeAspect="1"/>
          </p:cNvPicPr>
          <p:nvPr/>
        </p:nvPicPr>
        <p:blipFill>
          <a:blip r:embed="rId4"/>
          <a:stretch>
            <a:fillRect/>
          </a:stretch>
        </p:blipFill>
        <p:spPr>
          <a:xfrm>
            <a:off x="8420527" y="5192695"/>
            <a:ext cx="185075" cy="185075"/>
          </a:xfrm>
          <a:prstGeom prst="rect">
            <a:avLst/>
          </a:prstGeom>
        </p:spPr>
      </p:pic>
      <p:sp>
        <p:nvSpPr>
          <p:cNvPr id="24" name="Text 18"/>
          <p:cNvSpPr txBox="1"/>
          <p:nvPr/>
        </p:nvSpPr>
        <p:spPr>
          <a:xfrm>
            <a:off x="8814816" y="5056632"/>
            <a:ext cx="2651760" cy="274320"/>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Scoped Slot</a:t>
            </a:r>
            <a:endParaRPr lang="en-US" sz="1350" dirty="0"/>
          </a:p>
        </p:txBody>
      </p:sp>
      <p:sp>
        <p:nvSpPr>
          <p:cNvPr id="25" name="Text 19"/>
          <p:cNvSpPr txBox="1"/>
          <p:nvPr/>
        </p:nvSpPr>
        <p:spPr>
          <a:xfrm>
            <a:off x="8302752" y="5449824"/>
            <a:ext cx="3154680" cy="77724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Komponen anak mengirim data ke slot: &lt;slot :item="data" /&gt;, lalu induk menerimanya lewat #default="{ item }".</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Provide &amp; Inject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Membagikan data ke seluruh keturunan tanpa "prop drilling"</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3520440" cy="4700016"/>
          </a:xfrm>
          <a:prstGeom prst="roundRect">
            <a:avLst>
              <a:gd name="adj" fmla="val 2338"/>
            </a:avLst>
          </a:prstGeom>
          <a:solidFill>
            <a:srgbClr val="FFF6E5"/>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Text 3"/>
          <p:cNvSpPr txBox="1"/>
          <p:nvPr/>
        </p:nvSpPr>
        <p:spPr>
          <a:xfrm>
            <a:off x="777240" y="1737360"/>
            <a:ext cx="3108960" cy="310896"/>
          </a:xfrm>
          <a:prstGeom prst="rect">
            <a:avLst/>
          </a:prstGeom>
          <a:noFill/>
          <a:ln/>
        </p:spPr>
        <p:txBody>
          <a:bodyPr wrap="square" lIns="0" tIns="0" rIns="0" bIns="0" rtlCol="0" anchor="ctr"/>
          <a:lstStyle/>
          <a:p>
            <a:pPr indent="0" marL="0">
              <a:buNone/>
            </a:pPr>
            <a:r>
              <a:rPr lang="en-US" sz="1500" b="1" dirty="0">
                <a:solidFill>
                  <a:srgbClr val="8A6112"/>
                </a:solidFill>
                <a:latin typeface="Calibri" pitchFamily="34" charset="0"/>
                <a:ea typeface="Calibri" pitchFamily="34" charset="-122"/>
                <a:cs typeface="Calibri" pitchFamily="34" charset="-120"/>
              </a:rPr>
              <a:t>Masalah: Prop Drilling</a:t>
            </a:r>
            <a:endParaRPr lang="en-US" sz="1500" dirty="0"/>
          </a:p>
        </p:txBody>
      </p:sp>
      <p:sp>
        <p:nvSpPr>
          <p:cNvPr id="7" name="Shape 4"/>
          <p:cNvSpPr/>
          <p:nvPr/>
        </p:nvSpPr>
        <p:spPr>
          <a:xfrm>
            <a:off x="868680" y="2304288"/>
            <a:ext cx="2788920" cy="457200"/>
          </a:xfrm>
          <a:prstGeom prst="roundRect">
            <a:avLst>
              <a:gd name="adj" fmla="val 14000"/>
            </a:avLst>
          </a:prstGeom>
          <a:solidFill>
            <a:srgbClr val="FFFFFF"/>
          </a:solidFill>
          <a:ln w="12700">
            <a:solidFill>
              <a:srgbClr val="E5CFA0"/>
            </a:solidFill>
            <a:prstDash val="solid"/>
          </a:ln>
        </p:spPr>
      </p:sp>
      <p:sp>
        <p:nvSpPr>
          <p:cNvPr id="8" name="Text 5"/>
          <p:cNvSpPr txBox="1"/>
          <p:nvPr/>
        </p:nvSpPr>
        <p:spPr>
          <a:xfrm>
            <a:off x="868680" y="2304288"/>
            <a:ext cx="2788920" cy="457200"/>
          </a:xfrm>
          <a:prstGeom prst="rect">
            <a:avLst/>
          </a:prstGeom>
          <a:noFill/>
          <a:ln/>
        </p:spPr>
        <p:txBody>
          <a:bodyPr wrap="square" lIns="0" tIns="0" rIns="0" bIns="0" rtlCol="0" anchor="ctr"/>
          <a:lstStyle/>
          <a:p>
            <a:pPr algn="ctr" indent="0" marL="0">
              <a:buNone/>
            </a:pPr>
            <a:r>
              <a:rPr lang="en-US" sz="1150" b="1" dirty="0">
                <a:solidFill>
                  <a:srgbClr val="8A6112"/>
                </a:solidFill>
                <a:latin typeface="Courier New" pitchFamily="34" charset="0"/>
                <a:ea typeface="Courier New" pitchFamily="34" charset="-122"/>
                <a:cs typeface="Courier New" pitchFamily="34" charset="-120"/>
              </a:rPr>
              <a:t>App.vue</a:t>
            </a:r>
            <a:endParaRPr lang="en-US" sz="1150" dirty="0"/>
          </a:p>
        </p:txBody>
      </p:sp>
      <p:sp>
        <p:nvSpPr>
          <p:cNvPr id="9" name="Shape 6"/>
          <p:cNvSpPr/>
          <p:nvPr/>
        </p:nvSpPr>
        <p:spPr>
          <a:xfrm>
            <a:off x="2103120" y="2788920"/>
            <a:ext cx="182880" cy="237744"/>
          </a:xfrm>
          <a:prstGeom prst="downArrow">
            <a:avLst/>
          </a:prstGeom>
          <a:solidFill>
            <a:srgbClr val="E8A33D"/>
          </a:solidFill>
          <a:ln w="12700">
            <a:solidFill>
              <a:srgbClr val="333333"/>
            </a:solidFill>
            <a:prstDash val="solid"/>
          </a:ln>
        </p:spPr>
      </p:sp>
      <p:sp>
        <p:nvSpPr>
          <p:cNvPr id="10" name="Shape 7"/>
          <p:cNvSpPr/>
          <p:nvPr/>
        </p:nvSpPr>
        <p:spPr>
          <a:xfrm>
            <a:off x="1014984" y="3127248"/>
            <a:ext cx="2642616" cy="457200"/>
          </a:xfrm>
          <a:prstGeom prst="roundRect">
            <a:avLst>
              <a:gd name="adj" fmla="val 14000"/>
            </a:avLst>
          </a:prstGeom>
          <a:solidFill>
            <a:srgbClr val="FFFFFF"/>
          </a:solidFill>
          <a:ln w="12700">
            <a:solidFill>
              <a:srgbClr val="E5CFA0"/>
            </a:solidFill>
            <a:prstDash val="solid"/>
          </a:ln>
        </p:spPr>
      </p:sp>
      <p:sp>
        <p:nvSpPr>
          <p:cNvPr id="11" name="Text 8"/>
          <p:cNvSpPr txBox="1"/>
          <p:nvPr/>
        </p:nvSpPr>
        <p:spPr>
          <a:xfrm>
            <a:off x="1014984" y="3127248"/>
            <a:ext cx="2642616" cy="457200"/>
          </a:xfrm>
          <a:prstGeom prst="rect">
            <a:avLst/>
          </a:prstGeom>
          <a:noFill/>
          <a:ln/>
        </p:spPr>
        <p:txBody>
          <a:bodyPr wrap="square" lIns="0" tIns="0" rIns="0" bIns="0" rtlCol="0" anchor="ctr"/>
          <a:lstStyle/>
          <a:p>
            <a:pPr algn="ctr" indent="0" marL="0">
              <a:buNone/>
            </a:pPr>
            <a:r>
              <a:rPr lang="en-US" sz="1150" b="1" dirty="0">
                <a:solidFill>
                  <a:srgbClr val="8A6112"/>
                </a:solidFill>
                <a:latin typeface="Courier New" pitchFamily="34" charset="0"/>
                <a:ea typeface="Courier New" pitchFamily="34" charset="-122"/>
                <a:cs typeface="Courier New" pitchFamily="34" charset="-120"/>
              </a:rPr>
              <a:t>Layout.vue</a:t>
            </a:r>
            <a:endParaRPr lang="en-US" sz="1150" dirty="0"/>
          </a:p>
        </p:txBody>
      </p:sp>
      <p:sp>
        <p:nvSpPr>
          <p:cNvPr id="12" name="Shape 9"/>
          <p:cNvSpPr/>
          <p:nvPr/>
        </p:nvSpPr>
        <p:spPr>
          <a:xfrm>
            <a:off x="2103120" y="3611880"/>
            <a:ext cx="182880" cy="237744"/>
          </a:xfrm>
          <a:prstGeom prst="downArrow">
            <a:avLst/>
          </a:prstGeom>
          <a:solidFill>
            <a:srgbClr val="E8A33D"/>
          </a:solidFill>
          <a:ln w="12700">
            <a:solidFill>
              <a:srgbClr val="333333"/>
            </a:solidFill>
            <a:prstDash val="solid"/>
          </a:ln>
        </p:spPr>
      </p:sp>
      <p:sp>
        <p:nvSpPr>
          <p:cNvPr id="13" name="Shape 10"/>
          <p:cNvSpPr/>
          <p:nvPr/>
        </p:nvSpPr>
        <p:spPr>
          <a:xfrm>
            <a:off x="1161288" y="3950208"/>
            <a:ext cx="2496312" cy="457200"/>
          </a:xfrm>
          <a:prstGeom prst="roundRect">
            <a:avLst>
              <a:gd name="adj" fmla="val 14000"/>
            </a:avLst>
          </a:prstGeom>
          <a:solidFill>
            <a:srgbClr val="FFFFFF"/>
          </a:solidFill>
          <a:ln w="12700">
            <a:solidFill>
              <a:srgbClr val="E5CFA0"/>
            </a:solidFill>
            <a:prstDash val="solid"/>
          </a:ln>
        </p:spPr>
      </p:sp>
      <p:sp>
        <p:nvSpPr>
          <p:cNvPr id="14" name="Text 11"/>
          <p:cNvSpPr txBox="1"/>
          <p:nvPr/>
        </p:nvSpPr>
        <p:spPr>
          <a:xfrm>
            <a:off x="1161288" y="3950208"/>
            <a:ext cx="2496312" cy="457200"/>
          </a:xfrm>
          <a:prstGeom prst="rect">
            <a:avLst/>
          </a:prstGeom>
          <a:noFill/>
          <a:ln/>
        </p:spPr>
        <p:txBody>
          <a:bodyPr wrap="square" lIns="0" tIns="0" rIns="0" bIns="0" rtlCol="0" anchor="ctr"/>
          <a:lstStyle/>
          <a:p>
            <a:pPr algn="ctr" indent="0" marL="0">
              <a:buNone/>
            </a:pPr>
            <a:r>
              <a:rPr lang="en-US" sz="1150" b="1" dirty="0">
                <a:solidFill>
                  <a:srgbClr val="8A6112"/>
                </a:solidFill>
                <a:latin typeface="Courier New" pitchFamily="34" charset="0"/>
                <a:ea typeface="Courier New" pitchFamily="34" charset="-122"/>
                <a:cs typeface="Courier New" pitchFamily="34" charset="-120"/>
              </a:rPr>
              <a:t>Sidebar.vue</a:t>
            </a:r>
            <a:endParaRPr lang="en-US" sz="1150" dirty="0"/>
          </a:p>
        </p:txBody>
      </p:sp>
      <p:sp>
        <p:nvSpPr>
          <p:cNvPr id="15" name="Shape 12"/>
          <p:cNvSpPr/>
          <p:nvPr/>
        </p:nvSpPr>
        <p:spPr>
          <a:xfrm>
            <a:off x="2103120" y="4434840"/>
            <a:ext cx="182880" cy="237744"/>
          </a:xfrm>
          <a:prstGeom prst="downArrow">
            <a:avLst/>
          </a:prstGeom>
          <a:solidFill>
            <a:srgbClr val="E8A33D"/>
          </a:solidFill>
          <a:ln w="12700">
            <a:solidFill>
              <a:srgbClr val="333333"/>
            </a:solidFill>
            <a:prstDash val="solid"/>
          </a:ln>
        </p:spPr>
      </p:sp>
      <p:sp>
        <p:nvSpPr>
          <p:cNvPr id="16" name="Shape 13"/>
          <p:cNvSpPr/>
          <p:nvPr/>
        </p:nvSpPr>
        <p:spPr>
          <a:xfrm>
            <a:off x="1307592" y="4773168"/>
            <a:ext cx="2350008" cy="457200"/>
          </a:xfrm>
          <a:prstGeom prst="roundRect">
            <a:avLst>
              <a:gd name="adj" fmla="val 14000"/>
            </a:avLst>
          </a:prstGeom>
          <a:solidFill>
            <a:srgbClr val="FFFFFF"/>
          </a:solidFill>
          <a:ln w="12700">
            <a:solidFill>
              <a:srgbClr val="E5CFA0"/>
            </a:solidFill>
            <a:prstDash val="solid"/>
          </a:ln>
        </p:spPr>
      </p:sp>
      <p:sp>
        <p:nvSpPr>
          <p:cNvPr id="17" name="Text 14"/>
          <p:cNvSpPr txBox="1"/>
          <p:nvPr/>
        </p:nvSpPr>
        <p:spPr>
          <a:xfrm>
            <a:off x="1307592" y="4773168"/>
            <a:ext cx="2350008" cy="457200"/>
          </a:xfrm>
          <a:prstGeom prst="rect">
            <a:avLst/>
          </a:prstGeom>
          <a:noFill/>
          <a:ln/>
        </p:spPr>
        <p:txBody>
          <a:bodyPr wrap="square" lIns="0" tIns="0" rIns="0" bIns="0" rtlCol="0" anchor="ctr"/>
          <a:lstStyle/>
          <a:p>
            <a:pPr algn="ctr" indent="0" marL="0">
              <a:buNone/>
            </a:pPr>
            <a:r>
              <a:rPr lang="en-US" sz="1150" b="1" dirty="0">
                <a:solidFill>
                  <a:srgbClr val="8A6112"/>
                </a:solidFill>
                <a:latin typeface="Courier New" pitchFamily="34" charset="0"/>
                <a:ea typeface="Courier New" pitchFamily="34" charset="-122"/>
                <a:cs typeface="Courier New" pitchFamily="34" charset="-120"/>
              </a:rPr>
              <a:t>MenuItem.vue</a:t>
            </a:r>
            <a:endParaRPr lang="en-US" sz="1150" dirty="0"/>
          </a:p>
        </p:txBody>
      </p:sp>
      <p:sp>
        <p:nvSpPr>
          <p:cNvPr id="18" name="Text 15"/>
          <p:cNvSpPr txBox="1"/>
          <p:nvPr/>
        </p:nvSpPr>
        <p:spPr>
          <a:xfrm>
            <a:off x="777240" y="5486400"/>
            <a:ext cx="3108960" cy="621792"/>
          </a:xfrm>
          <a:prstGeom prst="rect">
            <a:avLst/>
          </a:prstGeom>
          <a:noFill/>
          <a:ln/>
        </p:spPr>
        <p:txBody>
          <a:bodyPr wrap="square" lIns="0" tIns="0" rIns="0" bIns="0" rtlCol="0" anchor="t"/>
          <a:lstStyle/>
          <a:p>
            <a:pPr indent="0" marL="0">
              <a:lnSpc>
                <a:spcPct val="110000"/>
              </a:lnSpc>
              <a:buNone/>
            </a:pPr>
            <a:r>
              <a:rPr lang="en-US" sz="1100" dirty="0">
                <a:solidFill>
                  <a:srgbClr val="7A5610"/>
                </a:solidFill>
                <a:latin typeface="Calibri" pitchFamily="34" charset="0"/>
                <a:ea typeface="Calibri" pitchFamily="34" charset="-122"/>
                <a:cs typeface="Calibri" pitchFamily="34" charset="-120"/>
              </a:rPr>
              <a:t>Data harus dioper melalui setiap lapisan meski lapisan tengah tidak membutuhkannya.</a:t>
            </a:r>
            <a:endParaRPr lang="en-US" sz="1100" dirty="0"/>
          </a:p>
        </p:txBody>
      </p:sp>
      <p:sp>
        <p:nvSpPr>
          <p:cNvPr id="19" name="Text 16"/>
          <p:cNvSpPr txBox="1"/>
          <p:nvPr/>
        </p:nvSpPr>
        <p:spPr>
          <a:xfrm>
            <a:off x="4343400" y="1517904"/>
            <a:ext cx="36576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INDUK · menyediakan data</a:t>
            </a:r>
            <a:endParaRPr lang="en-US" sz="1150" dirty="0"/>
          </a:p>
        </p:txBody>
      </p:sp>
      <p:sp>
        <p:nvSpPr>
          <p:cNvPr id="20" name="Shape 17"/>
          <p:cNvSpPr/>
          <p:nvPr/>
        </p:nvSpPr>
        <p:spPr>
          <a:xfrm>
            <a:off x="4343400" y="1810512"/>
            <a:ext cx="7296912" cy="1481365"/>
          </a:xfrm>
          <a:prstGeom prst="roundRect">
            <a:avLst>
              <a:gd name="adj" fmla="val 4321"/>
            </a:avLst>
          </a:prstGeom>
          <a:solidFill>
            <a:srgbClr val="253340"/>
          </a:solidFill>
          <a:ln w="12700">
            <a:solidFill>
              <a:srgbClr val="253340"/>
            </a:solidFill>
            <a:prstDash val="solid"/>
          </a:ln>
        </p:spPr>
      </p:sp>
      <p:sp>
        <p:nvSpPr>
          <p:cNvPr id="21" name="Text 18"/>
          <p:cNvSpPr txBox="1"/>
          <p:nvPr/>
        </p:nvSpPr>
        <p:spPr>
          <a:xfrm>
            <a:off x="4471416" y="1929384"/>
            <a:ext cx="7040880" cy="1243621"/>
          </a:xfrm>
          <a:prstGeom prst="rect">
            <a:avLst/>
          </a:prstGeom>
          <a:noFill/>
          <a:ln/>
        </p:spPr>
        <p:txBody>
          <a:bodyPr wrap="square" lIns="0" tIns="0" rIns="0" bIns="0" rtlCol="0" anchor="t"/>
          <a:lstStyle/>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 setup&gt;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import { provide, ref, readonly } from "vue";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const tema = ref("gelap");</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provide("tema", readonly(tema));          // kunci + nilai</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provide("gantiTema", () =&gt; tema.value = "terang");</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&lt;/script&gt;</a:t>
            </a:r>
            <a:endParaRPr lang="en-US" sz="1300" dirty="0"/>
          </a:p>
        </p:txBody>
      </p:sp>
      <p:sp>
        <p:nvSpPr>
          <p:cNvPr id="22" name="Text 19"/>
          <p:cNvSpPr txBox="1"/>
          <p:nvPr/>
        </p:nvSpPr>
        <p:spPr>
          <a:xfrm>
            <a:off x="4343400" y="3749040"/>
            <a:ext cx="36576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KETURUNAN · menerima data (sedalam apa pun)</a:t>
            </a:r>
            <a:endParaRPr lang="en-US" sz="1150" dirty="0"/>
          </a:p>
        </p:txBody>
      </p:sp>
      <p:sp>
        <p:nvSpPr>
          <p:cNvPr id="23" name="Shape 20"/>
          <p:cNvSpPr/>
          <p:nvPr/>
        </p:nvSpPr>
        <p:spPr>
          <a:xfrm>
            <a:off x="4343400" y="4041648"/>
            <a:ext cx="7296912" cy="1277142"/>
          </a:xfrm>
          <a:prstGeom prst="roundRect">
            <a:avLst>
              <a:gd name="adj" fmla="val 5012"/>
            </a:avLst>
          </a:prstGeom>
          <a:solidFill>
            <a:srgbClr val="253340"/>
          </a:solidFill>
          <a:ln w="12700">
            <a:solidFill>
              <a:srgbClr val="253340"/>
            </a:solidFill>
            <a:prstDash val="solid"/>
          </a:ln>
        </p:spPr>
      </p:sp>
      <p:sp>
        <p:nvSpPr>
          <p:cNvPr id="24" name="Text 21"/>
          <p:cNvSpPr txBox="1"/>
          <p:nvPr/>
        </p:nvSpPr>
        <p:spPr>
          <a:xfrm>
            <a:off x="4471416" y="4160520"/>
            <a:ext cx="7040880" cy="1039398"/>
          </a:xfrm>
          <a:prstGeom prst="rect">
            <a:avLst/>
          </a:prstGeom>
          <a:noFill/>
          <a:ln/>
        </p:spPr>
        <p:txBody>
          <a:bodyPr wrap="square" lIns="0" tIns="0" rIns="0" bIns="0" rtlCol="0" anchor="t"/>
          <a:lstStyle/>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 setup&gt;</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import { inject } from "vue";</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const tema = inject("tema", "terang");    // nilai cadangan</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const gantiTema = inject("gantiTema");</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&lt;/script&gt;</a:t>
            </a:r>
            <a:endParaRPr lang="en-US" sz="1300" dirty="0"/>
          </a:p>
        </p:txBody>
      </p:sp>
      <p:sp>
        <p:nvSpPr>
          <p:cNvPr id="25" name="Text 22"/>
          <p:cNvSpPr txBox="1"/>
          <p:nvPr/>
        </p:nvSpPr>
        <p:spPr>
          <a:xfrm>
            <a:off x="4343400" y="5715000"/>
            <a:ext cx="7296912" cy="502920"/>
          </a:xfrm>
          <a:prstGeom prst="rect">
            <a:avLst/>
          </a:prstGeom>
          <a:noFill/>
          <a:ln/>
        </p:spPr>
        <p:txBody>
          <a:bodyPr wrap="square" lIns="0" tIns="0" rIns="0" bIns="0" rtlCol="0" anchor="ctr"/>
          <a:lstStyle/>
          <a:p>
            <a:pPr indent="0" marL="0">
              <a:buNone/>
            </a:pPr>
            <a:r>
              <a:rPr lang="en-US" sz="1200" i="1" dirty="0">
                <a:solidFill>
                  <a:srgbClr val="2F9E6E"/>
                </a:solidFill>
                <a:latin typeface="Calibri" pitchFamily="34" charset="0"/>
                <a:ea typeface="Calibri" pitchFamily="34" charset="-122"/>
                <a:cs typeface="Calibri" pitchFamily="34" charset="-120"/>
              </a:rPr>
              <a:t>Gunakan readonly() agar data hanya dapat diubah oleh penyedianya. Untuk state global lintas fitur, Pinia tetap pilihan yang lebih terstruktur.</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Composables — Logika yang Dapat Digunakan Ulang</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Fungsi yang mengemas logika stateful berbasis Composition API</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src/composables/usePenghitung.js</a:t>
            </a:r>
            <a:endParaRPr lang="en-US" sz="1150" dirty="0"/>
          </a:p>
        </p:txBody>
      </p:sp>
      <p:sp>
        <p:nvSpPr>
          <p:cNvPr id="6" name="Shape 3"/>
          <p:cNvSpPr/>
          <p:nvPr/>
        </p:nvSpPr>
        <p:spPr>
          <a:xfrm>
            <a:off x="548640" y="1755648"/>
            <a:ext cx="5852160" cy="2612441"/>
          </a:xfrm>
          <a:prstGeom prst="roundRect">
            <a:avLst>
              <a:gd name="adj" fmla="val 2450"/>
            </a:avLst>
          </a:prstGeom>
          <a:solidFill>
            <a:srgbClr val="253340"/>
          </a:solidFill>
          <a:ln w="12700">
            <a:solidFill>
              <a:srgbClr val="253340"/>
            </a:solidFill>
            <a:prstDash val="solid"/>
          </a:ln>
        </p:spPr>
      </p:sp>
      <p:sp>
        <p:nvSpPr>
          <p:cNvPr id="7" name="Text 4"/>
          <p:cNvSpPr txBox="1"/>
          <p:nvPr/>
        </p:nvSpPr>
        <p:spPr>
          <a:xfrm>
            <a:off x="676656" y="1874520"/>
            <a:ext cx="5596128" cy="2374697"/>
          </a:xfrm>
          <a:prstGeom prst="rect">
            <a:avLst/>
          </a:prstGeom>
          <a:noFill/>
          <a:ln/>
        </p:spPr>
        <p:txBody>
          <a:bodyPr wrap="square" lIns="0" tIns="0" rIns="0" bIns="0" rtlCol="0" anchor="t"/>
          <a:lstStyle/>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import { ref, computed } from "vue";</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7E93A3"/>
                </a:solidFill>
                <a:latin typeface="Courier New" pitchFamily="34" charset="0"/>
                <a:ea typeface="Courier New" pitchFamily="34" charset="-122"/>
                <a:cs typeface="Courier New" pitchFamily="34" charset="-120"/>
              </a:rPr>
              <a:t>// konvensi: nama diawali "use"</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export function usePenghitung(awal = 0)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const jumlah = ref(awal);</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const ganda = computed(() =&gt; jumlah.value * 2);</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function tambah() { jumlah.value++;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function reset()  { jumlah.value = awal;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return { jumlah, ganda, tambah, reset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a:t>
            </a:r>
            <a:endParaRPr lang="en-US" sz="1250" dirty="0"/>
          </a:p>
        </p:txBody>
      </p:sp>
      <p:sp>
        <p:nvSpPr>
          <p:cNvPr id="8" name="Text 5"/>
          <p:cNvSpPr txBox="1"/>
          <p:nvPr/>
        </p:nvSpPr>
        <p:spPr>
          <a:xfrm>
            <a:off x="6537960"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Dipakai di komponen mana pun</a:t>
            </a:r>
            <a:endParaRPr lang="en-US" sz="1150" dirty="0"/>
          </a:p>
        </p:txBody>
      </p:sp>
      <p:sp>
        <p:nvSpPr>
          <p:cNvPr id="9" name="Shape 6"/>
          <p:cNvSpPr/>
          <p:nvPr/>
        </p:nvSpPr>
        <p:spPr>
          <a:xfrm>
            <a:off x="6537960" y="1755648"/>
            <a:ext cx="5102352" cy="2612441"/>
          </a:xfrm>
          <a:prstGeom prst="roundRect">
            <a:avLst>
              <a:gd name="adj" fmla="val 2450"/>
            </a:avLst>
          </a:prstGeom>
          <a:solidFill>
            <a:srgbClr val="253340"/>
          </a:solidFill>
          <a:ln w="12700">
            <a:solidFill>
              <a:srgbClr val="253340"/>
            </a:solidFill>
            <a:prstDash val="solid"/>
          </a:ln>
        </p:spPr>
      </p:sp>
      <p:sp>
        <p:nvSpPr>
          <p:cNvPr id="10" name="Text 7"/>
          <p:cNvSpPr txBox="1"/>
          <p:nvPr/>
        </p:nvSpPr>
        <p:spPr>
          <a:xfrm>
            <a:off x="6665976" y="1874520"/>
            <a:ext cx="4846320" cy="2374697"/>
          </a:xfrm>
          <a:prstGeom prst="rect">
            <a:avLst/>
          </a:prstGeom>
          <a:noFill/>
          <a:ln/>
        </p:spPr>
        <p:txBody>
          <a:bodyPr wrap="square" lIns="0" tIns="0" rIns="0" bIns="0" rtlCol="0" anchor="t"/>
          <a:lstStyle/>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&lt;script setup&gt;</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import { usePenghitung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from "@/composables/usePenghitung";</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const { jumlah, ganda, tambah }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usePenghitung(10);</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&lt;/script&gt;</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&lt;template&gt;</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&lt;p&gt;{{ jumlah }} / {{ ganda }}&lt;/p&gt;</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  &lt;button @click="tambah"&gt;+1&lt;/button&gt;</a:t>
            </a:r>
            <a:endParaRPr lang="en-US" sz="1250" dirty="0"/>
          </a:p>
          <a:p>
            <a:pPr indent="0" marL="0">
              <a:lnSpc>
                <a:spcPct val="105000"/>
              </a:lnSpc>
              <a:buNone/>
            </a:pPr>
            <a:r>
              <a:rPr lang="en-US" sz="1250" dirty="0">
                <a:solidFill>
                  <a:srgbClr val="E4ECF2"/>
                </a:solidFill>
                <a:latin typeface="Courier New" pitchFamily="34" charset="0"/>
                <a:ea typeface="Courier New" pitchFamily="34" charset="-122"/>
                <a:cs typeface="Courier New" pitchFamily="34" charset="-120"/>
              </a:rPr>
              <a:t>&lt;/template&gt;</a:t>
            </a:r>
            <a:endParaRPr lang="en-US" sz="1250" dirty="0"/>
          </a:p>
        </p:txBody>
      </p:sp>
      <p:sp>
        <p:nvSpPr>
          <p:cNvPr id="11" name="Shape 8"/>
          <p:cNvSpPr/>
          <p:nvPr/>
        </p:nvSpPr>
        <p:spPr>
          <a:xfrm>
            <a:off x="548640" y="4828032"/>
            <a:ext cx="3575304" cy="1444752"/>
          </a:xfrm>
          <a:prstGeom prst="roundRect">
            <a:avLst>
              <a:gd name="adj" fmla="val 569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Shape 9"/>
          <p:cNvSpPr/>
          <p:nvPr/>
        </p:nvSpPr>
        <p:spPr>
          <a:xfrm>
            <a:off x="786384" y="5029200"/>
            <a:ext cx="438912" cy="438912"/>
          </a:xfrm>
          <a:prstGeom prst="ellipse">
            <a:avLst/>
          </a:prstGeom>
          <a:solidFill>
            <a:srgbClr val="42B883"/>
          </a:solidFill>
          <a:ln w="12700">
            <a:solidFill>
              <a:srgbClr val="42B883"/>
            </a:solidFill>
            <a:prstDash val="solid"/>
          </a:ln>
        </p:spPr>
      </p:sp>
      <p:pic>
        <p:nvPicPr>
          <p:cNvPr id="13" name="Image 1" descr="preencoded.png">    </p:cNvPr>
          <p:cNvPicPr>
            <a:picLocks noChangeAspect="1"/>
          </p:cNvPicPr>
          <p:nvPr/>
        </p:nvPicPr>
        <p:blipFill>
          <a:blip r:embed="rId2"/>
          <a:stretch>
            <a:fillRect/>
          </a:stretch>
        </p:blipFill>
        <p:spPr>
          <a:xfrm>
            <a:off x="909279" y="5152095"/>
            <a:ext cx="193121" cy="193121"/>
          </a:xfrm>
          <a:prstGeom prst="rect">
            <a:avLst/>
          </a:prstGeom>
        </p:spPr>
      </p:pic>
      <p:sp>
        <p:nvSpPr>
          <p:cNvPr id="14" name="Text 10"/>
          <p:cNvSpPr txBox="1"/>
          <p:nvPr/>
        </p:nvSpPr>
        <p:spPr>
          <a:xfrm>
            <a:off x="1316736" y="5010912"/>
            <a:ext cx="265176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DRY</a:t>
            </a:r>
            <a:endParaRPr lang="en-US" sz="1350" dirty="0"/>
          </a:p>
        </p:txBody>
      </p:sp>
      <p:sp>
        <p:nvSpPr>
          <p:cNvPr id="15" name="Text 11"/>
          <p:cNvSpPr txBox="1"/>
          <p:nvPr/>
        </p:nvSpPr>
        <p:spPr>
          <a:xfrm>
            <a:off x="786384" y="5431536"/>
            <a:ext cx="3154680" cy="713232"/>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Logika ditulis sekali, dipakai di banyak komponen tanpa duplikasi kode.</a:t>
            </a:r>
            <a:endParaRPr lang="en-US" sz="1100" dirty="0"/>
          </a:p>
        </p:txBody>
      </p:sp>
      <p:sp>
        <p:nvSpPr>
          <p:cNvPr id="16" name="Shape 12"/>
          <p:cNvSpPr/>
          <p:nvPr/>
        </p:nvSpPr>
        <p:spPr>
          <a:xfrm>
            <a:off x="4306824" y="4828032"/>
            <a:ext cx="3575304" cy="1444752"/>
          </a:xfrm>
          <a:prstGeom prst="roundRect">
            <a:avLst>
              <a:gd name="adj" fmla="val 569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7" name="Shape 13"/>
          <p:cNvSpPr/>
          <p:nvPr/>
        </p:nvSpPr>
        <p:spPr>
          <a:xfrm>
            <a:off x="4544568" y="5029200"/>
            <a:ext cx="438912" cy="438912"/>
          </a:xfrm>
          <a:prstGeom prst="ellipse">
            <a:avLst/>
          </a:prstGeom>
          <a:solidFill>
            <a:srgbClr val="42B883"/>
          </a:solidFill>
          <a:ln w="12700">
            <a:solidFill>
              <a:srgbClr val="42B883"/>
            </a:solidFill>
            <a:prstDash val="solid"/>
          </a:ln>
        </p:spPr>
      </p:sp>
      <p:pic>
        <p:nvPicPr>
          <p:cNvPr id="18" name="Image 2" descr="preencoded.png">    </p:cNvPr>
          <p:cNvPicPr>
            <a:picLocks noChangeAspect="1"/>
          </p:cNvPicPr>
          <p:nvPr/>
        </p:nvPicPr>
        <p:blipFill>
          <a:blip r:embed="rId3"/>
          <a:stretch>
            <a:fillRect/>
          </a:stretch>
        </p:blipFill>
        <p:spPr>
          <a:xfrm>
            <a:off x="4667463" y="5152095"/>
            <a:ext cx="193121" cy="193121"/>
          </a:xfrm>
          <a:prstGeom prst="rect">
            <a:avLst/>
          </a:prstGeom>
        </p:spPr>
      </p:pic>
      <p:sp>
        <p:nvSpPr>
          <p:cNvPr id="19" name="Text 14"/>
          <p:cNvSpPr txBox="1"/>
          <p:nvPr/>
        </p:nvSpPr>
        <p:spPr>
          <a:xfrm>
            <a:off x="5074920" y="5010912"/>
            <a:ext cx="265176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Mudah Diuji</a:t>
            </a:r>
            <a:endParaRPr lang="en-US" sz="1350" dirty="0"/>
          </a:p>
        </p:txBody>
      </p:sp>
      <p:sp>
        <p:nvSpPr>
          <p:cNvPr id="20" name="Text 15"/>
          <p:cNvSpPr txBox="1"/>
          <p:nvPr/>
        </p:nvSpPr>
        <p:spPr>
          <a:xfrm>
            <a:off x="4544568" y="5431536"/>
            <a:ext cx="3154680" cy="713232"/>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Karena hanya fungsi JavaScript biasa, composable dapat diuji terpisah dari UI.</a:t>
            </a:r>
            <a:endParaRPr lang="en-US" sz="1100" dirty="0"/>
          </a:p>
        </p:txBody>
      </p:sp>
      <p:sp>
        <p:nvSpPr>
          <p:cNvPr id="21" name="Shape 16"/>
          <p:cNvSpPr/>
          <p:nvPr/>
        </p:nvSpPr>
        <p:spPr>
          <a:xfrm>
            <a:off x="8065008" y="4828032"/>
            <a:ext cx="3575304" cy="1444752"/>
          </a:xfrm>
          <a:prstGeom prst="roundRect">
            <a:avLst>
              <a:gd name="adj" fmla="val 569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2" name="Shape 17"/>
          <p:cNvSpPr/>
          <p:nvPr/>
        </p:nvSpPr>
        <p:spPr>
          <a:xfrm>
            <a:off x="8302752" y="5029200"/>
            <a:ext cx="438912" cy="438912"/>
          </a:xfrm>
          <a:prstGeom prst="ellipse">
            <a:avLst/>
          </a:prstGeom>
          <a:solidFill>
            <a:srgbClr val="E9F5EF"/>
          </a:solidFill>
          <a:ln w="12700">
            <a:solidFill>
              <a:srgbClr val="333333"/>
            </a:solidFill>
            <a:prstDash val="solid"/>
          </a:ln>
        </p:spPr>
      </p:sp>
      <p:pic>
        <p:nvPicPr>
          <p:cNvPr id="23" name="Image 3" descr="preencoded.png">    </p:cNvPr>
          <p:cNvPicPr>
            <a:picLocks noChangeAspect="1"/>
          </p:cNvPicPr>
          <p:nvPr/>
        </p:nvPicPr>
        <p:blipFill>
          <a:blip r:embed="rId4"/>
          <a:stretch>
            <a:fillRect/>
          </a:stretch>
        </p:blipFill>
        <p:spPr>
          <a:xfrm>
            <a:off x="8394192" y="5120640"/>
            <a:ext cx="256032" cy="256032"/>
          </a:xfrm>
          <a:prstGeom prst="rect">
            <a:avLst/>
          </a:prstGeom>
        </p:spPr>
      </p:pic>
      <p:sp>
        <p:nvSpPr>
          <p:cNvPr id="24" name="Text 18"/>
          <p:cNvSpPr txBox="1"/>
          <p:nvPr/>
        </p:nvSpPr>
        <p:spPr>
          <a:xfrm>
            <a:off x="8833104" y="5010912"/>
            <a:ext cx="265176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VueUse</a:t>
            </a:r>
            <a:endParaRPr lang="en-US" sz="1350" dirty="0"/>
          </a:p>
        </p:txBody>
      </p:sp>
      <p:sp>
        <p:nvSpPr>
          <p:cNvPr id="25" name="Text 19"/>
          <p:cNvSpPr txBox="1"/>
          <p:nvPr/>
        </p:nvSpPr>
        <p:spPr>
          <a:xfrm>
            <a:off x="8302752" y="5431536"/>
            <a:ext cx="3154680" cy="713232"/>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Ratusan composable siap pakai: useMouse, useFetch, useLocalStorage, dan lainnya.</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366760" y="1143000"/>
            <a:ext cx="4480560" cy="448056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01200" y="2514600"/>
            <a:ext cx="2011680" cy="1737360"/>
          </a:xfrm>
          <a:prstGeom prst="rect">
            <a:avLst/>
          </a:prstGeom>
        </p:spPr>
      </p:pic>
      <p:sp>
        <p:nvSpPr>
          <p:cNvPr id="4" name="Text 1"/>
          <p:cNvSpPr txBox="1"/>
          <p:nvPr/>
        </p:nvSpPr>
        <p:spPr>
          <a:xfrm>
            <a:off x="822960" y="1554480"/>
            <a:ext cx="2194560" cy="1463040"/>
          </a:xfrm>
          <a:prstGeom prst="rect">
            <a:avLst/>
          </a:prstGeom>
          <a:noFill/>
          <a:ln/>
        </p:spPr>
        <p:txBody>
          <a:bodyPr wrap="square" lIns="0" tIns="0" rIns="0" bIns="0" rtlCol="0" anchor="ctr"/>
          <a:lstStyle/>
          <a:p>
            <a:pPr indent="0" marL="0">
              <a:buNone/>
            </a:pPr>
            <a:r>
              <a:rPr lang="en-US" sz="10000" b="1" dirty="0">
                <a:solidFill>
                  <a:srgbClr val="42B883"/>
                </a:solidFill>
                <a:latin typeface="Calibri" pitchFamily="34" charset="0"/>
                <a:ea typeface="Calibri" pitchFamily="34" charset="-122"/>
                <a:cs typeface="Calibri" pitchFamily="34" charset="-120"/>
              </a:rPr>
              <a:t>05</a:t>
            </a:r>
            <a:endParaRPr lang="en-US" sz="10000" dirty="0"/>
          </a:p>
        </p:txBody>
      </p:sp>
      <p:sp>
        <p:nvSpPr>
          <p:cNvPr id="5" name="Text 2"/>
          <p:cNvSpPr txBox="1"/>
          <p:nvPr/>
        </p:nvSpPr>
        <p:spPr>
          <a:xfrm>
            <a:off x="822960" y="3127248"/>
            <a:ext cx="722376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Ekosistem &amp; Fitur Lanjutan</a:t>
            </a:r>
            <a:endParaRPr lang="en-US" sz="4000" dirty="0"/>
          </a:p>
        </p:txBody>
      </p:sp>
      <p:sp>
        <p:nvSpPr>
          <p:cNvPr id="6" name="Text 3"/>
          <p:cNvSpPr txBox="1"/>
          <p:nvPr/>
        </p:nvSpPr>
        <p:spPr>
          <a:xfrm>
            <a:off x="822960" y="3977640"/>
            <a:ext cx="6949440" cy="777240"/>
          </a:xfrm>
          <a:prstGeom prst="rect">
            <a:avLst/>
          </a:prstGeom>
          <a:noFill/>
          <a:ln/>
        </p:spPr>
        <p:txBody>
          <a:bodyPr wrap="square" lIns="0" tIns="0" rIns="0" bIns="0" rtlCol="0" anchor="t"/>
          <a:lstStyle/>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Vue Router, Pinia, transisi animasi, Nuxt.js,</a:t>
            </a:r>
            <a:endParaRPr lang="en-US" sz="1500" dirty="0"/>
          </a:p>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serta pengujian aplikasi Vue.</a:t>
            </a:r>
            <a:endParaRPr lang="en-US" sz="1500" dirty="0"/>
          </a:p>
        </p:txBody>
      </p:sp>
      <p:sp>
        <p:nvSpPr>
          <p:cNvPr id="7" name="Shape 4"/>
          <p:cNvSpPr/>
          <p:nvPr/>
        </p:nvSpPr>
        <p:spPr>
          <a:xfrm>
            <a:off x="822960" y="4983480"/>
            <a:ext cx="566928" cy="566928"/>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981700" y="5142220"/>
            <a:ext cx="249448" cy="24944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Vue Router — Navigasi Halaman</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Routing resmi untuk membangun Single Page Application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6492240" cy="3390056"/>
          </a:xfrm>
          <a:prstGeom prst="roundRect">
            <a:avLst>
              <a:gd name="adj" fmla="val 1888"/>
            </a:avLst>
          </a:prstGeom>
          <a:solidFill>
            <a:srgbClr val="253340"/>
          </a:solidFill>
          <a:ln w="12700">
            <a:solidFill>
              <a:srgbClr val="253340"/>
            </a:solidFill>
            <a:prstDash val="solid"/>
          </a:ln>
        </p:spPr>
      </p:sp>
      <p:sp>
        <p:nvSpPr>
          <p:cNvPr id="6" name="Text 3"/>
          <p:cNvSpPr txBox="1"/>
          <p:nvPr/>
        </p:nvSpPr>
        <p:spPr>
          <a:xfrm>
            <a:off x="676656" y="1636776"/>
            <a:ext cx="6236208" cy="3152312"/>
          </a:xfrm>
          <a:prstGeom prst="rect">
            <a:avLst/>
          </a:prstGeom>
          <a:noFill/>
          <a:ln/>
        </p:spPr>
        <p:txBody>
          <a:bodyPr wrap="square" lIns="0" tIns="0" rIns="0" bIns="0" rtlCol="0" anchor="t"/>
          <a:lstStyle/>
          <a:p>
            <a:pPr indent="0" marL="0">
              <a:lnSpc>
                <a:spcPct val="105000"/>
              </a:lnSpc>
              <a:buNone/>
            </a:pPr>
            <a:r>
              <a:rPr lang="en-US" sz="1050" dirty="0">
                <a:solidFill>
                  <a:srgbClr val="7E93A3"/>
                </a:solidFill>
                <a:latin typeface="Courier New" pitchFamily="34" charset="0"/>
                <a:ea typeface="Courier New" pitchFamily="34" charset="-122"/>
                <a:cs typeface="Courier New" pitchFamily="34" charset="-120"/>
              </a:rPr>
              <a:t>// src/router/index.js</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import { createRouter, createWebHistory } from "vue-router";</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import Beranda from "@/views/Beranda.vue";</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const routes = [</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 path: "/",             component: Beranda },</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 path: "/produk/:id",   component: DetailProduk, props: true },</a:t>
            </a:r>
            <a:endParaRPr lang="en-US" sz="1050" dirty="0"/>
          </a:p>
          <a:p>
            <a:pPr indent="0" marL="0">
              <a:lnSpc>
                <a:spcPct val="105000"/>
              </a:lnSpc>
              <a:buNone/>
            </a:pPr>
            <a:r>
              <a:rPr lang="en-US" sz="1050" dirty="0">
                <a:solidFill>
                  <a:srgbClr val="7E93A3"/>
                </a:solidFill>
                <a:latin typeface="Courier New" pitchFamily="34" charset="0"/>
                <a:ea typeface="Courier New" pitchFamily="34" charset="-122"/>
                <a:cs typeface="Courier New" pitchFamily="34" charset="-120"/>
              </a:rPr>
              <a:t>  // lazy loading: dimuat hanya saat dibutuhkan</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 path: "/tentang", component: () =&gt; import("@/views/Tentang.vue") },</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 path: "/:pathMatch(.*)*", component: Halaman404 }</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7E93A3"/>
                </a:solidFill>
                <a:latin typeface="Courier New" pitchFamily="34" charset="0"/>
                <a:ea typeface="Courier New" pitchFamily="34" charset="-122"/>
                <a:cs typeface="Courier New" pitchFamily="34" charset="-120"/>
              </a:rPr>
              <a:t>// &lt;RouterLink to="/produk"&gt;Produk&lt;/RouterLink&gt;</a:t>
            </a:r>
            <a:endParaRPr lang="en-US" sz="1050" dirty="0"/>
          </a:p>
          <a:p>
            <a:pPr indent="0" marL="0">
              <a:lnSpc>
                <a:spcPct val="105000"/>
              </a:lnSpc>
              <a:buNone/>
            </a:pPr>
            <a:r>
              <a:rPr lang="en-US" sz="1050" dirty="0">
                <a:solidFill>
                  <a:srgbClr val="7E93A3"/>
                </a:solidFill>
                <a:latin typeface="Courier New" pitchFamily="34" charset="0"/>
                <a:ea typeface="Courier New" pitchFamily="34" charset="-122"/>
                <a:cs typeface="Courier New" pitchFamily="34" charset="-120"/>
              </a:rPr>
              <a:t>// &lt;RouterView /&gt;  -&gt; wadah tempat halaman dirender</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export default createRouter({</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history: createWebHistory(),</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  routes</a:t>
            </a:r>
            <a:endParaRPr lang="en-US" sz="1050" dirty="0"/>
          </a:p>
          <a:p>
            <a:pPr indent="0" marL="0">
              <a:lnSpc>
                <a:spcPct val="105000"/>
              </a:lnSpc>
              <a:buNone/>
            </a:pPr>
            <a:r>
              <a:rPr lang="en-US" sz="1050" dirty="0">
                <a:solidFill>
                  <a:srgbClr val="E4ECF2"/>
                </a:solidFill>
                <a:latin typeface="Courier New" pitchFamily="34" charset="0"/>
                <a:ea typeface="Courier New" pitchFamily="34" charset="-122"/>
                <a:cs typeface="Courier New" pitchFamily="34" charset="-120"/>
              </a:rPr>
              <a:t>});</a:t>
            </a:r>
            <a:endParaRPr lang="en-US" sz="1050" dirty="0"/>
          </a:p>
        </p:txBody>
      </p:sp>
      <p:sp>
        <p:nvSpPr>
          <p:cNvPr id="7" name="Shape 4"/>
          <p:cNvSpPr/>
          <p:nvPr/>
        </p:nvSpPr>
        <p:spPr>
          <a:xfrm>
            <a:off x="7269480" y="151790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8" name="Shape 5"/>
          <p:cNvSpPr/>
          <p:nvPr/>
        </p:nvSpPr>
        <p:spPr>
          <a:xfrm>
            <a:off x="7479792" y="1773936"/>
            <a:ext cx="420624" cy="420624"/>
          </a:xfrm>
          <a:prstGeom prst="ellipse">
            <a:avLst/>
          </a:prstGeom>
          <a:solidFill>
            <a:srgbClr val="42B883"/>
          </a:solidFill>
          <a:ln w="12700">
            <a:solidFill>
              <a:srgbClr val="42B883"/>
            </a:solidFill>
            <a:prstDash val="solid"/>
          </a:ln>
        </p:spPr>
      </p:sp>
      <p:pic>
        <p:nvPicPr>
          <p:cNvPr id="9" name="Image 1" descr="preencoded.png">    </p:cNvPr>
          <p:cNvPicPr>
            <a:picLocks noChangeAspect="1"/>
          </p:cNvPicPr>
          <p:nvPr/>
        </p:nvPicPr>
        <p:blipFill>
          <a:blip r:embed="rId2"/>
          <a:stretch>
            <a:fillRect/>
          </a:stretch>
        </p:blipFill>
        <p:spPr>
          <a:xfrm>
            <a:off x="7597567" y="1891711"/>
            <a:ext cx="185075" cy="185075"/>
          </a:xfrm>
          <a:prstGeom prst="rect">
            <a:avLst/>
          </a:prstGeom>
        </p:spPr>
      </p:pic>
      <p:sp>
        <p:nvSpPr>
          <p:cNvPr id="10" name="Text 6"/>
          <p:cNvSpPr txBox="1"/>
          <p:nvPr/>
        </p:nvSpPr>
        <p:spPr>
          <a:xfrm>
            <a:off x="8010144" y="1691640"/>
            <a:ext cx="3474720" cy="274320"/>
          </a:xfrm>
          <a:prstGeom prst="rect">
            <a:avLst/>
          </a:prstGeom>
          <a:noFill/>
          <a:ln/>
        </p:spPr>
        <p:txBody>
          <a:bodyPr wrap="square" lIns="0" tIns="0" rIns="0" bIns="0" rtlCol="0" anchor="ctr"/>
          <a:lstStyle/>
          <a:p>
            <a:pPr indent="0" marL="0">
              <a:buNone/>
            </a:pPr>
            <a:r>
              <a:rPr lang="en-US" sz="1300" b="1" dirty="0">
                <a:solidFill>
                  <a:srgbClr val="35495E"/>
                </a:solidFill>
                <a:latin typeface="Calibri" pitchFamily="34" charset="0"/>
                <a:ea typeface="Calibri" pitchFamily="34" charset="-122"/>
                <a:cs typeface="Calibri" pitchFamily="34" charset="-120"/>
              </a:rPr>
              <a:t>Navigasi Deklaratif</a:t>
            </a:r>
            <a:endParaRPr lang="en-US" sz="1300" dirty="0"/>
          </a:p>
        </p:txBody>
      </p:sp>
      <p:sp>
        <p:nvSpPr>
          <p:cNvPr id="11" name="Text 7"/>
          <p:cNvSpPr txBox="1"/>
          <p:nvPr/>
        </p:nvSpPr>
        <p:spPr>
          <a:xfrm>
            <a:off x="8010144" y="2002536"/>
            <a:ext cx="347472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&lt;RouterLink to="/produk"&gt;Produk&lt;/RouterLink&gt; dan &lt;RouterView /&gt; sebagai wadah halaman.</a:t>
            </a:r>
            <a:endParaRPr lang="en-US" sz="1100" dirty="0"/>
          </a:p>
        </p:txBody>
      </p:sp>
      <p:sp>
        <p:nvSpPr>
          <p:cNvPr id="12" name="Shape 8"/>
          <p:cNvSpPr/>
          <p:nvPr/>
        </p:nvSpPr>
        <p:spPr>
          <a:xfrm>
            <a:off x="7269480" y="270662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7479792" y="2962656"/>
            <a:ext cx="420624" cy="420624"/>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7597567" y="3080431"/>
            <a:ext cx="185075" cy="185075"/>
          </a:xfrm>
          <a:prstGeom prst="rect">
            <a:avLst/>
          </a:prstGeom>
        </p:spPr>
      </p:pic>
      <p:sp>
        <p:nvSpPr>
          <p:cNvPr id="15" name="Text 10"/>
          <p:cNvSpPr txBox="1"/>
          <p:nvPr/>
        </p:nvSpPr>
        <p:spPr>
          <a:xfrm>
            <a:off x="8010144" y="2880360"/>
            <a:ext cx="3474720" cy="274320"/>
          </a:xfrm>
          <a:prstGeom prst="rect">
            <a:avLst/>
          </a:prstGeom>
          <a:noFill/>
          <a:ln/>
        </p:spPr>
        <p:txBody>
          <a:bodyPr wrap="square" lIns="0" tIns="0" rIns="0" bIns="0" rtlCol="0" anchor="ctr"/>
          <a:lstStyle/>
          <a:p>
            <a:pPr indent="0" marL="0">
              <a:buNone/>
            </a:pPr>
            <a:r>
              <a:rPr lang="en-US" sz="1300" b="1" dirty="0">
                <a:solidFill>
                  <a:srgbClr val="35495E"/>
                </a:solidFill>
                <a:latin typeface="Calibri" pitchFamily="34" charset="0"/>
                <a:ea typeface="Calibri" pitchFamily="34" charset="-122"/>
                <a:cs typeface="Calibri" pitchFamily="34" charset="-120"/>
              </a:rPr>
              <a:t>Nested Routes</a:t>
            </a:r>
            <a:endParaRPr lang="en-US" sz="1300" dirty="0"/>
          </a:p>
        </p:txBody>
      </p:sp>
      <p:sp>
        <p:nvSpPr>
          <p:cNvPr id="16" name="Text 11"/>
          <p:cNvSpPr txBox="1"/>
          <p:nvPr/>
        </p:nvSpPr>
        <p:spPr>
          <a:xfrm>
            <a:off x="8010144" y="3191256"/>
            <a:ext cx="347472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Rute bersarang untuk layout berlapis seperti dashboard dengan sub-halaman.</a:t>
            </a:r>
            <a:endParaRPr lang="en-US" sz="1100" dirty="0"/>
          </a:p>
        </p:txBody>
      </p:sp>
      <p:sp>
        <p:nvSpPr>
          <p:cNvPr id="17" name="Shape 12"/>
          <p:cNvSpPr/>
          <p:nvPr/>
        </p:nvSpPr>
        <p:spPr>
          <a:xfrm>
            <a:off x="7269480" y="389534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Shape 13"/>
          <p:cNvSpPr/>
          <p:nvPr/>
        </p:nvSpPr>
        <p:spPr>
          <a:xfrm>
            <a:off x="7479792" y="4151376"/>
            <a:ext cx="420624" cy="420624"/>
          </a:xfrm>
          <a:prstGeom prst="ellipse">
            <a:avLst/>
          </a:prstGeom>
          <a:solidFill>
            <a:srgbClr val="42B883"/>
          </a:solidFill>
          <a:ln w="12700">
            <a:solidFill>
              <a:srgbClr val="42B883"/>
            </a:solidFill>
            <a:prstDash val="solid"/>
          </a:ln>
        </p:spPr>
      </p:sp>
      <p:pic>
        <p:nvPicPr>
          <p:cNvPr id="19" name="Image 3" descr="preencoded.png">    </p:cNvPr>
          <p:cNvPicPr>
            <a:picLocks noChangeAspect="1"/>
          </p:cNvPicPr>
          <p:nvPr/>
        </p:nvPicPr>
        <p:blipFill>
          <a:blip r:embed="rId4"/>
          <a:stretch>
            <a:fillRect/>
          </a:stretch>
        </p:blipFill>
        <p:spPr>
          <a:xfrm>
            <a:off x="7597567" y="4269151"/>
            <a:ext cx="185075" cy="185075"/>
          </a:xfrm>
          <a:prstGeom prst="rect">
            <a:avLst/>
          </a:prstGeom>
        </p:spPr>
      </p:pic>
      <p:sp>
        <p:nvSpPr>
          <p:cNvPr id="20" name="Text 14"/>
          <p:cNvSpPr txBox="1"/>
          <p:nvPr/>
        </p:nvSpPr>
        <p:spPr>
          <a:xfrm>
            <a:off x="8010144" y="4069080"/>
            <a:ext cx="3474720" cy="274320"/>
          </a:xfrm>
          <a:prstGeom prst="rect">
            <a:avLst/>
          </a:prstGeom>
          <a:noFill/>
          <a:ln/>
        </p:spPr>
        <p:txBody>
          <a:bodyPr wrap="square" lIns="0" tIns="0" rIns="0" bIns="0" rtlCol="0" anchor="ctr"/>
          <a:lstStyle/>
          <a:p>
            <a:pPr indent="0" marL="0">
              <a:buNone/>
            </a:pPr>
            <a:r>
              <a:rPr lang="en-US" sz="1300" b="1" dirty="0">
                <a:solidFill>
                  <a:srgbClr val="35495E"/>
                </a:solidFill>
                <a:latin typeface="Calibri" pitchFamily="34" charset="0"/>
                <a:ea typeface="Calibri" pitchFamily="34" charset="-122"/>
                <a:cs typeface="Calibri" pitchFamily="34" charset="-120"/>
              </a:rPr>
              <a:t>Navigation Guard</a:t>
            </a:r>
            <a:endParaRPr lang="en-US" sz="1300" dirty="0"/>
          </a:p>
        </p:txBody>
      </p:sp>
      <p:sp>
        <p:nvSpPr>
          <p:cNvPr id="21" name="Text 15"/>
          <p:cNvSpPr txBox="1"/>
          <p:nvPr/>
        </p:nvSpPr>
        <p:spPr>
          <a:xfrm>
            <a:off x="8010144" y="4379976"/>
            <a:ext cx="347472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beforeEach untuk memeriksa autentikasi sebelum halaman dibuka.</a:t>
            </a:r>
            <a:endParaRPr lang="en-US" sz="1100" dirty="0"/>
          </a:p>
        </p:txBody>
      </p:sp>
      <p:sp>
        <p:nvSpPr>
          <p:cNvPr id="22" name="Shape 16"/>
          <p:cNvSpPr/>
          <p:nvPr/>
        </p:nvSpPr>
        <p:spPr>
          <a:xfrm>
            <a:off x="7269480" y="5084064"/>
            <a:ext cx="4370832" cy="1060704"/>
          </a:xfrm>
          <a:prstGeom prst="roundRect">
            <a:avLst>
              <a:gd name="adj" fmla="val 7759"/>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3" name="Shape 17"/>
          <p:cNvSpPr/>
          <p:nvPr/>
        </p:nvSpPr>
        <p:spPr>
          <a:xfrm>
            <a:off x="7479792" y="5340096"/>
            <a:ext cx="420624" cy="420624"/>
          </a:xfrm>
          <a:prstGeom prst="ellipse">
            <a:avLst/>
          </a:prstGeom>
          <a:solidFill>
            <a:srgbClr val="42B883"/>
          </a:solidFill>
          <a:ln w="12700">
            <a:solidFill>
              <a:srgbClr val="42B883"/>
            </a:solidFill>
            <a:prstDash val="solid"/>
          </a:ln>
        </p:spPr>
      </p:sp>
      <p:pic>
        <p:nvPicPr>
          <p:cNvPr id="24" name="Image 4" descr="preencoded.png">    </p:cNvPr>
          <p:cNvPicPr>
            <a:picLocks noChangeAspect="1"/>
          </p:cNvPicPr>
          <p:nvPr/>
        </p:nvPicPr>
        <p:blipFill>
          <a:blip r:embed="rId5"/>
          <a:stretch>
            <a:fillRect/>
          </a:stretch>
        </p:blipFill>
        <p:spPr>
          <a:xfrm>
            <a:off x="7597567" y="5457871"/>
            <a:ext cx="185075" cy="185075"/>
          </a:xfrm>
          <a:prstGeom prst="rect">
            <a:avLst/>
          </a:prstGeom>
        </p:spPr>
      </p:pic>
      <p:sp>
        <p:nvSpPr>
          <p:cNvPr id="25" name="Text 18"/>
          <p:cNvSpPr txBox="1"/>
          <p:nvPr/>
        </p:nvSpPr>
        <p:spPr>
          <a:xfrm>
            <a:off x="8010144" y="5257800"/>
            <a:ext cx="3474720" cy="274320"/>
          </a:xfrm>
          <a:prstGeom prst="rect">
            <a:avLst/>
          </a:prstGeom>
          <a:noFill/>
          <a:ln/>
        </p:spPr>
        <p:txBody>
          <a:bodyPr wrap="square" lIns="0" tIns="0" rIns="0" bIns="0" rtlCol="0" anchor="ctr"/>
          <a:lstStyle/>
          <a:p>
            <a:pPr indent="0" marL="0">
              <a:buNone/>
            </a:pPr>
            <a:r>
              <a:rPr lang="en-US" sz="1300" b="1" dirty="0">
                <a:solidFill>
                  <a:srgbClr val="35495E"/>
                </a:solidFill>
                <a:latin typeface="Calibri" pitchFamily="34" charset="0"/>
                <a:ea typeface="Calibri" pitchFamily="34" charset="-122"/>
                <a:cs typeface="Calibri" pitchFamily="34" charset="-120"/>
              </a:rPr>
              <a:t>Programmatic</a:t>
            </a:r>
            <a:endParaRPr lang="en-US" sz="1300" dirty="0"/>
          </a:p>
        </p:txBody>
      </p:sp>
      <p:sp>
        <p:nvSpPr>
          <p:cNvPr id="26" name="Text 19"/>
          <p:cNvSpPr txBox="1"/>
          <p:nvPr/>
        </p:nvSpPr>
        <p:spPr>
          <a:xfrm>
            <a:off x="8010144" y="5568696"/>
            <a:ext cx="3474720" cy="548640"/>
          </a:xfrm>
          <a:prstGeom prst="rect">
            <a:avLst/>
          </a:prstGeom>
          <a:noFill/>
          <a:ln/>
        </p:spPr>
        <p:txBody>
          <a:bodyPr wrap="square" lIns="0" tIns="0" rIns="0" bIns="0" rtlCol="0" anchor="t"/>
          <a:lstStyle/>
          <a:p>
            <a:pPr indent="0" marL="0">
              <a:lnSpc>
                <a:spcPct val="108000"/>
              </a:lnSpc>
              <a:buNone/>
            </a:pPr>
            <a:r>
              <a:rPr lang="en-US" sz="1100" dirty="0">
                <a:solidFill>
                  <a:srgbClr val="6B7C8C"/>
                </a:solidFill>
                <a:latin typeface="Calibri" pitchFamily="34" charset="0"/>
                <a:ea typeface="Calibri" pitchFamily="34" charset="-122"/>
                <a:cs typeface="Calibri" pitchFamily="34" charset="-120"/>
              </a:rPr>
              <a:t>router.push("/beranda") untuk berpindah halaman dari dalam kode.</a:t>
            </a:r>
            <a:endParaRPr lang="en-US" sz="1100" dirty="0"/>
          </a:p>
        </p:txBody>
      </p:sp>
      <p:sp>
        <p:nvSpPr>
          <p:cNvPr id="27" name="Shape 20"/>
          <p:cNvSpPr/>
          <p:nvPr/>
        </p:nvSpPr>
        <p:spPr>
          <a:xfrm>
            <a:off x="548640" y="5394960"/>
            <a:ext cx="6492240" cy="633057"/>
          </a:xfrm>
          <a:prstGeom prst="roundRect">
            <a:avLst>
              <a:gd name="adj" fmla="val 10111"/>
            </a:avLst>
          </a:prstGeom>
          <a:solidFill>
            <a:srgbClr val="253340"/>
          </a:solidFill>
          <a:ln w="12700">
            <a:solidFill>
              <a:srgbClr val="253340"/>
            </a:solidFill>
            <a:prstDash val="solid"/>
          </a:ln>
        </p:spPr>
      </p:sp>
      <p:sp>
        <p:nvSpPr>
          <p:cNvPr id="28" name="Text 21"/>
          <p:cNvSpPr txBox="1"/>
          <p:nvPr/>
        </p:nvSpPr>
        <p:spPr>
          <a:xfrm>
            <a:off x="676656" y="5513832"/>
            <a:ext cx="6236208" cy="395313"/>
          </a:xfrm>
          <a:prstGeom prst="rect">
            <a:avLst/>
          </a:prstGeom>
          <a:noFill/>
          <a:ln/>
        </p:spPr>
        <p:txBody>
          <a:bodyPr wrap="square" lIns="0" tIns="0" rIns="0" bIns="0" rtlCol="0" anchor="t"/>
          <a:lstStyle/>
          <a:p>
            <a:pPr indent="0" marL="0">
              <a:lnSpc>
                <a:spcPct val="105000"/>
              </a:lnSpc>
              <a:buNone/>
            </a:pPr>
            <a:r>
              <a:rPr lang="en-US" sz="1200" dirty="0">
                <a:solidFill>
                  <a:srgbClr val="7E93A3"/>
                </a:solidFill>
                <a:latin typeface="Courier New" pitchFamily="34" charset="0"/>
                <a:ea typeface="Courier New" pitchFamily="34" charset="-122"/>
                <a:cs typeface="Courier New" pitchFamily="34" charset="-120"/>
              </a:rPr>
              <a:t>// src/main.js</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createApp(App).use(router).mount("#app");</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Pinia — State Management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Penyimpanan data terpusat yang dapat diakses seluruh komponen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pic>
        <p:nvPicPr>
          <p:cNvPr id="5" name="Image 1" descr="preencoded.png">    </p:cNvPr>
          <p:cNvPicPr>
            <a:picLocks noChangeAspect="1"/>
          </p:cNvPicPr>
          <p:nvPr/>
        </p:nvPicPr>
        <p:blipFill>
          <a:blip r:embed="rId2"/>
          <a:stretch>
            <a:fillRect/>
          </a:stretch>
        </p:blipFill>
        <p:spPr>
          <a:xfrm>
            <a:off x="10515600" y="411480"/>
            <a:ext cx="411480" cy="411480"/>
          </a:xfrm>
          <a:prstGeom prst="rect">
            <a:avLst/>
          </a:prstGeom>
        </p:spPr>
      </p:pic>
      <p:sp>
        <p:nvSpPr>
          <p:cNvPr id="6" name="Text 2"/>
          <p:cNvSpPr txBox="1"/>
          <p:nvPr/>
        </p:nvSpPr>
        <p:spPr>
          <a:xfrm>
            <a:off x="548640" y="1463040"/>
            <a:ext cx="548640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src/stores/keranjang.js</a:t>
            </a:r>
            <a:endParaRPr lang="en-US" sz="1150" dirty="0"/>
          </a:p>
        </p:txBody>
      </p:sp>
      <p:sp>
        <p:nvSpPr>
          <p:cNvPr id="7" name="Shape 3"/>
          <p:cNvSpPr/>
          <p:nvPr/>
        </p:nvSpPr>
        <p:spPr>
          <a:xfrm>
            <a:off x="548640" y="1755648"/>
            <a:ext cx="6035040" cy="3507876"/>
          </a:xfrm>
          <a:prstGeom prst="roundRect">
            <a:avLst>
              <a:gd name="adj" fmla="val 1825"/>
            </a:avLst>
          </a:prstGeom>
          <a:solidFill>
            <a:srgbClr val="253340"/>
          </a:solidFill>
          <a:ln w="12700">
            <a:solidFill>
              <a:srgbClr val="253340"/>
            </a:solidFill>
            <a:prstDash val="solid"/>
          </a:ln>
        </p:spPr>
      </p:sp>
      <p:sp>
        <p:nvSpPr>
          <p:cNvPr id="8" name="Text 4"/>
          <p:cNvSpPr txBox="1"/>
          <p:nvPr/>
        </p:nvSpPr>
        <p:spPr>
          <a:xfrm>
            <a:off x="676656" y="1874520"/>
            <a:ext cx="5779008" cy="3270132"/>
          </a:xfrm>
          <a:prstGeom prst="rect">
            <a:avLst/>
          </a:prstGeom>
          <a:noFill/>
          <a:ln/>
        </p:spPr>
        <p:txBody>
          <a:bodyPr wrap="square" lIns="0" tIns="0" rIns="0" bIns="0" rtlCol="0" anchor="t"/>
          <a:lstStyle/>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import { defineStore } from "pinia";</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import { ref, computed } from "vue";</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export const useKeranjang = defineStore("keranjang", () =&gt; {</a:t>
            </a:r>
            <a:endParaRPr lang="en-US" sz="1150" dirty="0"/>
          </a:p>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 STATE</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const barang = ref([]);</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 GETTERS</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const total = computed(() =&gt;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barang.value.reduce((t, b) =&gt; t + b.harga, 0));</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const jumlahItem = computed(() =&gt; barang.value.length);</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7E93A3"/>
                </a:solidFill>
                <a:latin typeface="Courier New" pitchFamily="34" charset="0"/>
                <a:ea typeface="Courier New" pitchFamily="34" charset="-122"/>
                <a:cs typeface="Courier New" pitchFamily="34" charset="-120"/>
              </a:rPr>
              <a:t>  // ACTIONS</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function tambah(item) { barang.value.push(item);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function kosongkan()  { barang.value = [];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return { barang, total, jumlahItem, tambah, kosongkan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a:t>
            </a:r>
            <a:endParaRPr lang="en-US" sz="1150" dirty="0"/>
          </a:p>
        </p:txBody>
      </p:sp>
      <p:sp>
        <p:nvSpPr>
          <p:cNvPr id="9" name="Text 5"/>
          <p:cNvSpPr txBox="1"/>
          <p:nvPr/>
        </p:nvSpPr>
        <p:spPr>
          <a:xfrm>
            <a:off x="6858000" y="1463040"/>
            <a:ext cx="4754880" cy="256032"/>
          </a:xfrm>
          <a:prstGeom prst="rect">
            <a:avLst/>
          </a:prstGeom>
          <a:noFill/>
          <a:ln/>
        </p:spPr>
        <p:txBody>
          <a:bodyPr wrap="square" lIns="0" tIns="0" rIns="0" bIns="0" rtlCol="0" anchor="ctr"/>
          <a:lstStyle/>
          <a:p>
            <a:pPr indent="0" marL="0">
              <a:buNone/>
            </a:pPr>
            <a:r>
              <a:rPr lang="en-US" sz="1150" b="1" dirty="0">
                <a:solidFill>
                  <a:srgbClr val="42B883"/>
                </a:solidFill>
                <a:latin typeface="Calibri" pitchFamily="34" charset="0"/>
                <a:ea typeface="Calibri" pitchFamily="34" charset="-122"/>
                <a:cs typeface="Calibri" pitchFamily="34" charset="-120"/>
              </a:rPr>
              <a:t>Dipakai di komponen</a:t>
            </a:r>
            <a:endParaRPr lang="en-US" sz="1150" dirty="0"/>
          </a:p>
        </p:txBody>
      </p:sp>
      <p:sp>
        <p:nvSpPr>
          <p:cNvPr id="10" name="Shape 6"/>
          <p:cNvSpPr/>
          <p:nvPr/>
        </p:nvSpPr>
        <p:spPr>
          <a:xfrm>
            <a:off x="6858000" y="1755648"/>
            <a:ext cx="4782312" cy="2423928"/>
          </a:xfrm>
          <a:prstGeom prst="roundRect">
            <a:avLst>
              <a:gd name="adj" fmla="val 2641"/>
            </a:avLst>
          </a:prstGeom>
          <a:solidFill>
            <a:srgbClr val="253340"/>
          </a:solidFill>
          <a:ln w="12700">
            <a:solidFill>
              <a:srgbClr val="253340"/>
            </a:solidFill>
            <a:prstDash val="solid"/>
          </a:ln>
        </p:spPr>
      </p:sp>
      <p:sp>
        <p:nvSpPr>
          <p:cNvPr id="11" name="Text 7"/>
          <p:cNvSpPr txBox="1"/>
          <p:nvPr/>
        </p:nvSpPr>
        <p:spPr>
          <a:xfrm>
            <a:off x="6986016" y="1874520"/>
            <a:ext cx="4526280" cy="2186184"/>
          </a:xfrm>
          <a:prstGeom prst="rect">
            <a:avLst/>
          </a:prstGeom>
          <a:noFill/>
          <a:ln/>
        </p:spPr>
        <p:txBody>
          <a:bodyPr wrap="square" lIns="0" tIns="0" rIns="0" bIns="0" rtlCol="0" anchor="t"/>
          <a:lstStyle/>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&lt;script setup&gt;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import { useKeranjang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from "@/stores/keranjang";</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const toko = useKeranjang();</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toko.tambah({ nama: "Buku",</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harga: 50000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&lt;/script&gt;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&lt;template&gt;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  &lt;p&gt;Total: {{ toko.total }}&lt;/p&gt;</a:t>
            </a:r>
            <a:endParaRPr lang="en-US" sz="1150" dirty="0"/>
          </a:p>
          <a:p>
            <a:pPr indent="0" marL="0">
              <a:lnSpc>
                <a:spcPct val="105000"/>
              </a:lnSpc>
              <a:buNone/>
            </a:pPr>
            <a:r>
              <a:rPr lang="en-US" sz="1150" dirty="0">
                <a:solidFill>
                  <a:srgbClr val="E4ECF2"/>
                </a:solidFill>
                <a:latin typeface="Courier New" pitchFamily="34" charset="0"/>
                <a:ea typeface="Courier New" pitchFamily="34" charset="-122"/>
                <a:cs typeface="Courier New" pitchFamily="34" charset="-120"/>
              </a:rPr>
              <a:t>&lt;/template&gt;</a:t>
            </a:r>
            <a:endParaRPr lang="en-US" sz="1150" dirty="0"/>
          </a:p>
        </p:txBody>
      </p:sp>
      <p:sp>
        <p:nvSpPr>
          <p:cNvPr id="12" name="Shape 8"/>
          <p:cNvSpPr/>
          <p:nvPr/>
        </p:nvSpPr>
        <p:spPr>
          <a:xfrm>
            <a:off x="6858000" y="4553712"/>
            <a:ext cx="4782312" cy="548640"/>
          </a:xfrm>
          <a:prstGeom prst="roundRect">
            <a:avLst>
              <a:gd name="adj" fmla="val 15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7040880" y="4645152"/>
            <a:ext cx="384048" cy="384048"/>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7148413" y="4752685"/>
            <a:ext cx="168981" cy="168981"/>
          </a:xfrm>
          <a:prstGeom prst="rect">
            <a:avLst/>
          </a:prstGeom>
        </p:spPr>
      </p:pic>
      <p:sp>
        <p:nvSpPr>
          <p:cNvPr id="15" name="Text 10"/>
          <p:cNvSpPr txBox="1"/>
          <p:nvPr/>
        </p:nvSpPr>
        <p:spPr>
          <a:xfrm>
            <a:off x="7516368" y="4581144"/>
            <a:ext cx="3977640" cy="256032"/>
          </a:xfrm>
          <a:prstGeom prst="rect">
            <a:avLst/>
          </a:prstGeom>
          <a:noFill/>
          <a:ln/>
        </p:spPr>
        <p:txBody>
          <a:bodyPr wrap="square" lIns="0" tIns="0" rIns="0" bIns="0" rtlCol="0" anchor="ctr"/>
          <a:lstStyle/>
          <a:p>
            <a:pPr indent="0" marL="0">
              <a:buNone/>
            </a:pPr>
            <a:r>
              <a:rPr lang="en-US" sz="1250" b="1" dirty="0">
                <a:solidFill>
                  <a:srgbClr val="35495E"/>
                </a:solidFill>
                <a:latin typeface="Calibri" pitchFamily="34" charset="0"/>
                <a:ea typeface="Calibri" pitchFamily="34" charset="-122"/>
                <a:cs typeface="Calibri" pitchFamily="34" charset="-120"/>
              </a:rPr>
              <a:t>Ringan &amp; Sederhana</a:t>
            </a:r>
            <a:endParaRPr lang="en-US" sz="1250" dirty="0"/>
          </a:p>
        </p:txBody>
      </p:sp>
      <p:sp>
        <p:nvSpPr>
          <p:cNvPr id="16" name="Text 11"/>
          <p:cNvSpPr txBox="1"/>
          <p:nvPr/>
        </p:nvSpPr>
        <p:spPr>
          <a:xfrm>
            <a:off x="7516368" y="4837176"/>
            <a:ext cx="3977640" cy="274320"/>
          </a:xfrm>
          <a:prstGeom prst="rect">
            <a:avLst/>
          </a:prstGeom>
          <a:noFill/>
          <a:ln/>
        </p:spPr>
        <p:txBody>
          <a:bodyPr wrap="square" lIns="0" tIns="0" rIns="0" bIns="0" rtlCol="0" anchor="ctr"/>
          <a:lstStyle/>
          <a:p>
            <a:pPr indent="0" marL="0">
              <a:buNone/>
            </a:pPr>
            <a:r>
              <a:rPr lang="en-US" sz="1050" dirty="0">
                <a:solidFill>
                  <a:srgbClr val="6B7C8C"/>
                </a:solidFill>
                <a:latin typeface="Calibri" pitchFamily="34" charset="0"/>
                <a:ea typeface="Calibri" pitchFamily="34" charset="-122"/>
                <a:cs typeface="Calibri" pitchFamily="34" charset="-120"/>
              </a:rPr>
              <a:t>Tanpa mutations dan boilerplate seperti Vuex.</a:t>
            </a:r>
            <a:endParaRPr lang="en-US" sz="1050" dirty="0"/>
          </a:p>
        </p:txBody>
      </p:sp>
      <p:sp>
        <p:nvSpPr>
          <p:cNvPr id="17" name="Shape 12"/>
          <p:cNvSpPr/>
          <p:nvPr/>
        </p:nvSpPr>
        <p:spPr>
          <a:xfrm>
            <a:off x="6858000" y="5175504"/>
            <a:ext cx="4782312" cy="548640"/>
          </a:xfrm>
          <a:prstGeom prst="roundRect">
            <a:avLst>
              <a:gd name="adj" fmla="val 15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Shape 13"/>
          <p:cNvSpPr/>
          <p:nvPr/>
        </p:nvSpPr>
        <p:spPr>
          <a:xfrm>
            <a:off x="7040880" y="5266944"/>
            <a:ext cx="384048" cy="384048"/>
          </a:xfrm>
          <a:prstGeom prst="ellipse">
            <a:avLst/>
          </a:prstGeom>
          <a:solidFill>
            <a:srgbClr val="E9F5EF"/>
          </a:solidFill>
          <a:ln w="12700">
            <a:solidFill>
              <a:srgbClr val="333333"/>
            </a:solidFill>
            <a:prstDash val="solid"/>
          </a:ln>
        </p:spPr>
      </p:sp>
      <p:pic>
        <p:nvPicPr>
          <p:cNvPr id="19" name="Image 3" descr="preencoded.png">    </p:cNvPr>
          <p:cNvPicPr>
            <a:picLocks noChangeAspect="1"/>
          </p:cNvPicPr>
          <p:nvPr/>
        </p:nvPicPr>
        <p:blipFill>
          <a:blip r:embed="rId4"/>
          <a:stretch>
            <a:fillRect/>
          </a:stretch>
        </p:blipFill>
        <p:spPr>
          <a:xfrm>
            <a:off x="7114032" y="5340096"/>
            <a:ext cx="237744" cy="237744"/>
          </a:xfrm>
          <a:prstGeom prst="rect">
            <a:avLst/>
          </a:prstGeom>
        </p:spPr>
      </p:pic>
      <p:sp>
        <p:nvSpPr>
          <p:cNvPr id="20" name="Text 14"/>
          <p:cNvSpPr txBox="1"/>
          <p:nvPr/>
        </p:nvSpPr>
        <p:spPr>
          <a:xfrm>
            <a:off x="7516368" y="5202936"/>
            <a:ext cx="3977640" cy="256032"/>
          </a:xfrm>
          <a:prstGeom prst="rect">
            <a:avLst/>
          </a:prstGeom>
          <a:noFill/>
          <a:ln/>
        </p:spPr>
        <p:txBody>
          <a:bodyPr wrap="square" lIns="0" tIns="0" rIns="0" bIns="0" rtlCol="0" anchor="ctr"/>
          <a:lstStyle/>
          <a:p>
            <a:pPr indent="0" marL="0">
              <a:buNone/>
            </a:pPr>
            <a:r>
              <a:rPr lang="en-US" sz="1250" b="1" dirty="0">
                <a:solidFill>
                  <a:srgbClr val="35495E"/>
                </a:solidFill>
                <a:latin typeface="Calibri" pitchFamily="34" charset="0"/>
                <a:ea typeface="Calibri" pitchFamily="34" charset="-122"/>
                <a:cs typeface="Calibri" pitchFamily="34" charset="-120"/>
              </a:rPr>
              <a:t>TypeScript Penuh</a:t>
            </a:r>
            <a:endParaRPr lang="en-US" sz="1250" dirty="0"/>
          </a:p>
        </p:txBody>
      </p:sp>
      <p:sp>
        <p:nvSpPr>
          <p:cNvPr id="21" name="Text 15"/>
          <p:cNvSpPr txBox="1"/>
          <p:nvPr/>
        </p:nvSpPr>
        <p:spPr>
          <a:xfrm>
            <a:off x="7516368" y="5458968"/>
            <a:ext cx="3977640" cy="274320"/>
          </a:xfrm>
          <a:prstGeom prst="rect">
            <a:avLst/>
          </a:prstGeom>
          <a:noFill/>
          <a:ln/>
        </p:spPr>
        <p:txBody>
          <a:bodyPr wrap="square" lIns="0" tIns="0" rIns="0" bIns="0" rtlCol="0" anchor="ctr"/>
          <a:lstStyle/>
          <a:p>
            <a:pPr indent="0" marL="0">
              <a:buNone/>
            </a:pPr>
            <a:r>
              <a:rPr lang="en-US" sz="1050" dirty="0">
                <a:solidFill>
                  <a:srgbClr val="6B7C8C"/>
                </a:solidFill>
                <a:latin typeface="Calibri" pitchFamily="34" charset="0"/>
                <a:ea typeface="Calibri" pitchFamily="34" charset="-122"/>
                <a:cs typeface="Calibri" pitchFamily="34" charset="-120"/>
              </a:rPr>
              <a:t>Type inference otomatis untuk state dan action.</a:t>
            </a:r>
            <a:endParaRPr lang="en-US" sz="1050" dirty="0"/>
          </a:p>
        </p:txBody>
      </p:sp>
      <p:sp>
        <p:nvSpPr>
          <p:cNvPr id="22" name="Shape 16"/>
          <p:cNvSpPr/>
          <p:nvPr/>
        </p:nvSpPr>
        <p:spPr>
          <a:xfrm>
            <a:off x="6858000" y="5797296"/>
            <a:ext cx="4782312" cy="548640"/>
          </a:xfrm>
          <a:prstGeom prst="roundRect">
            <a:avLst>
              <a:gd name="adj" fmla="val 15000"/>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3" name="Shape 17"/>
          <p:cNvSpPr/>
          <p:nvPr/>
        </p:nvSpPr>
        <p:spPr>
          <a:xfrm>
            <a:off x="7040880" y="5888736"/>
            <a:ext cx="384048" cy="384048"/>
          </a:xfrm>
          <a:prstGeom prst="ellipse">
            <a:avLst/>
          </a:prstGeom>
          <a:solidFill>
            <a:srgbClr val="42B883"/>
          </a:solidFill>
          <a:ln w="12700">
            <a:solidFill>
              <a:srgbClr val="42B883"/>
            </a:solidFill>
            <a:prstDash val="solid"/>
          </a:ln>
        </p:spPr>
      </p:sp>
      <p:pic>
        <p:nvPicPr>
          <p:cNvPr id="24" name="Image 4" descr="preencoded.png">    </p:cNvPr>
          <p:cNvPicPr>
            <a:picLocks noChangeAspect="1"/>
          </p:cNvPicPr>
          <p:nvPr/>
        </p:nvPicPr>
        <p:blipFill>
          <a:blip r:embed="rId5"/>
          <a:stretch>
            <a:fillRect/>
          </a:stretch>
        </p:blipFill>
        <p:spPr>
          <a:xfrm>
            <a:off x="7148413" y="5996269"/>
            <a:ext cx="168981" cy="168981"/>
          </a:xfrm>
          <a:prstGeom prst="rect">
            <a:avLst/>
          </a:prstGeom>
        </p:spPr>
      </p:pic>
      <p:sp>
        <p:nvSpPr>
          <p:cNvPr id="25" name="Text 18"/>
          <p:cNvSpPr txBox="1"/>
          <p:nvPr/>
        </p:nvSpPr>
        <p:spPr>
          <a:xfrm>
            <a:off x="7516368" y="5824728"/>
            <a:ext cx="3977640" cy="256032"/>
          </a:xfrm>
          <a:prstGeom prst="rect">
            <a:avLst/>
          </a:prstGeom>
          <a:noFill/>
          <a:ln/>
        </p:spPr>
        <p:txBody>
          <a:bodyPr wrap="square" lIns="0" tIns="0" rIns="0" bIns="0" rtlCol="0" anchor="ctr"/>
          <a:lstStyle/>
          <a:p>
            <a:pPr indent="0" marL="0">
              <a:buNone/>
            </a:pPr>
            <a:r>
              <a:rPr lang="en-US" sz="1250" b="1" dirty="0">
                <a:solidFill>
                  <a:srgbClr val="35495E"/>
                </a:solidFill>
                <a:latin typeface="Calibri" pitchFamily="34" charset="0"/>
                <a:ea typeface="Calibri" pitchFamily="34" charset="-122"/>
                <a:cs typeface="Calibri" pitchFamily="34" charset="-120"/>
              </a:rPr>
              <a:t>Modular</a:t>
            </a:r>
            <a:endParaRPr lang="en-US" sz="1250" dirty="0"/>
          </a:p>
        </p:txBody>
      </p:sp>
      <p:sp>
        <p:nvSpPr>
          <p:cNvPr id="26" name="Text 19"/>
          <p:cNvSpPr txBox="1"/>
          <p:nvPr/>
        </p:nvSpPr>
        <p:spPr>
          <a:xfrm>
            <a:off x="7516368" y="6080760"/>
            <a:ext cx="3977640" cy="274320"/>
          </a:xfrm>
          <a:prstGeom prst="rect">
            <a:avLst/>
          </a:prstGeom>
          <a:noFill/>
          <a:ln/>
        </p:spPr>
        <p:txBody>
          <a:bodyPr wrap="square" lIns="0" tIns="0" rIns="0" bIns="0" rtlCol="0" anchor="ctr"/>
          <a:lstStyle/>
          <a:p>
            <a:pPr indent="0" marL="0">
              <a:buNone/>
            </a:pPr>
            <a:r>
              <a:rPr lang="en-US" sz="1050" dirty="0">
                <a:solidFill>
                  <a:srgbClr val="6B7C8C"/>
                </a:solidFill>
                <a:latin typeface="Calibri" pitchFamily="34" charset="0"/>
                <a:ea typeface="Calibri" pitchFamily="34" charset="-122"/>
                <a:cs typeface="Calibri" pitchFamily="34" charset="-120"/>
              </a:rPr>
              <a:t>Setiap fitur punya store sendiri, mudah dipecah.</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Transisi &amp; Animasi</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Komponen bawaan Vue untuk animasi masuk dan keluar elemen</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5943600" cy="3649261"/>
          </a:xfrm>
          <a:prstGeom prst="roundRect">
            <a:avLst>
              <a:gd name="adj" fmla="val 1754"/>
            </a:avLst>
          </a:prstGeom>
          <a:solidFill>
            <a:srgbClr val="253340"/>
          </a:solidFill>
          <a:ln w="12700">
            <a:solidFill>
              <a:srgbClr val="253340"/>
            </a:solidFill>
            <a:prstDash val="solid"/>
          </a:ln>
        </p:spPr>
      </p:sp>
      <p:sp>
        <p:nvSpPr>
          <p:cNvPr id="6" name="Text 3"/>
          <p:cNvSpPr txBox="1"/>
          <p:nvPr/>
        </p:nvSpPr>
        <p:spPr>
          <a:xfrm>
            <a:off x="676656" y="1636776"/>
            <a:ext cx="5687568" cy="3411517"/>
          </a:xfrm>
          <a:prstGeom prst="rect">
            <a:avLst/>
          </a:prstGeom>
          <a:noFill/>
          <a:ln/>
        </p:spPr>
        <p:txBody>
          <a:bodyPr wrap="square" lIns="0" tIns="0" rIns="0" bIns="0" rtlCol="0" anchor="t"/>
          <a:lstStyle/>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&lt;button @click="tampil = !tampil"&gt;Ganti&lt;/button&gt;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&lt;Transition name="pudar"&gt;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&lt;p v-if="tampil"&gt;Halo dari Vue!&lt;/p&gt;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&lt;/Transition&gt;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&lt;TransitionGroup name="daftar" tag="ul"&gt;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&lt;li v-for="i in items" :key="i.id"&gt;{{ i.teks }}&lt;/li&gt;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&lt;/TransitionGroup&gt;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&lt;/template&gt;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&lt;style scoped&gt;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.pudar-enter-active, .pudar-leave-active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  transition: opacity 0.4s ease;</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.pudar-enter-from, .pudar-leave-to { opacity: 0; }</a:t>
            </a:r>
            <a:endParaRPr lang="en-US" sz="1200" dirty="0"/>
          </a:p>
          <a:p>
            <a:pPr indent="0" marL="0">
              <a:lnSpc>
                <a:spcPct val="105000"/>
              </a:lnSpc>
              <a:buNone/>
            </a:pPr>
            <a:r>
              <a:rPr lang="en-US" sz="1200" dirty="0">
                <a:solidFill>
                  <a:srgbClr val="E4ECF2"/>
                </a:solidFill>
                <a:latin typeface="Courier New" pitchFamily="34" charset="0"/>
                <a:ea typeface="Courier New" pitchFamily="34" charset="-122"/>
                <a:cs typeface="Courier New" pitchFamily="34" charset="-120"/>
              </a:rPr>
              <a:t>&lt;/style&gt;</a:t>
            </a:r>
            <a:endParaRPr lang="en-US" sz="1200" dirty="0"/>
          </a:p>
        </p:txBody>
      </p:sp>
      <p:sp>
        <p:nvSpPr>
          <p:cNvPr id="7" name="Shape 4"/>
          <p:cNvSpPr/>
          <p:nvPr/>
        </p:nvSpPr>
        <p:spPr>
          <a:xfrm>
            <a:off x="548640" y="5394960"/>
            <a:ext cx="5943600" cy="868680"/>
          </a:xfrm>
          <a:prstGeom prst="roundRect">
            <a:avLst>
              <a:gd name="adj" fmla="val 9474"/>
            </a:avLst>
          </a:prstGeom>
          <a:solidFill>
            <a:srgbClr val="E9F5EF"/>
          </a:solidFill>
          <a:ln w="12700">
            <a:solidFill>
              <a:srgbClr val="333333"/>
            </a:solidFill>
            <a:prstDash val="solid"/>
          </a:ln>
        </p:spPr>
      </p:sp>
      <p:sp>
        <p:nvSpPr>
          <p:cNvPr id="8" name="Text 5"/>
          <p:cNvSpPr txBox="1"/>
          <p:nvPr/>
        </p:nvSpPr>
        <p:spPr>
          <a:xfrm>
            <a:off x="777240" y="5394960"/>
            <a:ext cx="5486400" cy="868680"/>
          </a:xfrm>
          <a:prstGeom prst="rect">
            <a:avLst/>
          </a:prstGeom>
          <a:noFill/>
          <a:ln/>
        </p:spPr>
        <p:txBody>
          <a:bodyPr wrap="square" lIns="0" tIns="0" rIns="0" bIns="0" rtlCol="0" anchor="ctr"/>
          <a:lstStyle/>
          <a:p>
            <a:pPr indent="0" marL="0">
              <a:lnSpc>
                <a:spcPct val="112000"/>
              </a:lnSpc>
              <a:buNone/>
            </a:pPr>
            <a:r>
              <a:rPr lang="en-US" sz="1150" dirty="0">
                <a:solidFill>
                  <a:srgbClr val="35495E"/>
                </a:solidFill>
                <a:latin typeface="Calibri" pitchFamily="34" charset="0"/>
                <a:ea typeface="Calibri" pitchFamily="34" charset="-122"/>
                <a:cs typeface="Calibri" pitchFamily="34" charset="-120"/>
              </a:rPr>
              <a:t>&lt;Transition&gt; membungkus satu elemen, sedangkan &lt;TransitionGroup&gt; untuk daftar yang item-nya bertambah atau berkurang.</a:t>
            </a:r>
            <a:endParaRPr lang="en-US" sz="1150" dirty="0"/>
          </a:p>
        </p:txBody>
      </p:sp>
      <p:sp>
        <p:nvSpPr>
          <p:cNvPr id="9" name="Text 6"/>
          <p:cNvSpPr txBox="1"/>
          <p:nvPr/>
        </p:nvSpPr>
        <p:spPr>
          <a:xfrm>
            <a:off x="6720840" y="1517904"/>
            <a:ext cx="4937760" cy="256032"/>
          </a:xfrm>
          <a:prstGeom prst="rect">
            <a:avLst/>
          </a:prstGeom>
          <a:noFill/>
          <a:ln/>
        </p:spPr>
        <p:txBody>
          <a:bodyPr wrap="square" lIns="0" tIns="0" rIns="0" bIns="0" rtlCol="0" anchor="ctr"/>
          <a:lstStyle/>
          <a:p>
            <a:pPr indent="0" marL="0">
              <a:buNone/>
            </a:pPr>
            <a:r>
              <a:rPr lang="en-US" sz="1200" b="1" dirty="0">
                <a:solidFill>
                  <a:srgbClr val="42B883"/>
                </a:solidFill>
                <a:latin typeface="Calibri" pitchFamily="34" charset="0"/>
                <a:ea typeface="Calibri" pitchFamily="34" charset="-122"/>
                <a:cs typeface="Calibri" pitchFamily="34" charset="-120"/>
              </a:rPr>
              <a:t>ENAM KELAS CSS TRANSISI</a:t>
            </a:r>
            <a:endParaRPr lang="en-US" sz="1200" dirty="0"/>
          </a:p>
        </p:txBody>
      </p:sp>
      <p:sp>
        <p:nvSpPr>
          <p:cNvPr id="10" name="Shape 7"/>
          <p:cNvSpPr/>
          <p:nvPr/>
        </p:nvSpPr>
        <p:spPr>
          <a:xfrm>
            <a:off x="6720840" y="1847088"/>
            <a:ext cx="4919472" cy="502920"/>
          </a:xfrm>
          <a:prstGeom prst="roundRect">
            <a:avLst>
              <a:gd name="adj" fmla="val 12727"/>
            </a:avLst>
          </a:prstGeom>
          <a:solidFill>
            <a:srgbClr val="EDF4F1"/>
          </a:solidFill>
          <a:ln w="12700">
            <a:solidFill>
              <a:srgbClr val="333333"/>
            </a:solidFill>
            <a:prstDash val="solid"/>
          </a:ln>
        </p:spPr>
      </p:sp>
      <p:sp>
        <p:nvSpPr>
          <p:cNvPr id="11" name="Text 8"/>
          <p:cNvSpPr txBox="1"/>
          <p:nvPr/>
        </p:nvSpPr>
        <p:spPr>
          <a:xfrm>
            <a:off x="6903720" y="1847088"/>
            <a:ext cx="1645920" cy="502920"/>
          </a:xfrm>
          <a:prstGeom prst="rect">
            <a:avLst/>
          </a:prstGeom>
          <a:noFill/>
          <a:ln/>
        </p:spPr>
        <p:txBody>
          <a:bodyPr wrap="square" lIns="0" tIns="0" rIns="0" bIns="0" rtlCol="0" anchor="ctr"/>
          <a:lstStyle/>
          <a:p>
            <a:pPr indent="0" marL="0">
              <a:buNone/>
            </a:pPr>
            <a:r>
              <a:rPr lang="en-US" sz="1150" b="1" dirty="0">
                <a:solidFill>
                  <a:srgbClr val="2F9E6E"/>
                </a:solidFill>
                <a:latin typeface="Courier New" pitchFamily="34" charset="0"/>
                <a:ea typeface="Courier New" pitchFamily="34" charset="-122"/>
                <a:cs typeface="Courier New" pitchFamily="34" charset="-120"/>
              </a:rPr>
              <a:t>v-enter-from</a:t>
            </a:r>
            <a:endParaRPr lang="en-US" sz="1150" dirty="0"/>
          </a:p>
        </p:txBody>
      </p:sp>
      <p:sp>
        <p:nvSpPr>
          <p:cNvPr id="12" name="Text 9"/>
          <p:cNvSpPr txBox="1"/>
          <p:nvPr/>
        </p:nvSpPr>
        <p:spPr>
          <a:xfrm>
            <a:off x="8549640" y="1847088"/>
            <a:ext cx="2926080" cy="5029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Keadaan awal saat elemen mulai muncul</a:t>
            </a:r>
            <a:endParaRPr lang="en-US" sz="1100" dirty="0"/>
          </a:p>
        </p:txBody>
      </p:sp>
      <p:sp>
        <p:nvSpPr>
          <p:cNvPr id="13" name="Shape 10"/>
          <p:cNvSpPr/>
          <p:nvPr/>
        </p:nvSpPr>
        <p:spPr>
          <a:xfrm>
            <a:off x="6720840" y="2423160"/>
            <a:ext cx="4919472" cy="502920"/>
          </a:xfrm>
          <a:prstGeom prst="roundRect">
            <a:avLst>
              <a:gd name="adj" fmla="val 12727"/>
            </a:avLst>
          </a:prstGeom>
          <a:solidFill>
            <a:srgbClr val="FFFFFF"/>
          </a:solidFill>
          <a:ln w="12700">
            <a:solidFill>
              <a:srgbClr val="333333"/>
            </a:solidFill>
            <a:prstDash val="solid"/>
          </a:ln>
        </p:spPr>
      </p:sp>
      <p:sp>
        <p:nvSpPr>
          <p:cNvPr id="14" name="Text 11"/>
          <p:cNvSpPr txBox="1"/>
          <p:nvPr/>
        </p:nvSpPr>
        <p:spPr>
          <a:xfrm>
            <a:off x="6903720" y="2423160"/>
            <a:ext cx="1645920" cy="502920"/>
          </a:xfrm>
          <a:prstGeom prst="rect">
            <a:avLst/>
          </a:prstGeom>
          <a:noFill/>
          <a:ln/>
        </p:spPr>
        <p:txBody>
          <a:bodyPr wrap="square" lIns="0" tIns="0" rIns="0" bIns="0" rtlCol="0" anchor="ctr"/>
          <a:lstStyle/>
          <a:p>
            <a:pPr indent="0" marL="0">
              <a:buNone/>
            </a:pPr>
            <a:r>
              <a:rPr lang="en-US" sz="1150" b="1" dirty="0">
                <a:solidFill>
                  <a:srgbClr val="2F9E6E"/>
                </a:solidFill>
                <a:latin typeface="Courier New" pitchFamily="34" charset="0"/>
                <a:ea typeface="Courier New" pitchFamily="34" charset="-122"/>
                <a:cs typeface="Courier New" pitchFamily="34" charset="-120"/>
              </a:rPr>
              <a:t>v-enter-active</a:t>
            </a:r>
            <a:endParaRPr lang="en-US" sz="1150" dirty="0"/>
          </a:p>
        </p:txBody>
      </p:sp>
      <p:sp>
        <p:nvSpPr>
          <p:cNvPr id="15" name="Text 12"/>
          <p:cNvSpPr txBox="1"/>
          <p:nvPr/>
        </p:nvSpPr>
        <p:spPr>
          <a:xfrm>
            <a:off x="8549640" y="2423160"/>
            <a:ext cx="2926080" cy="5029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Berlaku selama proses masuk berlangsung</a:t>
            </a:r>
            <a:endParaRPr lang="en-US" sz="1100" dirty="0"/>
          </a:p>
        </p:txBody>
      </p:sp>
      <p:sp>
        <p:nvSpPr>
          <p:cNvPr id="16" name="Shape 13"/>
          <p:cNvSpPr/>
          <p:nvPr/>
        </p:nvSpPr>
        <p:spPr>
          <a:xfrm>
            <a:off x="6720840" y="2999232"/>
            <a:ext cx="4919472" cy="502920"/>
          </a:xfrm>
          <a:prstGeom prst="roundRect">
            <a:avLst>
              <a:gd name="adj" fmla="val 12727"/>
            </a:avLst>
          </a:prstGeom>
          <a:solidFill>
            <a:srgbClr val="EDF4F1"/>
          </a:solidFill>
          <a:ln w="12700">
            <a:solidFill>
              <a:srgbClr val="333333"/>
            </a:solidFill>
            <a:prstDash val="solid"/>
          </a:ln>
        </p:spPr>
      </p:sp>
      <p:sp>
        <p:nvSpPr>
          <p:cNvPr id="17" name="Text 14"/>
          <p:cNvSpPr txBox="1"/>
          <p:nvPr/>
        </p:nvSpPr>
        <p:spPr>
          <a:xfrm>
            <a:off x="6903720" y="2999232"/>
            <a:ext cx="1645920" cy="502920"/>
          </a:xfrm>
          <a:prstGeom prst="rect">
            <a:avLst/>
          </a:prstGeom>
          <a:noFill/>
          <a:ln/>
        </p:spPr>
        <p:txBody>
          <a:bodyPr wrap="square" lIns="0" tIns="0" rIns="0" bIns="0" rtlCol="0" anchor="ctr"/>
          <a:lstStyle/>
          <a:p>
            <a:pPr indent="0" marL="0">
              <a:buNone/>
            </a:pPr>
            <a:r>
              <a:rPr lang="en-US" sz="1150" b="1" dirty="0">
                <a:solidFill>
                  <a:srgbClr val="2F9E6E"/>
                </a:solidFill>
                <a:latin typeface="Courier New" pitchFamily="34" charset="0"/>
                <a:ea typeface="Courier New" pitchFamily="34" charset="-122"/>
                <a:cs typeface="Courier New" pitchFamily="34" charset="-120"/>
              </a:rPr>
              <a:t>v-enter-to</a:t>
            </a:r>
            <a:endParaRPr lang="en-US" sz="1150" dirty="0"/>
          </a:p>
        </p:txBody>
      </p:sp>
      <p:sp>
        <p:nvSpPr>
          <p:cNvPr id="18" name="Text 15"/>
          <p:cNvSpPr txBox="1"/>
          <p:nvPr/>
        </p:nvSpPr>
        <p:spPr>
          <a:xfrm>
            <a:off x="8549640" y="2999232"/>
            <a:ext cx="2926080" cy="5029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Keadaan akhir setelah elemen muncul</a:t>
            </a:r>
            <a:endParaRPr lang="en-US" sz="1100" dirty="0"/>
          </a:p>
        </p:txBody>
      </p:sp>
      <p:sp>
        <p:nvSpPr>
          <p:cNvPr id="19" name="Shape 16"/>
          <p:cNvSpPr/>
          <p:nvPr/>
        </p:nvSpPr>
        <p:spPr>
          <a:xfrm>
            <a:off x="6720840" y="3575304"/>
            <a:ext cx="4919472" cy="502920"/>
          </a:xfrm>
          <a:prstGeom prst="roundRect">
            <a:avLst>
              <a:gd name="adj" fmla="val 12727"/>
            </a:avLst>
          </a:prstGeom>
          <a:solidFill>
            <a:srgbClr val="FFFFFF"/>
          </a:solidFill>
          <a:ln w="12700">
            <a:solidFill>
              <a:srgbClr val="333333"/>
            </a:solidFill>
            <a:prstDash val="solid"/>
          </a:ln>
        </p:spPr>
      </p:sp>
      <p:sp>
        <p:nvSpPr>
          <p:cNvPr id="20" name="Text 17"/>
          <p:cNvSpPr txBox="1"/>
          <p:nvPr/>
        </p:nvSpPr>
        <p:spPr>
          <a:xfrm>
            <a:off x="6903720" y="3575304"/>
            <a:ext cx="1645920" cy="502920"/>
          </a:xfrm>
          <a:prstGeom prst="rect">
            <a:avLst/>
          </a:prstGeom>
          <a:noFill/>
          <a:ln/>
        </p:spPr>
        <p:txBody>
          <a:bodyPr wrap="square" lIns="0" tIns="0" rIns="0" bIns="0" rtlCol="0" anchor="ctr"/>
          <a:lstStyle/>
          <a:p>
            <a:pPr indent="0" marL="0">
              <a:buNone/>
            </a:pPr>
            <a:r>
              <a:rPr lang="en-US" sz="1150" b="1" dirty="0">
                <a:solidFill>
                  <a:srgbClr val="2F9E6E"/>
                </a:solidFill>
                <a:latin typeface="Courier New" pitchFamily="34" charset="0"/>
                <a:ea typeface="Courier New" pitchFamily="34" charset="-122"/>
                <a:cs typeface="Courier New" pitchFamily="34" charset="-120"/>
              </a:rPr>
              <a:t>v-leave-from</a:t>
            </a:r>
            <a:endParaRPr lang="en-US" sz="1150" dirty="0"/>
          </a:p>
        </p:txBody>
      </p:sp>
      <p:sp>
        <p:nvSpPr>
          <p:cNvPr id="21" name="Text 18"/>
          <p:cNvSpPr txBox="1"/>
          <p:nvPr/>
        </p:nvSpPr>
        <p:spPr>
          <a:xfrm>
            <a:off x="8549640" y="3575304"/>
            <a:ext cx="2926080" cy="5029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Keadaan awal saat elemen mulai hilang</a:t>
            </a:r>
            <a:endParaRPr lang="en-US" sz="1100" dirty="0"/>
          </a:p>
        </p:txBody>
      </p:sp>
      <p:sp>
        <p:nvSpPr>
          <p:cNvPr id="22" name="Shape 19"/>
          <p:cNvSpPr/>
          <p:nvPr/>
        </p:nvSpPr>
        <p:spPr>
          <a:xfrm>
            <a:off x="6720840" y="4151376"/>
            <a:ext cx="4919472" cy="502920"/>
          </a:xfrm>
          <a:prstGeom prst="roundRect">
            <a:avLst>
              <a:gd name="adj" fmla="val 12727"/>
            </a:avLst>
          </a:prstGeom>
          <a:solidFill>
            <a:srgbClr val="EDF4F1"/>
          </a:solidFill>
          <a:ln w="12700">
            <a:solidFill>
              <a:srgbClr val="333333"/>
            </a:solidFill>
            <a:prstDash val="solid"/>
          </a:ln>
        </p:spPr>
      </p:sp>
      <p:sp>
        <p:nvSpPr>
          <p:cNvPr id="23" name="Text 20"/>
          <p:cNvSpPr txBox="1"/>
          <p:nvPr/>
        </p:nvSpPr>
        <p:spPr>
          <a:xfrm>
            <a:off x="6903720" y="4151376"/>
            <a:ext cx="1645920" cy="502920"/>
          </a:xfrm>
          <a:prstGeom prst="rect">
            <a:avLst/>
          </a:prstGeom>
          <a:noFill/>
          <a:ln/>
        </p:spPr>
        <p:txBody>
          <a:bodyPr wrap="square" lIns="0" tIns="0" rIns="0" bIns="0" rtlCol="0" anchor="ctr"/>
          <a:lstStyle/>
          <a:p>
            <a:pPr indent="0" marL="0">
              <a:buNone/>
            </a:pPr>
            <a:r>
              <a:rPr lang="en-US" sz="1150" b="1" dirty="0">
                <a:solidFill>
                  <a:srgbClr val="2F9E6E"/>
                </a:solidFill>
                <a:latin typeface="Courier New" pitchFamily="34" charset="0"/>
                <a:ea typeface="Courier New" pitchFamily="34" charset="-122"/>
                <a:cs typeface="Courier New" pitchFamily="34" charset="-120"/>
              </a:rPr>
              <a:t>v-leave-active</a:t>
            </a:r>
            <a:endParaRPr lang="en-US" sz="1150" dirty="0"/>
          </a:p>
        </p:txBody>
      </p:sp>
      <p:sp>
        <p:nvSpPr>
          <p:cNvPr id="24" name="Text 21"/>
          <p:cNvSpPr txBox="1"/>
          <p:nvPr/>
        </p:nvSpPr>
        <p:spPr>
          <a:xfrm>
            <a:off x="8549640" y="4151376"/>
            <a:ext cx="2926080" cy="5029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Berlaku selama proses keluar berlangsung</a:t>
            </a:r>
            <a:endParaRPr lang="en-US" sz="1100" dirty="0"/>
          </a:p>
        </p:txBody>
      </p:sp>
      <p:sp>
        <p:nvSpPr>
          <p:cNvPr id="25" name="Shape 22"/>
          <p:cNvSpPr/>
          <p:nvPr/>
        </p:nvSpPr>
        <p:spPr>
          <a:xfrm>
            <a:off x="6720840" y="4727448"/>
            <a:ext cx="4919472" cy="502920"/>
          </a:xfrm>
          <a:prstGeom prst="roundRect">
            <a:avLst>
              <a:gd name="adj" fmla="val 12727"/>
            </a:avLst>
          </a:prstGeom>
          <a:solidFill>
            <a:srgbClr val="FFFFFF"/>
          </a:solidFill>
          <a:ln w="12700">
            <a:solidFill>
              <a:srgbClr val="333333"/>
            </a:solidFill>
            <a:prstDash val="solid"/>
          </a:ln>
        </p:spPr>
      </p:sp>
      <p:sp>
        <p:nvSpPr>
          <p:cNvPr id="26" name="Text 23"/>
          <p:cNvSpPr txBox="1"/>
          <p:nvPr/>
        </p:nvSpPr>
        <p:spPr>
          <a:xfrm>
            <a:off x="6903720" y="4727448"/>
            <a:ext cx="1645920" cy="502920"/>
          </a:xfrm>
          <a:prstGeom prst="rect">
            <a:avLst/>
          </a:prstGeom>
          <a:noFill/>
          <a:ln/>
        </p:spPr>
        <p:txBody>
          <a:bodyPr wrap="square" lIns="0" tIns="0" rIns="0" bIns="0" rtlCol="0" anchor="ctr"/>
          <a:lstStyle/>
          <a:p>
            <a:pPr indent="0" marL="0">
              <a:buNone/>
            </a:pPr>
            <a:r>
              <a:rPr lang="en-US" sz="1150" b="1" dirty="0">
                <a:solidFill>
                  <a:srgbClr val="2F9E6E"/>
                </a:solidFill>
                <a:latin typeface="Courier New" pitchFamily="34" charset="0"/>
                <a:ea typeface="Courier New" pitchFamily="34" charset="-122"/>
                <a:cs typeface="Courier New" pitchFamily="34" charset="-120"/>
              </a:rPr>
              <a:t>v-leave-to</a:t>
            </a:r>
            <a:endParaRPr lang="en-US" sz="1150" dirty="0"/>
          </a:p>
        </p:txBody>
      </p:sp>
      <p:sp>
        <p:nvSpPr>
          <p:cNvPr id="27" name="Text 24"/>
          <p:cNvSpPr txBox="1"/>
          <p:nvPr/>
        </p:nvSpPr>
        <p:spPr>
          <a:xfrm>
            <a:off x="8549640" y="4727448"/>
            <a:ext cx="2926080" cy="50292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Keadaan akhir sebelum elemen dihapus</a:t>
            </a:r>
            <a:endParaRPr lang="en-US" sz="1100" dirty="0"/>
          </a:p>
        </p:txBody>
      </p:sp>
      <p:sp>
        <p:nvSpPr>
          <p:cNvPr id="28" name="Shape 25"/>
          <p:cNvSpPr/>
          <p:nvPr/>
        </p:nvSpPr>
        <p:spPr>
          <a:xfrm>
            <a:off x="6720840" y="5440680"/>
            <a:ext cx="4919472" cy="822960"/>
          </a:xfrm>
          <a:prstGeom prst="roundRect">
            <a:avLst>
              <a:gd name="adj" fmla="val 10000"/>
            </a:avLst>
          </a:prstGeom>
          <a:solidFill>
            <a:srgbClr val="E9F5EF"/>
          </a:solidFill>
          <a:ln w="12700">
            <a:solidFill>
              <a:srgbClr val="333333"/>
            </a:solidFill>
            <a:prstDash val="solid"/>
          </a:ln>
        </p:spPr>
      </p:sp>
      <p:sp>
        <p:nvSpPr>
          <p:cNvPr id="29" name="Text 26"/>
          <p:cNvSpPr txBox="1"/>
          <p:nvPr/>
        </p:nvSpPr>
        <p:spPr>
          <a:xfrm>
            <a:off x="6949440" y="5440680"/>
            <a:ext cx="4480560" cy="822960"/>
          </a:xfrm>
          <a:prstGeom prst="rect">
            <a:avLst/>
          </a:prstGeom>
          <a:noFill/>
          <a:ln/>
        </p:spPr>
        <p:txBody>
          <a:bodyPr wrap="square" lIns="0" tIns="0" rIns="0" bIns="0" rtlCol="0" anchor="ctr"/>
          <a:lstStyle/>
          <a:p>
            <a:pPr indent="0" marL="0">
              <a:lnSpc>
                <a:spcPct val="112000"/>
              </a:lnSpc>
              <a:buNone/>
            </a:pPr>
            <a:r>
              <a:rPr lang="en-US" sz="1150" dirty="0">
                <a:solidFill>
                  <a:srgbClr val="35495E"/>
                </a:solidFill>
                <a:latin typeface="Calibri" pitchFamily="34" charset="0"/>
                <a:ea typeface="Calibri" pitchFamily="34" charset="-122"/>
                <a:cs typeface="Calibri" pitchFamily="34" charset="-120"/>
              </a:rPr>
              <a:t>Awalan v- diganti oleh atribut name. Bila name="pudar", maka kelasnya menjadi pudar-enter-from dan seterusnya.</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Nuxt.js — Meta-Framework Vue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Kerangka kerja di atas Vue untuk aplikasi produksi berskala penuh</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pic>
        <p:nvPicPr>
          <p:cNvPr id="5" name="Image 1" descr="preencoded.png">    </p:cNvPr>
          <p:cNvPicPr>
            <a:picLocks noChangeAspect="1"/>
          </p:cNvPicPr>
          <p:nvPr/>
        </p:nvPicPr>
        <p:blipFill>
          <a:blip r:embed="rId2"/>
          <a:stretch>
            <a:fillRect/>
          </a:stretch>
        </p:blipFill>
        <p:spPr>
          <a:xfrm>
            <a:off x="10515600" y="411480"/>
            <a:ext cx="411480" cy="411480"/>
          </a:xfrm>
          <a:prstGeom prst="rect">
            <a:avLst/>
          </a:prstGeom>
        </p:spPr>
      </p:pic>
      <p:sp>
        <p:nvSpPr>
          <p:cNvPr id="6" name="Shape 2"/>
          <p:cNvSpPr/>
          <p:nvPr/>
        </p:nvSpPr>
        <p:spPr>
          <a:xfrm>
            <a:off x="548640" y="1481328"/>
            <a:ext cx="3493008" cy="1600200"/>
          </a:xfrm>
          <a:prstGeom prst="roundRect">
            <a:avLst>
              <a:gd name="adj" fmla="val 514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7" name="Shape 3"/>
          <p:cNvSpPr/>
          <p:nvPr/>
        </p:nvSpPr>
        <p:spPr>
          <a:xfrm>
            <a:off x="804672" y="1700784"/>
            <a:ext cx="438912" cy="438912"/>
          </a:xfrm>
          <a:prstGeom prst="ellipse">
            <a:avLst/>
          </a:prstGeom>
          <a:solidFill>
            <a:srgbClr val="42B883"/>
          </a:solidFill>
          <a:ln w="12700">
            <a:solidFill>
              <a:srgbClr val="42B883"/>
            </a:solidFill>
            <a:prstDash val="solid"/>
          </a:ln>
        </p:spPr>
      </p:sp>
      <p:pic>
        <p:nvPicPr>
          <p:cNvPr id="8" name="Image 2" descr="preencoded.png">    </p:cNvPr>
          <p:cNvPicPr>
            <a:picLocks noChangeAspect="1"/>
          </p:cNvPicPr>
          <p:nvPr/>
        </p:nvPicPr>
        <p:blipFill>
          <a:blip r:embed="rId3"/>
          <a:stretch>
            <a:fillRect/>
          </a:stretch>
        </p:blipFill>
        <p:spPr>
          <a:xfrm>
            <a:off x="927567" y="1823679"/>
            <a:ext cx="193121" cy="193121"/>
          </a:xfrm>
          <a:prstGeom prst="rect">
            <a:avLst/>
          </a:prstGeom>
        </p:spPr>
      </p:pic>
      <p:sp>
        <p:nvSpPr>
          <p:cNvPr id="9" name="Text 4"/>
          <p:cNvSpPr txBox="1"/>
          <p:nvPr/>
        </p:nvSpPr>
        <p:spPr>
          <a:xfrm>
            <a:off x="1335024" y="1682496"/>
            <a:ext cx="25146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Rendering Fleksibel</a:t>
            </a:r>
            <a:endParaRPr lang="en-US" sz="1350" dirty="0"/>
          </a:p>
        </p:txBody>
      </p:sp>
      <p:sp>
        <p:nvSpPr>
          <p:cNvPr id="10" name="Text 5"/>
          <p:cNvSpPr txBox="1"/>
          <p:nvPr/>
        </p:nvSpPr>
        <p:spPr>
          <a:xfrm>
            <a:off x="804672" y="2194560"/>
            <a:ext cx="2980944" cy="7772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Mendukung SSR, SSG, SPA, hingga hybrid rendering per halaman.</a:t>
            </a:r>
            <a:endParaRPr lang="en-US" sz="1150" dirty="0"/>
          </a:p>
        </p:txBody>
      </p:sp>
      <p:sp>
        <p:nvSpPr>
          <p:cNvPr id="11" name="Shape 6"/>
          <p:cNvSpPr/>
          <p:nvPr/>
        </p:nvSpPr>
        <p:spPr>
          <a:xfrm>
            <a:off x="4334256" y="1481328"/>
            <a:ext cx="3493008" cy="1600200"/>
          </a:xfrm>
          <a:prstGeom prst="roundRect">
            <a:avLst>
              <a:gd name="adj" fmla="val 514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Shape 7"/>
          <p:cNvSpPr/>
          <p:nvPr/>
        </p:nvSpPr>
        <p:spPr>
          <a:xfrm>
            <a:off x="4590288" y="1700784"/>
            <a:ext cx="438912" cy="438912"/>
          </a:xfrm>
          <a:prstGeom prst="ellipse">
            <a:avLst/>
          </a:prstGeom>
          <a:solidFill>
            <a:srgbClr val="42B883"/>
          </a:solidFill>
          <a:ln w="12700">
            <a:solidFill>
              <a:srgbClr val="42B883"/>
            </a:solidFill>
            <a:prstDash val="solid"/>
          </a:ln>
        </p:spPr>
      </p:sp>
      <p:pic>
        <p:nvPicPr>
          <p:cNvPr id="13" name="Image 3" descr="preencoded.png">    </p:cNvPr>
          <p:cNvPicPr>
            <a:picLocks noChangeAspect="1"/>
          </p:cNvPicPr>
          <p:nvPr/>
        </p:nvPicPr>
        <p:blipFill>
          <a:blip r:embed="rId4"/>
          <a:stretch>
            <a:fillRect/>
          </a:stretch>
        </p:blipFill>
        <p:spPr>
          <a:xfrm>
            <a:off x="4713183" y="1823679"/>
            <a:ext cx="193121" cy="193121"/>
          </a:xfrm>
          <a:prstGeom prst="rect">
            <a:avLst/>
          </a:prstGeom>
        </p:spPr>
      </p:pic>
      <p:sp>
        <p:nvSpPr>
          <p:cNvPr id="14" name="Text 8"/>
          <p:cNvSpPr txBox="1"/>
          <p:nvPr/>
        </p:nvSpPr>
        <p:spPr>
          <a:xfrm>
            <a:off x="5120640" y="1682496"/>
            <a:ext cx="25146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File-based Routing</a:t>
            </a:r>
            <a:endParaRPr lang="en-US" sz="1350" dirty="0"/>
          </a:p>
        </p:txBody>
      </p:sp>
      <p:sp>
        <p:nvSpPr>
          <p:cNvPr id="15" name="Text 9"/>
          <p:cNvSpPr txBox="1"/>
          <p:nvPr/>
        </p:nvSpPr>
        <p:spPr>
          <a:xfrm>
            <a:off x="4590288" y="2194560"/>
            <a:ext cx="2980944" cy="7772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Struktur folder pages/ otomatis menjadi rute — tanpa konfigurasi manual.</a:t>
            </a:r>
            <a:endParaRPr lang="en-US" sz="1150" dirty="0"/>
          </a:p>
        </p:txBody>
      </p:sp>
      <p:sp>
        <p:nvSpPr>
          <p:cNvPr id="16" name="Shape 10"/>
          <p:cNvSpPr/>
          <p:nvPr/>
        </p:nvSpPr>
        <p:spPr>
          <a:xfrm>
            <a:off x="8119872" y="1481328"/>
            <a:ext cx="3493008" cy="1600200"/>
          </a:xfrm>
          <a:prstGeom prst="roundRect">
            <a:avLst>
              <a:gd name="adj" fmla="val 514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7" name="Shape 11"/>
          <p:cNvSpPr/>
          <p:nvPr/>
        </p:nvSpPr>
        <p:spPr>
          <a:xfrm>
            <a:off x="8375904" y="1700784"/>
            <a:ext cx="438912" cy="438912"/>
          </a:xfrm>
          <a:prstGeom prst="ellipse">
            <a:avLst/>
          </a:prstGeom>
          <a:solidFill>
            <a:srgbClr val="42B883"/>
          </a:solidFill>
          <a:ln w="12700">
            <a:solidFill>
              <a:srgbClr val="42B883"/>
            </a:solidFill>
            <a:prstDash val="solid"/>
          </a:ln>
        </p:spPr>
      </p:sp>
      <p:pic>
        <p:nvPicPr>
          <p:cNvPr id="18" name="Image 4" descr="preencoded.png">    </p:cNvPr>
          <p:cNvPicPr>
            <a:picLocks noChangeAspect="1"/>
          </p:cNvPicPr>
          <p:nvPr/>
        </p:nvPicPr>
        <p:blipFill>
          <a:blip r:embed="rId5"/>
          <a:stretch>
            <a:fillRect/>
          </a:stretch>
        </p:blipFill>
        <p:spPr>
          <a:xfrm>
            <a:off x="8498799" y="1823679"/>
            <a:ext cx="193121" cy="193121"/>
          </a:xfrm>
          <a:prstGeom prst="rect">
            <a:avLst/>
          </a:prstGeom>
        </p:spPr>
      </p:pic>
      <p:sp>
        <p:nvSpPr>
          <p:cNvPr id="19" name="Text 12"/>
          <p:cNvSpPr txBox="1"/>
          <p:nvPr/>
        </p:nvSpPr>
        <p:spPr>
          <a:xfrm>
            <a:off x="8906256" y="1682496"/>
            <a:ext cx="25146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SEO Lebih Baik</a:t>
            </a:r>
            <a:endParaRPr lang="en-US" sz="1350" dirty="0"/>
          </a:p>
        </p:txBody>
      </p:sp>
      <p:sp>
        <p:nvSpPr>
          <p:cNvPr id="20" name="Text 13"/>
          <p:cNvSpPr txBox="1"/>
          <p:nvPr/>
        </p:nvSpPr>
        <p:spPr>
          <a:xfrm>
            <a:off x="8375904" y="2194560"/>
            <a:ext cx="2980944" cy="7772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HTML dirender di server sehingga mesin pencari mudah membacanya.</a:t>
            </a:r>
            <a:endParaRPr lang="en-US" sz="1150" dirty="0"/>
          </a:p>
        </p:txBody>
      </p:sp>
      <p:sp>
        <p:nvSpPr>
          <p:cNvPr id="21" name="Shape 14"/>
          <p:cNvSpPr/>
          <p:nvPr/>
        </p:nvSpPr>
        <p:spPr>
          <a:xfrm>
            <a:off x="548640" y="3337560"/>
            <a:ext cx="3493008" cy="1600200"/>
          </a:xfrm>
          <a:prstGeom prst="roundRect">
            <a:avLst>
              <a:gd name="adj" fmla="val 514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2" name="Shape 15"/>
          <p:cNvSpPr/>
          <p:nvPr/>
        </p:nvSpPr>
        <p:spPr>
          <a:xfrm>
            <a:off x="804672" y="3557016"/>
            <a:ext cx="438912" cy="438912"/>
          </a:xfrm>
          <a:prstGeom prst="ellipse">
            <a:avLst/>
          </a:prstGeom>
          <a:solidFill>
            <a:srgbClr val="42B883"/>
          </a:solidFill>
          <a:ln w="12700">
            <a:solidFill>
              <a:srgbClr val="42B883"/>
            </a:solidFill>
            <a:prstDash val="solid"/>
          </a:ln>
        </p:spPr>
      </p:sp>
      <p:pic>
        <p:nvPicPr>
          <p:cNvPr id="23" name="Image 5" descr="preencoded.png">    </p:cNvPr>
          <p:cNvPicPr>
            <a:picLocks noChangeAspect="1"/>
          </p:cNvPicPr>
          <p:nvPr/>
        </p:nvPicPr>
        <p:blipFill>
          <a:blip r:embed="rId6"/>
          <a:stretch>
            <a:fillRect/>
          </a:stretch>
        </p:blipFill>
        <p:spPr>
          <a:xfrm>
            <a:off x="927567" y="3679911"/>
            <a:ext cx="193121" cy="193121"/>
          </a:xfrm>
          <a:prstGeom prst="rect">
            <a:avLst/>
          </a:prstGeom>
        </p:spPr>
      </p:pic>
      <p:sp>
        <p:nvSpPr>
          <p:cNvPr id="24" name="Text 16"/>
          <p:cNvSpPr txBox="1"/>
          <p:nvPr/>
        </p:nvSpPr>
        <p:spPr>
          <a:xfrm>
            <a:off x="1335024" y="3538728"/>
            <a:ext cx="25146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Auto Import</a:t>
            </a:r>
            <a:endParaRPr lang="en-US" sz="1350" dirty="0"/>
          </a:p>
        </p:txBody>
      </p:sp>
      <p:sp>
        <p:nvSpPr>
          <p:cNvPr id="25" name="Text 17"/>
          <p:cNvSpPr txBox="1"/>
          <p:nvPr/>
        </p:nvSpPr>
        <p:spPr>
          <a:xfrm>
            <a:off x="804672" y="4050792"/>
            <a:ext cx="2980944" cy="7772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Komponen, composable, dan utilitas tersedia tanpa perlu menulis import.</a:t>
            </a:r>
            <a:endParaRPr lang="en-US" sz="1150" dirty="0"/>
          </a:p>
        </p:txBody>
      </p:sp>
      <p:sp>
        <p:nvSpPr>
          <p:cNvPr id="26" name="Shape 18"/>
          <p:cNvSpPr/>
          <p:nvPr/>
        </p:nvSpPr>
        <p:spPr>
          <a:xfrm>
            <a:off x="4334256" y="3337560"/>
            <a:ext cx="3493008" cy="1600200"/>
          </a:xfrm>
          <a:prstGeom prst="roundRect">
            <a:avLst>
              <a:gd name="adj" fmla="val 514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7" name="Shape 19"/>
          <p:cNvSpPr/>
          <p:nvPr/>
        </p:nvSpPr>
        <p:spPr>
          <a:xfrm>
            <a:off x="4590288" y="3557016"/>
            <a:ext cx="438912" cy="438912"/>
          </a:xfrm>
          <a:prstGeom prst="ellipse">
            <a:avLst/>
          </a:prstGeom>
          <a:solidFill>
            <a:srgbClr val="42B883"/>
          </a:solidFill>
          <a:ln w="12700">
            <a:solidFill>
              <a:srgbClr val="42B883"/>
            </a:solidFill>
            <a:prstDash val="solid"/>
          </a:ln>
        </p:spPr>
      </p:sp>
      <p:pic>
        <p:nvPicPr>
          <p:cNvPr id="28" name="Image 6" descr="preencoded.png">    </p:cNvPr>
          <p:cNvPicPr>
            <a:picLocks noChangeAspect="1"/>
          </p:cNvPicPr>
          <p:nvPr/>
        </p:nvPicPr>
        <p:blipFill>
          <a:blip r:embed="rId7"/>
          <a:stretch>
            <a:fillRect/>
          </a:stretch>
        </p:blipFill>
        <p:spPr>
          <a:xfrm>
            <a:off x="4713183" y="3679911"/>
            <a:ext cx="193121" cy="193121"/>
          </a:xfrm>
          <a:prstGeom prst="rect">
            <a:avLst/>
          </a:prstGeom>
        </p:spPr>
      </p:pic>
      <p:sp>
        <p:nvSpPr>
          <p:cNvPr id="29" name="Text 20"/>
          <p:cNvSpPr txBox="1"/>
          <p:nvPr/>
        </p:nvSpPr>
        <p:spPr>
          <a:xfrm>
            <a:off x="5120640" y="3538728"/>
            <a:ext cx="25146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Server API Routes</a:t>
            </a:r>
            <a:endParaRPr lang="en-US" sz="1350" dirty="0"/>
          </a:p>
        </p:txBody>
      </p:sp>
      <p:sp>
        <p:nvSpPr>
          <p:cNvPr id="30" name="Text 21"/>
          <p:cNvSpPr txBox="1"/>
          <p:nvPr/>
        </p:nvSpPr>
        <p:spPr>
          <a:xfrm>
            <a:off x="4590288" y="4050792"/>
            <a:ext cx="2980944" cy="7772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Folder server/api/ untuk membuat endpoint backend di proyek yang sama.</a:t>
            </a:r>
            <a:endParaRPr lang="en-US" sz="1150" dirty="0"/>
          </a:p>
        </p:txBody>
      </p:sp>
      <p:sp>
        <p:nvSpPr>
          <p:cNvPr id="31" name="Shape 22"/>
          <p:cNvSpPr/>
          <p:nvPr/>
        </p:nvSpPr>
        <p:spPr>
          <a:xfrm>
            <a:off x="8119872" y="3337560"/>
            <a:ext cx="3493008" cy="1600200"/>
          </a:xfrm>
          <a:prstGeom prst="roundRect">
            <a:avLst>
              <a:gd name="adj" fmla="val 514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2" name="Shape 23"/>
          <p:cNvSpPr/>
          <p:nvPr/>
        </p:nvSpPr>
        <p:spPr>
          <a:xfrm>
            <a:off x="8375904" y="3557016"/>
            <a:ext cx="438912" cy="438912"/>
          </a:xfrm>
          <a:prstGeom prst="ellipse">
            <a:avLst/>
          </a:prstGeom>
          <a:solidFill>
            <a:srgbClr val="42B883"/>
          </a:solidFill>
          <a:ln w="12700">
            <a:solidFill>
              <a:srgbClr val="42B883"/>
            </a:solidFill>
            <a:prstDash val="solid"/>
          </a:ln>
        </p:spPr>
      </p:sp>
      <p:pic>
        <p:nvPicPr>
          <p:cNvPr id="33" name="Image 7" descr="preencoded.png">    </p:cNvPr>
          <p:cNvPicPr>
            <a:picLocks noChangeAspect="1"/>
          </p:cNvPicPr>
          <p:nvPr/>
        </p:nvPicPr>
        <p:blipFill>
          <a:blip r:embed="rId8"/>
          <a:stretch>
            <a:fillRect/>
          </a:stretch>
        </p:blipFill>
        <p:spPr>
          <a:xfrm>
            <a:off x="8498799" y="3679911"/>
            <a:ext cx="193121" cy="193121"/>
          </a:xfrm>
          <a:prstGeom prst="rect">
            <a:avLst/>
          </a:prstGeom>
        </p:spPr>
      </p:pic>
      <p:sp>
        <p:nvSpPr>
          <p:cNvPr id="34" name="Text 24"/>
          <p:cNvSpPr txBox="1"/>
          <p:nvPr/>
        </p:nvSpPr>
        <p:spPr>
          <a:xfrm>
            <a:off x="8906256" y="3538728"/>
            <a:ext cx="2514600"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Modul Ekosistem</a:t>
            </a:r>
            <a:endParaRPr lang="en-US" sz="1350" dirty="0"/>
          </a:p>
        </p:txBody>
      </p:sp>
      <p:sp>
        <p:nvSpPr>
          <p:cNvPr id="35" name="Text 25"/>
          <p:cNvSpPr txBox="1"/>
          <p:nvPr/>
        </p:nvSpPr>
        <p:spPr>
          <a:xfrm>
            <a:off x="8375904" y="4050792"/>
            <a:ext cx="2980944" cy="7772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Ratusan modul siap pakai: autentikasi, gambar, konten, dan analitik.</a:t>
            </a:r>
            <a:endParaRPr lang="en-US" sz="1150" dirty="0"/>
          </a:p>
        </p:txBody>
      </p:sp>
      <p:sp>
        <p:nvSpPr>
          <p:cNvPr id="36" name="Shape 26"/>
          <p:cNvSpPr/>
          <p:nvPr/>
        </p:nvSpPr>
        <p:spPr>
          <a:xfrm>
            <a:off x="548640" y="5212080"/>
            <a:ext cx="11091672" cy="868698"/>
          </a:xfrm>
          <a:prstGeom prst="roundRect">
            <a:avLst>
              <a:gd name="adj" fmla="val 7368"/>
            </a:avLst>
          </a:prstGeom>
          <a:solidFill>
            <a:srgbClr val="253340"/>
          </a:solidFill>
          <a:ln w="12700">
            <a:solidFill>
              <a:srgbClr val="253340"/>
            </a:solidFill>
            <a:prstDash val="solid"/>
          </a:ln>
        </p:spPr>
      </p:sp>
      <p:sp>
        <p:nvSpPr>
          <p:cNvPr id="37" name="Text 27"/>
          <p:cNvSpPr txBox="1"/>
          <p:nvPr/>
        </p:nvSpPr>
        <p:spPr>
          <a:xfrm>
            <a:off x="676656" y="5330952"/>
            <a:ext cx="10835640" cy="630954"/>
          </a:xfrm>
          <a:prstGeom prst="rect">
            <a:avLst/>
          </a:prstGeom>
          <a:noFill/>
          <a:ln/>
        </p:spPr>
        <p:txBody>
          <a:bodyPr wrap="square" lIns="0" tIns="0" rIns="0" bIns="0" rtlCol="0" anchor="t"/>
          <a:lstStyle/>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npx nuxi@latest init aplikasi-saya      # membuat proyek Nuxt baru</a:t>
            </a:r>
            <a:endParaRPr lang="en-US" sz="1300" dirty="0"/>
          </a:p>
          <a:p>
            <a:pPr indent="0" marL="0">
              <a:lnSpc>
                <a:spcPct val="105000"/>
              </a:lnSpc>
              <a:buNone/>
            </a:pPr>
            <a:r>
              <a:rPr lang="en-US" sz="1300" dirty="0">
                <a:solidFill>
                  <a:srgbClr val="E4ECF2"/>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rgbClr val="7E93A3"/>
                </a:solidFill>
                <a:latin typeface="Courier New" pitchFamily="34" charset="0"/>
                <a:ea typeface="Courier New" pitchFamily="34" charset="-122"/>
                <a:cs typeface="Courier New" pitchFamily="34" charset="-120"/>
              </a:rPr>
              <a:t># pages/index.vue  -&gt; rute "/"        |  pages/produk/[id].vue -&gt; rute "/produk/:id"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Pengujian Aplikasi Vue</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Memastikan komponen bekerja sesuai harapan sebelum dirilis</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3575304"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804672" y="1755648"/>
            <a:ext cx="502920" cy="502920"/>
          </a:xfrm>
          <a:prstGeom prst="ellipse">
            <a:avLst/>
          </a:prstGeom>
          <a:solidFill>
            <a:srgbClr val="F1F6F4"/>
          </a:solidFill>
          <a:ln w="12700">
            <a:solidFill>
              <a:srgbClr val="333333"/>
            </a:solidFill>
            <a:prstDash val="solid"/>
          </a:ln>
        </p:spPr>
      </p:sp>
      <p:pic>
        <p:nvPicPr>
          <p:cNvPr id="7" name="Image 1" descr="preencoded.png">    </p:cNvPr>
          <p:cNvPicPr>
            <a:picLocks noChangeAspect="1"/>
          </p:cNvPicPr>
          <p:nvPr/>
        </p:nvPicPr>
        <p:blipFill>
          <a:blip r:embed="rId2"/>
          <a:stretch>
            <a:fillRect/>
          </a:stretch>
        </p:blipFill>
        <p:spPr>
          <a:xfrm>
            <a:off x="914400" y="1865376"/>
            <a:ext cx="283464" cy="283464"/>
          </a:xfrm>
          <a:prstGeom prst="rect">
            <a:avLst/>
          </a:prstGeom>
        </p:spPr>
      </p:pic>
      <p:sp>
        <p:nvSpPr>
          <p:cNvPr id="8" name="Text 4"/>
          <p:cNvSpPr txBox="1"/>
          <p:nvPr/>
        </p:nvSpPr>
        <p:spPr>
          <a:xfrm>
            <a:off x="1417320" y="1737360"/>
            <a:ext cx="2560320" cy="274320"/>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Unit Test</a:t>
            </a:r>
            <a:endParaRPr lang="en-US" sz="1450" dirty="0"/>
          </a:p>
        </p:txBody>
      </p:sp>
      <p:sp>
        <p:nvSpPr>
          <p:cNvPr id="9" name="Text 5"/>
          <p:cNvSpPr txBox="1"/>
          <p:nvPr/>
        </p:nvSpPr>
        <p:spPr>
          <a:xfrm>
            <a:off x="1417320" y="2011680"/>
            <a:ext cx="2560320" cy="256032"/>
          </a:xfrm>
          <a:prstGeom prst="rect">
            <a:avLst/>
          </a:prstGeom>
          <a:noFill/>
          <a:ln/>
        </p:spPr>
        <p:txBody>
          <a:bodyPr wrap="square" lIns="0" tIns="0" rIns="0" bIns="0" rtlCol="0" anchor="ctr"/>
          <a:lstStyle/>
          <a:p>
            <a:pPr indent="0" marL="0">
              <a:buNone/>
            </a:pPr>
            <a:r>
              <a:rPr lang="en-US" sz="1100" b="1" dirty="0">
                <a:solidFill>
                  <a:srgbClr val="2F9E6E"/>
                </a:solidFill>
                <a:latin typeface="Calibri" pitchFamily="34" charset="0"/>
                <a:ea typeface="Calibri" pitchFamily="34" charset="-122"/>
                <a:cs typeface="Calibri" pitchFamily="34" charset="-120"/>
              </a:rPr>
              <a:t>Vitest</a:t>
            </a:r>
            <a:endParaRPr lang="en-US" sz="1100" dirty="0"/>
          </a:p>
        </p:txBody>
      </p:sp>
      <p:sp>
        <p:nvSpPr>
          <p:cNvPr id="10" name="Text 6"/>
          <p:cNvSpPr txBox="1"/>
          <p:nvPr/>
        </p:nvSpPr>
        <p:spPr>
          <a:xfrm>
            <a:off x="804672" y="2432304"/>
            <a:ext cx="3063240" cy="12344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Menguji fungsi, composable, dan store secara terpisah. Sangat cepat karena berjalan di atas Vite.</a:t>
            </a:r>
            <a:endParaRPr lang="en-US" sz="1150" dirty="0"/>
          </a:p>
        </p:txBody>
      </p:sp>
      <p:sp>
        <p:nvSpPr>
          <p:cNvPr id="11" name="Shape 7"/>
          <p:cNvSpPr/>
          <p:nvPr/>
        </p:nvSpPr>
        <p:spPr>
          <a:xfrm>
            <a:off x="4306824" y="1517904"/>
            <a:ext cx="3575304"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2" name="Shape 8"/>
          <p:cNvSpPr/>
          <p:nvPr/>
        </p:nvSpPr>
        <p:spPr>
          <a:xfrm>
            <a:off x="4562856" y="1755648"/>
            <a:ext cx="502920" cy="502920"/>
          </a:xfrm>
          <a:prstGeom prst="ellipse">
            <a:avLst/>
          </a:prstGeom>
          <a:solidFill>
            <a:srgbClr val="42B883"/>
          </a:solidFill>
          <a:ln w="12700">
            <a:solidFill>
              <a:srgbClr val="42B883"/>
            </a:solidFill>
            <a:prstDash val="solid"/>
          </a:ln>
        </p:spPr>
      </p:sp>
      <p:pic>
        <p:nvPicPr>
          <p:cNvPr id="13" name="Image 2" descr="preencoded.png">    </p:cNvPr>
          <p:cNvPicPr>
            <a:picLocks noChangeAspect="1"/>
          </p:cNvPicPr>
          <p:nvPr/>
        </p:nvPicPr>
        <p:blipFill>
          <a:blip r:embed="rId3"/>
          <a:stretch>
            <a:fillRect/>
          </a:stretch>
        </p:blipFill>
        <p:spPr>
          <a:xfrm>
            <a:off x="4703674" y="1896466"/>
            <a:ext cx="221285" cy="221285"/>
          </a:xfrm>
          <a:prstGeom prst="rect">
            <a:avLst/>
          </a:prstGeom>
        </p:spPr>
      </p:pic>
      <p:sp>
        <p:nvSpPr>
          <p:cNvPr id="14" name="Text 9"/>
          <p:cNvSpPr txBox="1"/>
          <p:nvPr/>
        </p:nvSpPr>
        <p:spPr>
          <a:xfrm>
            <a:off x="5175504" y="1737360"/>
            <a:ext cx="2560320" cy="274320"/>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Component Test</a:t>
            </a:r>
            <a:endParaRPr lang="en-US" sz="1450" dirty="0"/>
          </a:p>
        </p:txBody>
      </p:sp>
      <p:sp>
        <p:nvSpPr>
          <p:cNvPr id="15" name="Text 10"/>
          <p:cNvSpPr txBox="1"/>
          <p:nvPr/>
        </p:nvSpPr>
        <p:spPr>
          <a:xfrm>
            <a:off x="5175504" y="2011680"/>
            <a:ext cx="2560320" cy="256032"/>
          </a:xfrm>
          <a:prstGeom prst="rect">
            <a:avLst/>
          </a:prstGeom>
          <a:noFill/>
          <a:ln/>
        </p:spPr>
        <p:txBody>
          <a:bodyPr wrap="square" lIns="0" tIns="0" rIns="0" bIns="0" rtlCol="0" anchor="ctr"/>
          <a:lstStyle/>
          <a:p>
            <a:pPr indent="0" marL="0">
              <a:buNone/>
            </a:pPr>
            <a:r>
              <a:rPr lang="en-US" sz="1100" b="1" dirty="0">
                <a:solidFill>
                  <a:srgbClr val="2F9E6E"/>
                </a:solidFill>
                <a:latin typeface="Calibri" pitchFamily="34" charset="0"/>
                <a:ea typeface="Calibri" pitchFamily="34" charset="-122"/>
                <a:cs typeface="Calibri" pitchFamily="34" charset="-120"/>
              </a:rPr>
              <a:t>Vue Test Utils</a:t>
            </a:r>
            <a:endParaRPr lang="en-US" sz="1100" dirty="0"/>
          </a:p>
        </p:txBody>
      </p:sp>
      <p:sp>
        <p:nvSpPr>
          <p:cNvPr id="16" name="Text 11"/>
          <p:cNvSpPr txBox="1"/>
          <p:nvPr/>
        </p:nvSpPr>
        <p:spPr>
          <a:xfrm>
            <a:off x="4562856" y="2432304"/>
            <a:ext cx="3063240" cy="12344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Me-mount komponen, mensimulasikan interaksi pengguna, lalu memeriksa hasil render.</a:t>
            </a:r>
            <a:endParaRPr lang="en-US" sz="1150" dirty="0"/>
          </a:p>
        </p:txBody>
      </p:sp>
      <p:sp>
        <p:nvSpPr>
          <p:cNvPr id="17" name="Shape 12"/>
          <p:cNvSpPr/>
          <p:nvPr/>
        </p:nvSpPr>
        <p:spPr>
          <a:xfrm>
            <a:off x="8065008" y="1517904"/>
            <a:ext cx="3575304"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Shape 13"/>
          <p:cNvSpPr/>
          <p:nvPr/>
        </p:nvSpPr>
        <p:spPr>
          <a:xfrm>
            <a:off x="8321040" y="1755648"/>
            <a:ext cx="502920" cy="502920"/>
          </a:xfrm>
          <a:prstGeom prst="ellipse">
            <a:avLst/>
          </a:prstGeom>
          <a:solidFill>
            <a:srgbClr val="F1F6F4"/>
          </a:solidFill>
          <a:ln w="12700">
            <a:solidFill>
              <a:srgbClr val="333333"/>
            </a:solidFill>
            <a:prstDash val="solid"/>
          </a:ln>
        </p:spPr>
      </p:sp>
      <p:pic>
        <p:nvPicPr>
          <p:cNvPr id="19" name="Image 3" descr="preencoded.png">    </p:cNvPr>
          <p:cNvPicPr>
            <a:picLocks noChangeAspect="1"/>
          </p:cNvPicPr>
          <p:nvPr/>
        </p:nvPicPr>
        <p:blipFill>
          <a:blip r:embed="rId4"/>
          <a:stretch>
            <a:fillRect/>
          </a:stretch>
        </p:blipFill>
        <p:spPr>
          <a:xfrm>
            <a:off x="8430768" y="1865376"/>
            <a:ext cx="283464" cy="283464"/>
          </a:xfrm>
          <a:prstGeom prst="rect">
            <a:avLst/>
          </a:prstGeom>
        </p:spPr>
      </p:pic>
      <p:sp>
        <p:nvSpPr>
          <p:cNvPr id="20" name="Text 14"/>
          <p:cNvSpPr txBox="1"/>
          <p:nvPr/>
        </p:nvSpPr>
        <p:spPr>
          <a:xfrm>
            <a:off x="8933688" y="1737360"/>
            <a:ext cx="2560320" cy="274320"/>
          </a:xfrm>
          <a:prstGeom prst="rect">
            <a:avLst/>
          </a:prstGeom>
          <a:noFill/>
          <a:ln/>
        </p:spPr>
        <p:txBody>
          <a:bodyPr wrap="square" lIns="0" tIns="0" rIns="0" bIns="0" rtlCol="0" anchor="ctr"/>
          <a:lstStyle/>
          <a:p>
            <a:pPr indent="0" marL="0">
              <a:buNone/>
            </a:pPr>
            <a:r>
              <a:rPr lang="en-US" sz="1450" b="1" dirty="0">
                <a:solidFill>
                  <a:srgbClr val="35495E"/>
                </a:solidFill>
                <a:latin typeface="Calibri" pitchFamily="34" charset="0"/>
                <a:ea typeface="Calibri" pitchFamily="34" charset="-122"/>
                <a:cs typeface="Calibri" pitchFamily="34" charset="-120"/>
              </a:rPr>
              <a:t>End-to-End Test</a:t>
            </a:r>
            <a:endParaRPr lang="en-US" sz="1450" dirty="0"/>
          </a:p>
        </p:txBody>
      </p:sp>
      <p:sp>
        <p:nvSpPr>
          <p:cNvPr id="21" name="Text 15"/>
          <p:cNvSpPr txBox="1"/>
          <p:nvPr/>
        </p:nvSpPr>
        <p:spPr>
          <a:xfrm>
            <a:off x="8933688" y="2011680"/>
            <a:ext cx="2560320" cy="256032"/>
          </a:xfrm>
          <a:prstGeom prst="rect">
            <a:avLst/>
          </a:prstGeom>
          <a:noFill/>
          <a:ln/>
        </p:spPr>
        <p:txBody>
          <a:bodyPr wrap="square" lIns="0" tIns="0" rIns="0" bIns="0" rtlCol="0" anchor="ctr"/>
          <a:lstStyle/>
          <a:p>
            <a:pPr indent="0" marL="0">
              <a:buNone/>
            </a:pPr>
            <a:r>
              <a:rPr lang="en-US" sz="1100" b="1" dirty="0">
                <a:solidFill>
                  <a:srgbClr val="2F9E6E"/>
                </a:solidFill>
                <a:latin typeface="Calibri" pitchFamily="34" charset="0"/>
                <a:ea typeface="Calibri" pitchFamily="34" charset="-122"/>
                <a:cs typeface="Calibri" pitchFamily="34" charset="-120"/>
              </a:rPr>
              <a:t>Cypress / Playwright</a:t>
            </a:r>
            <a:endParaRPr lang="en-US" sz="1100" dirty="0"/>
          </a:p>
        </p:txBody>
      </p:sp>
      <p:sp>
        <p:nvSpPr>
          <p:cNvPr id="22" name="Text 16"/>
          <p:cNvSpPr txBox="1"/>
          <p:nvPr/>
        </p:nvSpPr>
        <p:spPr>
          <a:xfrm>
            <a:off x="8321040" y="2432304"/>
            <a:ext cx="3063240" cy="1234440"/>
          </a:xfrm>
          <a:prstGeom prst="rect">
            <a:avLst/>
          </a:prstGeom>
          <a:noFill/>
          <a:ln/>
        </p:spPr>
        <p:txBody>
          <a:bodyPr wrap="square" lIns="0" tIns="0" rIns="0" bIns="0" rtlCol="0" anchor="t"/>
          <a:lstStyle/>
          <a:p>
            <a:pPr indent="0" marL="0">
              <a:lnSpc>
                <a:spcPct val="112000"/>
              </a:lnSpc>
              <a:buNone/>
            </a:pPr>
            <a:r>
              <a:rPr lang="en-US" sz="1150" dirty="0">
                <a:solidFill>
                  <a:srgbClr val="6B7C8C"/>
                </a:solidFill>
                <a:latin typeface="Calibri" pitchFamily="34" charset="0"/>
                <a:ea typeface="Calibri" pitchFamily="34" charset="-122"/>
                <a:cs typeface="Calibri" pitchFamily="34" charset="-120"/>
              </a:rPr>
              <a:t>Menguji alur lengkap aplikasi di browser sungguhan, seperti proses login sampai checkout.</a:t>
            </a:r>
            <a:endParaRPr lang="en-US" sz="1150" dirty="0"/>
          </a:p>
        </p:txBody>
      </p:sp>
      <p:sp>
        <p:nvSpPr>
          <p:cNvPr id="23" name="Shape 17"/>
          <p:cNvSpPr/>
          <p:nvPr/>
        </p:nvSpPr>
        <p:spPr>
          <a:xfrm>
            <a:off x="548640" y="3749040"/>
            <a:ext cx="11091672" cy="2164723"/>
          </a:xfrm>
          <a:prstGeom prst="roundRect">
            <a:avLst>
              <a:gd name="adj" fmla="val 2957"/>
            </a:avLst>
          </a:prstGeom>
          <a:solidFill>
            <a:srgbClr val="253340"/>
          </a:solidFill>
          <a:ln w="12700">
            <a:solidFill>
              <a:srgbClr val="253340"/>
            </a:solidFill>
            <a:prstDash val="solid"/>
          </a:ln>
        </p:spPr>
      </p:sp>
      <p:sp>
        <p:nvSpPr>
          <p:cNvPr id="24" name="Text 18"/>
          <p:cNvSpPr txBox="1"/>
          <p:nvPr/>
        </p:nvSpPr>
        <p:spPr>
          <a:xfrm>
            <a:off x="676656" y="3867912"/>
            <a:ext cx="10835640" cy="1926979"/>
          </a:xfrm>
          <a:prstGeom prst="rect">
            <a:avLst/>
          </a:prstGeom>
          <a:noFill/>
          <a:ln/>
        </p:spPr>
        <p:txBody>
          <a:bodyPr wrap="square" lIns="0" tIns="0" rIns="0" bIns="0" rtlCol="0" anchor="t"/>
          <a:lstStyle/>
          <a:p>
            <a:pPr indent="0" marL="0">
              <a:lnSpc>
                <a:spcPct val="105000"/>
              </a:lnSpc>
              <a:buNone/>
            </a:pPr>
            <a:r>
              <a:rPr lang="en-US" sz="1350" dirty="0">
                <a:solidFill>
                  <a:srgbClr val="7E93A3"/>
                </a:solidFill>
                <a:latin typeface="Courier New" pitchFamily="34" charset="0"/>
                <a:ea typeface="Courier New" pitchFamily="34" charset="-122"/>
                <a:cs typeface="Courier New" pitchFamily="34" charset="-120"/>
              </a:rPr>
              <a:t>// Penghitung.spec.js — contoh component test</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import { mount } from "@vue/test-utils";</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import Penghitung from "@/components/Penghitung.vue";</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 </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test("angka bertambah saat tombol diklik", async () =&gt; {</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  const wrapper = mount(Penghitung, { props: { awal: 0 } });</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  await wrapper.find("button").trigger("click");</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  expect(wrapper.text()).toContain("1");</a:t>
            </a:r>
            <a:endParaRPr lang="en-US" sz="1350" dirty="0"/>
          </a:p>
          <a:p>
            <a:pPr indent="0" marL="0">
              <a:lnSpc>
                <a:spcPct val="105000"/>
              </a:lnSpc>
              <a:buNone/>
            </a:pPr>
            <a:r>
              <a:rPr lang="en-US" sz="1350" dirty="0">
                <a:solidFill>
                  <a:srgbClr val="E4ECF2"/>
                </a:solidFill>
                <a:latin typeface="Courier New" pitchFamily="34" charset="0"/>
                <a:ea typeface="Courier New" pitchFamily="34" charset="-122"/>
                <a:cs typeface="Courier New" pitchFamily="34" charset="-120"/>
              </a:rPr>
              <a:t>});</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366760" y="1143000"/>
            <a:ext cx="4480560" cy="448056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01200" y="2514600"/>
            <a:ext cx="2011680" cy="1737360"/>
          </a:xfrm>
          <a:prstGeom prst="rect">
            <a:avLst/>
          </a:prstGeom>
        </p:spPr>
      </p:pic>
      <p:sp>
        <p:nvSpPr>
          <p:cNvPr id="4" name="Text 1"/>
          <p:cNvSpPr txBox="1"/>
          <p:nvPr/>
        </p:nvSpPr>
        <p:spPr>
          <a:xfrm>
            <a:off x="822960" y="1554480"/>
            <a:ext cx="2194560" cy="1463040"/>
          </a:xfrm>
          <a:prstGeom prst="rect">
            <a:avLst/>
          </a:prstGeom>
          <a:noFill/>
          <a:ln/>
        </p:spPr>
        <p:txBody>
          <a:bodyPr wrap="square" lIns="0" tIns="0" rIns="0" bIns="0" rtlCol="0" anchor="ctr"/>
          <a:lstStyle/>
          <a:p>
            <a:pPr indent="0" marL="0">
              <a:buNone/>
            </a:pPr>
            <a:r>
              <a:rPr lang="en-US" sz="10000" b="1" dirty="0">
                <a:solidFill>
                  <a:srgbClr val="42B883"/>
                </a:solidFill>
                <a:latin typeface="Calibri" pitchFamily="34" charset="0"/>
                <a:ea typeface="Calibri" pitchFamily="34" charset="-122"/>
                <a:cs typeface="Calibri" pitchFamily="34" charset="-120"/>
              </a:rPr>
              <a:t>06</a:t>
            </a:r>
            <a:endParaRPr lang="en-US" sz="10000" dirty="0"/>
          </a:p>
        </p:txBody>
      </p:sp>
      <p:sp>
        <p:nvSpPr>
          <p:cNvPr id="5" name="Text 2"/>
          <p:cNvSpPr txBox="1"/>
          <p:nvPr/>
        </p:nvSpPr>
        <p:spPr>
          <a:xfrm>
            <a:off x="822960" y="3127248"/>
            <a:ext cx="7223760" cy="7772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Menuju Produksi</a:t>
            </a:r>
            <a:endParaRPr lang="en-US" sz="4000" dirty="0"/>
          </a:p>
        </p:txBody>
      </p:sp>
      <p:sp>
        <p:nvSpPr>
          <p:cNvPr id="6" name="Text 3"/>
          <p:cNvSpPr txBox="1"/>
          <p:nvPr/>
        </p:nvSpPr>
        <p:spPr>
          <a:xfrm>
            <a:off x="822960" y="3977640"/>
            <a:ext cx="6949440" cy="777240"/>
          </a:xfrm>
          <a:prstGeom prst="rect">
            <a:avLst/>
          </a:prstGeom>
          <a:noFill/>
          <a:ln/>
        </p:spPr>
        <p:txBody>
          <a:bodyPr wrap="square" lIns="0" tIns="0" rIns="0" bIns="0" rtlCol="0" anchor="t"/>
          <a:lstStyle/>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Proses build, deployment, praktik terbaik,</a:t>
            </a:r>
            <a:endParaRPr lang="en-US" sz="1500" dirty="0"/>
          </a:p>
          <a:p>
            <a:pPr indent="0" marL="0">
              <a:lnSpc>
                <a:spcPct val="120000"/>
              </a:lnSpc>
              <a:buNone/>
            </a:pPr>
            <a:r>
              <a:rPr lang="en-US" sz="1500" dirty="0">
                <a:solidFill>
                  <a:srgbClr val="AFC1CE"/>
                </a:solidFill>
                <a:latin typeface="Calibri" pitchFamily="34" charset="0"/>
                <a:ea typeface="Calibri" pitchFamily="34" charset="-122"/>
                <a:cs typeface="Calibri" pitchFamily="34" charset="-120"/>
              </a:rPr>
              <a:t>serta jalur belajar selanjutnya.</a:t>
            </a:r>
            <a:endParaRPr lang="en-US" sz="1500" dirty="0"/>
          </a:p>
        </p:txBody>
      </p:sp>
      <p:sp>
        <p:nvSpPr>
          <p:cNvPr id="7" name="Shape 4"/>
          <p:cNvSpPr/>
          <p:nvPr/>
        </p:nvSpPr>
        <p:spPr>
          <a:xfrm>
            <a:off x="822960" y="4983480"/>
            <a:ext cx="566928" cy="566928"/>
          </a:xfrm>
          <a:prstGeom prst="ellipse">
            <a:avLst/>
          </a:prstGeom>
          <a:solidFill>
            <a:srgbClr val="42B883"/>
          </a:solidFill>
          <a:ln w="12700">
            <a:solidFill>
              <a:srgbClr val="42B883"/>
            </a:solidFill>
            <a:prstDash val="solid"/>
          </a:ln>
        </p:spPr>
      </p:sp>
      <p:pic>
        <p:nvPicPr>
          <p:cNvPr id="8" name="Image 1" descr="preencoded.png">    </p:cNvPr>
          <p:cNvPicPr>
            <a:picLocks noChangeAspect="1"/>
          </p:cNvPicPr>
          <p:nvPr/>
        </p:nvPicPr>
        <p:blipFill>
          <a:blip r:embed="rId2"/>
          <a:stretch>
            <a:fillRect/>
          </a:stretch>
        </p:blipFill>
        <p:spPr>
          <a:xfrm>
            <a:off x="981700" y="5142220"/>
            <a:ext cx="249448" cy="24944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Build &amp; Deployment</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Dari kode sumber menjadi aplikasi yang diakses pengguna</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11091672" cy="987552"/>
          </a:xfrm>
          <a:prstGeom prst="roundRect">
            <a:avLst>
              <a:gd name="adj" fmla="val 833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804672" y="1755648"/>
            <a:ext cx="502920" cy="502920"/>
          </a:xfrm>
          <a:prstGeom prst="ellipse">
            <a:avLst/>
          </a:prstGeom>
          <a:solidFill>
            <a:srgbClr val="42B883"/>
          </a:solidFill>
          <a:ln w="12700">
            <a:solidFill>
              <a:srgbClr val="42B883"/>
            </a:solidFill>
            <a:prstDash val="solid"/>
          </a:ln>
        </p:spPr>
      </p:sp>
      <p:pic>
        <p:nvPicPr>
          <p:cNvPr id="7" name="Image 1" descr="preencoded.png">    </p:cNvPr>
          <p:cNvPicPr>
            <a:picLocks noChangeAspect="1"/>
          </p:cNvPicPr>
          <p:nvPr/>
        </p:nvPicPr>
        <p:blipFill>
          <a:blip r:embed="rId2"/>
          <a:stretch>
            <a:fillRect/>
          </a:stretch>
        </p:blipFill>
        <p:spPr>
          <a:xfrm>
            <a:off x="945490" y="1896466"/>
            <a:ext cx="221285" cy="221285"/>
          </a:xfrm>
          <a:prstGeom prst="rect">
            <a:avLst/>
          </a:prstGeom>
        </p:spPr>
      </p:pic>
      <p:sp>
        <p:nvSpPr>
          <p:cNvPr id="8" name="Text 4"/>
          <p:cNvSpPr txBox="1"/>
          <p:nvPr/>
        </p:nvSpPr>
        <p:spPr>
          <a:xfrm>
            <a:off x="1481328" y="1645920"/>
            <a:ext cx="237744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1. Build</a:t>
            </a:r>
            <a:endParaRPr lang="en-US" sz="1500" dirty="0"/>
          </a:p>
        </p:txBody>
      </p:sp>
      <p:sp>
        <p:nvSpPr>
          <p:cNvPr id="9" name="Shape 5"/>
          <p:cNvSpPr/>
          <p:nvPr/>
        </p:nvSpPr>
        <p:spPr>
          <a:xfrm>
            <a:off x="3794760" y="1664208"/>
            <a:ext cx="2834640" cy="274320"/>
          </a:xfrm>
          <a:prstGeom prst="roundRect">
            <a:avLst>
              <a:gd name="adj" fmla="val 20000"/>
            </a:avLst>
          </a:prstGeom>
          <a:solidFill>
            <a:srgbClr val="E9F5EF"/>
          </a:solidFill>
          <a:ln w="12700">
            <a:solidFill>
              <a:srgbClr val="333333"/>
            </a:solidFill>
            <a:prstDash val="solid"/>
          </a:ln>
        </p:spPr>
      </p:sp>
      <p:sp>
        <p:nvSpPr>
          <p:cNvPr id="10" name="Text 6"/>
          <p:cNvSpPr txBox="1"/>
          <p:nvPr/>
        </p:nvSpPr>
        <p:spPr>
          <a:xfrm>
            <a:off x="3794760" y="1664208"/>
            <a:ext cx="2834640" cy="274320"/>
          </a:xfrm>
          <a:prstGeom prst="rect">
            <a:avLst/>
          </a:prstGeom>
          <a:noFill/>
          <a:ln/>
        </p:spPr>
        <p:txBody>
          <a:bodyPr wrap="square" lIns="0" tIns="0" rIns="0" bIns="0" rtlCol="0" anchor="ctr"/>
          <a:lstStyle/>
          <a:p>
            <a:pPr algn="ctr" indent="0" marL="0">
              <a:buNone/>
            </a:pPr>
            <a:r>
              <a:rPr lang="en-US" sz="1050" b="1" dirty="0">
                <a:solidFill>
                  <a:srgbClr val="2F9E6E"/>
                </a:solidFill>
                <a:latin typeface="Courier New" pitchFamily="34" charset="0"/>
                <a:ea typeface="Courier New" pitchFamily="34" charset="-122"/>
                <a:cs typeface="Courier New" pitchFamily="34" charset="-120"/>
              </a:rPr>
              <a:t>npm run build</a:t>
            </a:r>
            <a:endParaRPr lang="en-US" sz="1050" dirty="0"/>
          </a:p>
        </p:txBody>
      </p:sp>
      <p:sp>
        <p:nvSpPr>
          <p:cNvPr id="11" name="Text 7"/>
          <p:cNvSpPr txBox="1"/>
          <p:nvPr/>
        </p:nvSpPr>
        <p:spPr>
          <a:xfrm>
            <a:off x="1481328" y="1993392"/>
            <a:ext cx="9921240" cy="411480"/>
          </a:xfrm>
          <a:prstGeom prst="rect">
            <a:avLst/>
          </a:prstGeom>
          <a:noFill/>
          <a:ln/>
        </p:spPr>
        <p:txBody>
          <a:bodyPr wrap="square" lIns="0" tIns="0" rIns="0" bIns="0" rtlCol="0" anchor="t"/>
          <a:lstStyle/>
          <a:p>
            <a:pPr indent="0" marL="0">
              <a:buNone/>
            </a:pPr>
            <a:r>
              <a:rPr lang="en-US" sz="1150" dirty="0">
                <a:solidFill>
                  <a:srgbClr val="6B7C8C"/>
                </a:solidFill>
                <a:latin typeface="Calibri" pitchFamily="34" charset="0"/>
                <a:ea typeface="Calibri" pitchFamily="34" charset="-122"/>
                <a:cs typeface="Calibri" pitchFamily="34" charset="-120"/>
              </a:rPr>
              <a:t>Vite mengompilasi seluruh kode menjadi berkas statis HTML, CSS, dan JS yang teroptimasi ke folder dist/.</a:t>
            </a:r>
            <a:endParaRPr lang="en-US" sz="1150" dirty="0"/>
          </a:p>
        </p:txBody>
      </p:sp>
      <p:sp>
        <p:nvSpPr>
          <p:cNvPr id="12" name="Shape 8"/>
          <p:cNvSpPr/>
          <p:nvPr/>
        </p:nvSpPr>
        <p:spPr>
          <a:xfrm>
            <a:off x="548640" y="2651760"/>
            <a:ext cx="11091672" cy="987552"/>
          </a:xfrm>
          <a:prstGeom prst="roundRect">
            <a:avLst>
              <a:gd name="adj" fmla="val 833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Shape 9"/>
          <p:cNvSpPr/>
          <p:nvPr/>
        </p:nvSpPr>
        <p:spPr>
          <a:xfrm>
            <a:off x="804672" y="2889504"/>
            <a:ext cx="502920" cy="502920"/>
          </a:xfrm>
          <a:prstGeom prst="ellipse">
            <a:avLst/>
          </a:prstGeom>
          <a:solidFill>
            <a:srgbClr val="42B883"/>
          </a:solidFill>
          <a:ln w="12700">
            <a:solidFill>
              <a:srgbClr val="42B883"/>
            </a:solidFill>
            <a:prstDash val="solid"/>
          </a:ln>
        </p:spPr>
      </p:sp>
      <p:pic>
        <p:nvPicPr>
          <p:cNvPr id="14" name="Image 2" descr="preencoded.png">    </p:cNvPr>
          <p:cNvPicPr>
            <a:picLocks noChangeAspect="1"/>
          </p:cNvPicPr>
          <p:nvPr/>
        </p:nvPicPr>
        <p:blipFill>
          <a:blip r:embed="rId3"/>
          <a:stretch>
            <a:fillRect/>
          </a:stretch>
        </p:blipFill>
        <p:spPr>
          <a:xfrm>
            <a:off x="945490" y="3030322"/>
            <a:ext cx="221285" cy="221285"/>
          </a:xfrm>
          <a:prstGeom prst="rect">
            <a:avLst/>
          </a:prstGeom>
        </p:spPr>
      </p:pic>
      <p:sp>
        <p:nvSpPr>
          <p:cNvPr id="15" name="Text 10"/>
          <p:cNvSpPr txBox="1"/>
          <p:nvPr/>
        </p:nvSpPr>
        <p:spPr>
          <a:xfrm>
            <a:off x="1481328" y="2779776"/>
            <a:ext cx="237744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2. Pratinjau</a:t>
            </a:r>
            <a:endParaRPr lang="en-US" sz="1500" dirty="0"/>
          </a:p>
        </p:txBody>
      </p:sp>
      <p:sp>
        <p:nvSpPr>
          <p:cNvPr id="16" name="Shape 11"/>
          <p:cNvSpPr/>
          <p:nvPr/>
        </p:nvSpPr>
        <p:spPr>
          <a:xfrm>
            <a:off x="3794760" y="2798064"/>
            <a:ext cx="2834640" cy="274320"/>
          </a:xfrm>
          <a:prstGeom prst="roundRect">
            <a:avLst>
              <a:gd name="adj" fmla="val 20000"/>
            </a:avLst>
          </a:prstGeom>
          <a:solidFill>
            <a:srgbClr val="E9F5EF"/>
          </a:solidFill>
          <a:ln w="12700">
            <a:solidFill>
              <a:srgbClr val="333333"/>
            </a:solidFill>
            <a:prstDash val="solid"/>
          </a:ln>
        </p:spPr>
      </p:sp>
      <p:sp>
        <p:nvSpPr>
          <p:cNvPr id="17" name="Text 12"/>
          <p:cNvSpPr txBox="1"/>
          <p:nvPr/>
        </p:nvSpPr>
        <p:spPr>
          <a:xfrm>
            <a:off x="3794760" y="2798064"/>
            <a:ext cx="2834640" cy="274320"/>
          </a:xfrm>
          <a:prstGeom prst="rect">
            <a:avLst/>
          </a:prstGeom>
          <a:noFill/>
          <a:ln/>
        </p:spPr>
        <p:txBody>
          <a:bodyPr wrap="square" lIns="0" tIns="0" rIns="0" bIns="0" rtlCol="0" anchor="ctr"/>
          <a:lstStyle/>
          <a:p>
            <a:pPr algn="ctr" indent="0" marL="0">
              <a:buNone/>
            </a:pPr>
            <a:r>
              <a:rPr lang="en-US" sz="1050" b="1" dirty="0">
                <a:solidFill>
                  <a:srgbClr val="2F9E6E"/>
                </a:solidFill>
                <a:latin typeface="Courier New" pitchFamily="34" charset="0"/>
                <a:ea typeface="Courier New" pitchFamily="34" charset="-122"/>
                <a:cs typeface="Courier New" pitchFamily="34" charset="-120"/>
              </a:rPr>
              <a:t>npm run preview</a:t>
            </a:r>
            <a:endParaRPr lang="en-US" sz="1050" dirty="0"/>
          </a:p>
        </p:txBody>
      </p:sp>
      <p:sp>
        <p:nvSpPr>
          <p:cNvPr id="18" name="Text 13"/>
          <p:cNvSpPr txBox="1"/>
          <p:nvPr/>
        </p:nvSpPr>
        <p:spPr>
          <a:xfrm>
            <a:off x="1481328" y="3127248"/>
            <a:ext cx="9921240" cy="411480"/>
          </a:xfrm>
          <a:prstGeom prst="rect">
            <a:avLst/>
          </a:prstGeom>
          <a:noFill/>
          <a:ln/>
        </p:spPr>
        <p:txBody>
          <a:bodyPr wrap="square" lIns="0" tIns="0" rIns="0" bIns="0" rtlCol="0" anchor="t"/>
          <a:lstStyle/>
          <a:p>
            <a:pPr indent="0" marL="0">
              <a:buNone/>
            </a:pPr>
            <a:r>
              <a:rPr lang="en-US" sz="1150" dirty="0">
                <a:solidFill>
                  <a:srgbClr val="6B7C8C"/>
                </a:solidFill>
                <a:latin typeface="Calibri" pitchFamily="34" charset="0"/>
                <a:ea typeface="Calibri" pitchFamily="34" charset="-122"/>
                <a:cs typeface="Calibri" pitchFamily="34" charset="-120"/>
              </a:rPr>
              <a:t>Menjalankan hasil build secara lokal untuk memastikan semuanya berfungsi seperti di produksi.</a:t>
            </a:r>
            <a:endParaRPr lang="en-US" sz="1150" dirty="0"/>
          </a:p>
        </p:txBody>
      </p:sp>
      <p:sp>
        <p:nvSpPr>
          <p:cNvPr id="19" name="Shape 14"/>
          <p:cNvSpPr/>
          <p:nvPr/>
        </p:nvSpPr>
        <p:spPr>
          <a:xfrm>
            <a:off x="548640" y="3785616"/>
            <a:ext cx="11091672" cy="987552"/>
          </a:xfrm>
          <a:prstGeom prst="roundRect">
            <a:avLst>
              <a:gd name="adj" fmla="val 833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0" name="Shape 15"/>
          <p:cNvSpPr/>
          <p:nvPr/>
        </p:nvSpPr>
        <p:spPr>
          <a:xfrm>
            <a:off x="804672" y="4023360"/>
            <a:ext cx="502920" cy="502920"/>
          </a:xfrm>
          <a:prstGeom prst="ellipse">
            <a:avLst/>
          </a:prstGeom>
          <a:solidFill>
            <a:srgbClr val="42B883"/>
          </a:solidFill>
          <a:ln w="12700">
            <a:solidFill>
              <a:srgbClr val="42B883"/>
            </a:solidFill>
            <a:prstDash val="solid"/>
          </a:ln>
        </p:spPr>
      </p:sp>
      <p:pic>
        <p:nvPicPr>
          <p:cNvPr id="21" name="Image 3" descr="preencoded.png">    </p:cNvPr>
          <p:cNvPicPr>
            <a:picLocks noChangeAspect="1"/>
          </p:cNvPicPr>
          <p:nvPr/>
        </p:nvPicPr>
        <p:blipFill>
          <a:blip r:embed="rId4"/>
          <a:stretch>
            <a:fillRect/>
          </a:stretch>
        </p:blipFill>
        <p:spPr>
          <a:xfrm>
            <a:off x="945490" y="4164178"/>
            <a:ext cx="221285" cy="221285"/>
          </a:xfrm>
          <a:prstGeom prst="rect">
            <a:avLst/>
          </a:prstGeom>
        </p:spPr>
      </p:pic>
      <p:sp>
        <p:nvSpPr>
          <p:cNvPr id="22" name="Text 16"/>
          <p:cNvSpPr txBox="1"/>
          <p:nvPr/>
        </p:nvSpPr>
        <p:spPr>
          <a:xfrm>
            <a:off x="1481328" y="3913632"/>
            <a:ext cx="237744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3. Hosting</a:t>
            </a:r>
            <a:endParaRPr lang="en-US" sz="1500" dirty="0"/>
          </a:p>
        </p:txBody>
      </p:sp>
      <p:sp>
        <p:nvSpPr>
          <p:cNvPr id="23" name="Shape 17"/>
          <p:cNvSpPr/>
          <p:nvPr/>
        </p:nvSpPr>
        <p:spPr>
          <a:xfrm>
            <a:off x="3794760" y="3931920"/>
            <a:ext cx="2834640" cy="274320"/>
          </a:xfrm>
          <a:prstGeom prst="roundRect">
            <a:avLst>
              <a:gd name="adj" fmla="val 20000"/>
            </a:avLst>
          </a:prstGeom>
          <a:solidFill>
            <a:srgbClr val="E9F5EF"/>
          </a:solidFill>
          <a:ln w="12700">
            <a:solidFill>
              <a:srgbClr val="333333"/>
            </a:solidFill>
            <a:prstDash val="solid"/>
          </a:ln>
        </p:spPr>
      </p:sp>
      <p:sp>
        <p:nvSpPr>
          <p:cNvPr id="24" name="Text 18"/>
          <p:cNvSpPr txBox="1"/>
          <p:nvPr/>
        </p:nvSpPr>
        <p:spPr>
          <a:xfrm>
            <a:off x="3794760" y="3931920"/>
            <a:ext cx="2834640" cy="274320"/>
          </a:xfrm>
          <a:prstGeom prst="rect">
            <a:avLst/>
          </a:prstGeom>
          <a:noFill/>
          <a:ln/>
        </p:spPr>
        <p:txBody>
          <a:bodyPr wrap="square" lIns="0" tIns="0" rIns="0" bIns="0" rtlCol="0" anchor="ctr"/>
          <a:lstStyle/>
          <a:p>
            <a:pPr algn="ctr" indent="0" marL="0">
              <a:buNone/>
            </a:pPr>
            <a:r>
              <a:rPr lang="en-US" sz="1050" b="1" dirty="0">
                <a:solidFill>
                  <a:srgbClr val="2F9E6E"/>
                </a:solidFill>
                <a:latin typeface="Courier New" pitchFamily="34" charset="0"/>
                <a:ea typeface="Courier New" pitchFamily="34" charset="-122"/>
                <a:cs typeface="Courier New" pitchFamily="34" charset="-120"/>
              </a:rPr>
              <a:t>Netlify · Vercel · GitHub Pages</a:t>
            </a:r>
            <a:endParaRPr lang="en-US" sz="1050" dirty="0"/>
          </a:p>
        </p:txBody>
      </p:sp>
      <p:sp>
        <p:nvSpPr>
          <p:cNvPr id="25" name="Text 19"/>
          <p:cNvSpPr txBox="1"/>
          <p:nvPr/>
        </p:nvSpPr>
        <p:spPr>
          <a:xfrm>
            <a:off x="1481328" y="4261104"/>
            <a:ext cx="9921240" cy="411480"/>
          </a:xfrm>
          <a:prstGeom prst="rect">
            <a:avLst/>
          </a:prstGeom>
          <a:noFill/>
          <a:ln/>
        </p:spPr>
        <p:txBody>
          <a:bodyPr wrap="square" lIns="0" tIns="0" rIns="0" bIns="0" rtlCol="0" anchor="t"/>
          <a:lstStyle/>
          <a:p>
            <a:pPr indent="0" marL="0">
              <a:buNone/>
            </a:pPr>
            <a:r>
              <a:rPr lang="en-US" sz="1150" dirty="0">
                <a:solidFill>
                  <a:srgbClr val="6B7C8C"/>
                </a:solidFill>
                <a:latin typeface="Calibri" pitchFamily="34" charset="0"/>
                <a:ea typeface="Calibri" pitchFamily="34" charset="-122"/>
                <a:cs typeface="Calibri" pitchFamily="34" charset="-120"/>
              </a:rPr>
              <a:t>Unggah folder dist/ ke layanan hosting statis, atau hubungkan repositori agar deploy berjalan otomatis.</a:t>
            </a:r>
            <a:endParaRPr lang="en-US" sz="1150" dirty="0"/>
          </a:p>
        </p:txBody>
      </p:sp>
      <p:sp>
        <p:nvSpPr>
          <p:cNvPr id="26" name="Shape 20"/>
          <p:cNvSpPr/>
          <p:nvPr/>
        </p:nvSpPr>
        <p:spPr>
          <a:xfrm>
            <a:off x="548640" y="4919472"/>
            <a:ext cx="11091672" cy="987552"/>
          </a:xfrm>
          <a:prstGeom prst="roundRect">
            <a:avLst>
              <a:gd name="adj" fmla="val 8333"/>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7" name="Shape 21"/>
          <p:cNvSpPr/>
          <p:nvPr/>
        </p:nvSpPr>
        <p:spPr>
          <a:xfrm>
            <a:off x="804672" y="5157216"/>
            <a:ext cx="502920" cy="502920"/>
          </a:xfrm>
          <a:prstGeom prst="ellipse">
            <a:avLst/>
          </a:prstGeom>
          <a:solidFill>
            <a:srgbClr val="42B883"/>
          </a:solidFill>
          <a:ln w="12700">
            <a:solidFill>
              <a:srgbClr val="42B883"/>
            </a:solidFill>
            <a:prstDash val="solid"/>
          </a:ln>
        </p:spPr>
      </p:sp>
      <p:pic>
        <p:nvPicPr>
          <p:cNvPr id="28" name="Image 4" descr="preencoded.png">    </p:cNvPr>
          <p:cNvPicPr>
            <a:picLocks noChangeAspect="1"/>
          </p:cNvPicPr>
          <p:nvPr/>
        </p:nvPicPr>
        <p:blipFill>
          <a:blip r:embed="rId5"/>
          <a:stretch>
            <a:fillRect/>
          </a:stretch>
        </p:blipFill>
        <p:spPr>
          <a:xfrm>
            <a:off x="945490" y="5298034"/>
            <a:ext cx="221285" cy="221285"/>
          </a:xfrm>
          <a:prstGeom prst="rect">
            <a:avLst/>
          </a:prstGeom>
        </p:spPr>
      </p:pic>
      <p:sp>
        <p:nvSpPr>
          <p:cNvPr id="29" name="Text 22"/>
          <p:cNvSpPr txBox="1"/>
          <p:nvPr/>
        </p:nvSpPr>
        <p:spPr>
          <a:xfrm>
            <a:off x="1481328" y="5047488"/>
            <a:ext cx="2377440" cy="292608"/>
          </a:xfrm>
          <a:prstGeom prst="rect">
            <a:avLst/>
          </a:prstGeom>
          <a:noFill/>
          <a:ln/>
        </p:spPr>
        <p:txBody>
          <a:bodyPr wrap="square" lIns="0" tIns="0" rIns="0" bIns="0" rtlCol="0" anchor="ctr"/>
          <a:lstStyle/>
          <a:p>
            <a:pPr indent="0" marL="0">
              <a:buNone/>
            </a:pPr>
            <a:r>
              <a:rPr lang="en-US" sz="1500" b="1" dirty="0">
                <a:solidFill>
                  <a:srgbClr val="35495E"/>
                </a:solidFill>
                <a:latin typeface="Calibri" pitchFamily="34" charset="0"/>
                <a:ea typeface="Calibri" pitchFamily="34" charset="-122"/>
                <a:cs typeface="Calibri" pitchFamily="34" charset="-120"/>
              </a:rPr>
              <a:t>4. Konfigurasi</a:t>
            </a:r>
            <a:endParaRPr lang="en-US" sz="1500" dirty="0"/>
          </a:p>
        </p:txBody>
      </p:sp>
      <p:sp>
        <p:nvSpPr>
          <p:cNvPr id="30" name="Shape 23"/>
          <p:cNvSpPr/>
          <p:nvPr/>
        </p:nvSpPr>
        <p:spPr>
          <a:xfrm>
            <a:off x="3794760" y="5065776"/>
            <a:ext cx="2834640" cy="274320"/>
          </a:xfrm>
          <a:prstGeom prst="roundRect">
            <a:avLst>
              <a:gd name="adj" fmla="val 20000"/>
            </a:avLst>
          </a:prstGeom>
          <a:solidFill>
            <a:srgbClr val="E9F5EF"/>
          </a:solidFill>
          <a:ln w="12700">
            <a:solidFill>
              <a:srgbClr val="333333"/>
            </a:solidFill>
            <a:prstDash val="solid"/>
          </a:ln>
        </p:spPr>
      </p:sp>
      <p:sp>
        <p:nvSpPr>
          <p:cNvPr id="31" name="Text 24"/>
          <p:cNvSpPr txBox="1"/>
          <p:nvPr/>
        </p:nvSpPr>
        <p:spPr>
          <a:xfrm>
            <a:off x="3794760" y="5065776"/>
            <a:ext cx="2834640" cy="274320"/>
          </a:xfrm>
          <a:prstGeom prst="rect">
            <a:avLst/>
          </a:prstGeom>
          <a:noFill/>
          <a:ln/>
        </p:spPr>
        <p:txBody>
          <a:bodyPr wrap="square" lIns="0" tIns="0" rIns="0" bIns="0" rtlCol="0" anchor="ctr"/>
          <a:lstStyle/>
          <a:p>
            <a:pPr algn="ctr" indent="0" marL="0">
              <a:buNone/>
            </a:pPr>
            <a:r>
              <a:rPr lang="en-US" sz="1050" b="1" dirty="0">
                <a:solidFill>
                  <a:srgbClr val="2F9E6E"/>
                </a:solidFill>
                <a:latin typeface="Courier New" pitchFamily="34" charset="0"/>
                <a:ea typeface="Courier New" pitchFamily="34" charset="-122"/>
                <a:cs typeface="Courier New" pitchFamily="34" charset="-120"/>
              </a:rPr>
              <a:t>Fallback ke index.html</a:t>
            </a:r>
            <a:endParaRPr lang="en-US" sz="1050" dirty="0"/>
          </a:p>
        </p:txBody>
      </p:sp>
      <p:sp>
        <p:nvSpPr>
          <p:cNvPr id="32" name="Text 25"/>
          <p:cNvSpPr txBox="1"/>
          <p:nvPr/>
        </p:nvSpPr>
        <p:spPr>
          <a:xfrm>
            <a:off x="1481328" y="5394960"/>
            <a:ext cx="9921240" cy="411480"/>
          </a:xfrm>
          <a:prstGeom prst="rect">
            <a:avLst/>
          </a:prstGeom>
          <a:noFill/>
          <a:ln/>
        </p:spPr>
        <p:txBody>
          <a:bodyPr wrap="square" lIns="0" tIns="0" rIns="0" bIns="0" rtlCol="0" anchor="t"/>
          <a:lstStyle/>
          <a:p>
            <a:pPr indent="0" marL="0">
              <a:buNone/>
            </a:pPr>
            <a:r>
              <a:rPr lang="en-US" sz="1150" dirty="0">
                <a:solidFill>
                  <a:srgbClr val="6B7C8C"/>
                </a:solidFill>
                <a:latin typeface="Calibri" pitchFamily="34" charset="0"/>
                <a:ea typeface="Calibri" pitchFamily="34" charset="-122"/>
                <a:cs typeface="Calibri" pitchFamily="34" charset="-120"/>
              </a:rPr>
              <a:t>Untuk mode history routing, server harus mengarahkan semua rute ke index.html agar tidak muncul error 404.</a:t>
            </a:r>
            <a:endParaRPr lang="en-US" sz="1150" dirty="0"/>
          </a:p>
        </p:txBody>
      </p:sp>
      <p:sp>
        <p:nvSpPr>
          <p:cNvPr id="33" name="Shape 26"/>
          <p:cNvSpPr/>
          <p:nvPr/>
        </p:nvSpPr>
        <p:spPr>
          <a:xfrm>
            <a:off x="1234440" y="6016752"/>
            <a:ext cx="365760" cy="365760"/>
          </a:xfrm>
          <a:prstGeom prst="ellipse">
            <a:avLst/>
          </a:prstGeom>
          <a:solidFill>
            <a:srgbClr val="FFFFFF"/>
          </a:solidFill>
          <a:ln w="12700">
            <a:solidFill>
              <a:srgbClr val="DCE7E2"/>
            </a:solidFill>
            <a:prstDash val="solid"/>
          </a:ln>
        </p:spPr>
      </p:sp>
      <p:pic>
        <p:nvPicPr>
          <p:cNvPr id="34" name="Image 5" descr="preencoded.png">    </p:cNvPr>
          <p:cNvPicPr>
            <a:picLocks noChangeAspect="1"/>
          </p:cNvPicPr>
          <p:nvPr/>
        </p:nvPicPr>
        <p:blipFill>
          <a:blip r:embed="rId6"/>
          <a:stretch>
            <a:fillRect/>
          </a:stretch>
        </p:blipFill>
        <p:spPr>
          <a:xfrm>
            <a:off x="1325880" y="6108192"/>
            <a:ext cx="182880" cy="182880"/>
          </a:xfrm>
          <a:prstGeom prst="rect">
            <a:avLst/>
          </a:prstGeom>
        </p:spPr>
      </p:pic>
      <p:sp>
        <p:nvSpPr>
          <p:cNvPr id="35" name="Text 27"/>
          <p:cNvSpPr txBox="1"/>
          <p:nvPr/>
        </p:nvSpPr>
        <p:spPr>
          <a:xfrm>
            <a:off x="1673352" y="6016752"/>
            <a:ext cx="1600200" cy="36576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Netlify</a:t>
            </a:r>
            <a:endParaRPr lang="en-US" sz="1100" dirty="0"/>
          </a:p>
        </p:txBody>
      </p:sp>
      <p:sp>
        <p:nvSpPr>
          <p:cNvPr id="36" name="Shape 28"/>
          <p:cNvSpPr/>
          <p:nvPr/>
        </p:nvSpPr>
        <p:spPr>
          <a:xfrm>
            <a:off x="3355848" y="6016752"/>
            <a:ext cx="365760" cy="365760"/>
          </a:xfrm>
          <a:prstGeom prst="ellipse">
            <a:avLst/>
          </a:prstGeom>
          <a:solidFill>
            <a:srgbClr val="FFFFFF"/>
          </a:solidFill>
          <a:ln w="12700">
            <a:solidFill>
              <a:srgbClr val="DCE7E2"/>
            </a:solidFill>
            <a:prstDash val="solid"/>
          </a:ln>
        </p:spPr>
      </p:sp>
      <p:pic>
        <p:nvPicPr>
          <p:cNvPr id="37" name="Image 6" descr="preencoded.png">    </p:cNvPr>
          <p:cNvPicPr>
            <a:picLocks noChangeAspect="1"/>
          </p:cNvPicPr>
          <p:nvPr/>
        </p:nvPicPr>
        <p:blipFill>
          <a:blip r:embed="rId7"/>
          <a:stretch>
            <a:fillRect/>
          </a:stretch>
        </p:blipFill>
        <p:spPr>
          <a:xfrm>
            <a:off x="3447288" y="6108192"/>
            <a:ext cx="182880" cy="182880"/>
          </a:xfrm>
          <a:prstGeom prst="rect">
            <a:avLst/>
          </a:prstGeom>
        </p:spPr>
      </p:pic>
      <p:sp>
        <p:nvSpPr>
          <p:cNvPr id="38" name="Text 29"/>
          <p:cNvSpPr txBox="1"/>
          <p:nvPr/>
        </p:nvSpPr>
        <p:spPr>
          <a:xfrm>
            <a:off x="3794760" y="6016752"/>
            <a:ext cx="1600200" cy="36576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Vercel</a:t>
            </a:r>
            <a:endParaRPr lang="en-US" sz="1100" dirty="0"/>
          </a:p>
        </p:txBody>
      </p:sp>
      <p:sp>
        <p:nvSpPr>
          <p:cNvPr id="39" name="Shape 30"/>
          <p:cNvSpPr/>
          <p:nvPr/>
        </p:nvSpPr>
        <p:spPr>
          <a:xfrm>
            <a:off x="5477256" y="6016752"/>
            <a:ext cx="365760" cy="365760"/>
          </a:xfrm>
          <a:prstGeom prst="ellipse">
            <a:avLst/>
          </a:prstGeom>
          <a:solidFill>
            <a:srgbClr val="FFFFFF"/>
          </a:solidFill>
          <a:ln w="12700">
            <a:solidFill>
              <a:srgbClr val="DCE7E2"/>
            </a:solidFill>
            <a:prstDash val="solid"/>
          </a:ln>
        </p:spPr>
      </p:sp>
      <p:pic>
        <p:nvPicPr>
          <p:cNvPr id="40" name="Image 7" descr="preencoded.png">    </p:cNvPr>
          <p:cNvPicPr>
            <a:picLocks noChangeAspect="1"/>
          </p:cNvPicPr>
          <p:nvPr/>
        </p:nvPicPr>
        <p:blipFill>
          <a:blip r:embed="rId8"/>
          <a:stretch>
            <a:fillRect/>
          </a:stretch>
        </p:blipFill>
        <p:spPr>
          <a:xfrm>
            <a:off x="5568696" y="6108192"/>
            <a:ext cx="182880" cy="182880"/>
          </a:xfrm>
          <a:prstGeom prst="rect">
            <a:avLst/>
          </a:prstGeom>
        </p:spPr>
      </p:pic>
      <p:sp>
        <p:nvSpPr>
          <p:cNvPr id="41" name="Text 31"/>
          <p:cNvSpPr txBox="1"/>
          <p:nvPr/>
        </p:nvSpPr>
        <p:spPr>
          <a:xfrm>
            <a:off x="5916168" y="6016752"/>
            <a:ext cx="1600200" cy="36576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GitHub Pages</a:t>
            </a:r>
            <a:endParaRPr lang="en-US" sz="1100" dirty="0"/>
          </a:p>
        </p:txBody>
      </p:sp>
      <p:sp>
        <p:nvSpPr>
          <p:cNvPr id="42" name="Shape 32"/>
          <p:cNvSpPr/>
          <p:nvPr/>
        </p:nvSpPr>
        <p:spPr>
          <a:xfrm>
            <a:off x="7598664" y="6016752"/>
            <a:ext cx="365760" cy="365760"/>
          </a:xfrm>
          <a:prstGeom prst="ellipse">
            <a:avLst/>
          </a:prstGeom>
          <a:solidFill>
            <a:srgbClr val="FFFFFF"/>
          </a:solidFill>
          <a:ln w="12700">
            <a:solidFill>
              <a:srgbClr val="DCE7E2"/>
            </a:solidFill>
            <a:prstDash val="solid"/>
          </a:ln>
        </p:spPr>
      </p:sp>
      <p:pic>
        <p:nvPicPr>
          <p:cNvPr id="43" name="Image 8" descr="preencoded.png">    </p:cNvPr>
          <p:cNvPicPr>
            <a:picLocks noChangeAspect="1"/>
          </p:cNvPicPr>
          <p:nvPr/>
        </p:nvPicPr>
        <p:blipFill>
          <a:blip r:embed="rId9"/>
          <a:stretch>
            <a:fillRect/>
          </a:stretch>
        </p:blipFill>
        <p:spPr>
          <a:xfrm>
            <a:off x="7690104" y="6108192"/>
            <a:ext cx="182880" cy="182880"/>
          </a:xfrm>
          <a:prstGeom prst="rect">
            <a:avLst/>
          </a:prstGeom>
        </p:spPr>
      </p:pic>
      <p:sp>
        <p:nvSpPr>
          <p:cNvPr id="44" name="Text 33"/>
          <p:cNvSpPr txBox="1"/>
          <p:nvPr/>
        </p:nvSpPr>
        <p:spPr>
          <a:xfrm>
            <a:off x="8037576" y="6016752"/>
            <a:ext cx="1600200" cy="36576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Node Server</a:t>
            </a:r>
            <a:endParaRPr lang="en-US" sz="1100" dirty="0"/>
          </a:p>
        </p:txBody>
      </p:sp>
      <p:sp>
        <p:nvSpPr>
          <p:cNvPr id="45" name="Shape 34"/>
          <p:cNvSpPr/>
          <p:nvPr/>
        </p:nvSpPr>
        <p:spPr>
          <a:xfrm>
            <a:off x="9720072" y="6016752"/>
            <a:ext cx="365760" cy="365760"/>
          </a:xfrm>
          <a:prstGeom prst="ellipse">
            <a:avLst/>
          </a:prstGeom>
          <a:solidFill>
            <a:srgbClr val="FFFFFF"/>
          </a:solidFill>
          <a:ln w="12700">
            <a:solidFill>
              <a:srgbClr val="DCE7E2"/>
            </a:solidFill>
            <a:prstDash val="solid"/>
          </a:ln>
        </p:spPr>
      </p:sp>
      <p:pic>
        <p:nvPicPr>
          <p:cNvPr id="46" name="Image 9" descr="preencoded.png">    </p:cNvPr>
          <p:cNvPicPr>
            <a:picLocks noChangeAspect="1"/>
          </p:cNvPicPr>
          <p:nvPr/>
        </p:nvPicPr>
        <p:blipFill>
          <a:blip r:embed="rId10"/>
          <a:stretch>
            <a:fillRect/>
          </a:stretch>
        </p:blipFill>
        <p:spPr>
          <a:xfrm>
            <a:off x="9811512" y="6108192"/>
            <a:ext cx="182880" cy="182880"/>
          </a:xfrm>
          <a:prstGeom prst="rect">
            <a:avLst/>
          </a:prstGeom>
        </p:spPr>
      </p:pic>
      <p:sp>
        <p:nvSpPr>
          <p:cNvPr id="47" name="Text 35"/>
          <p:cNvSpPr txBox="1"/>
          <p:nvPr/>
        </p:nvSpPr>
        <p:spPr>
          <a:xfrm>
            <a:off x="10158984" y="6016752"/>
            <a:ext cx="1600200" cy="365760"/>
          </a:xfrm>
          <a:prstGeom prst="rect">
            <a:avLst/>
          </a:prstGeom>
          <a:noFill/>
          <a:ln/>
        </p:spPr>
        <p:txBody>
          <a:bodyPr wrap="square" lIns="0" tIns="0" rIns="0" bIns="0" rtlCol="0" anchor="ctr"/>
          <a:lstStyle/>
          <a:p>
            <a:pPr indent="0" marL="0">
              <a:buNone/>
            </a:pPr>
            <a:r>
              <a:rPr lang="en-US" sz="1100" dirty="0">
                <a:solidFill>
                  <a:srgbClr val="6B7C8C"/>
                </a:solidFill>
                <a:latin typeface="Calibri" pitchFamily="34" charset="0"/>
                <a:ea typeface="Calibri" pitchFamily="34" charset="-122"/>
                <a:cs typeface="Calibri" pitchFamily="34" charset="-120"/>
              </a:rPr>
              <a:t>Nuxt Hosting</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Praktik Terbaik</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Kebiasaan yang menjaga proyek Vue tetap rapi dan mudah dirawat</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481328"/>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768096" y="1700784"/>
            <a:ext cx="402336" cy="402336"/>
          </a:xfrm>
          <a:prstGeom prst="ellipse">
            <a:avLst/>
          </a:prstGeom>
          <a:solidFill>
            <a:srgbClr val="E9F5EF"/>
          </a:solidFill>
          <a:ln w="12700">
            <a:solidFill>
              <a:srgbClr val="333333"/>
            </a:solidFill>
            <a:prstDash val="solid"/>
          </a:ln>
        </p:spPr>
      </p:sp>
      <p:pic>
        <p:nvPicPr>
          <p:cNvPr id="7" name="Image 1" descr="preencoded.png">    </p:cNvPr>
          <p:cNvPicPr>
            <a:picLocks noChangeAspect="1"/>
          </p:cNvPicPr>
          <p:nvPr/>
        </p:nvPicPr>
        <p:blipFill>
          <a:blip r:embed="rId2"/>
          <a:stretch>
            <a:fillRect/>
          </a:stretch>
        </p:blipFill>
        <p:spPr>
          <a:xfrm>
            <a:off x="854964" y="1787652"/>
            <a:ext cx="201168" cy="201168"/>
          </a:xfrm>
          <a:prstGeom prst="rect">
            <a:avLst/>
          </a:prstGeom>
        </p:spPr>
      </p:pic>
      <p:sp>
        <p:nvSpPr>
          <p:cNvPr id="8" name="Text 4"/>
          <p:cNvSpPr txBox="1"/>
          <p:nvPr/>
        </p:nvSpPr>
        <p:spPr>
          <a:xfrm>
            <a:off x="1261872" y="1682496"/>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Penamaan Komponen</a:t>
            </a:r>
            <a:endParaRPr lang="en-US" sz="1250" dirty="0"/>
          </a:p>
        </p:txBody>
      </p:sp>
      <p:sp>
        <p:nvSpPr>
          <p:cNvPr id="9" name="Text 5"/>
          <p:cNvSpPr txBox="1"/>
          <p:nvPr/>
        </p:nvSpPr>
        <p:spPr>
          <a:xfrm>
            <a:off x="768096" y="2194560"/>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Gunakan PascalCase dengan minimal dua kata, misalnya KartuProduk.vue, bukan Kartu.vue.</a:t>
            </a:r>
            <a:endParaRPr lang="en-US" sz="1100" dirty="0"/>
          </a:p>
        </p:txBody>
      </p:sp>
      <p:sp>
        <p:nvSpPr>
          <p:cNvPr id="10" name="Shape 6"/>
          <p:cNvSpPr/>
          <p:nvPr/>
        </p:nvSpPr>
        <p:spPr>
          <a:xfrm>
            <a:off x="4361688" y="1481328"/>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Shape 7"/>
          <p:cNvSpPr/>
          <p:nvPr/>
        </p:nvSpPr>
        <p:spPr>
          <a:xfrm>
            <a:off x="4581144" y="1700784"/>
            <a:ext cx="402336" cy="402336"/>
          </a:xfrm>
          <a:prstGeom prst="ellipse">
            <a:avLst/>
          </a:prstGeom>
          <a:solidFill>
            <a:srgbClr val="E9F5EF"/>
          </a:solidFill>
          <a:ln w="12700">
            <a:solidFill>
              <a:srgbClr val="333333"/>
            </a:solidFill>
            <a:prstDash val="solid"/>
          </a:ln>
        </p:spPr>
      </p:sp>
      <p:pic>
        <p:nvPicPr>
          <p:cNvPr id="12" name="Image 2" descr="preencoded.png">    </p:cNvPr>
          <p:cNvPicPr>
            <a:picLocks noChangeAspect="1"/>
          </p:cNvPicPr>
          <p:nvPr/>
        </p:nvPicPr>
        <p:blipFill>
          <a:blip r:embed="rId3"/>
          <a:stretch>
            <a:fillRect/>
          </a:stretch>
        </p:blipFill>
        <p:spPr>
          <a:xfrm>
            <a:off x="4668012" y="1787652"/>
            <a:ext cx="201168" cy="201168"/>
          </a:xfrm>
          <a:prstGeom prst="rect">
            <a:avLst/>
          </a:prstGeom>
        </p:spPr>
      </p:pic>
      <p:sp>
        <p:nvSpPr>
          <p:cNvPr id="13" name="Text 8"/>
          <p:cNvSpPr txBox="1"/>
          <p:nvPr/>
        </p:nvSpPr>
        <p:spPr>
          <a:xfrm>
            <a:off x="5074920" y="1682496"/>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Satu Komponen Satu Tugas</a:t>
            </a:r>
            <a:endParaRPr lang="en-US" sz="1250" dirty="0"/>
          </a:p>
        </p:txBody>
      </p:sp>
      <p:sp>
        <p:nvSpPr>
          <p:cNvPr id="14" name="Text 9"/>
          <p:cNvSpPr txBox="1"/>
          <p:nvPr/>
        </p:nvSpPr>
        <p:spPr>
          <a:xfrm>
            <a:off x="4581144" y="2194560"/>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Pecah komponen yang terlalu besar. Idealnya satu komponen di bawah 300 baris.</a:t>
            </a:r>
            <a:endParaRPr lang="en-US" sz="1100" dirty="0"/>
          </a:p>
        </p:txBody>
      </p:sp>
      <p:sp>
        <p:nvSpPr>
          <p:cNvPr id="15" name="Shape 10"/>
          <p:cNvSpPr/>
          <p:nvPr/>
        </p:nvSpPr>
        <p:spPr>
          <a:xfrm>
            <a:off x="8174736" y="1481328"/>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6" name="Shape 11"/>
          <p:cNvSpPr/>
          <p:nvPr/>
        </p:nvSpPr>
        <p:spPr>
          <a:xfrm>
            <a:off x="8394192" y="1700784"/>
            <a:ext cx="402336" cy="402336"/>
          </a:xfrm>
          <a:prstGeom prst="ellipse">
            <a:avLst/>
          </a:prstGeom>
          <a:solidFill>
            <a:srgbClr val="E9F5EF"/>
          </a:solidFill>
          <a:ln w="12700">
            <a:solidFill>
              <a:srgbClr val="333333"/>
            </a:solidFill>
            <a:prstDash val="solid"/>
          </a:ln>
        </p:spPr>
      </p:sp>
      <p:pic>
        <p:nvPicPr>
          <p:cNvPr id="17" name="Image 3" descr="preencoded.png">    </p:cNvPr>
          <p:cNvPicPr>
            <a:picLocks noChangeAspect="1"/>
          </p:cNvPicPr>
          <p:nvPr/>
        </p:nvPicPr>
        <p:blipFill>
          <a:blip r:embed="rId4"/>
          <a:stretch>
            <a:fillRect/>
          </a:stretch>
        </p:blipFill>
        <p:spPr>
          <a:xfrm>
            <a:off x="8481060" y="1787652"/>
            <a:ext cx="201168" cy="201168"/>
          </a:xfrm>
          <a:prstGeom prst="rect">
            <a:avLst/>
          </a:prstGeom>
        </p:spPr>
      </p:pic>
      <p:sp>
        <p:nvSpPr>
          <p:cNvPr id="18" name="Text 12"/>
          <p:cNvSpPr txBox="1"/>
          <p:nvPr/>
        </p:nvSpPr>
        <p:spPr>
          <a:xfrm>
            <a:off x="8887968" y="1682496"/>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Selalu Pakai :key</a:t>
            </a:r>
            <a:endParaRPr lang="en-US" sz="1250" dirty="0"/>
          </a:p>
        </p:txBody>
      </p:sp>
      <p:sp>
        <p:nvSpPr>
          <p:cNvPr id="19" name="Text 13"/>
          <p:cNvSpPr txBox="1"/>
          <p:nvPr/>
        </p:nvSpPr>
        <p:spPr>
          <a:xfrm>
            <a:off x="8394192" y="2194560"/>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Berikan key unik dan stabil pada setiap v-for agar rendering efisien dan benar.</a:t>
            </a:r>
            <a:endParaRPr lang="en-US" sz="1100" dirty="0"/>
          </a:p>
        </p:txBody>
      </p:sp>
      <p:sp>
        <p:nvSpPr>
          <p:cNvPr id="20" name="Shape 14"/>
          <p:cNvSpPr/>
          <p:nvPr/>
        </p:nvSpPr>
        <p:spPr>
          <a:xfrm>
            <a:off x="548640" y="3136392"/>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1" name="Shape 15"/>
          <p:cNvSpPr/>
          <p:nvPr/>
        </p:nvSpPr>
        <p:spPr>
          <a:xfrm>
            <a:off x="768096" y="3355848"/>
            <a:ext cx="402336" cy="402336"/>
          </a:xfrm>
          <a:prstGeom prst="ellipse">
            <a:avLst/>
          </a:prstGeom>
          <a:solidFill>
            <a:srgbClr val="E9F5EF"/>
          </a:solidFill>
          <a:ln w="12700">
            <a:solidFill>
              <a:srgbClr val="333333"/>
            </a:solidFill>
            <a:prstDash val="solid"/>
          </a:ln>
        </p:spPr>
      </p:sp>
      <p:pic>
        <p:nvPicPr>
          <p:cNvPr id="22" name="Image 4" descr="preencoded.png">    </p:cNvPr>
          <p:cNvPicPr>
            <a:picLocks noChangeAspect="1"/>
          </p:cNvPicPr>
          <p:nvPr/>
        </p:nvPicPr>
        <p:blipFill>
          <a:blip r:embed="rId5"/>
          <a:stretch>
            <a:fillRect/>
          </a:stretch>
        </p:blipFill>
        <p:spPr>
          <a:xfrm>
            <a:off x="854964" y="3442716"/>
            <a:ext cx="201168" cy="201168"/>
          </a:xfrm>
          <a:prstGeom prst="rect">
            <a:avLst/>
          </a:prstGeom>
        </p:spPr>
      </p:pic>
      <p:sp>
        <p:nvSpPr>
          <p:cNvPr id="23" name="Text 16"/>
          <p:cNvSpPr txBox="1"/>
          <p:nvPr/>
        </p:nvSpPr>
        <p:spPr>
          <a:xfrm>
            <a:off x="1261872" y="3337560"/>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Computed daripada Method</a:t>
            </a:r>
            <a:endParaRPr lang="en-US" sz="1250" dirty="0"/>
          </a:p>
        </p:txBody>
      </p:sp>
      <p:sp>
        <p:nvSpPr>
          <p:cNvPr id="24" name="Text 17"/>
          <p:cNvSpPr txBox="1"/>
          <p:nvPr/>
        </p:nvSpPr>
        <p:spPr>
          <a:xfrm>
            <a:off x="768096" y="3849624"/>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Untuk nilai turunan, computed lebih hemat karena hasilnya disimpan dalam cache.</a:t>
            </a:r>
            <a:endParaRPr lang="en-US" sz="1100" dirty="0"/>
          </a:p>
        </p:txBody>
      </p:sp>
      <p:sp>
        <p:nvSpPr>
          <p:cNvPr id="25" name="Shape 18"/>
          <p:cNvSpPr/>
          <p:nvPr/>
        </p:nvSpPr>
        <p:spPr>
          <a:xfrm>
            <a:off x="4361688" y="3136392"/>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19"/>
          <p:cNvSpPr/>
          <p:nvPr/>
        </p:nvSpPr>
        <p:spPr>
          <a:xfrm>
            <a:off x="4581144" y="3355848"/>
            <a:ext cx="402336" cy="402336"/>
          </a:xfrm>
          <a:prstGeom prst="ellipse">
            <a:avLst/>
          </a:prstGeom>
          <a:solidFill>
            <a:srgbClr val="E9F5EF"/>
          </a:solidFill>
          <a:ln w="12700">
            <a:solidFill>
              <a:srgbClr val="333333"/>
            </a:solidFill>
            <a:prstDash val="solid"/>
          </a:ln>
        </p:spPr>
      </p:sp>
      <p:pic>
        <p:nvPicPr>
          <p:cNvPr id="27" name="Image 5" descr="preencoded.png">    </p:cNvPr>
          <p:cNvPicPr>
            <a:picLocks noChangeAspect="1"/>
          </p:cNvPicPr>
          <p:nvPr/>
        </p:nvPicPr>
        <p:blipFill>
          <a:blip r:embed="rId6"/>
          <a:stretch>
            <a:fillRect/>
          </a:stretch>
        </p:blipFill>
        <p:spPr>
          <a:xfrm>
            <a:off x="4668012" y="3442716"/>
            <a:ext cx="201168" cy="201168"/>
          </a:xfrm>
          <a:prstGeom prst="rect">
            <a:avLst/>
          </a:prstGeom>
        </p:spPr>
      </p:pic>
      <p:sp>
        <p:nvSpPr>
          <p:cNvPr id="28" name="Text 20"/>
          <p:cNvSpPr txBox="1"/>
          <p:nvPr/>
        </p:nvSpPr>
        <p:spPr>
          <a:xfrm>
            <a:off x="5074920" y="3337560"/>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Style Scoped</a:t>
            </a:r>
            <a:endParaRPr lang="en-US" sz="1250" dirty="0"/>
          </a:p>
        </p:txBody>
      </p:sp>
      <p:sp>
        <p:nvSpPr>
          <p:cNvPr id="29" name="Text 21"/>
          <p:cNvSpPr txBox="1"/>
          <p:nvPr/>
        </p:nvSpPr>
        <p:spPr>
          <a:xfrm>
            <a:off x="4581144" y="3849624"/>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Selalu tambahkan scoped agar CSS tidak bocor dan bertabrakan antar komponen.</a:t>
            </a:r>
            <a:endParaRPr lang="en-US" sz="1100" dirty="0"/>
          </a:p>
        </p:txBody>
      </p:sp>
      <p:sp>
        <p:nvSpPr>
          <p:cNvPr id="30" name="Shape 22"/>
          <p:cNvSpPr/>
          <p:nvPr/>
        </p:nvSpPr>
        <p:spPr>
          <a:xfrm>
            <a:off x="8174736" y="3136392"/>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1" name="Shape 23"/>
          <p:cNvSpPr/>
          <p:nvPr/>
        </p:nvSpPr>
        <p:spPr>
          <a:xfrm>
            <a:off x="8394192" y="3355848"/>
            <a:ext cx="402336" cy="402336"/>
          </a:xfrm>
          <a:prstGeom prst="ellipse">
            <a:avLst/>
          </a:prstGeom>
          <a:solidFill>
            <a:srgbClr val="E9F5EF"/>
          </a:solidFill>
          <a:ln w="12700">
            <a:solidFill>
              <a:srgbClr val="333333"/>
            </a:solidFill>
            <a:prstDash val="solid"/>
          </a:ln>
        </p:spPr>
      </p:sp>
      <p:pic>
        <p:nvPicPr>
          <p:cNvPr id="32" name="Image 6" descr="preencoded.png">    </p:cNvPr>
          <p:cNvPicPr>
            <a:picLocks noChangeAspect="1"/>
          </p:cNvPicPr>
          <p:nvPr/>
        </p:nvPicPr>
        <p:blipFill>
          <a:blip r:embed="rId7"/>
          <a:stretch>
            <a:fillRect/>
          </a:stretch>
        </p:blipFill>
        <p:spPr>
          <a:xfrm>
            <a:off x="8481060" y="3442716"/>
            <a:ext cx="201168" cy="201168"/>
          </a:xfrm>
          <a:prstGeom prst="rect">
            <a:avLst/>
          </a:prstGeom>
        </p:spPr>
      </p:pic>
      <p:sp>
        <p:nvSpPr>
          <p:cNvPr id="33" name="Text 24"/>
          <p:cNvSpPr txBox="1"/>
          <p:nvPr/>
        </p:nvSpPr>
        <p:spPr>
          <a:xfrm>
            <a:off x="8887968" y="3337560"/>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Validasi Props</a:t>
            </a:r>
            <a:endParaRPr lang="en-US" sz="1250" dirty="0"/>
          </a:p>
        </p:txBody>
      </p:sp>
      <p:sp>
        <p:nvSpPr>
          <p:cNvPr id="34" name="Text 25"/>
          <p:cNvSpPr txBox="1"/>
          <p:nvPr/>
        </p:nvSpPr>
        <p:spPr>
          <a:xfrm>
            <a:off x="8394192" y="3849624"/>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Tentukan type, required, dan default agar komponen terdokumentasi sendiri.</a:t>
            </a:r>
            <a:endParaRPr lang="en-US" sz="1100" dirty="0"/>
          </a:p>
        </p:txBody>
      </p:sp>
      <p:sp>
        <p:nvSpPr>
          <p:cNvPr id="35" name="Shape 26"/>
          <p:cNvSpPr/>
          <p:nvPr/>
        </p:nvSpPr>
        <p:spPr>
          <a:xfrm>
            <a:off x="548640" y="4791456"/>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6" name="Shape 27"/>
          <p:cNvSpPr/>
          <p:nvPr/>
        </p:nvSpPr>
        <p:spPr>
          <a:xfrm>
            <a:off x="768096" y="5010912"/>
            <a:ext cx="402336" cy="402336"/>
          </a:xfrm>
          <a:prstGeom prst="ellipse">
            <a:avLst/>
          </a:prstGeom>
          <a:solidFill>
            <a:srgbClr val="FBE9E9"/>
          </a:solidFill>
          <a:ln w="12700">
            <a:solidFill>
              <a:srgbClr val="333333"/>
            </a:solidFill>
            <a:prstDash val="solid"/>
          </a:ln>
        </p:spPr>
      </p:sp>
      <p:pic>
        <p:nvPicPr>
          <p:cNvPr id="37" name="Image 7" descr="preencoded.png">    </p:cNvPr>
          <p:cNvPicPr>
            <a:picLocks noChangeAspect="1"/>
          </p:cNvPicPr>
          <p:nvPr/>
        </p:nvPicPr>
        <p:blipFill>
          <a:blip r:embed="rId8"/>
          <a:stretch>
            <a:fillRect/>
          </a:stretch>
        </p:blipFill>
        <p:spPr>
          <a:xfrm>
            <a:off x="854964" y="5097780"/>
            <a:ext cx="201168" cy="201168"/>
          </a:xfrm>
          <a:prstGeom prst="rect">
            <a:avLst/>
          </a:prstGeom>
        </p:spPr>
      </p:pic>
      <p:sp>
        <p:nvSpPr>
          <p:cNvPr id="38" name="Text 28"/>
          <p:cNvSpPr txBox="1"/>
          <p:nvPr/>
        </p:nvSpPr>
        <p:spPr>
          <a:xfrm>
            <a:off x="1261872" y="4992624"/>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Hindari v-if dengan v-for</a:t>
            </a:r>
            <a:endParaRPr lang="en-US" sz="1250" dirty="0"/>
          </a:p>
        </p:txBody>
      </p:sp>
      <p:sp>
        <p:nvSpPr>
          <p:cNvPr id="39" name="Text 29"/>
          <p:cNvSpPr txBox="1"/>
          <p:nvPr/>
        </p:nvSpPr>
        <p:spPr>
          <a:xfrm>
            <a:off x="768096" y="5504688"/>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Pada elemen yang sama, prioritasnya membingungkan. Saring data lewat computed.</a:t>
            </a:r>
            <a:endParaRPr lang="en-US" sz="1100" dirty="0"/>
          </a:p>
        </p:txBody>
      </p:sp>
      <p:sp>
        <p:nvSpPr>
          <p:cNvPr id="40" name="Shape 30"/>
          <p:cNvSpPr/>
          <p:nvPr/>
        </p:nvSpPr>
        <p:spPr>
          <a:xfrm>
            <a:off x="4361688" y="4791456"/>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1" name="Shape 31"/>
          <p:cNvSpPr/>
          <p:nvPr/>
        </p:nvSpPr>
        <p:spPr>
          <a:xfrm>
            <a:off x="4581144" y="5010912"/>
            <a:ext cx="402336" cy="402336"/>
          </a:xfrm>
          <a:prstGeom prst="ellipse">
            <a:avLst/>
          </a:prstGeom>
          <a:solidFill>
            <a:srgbClr val="FBE9E9"/>
          </a:solidFill>
          <a:ln w="12700">
            <a:solidFill>
              <a:srgbClr val="333333"/>
            </a:solidFill>
            <a:prstDash val="solid"/>
          </a:ln>
        </p:spPr>
      </p:sp>
      <p:pic>
        <p:nvPicPr>
          <p:cNvPr id="42" name="Image 8" descr="preencoded.png">    </p:cNvPr>
          <p:cNvPicPr>
            <a:picLocks noChangeAspect="1"/>
          </p:cNvPicPr>
          <p:nvPr/>
        </p:nvPicPr>
        <p:blipFill>
          <a:blip r:embed="rId9"/>
          <a:stretch>
            <a:fillRect/>
          </a:stretch>
        </p:blipFill>
        <p:spPr>
          <a:xfrm>
            <a:off x="4668012" y="5097780"/>
            <a:ext cx="201168" cy="201168"/>
          </a:xfrm>
          <a:prstGeom prst="rect">
            <a:avLst/>
          </a:prstGeom>
        </p:spPr>
      </p:pic>
      <p:sp>
        <p:nvSpPr>
          <p:cNvPr id="43" name="Text 32"/>
          <p:cNvSpPr txBox="1"/>
          <p:nvPr/>
        </p:nvSpPr>
        <p:spPr>
          <a:xfrm>
            <a:off x="5074920" y="4992624"/>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Jangan Ubah Props</a:t>
            </a:r>
            <a:endParaRPr lang="en-US" sz="1250" dirty="0"/>
          </a:p>
        </p:txBody>
      </p:sp>
      <p:sp>
        <p:nvSpPr>
          <p:cNvPr id="44" name="Text 33"/>
          <p:cNvSpPr txBox="1"/>
          <p:nvPr/>
        </p:nvSpPr>
        <p:spPr>
          <a:xfrm>
            <a:off x="4581144" y="5504688"/>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Props bersifat read-only. Salin ke ref lokal atau kirim event ke induk.</a:t>
            </a:r>
            <a:endParaRPr lang="en-US" sz="1100" dirty="0"/>
          </a:p>
        </p:txBody>
      </p:sp>
      <p:sp>
        <p:nvSpPr>
          <p:cNvPr id="45" name="Shape 34"/>
          <p:cNvSpPr/>
          <p:nvPr/>
        </p:nvSpPr>
        <p:spPr>
          <a:xfrm>
            <a:off x="8174736" y="4791456"/>
            <a:ext cx="3593592" cy="1399032"/>
          </a:xfrm>
          <a:prstGeom prst="roundRect">
            <a:avLst>
              <a:gd name="adj" fmla="val 588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6" name="Shape 35"/>
          <p:cNvSpPr/>
          <p:nvPr/>
        </p:nvSpPr>
        <p:spPr>
          <a:xfrm>
            <a:off x="8394192" y="5010912"/>
            <a:ext cx="402336" cy="402336"/>
          </a:xfrm>
          <a:prstGeom prst="ellipse">
            <a:avLst/>
          </a:prstGeom>
          <a:solidFill>
            <a:srgbClr val="FBE9E9"/>
          </a:solidFill>
          <a:ln w="12700">
            <a:solidFill>
              <a:srgbClr val="333333"/>
            </a:solidFill>
            <a:prstDash val="solid"/>
          </a:ln>
        </p:spPr>
      </p:sp>
      <p:pic>
        <p:nvPicPr>
          <p:cNvPr id="47" name="Image 9" descr="preencoded.png">    </p:cNvPr>
          <p:cNvPicPr>
            <a:picLocks noChangeAspect="1"/>
          </p:cNvPicPr>
          <p:nvPr/>
        </p:nvPicPr>
        <p:blipFill>
          <a:blip r:embed="rId10"/>
          <a:stretch>
            <a:fillRect/>
          </a:stretch>
        </p:blipFill>
        <p:spPr>
          <a:xfrm>
            <a:off x="8481060" y="5097780"/>
            <a:ext cx="201168" cy="201168"/>
          </a:xfrm>
          <a:prstGeom prst="rect">
            <a:avLst/>
          </a:prstGeom>
        </p:spPr>
      </p:pic>
      <p:sp>
        <p:nvSpPr>
          <p:cNvPr id="48" name="Text 36"/>
          <p:cNvSpPr txBox="1"/>
          <p:nvPr/>
        </p:nvSpPr>
        <p:spPr>
          <a:xfrm>
            <a:off x="8887968" y="4992624"/>
            <a:ext cx="2697480" cy="420624"/>
          </a:xfrm>
          <a:prstGeom prst="rect">
            <a:avLst/>
          </a:prstGeom>
          <a:noFill/>
          <a:ln/>
        </p:spPr>
        <p:txBody>
          <a:bodyPr wrap="square" lIns="0" tIns="0" rIns="0" bIns="0" rtlCol="0" anchor="ctr"/>
          <a:lstStyle/>
          <a:p>
            <a:pPr indent="0" marL="0">
              <a:lnSpc>
                <a:spcPct val="100000"/>
              </a:lnSpc>
              <a:buNone/>
            </a:pPr>
            <a:r>
              <a:rPr lang="en-US" sz="1250" b="1" dirty="0">
                <a:solidFill>
                  <a:srgbClr val="35495E"/>
                </a:solidFill>
                <a:latin typeface="Calibri" pitchFamily="34" charset="0"/>
                <a:ea typeface="Calibri" pitchFamily="34" charset="-122"/>
                <a:cs typeface="Calibri" pitchFamily="34" charset="-120"/>
              </a:rPr>
              <a:t>Jangan Manipulasi DOM Manual</a:t>
            </a:r>
            <a:endParaRPr lang="en-US" sz="1250" dirty="0"/>
          </a:p>
        </p:txBody>
      </p:sp>
      <p:sp>
        <p:nvSpPr>
          <p:cNvPr id="49" name="Text 37"/>
          <p:cNvSpPr txBox="1"/>
          <p:nvPr/>
        </p:nvSpPr>
        <p:spPr>
          <a:xfrm>
            <a:off x="8394192" y="5504688"/>
            <a:ext cx="3154680" cy="621792"/>
          </a:xfrm>
          <a:prstGeom prst="rect">
            <a:avLst/>
          </a:prstGeom>
          <a:noFill/>
          <a:ln/>
        </p:spPr>
        <p:txBody>
          <a:bodyPr wrap="square" lIns="0" tIns="0" rIns="0" bIns="0" rtlCol="0" anchor="t"/>
          <a:lstStyle/>
          <a:p>
            <a:pPr indent="0" marL="0">
              <a:lnSpc>
                <a:spcPct val="112000"/>
              </a:lnSpc>
              <a:buNone/>
            </a:pPr>
            <a:r>
              <a:rPr lang="en-US" sz="1100" dirty="0">
                <a:solidFill>
                  <a:srgbClr val="6B7C8C"/>
                </a:solidFill>
                <a:latin typeface="Calibri" pitchFamily="34" charset="0"/>
                <a:ea typeface="Calibri" pitchFamily="34" charset="-122"/>
                <a:cs typeface="Calibri" pitchFamily="34" charset="-120"/>
              </a:rPr>
              <a:t>Hindari document.querySelector — gunakan ref template bila benar-benar perlu.</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Roadmap Belajar Vue.js</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Urutan pembelajaran yang disarankan bagi pemula sampai mahir</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54480"/>
            <a:ext cx="2679192" cy="530352"/>
          </a:xfrm>
          <a:prstGeom prst="roundRect">
            <a:avLst>
              <a:gd name="adj" fmla="val 15517"/>
            </a:avLst>
          </a:prstGeom>
          <a:solidFill>
            <a:srgbClr val="42B883"/>
          </a:solidFill>
          <a:ln w="12700">
            <a:solidFill>
              <a:srgbClr val="333333"/>
            </a:solidFill>
            <a:prstDash val="solid"/>
          </a:ln>
        </p:spPr>
      </p:sp>
      <p:sp>
        <p:nvSpPr>
          <p:cNvPr id="6" name="Text 3"/>
          <p:cNvSpPr txBox="1"/>
          <p:nvPr/>
        </p:nvSpPr>
        <p:spPr>
          <a:xfrm>
            <a:off x="548640" y="1554480"/>
            <a:ext cx="2679192" cy="530352"/>
          </a:xfrm>
          <a:prstGeom prst="rect">
            <a:avLst/>
          </a:prstGeom>
          <a:noFill/>
          <a:ln/>
        </p:spPr>
        <p:txBody>
          <a:bodyPr wrap="square" lIns="0" tIns="0" rIns="0" bIns="0" rtlCol="0" anchor="ctr"/>
          <a:lstStyle/>
          <a:p>
            <a:pPr algn="ctr" indent="0" marL="0">
              <a:buNone/>
            </a:pPr>
            <a:r>
              <a:rPr lang="en-US" sz="1400" b="1" spc="120" kern="0" dirty="0">
                <a:solidFill>
                  <a:srgbClr val="FFFFFF"/>
                </a:solidFill>
                <a:latin typeface="Calibri" pitchFamily="34" charset="0"/>
                <a:ea typeface="Calibri" pitchFamily="34" charset="-122"/>
                <a:cs typeface="Calibri" pitchFamily="34" charset="-120"/>
              </a:rPr>
              <a:t>DASAR</a:t>
            </a:r>
            <a:endParaRPr lang="en-US" sz="1400" dirty="0"/>
          </a:p>
        </p:txBody>
      </p:sp>
      <p:sp>
        <p:nvSpPr>
          <p:cNvPr id="7" name="Shape 4"/>
          <p:cNvSpPr/>
          <p:nvPr/>
        </p:nvSpPr>
        <p:spPr>
          <a:xfrm>
            <a:off x="548640" y="2249424"/>
            <a:ext cx="2679192" cy="2697480"/>
          </a:xfrm>
          <a:prstGeom prst="roundRect">
            <a:avLst>
              <a:gd name="adj" fmla="val 307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8" name="Text 5"/>
          <p:cNvSpPr txBox="1"/>
          <p:nvPr/>
        </p:nvSpPr>
        <p:spPr>
          <a:xfrm>
            <a:off x="768096" y="2523744"/>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HTML, CSS, JavaScript ES6+</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Instalasi &amp; struktur proyek</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Template syntax &amp; interpolasi</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Directives dasar (v-bind, v-if, v-for)</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Event handling</a:t>
            </a:r>
            <a:endParaRPr lang="en-US" sz="1250" dirty="0"/>
          </a:p>
        </p:txBody>
      </p:sp>
      <p:sp>
        <p:nvSpPr>
          <p:cNvPr id="9" name="Text 6"/>
          <p:cNvSpPr txBox="1"/>
          <p:nvPr/>
        </p:nvSpPr>
        <p:spPr>
          <a:xfrm>
            <a:off x="548640" y="5029200"/>
            <a:ext cx="2679192" cy="274320"/>
          </a:xfrm>
          <a:prstGeom prst="rect">
            <a:avLst/>
          </a:prstGeom>
          <a:noFill/>
          <a:ln/>
        </p:spPr>
        <p:txBody>
          <a:bodyPr wrap="square" lIns="0" tIns="0" rIns="0" bIns="0" rtlCol="0" anchor="ctr"/>
          <a:lstStyle/>
          <a:p>
            <a:pPr algn="ctr" indent="0" marL="0">
              <a:buNone/>
            </a:pPr>
            <a:r>
              <a:rPr lang="en-US" sz="1100" b="1" dirty="0">
                <a:solidFill>
                  <a:srgbClr val="42B883"/>
                </a:solidFill>
                <a:latin typeface="Calibri" pitchFamily="34" charset="0"/>
                <a:ea typeface="Calibri" pitchFamily="34" charset="-122"/>
                <a:cs typeface="Calibri" pitchFamily="34" charset="-120"/>
              </a:rPr>
              <a:t>Tahap 1</a:t>
            </a:r>
            <a:endParaRPr lang="en-US" sz="1100" dirty="0"/>
          </a:p>
        </p:txBody>
      </p:sp>
      <p:sp>
        <p:nvSpPr>
          <p:cNvPr id="10" name="Shape 7"/>
          <p:cNvSpPr/>
          <p:nvPr/>
        </p:nvSpPr>
        <p:spPr>
          <a:xfrm>
            <a:off x="3493008" y="1554480"/>
            <a:ext cx="2679192" cy="530352"/>
          </a:xfrm>
          <a:prstGeom prst="roundRect">
            <a:avLst>
              <a:gd name="adj" fmla="val 15517"/>
            </a:avLst>
          </a:prstGeom>
          <a:solidFill>
            <a:srgbClr val="2F9E6E"/>
          </a:solidFill>
          <a:ln w="12700">
            <a:solidFill>
              <a:srgbClr val="333333"/>
            </a:solidFill>
            <a:prstDash val="solid"/>
          </a:ln>
        </p:spPr>
      </p:sp>
      <p:sp>
        <p:nvSpPr>
          <p:cNvPr id="11" name="Text 8"/>
          <p:cNvSpPr txBox="1"/>
          <p:nvPr/>
        </p:nvSpPr>
        <p:spPr>
          <a:xfrm>
            <a:off x="3493008" y="1554480"/>
            <a:ext cx="2679192" cy="530352"/>
          </a:xfrm>
          <a:prstGeom prst="rect">
            <a:avLst/>
          </a:prstGeom>
          <a:noFill/>
          <a:ln/>
        </p:spPr>
        <p:txBody>
          <a:bodyPr wrap="square" lIns="0" tIns="0" rIns="0" bIns="0" rtlCol="0" anchor="ctr"/>
          <a:lstStyle/>
          <a:p>
            <a:pPr algn="ctr" indent="0" marL="0">
              <a:buNone/>
            </a:pPr>
            <a:r>
              <a:rPr lang="en-US" sz="1400" b="1" spc="120" kern="0" dirty="0">
                <a:solidFill>
                  <a:srgbClr val="FFFFFF"/>
                </a:solidFill>
                <a:latin typeface="Calibri" pitchFamily="34" charset="0"/>
                <a:ea typeface="Calibri" pitchFamily="34" charset="-122"/>
                <a:cs typeface="Calibri" pitchFamily="34" charset="-120"/>
              </a:rPr>
              <a:t>MENENGAH</a:t>
            </a:r>
            <a:endParaRPr lang="en-US" sz="1400" dirty="0"/>
          </a:p>
        </p:txBody>
      </p:sp>
      <p:sp>
        <p:nvSpPr>
          <p:cNvPr id="12" name="Shape 9"/>
          <p:cNvSpPr/>
          <p:nvPr/>
        </p:nvSpPr>
        <p:spPr>
          <a:xfrm>
            <a:off x="3493008" y="2249424"/>
            <a:ext cx="2679192" cy="2697480"/>
          </a:xfrm>
          <a:prstGeom prst="roundRect">
            <a:avLst>
              <a:gd name="adj" fmla="val 307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3" name="Text 10"/>
          <p:cNvSpPr txBox="1"/>
          <p:nvPr/>
        </p:nvSpPr>
        <p:spPr>
          <a:xfrm>
            <a:off x="3712464" y="2523744"/>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Composition API &amp; script setup</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ref, reactive, computed, watch</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Lifecycle hooks</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Props, emits, slots</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Form &amp; validasi masukan</a:t>
            </a:r>
            <a:endParaRPr lang="en-US" sz="1250" dirty="0"/>
          </a:p>
        </p:txBody>
      </p:sp>
      <p:sp>
        <p:nvSpPr>
          <p:cNvPr id="14" name="Text 11"/>
          <p:cNvSpPr txBox="1"/>
          <p:nvPr/>
        </p:nvSpPr>
        <p:spPr>
          <a:xfrm>
            <a:off x="3493008" y="5029200"/>
            <a:ext cx="2679192" cy="274320"/>
          </a:xfrm>
          <a:prstGeom prst="rect">
            <a:avLst/>
          </a:prstGeom>
          <a:noFill/>
          <a:ln/>
        </p:spPr>
        <p:txBody>
          <a:bodyPr wrap="square" lIns="0" tIns="0" rIns="0" bIns="0" rtlCol="0" anchor="ctr"/>
          <a:lstStyle/>
          <a:p>
            <a:pPr algn="ctr" indent="0" marL="0">
              <a:buNone/>
            </a:pPr>
            <a:r>
              <a:rPr lang="en-US" sz="1100" b="1" dirty="0">
                <a:solidFill>
                  <a:srgbClr val="2F9E6E"/>
                </a:solidFill>
                <a:latin typeface="Calibri" pitchFamily="34" charset="0"/>
                <a:ea typeface="Calibri" pitchFamily="34" charset="-122"/>
                <a:cs typeface="Calibri" pitchFamily="34" charset="-120"/>
              </a:rPr>
              <a:t>Tahap 2</a:t>
            </a:r>
            <a:endParaRPr lang="en-US" sz="1100" dirty="0"/>
          </a:p>
        </p:txBody>
      </p:sp>
      <p:sp>
        <p:nvSpPr>
          <p:cNvPr id="15" name="Shape 12"/>
          <p:cNvSpPr/>
          <p:nvPr/>
        </p:nvSpPr>
        <p:spPr>
          <a:xfrm>
            <a:off x="6437376" y="1554480"/>
            <a:ext cx="2679192" cy="530352"/>
          </a:xfrm>
          <a:prstGeom prst="roundRect">
            <a:avLst>
              <a:gd name="adj" fmla="val 15517"/>
            </a:avLst>
          </a:prstGeom>
          <a:solidFill>
            <a:srgbClr val="35495E"/>
          </a:solidFill>
          <a:ln w="12700">
            <a:solidFill>
              <a:srgbClr val="333333"/>
            </a:solidFill>
            <a:prstDash val="solid"/>
          </a:ln>
        </p:spPr>
      </p:sp>
      <p:sp>
        <p:nvSpPr>
          <p:cNvPr id="16" name="Text 13"/>
          <p:cNvSpPr txBox="1"/>
          <p:nvPr/>
        </p:nvSpPr>
        <p:spPr>
          <a:xfrm>
            <a:off x="6437376" y="1554480"/>
            <a:ext cx="2679192" cy="530352"/>
          </a:xfrm>
          <a:prstGeom prst="rect">
            <a:avLst/>
          </a:prstGeom>
          <a:noFill/>
          <a:ln/>
        </p:spPr>
        <p:txBody>
          <a:bodyPr wrap="square" lIns="0" tIns="0" rIns="0" bIns="0" rtlCol="0" anchor="ctr"/>
          <a:lstStyle/>
          <a:p>
            <a:pPr algn="ctr" indent="0" marL="0">
              <a:buNone/>
            </a:pPr>
            <a:r>
              <a:rPr lang="en-US" sz="1400" b="1" spc="120" kern="0" dirty="0">
                <a:solidFill>
                  <a:srgbClr val="FFFFFF"/>
                </a:solidFill>
                <a:latin typeface="Calibri" pitchFamily="34" charset="0"/>
                <a:ea typeface="Calibri" pitchFamily="34" charset="-122"/>
                <a:cs typeface="Calibri" pitchFamily="34" charset="-120"/>
              </a:rPr>
              <a:t>LANJUT</a:t>
            </a:r>
            <a:endParaRPr lang="en-US" sz="1400" dirty="0"/>
          </a:p>
        </p:txBody>
      </p:sp>
      <p:sp>
        <p:nvSpPr>
          <p:cNvPr id="17" name="Shape 14"/>
          <p:cNvSpPr/>
          <p:nvPr/>
        </p:nvSpPr>
        <p:spPr>
          <a:xfrm>
            <a:off x="6437376" y="2249424"/>
            <a:ext cx="2679192" cy="2697480"/>
          </a:xfrm>
          <a:prstGeom prst="roundRect">
            <a:avLst>
              <a:gd name="adj" fmla="val 307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8" name="Text 15"/>
          <p:cNvSpPr txBox="1"/>
          <p:nvPr/>
        </p:nvSpPr>
        <p:spPr>
          <a:xfrm>
            <a:off x="6656832" y="2523744"/>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Vue Router &amp; navigation guard</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Pinia state management</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Composables &amp; VueUse</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Konsumsi REST API dengan Axios</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Transisi &amp; animasi</a:t>
            </a:r>
            <a:endParaRPr lang="en-US" sz="1250" dirty="0"/>
          </a:p>
        </p:txBody>
      </p:sp>
      <p:sp>
        <p:nvSpPr>
          <p:cNvPr id="19" name="Text 16"/>
          <p:cNvSpPr txBox="1"/>
          <p:nvPr/>
        </p:nvSpPr>
        <p:spPr>
          <a:xfrm>
            <a:off x="6437376" y="5029200"/>
            <a:ext cx="2679192" cy="274320"/>
          </a:xfrm>
          <a:prstGeom prst="rect">
            <a:avLst/>
          </a:prstGeom>
          <a:noFill/>
          <a:ln/>
        </p:spPr>
        <p:txBody>
          <a:bodyPr wrap="square" lIns="0" tIns="0" rIns="0" bIns="0" rtlCol="0" anchor="ctr"/>
          <a:lstStyle/>
          <a:p>
            <a:pPr algn="ctr" indent="0" marL="0">
              <a:buNone/>
            </a:pPr>
            <a:r>
              <a:rPr lang="en-US" sz="1100" b="1" dirty="0">
                <a:solidFill>
                  <a:srgbClr val="35495E"/>
                </a:solidFill>
                <a:latin typeface="Calibri" pitchFamily="34" charset="0"/>
                <a:ea typeface="Calibri" pitchFamily="34" charset="-122"/>
                <a:cs typeface="Calibri" pitchFamily="34" charset="-120"/>
              </a:rPr>
              <a:t>Tahap 3</a:t>
            </a:r>
            <a:endParaRPr lang="en-US" sz="1100" dirty="0"/>
          </a:p>
        </p:txBody>
      </p:sp>
      <p:sp>
        <p:nvSpPr>
          <p:cNvPr id="20" name="Shape 17"/>
          <p:cNvSpPr/>
          <p:nvPr/>
        </p:nvSpPr>
        <p:spPr>
          <a:xfrm>
            <a:off x="9381744" y="1554480"/>
            <a:ext cx="2679192" cy="530352"/>
          </a:xfrm>
          <a:prstGeom prst="roundRect">
            <a:avLst>
              <a:gd name="adj" fmla="val 15517"/>
            </a:avLst>
          </a:prstGeom>
          <a:solidFill>
            <a:srgbClr val="253340"/>
          </a:solidFill>
          <a:ln w="12700">
            <a:solidFill>
              <a:srgbClr val="333333"/>
            </a:solidFill>
            <a:prstDash val="solid"/>
          </a:ln>
        </p:spPr>
      </p:sp>
      <p:sp>
        <p:nvSpPr>
          <p:cNvPr id="21" name="Text 18"/>
          <p:cNvSpPr txBox="1"/>
          <p:nvPr/>
        </p:nvSpPr>
        <p:spPr>
          <a:xfrm>
            <a:off x="9381744" y="1554480"/>
            <a:ext cx="2679192" cy="530352"/>
          </a:xfrm>
          <a:prstGeom prst="rect">
            <a:avLst/>
          </a:prstGeom>
          <a:noFill/>
          <a:ln/>
        </p:spPr>
        <p:txBody>
          <a:bodyPr wrap="square" lIns="0" tIns="0" rIns="0" bIns="0" rtlCol="0" anchor="ctr"/>
          <a:lstStyle/>
          <a:p>
            <a:pPr algn="ctr" indent="0" marL="0">
              <a:buNone/>
            </a:pPr>
            <a:r>
              <a:rPr lang="en-US" sz="1400" b="1" spc="120" kern="0" dirty="0">
                <a:solidFill>
                  <a:srgbClr val="FFFFFF"/>
                </a:solidFill>
                <a:latin typeface="Calibri" pitchFamily="34" charset="0"/>
                <a:ea typeface="Calibri" pitchFamily="34" charset="-122"/>
                <a:cs typeface="Calibri" pitchFamily="34" charset="-120"/>
              </a:rPr>
              <a:t>MAHIR</a:t>
            </a:r>
            <a:endParaRPr lang="en-US" sz="1400" dirty="0"/>
          </a:p>
        </p:txBody>
      </p:sp>
      <p:sp>
        <p:nvSpPr>
          <p:cNvPr id="22" name="Shape 19"/>
          <p:cNvSpPr/>
          <p:nvPr/>
        </p:nvSpPr>
        <p:spPr>
          <a:xfrm>
            <a:off x="9381744" y="2249424"/>
            <a:ext cx="2679192" cy="2697480"/>
          </a:xfrm>
          <a:prstGeom prst="roundRect">
            <a:avLst>
              <a:gd name="adj" fmla="val 3072"/>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3" name="Text 20"/>
          <p:cNvSpPr txBox="1"/>
          <p:nvPr/>
        </p:nvSpPr>
        <p:spPr>
          <a:xfrm>
            <a:off x="9601200" y="2523744"/>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Nuxt.js (SSR &amp; SSG)</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TypeScript pada Vue</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Unit &amp; E2E testing</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Optimasi performa &amp; bundle</a:t>
            </a:r>
            <a:endParaRPr lang="en-US" sz="1250" dirty="0"/>
          </a:p>
          <a:p>
            <a:pPr marL="342900" indent="-342900">
              <a:spcAft>
                <a:spcPts val="600"/>
              </a:spcAft>
              <a:buSzPct val="100000"/>
              <a:buChar char="▪"/>
            </a:pPr>
            <a:r>
              <a:rPr lang="en-US" sz="1250" dirty="0">
                <a:solidFill>
                  <a:srgbClr val="6B7C8C"/>
                </a:solidFill>
                <a:latin typeface="Calibri" pitchFamily="34" charset="0"/>
                <a:ea typeface="Calibri" pitchFamily="34" charset="-122"/>
                <a:cs typeface="Calibri" pitchFamily="34" charset="-120"/>
              </a:rPr>
              <a:t>Deployment &amp; CI/CD</a:t>
            </a:r>
            <a:endParaRPr lang="en-US" sz="1250" dirty="0"/>
          </a:p>
        </p:txBody>
      </p:sp>
      <p:sp>
        <p:nvSpPr>
          <p:cNvPr id="24" name="Text 21"/>
          <p:cNvSpPr txBox="1"/>
          <p:nvPr/>
        </p:nvSpPr>
        <p:spPr>
          <a:xfrm>
            <a:off x="9381744" y="5029200"/>
            <a:ext cx="2679192" cy="274320"/>
          </a:xfrm>
          <a:prstGeom prst="rect">
            <a:avLst/>
          </a:prstGeom>
          <a:noFill/>
          <a:ln/>
        </p:spPr>
        <p:txBody>
          <a:bodyPr wrap="square" lIns="0" tIns="0" rIns="0" bIns="0" rtlCol="0" anchor="ctr"/>
          <a:lstStyle/>
          <a:p>
            <a:pPr algn="ctr" indent="0" marL="0">
              <a:buNone/>
            </a:pPr>
            <a:r>
              <a:rPr lang="en-US" sz="1100" b="1" dirty="0">
                <a:solidFill>
                  <a:srgbClr val="253340"/>
                </a:solidFill>
                <a:latin typeface="Calibri" pitchFamily="34" charset="0"/>
                <a:ea typeface="Calibri" pitchFamily="34" charset="-122"/>
                <a:cs typeface="Calibri" pitchFamily="34" charset="-120"/>
              </a:rPr>
              <a:t>Tahap 4</a:t>
            </a:r>
            <a:endParaRPr lang="en-US" sz="1100" dirty="0"/>
          </a:p>
        </p:txBody>
      </p:sp>
      <p:sp>
        <p:nvSpPr>
          <p:cNvPr id="25" name="Shape 22"/>
          <p:cNvSpPr/>
          <p:nvPr/>
        </p:nvSpPr>
        <p:spPr>
          <a:xfrm>
            <a:off x="548640" y="5468112"/>
            <a:ext cx="11091672" cy="658368"/>
          </a:xfrm>
          <a:prstGeom prst="roundRect">
            <a:avLst>
              <a:gd name="adj" fmla="val 12500"/>
            </a:avLst>
          </a:prstGeom>
          <a:solidFill>
            <a:srgbClr val="E9F5EF"/>
          </a:solidFill>
          <a:ln w="12700">
            <a:solidFill>
              <a:srgbClr val="333333"/>
            </a:solidFill>
            <a:prstDash val="solid"/>
          </a:ln>
        </p:spPr>
      </p:sp>
      <p:sp>
        <p:nvSpPr>
          <p:cNvPr id="26" name="Text 23"/>
          <p:cNvSpPr txBox="1"/>
          <p:nvPr/>
        </p:nvSpPr>
        <p:spPr>
          <a:xfrm>
            <a:off x="548640" y="5468112"/>
            <a:ext cx="11091672" cy="658368"/>
          </a:xfrm>
          <a:prstGeom prst="rect">
            <a:avLst/>
          </a:prstGeom>
          <a:noFill/>
          <a:ln/>
        </p:spPr>
        <p:txBody>
          <a:bodyPr wrap="square" lIns="0" tIns="0" rIns="0" bIns="0" rtlCol="0" anchor="ctr"/>
          <a:lstStyle/>
          <a:p>
            <a:pPr algn="ctr" indent="0" marL="0">
              <a:buNone/>
            </a:pPr>
            <a:r>
              <a:rPr lang="en-US" sz="1200" b="1" dirty="0">
                <a:solidFill>
                  <a:srgbClr val="2F9E6E"/>
                </a:solidFill>
                <a:latin typeface="Calibri" pitchFamily="34" charset="0"/>
                <a:ea typeface="Calibri" pitchFamily="34" charset="-122"/>
                <a:cs typeface="Calibri" pitchFamily="34" charset="-120"/>
              </a:rPr>
              <a:t>Kunci utama: praktik langsung. Bangun proyek kecil di setiap tahap — daftar tugas, katalog produk, atau aplikasi cuaca — jangan hanya membaca dokumentasi.</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8F6"/>
        </a:solidFill>
      </p:bgPr>
    </p:bg>
    <p:spTree>
      <p:nvGrpSpPr>
        <p:cNvPr id="1" name=""/>
        <p:cNvGrpSpPr/>
        <p:nvPr/>
      </p:nvGrpSpPr>
      <p:grpSpPr>
        <a:xfrm>
          <a:off x="0" y="0"/>
          <a:ext cx="0" cy="0"/>
          <a:chOff x="0" y="0"/>
          <a:chExt cx="0" cy="0"/>
        </a:xfrm>
      </p:grpSpPr>
      <p:sp>
        <p:nvSpPr>
          <p:cNvPr id="2" name="Text 0"/>
          <p:cNvSpPr txBox="1"/>
          <p:nvPr/>
        </p:nvSpPr>
        <p:spPr>
          <a:xfrm>
            <a:off x="548640" y="347472"/>
            <a:ext cx="9966960" cy="548640"/>
          </a:xfrm>
          <a:prstGeom prst="rect">
            <a:avLst/>
          </a:prstGeom>
          <a:noFill/>
          <a:ln/>
        </p:spPr>
        <p:txBody>
          <a:bodyPr wrap="square" lIns="0" tIns="0" rIns="0" bIns="0" rtlCol="0" anchor="ctr"/>
          <a:lstStyle/>
          <a:p>
            <a:pPr indent="0" marL="0">
              <a:buNone/>
            </a:pPr>
            <a:r>
              <a:rPr lang="en-US" sz="3000" b="1" dirty="0">
                <a:solidFill>
                  <a:srgbClr val="35495E"/>
                </a:solidFill>
                <a:latin typeface="Calibri" pitchFamily="34" charset="0"/>
                <a:ea typeface="Calibri" pitchFamily="34" charset="-122"/>
                <a:cs typeface="Calibri" pitchFamily="34" charset="-120"/>
              </a:rPr>
              <a:t>Sumber Belajar &amp; Referensi</a:t>
            </a:r>
            <a:endParaRPr lang="en-US" sz="3000" dirty="0"/>
          </a:p>
        </p:txBody>
      </p:sp>
      <p:sp>
        <p:nvSpPr>
          <p:cNvPr id="3" name="Text 1"/>
          <p:cNvSpPr txBox="1"/>
          <p:nvPr/>
        </p:nvSpPr>
        <p:spPr>
          <a:xfrm>
            <a:off x="548640" y="914400"/>
            <a:ext cx="10058400" cy="310896"/>
          </a:xfrm>
          <a:prstGeom prst="rect">
            <a:avLst/>
          </a:prstGeom>
          <a:noFill/>
          <a:ln/>
        </p:spPr>
        <p:txBody>
          <a:bodyPr wrap="square" lIns="0" tIns="0" rIns="0" bIns="0" rtlCol="0" anchor="ctr"/>
          <a:lstStyle/>
          <a:p>
            <a:pPr indent="0" marL="0">
              <a:buNone/>
            </a:pPr>
            <a:r>
              <a:rPr lang="en-US" sz="1300" dirty="0">
                <a:solidFill>
                  <a:srgbClr val="6B7C8C"/>
                </a:solidFill>
                <a:latin typeface="Calibri" pitchFamily="34" charset="0"/>
                <a:ea typeface="Calibri" pitchFamily="34" charset="-122"/>
                <a:cs typeface="Calibri" pitchFamily="34" charset="-120"/>
              </a:rPr>
              <a:t>Rujukan resmi dan pendukung untuk pendalaman materi</a:t>
            </a:r>
            <a:endParaRPr lang="en-US" sz="1300" dirty="0"/>
          </a:p>
        </p:txBody>
      </p:sp>
      <p:pic>
        <p:nvPicPr>
          <p:cNvPr id="4" name="Image 0" descr="preencoded.png">    </p:cNvPr>
          <p:cNvPicPr>
            <a:picLocks noChangeAspect="1"/>
          </p:cNvPicPr>
          <p:nvPr/>
        </p:nvPicPr>
        <p:blipFill>
          <a:blip r:embed="rId1"/>
          <a:stretch>
            <a:fillRect/>
          </a:stretch>
        </p:blipFill>
        <p:spPr>
          <a:xfrm>
            <a:off x="11137392" y="384048"/>
            <a:ext cx="502920" cy="435254"/>
          </a:xfrm>
          <a:prstGeom prst="rect">
            <a:avLst/>
          </a:prstGeom>
        </p:spPr>
      </p:pic>
      <p:sp>
        <p:nvSpPr>
          <p:cNvPr id="5" name="Shape 2"/>
          <p:cNvSpPr/>
          <p:nvPr/>
        </p:nvSpPr>
        <p:spPr>
          <a:xfrm>
            <a:off x="548640" y="1517904"/>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6" name="Shape 3"/>
          <p:cNvSpPr/>
          <p:nvPr/>
        </p:nvSpPr>
        <p:spPr>
          <a:xfrm>
            <a:off x="768096" y="1792224"/>
            <a:ext cx="502920" cy="502920"/>
          </a:xfrm>
          <a:prstGeom prst="ellipse">
            <a:avLst/>
          </a:prstGeom>
          <a:solidFill>
            <a:srgbClr val="F1F6F4"/>
          </a:solidFill>
          <a:ln w="12700">
            <a:solidFill>
              <a:srgbClr val="333333"/>
            </a:solidFill>
            <a:prstDash val="solid"/>
          </a:ln>
        </p:spPr>
      </p:sp>
      <p:pic>
        <p:nvPicPr>
          <p:cNvPr id="7" name="Image 1" descr="preencoded.png">    </p:cNvPr>
          <p:cNvPicPr>
            <a:picLocks noChangeAspect="1"/>
          </p:cNvPicPr>
          <p:nvPr/>
        </p:nvPicPr>
        <p:blipFill>
          <a:blip r:embed="rId2"/>
          <a:stretch>
            <a:fillRect/>
          </a:stretch>
        </p:blipFill>
        <p:spPr>
          <a:xfrm>
            <a:off x="877824" y="1901952"/>
            <a:ext cx="283464" cy="283464"/>
          </a:xfrm>
          <a:prstGeom prst="rect">
            <a:avLst/>
          </a:prstGeom>
        </p:spPr>
      </p:pic>
      <p:sp>
        <p:nvSpPr>
          <p:cNvPr id="8" name="Text 4"/>
          <p:cNvSpPr txBox="1"/>
          <p:nvPr/>
        </p:nvSpPr>
        <p:spPr>
          <a:xfrm>
            <a:off x="1417320" y="1737360"/>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Dokumentasi Resmi Vue.js</a:t>
            </a:r>
            <a:endParaRPr lang="en-US" sz="1350" dirty="0"/>
          </a:p>
        </p:txBody>
      </p:sp>
      <p:sp>
        <p:nvSpPr>
          <p:cNvPr id="9" name="Text 5"/>
          <p:cNvSpPr txBox="1"/>
          <p:nvPr/>
        </p:nvSpPr>
        <p:spPr>
          <a:xfrm>
            <a:off x="1417320" y="2029968"/>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vuejs.org — dokumentasi paling lengkap, tersedia tutorial interaktif langsung di browser.</a:t>
            </a:r>
            <a:endParaRPr lang="en-US" sz="1100" dirty="0"/>
          </a:p>
        </p:txBody>
      </p:sp>
      <p:sp>
        <p:nvSpPr>
          <p:cNvPr id="10" name="Shape 6"/>
          <p:cNvSpPr/>
          <p:nvPr/>
        </p:nvSpPr>
        <p:spPr>
          <a:xfrm>
            <a:off x="6163056" y="1517904"/>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1" name="Shape 7"/>
          <p:cNvSpPr/>
          <p:nvPr/>
        </p:nvSpPr>
        <p:spPr>
          <a:xfrm>
            <a:off x="6382512" y="1792224"/>
            <a:ext cx="502920" cy="502920"/>
          </a:xfrm>
          <a:prstGeom prst="ellipse">
            <a:avLst/>
          </a:prstGeom>
          <a:solidFill>
            <a:srgbClr val="F1F6F4"/>
          </a:solidFill>
          <a:ln w="12700">
            <a:solidFill>
              <a:srgbClr val="333333"/>
            </a:solidFill>
            <a:prstDash val="solid"/>
          </a:ln>
        </p:spPr>
      </p:sp>
      <p:pic>
        <p:nvPicPr>
          <p:cNvPr id="12" name="Image 2" descr="preencoded.png">    </p:cNvPr>
          <p:cNvPicPr>
            <a:picLocks noChangeAspect="1"/>
          </p:cNvPicPr>
          <p:nvPr/>
        </p:nvPicPr>
        <p:blipFill>
          <a:blip r:embed="rId3"/>
          <a:stretch>
            <a:fillRect/>
          </a:stretch>
        </p:blipFill>
        <p:spPr>
          <a:xfrm>
            <a:off x="6492240" y="1901952"/>
            <a:ext cx="283464" cy="283464"/>
          </a:xfrm>
          <a:prstGeom prst="rect">
            <a:avLst/>
          </a:prstGeom>
        </p:spPr>
      </p:pic>
      <p:sp>
        <p:nvSpPr>
          <p:cNvPr id="13" name="Text 8"/>
          <p:cNvSpPr txBox="1"/>
          <p:nvPr/>
        </p:nvSpPr>
        <p:spPr>
          <a:xfrm>
            <a:off x="7031736" y="1737360"/>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Vue Router</a:t>
            </a:r>
            <a:endParaRPr lang="en-US" sz="1350" dirty="0"/>
          </a:p>
        </p:txBody>
      </p:sp>
      <p:sp>
        <p:nvSpPr>
          <p:cNvPr id="14" name="Text 9"/>
          <p:cNvSpPr txBox="1"/>
          <p:nvPr/>
        </p:nvSpPr>
        <p:spPr>
          <a:xfrm>
            <a:off x="7031736" y="2029968"/>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router.vuejs.org — panduan lengkap routing untuk aplikasi satu halaman.</a:t>
            </a:r>
            <a:endParaRPr lang="en-US" sz="1100" dirty="0"/>
          </a:p>
        </p:txBody>
      </p:sp>
      <p:sp>
        <p:nvSpPr>
          <p:cNvPr id="15" name="Shape 10"/>
          <p:cNvSpPr/>
          <p:nvPr/>
        </p:nvSpPr>
        <p:spPr>
          <a:xfrm>
            <a:off x="548640" y="2743200"/>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16" name="Shape 11"/>
          <p:cNvSpPr/>
          <p:nvPr/>
        </p:nvSpPr>
        <p:spPr>
          <a:xfrm>
            <a:off x="768096" y="3017520"/>
            <a:ext cx="502920" cy="502920"/>
          </a:xfrm>
          <a:prstGeom prst="ellipse">
            <a:avLst/>
          </a:prstGeom>
          <a:solidFill>
            <a:srgbClr val="F1F6F4"/>
          </a:solidFill>
          <a:ln w="12700">
            <a:solidFill>
              <a:srgbClr val="333333"/>
            </a:solidFill>
            <a:prstDash val="solid"/>
          </a:ln>
        </p:spPr>
      </p:sp>
      <p:pic>
        <p:nvPicPr>
          <p:cNvPr id="17" name="Image 3" descr="preencoded.png">    </p:cNvPr>
          <p:cNvPicPr>
            <a:picLocks noChangeAspect="1"/>
          </p:cNvPicPr>
          <p:nvPr/>
        </p:nvPicPr>
        <p:blipFill>
          <a:blip r:embed="rId4"/>
          <a:stretch>
            <a:fillRect/>
          </a:stretch>
        </p:blipFill>
        <p:spPr>
          <a:xfrm>
            <a:off x="877824" y="3127248"/>
            <a:ext cx="283464" cy="283464"/>
          </a:xfrm>
          <a:prstGeom prst="rect">
            <a:avLst/>
          </a:prstGeom>
        </p:spPr>
      </p:pic>
      <p:sp>
        <p:nvSpPr>
          <p:cNvPr id="18" name="Text 12"/>
          <p:cNvSpPr txBox="1"/>
          <p:nvPr/>
        </p:nvSpPr>
        <p:spPr>
          <a:xfrm>
            <a:off x="1417320" y="2962656"/>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Pinia</a:t>
            </a:r>
            <a:endParaRPr lang="en-US" sz="1350" dirty="0"/>
          </a:p>
        </p:txBody>
      </p:sp>
      <p:sp>
        <p:nvSpPr>
          <p:cNvPr id="19" name="Text 13"/>
          <p:cNvSpPr txBox="1"/>
          <p:nvPr/>
        </p:nvSpPr>
        <p:spPr>
          <a:xfrm>
            <a:off x="1417320" y="3255264"/>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pinia.vuejs.org — dokumentasi state management resmi Vue 3.</a:t>
            </a:r>
            <a:endParaRPr lang="en-US" sz="1100" dirty="0"/>
          </a:p>
        </p:txBody>
      </p:sp>
      <p:sp>
        <p:nvSpPr>
          <p:cNvPr id="20" name="Shape 14"/>
          <p:cNvSpPr/>
          <p:nvPr/>
        </p:nvSpPr>
        <p:spPr>
          <a:xfrm>
            <a:off x="6163056" y="2743200"/>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1" name="Shape 15"/>
          <p:cNvSpPr/>
          <p:nvPr/>
        </p:nvSpPr>
        <p:spPr>
          <a:xfrm>
            <a:off x="6382512" y="3017520"/>
            <a:ext cx="502920" cy="502920"/>
          </a:xfrm>
          <a:prstGeom prst="ellipse">
            <a:avLst/>
          </a:prstGeom>
          <a:solidFill>
            <a:srgbClr val="F1F6F4"/>
          </a:solidFill>
          <a:ln w="12700">
            <a:solidFill>
              <a:srgbClr val="333333"/>
            </a:solidFill>
            <a:prstDash val="solid"/>
          </a:ln>
        </p:spPr>
      </p:sp>
      <p:pic>
        <p:nvPicPr>
          <p:cNvPr id="22" name="Image 4" descr="preencoded.png">    </p:cNvPr>
          <p:cNvPicPr>
            <a:picLocks noChangeAspect="1"/>
          </p:cNvPicPr>
          <p:nvPr/>
        </p:nvPicPr>
        <p:blipFill>
          <a:blip r:embed="rId5"/>
          <a:stretch>
            <a:fillRect/>
          </a:stretch>
        </p:blipFill>
        <p:spPr>
          <a:xfrm>
            <a:off x="6492240" y="3127248"/>
            <a:ext cx="283464" cy="283464"/>
          </a:xfrm>
          <a:prstGeom prst="rect">
            <a:avLst/>
          </a:prstGeom>
        </p:spPr>
      </p:pic>
      <p:sp>
        <p:nvSpPr>
          <p:cNvPr id="23" name="Text 16"/>
          <p:cNvSpPr txBox="1"/>
          <p:nvPr/>
        </p:nvSpPr>
        <p:spPr>
          <a:xfrm>
            <a:off x="7031736" y="2962656"/>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Nuxt</a:t>
            </a:r>
            <a:endParaRPr lang="en-US" sz="1350" dirty="0"/>
          </a:p>
        </p:txBody>
      </p:sp>
      <p:sp>
        <p:nvSpPr>
          <p:cNvPr id="24" name="Text 17"/>
          <p:cNvSpPr txBox="1"/>
          <p:nvPr/>
        </p:nvSpPr>
        <p:spPr>
          <a:xfrm>
            <a:off x="7031736" y="3255264"/>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nuxt.com — dokumentasi meta-framework untuk SSR, SSG, dan fullstack Vue.</a:t>
            </a:r>
            <a:endParaRPr lang="en-US" sz="1100" dirty="0"/>
          </a:p>
        </p:txBody>
      </p:sp>
      <p:sp>
        <p:nvSpPr>
          <p:cNvPr id="25" name="Shape 18"/>
          <p:cNvSpPr/>
          <p:nvPr/>
        </p:nvSpPr>
        <p:spPr>
          <a:xfrm>
            <a:off x="548640" y="3968496"/>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26" name="Shape 19"/>
          <p:cNvSpPr/>
          <p:nvPr/>
        </p:nvSpPr>
        <p:spPr>
          <a:xfrm>
            <a:off x="768096" y="4242816"/>
            <a:ext cx="502920" cy="502920"/>
          </a:xfrm>
          <a:prstGeom prst="ellipse">
            <a:avLst/>
          </a:prstGeom>
          <a:solidFill>
            <a:srgbClr val="F1F6F4"/>
          </a:solidFill>
          <a:ln w="12700">
            <a:solidFill>
              <a:srgbClr val="333333"/>
            </a:solidFill>
            <a:prstDash val="solid"/>
          </a:ln>
        </p:spPr>
      </p:sp>
      <p:pic>
        <p:nvPicPr>
          <p:cNvPr id="27" name="Image 5" descr="preencoded.png">    </p:cNvPr>
          <p:cNvPicPr>
            <a:picLocks noChangeAspect="1"/>
          </p:cNvPicPr>
          <p:nvPr/>
        </p:nvPicPr>
        <p:blipFill>
          <a:blip r:embed="rId6"/>
          <a:stretch>
            <a:fillRect/>
          </a:stretch>
        </p:blipFill>
        <p:spPr>
          <a:xfrm>
            <a:off x="877824" y="4352544"/>
            <a:ext cx="283464" cy="283464"/>
          </a:xfrm>
          <a:prstGeom prst="rect">
            <a:avLst/>
          </a:prstGeom>
        </p:spPr>
      </p:pic>
      <p:sp>
        <p:nvSpPr>
          <p:cNvPr id="28" name="Text 20"/>
          <p:cNvSpPr txBox="1"/>
          <p:nvPr/>
        </p:nvSpPr>
        <p:spPr>
          <a:xfrm>
            <a:off x="1417320" y="4187952"/>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Vite</a:t>
            </a:r>
            <a:endParaRPr lang="en-US" sz="1350" dirty="0"/>
          </a:p>
        </p:txBody>
      </p:sp>
      <p:sp>
        <p:nvSpPr>
          <p:cNvPr id="29" name="Text 21"/>
          <p:cNvSpPr txBox="1"/>
          <p:nvPr/>
        </p:nvSpPr>
        <p:spPr>
          <a:xfrm>
            <a:off x="1417320" y="4480560"/>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vite.dev — konfigurasi build tool, plugin, dan optimasi produksi.</a:t>
            </a:r>
            <a:endParaRPr lang="en-US" sz="1100" dirty="0"/>
          </a:p>
        </p:txBody>
      </p:sp>
      <p:sp>
        <p:nvSpPr>
          <p:cNvPr id="30" name="Shape 22"/>
          <p:cNvSpPr/>
          <p:nvPr/>
        </p:nvSpPr>
        <p:spPr>
          <a:xfrm>
            <a:off x="6163056" y="3968496"/>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1" name="Shape 23"/>
          <p:cNvSpPr/>
          <p:nvPr/>
        </p:nvSpPr>
        <p:spPr>
          <a:xfrm>
            <a:off x="6382512" y="4242816"/>
            <a:ext cx="502920" cy="502920"/>
          </a:xfrm>
          <a:prstGeom prst="ellipse">
            <a:avLst/>
          </a:prstGeom>
          <a:solidFill>
            <a:srgbClr val="F1F6F4"/>
          </a:solidFill>
          <a:ln w="12700">
            <a:solidFill>
              <a:srgbClr val="333333"/>
            </a:solidFill>
            <a:prstDash val="solid"/>
          </a:ln>
        </p:spPr>
      </p:sp>
      <p:pic>
        <p:nvPicPr>
          <p:cNvPr id="32" name="Image 6" descr="preencoded.png">    </p:cNvPr>
          <p:cNvPicPr>
            <a:picLocks noChangeAspect="1"/>
          </p:cNvPicPr>
          <p:nvPr/>
        </p:nvPicPr>
        <p:blipFill>
          <a:blip r:embed="rId7"/>
          <a:stretch>
            <a:fillRect/>
          </a:stretch>
        </p:blipFill>
        <p:spPr>
          <a:xfrm>
            <a:off x="6492240" y="4352544"/>
            <a:ext cx="283464" cy="283464"/>
          </a:xfrm>
          <a:prstGeom prst="rect">
            <a:avLst/>
          </a:prstGeom>
        </p:spPr>
      </p:pic>
      <p:sp>
        <p:nvSpPr>
          <p:cNvPr id="33" name="Text 24"/>
          <p:cNvSpPr txBox="1"/>
          <p:nvPr/>
        </p:nvSpPr>
        <p:spPr>
          <a:xfrm>
            <a:off x="7031736" y="4187952"/>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VueUse</a:t>
            </a:r>
            <a:endParaRPr lang="en-US" sz="1350" dirty="0"/>
          </a:p>
        </p:txBody>
      </p:sp>
      <p:sp>
        <p:nvSpPr>
          <p:cNvPr id="34" name="Text 25"/>
          <p:cNvSpPr txBox="1"/>
          <p:nvPr/>
        </p:nvSpPr>
        <p:spPr>
          <a:xfrm>
            <a:off x="7031736" y="4480560"/>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vueuse.org — koleksi composable siap pakai untuk kebutuhan sehari-hari.</a:t>
            </a:r>
            <a:endParaRPr lang="en-US" sz="1100" dirty="0"/>
          </a:p>
        </p:txBody>
      </p:sp>
      <p:sp>
        <p:nvSpPr>
          <p:cNvPr id="35" name="Shape 26"/>
          <p:cNvSpPr/>
          <p:nvPr/>
        </p:nvSpPr>
        <p:spPr>
          <a:xfrm>
            <a:off x="548640" y="5193792"/>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36" name="Shape 27"/>
          <p:cNvSpPr/>
          <p:nvPr/>
        </p:nvSpPr>
        <p:spPr>
          <a:xfrm>
            <a:off x="768096" y="5468112"/>
            <a:ext cx="502920" cy="502920"/>
          </a:xfrm>
          <a:prstGeom prst="ellipse">
            <a:avLst/>
          </a:prstGeom>
          <a:solidFill>
            <a:srgbClr val="F1F6F4"/>
          </a:solidFill>
          <a:ln w="12700">
            <a:solidFill>
              <a:srgbClr val="333333"/>
            </a:solidFill>
            <a:prstDash val="solid"/>
          </a:ln>
        </p:spPr>
      </p:sp>
      <p:pic>
        <p:nvPicPr>
          <p:cNvPr id="37" name="Image 7" descr="preencoded.png">    </p:cNvPr>
          <p:cNvPicPr>
            <a:picLocks noChangeAspect="1"/>
          </p:cNvPicPr>
          <p:nvPr/>
        </p:nvPicPr>
        <p:blipFill>
          <a:blip r:embed="rId8"/>
          <a:stretch>
            <a:fillRect/>
          </a:stretch>
        </p:blipFill>
        <p:spPr>
          <a:xfrm>
            <a:off x="877824" y="5577840"/>
            <a:ext cx="283464" cy="283464"/>
          </a:xfrm>
          <a:prstGeom prst="rect">
            <a:avLst/>
          </a:prstGeom>
        </p:spPr>
      </p:pic>
      <p:sp>
        <p:nvSpPr>
          <p:cNvPr id="38" name="Text 28"/>
          <p:cNvSpPr txBox="1"/>
          <p:nvPr/>
        </p:nvSpPr>
        <p:spPr>
          <a:xfrm>
            <a:off x="1417320" y="5413248"/>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Vitest &amp; Vue Test Utils</a:t>
            </a:r>
            <a:endParaRPr lang="en-US" sz="1350" dirty="0"/>
          </a:p>
        </p:txBody>
      </p:sp>
      <p:sp>
        <p:nvSpPr>
          <p:cNvPr id="39" name="Text 29"/>
          <p:cNvSpPr txBox="1"/>
          <p:nvPr/>
        </p:nvSpPr>
        <p:spPr>
          <a:xfrm>
            <a:off x="1417320" y="5705856"/>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vitest.dev dan test-utils.vuejs.org — panduan pengujian aplikasi Vue.</a:t>
            </a:r>
            <a:endParaRPr lang="en-US" sz="1100" dirty="0"/>
          </a:p>
        </p:txBody>
      </p:sp>
      <p:sp>
        <p:nvSpPr>
          <p:cNvPr id="40" name="Shape 30"/>
          <p:cNvSpPr/>
          <p:nvPr/>
        </p:nvSpPr>
        <p:spPr>
          <a:xfrm>
            <a:off x="6163056" y="5193792"/>
            <a:ext cx="5477256" cy="1051560"/>
          </a:xfrm>
          <a:prstGeom prst="roundRect">
            <a:avLst>
              <a:gd name="adj" fmla="val 7826"/>
            </a:avLst>
          </a:prstGeom>
          <a:solidFill>
            <a:srgbClr val="FFFFFF"/>
          </a:solidFill>
          <a:ln w="12700">
            <a:solidFill>
              <a:srgbClr val="FFFFFF"/>
            </a:solidFill>
            <a:prstDash val="solid"/>
          </a:ln>
          <a:effectLst>
            <a:outerShdw sx="100000" sy="100000" kx="0" ky="0" algn="bl" rotWithShape="0" blurRad="127000" dist="25400" dir="5400000">
              <a:srgbClr val="B9C7C1">
                <a:alpha val="40000"/>
              </a:srgbClr>
            </a:outerShdw>
          </a:effectLst>
        </p:spPr>
      </p:sp>
      <p:sp>
        <p:nvSpPr>
          <p:cNvPr id="41" name="Shape 31"/>
          <p:cNvSpPr/>
          <p:nvPr/>
        </p:nvSpPr>
        <p:spPr>
          <a:xfrm>
            <a:off x="6382512" y="5468112"/>
            <a:ext cx="502920" cy="502920"/>
          </a:xfrm>
          <a:prstGeom prst="ellipse">
            <a:avLst/>
          </a:prstGeom>
          <a:solidFill>
            <a:srgbClr val="F1F6F4"/>
          </a:solidFill>
          <a:ln w="12700">
            <a:solidFill>
              <a:srgbClr val="333333"/>
            </a:solidFill>
            <a:prstDash val="solid"/>
          </a:ln>
        </p:spPr>
      </p:sp>
      <p:pic>
        <p:nvPicPr>
          <p:cNvPr id="42" name="Image 8" descr="preencoded.png">    </p:cNvPr>
          <p:cNvPicPr>
            <a:picLocks noChangeAspect="1"/>
          </p:cNvPicPr>
          <p:nvPr/>
        </p:nvPicPr>
        <p:blipFill>
          <a:blip r:embed="rId9"/>
          <a:stretch>
            <a:fillRect/>
          </a:stretch>
        </p:blipFill>
        <p:spPr>
          <a:xfrm>
            <a:off x="6492240" y="5577840"/>
            <a:ext cx="283464" cy="283464"/>
          </a:xfrm>
          <a:prstGeom prst="rect">
            <a:avLst/>
          </a:prstGeom>
        </p:spPr>
      </p:pic>
      <p:sp>
        <p:nvSpPr>
          <p:cNvPr id="43" name="Text 32"/>
          <p:cNvSpPr txBox="1"/>
          <p:nvPr/>
        </p:nvSpPr>
        <p:spPr>
          <a:xfrm>
            <a:off x="7031736" y="5413248"/>
            <a:ext cx="4379976" cy="292608"/>
          </a:xfrm>
          <a:prstGeom prst="rect">
            <a:avLst/>
          </a:prstGeom>
          <a:noFill/>
          <a:ln/>
        </p:spPr>
        <p:txBody>
          <a:bodyPr wrap="square" lIns="0" tIns="0" rIns="0" bIns="0" rtlCol="0" anchor="ctr"/>
          <a:lstStyle/>
          <a:p>
            <a:pPr indent="0" marL="0">
              <a:buNone/>
            </a:pPr>
            <a:r>
              <a:rPr lang="en-US" sz="1350" b="1" dirty="0">
                <a:solidFill>
                  <a:srgbClr val="35495E"/>
                </a:solidFill>
                <a:latin typeface="Calibri" pitchFamily="34" charset="0"/>
                <a:ea typeface="Calibri" pitchFamily="34" charset="-122"/>
                <a:cs typeface="Calibri" pitchFamily="34" charset="-120"/>
              </a:rPr>
              <a:t>Repositori &amp; Komunitas</a:t>
            </a:r>
            <a:endParaRPr lang="en-US" sz="1350" dirty="0"/>
          </a:p>
        </p:txBody>
      </p:sp>
      <p:sp>
        <p:nvSpPr>
          <p:cNvPr id="44" name="Text 33"/>
          <p:cNvSpPr txBox="1"/>
          <p:nvPr/>
        </p:nvSpPr>
        <p:spPr>
          <a:xfrm>
            <a:off x="7031736" y="5705856"/>
            <a:ext cx="4398264" cy="457200"/>
          </a:xfrm>
          <a:prstGeom prst="rect">
            <a:avLst/>
          </a:prstGeom>
          <a:noFill/>
          <a:ln/>
        </p:spPr>
        <p:txBody>
          <a:bodyPr wrap="square" lIns="0" tIns="0" rIns="0" bIns="0" rtlCol="0" anchor="t"/>
          <a:lstStyle/>
          <a:p>
            <a:pPr indent="0" marL="0">
              <a:lnSpc>
                <a:spcPct val="110000"/>
              </a:lnSpc>
              <a:buNone/>
            </a:pPr>
            <a:r>
              <a:rPr lang="en-US" sz="1100" dirty="0">
                <a:solidFill>
                  <a:srgbClr val="6B7C8C"/>
                </a:solidFill>
                <a:latin typeface="Calibri" pitchFamily="34" charset="0"/>
                <a:ea typeface="Calibri" pitchFamily="34" charset="-122"/>
                <a:cs typeface="Calibri" pitchFamily="34" charset="-120"/>
              </a:rPr>
              <a:t>github.com/vuejs — kode sumber, diskusi RFC, dan forum komunitas Vue.</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8503920" y="-822960"/>
            <a:ext cx="6035040" cy="6035040"/>
          </a:xfrm>
          <a:prstGeom prst="ellipse">
            <a:avLst/>
          </a:prstGeom>
          <a:solidFill>
            <a:srgbClr val="35495E"/>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9646920" y="1234440"/>
            <a:ext cx="2377440" cy="2057400"/>
          </a:xfrm>
          <a:prstGeom prst="rect">
            <a:avLst/>
          </a:prstGeom>
        </p:spPr>
      </p:pic>
      <p:sp>
        <p:nvSpPr>
          <p:cNvPr id="4" name="Text 1"/>
          <p:cNvSpPr txBox="1"/>
          <p:nvPr/>
        </p:nvSpPr>
        <p:spPr>
          <a:xfrm>
            <a:off x="822960" y="960120"/>
            <a:ext cx="5486400" cy="320040"/>
          </a:xfrm>
          <a:prstGeom prst="rect">
            <a:avLst/>
          </a:prstGeom>
          <a:noFill/>
          <a:ln/>
        </p:spPr>
        <p:txBody>
          <a:bodyPr wrap="square" lIns="0" tIns="0" rIns="0" bIns="0" rtlCol="0" anchor="ctr"/>
          <a:lstStyle/>
          <a:p>
            <a:pPr indent="0" marL="0">
              <a:buNone/>
            </a:pPr>
            <a:r>
              <a:rPr lang="en-US" sz="1250" b="1" spc="240" kern="0" dirty="0">
                <a:solidFill>
                  <a:srgbClr val="42B883"/>
                </a:solidFill>
                <a:latin typeface="Calibri" pitchFamily="34" charset="0"/>
                <a:ea typeface="Calibri" pitchFamily="34" charset="-122"/>
                <a:cs typeface="Calibri" pitchFamily="34" charset="-120"/>
              </a:rPr>
              <a:t>RINGKASAN</a:t>
            </a:r>
            <a:endParaRPr lang="en-US" sz="1250" dirty="0"/>
          </a:p>
        </p:txBody>
      </p:sp>
      <p:sp>
        <p:nvSpPr>
          <p:cNvPr id="5" name="Text 2"/>
          <p:cNvSpPr txBox="1"/>
          <p:nvPr/>
        </p:nvSpPr>
        <p:spPr>
          <a:xfrm>
            <a:off x="777240" y="1298448"/>
            <a:ext cx="73152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Terima Kasih</a:t>
            </a:r>
            <a:endParaRPr lang="en-US" sz="5200" dirty="0"/>
          </a:p>
        </p:txBody>
      </p:sp>
      <p:sp>
        <p:nvSpPr>
          <p:cNvPr id="6" name="Shape 3"/>
          <p:cNvSpPr/>
          <p:nvPr/>
        </p:nvSpPr>
        <p:spPr>
          <a:xfrm>
            <a:off x="822960" y="2468880"/>
            <a:ext cx="310896" cy="310896"/>
          </a:xfrm>
          <a:prstGeom prst="ellipse">
            <a:avLst/>
          </a:prstGeom>
          <a:solidFill>
            <a:srgbClr val="42B883"/>
          </a:solidFill>
          <a:ln w="12700">
            <a:solidFill>
              <a:srgbClr val="333333"/>
            </a:solidFill>
            <a:prstDash val="solid"/>
          </a:ln>
        </p:spPr>
      </p:sp>
      <p:pic>
        <p:nvPicPr>
          <p:cNvPr id="7" name="Image 1" descr="preencoded.png">    </p:cNvPr>
          <p:cNvPicPr>
            <a:picLocks noChangeAspect="1"/>
          </p:cNvPicPr>
          <p:nvPr/>
        </p:nvPicPr>
        <p:blipFill>
          <a:blip r:embed="rId2"/>
          <a:stretch>
            <a:fillRect/>
          </a:stretch>
        </p:blipFill>
        <p:spPr>
          <a:xfrm>
            <a:off x="885139" y="2531059"/>
            <a:ext cx="186538" cy="186538"/>
          </a:xfrm>
          <a:prstGeom prst="rect">
            <a:avLst/>
          </a:prstGeom>
        </p:spPr>
      </p:pic>
      <p:sp>
        <p:nvSpPr>
          <p:cNvPr id="8" name="Text 4"/>
          <p:cNvSpPr txBox="1"/>
          <p:nvPr/>
        </p:nvSpPr>
        <p:spPr>
          <a:xfrm>
            <a:off x="1325880" y="2395728"/>
            <a:ext cx="7863840" cy="457200"/>
          </a:xfrm>
          <a:prstGeom prst="rect">
            <a:avLst/>
          </a:prstGeom>
          <a:noFill/>
          <a:ln/>
        </p:spPr>
        <p:txBody>
          <a:bodyPr wrap="square" lIns="0" tIns="0" rIns="0" bIns="0" rtlCol="0" anchor="ctr"/>
          <a:lstStyle/>
          <a:p>
            <a:pPr indent="0" marL="0">
              <a:buNone/>
            </a:pPr>
            <a:r>
              <a:rPr lang="en-US" sz="1350" dirty="0">
                <a:solidFill>
                  <a:srgbClr val="D6E3EC"/>
                </a:solidFill>
                <a:latin typeface="Calibri" pitchFamily="34" charset="0"/>
                <a:ea typeface="Calibri" pitchFamily="34" charset="-122"/>
                <a:cs typeface="Calibri" pitchFamily="34" charset="-120"/>
              </a:rPr>
              <a:t>Vue.js adalah framework progresif — bisa diadopsi bertahap sesuai kebutuhan proyek.</a:t>
            </a:r>
            <a:endParaRPr lang="en-US" sz="1350" dirty="0"/>
          </a:p>
        </p:txBody>
      </p:sp>
      <p:sp>
        <p:nvSpPr>
          <p:cNvPr id="9" name="Shape 5"/>
          <p:cNvSpPr/>
          <p:nvPr/>
        </p:nvSpPr>
        <p:spPr>
          <a:xfrm>
            <a:off x="822960" y="3035808"/>
            <a:ext cx="310896" cy="310896"/>
          </a:xfrm>
          <a:prstGeom prst="ellipse">
            <a:avLst/>
          </a:prstGeom>
          <a:solidFill>
            <a:srgbClr val="42B883"/>
          </a:solidFill>
          <a:ln w="12700">
            <a:solidFill>
              <a:srgbClr val="333333"/>
            </a:solidFill>
            <a:prstDash val="solid"/>
          </a:ln>
        </p:spPr>
      </p:sp>
      <p:pic>
        <p:nvPicPr>
          <p:cNvPr id="10" name="Image 2" descr="preencoded.png">    </p:cNvPr>
          <p:cNvPicPr>
            <a:picLocks noChangeAspect="1"/>
          </p:cNvPicPr>
          <p:nvPr/>
        </p:nvPicPr>
        <p:blipFill>
          <a:blip r:embed="rId3"/>
          <a:stretch>
            <a:fillRect/>
          </a:stretch>
        </p:blipFill>
        <p:spPr>
          <a:xfrm>
            <a:off x="885139" y="3097987"/>
            <a:ext cx="186538" cy="186538"/>
          </a:xfrm>
          <a:prstGeom prst="rect">
            <a:avLst/>
          </a:prstGeom>
        </p:spPr>
      </p:pic>
      <p:sp>
        <p:nvSpPr>
          <p:cNvPr id="11" name="Text 6"/>
          <p:cNvSpPr txBox="1"/>
          <p:nvPr/>
        </p:nvSpPr>
        <p:spPr>
          <a:xfrm>
            <a:off x="1325880" y="2962656"/>
            <a:ext cx="7863840" cy="457200"/>
          </a:xfrm>
          <a:prstGeom prst="rect">
            <a:avLst/>
          </a:prstGeom>
          <a:noFill/>
          <a:ln/>
        </p:spPr>
        <p:txBody>
          <a:bodyPr wrap="square" lIns="0" tIns="0" rIns="0" bIns="0" rtlCol="0" anchor="ctr"/>
          <a:lstStyle/>
          <a:p>
            <a:pPr indent="0" marL="0">
              <a:buNone/>
            </a:pPr>
            <a:r>
              <a:rPr lang="en-US" sz="1350" dirty="0">
                <a:solidFill>
                  <a:srgbClr val="D6E3EC"/>
                </a:solidFill>
                <a:latin typeface="Calibri" pitchFamily="34" charset="0"/>
                <a:ea typeface="Calibri" pitchFamily="34" charset="-122"/>
                <a:cs typeface="Calibri" pitchFamily="34" charset="-120"/>
              </a:rPr>
              <a:t>Reaktivitas dan sistem komponen adalah dua fondasi utama yang wajib dikuasai.</a:t>
            </a:r>
            <a:endParaRPr lang="en-US" sz="1350" dirty="0"/>
          </a:p>
        </p:txBody>
      </p:sp>
      <p:sp>
        <p:nvSpPr>
          <p:cNvPr id="12" name="Shape 7"/>
          <p:cNvSpPr/>
          <p:nvPr/>
        </p:nvSpPr>
        <p:spPr>
          <a:xfrm>
            <a:off x="822960" y="3602736"/>
            <a:ext cx="310896" cy="310896"/>
          </a:xfrm>
          <a:prstGeom prst="ellipse">
            <a:avLst/>
          </a:prstGeom>
          <a:solidFill>
            <a:srgbClr val="42B883"/>
          </a:solidFill>
          <a:ln w="12700">
            <a:solidFill>
              <a:srgbClr val="333333"/>
            </a:solidFill>
            <a:prstDash val="solid"/>
          </a:ln>
        </p:spPr>
      </p:sp>
      <p:pic>
        <p:nvPicPr>
          <p:cNvPr id="13" name="Image 3" descr="preencoded.png">    </p:cNvPr>
          <p:cNvPicPr>
            <a:picLocks noChangeAspect="1"/>
          </p:cNvPicPr>
          <p:nvPr/>
        </p:nvPicPr>
        <p:blipFill>
          <a:blip r:embed="rId4"/>
          <a:stretch>
            <a:fillRect/>
          </a:stretch>
        </p:blipFill>
        <p:spPr>
          <a:xfrm>
            <a:off x="885139" y="3664915"/>
            <a:ext cx="186538" cy="186538"/>
          </a:xfrm>
          <a:prstGeom prst="rect">
            <a:avLst/>
          </a:prstGeom>
        </p:spPr>
      </p:pic>
      <p:sp>
        <p:nvSpPr>
          <p:cNvPr id="14" name="Text 8"/>
          <p:cNvSpPr txBox="1"/>
          <p:nvPr/>
        </p:nvSpPr>
        <p:spPr>
          <a:xfrm>
            <a:off x="1325880" y="3529584"/>
            <a:ext cx="7863840" cy="457200"/>
          </a:xfrm>
          <a:prstGeom prst="rect">
            <a:avLst/>
          </a:prstGeom>
          <a:noFill/>
          <a:ln/>
        </p:spPr>
        <p:txBody>
          <a:bodyPr wrap="square" lIns="0" tIns="0" rIns="0" bIns="0" rtlCol="0" anchor="ctr"/>
          <a:lstStyle/>
          <a:p>
            <a:pPr indent="0" marL="0">
              <a:buNone/>
            </a:pPr>
            <a:r>
              <a:rPr lang="en-US" sz="1350" dirty="0">
                <a:solidFill>
                  <a:srgbClr val="D6E3EC"/>
                </a:solidFill>
                <a:latin typeface="Calibri" pitchFamily="34" charset="0"/>
                <a:ea typeface="Calibri" pitchFamily="34" charset="-122"/>
                <a:cs typeface="Calibri" pitchFamily="34" charset="-120"/>
              </a:rPr>
              <a:t>Composition API dengan &lt;script setup&gt; adalah standar penulisan untuk proyek baru.</a:t>
            </a:r>
            <a:endParaRPr lang="en-US" sz="1350" dirty="0"/>
          </a:p>
        </p:txBody>
      </p:sp>
      <p:sp>
        <p:nvSpPr>
          <p:cNvPr id="15" name="Shape 9"/>
          <p:cNvSpPr/>
          <p:nvPr/>
        </p:nvSpPr>
        <p:spPr>
          <a:xfrm>
            <a:off x="822960" y="4169664"/>
            <a:ext cx="310896" cy="310896"/>
          </a:xfrm>
          <a:prstGeom prst="ellipse">
            <a:avLst/>
          </a:prstGeom>
          <a:solidFill>
            <a:srgbClr val="42B883"/>
          </a:solidFill>
          <a:ln w="12700">
            <a:solidFill>
              <a:srgbClr val="333333"/>
            </a:solidFill>
            <a:prstDash val="solid"/>
          </a:ln>
        </p:spPr>
      </p:sp>
      <p:pic>
        <p:nvPicPr>
          <p:cNvPr id="16" name="Image 4" descr="preencoded.png">    </p:cNvPr>
          <p:cNvPicPr>
            <a:picLocks noChangeAspect="1"/>
          </p:cNvPicPr>
          <p:nvPr/>
        </p:nvPicPr>
        <p:blipFill>
          <a:blip r:embed="rId5"/>
          <a:stretch>
            <a:fillRect/>
          </a:stretch>
        </p:blipFill>
        <p:spPr>
          <a:xfrm>
            <a:off x="885139" y="4231843"/>
            <a:ext cx="186538" cy="186538"/>
          </a:xfrm>
          <a:prstGeom prst="rect">
            <a:avLst/>
          </a:prstGeom>
        </p:spPr>
      </p:pic>
      <p:sp>
        <p:nvSpPr>
          <p:cNvPr id="17" name="Text 10"/>
          <p:cNvSpPr txBox="1"/>
          <p:nvPr/>
        </p:nvSpPr>
        <p:spPr>
          <a:xfrm>
            <a:off x="1325880" y="4096512"/>
            <a:ext cx="7863840" cy="457200"/>
          </a:xfrm>
          <a:prstGeom prst="rect">
            <a:avLst/>
          </a:prstGeom>
          <a:noFill/>
          <a:ln/>
        </p:spPr>
        <p:txBody>
          <a:bodyPr wrap="square" lIns="0" tIns="0" rIns="0" bIns="0" rtlCol="0" anchor="ctr"/>
          <a:lstStyle/>
          <a:p>
            <a:pPr indent="0" marL="0">
              <a:buNone/>
            </a:pPr>
            <a:r>
              <a:rPr lang="en-US" sz="1350" dirty="0">
                <a:solidFill>
                  <a:srgbClr val="D6E3EC"/>
                </a:solidFill>
                <a:latin typeface="Calibri" pitchFamily="34" charset="0"/>
                <a:ea typeface="Calibri" pitchFamily="34" charset="-122"/>
                <a:cs typeface="Calibri" pitchFamily="34" charset="-120"/>
              </a:rPr>
              <a:t>Ekosistem resmi (Vite, Vue Router, Pinia, Nuxt) menutup hampir semua kebutuhan.</a:t>
            </a:r>
            <a:endParaRPr lang="en-US" sz="1350" dirty="0"/>
          </a:p>
        </p:txBody>
      </p:sp>
      <p:sp>
        <p:nvSpPr>
          <p:cNvPr id="18" name="Shape 11"/>
          <p:cNvSpPr/>
          <p:nvPr/>
        </p:nvSpPr>
        <p:spPr>
          <a:xfrm>
            <a:off x="822960" y="4736592"/>
            <a:ext cx="310896" cy="310896"/>
          </a:xfrm>
          <a:prstGeom prst="ellipse">
            <a:avLst/>
          </a:prstGeom>
          <a:solidFill>
            <a:srgbClr val="42B883"/>
          </a:solidFill>
          <a:ln w="12700">
            <a:solidFill>
              <a:srgbClr val="333333"/>
            </a:solidFill>
            <a:prstDash val="solid"/>
          </a:ln>
        </p:spPr>
      </p:sp>
      <p:pic>
        <p:nvPicPr>
          <p:cNvPr id="19" name="Image 5" descr="preencoded.png">    </p:cNvPr>
          <p:cNvPicPr>
            <a:picLocks noChangeAspect="1"/>
          </p:cNvPicPr>
          <p:nvPr/>
        </p:nvPicPr>
        <p:blipFill>
          <a:blip r:embed="rId6"/>
          <a:stretch>
            <a:fillRect/>
          </a:stretch>
        </p:blipFill>
        <p:spPr>
          <a:xfrm>
            <a:off x="885139" y="4798771"/>
            <a:ext cx="186538" cy="186538"/>
          </a:xfrm>
          <a:prstGeom prst="rect">
            <a:avLst/>
          </a:prstGeom>
        </p:spPr>
      </p:pic>
      <p:sp>
        <p:nvSpPr>
          <p:cNvPr id="20" name="Text 12"/>
          <p:cNvSpPr txBox="1"/>
          <p:nvPr/>
        </p:nvSpPr>
        <p:spPr>
          <a:xfrm>
            <a:off x="1325880" y="4663440"/>
            <a:ext cx="7863840" cy="457200"/>
          </a:xfrm>
          <a:prstGeom prst="rect">
            <a:avLst/>
          </a:prstGeom>
          <a:noFill/>
          <a:ln/>
        </p:spPr>
        <p:txBody>
          <a:bodyPr wrap="square" lIns="0" tIns="0" rIns="0" bIns="0" rtlCol="0" anchor="ctr"/>
          <a:lstStyle/>
          <a:p>
            <a:pPr indent="0" marL="0">
              <a:buNone/>
            </a:pPr>
            <a:r>
              <a:rPr lang="en-US" sz="1350" dirty="0">
                <a:solidFill>
                  <a:srgbClr val="D6E3EC"/>
                </a:solidFill>
                <a:latin typeface="Calibri" pitchFamily="34" charset="0"/>
                <a:ea typeface="Calibri" pitchFamily="34" charset="-122"/>
                <a:cs typeface="Calibri" pitchFamily="34" charset="-120"/>
              </a:rPr>
              <a:t>Cara belajar terbaik adalah membangun proyek nyata, bukan sekadar membaca teori.</a:t>
            </a:r>
            <a:endParaRPr lang="en-US" sz="1350" dirty="0"/>
          </a:p>
        </p:txBody>
      </p:sp>
      <p:sp>
        <p:nvSpPr>
          <p:cNvPr id="21" name="Shape 13"/>
          <p:cNvSpPr/>
          <p:nvPr/>
        </p:nvSpPr>
        <p:spPr>
          <a:xfrm>
            <a:off x="841248" y="5532120"/>
            <a:ext cx="914400" cy="36576"/>
          </a:xfrm>
          <a:prstGeom prst="rect">
            <a:avLst/>
          </a:prstGeom>
          <a:solidFill>
            <a:srgbClr val="42B883"/>
          </a:solidFill>
          <a:ln w="12700">
            <a:solidFill>
              <a:srgbClr val="333333"/>
            </a:solidFill>
            <a:prstDash val="solid"/>
          </a:ln>
        </p:spPr>
      </p:sp>
      <p:sp>
        <p:nvSpPr>
          <p:cNvPr id="22" name="Text 14"/>
          <p:cNvSpPr txBox="1"/>
          <p:nvPr/>
        </p:nvSpPr>
        <p:spPr>
          <a:xfrm>
            <a:off x="822960" y="5669280"/>
            <a:ext cx="7315200" cy="365760"/>
          </a:xfrm>
          <a:prstGeom prst="rect">
            <a:avLst/>
          </a:prstGeom>
          <a:noFill/>
          <a:ln/>
        </p:spPr>
        <p:txBody>
          <a:bodyPr wrap="square" lIns="0" tIns="0" rIns="0" bIns="0" rtlCol="0" anchor="ctr"/>
          <a:lstStyle/>
          <a:p>
            <a:pPr indent="0" marL="0">
              <a:buNone/>
            </a:pPr>
            <a:r>
              <a:rPr lang="en-US" sz="1500" i="1" dirty="0">
                <a:solidFill>
                  <a:srgbClr val="9FB3C2"/>
                </a:solidFill>
                <a:latin typeface="Calibri" pitchFamily="34" charset="0"/>
                <a:ea typeface="Calibri" pitchFamily="34" charset="-122"/>
                <a:cs typeface="Calibri" pitchFamily="34" charset="-120"/>
              </a:rPr>
              <a:t>Ada pertanyaan? Mari kita diskusikan.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Vue.js — Materi Komprehensif Vue 3</dc:title>
  <dc:subject>PptxGenJS Presentation</dc:subject>
  <dc:creator>Vue.js Learning Material</dc:creator>
  <cp:lastModifiedBy>Vue.js Learning Material</cp:lastModifiedBy>
  <cp:revision>1</cp:revision>
  <dcterms:created xsi:type="dcterms:W3CDTF">2026-09-03T11:36:43Z</dcterms:created>
  <dcterms:modified xsi:type="dcterms:W3CDTF">2026-09-03T11:36:43Z</dcterms:modified>
</cp:coreProperties>
</file>