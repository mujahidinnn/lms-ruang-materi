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7.png"/><Relationship Id="rId19" Type="http://schemas.openxmlformats.org/officeDocument/2006/relationships/image" Target="../media/image-1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2.png"/><Relationship Id="rId4" Type="http://schemas.openxmlformats.org/officeDocument/2006/relationships/image" Target="../media/image-56-2.png"/><Relationship Id="rId5" Type="http://schemas.openxmlformats.org/officeDocument/2006/relationships/image" Target="../media/image-56-2.png"/><Relationship Id="rId6" Type="http://schemas.openxmlformats.org/officeDocument/2006/relationships/image" Target="../media/image-56-2.png"/><Relationship Id="rId7" Type="http://schemas.openxmlformats.org/officeDocument/2006/relationships/image" Target="../media/image-5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82296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E1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95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 ·  ES6  ·  FITUR MODERN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Komprehensif: Dari Fundamental, ECMAScript 6, hingga Fitur JavaScript Terkini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31750">
            <a:solidFill>
              <a:srgbClr val="F7D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Bagian  •  39 Topik  •  Contoh Kode, Diagram &amp; Studi Kasus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Pembelajaran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disusun bertahap dalam tiga bagian, dari fondasi JavaScript hingga fitur bahasa terbaru.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2606040"/>
            <a:ext cx="731520" cy="7315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7" name="Image 0" descr="/home/claude/es6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27797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20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JavaScript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fundamental yang menjadi pondasi sebelum mempelajari fitur-fitur modern.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623060" y="5577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12" name="Text 9"/>
          <p:cNvSpPr/>
          <p:nvPr/>
        </p:nvSpPr>
        <p:spPr>
          <a:xfrm>
            <a:off x="1623060" y="5577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22860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323330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00700" y="2606040"/>
            <a:ext cx="731520" cy="7315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5" name="Image 1" descr="/home/claude/es6deck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277977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3520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80560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ECMAScript 6 (ES2015)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52628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besar yang mengubah cara JavaScript modern ditulis.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326380" y="5577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B2B27"/>
          </a:solidFill>
          <a:ln/>
        </p:spPr>
      </p:sp>
      <p:sp>
        <p:nvSpPr>
          <p:cNvPr id="20" name="Text 16"/>
          <p:cNvSpPr/>
          <p:nvPr/>
        </p:nvSpPr>
        <p:spPr>
          <a:xfrm>
            <a:off x="5326380" y="5577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topik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55280" y="22860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304020" y="2606040"/>
            <a:ext cx="731520" cy="7315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3" name="Image 2" descr="/home/claude/es6deck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756" y="277977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55280" y="3520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183880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Modern (ES2016+)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22960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Fitur-fitur terbaru yang terus dikembangkan setelah ES6.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029700" y="5577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28" name="Text 23"/>
          <p:cNvSpPr/>
          <p:nvPr/>
        </p:nvSpPr>
        <p:spPr>
          <a:xfrm>
            <a:off x="9029700" y="5577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82296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E1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188720" cy="11887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" name="Image 0" descr="/home/claude/es6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84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DARI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JavaScript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sintaks sebelum mempelajari ES6 dan fitur modern.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31750">
            <a:solidFill>
              <a:srgbClr val="F7DF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· BAGIAN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Agenda: Dasar JavaScript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 fundamental sebagai bekal sebelum masuk ke ES6.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7" name="Image 0" descr="/home/claude/es6deck/icon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5681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013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Tipe Data JavaScript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0939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boolean, null, undefined, dan object.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19088" y="18470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1" descr="/home/claude/es6deck/icons/eq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95681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8013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95160" y="20939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Aritmatika, perbandingan, logika, dan penugasan.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606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27614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7" name="Image 2" descr="/home/claude/es6deck/icons/code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7121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7157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Struktur Kontrol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0083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keputusan dengan if/else dan switch.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2606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19088" y="27614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2" name="Image 3" descr="/home/claude/es6deck/icons/re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87121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27157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Perulangan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95160" y="30083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Mengulang blok kode dengan for, while, do...while.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5204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36758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7" name="Image 4" descr="/home/claude/es6deck/icons/scro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78561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Fungsi Dasar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25880" y="3922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 vs function expression.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35204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19088" y="36758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2" name="Image 5" descr="/home/claude/es6deck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78561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Scope &amp; Hoisting Dasar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95160" y="3922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scope, function scope, dan var hoisting.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44348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9808" y="45902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7" name="Image 6" descr="/home/claude/es6deck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70001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45445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Array Dasar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325880" y="48371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dasar: push, pop, slice, forEach, map.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217920" y="44348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19088" y="45902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2" name="Image 7" descr="/home/claude/es6deck/icons/objec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4700016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95160" y="45445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Object Dasar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995160" y="48371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Property, method, this, dot vs bracket notation.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548640" y="53492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749808" y="55046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7" name="Image 8" descr="/home/claude/es6deck/icons/mousepoin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614416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325880" y="54589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DOM &amp; Event Handling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1325880" y="57515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elemen dan menangani interaksi pengguna.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6217920" y="53492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419088" y="55046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2" name="Image 9" descr="/home/claude/es6deck/icons/bu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614416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995160" y="54589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Error Handling &amp; JSON</a:t>
            </a:r>
            <a:endParaRPr lang="en-US" sz="1300" dirty="0"/>
          </a:p>
        </p:txBody>
      </p:sp>
      <p:sp>
        <p:nvSpPr>
          <p:cNvPr id="54" name="Text 42"/>
          <p:cNvSpPr/>
          <p:nvPr/>
        </p:nvSpPr>
        <p:spPr>
          <a:xfrm>
            <a:off x="6995160" y="57515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try/catch/finally serta JSON.stringify/parse.</a:t>
            </a:r>
            <a:endParaRPr lang="en-US" sz="1050" dirty="0"/>
          </a:p>
        </p:txBody>
      </p:sp>
      <p:sp>
        <p:nvSpPr>
          <p:cNvPr id="55" name="Text 4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5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Data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memiliki tipe data primitif dan non-primitif (objek). Tipe data bersifat dinamis — tidak perlu dideklarasikan secara eksplisit.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0881360" cy="475488"/>
          </a:xfrm>
          <a:prstGeom prst="roundRect">
            <a:avLst>
              <a:gd name="adj" fmla="val 11538"/>
            </a:avLst>
          </a:prstGeom>
          <a:solidFill>
            <a:srgbClr val="3233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54680" y="21031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78608"/>
            <a:ext cx="10881360" cy="47548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786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54680" y="25786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 Dunia'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46520" y="257860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Rangkaian karakter/teks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054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54680" y="30540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42, 3.14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46520" y="30540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bulat &amp; desimal (satu tipe)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529584"/>
            <a:ext cx="10881360" cy="47548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5295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54680" y="3529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46520" y="352958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benar/salah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40050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154680" y="4005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46520" y="400507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dideklarasikan tapi belum diberi nilai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10881360" cy="47548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4480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54680" y="44805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46520" y="448056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kosong yang disengaja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77240" y="49560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54680" y="49560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Symbol('id')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46520" y="49560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unik (diperkenalkan di ES6)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431536"/>
            <a:ext cx="10881360" cy="47548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4315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54680" y="543153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nama: 'Budi' }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46520" y="543153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non-primitif (termasuk Array, Function)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2103120"/>
            <a:ext cx="10881360" cy="3803904"/>
          </a:xfrm>
          <a:prstGeom prst="rect">
            <a:avLst/>
          </a:prstGeom>
          <a:ln w="12700">
            <a:solidFill>
              <a:srgbClr val="DEDE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dalam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equ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digunakan untuk melakukan operasi pada nilai dan variabel — aritmatika, perbandingan, logika, dan penugasan.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331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Aritmatika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  %  **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hasil = 10 % 3; //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331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63640" y="2697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===  !=  !==  &gt;  &lt;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63640" y="3291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=== '5'; // false (beda tipe)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5720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" y="4937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5532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usia &gt;= 17 &amp;&amp; punyaKTP;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932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45720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Penugasan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263640" y="4937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+=  -=  *=  /=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63640" y="5532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5; x += 3; // 8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Kontrol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code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kontrol menentukan alur eksekusi program berdasarkan kondisi tertentu.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743200"/>
          </a:xfrm>
          <a:prstGeom prst="roundRect">
            <a:avLst>
              <a:gd name="adj" fmla="val 266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nilai = 75;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80)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console.log('A');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(nilai &gt;= 60)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console.log('B');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console.log('C');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743200"/>
          </a:xfrm>
          <a:prstGeom prst="roundRect">
            <a:avLst>
              <a:gd name="adj" fmla="val 266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hari = 2;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(hari)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1: console.log('Senin'); break;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2: console.log('Selasa'); break;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console.log('Libur');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Perulangan (Loop)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re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menjalankan blok kode berulang kali selama kondisi terpenuhi.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2 3 4 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 = 1;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&lt;= 5)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3616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do...while menjalankan blok minimal satu kali sebelum memeriksa kondisi.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910328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782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menghentikan perulangan sepenuhnya; continue melompat ke iterasi berikutnya.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330952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2029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for...in dipakai untuk objek; for...of (ES6) dipakai untuk iterable seperti array.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sc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adalah blok kode yang dapat dipanggil berulang kali. JavaScript mengenal dua cara utama mendefinisikan fungsi.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tambah(a, b)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tambah(2, 3); // 5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bisa dipanggil sebelum dideklarasikan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EXPRESSION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kurang = function(a, b)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- b;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kurang(5, 2); // 3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hanya bisa dipanggil setelah baris ini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663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adalah variabel dalam definisi fungsi; argumen adalah nilai nyata yang dikirim saat pemanggilan. Fungsi tanpa return menghasilkan undefined.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Hoisting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menentukan area di mana sebuah variabel dapat diakses. var bersifat function-scoped, bukan block-scoped.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0881360" cy="3383280"/>
          </a:xfrm>
          <a:prstGeom prst="roundRect">
            <a:avLst>
              <a:gd name="adj" fmla="val 2162"/>
            </a:avLst>
          </a:prstGeom>
          <a:solidFill>
            <a:srgbClr val="232320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05840" y="2743200"/>
            <a:ext cx="9966960" cy="2468880"/>
          </a:xfrm>
          <a:prstGeom prst="roundRect">
            <a:avLst>
              <a:gd name="adj" fmla="val 2963"/>
            </a:avLst>
          </a:prstGeom>
          <a:solidFill>
            <a:srgbClr val="1E1E1C"/>
          </a:solidFill>
          <a:ln w="12700">
            <a:solidFill>
              <a:srgbClr val="4A4A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SCOPE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3337560"/>
            <a:ext cx="9418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global = 'bisa diakses di mana saja';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tampil()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lokal = 'hanya ada di dalam fungsi ini';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console.log(global); // OK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console.log(lokal); // ReferenceError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menyimpan kumpulan data berurutan. Berikut method dasar yang paling sering dipakai.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push() / pop()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/ menghapus elemen di akhir array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shift() / unshift()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/ menambah elemen di awal array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indexOf()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posisi (index) sebuah elemen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8076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slice(a, b)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bagian array tanpa mengubah aslinya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splice()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Menambah/menghapus elemen pada posisi tertentu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8076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join(sep)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936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elemen array menjadi string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fungsi untuk setiap elemen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08076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 / filter()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0936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array baru hasil transformasi/penyaringan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ob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menyimpan data dalam pasangan key-value. Properti bisa diakses dengan dot notation atau bracket notation.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&amp; MENGAKSES OBJECT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 =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'Sinta',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nim: '021',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sapa: function()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'Halo, ' + this.nama;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mhs.nama;        // dot notation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mhs['nim'];      // bracket notation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mhs.sapa();      // 'Halo, Sinta'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228600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23232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4140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0" y="272491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Merujuk pada objek yang sedang memanggil method tersebut.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361188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23232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7398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Bracket Notation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0" y="405079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dipakai jika nama properti berupa variabel atau mengandung spasi.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49377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23232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50657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Dinamis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537667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baru bisa ditambahkan atau dihapus (delete) kapan saja.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&amp; Event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mousepo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(Document Object Model) memungkinkan JavaScript membaca dan mengubah elemen HTML di browser secara dinamis.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&amp; MENGUBAH ELEMEN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judul = document.querySelector('h1');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judul.textContent = 'Halo!';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kotak = document.createElement('div');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kotak.classList.add('box');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document.body.appendChild(kotak);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EVENT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tombol = document.querySelector('button');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tombol.addEventListener('click', () =&gt;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alert('Tombol diklik!');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dan event handling hanya berjalan di lingkungan browser, bukan di Node.js — karena keduanya bergantung pada objek document dan window.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·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menangkap error agar program tidak berhenti total; JSON adalah format pertukaran data standar.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JSON.parse('data tidak valid');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(error)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console.error('Gagal:', error.message);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console.log('Selesai diproses');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/ parse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 = { nama: 'Rudi', umur: 22 };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teks = JSON.stringify(obj);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'{"nama":"Rudi","umur":22}'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kembali = JSON.parse(teks);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nama: 'Rudi', umur: 22 }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82296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E1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188720" cy="11887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" name="Image 0" descr="/home/claude/es6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84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DARI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ECMAScript 6 (ES2015)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besar yang menjadi fondasi JavaScript modern.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31750">
            <a:solidFill>
              <a:srgbClr val="F7DF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Topik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· BAGIAN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Agenda: ECMAScript 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topik inti ES6, dari sintaks dasar hingga fitur lanjutan.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6" name="Image 0" descr="/home/claude/es6deck/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830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Pengenalan &amp; Sejarah ES6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719072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9" name="Image 1" descr="/home/claude/es6deck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830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38544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Mengapa ES6 Penting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162556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2" descr="/home/claude/es6deck/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22656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9264" y="21076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let, const, dan var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2162556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5" name="Image 3" descr="/home/claude/es6dec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22656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38544" y="21076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Hoisting &amp; Temporal Dead Zone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2606040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8" name="Image 4" descr="/home/claude/es6deck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67004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9264" y="25511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Arrow Functions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217920" y="2606040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1" name="Image 5" descr="/home/claude/es6deck/icons/quo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267004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38544" y="25511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Template Literals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48640" y="3049524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4" name="Image 6" descr="/home/claude/es6deck/icons/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113532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9264" y="29946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Tagged Template Literals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217920" y="3049524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7" name="Image 7" descr="/home/claude/es6deck/icons/puzz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113532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638544" y="29946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Destructuring Assignment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548640" y="3493008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0" name="Image 8" descr="/home/claude/es6deck/icons/lay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" y="355701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9264" y="34381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Destructuring Lanjutan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6217920" y="3493008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3" name="Image 9" descr="/home/claude/es6deck/icons/slid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1928" y="3557016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638544" y="34381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Default Parameters</a:t>
            </a:r>
            <a:endParaRPr lang="en-US" sz="1250" dirty="0"/>
          </a:p>
        </p:txBody>
      </p:sp>
      <p:sp>
        <p:nvSpPr>
          <p:cNvPr id="35" name="Shape 23"/>
          <p:cNvSpPr/>
          <p:nvPr/>
        </p:nvSpPr>
        <p:spPr>
          <a:xfrm>
            <a:off x="548640" y="3936492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6" name="Image 10" descr="/home/claude/es6deck/icons/expan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" y="4000500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69264" y="38816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Spread &amp; Rest Operator</a:t>
            </a:r>
            <a:endParaRPr lang="en-US" sz="1250" dirty="0"/>
          </a:p>
        </p:txBody>
      </p:sp>
      <p:sp>
        <p:nvSpPr>
          <p:cNvPr id="38" name="Shape 25"/>
          <p:cNvSpPr/>
          <p:nvPr/>
        </p:nvSpPr>
        <p:spPr>
          <a:xfrm>
            <a:off x="6217920" y="3936492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9" name="Image 11" descr="/home/claude/es6deck/icons/objec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1928" y="4000500"/>
            <a:ext cx="182880" cy="18288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38544" y="38816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Enhanced Object Literals</a:t>
            </a:r>
            <a:endParaRPr lang="en-US" sz="1250" dirty="0"/>
          </a:p>
        </p:txBody>
      </p:sp>
      <p:sp>
        <p:nvSpPr>
          <p:cNvPr id="41" name="Shape 27"/>
          <p:cNvSpPr/>
          <p:nvPr/>
        </p:nvSpPr>
        <p:spPr>
          <a:xfrm>
            <a:off x="548640" y="4379976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2" name="Image 12" descr="/home/claude/es6deck/icons/sitema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" y="4443984"/>
            <a:ext cx="182880" cy="18288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969264" y="43251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Class: Dasar</a:t>
            </a:r>
            <a:endParaRPr lang="en-US" sz="1250" dirty="0"/>
          </a:p>
        </p:txBody>
      </p:sp>
      <p:sp>
        <p:nvSpPr>
          <p:cNvPr id="44" name="Shape 29"/>
          <p:cNvSpPr/>
          <p:nvPr/>
        </p:nvSpPr>
        <p:spPr>
          <a:xfrm>
            <a:off x="6217920" y="4379976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5" name="Image 13" descr="/home/claude/es6deck/icons/gear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28" y="4443984"/>
            <a:ext cx="182880" cy="18288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638544" y="43251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Class: Static, Getter/Setter</a:t>
            </a:r>
            <a:endParaRPr lang="en-US" sz="1250" dirty="0"/>
          </a:p>
        </p:txBody>
      </p:sp>
      <p:sp>
        <p:nvSpPr>
          <p:cNvPr id="47" name="Shape 31"/>
          <p:cNvSpPr/>
          <p:nvPr/>
        </p:nvSpPr>
        <p:spPr>
          <a:xfrm>
            <a:off x="548640" y="4823460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8" name="Image 14" descr="/home/claude/es6deck/icons/boxe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648" y="4887468"/>
            <a:ext cx="182880" cy="18288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969264" y="47685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Modules (Import/Export)</a:t>
            </a:r>
            <a:endParaRPr lang="en-US" sz="1250" dirty="0"/>
          </a:p>
        </p:txBody>
      </p:sp>
      <p:sp>
        <p:nvSpPr>
          <p:cNvPr id="50" name="Shape 33"/>
          <p:cNvSpPr/>
          <p:nvPr/>
        </p:nvSpPr>
        <p:spPr>
          <a:xfrm>
            <a:off x="6217920" y="4823460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1" name="Image 15" descr="/home/claude/es6deck/icons/hourglas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28" y="4887468"/>
            <a:ext cx="182880" cy="182880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638544" y="47685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Promise: Dasar &amp; State</a:t>
            </a:r>
            <a:endParaRPr lang="en-US" sz="1250" dirty="0"/>
          </a:p>
        </p:txBody>
      </p:sp>
      <p:sp>
        <p:nvSpPr>
          <p:cNvPr id="53" name="Shape 35"/>
          <p:cNvSpPr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4" name="Image 16" descr="/home/claude/es6deck/icons/sync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648" y="5330952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969264" y="5212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Promise: Chaining &amp; Promise.all</a:t>
            </a:r>
            <a:endParaRPr lang="en-US" sz="1250" dirty="0"/>
          </a:p>
        </p:txBody>
      </p:sp>
      <p:sp>
        <p:nvSpPr>
          <p:cNvPr id="56" name="Shape 37"/>
          <p:cNvSpPr/>
          <p:nvPr/>
        </p:nvSpPr>
        <p:spPr>
          <a:xfrm>
            <a:off x="6217920" y="5266944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7" name="Image 17" descr="/home/claude/es6deck/icons/sync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1928" y="5330952"/>
            <a:ext cx="182880" cy="182880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638544" y="5212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Iterator &amp; Generator</a:t>
            </a:r>
            <a:endParaRPr lang="en-US" sz="1250" dirty="0"/>
          </a:p>
        </p:txBody>
      </p:sp>
      <p:sp>
        <p:nvSpPr>
          <p:cNvPr id="59" name="Shape 39"/>
          <p:cNvSpPr/>
          <p:nvPr/>
        </p:nvSpPr>
        <p:spPr>
          <a:xfrm>
            <a:off x="548640" y="5710428"/>
            <a:ext cx="310896" cy="31089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60" name="Image 18" descr="/home/claude/es6deck/icons/ma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648" y="5774436"/>
            <a:ext cx="182880" cy="182880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69264" y="56555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Map, Set, WeakMap, WeakSet</a:t>
            </a:r>
            <a:endParaRPr lang="en-US" sz="1250" dirty="0"/>
          </a:p>
        </p:txBody>
      </p:sp>
      <p:sp>
        <p:nvSpPr>
          <p:cNvPr id="62" name="Text 41"/>
          <p:cNvSpPr/>
          <p:nvPr/>
        </p:nvSpPr>
        <p:spPr>
          <a:xfrm>
            <a:off x="548640" y="6309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Symbol, Proxy &amp; Reflect, method baru, dukungan browser, ringkasan, dan latihan.</a:t>
            </a:r>
            <a:endParaRPr lang="en-US" sz="1200" dirty="0"/>
          </a:p>
        </p:txBody>
      </p:sp>
      <p:sp>
        <p:nvSpPr>
          <p:cNvPr id="63" name="Text 4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64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PENGENALAN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ES6?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ECMAScript 6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(ES2015) adalah pembaruan besar standar bahasa JavaScript, dirilis Juni 2015 oleh komite TC39 di bawah Ecma International.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utamanya: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kode JavaScript lebih ringkas, terbaca, dan mudah dikelola — terutama untuk aplikasi berskala besar.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04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baru: let/const, arrow function, class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2885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bahasa: modules, destructuring, spread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4672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baru: Map, Set, Symbol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184648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" y="5056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asynchronous: Promise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323330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18745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ECMAScript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03720" y="2423160"/>
            <a:ext cx="201168" cy="201168"/>
          </a:xfrm>
          <a:prstGeom prst="ellipse">
            <a:avLst/>
          </a:prstGeom>
          <a:solidFill>
            <a:srgbClr val="555550"/>
          </a:solidFill>
          <a:ln/>
        </p:spPr>
      </p:sp>
      <p:sp>
        <p:nvSpPr>
          <p:cNvPr id="19" name="Shape 16"/>
          <p:cNvSpPr/>
          <p:nvPr/>
        </p:nvSpPr>
        <p:spPr>
          <a:xfrm>
            <a:off x="6999732" y="2624328"/>
            <a:ext cx="0" cy="777240"/>
          </a:xfrm>
          <a:prstGeom prst="line">
            <a:avLst/>
          </a:prstGeom>
          <a:noFill/>
          <a:ln w="19050">
            <a:solidFill>
              <a:srgbClr val="4A4A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23042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 —  ES5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269480" y="2596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JavaScript modern (strict mode, JSON)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903720" y="3429000"/>
            <a:ext cx="201168" cy="20116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3" name="Shape 20"/>
          <p:cNvSpPr/>
          <p:nvPr/>
        </p:nvSpPr>
        <p:spPr>
          <a:xfrm>
            <a:off x="6999732" y="3630168"/>
            <a:ext cx="0" cy="777240"/>
          </a:xfrm>
          <a:prstGeom prst="line">
            <a:avLst/>
          </a:prstGeom>
          <a:noFill/>
          <a:ln w="19050">
            <a:solidFill>
              <a:srgbClr val="4A4A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9480" y="33101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 —  ES6 / ES2015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269480" y="36027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terbesar: let, const, class, module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903720" y="4434840"/>
            <a:ext cx="201168" cy="201168"/>
          </a:xfrm>
          <a:prstGeom prst="ellipse">
            <a:avLst/>
          </a:prstGeom>
          <a:solidFill>
            <a:srgbClr val="555550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43159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2016+  —  ES2016 – kini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69480" y="460857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tahunan, penambahan fitur bertahap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PENGENALAN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ES6 Penting?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bukan sekadar sintaks baru — ia menjadi fondasi ekosistem JavaScript modern yang kita pakai sehari-hari.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7" name="Image 0" descr="/home/claude/es6deck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963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Framework Modern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dan Angular ditulis dan diajarkan menggunakan sintaks ES6: class, arrow function, module, destructuring.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237744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1" descr="/home/claude/es6deck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963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Didukung Luas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26364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browser modern (Chrome, Firefox, Edge, Safari) dan Node.js mendukung mayoritas fitur ES6 secara native.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7" name="Image 2" descr="/home/claude/es6deck/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736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Lebih Modular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module resmi (import/export) menggantikan pola-pola pembagian file yang sebelumnya tidak baku.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0" y="461772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2" name="Image 3" descr="/home/claude/es6deck/icons/hourgl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7365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Lebih Rapi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26364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menjadi dasar penanganan operasi asynchronous, menggantikan callback bertingkat yang sulit dibaca.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DEKLARASI VARIABEL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let, const, dan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memperkenalkan let dan const sebagai pengganti var, dengan aturan scope yang lebih ketat dan lebih aman.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3233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48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77640" y="2148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37960" y="2148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098280" y="2148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715768"/>
            <a:ext cx="10881360" cy="56692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7157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(scope)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27157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Function-scoped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37960" y="27157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Block-scoped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98280" y="27157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Block-scoped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32826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977640" y="32826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 (bernilai undefined)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37960" y="32826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 (Temporal Dead Zone)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098280" y="32826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 (Temporal Dead Zone)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849624"/>
            <a:ext cx="10881360" cy="56692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8496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Redeclare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977640" y="38496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37960" y="38496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098280" y="38496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77240" y="4416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Reassign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977640" y="44165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37960" y="44165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098280" y="44165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4983480"/>
            <a:ext cx="10881360" cy="566928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983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Inisialisasi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977640" y="4983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537960" y="4983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9098280" y="4983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2148840"/>
            <a:ext cx="10881360" cy="3401568"/>
          </a:xfrm>
          <a:prstGeom prst="rect">
            <a:avLst/>
          </a:prstGeom>
          <a:ln w="12700">
            <a:solidFill>
              <a:srgbClr val="DEDE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DEKLARASI VARIABEL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Hoisting &amp; Temporal Dead Zone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 variabel diangkat (hoisted) ke atas scope, tapi let/const tidak bisa diakses sebelum baris deklarasinya — periode ini disebut Temporal Dead Zone (TDZ).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0171" cy="822960"/>
          </a:xfrm>
          <a:prstGeom prst="roundRect">
            <a:avLst>
              <a:gd name="adj" fmla="val 6667"/>
            </a:avLst>
          </a:prstGeom>
          <a:solidFill>
            <a:srgbClr val="5A1E1E"/>
          </a:solidFill>
          <a:ln/>
        </p:spPr>
      </p:sp>
      <p:sp>
        <p:nvSpPr>
          <p:cNvPr id="6" name="Shape 4"/>
          <p:cNvSpPr/>
          <p:nvPr/>
        </p:nvSpPr>
        <p:spPr>
          <a:xfrm>
            <a:off x="5118811" y="2286000"/>
            <a:ext cx="6311189" cy="822960"/>
          </a:xfrm>
          <a:prstGeom prst="roundRect">
            <a:avLst>
              <a:gd name="adj" fmla="val 6667"/>
            </a:avLst>
          </a:prstGeom>
          <a:solidFill>
            <a:srgbClr val="1E46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14016"/>
            <a:ext cx="42044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DEAD ZONE — variabel ter-hoist tapi belum bisa diakses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1691" y="2414016"/>
            <a:ext cx="59454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AMAN — variabel sudah diinisialisasi dan bisa dipakai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18811" y="2148840"/>
            <a:ext cx="0" cy="1097280"/>
          </a:xfrm>
          <a:prstGeom prst="line">
            <a:avLst/>
          </a:prstGeom>
          <a:noFill/>
          <a:ln w="2540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1491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5;  ←  baris deklarasi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36667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var (di-hoist, bernilai undefined)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40325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console.log(a); // undefined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10;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console.log(a); // 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5204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2" y="36667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let (ReferenceError di TDZ)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45352" y="40325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console.log(b); // ReferenceError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 = 10;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console.log(b); // 10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FUNGSI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fungsi yang lebih ringkas dan tidak memiliki binding this-nya sendiri (mewarisi this dari lingkup sekitarnya).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ES5 — FUNCTION EXPRESSION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tambah = function(a, b)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— ARROW FUNCTION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tambah = (a, b) =&gt; a + b;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kuadrat = x =&gt; x * x;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3708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47091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kata kunci function, tanpa return eksplisit untuk ekspresi satu baris.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4206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43708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Leksikal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80560" y="47091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membuat this baru — mengambil this dari scope tempat ia ditulis.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55280" y="4206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43708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Constructor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83880" y="47091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dipakai dengan new, dan tidak memiliki objek arguments.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Literals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backtick (`) untuk membuat string dengan interpolasi variabel dan multi-baris tanpa penggabungan manual.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141412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10369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nama = "Mujahidin";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kelas = "Kelas A";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ES5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pesan1 = "Halo " + nama + ", selamat datang di " + kelas + "!";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ES6 — Template Literal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pesan2 = `Halo ${nama}, selamat datang di ${kelas}!`;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434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23232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434840"/>
            <a:ext cx="54864" cy="155448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599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Interpolasi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9377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${ekspresi} menyisipkan variabel/hasil ekspresi langsung ke dalam string.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4434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232320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1960" y="4434840"/>
            <a:ext cx="54864" cy="155448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5" name="Text 12"/>
          <p:cNvSpPr/>
          <p:nvPr/>
        </p:nvSpPr>
        <p:spPr>
          <a:xfrm>
            <a:off x="4526280" y="4599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Multi-baris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6280" y="49377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bisa ditulis di beberapa baris tanpa karakter \n manual.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55280" y="4434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232320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4434840"/>
            <a:ext cx="54864" cy="155448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599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 Bebas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0" y="49377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dalam ${} bisa ditulis operasi matematika, pemanggilan fungsi, atau kondisi.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Tagged Template Literals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fungsi dapat 'menandai' (tag) template literal untuk memproses string dan nilai yang disisipkan sebelum digabung.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4942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15184"/>
            <a:ext cx="1036929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highlight(strings, ...values)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strings.reduce((hasil, str, i) =&gt;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nilai = values[i] ? `**${values[i]}**` : '';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hasil + str + nilai;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'');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nama = 'Mujahidin';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nilai = 95;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highlight`Mahasiswa ${nama} mendapat nilai ${nilai}.`;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'Mahasiswa **Mujahidin** mendapat nilai **95**.'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pertama (strings) berisi potongan teks statis; parameter selanjutnya (...values) berisi nilai yang disisipkan. Sering dipakai pada library seperti styled-components.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SINTAKS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Destructuring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Mengekstrak nilai dari array atau properti dari objek ke dalam variabel terpisah dengan sintaks singkat.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494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DESTRUCTURING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1518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warna = ['merah', 'hijau', 'biru'];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[utama, kedua, ketiga] = warna;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console.log(utama); // 'merah'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03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494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DESTRUCTURING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1518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 = { nama: 'Dini', nim: '0597' };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nama, nim } = mhs;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console.log(nama); // 'Dini'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361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 memberi nilai default: const { umur = 20 } = obj;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94690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8188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 mengganti nama variabel: const { nim: id } = obj;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40410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2760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Berguna untuk parameter fungsi dan hasil import module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SINTAKS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Destructuring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destructuring dapat digunakan bersarang, pada parameter fungsi, dan untuk menukar nilai variabel.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DESTRUCTURING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6090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 =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'Rina',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alamat: { kota: 'Klaten'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alamat: { kota } } = mhs;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FUNGSI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5352" y="266090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tampilkan({ nama, nim })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console.log(`${nama} - ${nim}`);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tampilkan({ nama: 'Rio', nim: '01' });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448970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MENUKAR NILAI VARIABEL (SWAP)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4855464"/>
            <a:ext cx="103692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1, b = 2;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b] = [b, a]; // a = 2, b = 1 — tanpa variabel sementara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FUNGSI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fungsi kini dapat memiliki nilai default yang digunakan ketika argumen tidak diberikan atau undefined.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340864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706624"/>
            <a:ext cx="588873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ES5: pengecekan manual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sapa(nama)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 = nama || 'Tamu';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'Halo, ' + nama;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ES6: default parameter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sapa(nama = 'Tamu')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`Halo, ${nama}`;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sapa();        // 'Halo, Tamu'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sapa('Fira');  // 'Halo, Fira'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22860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2395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default bisa berupa ekspresi, bahkan hasil pemanggilan fungsi lain.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34290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538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default dapat merujuk ke parameter sebelumnya dalam daftar.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45720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681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Menghilangkan kebutuhan pengecekan typeof param === 'undefined'.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OPERATOR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&amp; Rest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exp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memakai sintaks titik tiga (...), namun dengan arah kerja yang berlawanan.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494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( ... )  —  Membentangkan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1518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[1, 2, 3];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[...a, 4, 5];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 = [1, 2, 3, 4, 5]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obj2 = { ...obj1, kota: 'Klaten' };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0312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5352" y="22494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 ... )  —  Mengumpulkan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1518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jumlah(...angka)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angka.reduce((a,b) =&gt; a+b);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jumlah(1, 2, 3); // 6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[x, ...sisanya] = [1,2,3,4];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617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"membongkar" kumpulan nilai; Rest "mengumpulkan" nilai menjadi array/objek baru.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OBJEK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Object Literals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ob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menyederhanakan cara menulis literal objek: shorthand properti, method, dan nama properti komputasi.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nama = 'Rian';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umur = 21;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mhs =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nama,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umur: umur,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sapa: function()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'Halo';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— RINGKAS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nama = 'Rian';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umur = 21;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key = 'status';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 =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nama,        // shorthand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umur,        // shorthand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sapa() {     // method shorthand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'Halo';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[key]: 'aktif'  // computed key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dalam ES6: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class adalah "gula sintaksis" di atas pewarisan prototype yang sudah ada, membuat OOP di JavaScript lebih familiar.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6035040" cy="3977640"/>
          </a:xfrm>
          <a:prstGeom prst="roundRect">
            <a:avLst>
              <a:gd name="adj" fmla="val 1839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340864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706624"/>
            <a:ext cx="552297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nim)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perkenalan()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`Saya ${this.nama}`;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MahasiswaUT extends Mahasiswa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nim, prodi)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super(nama, nim);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this.prodi = prodi;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12280" y="228600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414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constructor()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0" y="272491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khusus yang dipanggil otomatis saat objek dibuat dengan new.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12280" y="361188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3739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&amp; super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40880" y="405079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Mewarisi class lain dan memanggil constructor induknya.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12280" y="493776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5065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Biasa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40880" y="537667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di dalam class otomatis masuk ke prototype, dipanggil lewat instance.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ES6 juga mendukung static method, getter/setter, dan konvensi properti privat.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6090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Kalkulator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tambah(a, b)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Kalkulator.tambah(2, 3); // 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&amp; SETTER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5352" y="2660904"/>
            <a:ext cx="46542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Lingkaran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constructor(r) { this._r = r;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luas() { return 3.14 * this._r ** 2;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jari(nilai) { this._r = nilai;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3232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988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Properti Privat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8097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ES6 murni belum ada properti privat resmi — konvensi umum memakai awalan underscore (_nama) sebagai penanda "jangan diakses langsung". Sintaks privat resmi (#nama) baru ditambahkan pada spesifikasi ECMAScript yang lebih baru.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141412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650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8887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Method/properti pada class itu sendiri, bukan pada instance-nya.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5577840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141412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5650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58887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Mengakses/mengubah nilai lewat sintaks properti biasa, bukan pemanggilan method.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5577840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141412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5650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_underscore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58887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penamaan untuk menandai properti sebagai internal/privat.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STRUKTUR KODE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— import &amp; export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Modules memungkinkan kode dipecah menjadi berkas-berkas terpisah yang saling berbagi fungsi, objek, atau nilai.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math.js — EXPORT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PI = 3.14;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luas(r)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PI * r * r;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luas;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IMPORT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luas, { PI } from './math.js';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console.log(luas(7));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console.log(PI);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67258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5445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— satu nilai utama per modul, diimpor tanpa kurung kurawal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093208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9651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{ a, b } — named export, diimpor dengan nama yang sama (atau alias)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513832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3858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dimuat sekali &amp; di-cache; mendukung tree-shaking oleh bundler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ASYNCHRONOUS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Promise: Dasar &amp;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merepresentasikan hasil dari operasi asynchronous yang belum tentu selesai — pengganti callback bertingkat (callback hell).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8A8A80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2768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awal, operasi masih berjalan dan belum memiliki hasil.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21488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2350008"/>
            <a:ext cx="146304" cy="146304"/>
          </a:xfrm>
          <a:prstGeom prst="ellipse">
            <a:avLst/>
          </a:prstGeom>
          <a:solidFill>
            <a:srgbClr val="1E7A1E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22768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berhasil diselesaikan dan mengembalikan sebuah nilai.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21488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3880" y="2350008"/>
            <a:ext cx="146304" cy="14630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22768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83880" y="26517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gagal dan mengembalikan sebuah alasan (error).</a:t>
            </a:r>
            <a:endParaRPr lang="en-US" sz="1100" dirty="0"/>
          </a:p>
        </p:txBody>
      </p:sp>
      <p:pic>
        <p:nvPicPr>
          <p:cNvPr id="19" name="Image 1" descr="/home/claude/es6deck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670048"/>
            <a:ext cx="274320" cy="274320"/>
          </a:xfrm>
          <a:prstGeom prst="rect">
            <a:avLst/>
          </a:prstGeom>
        </p:spPr>
      </p:pic>
      <p:pic>
        <p:nvPicPr>
          <p:cNvPr id="20" name="Image 2" descr="/home/claude/es6deck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670048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8640" y="370332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04672" y="384962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 — MEMBUAT &amp; MENGGUNAKAN PROMISE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04672" y="4215384"/>
            <a:ext cx="103692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ambilData()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Promise((resolve, reject) =&gt;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setTimeout(() =&gt; resolve('Data diterima'), 1000);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ambilData().then(hasil =&gt; console.log(hasil)).catch(err =&gt; console.error(err));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ASYNCHRONOUS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Promise: Chaining &amp; Kombinasi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then() dapat dirangkai berurutan, dan beberapa Promise static method membantu menjalankan banyak Promise sekaligus.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.then()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60904"/>
            <a:ext cx="465429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ambilUser(1)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.then(user =&gt; ambilPost(user.id))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.then(post =&gt; tampilkan(post))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.catch(err =&gt; console.error(err));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5352" y="2660904"/>
            <a:ext cx="465429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Promise.all([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ambilData('/a'),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ambilData('/b'),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]).then(([a, b]) =&gt;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console.log(a, b);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2323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00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semua Promise selesai; gagal jika salah satu reject.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45720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23232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700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Promise.race()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hasil dari Promise yang selesai paling cepat.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45720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232320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700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Promise.resolve/reject()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Promise yang langsung fulfilled/rejected dengan nilai tertentu.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KONTROL ALUR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 &amp; Generator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adalah objek dengan protokol next(); Generator (function*) adalah cara mudah membuat iterator kustom.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PROTOCOL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['a', 'b', 'c'];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 = arr[Symbol.iterator]();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it.next(); // {value:'a', done:false}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it.next(); // {value:'b', done:false}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FUNCTION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function* hitung()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1;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2;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yield 3;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8371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Iterable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12978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punya method [Symbol.iterator]() sehingga bisa dipakai for...of, spread, dan destructuring.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5196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48371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Generator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80560" y="512978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 function*; setiap yield menjeda eksekusi dan mengembalikan satu nilai pada satu waktu.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5528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48371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83880" y="512978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dihasilkan sesuai permintaan — cocok untuk urutan tak terbatas atau data besar.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STRUKTUR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&amp;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struktur data baru untuk menyimpan koleksi nilai dengan cara yang lebih efisien dibanding objek/array biasa.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166360" cy="2606040"/>
          </a:xfrm>
          <a:prstGeom prst="roundRect">
            <a:avLst>
              <a:gd name="adj" fmla="val 2807"/>
            </a:avLst>
          </a:prstGeom>
          <a:solidFill>
            <a:srgbClr val="1E1E1C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286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670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Koleksi pasangan key-value; key dapat bertipe apa saja.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 = new Map();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m.set('nama', 'Dini');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m.set(1, 'satu');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m.get('nama');  // 'Dini'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m.size;         // 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2103120"/>
            <a:ext cx="5166360" cy="2606040"/>
          </a:xfrm>
          <a:prstGeom prst="roundRect">
            <a:avLst>
              <a:gd name="adj" fmla="val 2807"/>
            </a:avLst>
          </a:prstGeom>
          <a:solidFill>
            <a:srgbClr val="1E1E1C"/>
          </a:solidFill>
          <a:ln w="12700">
            <a:solidFill>
              <a:srgbClr val="3A3A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86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63640" y="2670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Koleksi nilai unik — otomatis menghapus duplikat.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32004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 = new Set([1, 2, 2, 3]);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s.add(4);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s.has(2);      // true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s.size;        // 4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[...s];        // [1,2,3,4]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Set bersifat iterable (bisa dipakai for...of) dan menjaga urutan penyisipan elemen.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STRUKTUR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WeakMap &amp; WeakSet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"lemah" dari Map dan Set — key/nilainya hanya bisa berupa objek dan tidak mencegah proses garbage collection.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60904"/>
            <a:ext cx="4654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wm = new WeakMap();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obj = { id: 1 };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wm.set(obj, 'data rahasia');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wm.get(obj); // 'data rahasia'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= null; // entri otomatis dibersihkan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5352" y="2660904"/>
            <a:ext cx="4654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ws = new WeakSet();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elemen = {};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ws.add(elemen);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ws.has(elemen); // true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Diiterasi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4663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WeakMap/WeakSet tidak punya method seperti .forEach(), .size, atau for...of — demi alasan keamanan memori.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623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Memory Leak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6160" y="5623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menyimpan data tambahan pada objek DOM tanpa menahannya tetap di memori.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TIPE &amp; PERULANGAN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&amp; for...of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primitif baru: setiap Symbol() bersifat unik, sering dipakai sebagai key properti objek yang tidak akan bentrok.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461772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78992" y="3300984"/>
            <a:ext cx="410565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id1 = Symbol('id');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id2 = Symbol('id');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id1 === id2;  // false, selalu unik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'Andi',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[id1]: 'rahasia-internal',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16002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323330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for...of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63640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baru untuk menelusuri nilai dari objek iterable (array, string, Map, Set, generator) — lebih sederhana dari for biasa.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154680"/>
            <a:ext cx="4617720" cy="2377440"/>
          </a:xfrm>
          <a:prstGeom prst="roundRect">
            <a:avLst>
              <a:gd name="adj" fmla="val 3077"/>
            </a:avLst>
          </a:prstGeom>
          <a:solidFill>
            <a:srgbClr val="141412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9672" y="3300984"/>
            <a:ext cx="410565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buah = ['apel', 'jeruk', 'pisang'];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item of buah)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console.log(item);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apel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jeruk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pisang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TIPE &amp; PERULANGAN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&amp; Reflect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membungkus sebuah objek untuk menyadap (intercept) operasi seperti membaca atau menulis properti. Reflect menyediakan method bawaan yang setara secara fungsional.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47802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MENYADAP AKSES PROPERTI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843784"/>
            <a:ext cx="1036929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target = { nama: 'Wulan', umur: 21 };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handler =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get(obj, prop)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console.log(`Mengakses properti: ${prop}`);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Reflect.get(obj, prop);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proxy = new Proxy(target, handler);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proxy.nama; // log: 'Mengakses properti: nama' → 'Wulan'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METHOD BARU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Array &amp; String Baru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menambahkan sejumlah method bawaan yang memudahkan manipulasi array dan string sehari-hari.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Array.from()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array-like/iterable menjadi array asli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Array.of()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array baru dari daftar argumen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.find() / .findIndex()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elemen pertama yang cocok dengan kondisi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8076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.includes()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keberadaan nilai (mendukung NaN)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String.includes()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apakah string mengandung substring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8076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String.startsWith() / endsWith()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936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awalan/akhiran string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String.repeat(n)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Mengulang string sebanyak n kali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08076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Array.prototype.fill()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0936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elemen array dengan nilai statis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METHOD BARU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Number &amp; Math Baru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juga menambah method statis pada Number dan Math untuk memudahkan operasi numerik umum.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Number.isInteger(x)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apakah nilai adalah bilangan bulat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Number.parseFloat() / parseInt()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standar dari fungsi global parseFloat/parseInt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Number.isNaN(x)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NaN tanpa konversi tipe implisit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Number.EPSILON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Konstanta kecil untuk perbandingan bilangan desimal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Math.trunc(x)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Memotong bagian desimal tanpa pembulatan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388620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9593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Math.sign(x)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tanda bilangan: -1, 0, atau 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Math.cbrt(x)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akar pangkat tiga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475488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828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Math.hypot(a, b)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5102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akar kuadrat dari jumlah kuadrat argumen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EKOSISTEM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Dukungan Browser &amp; Transpiler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fitur ES6 telah didukung secara native oleh browser dan runtime modern, namun tools tambahan tetap umum dipakai.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323330"/>
          </a:solidFill>
          <a:ln/>
        </p:spPr>
      </p:sp>
      <p:pic>
        <p:nvPicPr>
          <p:cNvPr id="7" name="Image 0" descr="/home/claude/es6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963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Modern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Edge, dan Safari versi terbaru mendukung hampir seluruh fitur ES6 secara native.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377440"/>
            <a:ext cx="594360" cy="594360"/>
          </a:xfrm>
          <a:prstGeom prst="ellipse">
            <a:avLst/>
          </a:prstGeom>
          <a:solidFill>
            <a:srgbClr val="323330"/>
          </a:solidFill>
          <a:ln/>
        </p:spPr>
      </p:sp>
      <p:pic>
        <p:nvPicPr>
          <p:cNvPr id="12" name="Image 1" descr="/home/claude/es6deck/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963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26364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JavaScript sisi server yang mendukung ES6 sejak versi-versi awalnya, termasuk module melalui konfigurasi tertentu.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323330"/>
          </a:solidFill>
          <a:ln/>
        </p:spPr>
      </p:sp>
      <p:pic>
        <p:nvPicPr>
          <p:cNvPr id="17" name="Image 2" descr="/home/claude/es6deck/icons/ge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736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(Transpiler)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kode ES6+ menjadi versi yang kompatibel dengan browser lama, agar tetap bisa dijalankan secara luas.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0" y="4617720"/>
            <a:ext cx="594360" cy="594360"/>
          </a:xfrm>
          <a:prstGeom prst="ellipse">
            <a:avLst/>
          </a:prstGeom>
          <a:solidFill>
            <a:srgbClr val="323330"/>
          </a:solidFill>
          <a:ln/>
        </p:spPr>
      </p:sp>
      <p:pic>
        <p:nvPicPr>
          <p:cNvPr id="22" name="Image 3" descr="/home/claude/es6deck/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7365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 (Webpack/Vite)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26364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banyak file module menjadi satu berkas yang siap dimuat di browser.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RINGKASAN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ES5 vs ES6 — Perbandingan Menyeluruh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5087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11880" y="15087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ES5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35240" y="15087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ES6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020824"/>
            <a:ext cx="10881360" cy="512064"/>
          </a:xfrm>
          <a:prstGeom prst="rect">
            <a:avLst/>
          </a:prstGeom>
          <a:solidFill>
            <a:srgbClr val="23232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208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 variabel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11880" y="202082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(function-scoped)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202082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/ const (block-scoped)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532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5328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function() { 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25328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{ }  (arrow function)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044952"/>
            <a:ext cx="10881360" cy="512064"/>
          </a:xfrm>
          <a:prstGeom prst="rect">
            <a:avLst/>
          </a:prstGeom>
          <a:solidFill>
            <a:srgbClr val="23232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04495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11880" y="304495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Penggabungan dengan +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304495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literal `${}`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35570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nilai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11880" y="35570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Akses manual per index/key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635240" y="35570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Destructuring assignment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069080"/>
            <a:ext cx="10881360" cy="512064"/>
          </a:xfrm>
          <a:prstGeom prst="rect">
            <a:avLst/>
          </a:prstGeom>
          <a:solidFill>
            <a:srgbClr val="232320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0690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default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11880" y="40690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|| nilaiDefault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35240" y="40690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function(param = nilai)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" y="45811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OOP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11880" y="45811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constructor + prototype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35240" y="45811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class, extends, super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093208"/>
            <a:ext cx="10881360" cy="512064"/>
          </a:xfrm>
          <a:prstGeom prst="rect">
            <a:avLst/>
          </a:prstGeom>
          <a:solidFill>
            <a:srgbClr val="232320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50932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Modularisasi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611880" y="50932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baku (IIFE, CommonJS)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635240" y="50932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/ export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77240" y="56052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611880" y="56052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bertingkat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635240" y="56052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1508760"/>
            <a:ext cx="10881360" cy="4608576"/>
          </a:xfrm>
          <a:prstGeom prst="rect">
            <a:avLst/>
          </a:prstGeom>
          <a:ln w="12700">
            <a:solidFill>
              <a:srgbClr val="3A3A3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LATIHAN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Pemahaman Anda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jawab pertanyaan berikut sebelum melanjutkan — jawaban ada di penjelasan sebelumnya pada modul ini.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368296"/>
            <a:ext cx="438912" cy="438912"/>
          </a:xfrm>
          <a:prstGeom prst="ellipse">
            <a:avLst/>
          </a:prstGeom>
          <a:solidFill>
            <a:srgbClr val="32333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368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21488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perbedaan utama antara let dan const dalam hal reassignment nilai?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17296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392424"/>
            <a:ext cx="438912" cy="438912"/>
          </a:xfrm>
          <a:prstGeom prst="ellipse">
            <a:avLst/>
          </a:prstGeom>
          <a:solidFill>
            <a:srgbClr val="32333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31729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arrow function tidak cocok dipakai sebagai method objek yang bergantung pada this?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19709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416552"/>
            <a:ext cx="438912" cy="438912"/>
          </a:xfrm>
          <a:prstGeom prst="ellipse">
            <a:avLst/>
          </a:prstGeom>
          <a:solidFill>
            <a:srgbClr val="32333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17320" y="419709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membedakan Map dari objek biasa ({ }) dalam menyimpan pasangan key-value?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522122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F9EF"/>
          </a:solidFill>
          <a:ln w="12700">
            <a:solidFill>
              <a:srgbClr val="EDE6B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5440680"/>
            <a:ext cx="438912" cy="438912"/>
          </a:xfrm>
          <a:prstGeom prst="ellipse">
            <a:avLst/>
          </a:prstGeom>
          <a:solidFill>
            <a:srgbClr val="32333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40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7320" y="522122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Sebutkan satu perbedaan antara Promise.all() dan Promise.race().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Referensi Belajar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Sumber-sumber berikut dapat digunakan untuk memperdalam pemahaman ES6 dan JavaScript modern secara mandiri.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7" name="Image 0" descr="/home/claude/es6deck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963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MDN Web Docs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resmi dan lengkap untuk sintaks, API, dan contoh JavaScript.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237744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1" descr="/home/claude/es6deck/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963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404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ECMA-262 (TC39)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6364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spesifikasi resmi bahasa ECMAScript dari Ecma International.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7" name="Image 2" descr="/home/claude/es6deck/icons/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736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Latihan Coding Online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latihan interaktif untuk mempraktikkan sintaks ES6 secara langsung.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389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232320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0" y="4617720"/>
            <a:ext cx="594360" cy="59436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2" name="Image 3" descr="/home/claude/es6deck/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7365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Sumber Proyek Open Source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63640" y="5303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kode nyata di repositori publik membantu memahami penerapan ES6 di dunia kerja.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82296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E1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188720" cy="11887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" name="Image 0" descr="/home/claude/es6deck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84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DARI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Modern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Fitur-fitur yang terus ditambahkan pada JavaScript setelah ES6 (ES2016 - kini).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31750">
            <a:solidFill>
              <a:srgbClr val="F7DF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· BAGIAN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Agenda: JavaScript Modern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topik fitur terbaru JavaScript setelah ES6, dari ES2017 hingga ES2022+.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470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7" name="Image 0" descr="/home/claude/es6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5681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013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Async/Await: Dasar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0939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yang lebih ringkas dibanding rantai .then().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11" name="Shape 8"/>
          <p:cNvSpPr/>
          <p:nvPr/>
        </p:nvSpPr>
        <p:spPr>
          <a:xfrm>
            <a:off x="6419088" y="18470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1" descr="/home/claude/es6deck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95681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8013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Async/Await: Error Handling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95160" y="20939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untuk await dan Promise.all paralel.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606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27614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7" name="Image 2" descr="/home/claude/es6deck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7121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7157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Optional Chaining &amp; Nullish Coalescing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0083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properti aman dengan ?. dan ??.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2606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19088" y="27614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2" name="Image 3" descr="/home/claude/es6deck/icons/exp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87121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27157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Object Spread, flat() &amp; fromEntries()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95160" y="30083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tambahan pada Object dan Array.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5204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26" name="Shape 20"/>
          <p:cNvSpPr/>
          <p:nvPr/>
        </p:nvSpPr>
        <p:spPr>
          <a:xfrm>
            <a:off x="749808" y="36758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27" name="Image 4" descr="/home/claude/es6deck/icons/infin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78561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BigInt &amp; Logical Assignment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25880" y="3922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besar dan operator ||=, &amp;&amp;=, ??=.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35204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31" name="Shape 24"/>
          <p:cNvSpPr/>
          <p:nvPr/>
        </p:nvSpPr>
        <p:spPr>
          <a:xfrm>
            <a:off x="6419088" y="36758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2" name="Image 5" descr="/home/claude/es6deck/icons/spell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78561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Method String Baru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95160" y="3922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padStart, trimStart, matchAll, replaceAll.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44348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36" name="Shape 28"/>
          <p:cNvSpPr/>
          <p:nvPr/>
        </p:nvSpPr>
        <p:spPr>
          <a:xfrm>
            <a:off x="749808" y="45902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37" name="Image 6" descr="/home/claude/es6deck/icons/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70001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45445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Class Fields Privat &amp; Static Block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325880" y="48371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privat resmi dengan tanda #.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217920" y="44348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41" name="Shape 32"/>
          <p:cNvSpPr/>
          <p:nvPr/>
        </p:nvSpPr>
        <p:spPr>
          <a:xfrm>
            <a:off x="6419088" y="45902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2" name="Image 7" descr="/home/claude/es6deck/icons/atsig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4700016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95160" y="45445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Array.at(), Object.hasOwn() &amp; Lainnya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995160" y="48371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kecil yang memudahkan penulisan kode.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548640" y="53492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46" name="Shape 36"/>
          <p:cNvSpPr/>
          <p:nvPr/>
        </p:nvSpPr>
        <p:spPr>
          <a:xfrm>
            <a:off x="749808" y="55046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47" name="Image 8" descr="/home/claude/es6deck/icons/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614416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325880" y="54589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Timeline ES2016 - ES2023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1325880" y="57515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fitur utama tiap tahun rilis.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6217920" y="53492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232320"/>
          </a:solidFill>
          <a:ln/>
        </p:spPr>
      </p:sp>
      <p:sp>
        <p:nvSpPr>
          <p:cNvPr id="51" name="Shape 40"/>
          <p:cNvSpPr/>
          <p:nvPr/>
        </p:nvSpPr>
        <p:spPr>
          <a:xfrm>
            <a:off x="6419088" y="5504688"/>
            <a:ext cx="402336" cy="402336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2" name="Image 9" descr="/home/claude/es6deck/icons/compas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614416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995160" y="54589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Cheat Sheet</a:t>
            </a:r>
            <a:endParaRPr lang="en-US" sz="1300" dirty="0"/>
          </a:p>
        </p:txBody>
      </p:sp>
      <p:sp>
        <p:nvSpPr>
          <p:cNvPr id="54" name="Text 42"/>
          <p:cNvSpPr/>
          <p:nvPr/>
        </p:nvSpPr>
        <p:spPr>
          <a:xfrm>
            <a:off x="6995160" y="57515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cepat memilih fitur sesuai kebutuhan.</a:t>
            </a:r>
            <a:endParaRPr lang="en-US" sz="1050" dirty="0"/>
          </a:p>
        </p:txBody>
      </p:sp>
      <p:sp>
        <p:nvSpPr>
          <p:cNvPr id="55" name="Text 4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5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ASYNCHRONOUS · ES2017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Async/Await: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adalah sintaks gula di atas Promise, membuat kode asynchronous terbaca seperti kode synchronous biasa.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.then() (ES6)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ambilUser()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fetch('/api/user')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.then(res =&gt; res.json())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.then(data =&gt;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console.log(data);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async/await (ES2017)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ambilUser()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fetch('/api/user');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res.json();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console.log(data);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6360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async membuat fungsi selalu mengembalikan Promise.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148072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50200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hanya bisa dipakai di dalam fungsi async — ia "menjeda" hingga Promise selesai.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4041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terasa linear dan lebih mudah dibaca dibanding rantai .then().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ASYNCHRONOUS · ES2017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Async/Await: Error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pada await ditangani dengan try/catch biasa, dan beberapa Promise dapat dijalankan paralel dengan Promise.all + await.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ambilData()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fetch('/api/data');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res.json();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console.error('Gagal:', err);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DENGAN Promise.all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ambilSemua()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[user, post] = await Promise.all([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ambilUser(),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ambilPost(),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user, post };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beberapa await berurutan (bukan Promise.all) akan menunggu satu per satu — lebih lambat dibanding paralel.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SINTAKS · ES2020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Chaining &amp; Nullish Coalescing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operator yang membuat kode lebih aman saat berhadapan dengan nilai null atau undefined.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?.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alamat: null };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Tanpa optional chaining -&gt; Error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user.alamat.kota;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Dengan optional chaining -&gt; aman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user.alamat?.kota; // undefined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NULLISH COALESCING ??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input = 0;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|| 10;   // 10 (0 dianggap falsy)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?? 10;   // 0 (hanya cek null/undefined)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nama = null;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?? 'Tamu'; // 'Tamu'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 berbeda dari || karena hanya menganggap null dan undefined sebagai "kosong" — bukan 0, string kosong, atau false.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OBJEK &amp; ARRAY · ES2018-2019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Object &amp; Array Tambahan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exp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penambahan kecil namun berguna pada Object dan Array setelah ES6.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3232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Spread — ES2018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properti antar object, mirip spread pada array.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214884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gabung = { ...obj1, ...obj2 };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66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3232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Array.flat() — ES2019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Meratakan array bersarang sebanyak N level.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356616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[2, [3, 4]]].flat(2); // [1,2,3,4]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9834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32320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Object.fromEntries() — ES2019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5440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array pasangan key-value menjadi object.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49834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Object.fromEntries([['a',1],['b',2]]);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TIPE &amp; OPERATOR · ES2020-2021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BigInt &amp; Logical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infi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menangani angka melebihi batas aman Number; logical assignment menggabungkan operator logika dengan penugasan.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— ES2020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besar = 9007199254740993n;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besar; // 'bigint'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 biasa kehilangan presisi: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9007199254740993; // dibulatkan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ASSIGNMENT — ES2021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||= b;  // a = a || b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&amp;&amp;= b;  // a = a &amp;&amp; b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??= b;  // a = a ?? b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opsi = opsi ?? {}; // sebelumnya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opsi ??= {};            // sekarang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855464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727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ditulis dengan akhiran huruf n dan tidak bisa dicampur operasi langsung dengan Number biasa.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294376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5166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assignment hanya menjalankan penugasan jika kondisi operator logikanya terpenuhi — mirip shortcut if.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733288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605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membuat kode lebih ringkas untuk kasus yang sebelumnya butuh beberapa baris tambahan.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METHOD BARU · ES2017-2021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String Baru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spell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method string yang ditambahkan bertahap setelah ES6.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padStart() / padEnd()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karakter di awal/akhir hingga panjang tertentu (ES2017)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14884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trimStart() / trimEnd()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9360" y="24963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spasi hanya di awal atau akhir string (ES2019)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matchAll()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semua hasil pencocokan regex sekaligus (ES2020)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3017520"/>
            <a:ext cx="5166360" cy="731520"/>
          </a:xfrm>
          <a:prstGeom prst="roundRect">
            <a:avLst>
              <a:gd name="adj" fmla="val 8750"/>
            </a:avLst>
          </a:prstGeom>
          <a:solidFill>
            <a:srgbClr val="232320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replaceAll()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093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 semua kemunculan substring, bukan hanya yang pertama (ES2021)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0233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4672" y="416966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PENGGUNAAN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4672" y="4535424"/>
            <a:ext cx="10369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'7'.padStart(3, '0');           // '007'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halo  '.trimStart();         // 'halo  '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'aku suka kucing'.replaceAll('kucing', 'kopi');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'aku suka kopi'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OOP · ES2022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Fields Privat &amp; Static Block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ES2022 menambahkan properti privat resmi (#field) — melengkapi konvensi underscore yang dibahas di bagian ES6.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(#)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660904"/>
            <a:ext cx="465429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Akun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#saldo = 0;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setor(jumlah)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this.#saldo += jumlah;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saldo() { return this.#saldo; 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new Akun();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a.#saldo; // SyntaxError — benar-benar privat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/>
          <a:effectLst>
            <a:outerShdw sx="100000" sy="100000" kx="0" ky="0" algn="bl" rotWithShape="0" blurRad="1270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951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5352" y="2660904"/>
            <a:ext cx="4654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Konfigurasi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host;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logika inisialisasi kompleks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Konfigurasi.host = 'api.contoh.id';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89320" y="470916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dijalankan sekali saat class didefinisikan — berguna untuk inisialisasi properti static yang butuh logika lebih dari satu baris.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· METHOD BARU · ES2020-2022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Array.at(), Object.hasOwn() &amp; Lainnya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at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fitur kecil lain yang memudahkan penulisan kode sehari-hari.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23232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13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Array.at(-1)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elemen dari belakang tanpa menghitung panjang array (ES2022)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23232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313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Object.hasOwn(obj, 'x')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Pengganti hasOwnProperty() yang lebih aman (ES2022)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23232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187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globalThis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45902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objek global yang konsisten di browser maupun Node.js (ES2020)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402336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23232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4187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Top-level await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0" y="45902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bisa dipakai langsung di luar fungsi async pada module (ES2022)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· RINGKASAN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23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ES2016 — ES2023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F7DF1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00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88920" y="160020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10881360" cy="530352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30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ES2016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88920" y="21305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Array.prototype.includes(), operator pangkat (**)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26609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ES2017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788920" y="266090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Object.entries()/values(), String padStart/padEnd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191256"/>
            <a:ext cx="10881360" cy="530352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912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ES2018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788920" y="319125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spread/rest, Promise.finally(), async iteration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37216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ES2019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788920" y="37216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Array.flat()/flatMap(), Object.fromEntries(), trimStart/trimEnd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251960"/>
            <a:ext cx="10881360" cy="530352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2519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ES2020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788920" y="42519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(?.), nullish coalescing (??), BigInt, globalThis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77240" y="47823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ES2021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788920" y="478231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assignment (||=, &amp;&amp;=, ??=), String.replaceAll()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312664"/>
            <a:ext cx="10881360" cy="530352"/>
          </a:xfrm>
          <a:prstGeom prst="rect">
            <a:avLst/>
          </a:prstGeom>
          <a:solidFill>
            <a:srgbClr val="FBF9EF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126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ES2022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2788920" y="531266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fields privat (#), static block, Array.at(), top-level await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84301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ES2023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2788920" y="584301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Array.findLast()/findLastIndex(), Array.prototype.with()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1600200"/>
            <a:ext cx="10881360" cy="4773168"/>
          </a:xfrm>
          <a:prstGeom prst="rect">
            <a:avLst/>
          </a:prstGeom>
          <a:ln w="12700">
            <a:solidFill>
              <a:srgbClr val="DEDE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· 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Sheet: Kapan Pakai Fitur 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566928"/>
            <a:ext cx="960120" cy="960120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5" name="Image 0" descr="/home/claude/es6deck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758952"/>
            <a:ext cx="576072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5544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nilai default untuk parameter?</a:t>
            </a:r>
            <a:endParaRPr lang="en-US" sz="1250" dirty="0"/>
          </a:p>
        </p:txBody>
      </p:sp>
      <p:pic>
        <p:nvPicPr>
          <p:cNvPr id="8" name="Image 1" descr="/home/claude/es6deck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5564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5544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parameters (ES6)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3317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 properti objek yang mungkin null?</a:t>
            </a:r>
            <a:endParaRPr lang="en-US" sz="1250" dirty="0"/>
          </a:p>
        </p:txBody>
      </p:sp>
      <p:pic>
        <p:nvPicPr>
          <p:cNvPr id="12" name="Image 2" descr="/home/claude/es6deck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5328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2331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chaining ?. (ES2020)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15" name="Text 10"/>
          <p:cNvSpPr/>
          <p:nvPr/>
        </p:nvSpPr>
        <p:spPr>
          <a:xfrm>
            <a:off x="822960" y="310896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hasil operasi asynchronous?</a:t>
            </a:r>
            <a:endParaRPr lang="en-US" sz="1250" dirty="0"/>
          </a:p>
        </p:txBody>
      </p:sp>
      <p:pic>
        <p:nvPicPr>
          <p:cNvPr id="16" name="Image 3" descr="/home/claude/es6deck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3101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3108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 (ES2017), bukan .then() bertingkat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38862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Menyalin/menggabungkan array atau object?</a:t>
            </a:r>
            <a:endParaRPr lang="en-US" sz="1250" dirty="0"/>
          </a:p>
        </p:txBody>
      </p:sp>
      <p:pic>
        <p:nvPicPr>
          <p:cNvPr id="20" name="Image 4" descr="/home/claude/es6deck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08736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3886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operator ... (ES6 / ES2018)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46634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23" name="Text 16"/>
          <p:cNvSpPr/>
          <p:nvPr/>
        </p:nvSpPr>
        <p:spPr>
          <a:xfrm>
            <a:off x="822960" y="466344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privat dalam class?</a:t>
            </a:r>
            <a:endParaRPr lang="en-US" sz="1250" dirty="0"/>
          </a:p>
        </p:txBody>
      </p:sp>
      <p:pic>
        <p:nvPicPr>
          <p:cNvPr id="24" name="Image 5" descr="/home/claude/es6deck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4864608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0" y="46634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fields #field (ES2022)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54406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232320"/>
          </a:solidFill>
          <a:ln/>
        </p:spPr>
      </p:sp>
      <p:sp>
        <p:nvSpPr>
          <p:cNvPr id="27" name="Text 19"/>
          <p:cNvSpPr/>
          <p:nvPr/>
        </p:nvSpPr>
        <p:spPr>
          <a:xfrm>
            <a:off x="822960" y="54406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dengan banyak file terpisah?</a:t>
            </a:r>
            <a:endParaRPr lang="en-US" sz="1250" dirty="0"/>
          </a:p>
        </p:txBody>
      </p:sp>
      <p:pic>
        <p:nvPicPr>
          <p:cNvPr id="28" name="Image 6" descr="/home/claude/es6deck/icon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5641848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15200" y="5440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import/export (ES6)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2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88720" y="109728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E1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5394960" y="1143000"/>
            <a:ext cx="1371600" cy="13716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17043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23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belajar — dari dasar JavaScript, ES6, hingga fitur modern!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4297680"/>
            <a:ext cx="1371600" cy="0"/>
          </a:xfrm>
          <a:prstGeom prst="line">
            <a:avLst/>
          </a:prstGeom>
          <a:noFill/>
          <a:ln w="25400">
            <a:solidFill>
              <a:srgbClr val="F7D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9644" y="4572000"/>
            <a:ext cx="512064" cy="512064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9" name="Image 0" descr="/home/claude/es6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057" y="467441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79876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38444" y="4572000"/>
            <a:ext cx="512064" cy="512064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2" name="Image 1" descr="/home/claude/es6deck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857" y="467441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8676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67244" y="4572000"/>
            <a:ext cx="512064" cy="512064"/>
          </a:xfrm>
          <a:prstGeom prst="ellipse">
            <a:avLst/>
          </a:prstGeom>
          <a:solidFill>
            <a:srgbClr val="F7DF1E"/>
          </a:solidFill>
          <a:ln/>
        </p:spPr>
      </p:sp>
      <p:pic>
        <p:nvPicPr>
          <p:cNvPr id="15" name="Image 2" descr="/home/claude/es6deck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657" y="467441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37476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Semoga bermanfaat untuk proses belajar Anda.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JavaScript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2026-09-02T06:09:47Z</dcterms:created>
  <dcterms:modified xsi:type="dcterms:W3CDTF">2026-09-02T06:09:47Z</dcterms:modified>
</cp:coreProperties>
</file>