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5.png"/><Relationship Id="rId7" Type="http://schemas.openxmlformats.org/officeDocument/2006/relationships/image" Target="../media/image-16-5.png"/><Relationship Id="rId8" Type="http://schemas.openxmlformats.org/officeDocument/2006/relationships/image" Target="../media/image-1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0" cy="4754880"/>
          </a:xfrm>
          <a:prstGeom prst="line">
            <a:avLst/>
          </a:prstGeom>
          <a:noFill/>
          <a:ln w="19050">
            <a:solidFill>
              <a:srgbClr val="3A4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2194560"/>
            <a:ext cx="1280160" cy="0"/>
          </a:xfrm>
          <a:prstGeom prst="line">
            <a:avLst/>
          </a:prstGeom>
          <a:noFill/>
          <a:ln w="19050">
            <a:solidFill>
              <a:srgbClr val="3A4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023360"/>
            <a:ext cx="1737360" cy="0"/>
          </a:xfrm>
          <a:prstGeom prst="line">
            <a:avLst/>
          </a:prstGeom>
          <a:noFill/>
          <a:ln w="19050">
            <a:solidFill>
              <a:srgbClr val="3A4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23376" y="85953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6" name="Shape 4"/>
          <p:cNvSpPr/>
          <p:nvPr/>
        </p:nvSpPr>
        <p:spPr>
          <a:xfrm>
            <a:off x="8723376" y="213969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7" name="Shape 5"/>
          <p:cNvSpPr/>
          <p:nvPr/>
        </p:nvSpPr>
        <p:spPr>
          <a:xfrm>
            <a:off x="8723376" y="396849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8" name="Shape 6"/>
          <p:cNvSpPr/>
          <p:nvPr/>
        </p:nvSpPr>
        <p:spPr>
          <a:xfrm>
            <a:off x="8723376" y="543153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9" name="Shape 7"/>
          <p:cNvSpPr/>
          <p:nvPr/>
        </p:nvSpPr>
        <p:spPr>
          <a:xfrm>
            <a:off x="10003536" y="213969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0" name="Shape 8"/>
          <p:cNvSpPr/>
          <p:nvPr/>
        </p:nvSpPr>
        <p:spPr>
          <a:xfrm>
            <a:off x="10460736" y="396849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pic>
        <p:nvPicPr>
          <p:cNvPr id="11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pic>
        <p:nvPicPr>
          <p:cNvPr id="12" name="Image 1" descr="/home/claude/gitgithub/icons/githu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772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PEMBELAJARAN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196596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</a:t>
            </a:r>
            <a:endParaRPr lang="en-US" sz="5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0632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Version Control hingga Kolaborasi Tim di GitHub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" y="3977640"/>
            <a:ext cx="1005840" cy="0"/>
          </a:xfrm>
          <a:prstGeom prst="line">
            <a:avLst/>
          </a:prstGeom>
          <a:noFill/>
          <a:ln w="38100">
            <a:solidFill>
              <a:srgbClr val="8250D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1605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praktis: membuat akun GitHub sampai berkolaborasi lewat Pull Request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Kita Pelajari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7568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250D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49808" y="2788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8" name="Image 0" descr="/home/claude/gitgithub/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077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356616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Dasar-Dasar Git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version control, repository, commit, dan branch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/>
        </p:spPr>
      </p:sp>
      <p:sp>
        <p:nvSpPr>
          <p:cNvPr id="12" name="Text 9"/>
          <p:cNvSpPr/>
          <p:nvPr/>
        </p:nvSpPr>
        <p:spPr>
          <a:xfrm>
            <a:off x="3584448" y="207568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250D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584448" y="2788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4" name="Image 1" descr="/home/claude/gitgithub/icons/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90779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4448" y="356616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84448" y="42062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perbedaan tools lokal dan platform kolaborasi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1792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/>
        </p:spPr>
      </p:sp>
      <p:sp>
        <p:nvSpPr>
          <p:cNvPr id="18" name="Text 14"/>
          <p:cNvSpPr/>
          <p:nvPr/>
        </p:nvSpPr>
        <p:spPr>
          <a:xfrm>
            <a:off x="6419088" y="207568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250D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5"/>
          <p:cNvSpPr/>
          <p:nvPr/>
        </p:nvSpPr>
        <p:spPr>
          <a:xfrm>
            <a:off x="6419088" y="2788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0" name="Image 2" descr="/home/claude/gitgithub/icons/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907792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19088" y="356616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GitHub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19088" y="42062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dari buat akun sampai Pull Request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52560" y="187452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F6F8FA"/>
          </a:solidFill>
          <a:ln/>
        </p:spPr>
      </p:sp>
      <p:sp>
        <p:nvSpPr>
          <p:cNvPr id="24" name="Text 19"/>
          <p:cNvSpPr/>
          <p:nvPr/>
        </p:nvSpPr>
        <p:spPr>
          <a:xfrm>
            <a:off x="9253728" y="2075688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250D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9253728" y="278892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6" name="Image 3" descr="/home/claude/gitgithub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907792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53728" y="356616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Tim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253728" y="4206240"/>
            <a:ext cx="2203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Fork, Issue, Code Review, dan fitur pendukung lain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8250D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5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 Git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version control sebelum masuk ke GitHub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0503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Itu Git?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adalah sistem version control terdistribusi (distributed version control system) yang mencatat setiap perubahan pada kode atau dokumen, sehingga tim bisa bekerja bersama tanpa saling menimpa pekerjaan orang lain.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7" name="Image 0" descr="/home/claude/gitgithub/icons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4381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31012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Riwayat Perubahan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88720" y="363016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versi file tersimpan dan bisa dikembalikan kapan saja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11" name="Image 1" descr="/home/claude/gitgithub/icons/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421538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40873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Paralel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88720" y="440740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orang bisa mengerjakan bagian berbeda secara bersamaan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15" name="Image 2" descr="/home/claude/gitgithub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99262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86460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&amp; Terstruktur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188720" y="518464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tercatat rapi dengan pesan commit yang jelas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903720" y="1691640"/>
            <a:ext cx="4754880" cy="4206240"/>
          </a:xfrm>
          <a:prstGeom prst="roundRect">
            <a:avLst>
              <a:gd name="adj" fmla="val 2174"/>
            </a:avLst>
          </a:prstGeom>
          <a:solidFill>
            <a:srgbClr val="1B1F23"/>
          </a:solidFill>
          <a:ln/>
        </p:spPr>
      </p:sp>
      <p:sp>
        <p:nvSpPr>
          <p:cNvPr id="19" name="Shape 14"/>
          <p:cNvSpPr/>
          <p:nvPr/>
        </p:nvSpPr>
        <p:spPr>
          <a:xfrm>
            <a:off x="7132320" y="1901952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5"/>
          <p:cNvSpPr/>
          <p:nvPr/>
        </p:nvSpPr>
        <p:spPr>
          <a:xfrm>
            <a:off x="7333488" y="1901952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6"/>
          <p:cNvSpPr/>
          <p:nvPr/>
        </p:nvSpPr>
        <p:spPr>
          <a:xfrm>
            <a:off x="7534656" y="1901952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7"/>
          <p:cNvSpPr/>
          <p:nvPr/>
        </p:nvSpPr>
        <p:spPr>
          <a:xfrm>
            <a:off x="7178040" y="224028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commit, working tree clean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Initial commit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0503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Istilah Kunci di Git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5875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505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proyek yang dilacak Git — menyimpan seluruh riwayat perubahan file di dalamnya.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5875">
            <a:solidFill>
              <a:srgbClr val="2DA44E"/>
            </a:solidFill>
            <a:prstDash val="solid"/>
          </a:ln>
        </p:spPr>
      </p:sp>
      <p:pic>
        <p:nvPicPr>
          <p:cNvPr id="12" name="Image 1" descr="/home/claude/gitgithub/icons/comm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4505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09160" y="37490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atau "titik simpan" dari perubahan file, lengkap dengan pesan penjelas.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187452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6F8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224028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5875">
            <a:solidFill>
              <a:srgbClr val="F05033"/>
            </a:solidFill>
            <a:prstDash val="solid"/>
          </a:ln>
        </p:spPr>
      </p:sp>
      <p:pic>
        <p:nvPicPr>
          <p:cNvPr id="17" name="Image 2" descr="/home/claude/gitgithub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2" y="2450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2461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49640" y="374904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Jalur pengembangan terpisah, sehingga fitur baru bisa dikerjakan tanpa mengganggu kode utama.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F0503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Kerja &amp; Perintah Dasar Git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/>
        </p:spPr>
      </p:sp>
      <p:pic>
        <p:nvPicPr>
          <p:cNvPr id="6" name="Image 0" descr="/home/claude/gitgithub/icons/file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756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96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43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yang sedang diedit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429000" y="21762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502152" y="2560320"/>
            <a:ext cx="539496" cy="0"/>
          </a:xfrm>
          <a:prstGeom prst="line">
            <a:avLst/>
          </a:prstGeom>
          <a:noFill/>
          <a:ln w="25400">
            <a:solidFill>
              <a:srgbClr val="8250DF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114800" y="187452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F6F8FA"/>
          </a:solidFill>
          <a:ln/>
        </p:spPr>
      </p:sp>
      <p:pic>
        <p:nvPicPr>
          <p:cNvPr id="12" name="Image 1" descr="/home/claude/gitgithub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7568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496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343400" y="2843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siap di-commit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995160" y="217627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068312" y="2560320"/>
            <a:ext cx="539496" cy="0"/>
          </a:xfrm>
          <a:prstGeom prst="line">
            <a:avLst/>
          </a:prstGeom>
          <a:noFill/>
          <a:ln w="25400">
            <a:solidFill>
              <a:srgbClr val="8250DF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7680960" y="187452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8250DF"/>
          </a:solidFill>
          <a:ln/>
        </p:spPr>
      </p:sp>
      <p:pic>
        <p:nvPicPr>
          <p:cNvPr id="18" name="Image 2" descr="/home/claude/gitgithub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075688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09560" y="24963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Repository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909560" y="28437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tersimpan permanen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754880" y="3410712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pPr algn="r" indent="0" marL="0">
              <a:buNone/>
            </a:pPr>
            <a:r>
              <a:rPr lang="en-US" sz="11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perubahan menuju GitHub, dibahas lengkap di Bagian 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B1F23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4206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02336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repository Git baru di folder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68680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023360" y="4599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seluruh file ke staging area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68680" y="499262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"pesan"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023360" y="499262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snapshot perubahan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68680" y="53858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023360" y="538581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status perubahan file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8250D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5" name="Image 0" descr="/home/claude/gitgithub/icons/githu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6829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154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Dari Nol hingga Kolaborasi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praktis — mulai dari membuat akun sampai bekerja dalam tim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vs GitHub, Apa Bedanya?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6F8F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31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F05033"/>
            </a:solidFill>
            <a:prstDash val="solid"/>
          </a:ln>
        </p:spPr>
      </p:sp>
      <p:pic>
        <p:nvPicPr>
          <p:cNvPr id="7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089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 lunak version control yang berjalan di komputer lokal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4526280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44074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Bekerja secara offline di komputer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983480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48646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riwayat perubahan file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440680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</p:sp>
      <p:sp>
        <p:nvSpPr>
          <p:cNvPr id="15" name="Text 12"/>
          <p:cNvSpPr/>
          <p:nvPr/>
        </p:nvSpPr>
        <p:spPr>
          <a:xfrm>
            <a:off x="1170432" y="5321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Dijalankan lewat command line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B1F23"/>
          </a:solidFill>
          <a:ln/>
        </p:spPr>
      </p:sp>
      <p:sp>
        <p:nvSpPr>
          <p:cNvPr id="17" name="Shape 14"/>
          <p:cNvSpPr/>
          <p:nvPr/>
        </p:nvSpPr>
        <p:spPr>
          <a:xfrm>
            <a:off x="6629400" y="210312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2D333B"/>
          </a:solidFill>
          <a:ln w="15875">
            <a:solidFill>
              <a:srgbClr val="8250DF"/>
            </a:solidFill>
            <a:prstDash val="solid"/>
          </a:ln>
        </p:spPr>
      </p:sp>
      <p:pic>
        <p:nvPicPr>
          <p:cNvPr id="18" name="Image 1" descr="/home/claude/gitgithub/icons/github_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04288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29400" y="31089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6629400" y="36576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berbasis cloud untuk menyimpan &amp; berkolaborasi dengan repository Git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29400" y="4526280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2" name="Text 18"/>
          <p:cNvSpPr/>
          <p:nvPr/>
        </p:nvSpPr>
        <p:spPr>
          <a:xfrm>
            <a:off x="6885432" y="44074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repository secara online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629400" y="4983480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4" name="Text 20"/>
          <p:cNvSpPr/>
          <p:nvPr/>
        </p:nvSpPr>
        <p:spPr>
          <a:xfrm>
            <a:off x="6885432" y="48646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 lewat Pull Request &amp; Issue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6629400" y="5440680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6" name="Text 22"/>
          <p:cNvSpPr/>
          <p:nvPr/>
        </p:nvSpPr>
        <p:spPr>
          <a:xfrm>
            <a:off x="6885432" y="532180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tambahan: Pages, Actions, dsb.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Studi Kasus GitHub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langkah yang akan kita praktikkan bersama, dari akun kosong hingga kolaborasi tim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3794760"/>
            <a:ext cx="9509760" cy="0"/>
          </a:xfrm>
          <a:prstGeom prst="line">
            <a:avLst/>
          </a:prstGeom>
          <a:noFill/>
          <a:ln w="50800">
            <a:solidFill>
              <a:srgbClr val="F6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25880" y="3383280"/>
            <a:ext cx="0" cy="11887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37744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11" name="Image 0" descr="/home/claude/gitgithub/icons/user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48716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852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&amp; Setup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GitHub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935224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35224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227832" y="4087368"/>
            <a:ext cx="0" cy="16459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450592" y="425196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17" name="Image 1" descr="/home/claude/gitgithub/icons/folder_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436168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96312" y="47274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Repository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37176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37176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129784" y="3383280"/>
            <a:ext cx="0" cy="11887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22" name="Shape 18"/>
          <p:cNvSpPr/>
          <p:nvPr/>
        </p:nvSpPr>
        <p:spPr>
          <a:xfrm>
            <a:off x="4352544" y="237744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23" name="Image 2" descr="/home/claude/gitgithub/icons/down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48716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98264" y="2852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Komputer Lokal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39128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739128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7031736" y="4087368"/>
            <a:ext cx="0" cy="16459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28" name="Shape 23"/>
          <p:cNvSpPr/>
          <p:nvPr/>
        </p:nvSpPr>
        <p:spPr>
          <a:xfrm>
            <a:off x="6254496" y="425196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29" name="Image 3" descr="/home/claude/gitgithub/icons/uploa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61688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00216" y="47274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&amp; Push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8641080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641080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8933688" y="3383280"/>
            <a:ext cx="0" cy="11887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8156448" y="237744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35" name="Image 4" descr="/home/claude/gitgithub/icons/pull_reque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487168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02168" y="28529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543032" y="3502152"/>
            <a:ext cx="585216" cy="585216"/>
          </a:xfrm>
          <a:prstGeom prst="ellipse">
            <a:avLst/>
          </a:prstGeom>
          <a:solidFill>
            <a:srgbClr val="8250D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543032" y="35021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10835640" y="4087368"/>
            <a:ext cx="0" cy="164592"/>
          </a:xfrm>
          <a:prstGeom prst="line">
            <a:avLst/>
          </a:prstGeom>
          <a:noFill/>
          <a:ln w="19050">
            <a:solidFill>
              <a:srgbClr val="8250DF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>
            <a:off x="10058400" y="4251960"/>
            <a:ext cx="1554480" cy="1005840"/>
          </a:xfrm>
          <a:prstGeom prst="roundRect">
            <a:avLst>
              <a:gd name="adj" fmla="val 8182"/>
            </a:avLst>
          </a:prstGeom>
          <a:solidFill>
            <a:srgbClr val="F6F8FA"/>
          </a:solidFill>
          <a:ln/>
        </p:spPr>
      </p:sp>
      <p:pic>
        <p:nvPicPr>
          <p:cNvPr id="41" name="Image 5" descr="/home/claude/gitgithub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904" y="4361688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0104120" y="47274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user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&amp; Setup Akun GitHub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awal sebelum bisa menyimpan proyek apa pun di GitHub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688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17520" y="1938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github.com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017520" y="22585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"Sign up" di halaman utama GitHub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468880" y="2834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0175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data pendaftaran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01752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Masukkan email, buat username unik, dan password yang kuat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68880" y="3703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17520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email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3017520" y="3995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inbox, klik tautan verifikasi yang dikirim GitHub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017520" y="4544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Lengkapi profil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3017520" y="4864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foto, nama lengkap, dan bio singkat di halaman profil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778240" y="1965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</p:sp>
      <p:pic>
        <p:nvPicPr>
          <p:cNvPr id="35" name="Image 1" descr="/home/claude/gitgithub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240280"/>
            <a:ext cx="365760" cy="36576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05256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Praktis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9052560" y="3154680"/>
            <a:ext cx="91440" cy="914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38" name="Text 34"/>
          <p:cNvSpPr/>
          <p:nvPr/>
        </p:nvSpPr>
        <p:spPr>
          <a:xfrm>
            <a:off x="9253728" y="303580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username yang profesional — akan tampak di URL profil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9052560" y="4023360"/>
            <a:ext cx="91440" cy="914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0" name="Text 36"/>
          <p:cNvSpPr/>
          <p:nvPr/>
        </p:nvSpPr>
        <p:spPr>
          <a:xfrm>
            <a:off x="9253728" y="390448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Two-Factor Authentication (2FA) untuk keamanan akun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9052560" y="4892040"/>
            <a:ext cx="91440" cy="91440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2" name="Text 38"/>
          <p:cNvSpPr/>
          <p:nvPr/>
        </p:nvSpPr>
        <p:spPr>
          <a:xfrm>
            <a:off x="9253728" y="4773168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paket Free — sudah cukup untuk belajar dan proyek pribadi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folder_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Repository Baru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adalah "rumah" tempat proyek kita disimpan di GitHub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688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17520" y="1938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tombol "New"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017520" y="22585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dashboard GitHub, pilih ikon + lalu "New repository"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468880" y="2834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0175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 nama repository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01752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nama singkat dan deskriptif, misalnya tugas-embs4321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68880" y="3703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17520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 visibilitas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3017520" y="3995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Public (terbuka untuk umum) atau Private (terbatas)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017520" y="4544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Inisialisasi proyek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3017520" y="4864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"Add a README file" agar repository langsung berisi dokumen awal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778240" y="1965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1B1F23"/>
          </a:solidFill>
          <a:ln/>
        </p:spPr>
      </p:sp>
      <p:pic>
        <p:nvPicPr>
          <p:cNvPr id="35" name="Image 1" descr="/home/claude/gitgithub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212848"/>
            <a:ext cx="329184" cy="32918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464040" y="221284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repository-saya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9052560" y="2651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D333B"/>
          </a:solidFill>
          <a:ln/>
        </p:spPr>
      </p:sp>
      <p:sp>
        <p:nvSpPr>
          <p:cNvPr id="38" name="Text 34"/>
          <p:cNvSpPr/>
          <p:nvPr/>
        </p:nvSpPr>
        <p:spPr>
          <a:xfrm>
            <a:off x="9052560" y="2651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9052560" y="3154680"/>
            <a:ext cx="219456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05256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README.md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9052560" y="36667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.gitignore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9052560" y="3995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index.html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9052560" y="4325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src/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9052560" y="4846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siap digunakan setelah dibuat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down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Repository ke Komputer Lokal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repository dari GitHub agar bisa dikerjakan secara offline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688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17520" y="1938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Salin URL repository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017520" y="22585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hijau "Code" di halaman repository, salin URL HTTPS-nya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468880" y="2834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0175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terminal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01752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Arahkan ke folder tempat proyek ingin disimpan di komputer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68880" y="3703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17520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git clone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3017520" y="3995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Tempel URL setelah perintah git clone lalu tekan Enter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017520" y="4544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ke folder proyek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3017520" y="4864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cd nama-repository untuk mulai bekerja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778240" y="1965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1B1F23"/>
          </a:solidFill>
          <a:ln/>
        </p:spPr>
      </p:sp>
      <p:sp>
        <p:nvSpPr>
          <p:cNvPr id="35" name="Text 32"/>
          <p:cNvSpPr/>
          <p:nvPr/>
        </p:nvSpPr>
        <p:spPr>
          <a:xfrm>
            <a:off x="90525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052560" y="256032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user/repo.git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'repo'...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repo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&amp; Push Perubahan Pertama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perubahan dari komputer lokal ke repository GitHub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688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17520" y="1938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atau tambah file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017520" y="22585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perubahan pada proyek di folder lokal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468880" y="2834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0175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301752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Menandai file yang berubah untuk masuk staging area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68880" y="3703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17520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-m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3017520" y="3995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perubahan dengan pesan yang jelas dan deskriptif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017520" y="4544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origin main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3017520" y="4864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Mengunggah commit dari lokal ke repository di GitHub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778240" y="1965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1B1F23"/>
          </a:solidFill>
          <a:ln/>
        </p:spPr>
      </p:sp>
      <p:sp>
        <p:nvSpPr>
          <p:cNvPr id="35" name="Text 32"/>
          <p:cNvSpPr/>
          <p:nvPr/>
        </p:nvSpPr>
        <p:spPr>
          <a:xfrm>
            <a:off x="90525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052560" y="256032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\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"update tugas modul 1"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0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main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DBA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Enumerating objects...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-&gt; main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pull_requ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Branching &amp; Pull Request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aman mengembangkan fitur baru tanpa mengganggu kode utama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19659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19" name="Text 16"/>
          <p:cNvSpPr/>
          <p:nvPr/>
        </p:nvSpPr>
        <p:spPr>
          <a:xfrm>
            <a:off x="246888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017520" y="193852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checkout -b fitur-baru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017520" y="22585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dan berpindah ke branch baru untuk mengerjakan fitur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468880" y="28346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0175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branch ke GitHub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017520" y="31272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origin fitur-baru mengunggah branch ke GitHub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468880" y="3703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017520" y="367588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Pull Request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017520" y="39959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"Compare &amp; pull request" untuk mengajukan penggabungan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2468880" y="45720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DE7FB"/>
          </a:solidFill>
          <a:ln/>
        </p:spPr>
      </p:sp>
      <p:sp>
        <p:nvSpPr>
          <p:cNvPr id="31" name="Text 28"/>
          <p:cNvSpPr/>
          <p:nvPr/>
        </p:nvSpPr>
        <p:spPr>
          <a:xfrm>
            <a:off x="246888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5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3017520" y="45445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Merge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017520" y="48646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Rekan tim meninjau kode, lalu klik "Merge pull request"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778240" y="1965960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F6F8FA"/>
          </a:solidFill>
          <a:ln/>
        </p:spPr>
      </p:sp>
      <p:sp>
        <p:nvSpPr>
          <p:cNvPr id="35" name="Shape 32"/>
          <p:cNvSpPr/>
          <p:nvPr/>
        </p:nvSpPr>
        <p:spPr>
          <a:xfrm>
            <a:off x="9006840" y="2651760"/>
            <a:ext cx="2286000" cy="0"/>
          </a:xfrm>
          <a:prstGeom prst="line">
            <a:avLst/>
          </a:prstGeom>
          <a:noFill/>
          <a:ln w="31750">
            <a:solidFill>
              <a:srgbClr val="1B1F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00684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951976" y="2596896"/>
            <a:ext cx="109728" cy="109728"/>
          </a:xfrm>
          <a:prstGeom prst="ellipse">
            <a:avLst/>
          </a:prstGeom>
          <a:solidFill>
            <a:srgbClr val="1B1F23"/>
          </a:solidFill>
          <a:ln/>
        </p:spPr>
      </p:sp>
      <p:sp>
        <p:nvSpPr>
          <p:cNvPr id="38" name="Shape 35"/>
          <p:cNvSpPr/>
          <p:nvPr/>
        </p:nvSpPr>
        <p:spPr>
          <a:xfrm>
            <a:off x="9637776" y="2596896"/>
            <a:ext cx="109728" cy="109728"/>
          </a:xfrm>
          <a:prstGeom prst="ellipse">
            <a:avLst/>
          </a:prstGeom>
          <a:solidFill>
            <a:srgbClr val="1B1F23"/>
          </a:solidFill>
          <a:ln/>
        </p:spPr>
      </p:sp>
      <p:sp>
        <p:nvSpPr>
          <p:cNvPr id="39" name="Shape 36"/>
          <p:cNvSpPr/>
          <p:nvPr/>
        </p:nvSpPr>
        <p:spPr>
          <a:xfrm>
            <a:off x="11237976" y="2596896"/>
            <a:ext cx="109728" cy="109728"/>
          </a:xfrm>
          <a:prstGeom prst="ellipse">
            <a:avLst/>
          </a:prstGeom>
          <a:solidFill>
            <a:srgbClr val="1B1F23"/>
          </a:solidFill>
          <a:ln/>
        </p:spPr>
      </p:sp>
      <p:sp>
        <p:nvSpPr>
          <p:cNvPr id="40" name="Shape 37"/>
          <p:cNvSpPr/>
          <p:nvPr/>
        </p:nvSpPr>
        <p:spPr>
          <a:xfrm>
            <a:off x="9692640" y="2651760"/>
            <a:ext cx="0" cy="1280160"/>
          </a:xfrm>
          <a:prstGeom prst="line">
            <a:avLst/>
          </a:prstGeom>
          <a:noFill/>
          <a:ln w="25400">
            <a:solidFill>
              <a:srgbClr val="8250DF"/>
            </a:solidFill>
            <a:prstDash val="dash"/>
          </a:ln>
        </p:spPr>
      </p:sp>
      <p:sp>
        <p:nvSpPr>
          <p:cNvPr id="41" name="Shape 38"/>
          <p:cNvSpPr/>
          <p:nvPr/>
        </p:nvSpPr>
        <p:spPr>
          <a:xfrm>
            <a:off x="9692640" y="3931920"/>
            <a:ext cx="1600200" cy="0"/>
          </a:xfrm>
          <a:prstGeom prst="line">
            <a:avLst/>
          </a:prstGeom>
          <a:noFill/>
          <a:ln w="31750">
            <a:solidFill>
              <a:srgbClr val="8250D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738360" y="4023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fitur-baru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9637776" y="387705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4" name="Shape 41"/>
          <p:cNvSpPr/>
          <p:nvPr/>
        </p:nvSpPr>
        <p:spPr>
          <a:xfrm>
            <a:off x="10460736" y="387705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5" name="Shape 42"/>
          <p:cNvSpPr/>
          <p:nvPr/>
        </p:nvSpPr>
        <p:spPr>
          <a:xfrm>
            <a:off x="11237976" y="3877056"/>
            <a:ext cx="109728" cy="109728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6" name="Shape 43"/>
          <p:cNvSpPr/>
          <p:nvPr/>
        </p:nvSpPr>
        <p:spPr>
          <a:xfrm>
            <a:off x="11292840" y="3931920"/>
            <a:ext cx="0" cy="-1280160"/>
          </a:xfrm>
          <a:prstGeom prst="line">
            <a:avLst/>
          </a:prstGeom>
          <a:noFill/>
          <a:ln w="25400">
            <a:solidFill>
              <a:srgbClr val="2DA44E"/>
            </a:solidFill>
            <a:prstDash val="dash"/>
            <a:tailEnd type="triangle"/>
          </a:ln>
        </p:spPr>
      </p:sp>
      <p:sp>
        <p:nvSpPr>
          <p:cNvPr id="47" name="Text 44"/>
          <p:cNvSpPr/>
          <p:nvPr/>
        </p:nvSpPr>
        <p:spPr>
          <a:xfrm>
            <a:off x="9006840" y="4709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menggabungkan branch fitur ke main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1B1F23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0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B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51460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7" name="Image 0" descr="/home/claude/gitgithub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724912"/>
            <a:ext cx="356616" cy="3566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3749040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" y="4041648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4334256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" y="4626864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2" name="Shape 9"/>
          <p:cNvSpPr/>
          <p:nvPr/>
        </p:nvSpPr>
        <p:spPr>
          <a:xfrm>
            <a:off x="384048" y="4919472"/>
            <a:ext cx="109728" cy="109728"/>
          </a:xfrm>
          <a:prstGeom prst="ellipse">
            <a:avLst/>
          </a:prstGeom>
          <a:solidFill>
            <a:srgbClr val="2D333B"/>
          </a:solidFill>
          <a:ln/>
        </p:spPr>
      </p:sp>
      <p:sp>
        <p:nvSpPr>
          <p:cNvPr id="13" name="Shape 10"/>
          <p:cNvSpPr/>
          <p:nvPr/>
        </p:nvSpPr>
        <p:spPr>
          <a:xfrm>
            <a:off x="384048" y="5212080"/>
            <a:ext cx="146304" cy="146304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14" name="Shape 11"/>
          <p:cNvSpPr/>
          <p:nvPr/>
        </p:nvSpPr>
        <p:spPr>
          <a:xfrm>
            <a:off x="246888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868680"/>
            <a:ext cx="9052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Kolaborasi dalam Tim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468880" y="14173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GitHub yang mendukung kerja sama lintas anggota atau kontributor luar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68880" y="201168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F6F8FA"/>
          </a:solidFill>
          <a:ln/>
        </p:spPr>
      </p:sp>
      <p:sp>
        <p:nvSpPr>
          <p:cNvPr id="19" name="Shape 16"/>
          <p:cNvSpPr/>
          <p:nvPr/>
        </p:nvSpPr>
        <p:spPr>
          <a:xfrm>
            <a:off x="2724912" y="2286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0" name="Image 1" descr="/home/claude/gitgithub/icons/f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432304"/>
            <a:ext cx="301752" cy="30175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24912" y="301752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2724912" y="3429000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Menyalin repository orang lain ke akun sendiri untuk dikembangkan secara independen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623560" y="201168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F6F8FA"/>
          </a:solidFill>
          <a:ln/>
        </p:spPr>
      </p:sp>
      <p:sp>
        <p:nvSpPr>
          <p:cNvPr id="24" name="Shape 20"/>
          <p:cNvSpPr/>
          <p:nvPr/>
        </p:nvSpPr>
        <p:spPr>
          <a:xfrm>
            <a:off x="5879592" y="2286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25" name="Image 2" descr="/home/claude/gitgithub/icons/com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43230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879592" y="301752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5879592" y="3429000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Melacak tugas, bug, atau ide diskusi dalam repository secara terstruktur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778240" y="201168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F6F8FA"/>
          </a:solidFill>
          <a:ln/>
        </p:spPr>
      </p:sp>
      <p:sp>
        <p:nvSpPr>
          <p:cNvPr id="29" name="Shape 24"/>
          <p:cNvSpPr/>
          <p:nvPr/>
        </p:nvSpPr>
        <p:spPr>
          <a:xfrm>
            <a:off x="9034272" y="2286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30" name="Image 3" descr="/home/claude/gitgithub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32304"/>
            <a:ext cx="301752" cy="30175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34272" y="301752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</a:t>
            </a:r>
            <a:endParaRPr lang="en-US" sz="1550" dirty="0"/>
          </a:p>
        </p:txBody>
      </p:sp>
      <p:sp>
        <p:nvSpPr>
          <p:cNvPr id="32" name="Text 26"/>
          <p:cNvSpPr/>
          <p:nvPr/>
        </p:nvSpPr>
        <p:spPr>
          <a:xfrm>
            <a:off x="9034272" y="3429000"/>
            <a:ext cx="24140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tim memberi komentar dan saran sebelum kode digabungkan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468880" y="57150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Fork, Pull Request, Issue, dan Code Review inilah yang membuat GitHub menjadi standar kolaborasi tim developer di seluruh dunia.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GitHub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PELENGKAP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Tambahan &amp; Praktik Baik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TAMBAHAN GITHUB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/>
        </p:spPr>
      </p:sp>
      <p:pic>
        <p:nvPicPr>
          <p:cNvPr id="7" name="Image 0" descr="/home/claude/gitgithub/icons/file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5856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6517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297180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deskripsi proyek yang tampil di halaman utama repository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355848" y="20574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/>
        </p:spPr>
      </p:sp>
      <p:pic>
        <p:nvPicPr>
          <p:cNvPr id="11" name="Image 1" descr="/home/claude/gitgithub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22585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6517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57016" y="297180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file/folder yang tidak perlu diunggah ke repository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6163056" y="20574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/>
        </p:spPr>
      </p:sp>
      <p:pic>
        <p:nvPicPr>
          <p:cNvPr id="15" name="Image 2" descr="/home/claude/gitgithub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225856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64224" y="26517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64224" y="297180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Menghosting website statis langsung dari repository secara gratis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8970264" y="20574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/>
        </p:spPr>
      </p:sp>
      <p:pic>
        <p:nvPicPr>
          <p:cNvPr id="19" name="Image 3" descr="/home/claude/gitgithub/icons/ge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432" y="2258568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71432" y="2651760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9171432" y="297180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proses seperti testing dan deployment (CI/CD)</a:t>
            </a:r>
            <a:endParaRPr lang="en-US" sz="980" dirty="0"/>
          </a:p>
        </p:txBody>
      </p:sp>
      <p:sp>
        <p:nvSpPr>
          <p:cNvPr id="22" name="Text 16"/>
          <p:cNvSpPr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BAIK MENGGUNAKAN GIT &amp; GITHUB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507992"/>
            <a:ext cx="292608" cy="292608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24" name="Image 4" descr="/home/claude/gitgithub/icons/check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4562856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0120" y="44348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pesan commit yang jelas dan deskriptif, bukan "update" saja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217920" y="4507992"/>
            <a:ext cx="292608" cy="292608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27" name="Image 5" descr="/home/claude/gitgithub/icons/check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45628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629400" y="443484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secara rutin dengan perubahan kecil, jangan menumpuk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548640" y="5285232"/>
            <a:ext cx="292608" cy="292608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30" name="Image 6" descr="/home/claude/gitgithub/icons/check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5340096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60120" y="52120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branch terpisah untuk setiap fitur atau perbaikan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217920" y="5285232"/>
            <a:ext cx="292608" cy="292608"/>
          </a:xfrm>
          <a:prstGeom prst="ellipse">
            <a:avLst/>
          </a:prstGeom>
          <a:solidFill>
            <a:srgbClr val="EDE7FB"/>
          </a:solidFill>
          <a:ln/>
        </p:spPr>
      </p:sp>
      <p:pic>
        <p:nvPicPr>
          <p:cNvPr id="33" name="Image 7" descr="/home/claude/gitgithub/icons/check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5340096"/>
            <a:ext cx="182880" cy="18288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629400" y="52120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git pull sebelum mulai bekerja agar kode tetap terbaru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8250D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108960" cy="3108960"/>
          </a:xfrm>
          <a:prstGeom prst="ellipse">
            <a:avLst/>
          </a:prstGeom>
          <a:solidFill>
            <a:srgbClr val="8250D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8250D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&amp; GitHub, Kunci Kolaborasi Modern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8" name="Image 0" descr="/home/claude/gitgithub/icons/gi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039112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93852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4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mencatat riwayat perubahan proyek secara lokal dan aman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1" name="Image 1" descr="/home/claude/gitgithub/icons/github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8163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7157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4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wadah kolaborasi tim secara online melalui repository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D333B"/>
          </a:solidFill>
          <a:ln w="12700">
            <a:solidFill>
              <a:srgbClr val="8250DF"/>
            </a:solidFill>
            <a:prstDash val="solid"/>
          </a:ln>
        </p:spPr>
      </p:sp>
      <p:pic>
        <p:nvPicPr>
          <p:cNvPr id="14" name="Image 2" descr="/home/claude/gitgithub/icons/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59359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4930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 </a:t>
            </a:r>
            <a:pPr indent="0" marL="0">
              <a:buNone/>
            </a:pPr>
            <a:r>
              <a:rPr lang="en-US" sz="1450" dirty="0">
                <a:solidFill>
                  <a:srgbClr val="F0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 → repository → clone → commit/push → branch → pull request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10332720" cy="0"/>
          </a:xfrm>
          <a:prstGeom prst="line">
            <a:avLst/>
          </a:prstGeom>
          <a:noFill/>
          <a:ln w="12700">
            <a:solidFill>
              <a:srgbClr val="2D333B"/>
            </a:solidFill>
            <a:prstDash val="solid"/>
          </a:ln>
        </p:spPr>
      </p:sp>
      <p:pic>
        <p:nvPicPr>
          <p:cNvPr id="17" name="Image 3" descr="/home/claude/gitgithub/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709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 — Selamat Berkolaborasi di GitHub!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2026-09-01T04:35:04Z</dcterms:created>
  <dcterms:modified xsi:type="dcterms:W3CDTF">2026-09-01T04:35:04Z</dcterms:modified>
</cp:coreProperties>
</file>