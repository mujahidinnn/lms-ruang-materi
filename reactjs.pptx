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pembuka. Sampaikan tujuan presentasi: memahami React dari konsep dasar, komponen, state &amp; hooks, sampai membangun dan men-deploy aplikasi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presentasi: dimulai dari teori dasar, lalu praktik komponen dan hooks, dilanjutkan pembangunan aplikasi, dan diakhiri dengan deployment serta roadmap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React hanya menangani UI. Untuk routing, HTTP, atau state global, React memakai pustaka pendukung dari ekosistemnya.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Sorot 2019 sebagai titik balik: setelah Hooks, hampir semua materi dan proyek baru menggunakan function component, bukan class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dengan kebutuhan nyata: proyek besar butuh kode yang dapat dipakai ulang, tim yang mudah kolaborasi, dan performa yang terjaga.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Hindari framing 'mana yang terbaik'. Tekankan konteks pemilihan teknologi: kebutuhan proyek, keahlian tim, dan dukungan jangka panjang.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React inti sengaja dibuat minimal. Kekuatannya justru pada ekosistem: kita memilih pustaka sesuai kebutuhan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Virtual DOM seperti membuat draf perubahan di kertas dulu, baru mengeksekusi perubahan final ke dokumen asli sekali 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bahwa jumlah baris kode React lebih sedikit dan tidak ada manipulasi DOM manual sama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Demonstrasikan langsung pembuatan proyek jika memungkinkan. Tunjukkan hot reload saat file diubah.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folder tidak dipaksakan React. Yang penting konsisten dan mudah dipahami seluruh anggota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JSX bukan HTML dan bukan string. JSX adalah gula sintaks yang dikompilasi menjadi objek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JSX paling sering pada pemula: lupa membungkus dengan satu elemen induk dan masih menulis class alih-alih className.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Analogikan komponen dengan LEGO: potongan kecil yang disusun menjadi bentuk besar. Class component masih ada di kode lama, tetapi function component adalah standar saat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Props seperti parameter fungsi. Ubah nilainya, tampilan ikut berubah, tanpa perlu menulis ulang komponen.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Demokan efek salah key: hapus item pertama dengan key indeks, maka input di baris lain bisa tertukar 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teknik ini mencakup hampir semua kebutuhan percabangan tampilan pada aplikasi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di React bernama camelCase dan menerima fungsi, bukan string seperti pada HTML biasa.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props (dari luar, tidak boleh diubah) dengan state (milik sendiri, boleh diubah lewat fungsi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efek samping: memanggil API, mengatur timer, mengakses localStorage, atau mengubah judul dokumen.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bukan pengganti Redux untuk state kompleks. Untuk data yang sering berubah, context bisa memicu render ulang berlebihan.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Panduan praktis: mulai dengan useState. Pindah ke useReducer bila logika percabangan state sudah berulang dan rumit.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Prinsipnya: optimasi dilakukan setelah pengukuran, bukan sejak awal. Optimasi prematur membuat kode rumit tanpa manfaat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hook hanyalah fungsi JavaScript biasa yang memanggil hook lain. Inilah cara React membagikan logika, menggantikan pola HOC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mengenali state berdasarkan urutan pemanggilan hook. Bila urutannya berubah antar render, state bisa tertukar dan aplikasi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e.preventDefault() agar halaman tidak reload, dan spread operator agar field lain tidak hilang saat state diperbarui.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ini menjaga aliran data tetap satu arah dan mudah dilacak. Bila state harus dibagi terlalu jauh, barulah gunakan Context atau state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penanganan loading dan error. Aplikasi yang baik selalu memberi umpan balik kepada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perbedaan tag &lt;a&gt; yang memuat ulang halaman dengan &lt;Link&gt; yang hanya mengganti komponen.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proyek terlalu cepat memakai Redux. Untuk data server, TanStack Query sering kali sudah cukup.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pilihan yang mutlak benar. Yang penting satu proyek konsisten memakai satu pendekatan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utama: optimasi berbasis pengukuran. Perbaiki bagian yang terbukti lambat, bukan menebak-nebak.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Pengujian menjaga aplikasi tetap aman saat kode dirombak. Mulailah dari komponen yang paling kritis. Perbanyak pengujian unit karena cepat dan murah; pengujian end-to-end secukupnya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alur nyata: push ke GitHub, hubungkan ke Vercel, lalu setiap commit baru otomatis ter-deploy.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dibangun di atas React, sehingga seluruh materi komponen dan hooks tetap berlaku.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 ini membuat proyek tetap sehat saat kode bertambah besar dan anggota tim berganti.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Bahas satu per satu dengan contoh nyata. Ini adalah daftar penyebab bug paling sering pada proyek pemula.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kecil ini merangkum hampir seluruh konsep dasar: state, event, form terkendali, rendering daftar, dan immutability.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Dorong peserta membuat proyek kecil setiap tahap. Menonton tutorial saja tidak cukup untuk menguasai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Ulangi enam poin ini sebagai penutup. Jika peserta hanya mengingat satu hal, pastikan itu adalah konsep komponen dan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dokumentasi resmi sebagai rujukan utama karena selalu diperbarui, lalu latihan mandiri dengan proyek kecil.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mengajak peserta langsung membuat proyek pertama setelah sesi ini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slideLayout" Target="../slideLayouts/slideLayout1.xml"/><Relationship Id="rId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32A"/>
        </a:solidFill>
      </p:bgPr>
    </p:bg>
    <p:spTree>
      <p:nvGrpSpPr>
        <p:cNvPr id="1" name=""/>
        <p:cNvGrpSpPr/>
        <p:nvPr/>
      </p:nvGrpSpPr>
      <p:grpSpPr>
        <a:xfrm>
          <a:off x="0" y="0"/>
          <a:ext cx="0" cy="0"/>
          <a:chOff x="0" y="0"/>
          <a:chExt cx="0" cy="0"/>
        </a:xfrm>
      </p:grpSpPr>
      <p:sp>
        <p:nvSpPr>
          <p:cNvPr id="2" name="Shape 0"/>
          <p:cNvSpPr/>
          <p:nvPr/>
        </p:nvSpPr>
        <p:spPr>
          <a:xfrm>
            <a:off x="7360920" y="1234440"/>
            <a:ext cx="4114800" cy="4114800"/>
          </a:xfrm>
          <a:prstGeom prst="ellipse">
            <a:avLst/>
          </a:prstGeom>
          <a:solidFill>
            <a:srgbClr val="272C36"/>
          </a:solidFill>
          <a:ln w="12700">
            <a:solidFill>
              <a:srgbClr val="272C36"/>
            </a:solidFill>
            <a:prstDash val="solid"/>
          </a:ln>
        </p:spPr>
      </p:sp>
      <p:pic>
        <p:nvPicPr>
          <p:cNvPr id="3" name="Image 0" descr="preencoded.png">    </p:cNvPr>
          <p:cNvPicPr>
            <a:picLocks noChangeAspect="1"/>
          </p:cNvPicPr>
          <p:nvPr/>
        </p:nvPicPr>
        <p:blipFill>
          <a:blip r:embed="rId1"/>
          <a:stretch>
            <a:fillRect/>
          </a:stretch>
        </p:blipFill>
        <p:spPr>
          <a:xfrm>
            <a:off x="8092440" y="1965960"/>
            <a:ext cx="2651760" cy="2651760"/>
          </a:xfrm>
          <a:prstGeom prst="rect">
            <a:avLst/>
          </a:prstGeom>
        </p:spPr>
      </p:pic>
      <p:sp>
        <p:nvSpPr>
          <p:cNvPr id="4" name="Text 1"/>
          <p:cNvSpPr txBox="1"/>
          <p:nvPr/>
        </p:nvSpPr>
        <p:spPr>
          <a:xfrm>
            <a:off x="822960" y="1600200"/>
            <a:ext cx="6035040" cy="274320"/>
          </a:xfrm>
          <a:prstGeom prst="rect">
            <a:avLst/>
          </a:prstGeom>
          <a:noFill/>
          <a:ln/>
        </p:spPr>
        <p:txBody>
          <a:bodyPr wrap="square" lIns="0" tIns="0" rIns="0" bIns="0" rtlCol="0" anchor="ctr"/>
          <a:lstStyle/>
          <a:p>
            <a:pPr indent="0" marL="0">
              <a:buNone/>
            </a:pPr>
            <a:r>
              <a:rPr lang="en-US" sz="1300" b="1" spc="240" kern="0" dirty="0">
                <a:solidFill>
                  <a:srgbClr val="61DAFB"/>
                </a:solidFill>
                <a:latin typeface="Calibri" pitchFamily="34" charset="0"/>
                <a:ea typeface="Calibri" pitchFamily="34" charset="-122"/>
                <a:cs typeface="Calibri" pitchFamily="34" charset="-120"/>
              </a:rPr>
              <a:t>MATERI PEMBELAJARAN</a:t>
            </a:r>
            <a:endParaRPr lang="en-US" sz="1300" dirty="0"/>
          </a:p>
        </p:txBody>
      </p:sp>
      <p:sp>
        <p:nvSpPr>
          <p:cNvPr id="5" name="Text 2"/>
          <p:cNvSpPr txBox="1"/>
          <p:nvPr/>
        </p:nvSpPr>
        <p:spPr>
          <a:xfrm>
            <a:off x="777240" y="1965960"/>
            <a:ext cx="6400800" cy="1188720"/>
          </a:xfrm>
          <a:prstGeom prst="rect">
            <a:avLst/>
          </a:prstGeom>
          <a:noFill/>
          <a:ln/>
        </p:spPr>
        <p:txBody>
          <a:bodyPr wrap="square" lIns="0" tIns="0" rIns="0" bIns="0" rtlCol="0" anchor="ctr"/>
          <a:lstStyle/>
          <a:p>
            <a:pPr indent="0" marL="0">
              <a:buNone/>
            </a:pPr>
            <a:r>
              <a:rPr lang="en-US" sz="7600" b="1" dirty="0">
                <a:solidFill>
                  <a:srgbClr val="FFFFFF"/>
                </a:solidFill>
                <a:latin typeface="Calibri" pitchFamily="34" charset="0"/>
                <a:ea typeface="Calibri" pitchFamily="34" charset="-122"/>
                <a:cs typeface="Calibri" pitchFamily="34" charset="-120"/>
              </a:rPr>
              <a:t>ReactJS</a:t>
            </a:r>
            <a:endParaRPr lang="en-US" sz="7600" dirty="0"/>
          </a:p>
        </p:txBody>
      </p:sp>
      <p:sp>
        <p:nvSpPr>
          <p:cNvPr id="6" name="Text 3"/>
          <p:cNvSpPr txBox="1"/>
          <p:nvPr/>
        </p:nvSpPr>
        <p:spPr>
          <a:xfrm>
            <a:off x="822960" y="3246120"/>
            <a:ext cx="6035040" cy="822960"/>
          </a:xfrm>
          <a:prstGeom prst="rect">
            <a:avLst/>
          </a:prstGeom>
          <a:noFill/>
          <a:ln/>
        </p:spPr>
        <p:txBody>
          <a:bodyPr wrap="square" lIns="0" tIns="0" rIns="0" bIns="0" rtlCol="0" anchor="t"/>
          <a:lstStyle/>
          <a:p>
            <a:pPr indent="0" marL="0">
              <a:lnSpc>
                <a:spcPct val="115000"/>
              </a:lnSpc>
              <a:buNone/>
            </a:pPr>
            <a:r>
              <a:rPr lang="en-US" sz="1700" dirty="0">
                <a:solidFill>
                  <a:srgbClr val="A9B4C2"/>
                </a:solidFill>
                <a:latin typeface="Calibri" pitchFamily="34" charset="0"/>
                <a:ea typeface="Calibri" pitchFamily="34" charset="-122"/>
                <a:cs typeface="Calibri" pitchFamily="34" charset="-120"/>
              </a:rPr>
              <a:t>Library JavaScript untuk membangun antarmuka pengguna (UI) yang modern, cepat, dan berbasis komponen.</a:t>
            </a:r>
            <a:endParaRPr lang="en-US" sz="1700" dirty="0"/>
          </a:p>
        </p:txBody>
      </p:sp>
      <p:sp>
        <p:nvSpPr>
          <p:cNvPr id="7" name="Shape 4"/>
          <p:cNvSpPr/>
          <p:nvPr/>
        </p:nvSpPr>
        <p:spPr>
          <a:xfrm>
            <a:off x="822960" y="4343400"/>
            <a:ext cx="1600200" cy="420624"/>
          </a:xfrm>
          <a:prstGeom prst="roundRect">
            <a:avLst>
              <a:gd name="adj" fmla="val 50000"/>
            </a:avLst>
          </a:prstGeom>
          <a:solidFill>
            <a:srgbClr val="2C313C"/>
          </a:solidFill>
          <a:ln w="12700">
            <a:solidFill>
              <a:srgbClr val="3C4552"/>
            </a:solidFill>
            <a:prstDash val="solid"/>
          </a:ln>
        </p:spPr>
      </p:sp>
      <p:sp>
        <p:nvSpPr>
          <p:cNvPr id="8" name="Text 5"/>
          <p:cNvSpPr txBox="1"/>
          <p:nvPr/>
        </p:nvSpPr>
        <p:spPr>
          <a:xfrm>
            <a:off x="822960" y="4343400"/>
            <a:ext cx="1600200" cy="420624"/>
          </a:xfrm>
          <a:prstGeom prst="rect">
            <a:avLst/>
          </a:prstGeom>
          <a:noFill/>
          <a:ln/>
        </p:spPr>
        <p:txBody>
          <a:bodyPr wrap="square" lIns="0" tIns="0" rIns="0" bIns="0" rtlCol="0" anchor="ctr"/>
          <a:lstStyle/>
          <a:p>
            <a:pPr algn="ctr" indent="0" marL="0">
              <a:buNone/>
            </a:pPr>
            <a:r>
              <a:rPr lang="en-US" sz="1150" dirty="0">
                <a:solidFill>
                  <a:srgbClr val="CFE9F5"/>
                </a:solidFill>
                <a:latin typeface="Calibri" pitchFamily="34" charset="0"/>
                <a:ea typeface="Calibri" pitchFamily="34" charset="-122"/>
                <a:cs typeface="Calibri" pitchFamily="34" charset="-120"/>
              </a:rPr>
              <a:t>Konsep Dasar</a:t>
            </a:r>
            <a:endParaRPr lang="en-US" sz="1150" dirty="0"/>
          </a:p>
        </p:txBody>
      </p:sp>
      <p:sp>
        <p:nvSpPr>
          <p:cNvPr id="9" name="Shape 6"/>
          <p:cNvSpPr/>
          <p:nvPr/>
        </p:nvSpPr>
        <p:spPr>
          <a:xfrm>
            <a:off x="2587752" y="4343400"/>
            <a:ext cx="2057400" cy="420624"/>
          </a:xfrm>
          <a:prstGeom prst="roundRect">
            <a:avLst>
              <a:gd name="adj" fmla="val 50000"/>
            </a:avLst>
          </a:prstGeom>
          <a:solidFill>
            <a:srgbClr val="2C313C"/>
          </a:solidFill>
          <a:ln w="12700">
            <a:solidFill>
              <a:srgbClr val="3C4552"/>
            </a:solidFill>
            <a:prstDash val="solid"/>
          </a:ln>
        </p:spPr>
      </p:sp>
      <p:sp>
        <p:nvSpPr>
          <p:cNvPr id="10" name="Text 7"/>
          <p:cNvSpPr txBox="1"/>
          <p:nvPr/>
        </p:nvSpPr>
        <p:spPr>
          <a:xfrm>
            <a:off x="2587752" y="4343400"/>
            <a:ext cx="2057400" cy="420624"/>
          </a:xfrm>
          <a:prstGeom prst="rect">
            <a:avLst/>
          </a:prstGeom>
          <a:noFill/>
          <a:ln/>
        </p:spPr>
        <p:txBody>
          <a:bodyPr wrap="square" lIns="0" tIns="0" rIns="0" bIns="0" rtlCol="0" anchor="ctr"/>
          <a:lstStyle/>
          <a:p>
            <a:pPr algn="ctr" indent="0" marL="0">
              <a:buNone/>
            </a:pPr>
            <a:r>
              <a:rPr lang="en-US" sz="1150" dirty="0">
                <a:solidFill>
                  <a:srgbClr val="CFE9F5"/>
                </a:solidFill>
                <a:latin typeface="Calibri" pitchFamily="34" charset="0"/>
                <a:ea typeface="Calibri" pitchFamily="34" charset="-122"/>
                <a:cs typeface="Calibri" pitchFamily="34" charset="-120"/>
              </a:rPr>
              <a:t>Komponen &amp; Props</a:t>
            </a:r>
            <a:endParaRPr lang="en-US" sz="1150" dirty="0"/>
          </a:p>
        </p:txBody>
      </p:sp>
      <p:sp>
        <p:nvSpPr>
          <p:cNvPr id="11" name="Shape 8"/>
          <p:cNvSpPr/>
          <p:nvPr/>
        </p:nvSpPr>
        <p:spPr>
          <a:xfrm>
            <a:off x="4809744" y="4343400"/>
            <a:ext cx="1828800" cy="420624"/>
          </a:xfrm>
          <a:prstGeom prst="roundRect">
            <a:avLst>
              <a:gd name="adj" fmla="val 50000"/>
            </a:avLst>
          </a:prstGeom>
          <a:solidFill>
            <a:srgbClr val="2C313C"/>
          </a:solidFill>
          <a:ln w="12700">
            <a:solidFill>
              <a:srgbClr val="3C4552"/>
            </a:solidFill>
            <a:prstDash val="solid"/>
          </a:ln>
        </p:spPr>
      </p:sp>
      <p:sp>
        <p:nvSpPr>
          <p:cNvPr id="12" name="Text 9"/>
          <p:cNvSpPr txBox="1"/>
          <p:nvPr/>
        </p:nvSpPr>
        <p:spPr>
          <a:xfrm>
            <a:off x="4809744" y="4343400"/>
            <a:ext cx="1828800" cy="420624"/>
          </a:xfrm>
          <a:prstGeom prst="rect">
            <a:avLst/>
          </a:prstGeom>
          <a:noFill/>
          <a:ln/>
        </p:spPr>
        <p:txBody>
          <a:bodyPr wrap="square" lIns="0" tIns="0" rIns="0" bIns="0" rtlCol="0" anchor="ctr"/>
          <a:lstStyle/>
          <a:p>
            <a:pPr algn="ctr" indent="0" marL="0">
              <a:buNone/>
            </a:pPr>
            <a:r>
              <a:rPr lang="en-US" sz="1150" dirty="0">
                <a:solidFill>
                  <a:srgbClr val="CFE9F5"/>
                </a:solidFill>
                <a:latin typeface="Calibri" pitchFamily="34" charset="0"/>
                <a:ea typeface="Calibri" pitchFamily="34" charset="-122"/>
                <a:cs typeface="Calibri" pitchFamily="34" charset="-120"/>
              </a:rPr>
              <a:t>State &amp; Hooks</a:t>
            </a:r>
            <a:endParaRPr lang="en-US" sz="1150" dirty="0"/>
          </a:p>
        </p:txBody>
      </p:sp>
      <p:sp>
        <p:nvSpPr>
          <p:cNvPr id="13" name="Shape 10"/>
          <p:cNvSpPr/>
          <p:nvPr/>
        </p:nvSpPr>
        <p:spPr>
          <a:xfrm>
            <a:off x="6803136" y="4343400"/>
            <a:ext cx="2194560" cy="420624"/>
          </a:xfrm>
          <a:prstGeom prst="roundRect">
            <a:avLst>
              <a:gd name="adj" fmla="val 50000"/>
            </a:avLst>
          </a:prstGeom>
          <a:solidFill>
            <a:srgbClr val="2C313C"/>
          </a:solidFill>
          <a:ln w="12700">
            <a:solidFill>
              <a:srgbClr val="3C4552"/>
            </a:solidFill>
            <a:prstDash val="solid"/>
          </a:ln>
        </p:spPr>
      </p:sp>
      <p:sp>
        <p:nvSpPr>
          <p:cNvPr id="14" name="Text 11"/>
          <p:cNvSpPr txBox="1"/>
          <p:nvPr/>
        </p:nvSpPr>
        <p:spPr>
          <a:xfrm>
            <a:off x="6803136" y="4343400"/>
            <a:ext cx="2194560" cy="420624"/>
          </a:xfrm>
          <a:prstGeom prst="rect">
            <a:avLst/>
          </a:prstGeom>
          <a:noFill/>
          <a:ln/>
        </p:spPr>
        <p:txBody>
          <a:bodyPr wrap="square" lIns="0" tIns="0" rIns="0" bIns="0" rtlCol="0" anchor="ctr"/>
          <a:lstStyle/>
          <a:p>
            <a:pPr algn="ctr" indent="0" marL="0">
              <a:buNone/>
            </a:pPr>
            <a:r>
              <a:rPr lang="en-US" sz="1150" dirty="0">
                <a:solidFill>
                  <a:srgbClr val="CFE9F5"/>
                </a:solidFill>
                <a:latin typeface="Calibri" pitchFamily="34" charset="0"/>
                <a:ea typeface="Calibri" pitchFamily="34" charset="-122"/>
                <a:cs typeface="Calibri" pitchFamily="34" charset="-120"/>
              </a:rPr>
              <a:t>Ekosistem &amp; Deploy</a:t>
            </a:r>
            <a:endParaRPr lang="en-US" sz="1150" dirty="0"/>
          </a:p>
        </p:txBody>
      </p:sp>
      <p:sp>
        <p:nvSpPr>
          <p:cNvPr id="15" name="Text 12"/>
          <p:cNvSpPr txBox="1"/>
          <p:nvPr/>
        </p:nvSpPr>
        <p:spPr>
          <a:xfrm>
            <a:off x="822960" y="5623560"/>
            <a:ext cx="8229600" cy="320040"/>
          </a:xfrm>
          <a:prstGeom prst="rect">
            <a:avLst/>
          </a:prstGeom>
          <a:noFill/>
          <a:ln/>
        </p:spPr>
        <p:txBody>
          <a:bodyPr wrap="square" lIns="0" tIns="0" rIns="0" bIns="0" rtlCol="0" anchor="ctr"/>
          <a:lstStyle/>
          <a:p>
            <a:pPr indent="0" marL="0">
              <a:buNone/>
            </a:pPr>
            <a:r>
              <a:rPr lang="en-US" sz="1200" dirty="0">
                <a:solidFill>
                  <a:srgbClr val="7C8797"/>
                </a:solidFill>
                <a:latin typeface="Calibri" pitchFamily="34" charset="0"/>
                <a:ea typeface="Calibri" pitchFamily="34" charset="-122"/>
                <a:cs typeface="Calibri" pitchFamily="34" charset="-120"/>
              </a:rPr>
              <a:t>Disusun sebagai bahan presentasi pembelajaran  •  Dasar hingga siap membangun aplikasi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Peta Materi</a:t>
            </a:r>
            <a:endParaRPr lang="en-US" sz="3200" dirty="0"/>
          </a:p>
        </p:txBody>
      </p:sp>
      <p:sp>
        <p:nvSpPr>
          <p:cNvPr id="4" name="Shape 2"/>
          <p:cNvSpPr/>
          <p:nvPr/>
        </p:nvSpPr>
        <p:spPr>
          <a:xfrm>
            <a:off x="548640" y="155448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792224"/>
            <a:ext cx="548640" cy="548640"/>
          </a:xfrm>
          <a:prstGeom prst="ellipse">
            <a:avLst/>
          </a:prstGeom>
          <a:solidFill>
            <a:srgbClr val="20232A"/>
          </a:solidFill>
          <a:ln w="12700">
            <a:solidFill>
              <a:srgbClr val="20232A"/>
            </a:solidFill>
            <a:prstDash val="solid"/>
          </a:ln>
        </p:spPr>
      </p:sp>
      <p:pic>
        <p:nvPicPr>
          <p:cNvPr id="6" name="Image 0" descr="preencoded.png">    </p:cNvPr>
          <p:cNvPicPr>
            <a:picLocks noChangeAspect="1"/>
          </p:cNvPicPr>
          <p:nvPr/>
        </p:nvPicPr>
        <p:blipFill>
          <a:blip r:embed="rId1"/>
          <a:stretch>
            <a:fillRect/>
          </a:stretch>
        </p:blipFill>
        <p:spPr>
          <a:xfrm>
            <a:off x="947318" y="1934870"/>
            <a:ext cx="263347" cy="263347"/>
          </a:xfrm>
          <a:prstGeom prst="rect">
            <a:avLst/>
          </a:prstGeom>
        </p:spPr>
      </p:pic>
      <p:sp>
        <p:nvSpPr>
          <p:cNvPr id="7" name="Text 4"/>
          <p:cNvSpPr txBox="1"/>
          <p:nvPr/>
        </p:nvSpPr>
        <p:spPr>
          <a:xfrm>
            <a:off x="3200400" y="182880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01</a:t>
            </a:r>
            <a:endParaRPr lang="en-US" sz="2200" dirty="0"/>
          </a:p>
        </p:txBody>
      </p:sp>
      <p:sp>
        <p:nvSpPr>
          <p:cNvPr id="8" name="Text 5"/>
          <p:cNvSpPr txBox="1"/>
          <p:nvPr/>
        </p:nvSpPr>
        <p:spPr>
          <a:xfrm>
            <a:off x="804672" y="246888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Pengenalan React</a:t>
            </a:r>
            <a:endParaRPr lang="en-US" sz="1600" dirty="0"/>
          </a:p>
        </p:txBody>
      </p:sp>
      <p:sp>
        <p:nvSpPr>
          <p:cNvPr id="9" name="Text 6"/>
          <p:cNvSpPr txBox="1"/>
          <p:nvPr/>
        </p:nvSpPr>
        <p:spPr>
          <a:xfrm>
            <a:off x="804672" y="279806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Definisi, sejarah, keunggulan, dan posisi React di antara framework lain.</a:t>
            </a:r>
            <a:endParaRPr lang="en-US" sz="1150" dirty="0"/>
          </a:p>
        </p:txBody>
      </p:sp>
      <p:sp>
        <p:nvSpPr>
          <p:cNvPr id="10" name="Shape 7"/>
          <p:cNvSpPr/>
          <p:nvPr/>
        </p:nvSpPr>
        <p:spPr>
          <a:xfrm>
            <a:off x="4379976" y="155448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Shape 8"/>
          <p:cNvSpPr/>
          <p:nvPr/>
        </p:nvSpPr>
        <p:spPr>
          <a:xfrm>
            <a:off x="4636008" y="1792224"/>
            <a:ext cx="548640" cy="548640"/>
          </a:xfrm>
          <a:prstGeom prst="ellipse">
            <a:avLst/>
          </a:prstGeom>
          <a:solidFill>
            <a:srgbClr val="20232A"/>
          </a:solidFill>
          <a:ln w="12700">
            <a:solidFill>
              <a:srgbClr val="20232A"/>
            </a:solidFill>
            <a:prstDash val="solid"/>
          </a:ln>
        </p:spPr>
      </p:sp>
      <p:pic>
        <p:nvPicPr>
          <p:cNvPr id="12" name="Image 1" descr="preencoded.png">    </p:cNvPr>
          <p:cNvPicPr>
            <a:picLocks noChangeAspect="1"/>
          </p:cNvPicPr>
          <p:nvPr/>
        </p:nvPicPr>
        <p:blipFill>
          <a:blip r:embed="rId2"/>
          <a:stretch>
            <a:fillRect/>
          </a:stretch>
        </p:blipFill>
        <p:spPr>
          <a:xfrm>
            <a:off x="4778654" y="1934870"/>
            <a:ext cx="263347" cy="263347"/>
          </a:xfrm>
          <a:prstGeom prst="rect">
            <a:avLst/>
          </a:prstGeom>
        </p:spPr>
      </p:pic>
      <p:sp>
        <p:nvSpPr>
          <p:cNvPr id="13" name="Text 9"/>
          <p:cNvSpPr txBox="1"/>
          <p:nvPr/>
        </p:nvSpPr>
        <p:spPr>
          <a:xfrm>
            <a:off x="7031736" y="182880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02</a:t>
            </a:r>
            <a:endParaRPr lang="en-US" sz="2200" dirty="0"/>
          </a:p>
        </p:txBody>
      </p:sp>
      <p:sp>
        <p:nvSpPr>
          <p:cNvPr id="14" name="Text 10"/>
          <p:cNvSpPr txBox="1"/>
          <p:nvPr/>
        </p:nvSpPr>
        <p:spPr>
          <a:xfrm>
            <a:off x="4636008" y="246888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Konsep Dasar</a:t>
            </a:r>
            <a:endParaRPr lang="en-US" sz="1600" dirty="0"/>
          </a:p>
        </p:txBody>
      </p:sp>
      <p:sp>
        <p:nvSpPr>
          <p:cNvPr id="15" name="Text 11"/>
          <p:cNvSpPr txBox="1"/>
          <p:nvPr/>
        </p:nvSpPr>
        <p:spPr>
          <a:xfrm>
            <a:off x="4636008" y="279806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Virtual DOM, JSX, komponen, props, rendering list, dan event.</a:t>
            </a:r>
            <a:endParaRPr lang="en-US" sz="1150" dirty="0"/>
          </a:p>
        </p:txBody>
      </p:sp>
      <p:sp>
        <p:nvSpPr>
          <p:cNvPr id="16" name="Shape 12"/>
          <p:cNvSpPr/>
          <p:nvPr/>
        </p:nvSpPr>
        <p:spPr>
          <a:xfrm>
            <a:off x="8211312" y="155448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7" name="Shape 13"/>
          <p:cNvSpPr/>
          <p:nvPr/>
        </p:nvSpPr>
        <p:spPr>
          <a:xfrm>
            <a:off x="8467344" y="1792224"/>
            <a:ext cx="548640" cy="548640"/>
          </a:xfrm>
          <a:prstGeom prst="ellipse">
            <a:avLst/>
          </a:prstGeom>
          <a:solidFill>
            <a:srgbClr val="20232A"/>
          </a:solidFill>
          <a:ln w="12700">
            <a:solidFill>
              <a:srgbClr val="20232A"/>
            </a:solidFill>
            <a:prstDash val="solid"/>
          </a:ln>
        </p:spPr>
      </p:sp>
      <p:pic>
        <p:nvPicPr>
          <p:cNvPr id="18" name="Image 2" descr="preencoded.png">    </p:cNvPr>
          <p:cNvPicPr>
            <a:picLocks noChangeAspect="1"/>
          </p:cNvPicPr>
          <p:nvPr/>
        </p:nvPicPr>
        <p:blipFill>
          <a:blip r:embed="rId3"/>
          <a:stretch>
            <a:fillRect/>
          </a:stretch>
        </p:blipFill>
        <p:spPr>
          <a:xfrm>
            <a:off x="8609990" y="1934870"/>
            <a:ext cx="263347" cy="263347"/>
          </a:xfrm>
          <a:prstGeom prst="rect">
            <a:avLst/>
          </a:prstGeom>
        </p:spPr>
      </p:pic>
      <p:sp>
        <p:nvSpPr>
          <p:cNvPr id="19" name="Text 14"/>
          <p:cNvSpPr txBox="1"/>
          <p:nvPr/>
        </p:nvSpPr>
        <p:spPr>
          <a:xfrm>
            <a:off x="10863072" y="182880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03</a:t>
            </a:r>
            <a:endParaRPr lang="en-US" sz="2200" dirty="0"/>
          </a:p>
        </p:txBody>
      </p:sp>
      <p:sp>
        <p:nvSpPr>
          <p:cNvPr id="20" name="Text 15"/>
          <p:cNvSpPr txBox="1"/>
          <p:nvPr/>
        </p:nvSpPr>
        <p:spPr>
          <a:xfrm>
            <a:off x="8467344" y="246888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State &amp; Hooks</a:t>
            </a:r>
            <a:endParaRPr lang="en-US" sz="1600" dirty="0"/>
          </a:p>
        </p:txBody>
      </p:sp>
      <p:sp>
        <p:nvSpPr>
          <p:cNvPr id="21" name="Text 16"/>
          <p:cNvSpPr txBox="1"/>
          <p:nvPr/>
        </p:nvSpPr>
        <p:spPr>
          <a:xfrm>
            <a:off x="8467344" y="279806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useState, useEffect, useContext, useRef, useReducer, dan custom hooks.</a:t>
            </a:r>
            <a:endParaRPr lang="en-US" sz="1150" dirty="0"/>
          </a:p>
        </p:txBody>
      </p:sp>
      <p:sp>
        <p:nvSpPr>
          <p:cNvPr id="22" name="Shape 17"/>
          <p:cNvSpPr/>
          <p:nvPr/>
        </p:nvSpPr>
        <p:spPr>
          <a:xfrm>
            <a:off x="548640" y="370332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3" name="Shape 18"/>
          <p:cNvSpPr/>
          <p:nvPr/>
        </p:nvSpPr>
        <p:spPr>
          <a:xfrm>
            <a:off x="804672" y="3941064"/>
            <a:ext cx="548640" cy="548640"/>
          </a:xfrm>
          <a:prstGeom prst="ellipse">
            <a:avLst/>
          </a:prstGeom>
          <a:solidFill>
            <a:srgbClr val="20232A"/>
          </a:solidFill>
          <a:ln w="12700">
            <a:solidFill>
              <a:srgbClr val="20232A"/>
            </a:solidFill>
            <a:prstDash val="solid"/>
          </a:ln>
        </p:spPr>
      </p:sp>
      <p:pic>
        <p:nvPicPr>
          <p:cNvPr id="24" name="Image 3" descr="preencoded.png">    </p:cNvPr>
          <p:cNvPicPr>
            <a:picLocks noChangeAspect="1"/>
          </p:cNvPicPr>
          <p:nvPr/>
        </p:nvPicPr>
        <p:blipFill>
          <a:blip r:embed="rId4"/>
          <a:stretch>
            <a:fillRect/>
          </a:stretch>
        </p:blipFill>
        <p:spPr>
          <a:xfrm>
            <a:off x="947318" y="4083710"/>
            <a:ext cx="263347" cy="263347"/>
          </a:xfrm>
          <a:prstGeom prst="rect">
            <a:avLst/>
          </a:prstGeom>
        </p:spPr>
      </p:pic>
      <p:sp>
        <p:nvSpPr>
          <p:cNvPr id="25" name="Text 19"/>
          <p:cNvSpPr txBox="1"/>
          <p:nvPr/>
        </p:nvSpPr>
        <p:spPr>
          <a:xfrm>
            <a:off x="3200400" y="397764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04</a:t>
            </a:r>
            <a:endParaRPr lang="en-US" sz="2200" dirty="0"/>
          </a:p>
        </p:txBody>
      </p:sp>
      <p:sp>
        <p:nvSpPr>
          <p:cNvPr id="26" name="Text 20"/>
          <p:cNvSpPr txBox="1"/>
          <p:nvPr/>
        </p:nvSpPr>
        <p:spPr>
          <a:xfrm>
            <a:off x="804672" y="461772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Membangun Aplikasi</a:t>
            </a:r>
            <a:endParaRPr lang="en-US" sz="1600" dirty="0"/>
          </a:p>
        </p:txBody>
      </p:sp>
      <p:sp>
        <p:nvSpPr>
          <p:cNvPr id="27" name="Text 21"/>
          <p:cNvSpPr txBox="1"/>
          <p:nvPr/>
        </p:nvSpPr>
        <p:spPr>
          <a:xfrm>
            <a:off x="804672" y="494690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Form, routing, fetching data, state management, dan styling.</a:t>
            </a:r>
            <a:endParaRPr lang="en-US" sz="1150" dirty="0"/>
          </a:p>
        </p:txBody>
      </p:sp>
      <p:sp>
        <p:nvSpPr>
          <p:cNvPr id="28" name="Shape 22"/>
          <p:cNvSpPr/>
          <p:nvPr/>
        </p:nvSpPr>
        <p:spPr>
          <a:xfrm>
            <a:off x="4379976" y="370332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9" name="Shape 23"/>
          <p:cNvSpPr/>
          <p:nvPr/>
        </p:nvSpPr>
        <p:spPr>
          <a:xfrm>
            <a:off x="4636008" y="3941064"/>
            <a:ext cx="548640" cy="548640"/>
          </a:xfrm>
          <a:prstGeom prst="ellipse">
            <a:avLst/>
          </a:prstGeom>
          <a:solidFill>
            <a:srgbClr val="20232A"/>
          </a:solidFill>
          <a:ln w="12700">
            <a:solidFill>
              <a:srgbClr val="20232A"/>
            </a:solidFill>
            <a:prstDash val="solid"/>
          </a:ln>
        </p:spPr>
      </p:sp>
      <p:pic>
        <p:nvPicPr>
          <p:cNvPr id="30" name="Image 4" descr="preencoded.png">    </p:cNvPr>
          <p:cNvPicPr>
            <a:picLocks noChangeAspect="1"/>
          </p:cNvPicPr>
          <p:nvPr/>
        </p:nvPicPr>
        <p:blipFill>
          <a:blip r:embed="rId5"/>
          <a:stretch>
            <a:fillRect/>
          </a:stretch>
        </p:blipFill>
        <p:spPr>
          <a:xfrm>
            <a:off x="4778654" y="4083710"/>
            <a:ext cx="263347" cy="263347"/>
          </a:xfrm>
          <a:prstGeom prst="rect">
            <a:avLst/>
          </a:prstGeom>
        </p:spPr>
      </p:pic>
      <p:sp>
        <p:nvSpPr>
          <p:cNvPr id="31" name="Text 24"/>
          <p:cNvSpPr txBox="1"/>
          <p:nvPr/>
        </p:nvSpPr>
        <p:spPr>
          <a:xfrm>
            <a:off x="7031736" y="397764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05</a:t>
            </a:r>
            <a:endParaRPr lang="en-US" sz="2200" dirty="0"/>
          </a:p>
        </p:txBody>
      </p:sp>
      <p:sp>
        <p:nvSpPr>
          <p:cNvPr id="32" name="Text 25"/>
          <p:cNvSpPr txBox="1"/>
          <p:nvPr/>
        </p:nvSpPr>
        <p:spPr>
          <a:xfrm>
            <a:off x="4636008" y="461772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Kualitas &amp; Deploy</a:t>
            </a:r>
            <a:endParaRPr lang="en-US" sz="1600" dirty="0"/>
          </a:p>
        </p:txBody>
      </p:sp>
      <p:sp>
        <p:nvSpPr>
          <p:cNvPr id="33" name="Text 26"/>
          <p:cNvSpPr txBox="1"/>
          <p:nvPr/>
        </p:nvSpPr>
        <p:spPr>
          <a:xfrm>
            <a:off x="4636008" y="494690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Optimasi performa, testing, build, serta publikasi aplikasi.</a:t>
            </a:r>
            <a:endParaRPr lang="en-US" sz="1150" dirty="0"/>
          </a:p>
        </p:txBody>
      </p:sp>
      <p:sp>
        <p:nvSpPr>
          <p:cNvPr id="34" name="Shape 27"/>
          <p:cNvSpPr/>
          <p:nvPr/>
        </p:nvSpPr>
        <p:spPr>
          <a:xfrm>
            <a:off x="8211312" y="3703320"/>
            <a:ext cx="342900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35" name="Shape 28"/>
          <p:cNvSpPr/>
          <p:nvPr/>
        </p:nvSpPr>
        <p:spPr>
          <a:xfrm>
            <a:off x="8467344" y="3941064"/>
            <a:ext cx="548640" cy="548640"/>
          </a:xfrm>
          <a:prstGeom prst="ellipse">
            <a:avLst/>
          </a:prstGeom>
          <a:solidFill>
            <a:srgbClr val="20232A"/>
          </a:solidFill>
          <a:ln w="12700">
            <a:solidFill>
              <a:srgbClr val="20232A"/>
            </a:solidFill>
            <a:prstDash val="solid"/>
          </a:ln>
        </p:spPr>
      </p:sp>
      <p:pic>
        <p:nvPicPr>
          <p:cNvPr id="36" name="Image 5" descr="preencoded.png">    </p:cNvPr>
          <p:cNvPicPr>
            <a:picLocks noChangeAspect="1"/>
          </p:cNvPicPr>
          <p:nvPr/>
        </p:nvPicPr>
        <p:blipFill>
          <a:blip r:embed="rId6"/>
          <a:stretch>
            <a:fillRect/>
          </a:stretch>
        </p:blipFill>
        <p:spPr>
          <a:xfrm>
            <a:off x="8609990" y="4083710"/>
            <a:ext cx="263347" cy="263347"/>
          </a:xfrm>
          <a:prstGeom prst="rect">
            <a:avLst/>
          </a:prstGeom>
        </p:spPr>
      </p:pic>
      <p:sp>
        <p:nvSpPr>
          <p:cNvPr id="37" name="Text 29"/>
          <p:cNvSpPr txBox="1"/>
          <p:nvPr/>
        </p:nvSpPr>
        <p:spPr>
          <a:xfrm>
            <a:off x="10863072" y="3977640"/>
            <a:ext cx="548640" cy="365760"/>
          </a:xfrm>
          <a:prstGeom prst="rect">
            <a:avLst/>
          </a:prstGeom>
          <a:noFill/>
          <a:ln/>
        </p:spPr>
        <p:txBody>
          <a:bodyPr wrap="square" lIns="0" tIns="0" rIns="0" bIns="0" rtlCol="0" anchor="ctr"/>
          <a:lstStyle/>
          <a:p>
            <a:pPr algn="r" indent="0" marL="0">
              <a:buNone/>
            </a:pPr>
            <a:r>
              <a:rPr lang="en-US" sz="2200" b="1" dirty="0">
                <a:solidFill>
                  <a:srgbClr val="C3D2DD"/>
                </a:solidFill>
                <a:latin typeface="Calibri" pitchFamily="34" charset="0"/>
                <a:ea typeface="Calibri" pitchFamily="34" charset="-122"/>
                <a:cs typeface="Calibri" pitchFamily="34" charset="-120"/>
              </a:rPr>
              <a:t>06</a:t>
            </a:r>
            <a:endParaRPr lang="en-US" sz="2200" dirty="0"/>
          </a:p>
        </p:txBody>
      </p:sp>
      <p:sp>
        <p:nvSpPr>
          <p:cNvPr id="38" name="Text 30"/>
          <p:cNvSpPr txBox="1"/>
          <p:nvPr/>
        </p:nvSpPr>
        <p:spPr>
          <a:xfrm>
            <a:off x="8467344" y="4617720"/>
            <a:ext cx="292608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Praktik &amp; Roadmap</a:t>
            </a:r>
            <a:endParaRPr lang="en-US" sz="1600" dirty="0"/>
          </a:p>
        </p:txBody>
      </p:sp>
      <p:sp>
        <p:nvSpPr>
          <p:cNvPr id="39" name="Text 31"/>
          <p:cNvSpPr txBox="1"/>
          <p:nvPr/>
        </p:nvSpPr>
        <p:spPr>
          <a:xfrm>
            <a:off x="8467344" y="4946904"/>
            <a:ext cx="292608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Best practice, kesalahan umum, studi kasus, dan jalur belajar lanjutan.</a:t>
            </a:r>
            <a:endParaRPr lang="en-US" sz="1150" dirty="0"/>
          </a:p>
        </p:txBody>
      </p:sp>
      <p:pic>
        <p:nvPicPr>
          <p:cNvPr id="41"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42" name="Text 3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43" name="Text 3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502920" y="1051560"/>
            <a:ext cx="3108960" cy="1920240"/>
          </a:xfrm>
          <a:prstGeom prst="rect">
            <a:avLst/>
          </a:prstGeom>
          <a:noFill/>
          <a:ln/>
        </p:spPr>
        <p:txBody>
          <a:bodyPr wrap="square" lIns="0" tIns="0" rIns="0" bIns="0" rtlCol="0" anchor="ctr"/>
          <a:lstStyle/>
          <a:p>
            <a:pPr indent="0" marL="0">
              <a:buNone/>
            </a:pPr>
            <a:r>
              <a:rPr lang="en-US" sz="12000" b="1" dirty="0">
                <a:solidFill>
                  <a:srgbClr val="343C4A"/>
                </a:solidFill>
                <a:latin typeface="Calibri" pitchFamily="34" charset="0"/>
                <a:ea typeface="Calibri" pitchFamily="34" charset="-122"/>
                <a:cs typeface="Calibri" pitchFamily="34" charset="-120"/>
              </a:rPr>
              <a:t>01</a:t>
            </a:r>
            <a:endParaRPr lang="en-US" sz="12000" dirty="0"/>
          </a:p>
        </p:txBody>
      </p:sp>
      <p:sp>
        <p:nvSpPr>
          <p:cNvPr id="3" name="Text 1"/>
          <p:cNvSpPr txBox="1"/>
          <p:nvPr/>
        </p:nvSpPr>
        <p:spPr>
          <a:xfrm>
            <a:off x="548640" y="2971800"/>
            <a:ext cx="71323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Pengenalan React</a:t>
            </a:r>
            <a:endParaRPr lang="en-US" sz="4200" dirty="0"/>
          </a:p>
        </p:txBody>
      </p:sp>
      <p:sp>
        <p:nvSpPr>
          <p:cNvPr id="4" name="Text 2"/>
          <p:cNvSpPr txBox="1"/>
          <p:nvPr/>
        </p:nvSpPr>
        <p:spPr>
          <a:xfrm>
            <a:off x="566928" y="3840480"/>
            <a:ext cx="6949440" cy="822960"/>
          </a:xfrm>
          <a:prstGeom prst="rect">
            <a:avLst/>
          </a:prstGeom>
          <a:noFill/>
          <a:ln/>
        </p:spPr>
        <p:txBody>
          <a:bodyPr wrap="square" lIns="0" tIns="0" rIns="0" bIns="0" rtlCol="0" anchor="t"/>
          <a:lstStyle/>
          <a:p>
            <a:pPr indent="0" marL="0">
              <a:buNone/>
            </a:pPr>
            <a:r>
              <a:rPr lang="en-US" sz="1600" dirty="0">
                <a:solidFill>
                  <a:srgbClr val="9FAAB9"/>
                </a:solidFill>
                <a:latin typeface="Calibri" pitchFamily="34" charset="0"/>
                <a:ea typeface="Calibri" pitchFamily="34" charset="-122"/>
                <a:cs typeface="Calibri" pitchFamily="34" charset="-120"/>
              </a:rPr>
              <a:t>Memahami apa itu React, mengapa dibuat, dan mengapa banyak digunakan industri.</a:t>
            </a:r>
            <a:endParaRPr lang="en-US" sz="1600" dirty="0"/>
          </a:p>
        </p:txBody>
      </p:sp>
      <p:sp>
        <p:nvSpPr>
          <p:cNvPr id="5" name="Shape 3"/>
          <p:cNvSpPr/>
          <p:nvPr/>
        </p:nvSpPr>
        <p:spPr>
          <a:xfrm>
            <a:off x="8366760" y="1965960"/>
            <a:ext cx="2926080" cy="2926080"/>
          </a:xfrm>
          <a:prstGeom prst="ellipse">
            <a:avLst/>
          </a:prstGeom>
          <a:solidFill>
            <a:srgbClr val="2C313C"/>
          </a:solidFill>
          <a:ln w="12700">
            <a:solidFill>
              <a:srgbClr val="2C313C"/>
            </a:solidFill>
            <a:prstDash val="solid"/>
          </a:ln>
        </p:spPr>
      </p:sp>
      <p:pic>
        <p:nvPicPr>
          <p:cNvPr id="6" name="Image 0" descr="preencoded.png">    </p:cNvPr>
          <p:cNvPicPr>
            <a:picLocks noChangeAspect="1"/>
          </p:cNvPicPr>
          <p:nvPr/>
        </p:nvPicPr>
        <p:blipFill>
          <a:blip r:embed="rId1"/>
          <a:stretch>
            <a:fillRect/>
          </a:stretch>
        </p:blipFill>
        <p:spPr>
          <a:xfrm>
            <a:off x="9098280" y="2697480"/>
            <a:ext cx="1463040" cy="1463040"/>
          </a:xfrm>
          <a:prstGeom prst="rect">
            <a:avLst/>
          </a:prstGeom>
        </p:spPr>
      </p:pic>
      <p:pic>
        <p:nvPicPr>
          <p:cNvPr id="7"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8" name="Text 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ReactJS — Materi Komprehensif</a:t>
            </a:r>
            <a:endParaRPr lang="en-US" sz="900" dirty="0"/>
          </a:p>
        </p:txBody>
      </p:sp>
      <p:sp>
        <p:nvSpPr>
          <p:cNvPr id="9" name="Text 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61DAF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PENGENALAN</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Apa Itu React?</a:t>
            </a:r>
            <a:endParaRPr lang="en-US" sz="3200" dirty="0"/>
          </a:p>
        </p:txBody>
      </p:sp>
      <p:sp>
        <p:nvSpPr>
          <p:cNvPr id="4" name="Shape 2"/>
          <p:cNvSpPr/>
          <p:nvPr/>
        </p:nvSpPr>
        <p:spPr>
          <a:xfrm>
            <a:off x="548640" y="1463040"/>
            <a:ext cx="5760720" cy="1417320"/>
          </a:xfrm>
          <a:prstGeom prst="roundRect">
            <a:avLst>
              <a:gd name="adj" fmla="val 7742"/>
            </a:avLst>
          </a:prstGeom>
          <a:solidFill>
            <a:srgbClr val="20232A"/>
          </a:solidFill>
          <a:ln w="12700">
            <a:solidFill>
              <a:srgbClr val="20232A"/>
            </a:solidFill>
            <a:prstDash val="solid"/>
          </a:ln>
        </p:spPr>
      </p:sp>
      <p:sp>
        <p:nvSpPr>
          <p:cNvPr id="5" name="Text 3"/>
          <p:cNvSpPr txBox="1"/>
          <p:nvPr/>
        </p:nvSpPr>
        <p:spPr>
          <a:xfrm>
            <a:off x="822960" y="1627632"/>
            <a:ext cx="5212080" cy="777240"/>
          </a:xfrm>
          <a:prstGeom prst="rect">
            <a:avLst/>
          </a:prstGeom>
          <a:noFill/>
          <a:ln/>
        </p:spPr>
        <p:txBody>
          <a:bodyPr wrap="square" lIns="0" tIns="0" rIns="0" bIns="0" rtlCol="0" anchor="ctr"/>
          <a:lstStyle/>
          <a:p>
            <a:pPr indent="0" marL="0">
              <a:lnSpc>
                <a:spcPct val="110000"/>
              </a:lnSpc>
              <a:buNone/>
            </a:pPr>
            <a:r>
              <a:rPr lang="en-US" sz="1550" i="1" dirty="0">
                <a:solidFill>
                  <a:srgbClr val="FFFFFF"/>
                </a:solidFill>
                <a:latin typeface="Calibri" pitchFamily="34" charset="0"/>
                <a:ea typeface="Calibri" pitchFamily="34" charset="-122"/>
                <a:cs typeface="Calibri" pitchFamily="34" charset="-120"/>
              </a:rPr>
              <a:t>“React adalah library JavaScript untuk membangun antarmuka pengguna berbasis komponen.”</a:t>
            </a:r>
            <a:endParaRPr lang="en-US" sz="1550" dirty="0"/>
          </a:p>
        </p:txBody>
      </p:sp>
      <p:sp>
        <p:nvSpPr>
          <p:cNvPr id="6" name="Text 4"/>
          <p:cNvSpPr txBox="1"/>
          <p:nvPr/>
        </p:nvSpPr>
        <p:spPr>
          <a:xfrm>
            <a:off x="822960" y="2432304"/>
            <a:ext cx="5212080" cy="274320"/>
          </a:xfrm>
          <a:prstGeom prst="rect">
            <a:avLst/>
          </a:prstGeom>
          <a:noFill/>
          <a:ln/>
        </p:spPr>
        <p:txBody>
          <a:bodyPr wrap="square" lIns="0" tIns="0" rIns="0" bIns="0" rtlCol="0" anchor="ctr"/>
          <a:lstStyle/>
          <a:p>
            <a:pPr indent="0" marL="0">
              <a:buNone/>
            </a:pPr>
            <a:r>
              <a:rPr lang="en-US" sz="1100" dirty="0">
                <a:solidFill>
                  <a:srgbClr val="61DAFB"/>
                </a:solidFill>
                <a:latin typeface="Calibri" pitchFamily="34" charset="0"/>
                <a:ea typeface="Calibri" pitchFamily="34" charset="-122"/>
                <a:cs typeface="Calibri" pitchFamily="34" charset="-120"/>
              </a:rPr>
              <a:t>— react.dev, dikembangkan oleh Meta (Facebook)</a:t>
            </a:r>
            <a:endParaRPr lang="en-US" sz="1100" dirty="0"/>
          </a:p>
        </p:txBody>
      </p:sp>
      <p:sp>
        <p:nvSpPr>
          <p:cNvPr id="7" name="Text 5"/>
          <p:cNvSpPr txBox="1"/>
          <p:nvPr/>
        </p:nvSpPr>
        <p:spPr>
          <a:xfrm>
            <a:off x="594360" y="3154680"/>
            <a:ext cx="5669280" cy="292608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400" dirty="0">
                <a:solidFill>
                  <a:srgbClr val="1B2029"/>
                </a:solidFill>
                <a:latin typeface="Calibri" pitchFamily="34" charset="0"/>
                <a:ea typeface="Calibri" pitchFamily="34" charset="-122"/>
                <a:cs typeface="Calibri" pitchFamily="34" charset="-120"/>
              </a:rPr>
              <a:t>Bersifat library, bukan framework penuh: fokus pada lapisan tampilan (view).</a:t>
            </a:r>
            <a:endParaRPr lang="en-US" sz="1400" dirty="0"/>
          </a:p>
          <a:p>
            <a:pPr marL="342900" indent="-342900">
              <a:lnSpc>
                <a:spcPct val="105000"/>
              </a:lnSpc>
              <a:spcAft>
                <a:spcPts val="800"/>
              </a:spcAft>
              <a:buSzPct val="100000"/>
              <a:buChar char="▪"/>
            </a:pPr>
            <a:r>
              <a:rPr lang="en-US" sz="1400" dirty="0">
                <a:solidFill>
                  <a:srgbClr val="1B2029"/>
                </a:solidFill>
                <a:latin typeface="Calibri" pitchFamily="34" charset="0"/>
                <a:ea typeface="Calibri" pitchFamily="34" charset="-122"/>
                <a:cs typeface="Calibri" pitchFamily="34" charset="-120"/>
              </a:rPr>
              <a:t>UI dipecah menjadi komponen kecil yang dapat digunakan ulang.</a:t>
            </a:r>
            <a:endParaRPr lang="en-US" sz="1400" dirty="0"/>
          </a:p>
          <a:p>
            <a:pPr marL="342900" indent="-342900">
              <a:lnSpc>
                <a:spcPct val="105000"/>
              </a:lnSpc>
              <a:spcAft>
                <a:spcPts val="800"/>
              </a:spcAft>
              <a:buSzPct val="100000"/>
              <a:buChar char="▪"/>
            </a:pPr>
            <a:r>
              <a:rPr lang="en-US" sz="1400" dirty="0">
                <a:solidFill>
                  <a:srgbClr val="1B2029"/>
                </a:solidFill>
                <a:latin typeface="Calibri" pitchFamily="34" charset="0"/>
                <a:ea typeface="Calibri" pitchFamily="34" charset="-122"/>
                <a:cs typeface="Calibri" pitchFamily="34" charset="-120"/>
              </a:rPr>
              <a:t>Tampilan otomatis diperbarui saat data (state) berubah.</a:t>
            </a:r>
            <a:endParaRPr lang="en-US" sz="1400" dirty="0"/>
          </a:p>
          <a:p>
            <a:pPr marL="342900" indent="-342900">
              <a:lnSpc>
                <a:spcPct val="105000"/>
              </a:lnSpc>
              <a:spcAft>
                <a:spcPts val="800"/>
              </a:spcAft>
              <a:buSzPct val="100000"/>
              <a:buChar char="▪"/>
            </a:pPr>
            <a:r>
              <a:rPr lang="en-US" sz="1400" dirty="0">
                <a:solidFill>
                  <a:srgbClr val="1B2029"/>
                </a:solidFill>
                <a:latin typeface="Calibri" pitchFamily="34" charset="0"/>
                <a:ea typeface="Calibri" pitchFamily="34" charset="-122"/>
                <a:cs typeface="Calibri" pitchFamily="34" charset="-120"/>
              </a:rPr>
              <a:t>Dirilis open-source sejak 2013 dan dipakai Facebook, Instagram, Netflix, Airbnb, Tokopedia.</a:t>
            </a:r>
            <a:endParaRPr lang="en-US" sz="1400" dirty="0"/>
          </a:p>
          <a:p>
            <a:pPr marL="342900" indent="-342900">
              <a:lnSpc>
                <a:spcPct val="105000"/>
              </a:lnSpc>
              <a:spcAft>
                <a:spcPts val="800"/>
              </a:spcAft>
              <a:buSzPct val="100000"/>
              <a:buChar char="▪"/>
            </a:pPr>
            <a:r>
              <a:rPr lang="en-US" sz="1400" dirty="0">
                <a:solidFill>
                  <a:srgbClr val="1B2029"/>
                </a:solidFill>
                <a:latin typeface="Calibri" pitchFamily="34" charset="0"/>
                <a:ea typeface="Calibri" pitchFamily="34" charset="-122"/>
                <a:cs typeface="Calibri" pitchFamily="34" charset="-120"/>
              </a:rPr>
              <a:t>Ditulis dengan JavaScript modern (ES6+) dan sintaks JSX.</a:t>
            </a:r>
            <a:endParaRPr lang="en-US" sz="1400" dirty="0"/>
          </a:p>
        </p:txBody>
      </p:sp>
      <p:sp>
        <p:nvSpPr>
          <p:cNvPr id="8" name="Shape 6"/>
          <p:cNvSpPr/>
          <p:nvPr/>
        </p:nvSpPr>
        <p:spPr>
          <a:xfrm>
            <a:off x="6583680" y="1463040"/>
            <a:ext cx="2423160" cy="1783080"/>
          </a:xfrm>
          <a:prstGeom prst="roundRect">
            <a:avLst>
              <a:gd name="adj" fmla="val 61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9" name="Shape 7"/>
          <p:cNvSpPr/>
          <p:nvPr/>
        </p:nvSpPr>
        <p:spPr>
          <a:xfrm>
            <a:off x="6803136" y="1682496"/>
            <a:ext cx="502920" cy="502920"/>
          </a:xfrm>
          <a:prstGeom prst="ellipse">
            <a:avLst/>
          </a:prstGeom>
          <a:solidFill>
            <a:srgbClr val="20232A"/>
          </a:solidFill>
          <a:ln w="12700">
            <a:solidFill>
              <a:srgbClr val="20232A"/>
            </a:solidFill>
            <a:prstDash val="solid"/>
          </a:ln>
        </p:spPr>
      </p:sp>
      <p:pic>
        <p:nvPicPr>
          <p:cNvPr id="10" name="Image 0" descr="preencoded.png">    </p:cNvPr>
          <p:cNvPicPr>
            <a:picLocks noChangeAspect="1"/>
          </p:cNvPicPr>
          <p:nvPr/>
        </p:nvPicPr>
        <p:blipFill>
          <a:blip r:embed="rId1"/>
          <a:stretch>
            <a:fillRect/>
          </a:stretch>
        </p:blipFill>
        <p:spPr>
          <a:xfrm>
            <a:off x="6933895" y="1813255"/>
            <a:ext cx="241402" cy="241402"/>
          </a:xfrm>
          <a:prstGeom prst="rect">
            <a:avLst/>
          </a:prstGeom>
        </p:spPr>
      </p:pic>
      <p:sp>
        <p:nvSpPr>
          <p:cNvPr id="11" name="Text 8"/>
          <p:cNvSpPr txBox="1"/>
          <p:nvPr/>
        </p:nvSpPr>
        <p:spPr>
          <a:xfrm>
            <a:off x="6803136" y="2286000"/>
            <a:ext cx="201168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Deklaratif</a:t>
            </a:r>
            <a:endParaRPr lang="en-US" sz="1350" dirty="0"/>
          </a:p>
        </p:txBody>
      </p:sp>
      <p:sp>
        <p:nvSpPr>
          <p:cNvPr id="12" name="Text 9"/>
          <p:cNvSpPr txBox="1"/>
          <p:nvPr/>
        </p:nvSpPr>
        <p:spPr>
          <a:xfrm>
            <a:off x="6803136" y="2560320"/>
            <a:ext cx="2011680" cy="594360"/>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Tulis “tampilan seperti apa”, bukan “bagaimana cara mengubahnya”.</a:t>
            </a:r>
            <a:endParaRPr lang="en-US" sz="1050" dirty="0"/>
          </a:p>
        </p:txBody>
      </p:sp>
      <p:sp>
        <p:nvSpPr>
          <p:cNvPr id="13" name="Shape 10"/>
          <p:cNvSpPr/>
          <p:nvPr/>
        </p:nvSpPr>
        <p:spPr>
          <a:xfrm>
            <a:off x="9217152" y="1463040"/>
            <a:ext cx="2423160" cy="1783080"/>
          </a:xfrm>
          <a:prstGeom prst="roundRect">
            <a:avLst>
              <a:gd name="adj" fmla="val 61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4" name="Shape 11"/>
          <p:cNvSpPr/>
          <p:nvPr/>
        </p:nvSpPr>
        <p:spPr>
          <a:xfrm>
            <a:off x="9436608" y="1682496"/>
            <a:ext cx="502920" cy="502920"/>
          </a:xfrm>
          <a:prstGeom prst="ellipse">
            <a:avLst/>
          </a:prstGeom>
          <a:solidFill>
            <a:srgbClr val="20232A"/>
          </a:solidFill>
          <a:ln w="12700">
            <a:solidFill>
              <a:srgbClr val="20232A"/>
            </a:solidFill>
            <a:prstDash val="solid"/>
          </a:ln>
        </p:spPr>
      </p:sp>
      <p:pic>
        <p:nvPicPr>
          <p:cNvPr id="15" name="Image 1" descr="preencoded.png">    </p:cNvPr>
          <p:cNvPicPr>
            <a:picLocks noChangeAspect="1"/>
          </p:cNvPicPr>
          <p:nvPr/>
        </p:nvPicPr>
        <p:blipFill>
          <a:blip r:embed="rId2"/>
          <a:stretch>
            <a:fillRect/>
          </a:stretch>
        </p:blipFill>
        <p:spPr>
          <a:xfrm>
            <a:off x="9567367" y="1813255"/>
            <a:ext cx="241402" cy="241402"/>
          </a:xfrm>
          <a:prstGeom prst="rect">
            <a:avLst/>
          </a:prstGeom>
        </p:spPr>
      </p:pic>
      <p:sp>
        <p:nvSpPr>
          <p:cNvPr id="16" name="Text 12"/>
          <p:cNvSpPr txBox="1"/>
          <p:nvPr/>
        </p:nvSpPr>
        <p:spPr>
          <a:xfrm>
            <a:off x="9436608" y="2286000"/>
            <a:ext cx="201168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Berbasis Komponen</a:t>
            </a:r>
            <a:endParaRPr lang="en-US" sz="1350" dirty="0"/>
          </a:p>
        </p:txBody>
      </p:sp>
      <p:sp>
        <p:nvSpPr>
          <p:cNvPr id="17" name="Text 13"/>
          <p:cNvSpPr txBox="1"/>
          <p:nvPr/>
        </p:nvSpPr>
        <p:spPr>
          <a:xfrm>
            <a:off x="9436608" y="2560320"/>
            <a:ext cx="2011680" cy="594360"/>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UI disusun dari potongan mandiri yang bisa dipakai berulang.</a:t>
            </a:r>
            <a:endParaRPr lang="en-US" sz="1050" dirty="0"/>
          </a:p>
        </p:txBody>
      </p:sp>
      <p:sp>
        <p:nvSpPr>
          <p:cNvPr id="18" name="Shape 14"/>
          <p:cNvSpPr/>
          <p:nvPr/>
        </p:nvSpPr>
        <p:spPr>
          <a:xfrm>
            <a:off x="6583680" y="3383280"/>
            <a:ext cx="2423160" cy="1783080"/>
          </a:xfrm>
          <a:prstGeom prst="roundRect">
            <a:avLst>
              <a:gd name="adj" fmla="val 61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9" name="Shape 15"/>
          <p:cNvSpPr/>
          <p:nvPr/>
        </p:nvSpPr>
        <p:spPr>
          <a:xfrm>
            <a:off x="6803136" y="3602736"/>
            <a:ext cx="502920" cy="502920"/>
          </a:xfrm>
          <a:prstGeom prst="ellipse">
            <a:avLst/>
          </a:prstGeom>
          <a:solidFill>
            <a:srgbClr val="20232A"/>
          </a:solidFill>
          <a:ln w="12700">
            <a:solidFill>
              <a:srgbClr val="20232A"/>
            </a:solidFill>
            <a:prstDash val="solid"/>
          </a:ln>
        </p:spPr>
      </p:sp>
      <p:pic>
        <p:nvPicPr>
          <p:cNvPr id="20" name="Image 2" descr="preencoded.png">    </p:cNvPr>
          <p:cNvPicPr>
            <a:picLocks noChangeAspect="1"/>
          </p:cNvPicPr>
          <p:nvPr/>
        </p:nvPicPr>
        <p:blipFill>
          <a:blip r:embed="rId3"/>
          <a:stretch>
            <a:fillRect/>
          </a:stretch>
        </p:blipFill>
        <p:spPr>
          <a:xfrm>
            <a:off x="6933895" y="3733495"/>
            <a:ext cx="241402" cy="241402"/>
          </a:xfrm>
          <a:prstGeom prst="rect">
            <a:avLst/>
          </a:prstGeom>
        </p:spPr>
      </p:pic>
      <p:sp>
        <p:nvSpPr>
          <p:cNvPr id="21" name="Text 16"/>
          <p:cNvSpPr txBox="1"/>
          <p:nvPr/>
        </p:nvSpPr>
        <p:spPr>
          <a:xfrm>
            <a:off x="6803136" y="4206240"/>
            <a:ext cx="201168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Virtual DOM</a:t>
            </a:r>
            <a:endParaRPr lang="en-US" sz="1350" dirty="0"/>
          </a:p>
        </p:txBody>
      </p:sp>
      <p:sp>
        <p:nvSpPr>
          <p:cNvPr id="22" name="Text 17"/>
          <p:cNvSpPr txBox="1"/>
          <p:nvPr/>
        </p:nvSpPr>
        <p:spPr>
          <a:xfrm>
            <a:off x="6803136" y="4480560"/>
            <a:ext cx="2011680" cy="594360"/>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Pembaruan halaman efisien karena hanya bagian berubah yang dirender.</a:t>
            </a:r>
            <a:endParaRPr lang="en-US" sz="1050" dirty="0"/>
          </a:p>
        </p:txBody>
      </p:sp>
      <p:sp>
        <p:nvSpPr>
          <p:cNvPr id="23" name="Shape 18"/>
          <p:cNvSpPr/>
          <p:nvPr/>
        </p:nvSpPr>
        <p:spPr>
          <a:xfrm>
            <a:off x="9217152" y="3383280"/>
            <a:ext cx="2423160" cy="1783080"/>
          </a:xfrm>
          <a:prstGeom prst="roundRect">
            <a:avLst>
              <a:gd name="adj" fmla="val 61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4" name="Shape 19"/>
          <p:cNvSpPr/>
          <p:nvPr/>
        </p:nvSpPr>
        <p:spPr>
          <a:xfrm>
            <a:off x="9436608" y="3602736"/>
            <a:ext cx="502920" cy="502920"/>
          </a:xfrm>
          <a:prstGeom prst="ellipse">
            <a:avLst/>
          </a:prstGeom>
          <a:solidFill>
            <a:srgbClr val="20232A"/>
          </a:solidFill>
          <a:ln w="12700">
            <a:solidFill>
              <a:srgbClr val="20232A"/>
            </a:solidFill>
            <a:prstDash val="solid"/>
          </a:ln>
        </p:spPr>
      </p:sp>
      <p:pic>
        <p:nvPicPr>
          <p:cNvPr id="25" name="Image 3" descr="preencoded.png">    </p:cNvPr>
          <p:cNvPicPr>
            <a:picLocks noChangeAspect="1"/>
          </p:cNvPicPr>
          <p:nvPr/>
        </p:nvPicPr>
        <p:blipFill>
          <a:blip r:embed="rId4"/>
          <a:stretch>
            <a:fillRect/>
          </a:stretch>
        </p:blipFill>
        <p:spPr>
          <a:xfrm>
            <a:off x="9567367" y="3733495"/>
            <a:ext cx="241402" cy="241402"/>
          </a:xfrm>
          <a:prstGeom prst="rect">
            <a:avLst/>
          </a:prstGeom>
        </p:spPr>
      </p:pic>
      <p:sp>
        <p:nvSpPr>
          <p:cNvPr id="26" name="Text 20"/>
          <p:cNvSpPr txBox="1"/>
          <p:nvPr/>
        </p:nvSpPr>
        <p:spPr>
          <a:xfrm>
            <a:off x="9436608" y="4206240"/>
            <a:ext cx="201168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Sekali Belajar</a:t>
            </a:r>
            <a:endParaRPr lang="en-US" sz="1350" dirty="0"/>
          </a:p>
        </p:txBody>
      </p:sp>
      <p:sp>
        <p:nvSpPr>
          <p:cNvPr id="27" name="Text 21"/>
          <p:cNvSpPr txBox="1"/>
          <p:nvPr/>
        </p:nvSpPr>
        <p:spPr>
          <a:xfrm>
            <a:off x="9436608" y="4480560"/>
            <a:ext cx="2011680" cy="594360"/>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Ilmu yang sama dipakai untuk web, mobile (React Native), dan desktop.</a:t>
            </a:r>
            <a:endParaRPr lang="en-US" sz="1050" dirty="0"/>
          </a:p>
        </p:txBody>
      </p:sp>
      <p:pic>
        <p:nvPicPr>
          <p:cNvPr id="29"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0" name="Text 2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1" name="Text 2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PENGENALAN</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Sejarah &amp; Perkembangan</a:t>
            </a:r>
            <a:endParaRPr lang="en-US" sz="3200" dirty="0"/>
          </a:p>
        </p:txBody>
      </p:sp>
      <p:sp>
        <p:nvSpPr>
          <p:cNvPr id="4" name="Shape 2"/>
          <p:cNvSpPr/>
          <p:nvPr/>
        </p:nvSpPr>
        <p:spPr>
          <a:xfrm>
            <a:off x="548640" y="3630168"/>
            <a:ext cx="11091672" cy="41148"/>
          </a:xfrm>
          <a:prstGeom prst="rect">
            <a:avLst/>
          </a:prstGeom>
          <a:solidFill>
            <a:srgbClr val="E4EDF3"/>
          </a:solidFill>
          <a:ln w="12700">
            <a:solidFill>
              <a:srgbClr val="E4EDF3"/>
            </a:solidFill>
            <a:prstDash val="solid"/>
          </a:ln>
        </p:spPr>
      </p:sp>
      <p:sp>
        <p:nvSpPr>
          <p:cNvPr id="5" name="Shape 3"/>
          <p:cNvSpPr/>
          <p:nvPr/>
        </p:nvSpPr>
        <p:spPr>
          <a:xfrm>
            <a:off x="548640" y="2121408"/>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6" name="Text 4"/>
          <p:cNvSpPr txBox="1"/>
          <p:nvPr/>
        </p:nvSpPr>
        <p:spPr>
          <a:xfrm>
            <a:off x="685800" y="2231136"/>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2011</a:t>
            </a:r>
            <a:endParaRPr lang="en-US" sz="1600" dirty="0"/>
          </a:p>
        </p:txBody>
      </p:sp>
      <p:sp>
        <p:nvSpPr>
          <p:cNvPr id="7" name="Text 5"/>
          <p:cNvSpPr txBox="1"/>
          <p:nvPr/>
        </p:nvSpPr>
        <p:spPr>
          <a:xfrm>
            <a:off x="685800" y="2505456"/>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FaxJS</a:t>
            </a:r>
            <a:endParaRPr lang="en-US" sz="1200" dirty="0"/>
          </a:p>
        </p:txBody>
      </p:sp>
      <p:sp>
        <p:nvSpPr>
          <p:cNvPr id="8" name="Text 6"/>
          <p:cNvSpPr txBox="1"/>
          <p:nvPr/>
        </p:nvSpPr>
        <p:spPr>
          <a:xfrm>
            <a:off x="685800" y="2761488"/>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Jordan Walke membuat prototipe awal untuk news feed Facebook.</a:t>
            </a:r>
            <a:endParaRPr lang="en-US" sz="950" dirty="0"/>
          </a:p>
        </p:txBody>
      </p:sp>
      <p:sp>
        <p:nvSpPr>
          <p:cNvPr id="9" name="Shape 7"/>
          <p:cNvSpPr/>
          <p:nvPr/>
        </p:nvSpPr>
        <p:spPr>
          <a:xfrm>
            <a:off x="1234440" y="3515868"/>
            <a:ext cx="274320" cy="274320"/>
          </a:xfrm>
          <a:prstGeom prst="ellipse">
            <a:avLst/>
          </a:prstGeom>
          <a:solidFill>
            <a:srgbClr val="20232A"/>
          </a:solidFill>
          <a:ln w="25400">
            <a:solidFill>
              <a:srgbClr val="61DAFB"/>
            </a:solidFill>
            <a:prstDash val="solid"/>
          </a:ln>
        </p:spPr>
      </p:sp>
      <p:sp>
        <p:nvSpPr>
          <p:cNvPr id="10" name="Shape 8"/>
          <p:cNvSpPr/>
          <p:nvPr/>
        </p:nvSpPr>
        <p:spPr>
          <a:xfrm>
            <a:off x="2432304" y="3913632"/>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Text 9"/>
          <p:cNvSpPr txBox="1"/>
          <p:nvPr/>
        </p:nvSpPr>
        <p:spPr>
          <a:xfrm>
            <a:off x="2569464" y="4023360"/>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2013</a:t>
            </a:r>
            <a:endParaRPr lang="en-US" sz="1600" dirty="0"/>
          </a:p>
        </p:txBody>
      </p:sp>
      <p:sp>
        <p:nvSpPr>
          <p:cNvPr id="12" name="Text 10"/>
          <p:cNvSpPr txBox="1"/>
          <p:nvPr/>
        </p:nvSpPr>
        <p:spPr>
          <a:xfrm>
            <a:off x="2569464" y="4297680"/>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Open Source</a:t>
            </a:r>
            <a:endParaRPr lang="en-US" sz="1200" dirty="0"/>
          </a:p>
        </p:txBody>
      </p:sp>
      <p:sp>
        <p:nvSpPr>
          <p:cNvPr id="13" name="Text 11"/>
          <p:cNvSpPr txBox="1"/>
          <p:nvPr/>
        </p:nvSpPr>
        <p:spPr>
          <a:xfrm>
            <a:off x="2569464" y="4553712"/>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React dirilis publik di JSConf US dan mulai diadopsi luas.</a:t>
            </a:r>
            <a:endParaRPr lang="en-US" sz="950" dirty="0"/>
          </a:p>
        </p:txBody>
      </p:sp>
      <p:sp>
        <p:nvSpPr>
          <p:cNvPr id="14" name="Shape 12"/>
          <p:cNvSpPr/>
          <p:nvPr/>
        </p:nvSpPr>
        <p:spPr>
          <a:xfrm>
            <a:off x="3118104" y="3515868"/>
            <a:ext cx="274320" cy="274320"/>
          </a:xfrm>
          <a:prstGeom prst="ellipse">
            <a:avLst/>
          </a:prstGeom>
          <a:solidFill>
            <a:srgbClr val="20232A"/>
          </a:solidFill>
          <a:ln w="25400">
            <a:solidFill>
              <a:srgbClr val="61DAFB"/>
            </a:solidFill>
            <a:prstDash val="solid"/>
          </a:ln>
        </p:spPr>
      </p:sp>
      <p:sp>
        <p:nvSpPr>
          <p:cNvPr id="15" name="Shape 13"/>
          <p:cNvSpPr/>
          <p:nvPr/>
        </p:nvSpPr>
        <p:spPr>
          <a:xfrm>
            <a:off x="4315968" y="2121408"/>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6" name="Text 14"/>
          <p:cNvSpPr txBox="1"/>
          <p:nvPr/>
        </p:nvSpPr>
        <p:spPr>
          <a:xfrm>
            <a:off x="4453128" y="2231136"/>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2015</a:t>
            </a:r>
            <a:endParaRPr lang="en-US" sz="1600" dirty="0"/>
          </a:p>
        </p:txBody>
      </p:sp>
      <p:sp>
        <p:nvSpPr>
          <p:cNvPr id="17" name="Text 15"/>
          <p:cNvSpPr txBox="1"/>
          <p:nvPr/>
        </p:nvSpPr>
        <p:spPr>
          <a:xfrm>
            <a:off x="4453128" y="2505456"/>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React Native</a:t>
            </a:r>
            <a:endParaRPr lang="en-US" sz="1200" dirty="0"/>
          </a:p>
        </p:txBody>
      </p:sp>
      <p:sp>
        <p:nvSpPr>
          <p:cNvPr id="18" name="Text 16"/>
          <p:cNvSpPr txBox="1"/>
          <p:nvPr/>
        </p:nvSpPr>
        <p:spPr>
          <a:xfrm>
            <a:off x="4453128" y="2761488"/>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Konsep React dibawa ke pengembangan aplikasi mobile.</a:t>
            </a:r>
            <a:endParaRPr lang="en-US" sz="950" dirty="0"/>
          </a:p>
        </p:txBody>
      </p:sp>
      <p:sp>
        <p:nvSpPr>
          <p:cNvPr id="19" name="Shape 17"/>
          <p:cNvSpPr/>
          <p:nvPr/>
        </p:nvSpPr>
        <p:spPr>
          <a:xfrm>
            <a:off x="5001768" y="3515868"/>
            <a:ext cx="274320" cy="274320"/>
          </a:xfrm>
          <a:prstGeom prst="ellipse">
            <a:avLst/>
          </a:prstGeom>
          <a:solidFill>
            <a:srgbClr val="20232A"/>
          </a:solidFill>
          <a:ln w="25400">
            <a:solidFill>
              <a:srgbClr val="61DAFB"/>
            </a:solidFill>
            <a:prstDash val="solid"/>
          </a:ln>
        </p:spPr>
      </p:sp>
      <p:sp>
        <p:nvSpPr>
          <p:cNvPr id="20" name="Shape 18"/>
          <p:cNvSpPr/>
          <p:nvPr/>
        </p:nvSpPr>
        <p:spPr>
          <a:xfrm>
            <a:off x="6199632" y="3913632"/>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1" name="Text 19"/>
          <p:cNvSpPr txBox="1"/>
          <p:nvPr/>
        </p:nvSpPr>
        <p:spPr>
          <a:xfrm>
            <a:off x="6336792" y="4023360"/>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2017</a:t>
            </a:r>
            <a:endParaRPr lang="en-US" sz="1600" dirty="0"/>
          </a:p>
        </p:txBody>
      </p:sp>
      <p:sp>
        <p:nvSpPr>
          <p:cNvPr id="22" name="Text 20"/>
          <p:cNvSpPr txBox="1"/>
          <p:nvPr/>
        </p:nvSpPr>
        <p:spPr>
          <a:xfrm>
            <a:off x="6336792" y="4297680"/>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Fiber (v16)</a:t>
            </a:r>
            <a:endParaRPr lang="en-US" sz="1200" dirty="0"/>
          </a:p>
        </p:txBody>
      </p:sp>
      <p:sp>
        <p:nvSpPr>
          <p:cNvPr id="23" name="Text 21"/>
          <p:cNvSpPr txBox="1"/>
          <p:nvPr/>
        </p:nvSpPr>
        <p:spPr>
          <a:xfrm>
            <a:off x="6336792" y="4553712"/>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Mesin rendering ditulis ulang; muncul Error Boundary &amp; Portal.</a:t>
            </a:r>
            <a:endParaRPr lang="en-US" sz="950" dirty="0"/>
          </a:p>
        </p:txBody>
      </p:sp>
      <p:sp>
        <p:nvSpPr>
          <p:cNvPr id="24" name="Shape 22"/>
          <p:cNvSpPr/>
          <p:nvPr/>
        </p:nvSpPr>
        <p:spPr>
          <a:xfrm>
            <a:off x="6885432" y="3515868"/>
            <a:ext cx="274320" cy="274320"/>
          </a:xfrm>
          <a:prstGeom prst="ellipse">
            <a:avLst/>
          </a:prstGeom>
          <a:solidFill>
            <a:srgbClr val="20232A"/>
          </a:solidFill>
          <a:ln w="25400">
            <a:solidFill>
              <a:srgbClr val="61DAFB"/>
            </a:solidFill>
            <a:prstDash val="solid"/>
          </a:ln>
        </p:spPr>
      </p:sp>
      <p:sp>
        <p:nvSpPr>
          <p:cNvPr id="25" name="Shape 23"/>
          <p:cNvSpPr/>
          <p:nvPr/>
        </p:nvSpPr>
        <p:spPr>
          <a:xfrm>
            <a:off x="8083296" y="2121408"/>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6" name="Text 24"/>
          <p:cNvSpPr txBox="1"/>
          <p:nvPr/>
        </p:nvSpPr>
        <p:spPr>
          <a:xfrm>
            <a:off x="8220456" y="2231136"/>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2019</a:t>
            </a:r>
            <a:endParaRPr lang="en-US" sz="1600" dirty="0"/>
          </a:p>
        </p:txBody>
      </p:sp>
      <p:sp>
        <p:nvSpPr>
          <p:cNvPr id="27" name="Text 25"/>
          <p:cNvSpPr txBox="1"/>
          <p:nvPr/>
        </p:nvSpPr>
        <p:spPr>
          <a:xfrm>
            <a:off x="8220456" y="2505456"/>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Hooks (v16.8)</a:t>
            </a:r>
            <a:endParaRPr lang="en-US" sz="1200" dirty="0"/>
          </a:p>
        </p:txBody>
      </p:sp>
      <p:sp>
        <p:nvSpPr>
          <p:cNvPr id="28" name="Text 26"/>
          <p:cNvSpPr txBox="1"/>
          <p:nvPr/>
        </p:nvSpPr>
        <p:spPr>
          <a:xfrm>
            <a:off x="8220456" y="2761488"/>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State dan lifecycle bisa dipakai di function component.</a:t>
            </a:r>
            <a:endParaRPr lang="en-US" sz="950" dirty="0"/>
          </a:p>
        </p:txBody>
      </p:sp>
      <p:sp>
        <p:nvSpPr>
          <p:cNvPr id="29" name="Shape 27"/>
          <p:cNvSpPr/>
          <p:nvPr/>
        </p:nvSpPr>
        <p:spPr>
          <a:xfrm>
            <a:off x="8769096" y="3515868"/>
            <a:ext cx="274320" cy="274320"/>
          </a:xfrm>
          <a:prstGeom prst="ellipse">
            <a:avLst/>
          </a:prstGeom>
          <a:solidFill>
            <a:srgbClr val="20232A"/>
          </a:solidFill>
          <a:ln w="25400">
            <a:solidFill>
              <a:srgbClr val="61DAFB"/>
            </a:solidFill>
            <a:prstDash val="solid"/>
          </a:ln>
        </p:spPr>
      </p:sp>
      <p:sp>
        <p:nvSpPr>
          <p:cNvPr id="30" name="Shape 28"/>
          <p:cNvSpPr/>
          <p:nvPr/>
        </p:nvSpPr>
        <p:spPr>
          <a:xfrm>
            <a:off x="9966960" y="3913632"/>
            <a:ext cx="1645920" cy="1280160"/>
          </a:xfrm>
          <a:prstGeom prst="roundRect">
            <a:avLst>
              <a:gd name="adj" fmla="val 857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31" name="Text 29"/>
          <p:cNvSpPr txBox="1"/>
          <p:nvPr/>
        </p:nvSpPr>
        <p:spPr>
          <a:xfrm>
            <a:off x="10104120" y="4023360"/>
            <a:ext cx="1371600" cy="274320"/>
          </a:xfrm>
          <a:prstGeom prst="rect">
            <a:avLst/>
          </a:prstGeom>
          <a:noFill/>
          <a:ln/>
        </p:spPr>
        <p:txBody>
          <a:bodyPr wrap="square" lIns="0" tIns="0" rIns="0" bIns="0" rtlCol="0" anchor="ctr"/>
          <a:lstStyle/>
          <a:p>
            <a:pPr indent="0" marL="0">
              <a:buNone/>
            </a:pPr>
            <a:r>
              <a:rPr lang="en-US" sz="1600" b="1" dirty="0">
                <a:solidFill>
                  <a:srgbClr val="1E90AF"/>
                </a:solidFill>
                <a:latin typeface="Calibri" pitchFamily="34" charset="0"/>
                <a:ea typeface="Calibri" pitchFamily="34" charset="-122"/>
                <a:cs typeface="Calibri" pitchFamily="34" charset="-120"/>
              </a:rPr>
              <a:t>2022+</a:t>
            </a:r>
            <a:endParaRPr lang="en-US" sz="1600" dirty="0"/>
          </a:p>
        </p:txBody>
      </p:sp>
      <p:sp>
        <p:nvSpPr>
          <p:cNvPr id="32" name="Text 30"/>
          <p:cNvSpPr txBox="1"/>
          <p:nvPr/>
        </p:nvSpPr>
        <p:spPr>
          <a:xfrm>
            <a:off x="10104120" y="4297680"/>
            <a:ext cx="1371600" cy="256032"/>
          </a:xfrm>
          <a:prstGeom prst="rect">
            <a:avLst/>
          </a:prstGeom>
          <a:noFill/>
          <a:ln/>
        </p:spPr>
        <p:txBody>
          <a:bodyPr wrap="square" lIns="0" tIns="0" rIns="0" bIns="0" rtlCol="0" anchor="ctr"/>
          <a:lstStyle/>
          <a:p>
            <a:pPr indent="0" marL="0">
              <a:buNone/>
            </a:pPr>
            <a:r>
              <a:rPr lang="en-US" sz="1200" b="1" dirty="0">
                <a:solidFill>
                  <a:srgbClr val="1B2029"/>
                </a:solidFill>
                <a:latin typeface="Calibri" pitchFamily="34" charset="0"/>
                <a:ea typeface="Calibri" pitchFamily="34" charset="-122"/>
                <a:cs typeface="Calibri" pitchFamily="34" charset="-120"/>
              </a:rPr>
              <a:t>Concurrent (v18/v19)</a:t>
            </a:r>
            <a:endParaRPr lang="en-US" sz="1200" dirty="0"/>
          </a:p>
        </p:txBody>
      </p:sp>
      <p:sp>
        <p:nvSpPr>
          <p:cNvPr id="33" name="Text 31"/>
          <p:cNvSpPr txBox="1"/>
          <p:nvPr/>
        </p:nvSpPr>
        <p:spPr>
          <a:xfrm>
            <a:off x="10104120" y="4553712"/>
            <a:ext cx="1371600" cy="566928"/>
          </a:xfrm>
          <a:prstGeom prst="rect">
            <a:avLst/>
          </a:prstGeom>
          <a:noFill/>
          <a:ln/>
        </p:spPr>
        <p:txBody>
          <a:bodyPr wrap="square" lIns="0" tIns="0" rIns="0" bIns="0" rtlCol="0" anchor="t"/>
          <a:lstStyle/>
          <a:p>
            <a:pPr indent="0" marL="0">
              <a:lnSpc>
                <a:spcPct val="105000"/>
              </a:lnSpc>
              <a:buNone/>
            </a:pPr>
            <a:r>
              <a:rPr lang="en-US" sz="950" dirty="0">
                <a:solidFill>
                  <a:srgbClr val="5C6672"/>
                </a:solidFill>
                <a:latin typeface="Calibri" pitchFamily="34" charset="0"/>
                <a:ea typeface="Calibri" pitchFamily="34" charset="-122"/>
                <a:cs typeface="Calibri" pitchFamily="34" charset="-120"/>
              </a:rPr>
              <a:t>Concurrent rendering, Suspense, dan Server Component.</a:t>
            </a:r>
            <a:endParaRPr lang="en-US" sz="950" dirty="0"/>
          </a:p>
        </p:txBody>
      </p:sp>
      <p:sp>
        <p:nvSpPr>
          <p:cNvPr id="34" name="Shape 32"/>
          <p:cNvSpPr/>
          <p:nvPr/>
        </p:nvSpPr>
        <p:spPr>
          <a:xfrm>
            <a:off x="10652760" y="3515868"/>
            <a:ext cx="274320" cy="274320"/>
          </a:xfrm>
          <a:prstGeom prst="ellipse">
            <a:avLst/>
          </a:prstGeom>
          <a:solidFill>
            <a:srgbClr val="20232A"/>
          </a:solidFill>
          <a:ln w="25400">
            <a:solidFill>
              <a:srgbClr val="61DAFB"/>
            </a:solidFill>
            <a:prstDash val="solid"/>
          </a:ln>
        </p:spPr>
      </p:sp>
      <p:sp>
        <p:nvSpPr>
          <p:cNvPr id="35" name="Text 33"/>
          <p:cNvSpPr txBox="1"/>
          <p:nvPr/>
        </p:nvSpPr>
        <p:spPr>
          <a:xfrm>
            <a:off x="548640" y="5669280"/>
            <a:ext cx="11091672" cy="411480"/>
          </a:xfrm>
          <a:prstGeom prst="rect">
            <a:avLst/>
          </a:prstGeom>
          <a:noFill/>
          <a:ln/>
        </p:spPr>
        <p:txBody>
          <a:bodyPr wrap="square" lIns="0" tIns="0" rIns="0" bIns="0" rtlCol="0" anchor="ctr"/>
          <a:lstStyle/>
          <a:p>
            <a:pPr indent="0" marL="0">
              <a:buNone/>
            </a:pPr>
            <a:r>
              <a:rPr lang="en-US" sz="1250" i="1" dirty="0">
                <a:solidFill>
                  <a:srgbClr val="5C6672"/>
                </a:solidFill>
                <a:latin typeface="Calibri" pitchFamily="34" charset="0"/>
                <a:ea typeface="Calibri" pitchFamily="34" charset="-122"/>
                <a:cs typeface="Calibri" pitchFamily="34" charset="-120"/>
              </a:rPr>
              <a:t>Titik balik terbesar adalah hadirnya Hooks pada 2019 — sejak saat itu function component menjadi cara penulisan standar.</a:t>
            </a:r>
            <a:endParaRPr lang="en-US" sz="1250" dirty="0"/>
          </a:p>
        </p:txBody>
      </p:sp>
      <p:pic>
        <p:nvPicPr>
          <p:cNvPr id="37"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38" name="Text 3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9" name="Text 3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PENGENALAN</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Mengapa Memilih React?</a:t>
            </a:r>
            <a:endParaRPr lang="en-US" sz="3200" dirty="0"/>
          </a:p>
        </p:txBody>
      </p:sp>
      <p:sp>
        <p:nvSpPr>
          <p:cNvPr id="4" name="Shape 2"/>
          <p:cNvSpPr/>
          <p:nvPr/>
        </p:nvSpPr>
        <p:spPr>
          <a:xfrm>
            <a:off x="548640" y="1600200"/>
            <a:ext cx="603504" cy="603504"/>
          </a:xfrm>
          <a:prstGeom prst="ellipse">
            <a:avLst/>
          </a:prstGeom>
          <a:solidFill>
            <a:srgbClr val="20232A"/>
          </a:solidFill>
          <a:ln w="12700">
            <a:solidFill>
              <a:srgbClr val="20232A"/>
            </a:solidFill>
            <a:prstDash val="solid"/>
          </a:ln>
        </p:spPr>
      </p:sp>
      <p:pic>
        <p:nvPicPr>
          <p:cNvPr id="5" name="Image 0" descr="preencoded.png">    </p:cNvPr>
          <p:cNvPicPr>
            <a:picLocks noChangeAspect="1"/>
          </p:cNvPicPr>
          <p:nvPr/>
        </p:nvPicPr>
        <p:blipFill>
          <a:blip r:embed="rId1"/>
          <a:stretch>
            <a:fillRect/>
          </a:stretch>
        </p:blipFill>
        <p:spPr>
          <a:xfrm>
            <a:off x="705551" y="1757111"/>
            <a:ext cx="289682" cy="289682"/>
          </a:xfrm>
          <a:prstGeom prst="rect">
            <a:avLst/>
          </a:prstGeom>
        </p:spPr>
      </p:pic>
      <p:sp>
        <p:nvSpPr>
          <p:cNvPr id="6" name="Text 3"/>
          <p:cNvSpPr txBox="1"/>
          <p:nvPr/>
        </p:nvSpPr>
        <p:spPr>
          <a:xfrm>
            <a:off x="1371600" y="158191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Komponen Dapat Digunakan Ulang</a:t>
            </a:r>
            <a:endParaRPr lang="en-US" sz="1550" dirty="0"/>
          </a:p>
        </p:txBody>
      </p:sp>
      <p:sp>
        <p:nvSpPr>
          <p:cNvPr id="7" name="Text 4"/>
          <p:cNvSpPr txBox="1"/>
          <p:nvPr/>
        </p:nvSpPr>
        <p:spPr>
          <a:xfrm>
            <a:off x="1371600" y="191109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Satu komponen tombol atau kartu bisa dipakai di banyak halaman tanpa duplikasi kode.</a:t>
            </a:r>
            <a:endParaRPr lang="en-US" sz="1200" dirty="0"/>
          </a:p>
        </p:txBody>
      </p:sp>
      <p:sp>
        <p:nvSpPr>
          <p:cNvPr id="8" name="Shape 5"/>
          <p:cNvSpPr/>
          <p:nvPr/>
        </p:nvSpPr>
        <p:spPr>
          <a:xfrm>
            <a:off x="6400800" y="1600200"/>
            <a:ext cx="603504" cy="603504"/>
          </a:xfrm>
          <a:prstGeom prst="ellipse">
            <a:avLst/>
          </a:prstGeom>
          <a:solidFill>
            <a:srgbClr val="20232A"/>
          </a:solidFill>
          <a:ln w="12700">
            <a:solidFill>
              <a:srgbClr val="20232A"/>
            </a:solidFill>
            <a:prstDash val="solid"/>
          </a:ln>
        </p:spPr>
      </p:sp>
      <p:pic>
        <p:nvPicPr>
          <p:cNvPr id="9" name="Image 1" descr="preencoded.png">    </p:cNvPr>
          <p:cNvPicPr>
            <a:picLocks noChangeAspect="1"/>
          </p:cNvPicPr>
          <p:nvPr/>
        </p:nvPicPr>
        <p:blipFill>
          <a:blip r:embed="rId2"/>
          <a:stretch>
            <a:fillRect/>
          </a:stretch>
        </p:blipFill>
        <p:spPr>
          <a:xfrm>
            <a:off x="6557711" y="1757111"/>
            <a:ext cx="289682" cy="289682"/>
          </a:xfrm>
          <a:prstGeom prst="rect">
            <a:avLst/>
          </a:prstGeom>
        </p:spPr>
      </p:pic>
      <p:sp>
        <p:nvSpPr>
          <p:cNvPr id="10" name="Text 6"/>
          <p:cNvSpPr txBox="1"/>
          <p:nvPr/>
        </p:nvSpPr>
        <p:spPr>
          <a:xfrm>
            <a:off x="7223760" y="158191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Performa Tinggi</a:t>
            </a:r>
            <a:endParaRPr lang="en-US" sz="1550" dirty="0"/>
          </a:p>
        </p:txBody>
      </p:sp>
      <p:sp>
        <p:nvSpPr>
          <p:cNvPr id="11" name="Text 7"/>
          <p:cNvSpPr txBox="1"/>
          <p:nvPr/>
        </p:nvSpPr>
        <p:spPr>
          <a:xfrm>
            <a:off x="7223760" y="191109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Virtual DOM meminimalkan operasi ke DOM asli yang mahal secara komputasi.</a:t>
            </a:r>
            <a:endParaRPr lang="en-US" sz="1200" dirty="0"/>
          </a:p>
        </p:txBody>
      </p:sp>
      <p:sp>
        <p:nvSpPr>
          <p:cNvPr id="12" name="Shape 8"/>
          <p:cNvSpPr/>
          <p:nvPr/>
        </p:nvSpPr>
        <p:spPr>
          <a:xfrm>
            <a:off x="548640" y="3154680"/>
            <a:ext cx="603504" cy="603504"/>
          </a:xfrm>
          <a:prstGeom prst="ellipse">
            <a:avLst/>
          </a:prstGeom>
          <a:solidFill>
            <a:srgbClr val="20232A"/>
          </a:solidFill>
          <a:ln w="12700">
            <a:solidFill>
              <a:srgbClr val="20232A"/>
            </a:solidFill>
            <a:prstDash val="solid"/>
          </a:ln>
        </p:spPr>
      </p:sp>
      <p:pic>
        <p:nvPicPr>
          <p:cNvPr id="13" name="Image 2" descr="preencoded.png">    </p:cNvPr>
          <p:cNvPicPr>
            <a:picLocks noChangeAspect="1"/>
          </p:cNvPicPr>
          <p:nvPr/>
        </p:nvPicPr>
        <p:blipFill>
          <a:blip r:embed="rId3"/>
          <a:stretch>
            <a:fillRect/>
          </a:stretch>
        </p:blipFill>
        <p:spPr>
          <a:xfrm>
            <a:off x="705551" y="3311591"/>
            <a:ext cx="289682" cy="289682"/>
          </a:xfrm>
          <a:prstGeom prst="rect">
            <a:avLst/>
          </a:prstGeom>
        </p:spPr>
      </p:pic>
      <p:sp>
        <p:nvSpPr>
          <p:cNvPr id="14" name="Text 9"/>
          <p:cNvSpPr txBox="1"/>
          <p:nvPr/>
        </p:nvSpPr>
        <p:spPr>
          <a:xfrm>
            <a:off x="1371600" y="313639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Ekosistem Sangat Luas</a:t>
            </a:r>
            <a:endParaRPr lang="en-US" sz="1550" dirty="0"/>
          </a:p>
        </p:txBody>
      </p:sp>
      <p:sp>
        <p:nvSpPr>
          <p:cNvPr id="15" name="Text 10"/>
          <p:cNvSpPr txBox="1"/>
          <p:nvPr/>
        </p:nvSpPr>
        <p:spPr>
          <a:xfrm>
            <a:off x="1371600" y="346557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Tersedia pustaka matang untuk routing, form, data fetching, hingga animasi.</a:t>
            </a:r>
            <a:endParaRPr lang="en-US" sz="1200" dirty="0"/>
          </a:p>
        </p:txBody>
      </p:sp>
      <p:sp>
        <p:nvSpPr>
          <p:cNvPr id="16" name="Shape 11"/>
          <p:cNvSpPr/>
          <p:nvPr/>
        </p:nvSpPr>
        <p:spPr>
          <a:xfrm>
            <a:off x="6400800" y="3154680"/>
            <a:ext cx="603504" cy="603504"/>
          </a:xfrm>
          <a:prstGeom prst="ellipse">
            <a:avLst/>
          </a:prstGeom>
          <a:solidFill>
            <a:srgbClr val="20232A"/>
          </a:solidFill>
          <a:ln w="12700">
            <a:solidFill>
              <a:srgbClr val="20232A"/>
            </a:solidFill>
            <a:prstDash val="solid"/>
          </a:ln>
        </p:spPr>
      </p:sp>
      <p:pic>
        <p:nvPicPr>
          <p:cNvPr id="17" name="Image 3" descr="preencoded.png">    </p:cNvPr>
          <p:cNvPicPr>
            <a:picLocks noChangeAspect="1"/>
          </p:cNvPicPr>
          <p:nvPr/>
        </p:nvPicPr>
        <p:blipFill>
          <a:blip r:embed="rId4"/>
          <a:stretch>
            <a:fillRect/>
          </a:stretch>
        </p:blipFill>
        <p:spPr>
          <a:xfrm>
            <a:off x="6557711" y="3311591"/>
            <a:ext cx="289682" cy="289682"/>
          </a:xfrm>
          <a:prstGeom prst="rect">
            <a:avLst/>
          </a:prstGeom>
        </p:spPr>
      </p:pic>
      <p:sp>
        <p:nvSpPr>
          <p:cNvPr id="18" name="Text 12"/>
          <p:cNvSpPr txBox="1"/>
          <p:nvPr/>
        </p:nvSpPr>
        <p:spPr>
          <a:xfrm>
            <a:off x="7223760" y="313639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Komunitas &amp; Karier</a:t>
            </a:r>
            <a:endParaRPr lang="en-US" sz="1550" dirty="0"/>
          </a:p>
        </p:txBody>
      </p:sp>
      <p:sp>
        <p:nvSpPr>
          <p:cNvPr id="19" name="Text 13"/>
          <p:cNvSpPr txBox="1"/>
          <p:nvPr/>
        </p:nvSpPr>
        <p:spPr>
          <a:xfrm>
            <a:off x="7223760" y="346557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Salah satu skill front-end paling banyak diminta pada lowongan kerja.</a:t>
            </a:r>
            <a:endParaRPr lang="en-US" sz="1200" dirty="0"/>
          </a:p>
        </p:txBody>
      </p:sp>
      <p:sp>
        <p:nvSpPr>
          <p:cNvPr id="20" name="Shape 14"/>
          <p:cNvSpPr/>
          <p:nvPr/>
        </p:nvSpPr>
        <p:spPr>
          <a:xfrm>
            <a:off x="548640" y="4709160"/>
            <a:ext cx="603504" cy="603504"/>
          </a:xfrm>
          <a:prstGeom prst="ellipse">
            <a:avLst/>
          </a:prstGeom>
          <a:solidFill>
            <a:srgbClr val="20232A"/>
          </a:solidFill>
          <a:ln w="12700">
            <a:solidFill>
              <a:srgbClr val="20232A"/>
            </a:solidFill>
            <a:prstDash val="solid"/>
          </a:ln>
        </p:spPr>
      </p:sp>
      <p:pic>
        <p:nvPicPr>
          <p:cNvPr id="21" name="Image 4" descr="preencoded.png">    </p:cNvPr>
          <p:cNvPicPr>
            <a:picLocks noChangeAspect="1"/>
          </p:cNvPicPr>
          <p:nvPr/>
        </p:nvPicPr>
        <p:blipFill>
          <a:blip r:embed="rId5"/>
          <a:stretch>
            <a:fillRect/>
          </a:stretch>
        </p:blipFill>
        <p:spPr>
          <a:xfrm>
            <a:off x="705551" y="4866071"/>
            <a:ext cx="289682" cy="289682"/>
          </a:xfrm>
          <a:prstGeom prst="rect">
            <a:avLst/>
          </a:prstGeom>
        </p:spPr>
      </p:pic>
      <p:sp>
        <p:nvSpPr>
          <p:cNvPr id="22" name="Text 15"/>
          <p:cNvSpPr txBox="1"/>
          <p:nvPr/>
        </p:nvSpPr>
        <p:spPr>
          <a:xfrm>
            <a:off x="1371600" y="469087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Kurva Belajar Wajar</a:t>
            </a:r>
            <a:endParaRPr lang="en-US" sz="1550" dirty="0"/>
          </a:p>
        </p:txBody>
      </p:sp>
      <p:sp>
        <p:nvSpPr>
          <p:cNvPr id="23" name="Text 16"/>
          <p:cNvSpPr txBox="1"/>
          <p:nvPr/>
        </p:nvSpPr>
        <p:spPr>
          <a:xfrm>
            <a:off x="1371600" y="502005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Cukup menguasai JavaScript modern; tidak perlu bahasa atau sintaks template khusus.</a:t>
            </a:r>
            <a:endParaRPr lang="en-US" sz="1200" dirty="0"/>
          </a:p>
        </p:txBody>
      </p:sp>
      <p:sp>
        <p:nvSpPr>
          <p:cNvPr id="24" name="Shape 17"/>
          <p:cNvSpPr/>
          <p:nvPr/>
        </p:nvSpPr>
        <p:spPr>
          <a:xfrm>
            <a:off x="6400800" y="4709160"/>
            <a:ext cx="603504" cy="603504"/>
          </a:xfrm>
          <a:prstGeom prst="ellipse">
            <a:avLst/>
          </a:prstGeom>
          <a:solidFill>
            <a:srgbClr val="20232A"/>
          </a:solidFill>
          <a:ln w="12700">
            <a:solidFill>
              <a:srgbClr val="20232A"/>
            </a:solidFill>
            <a:prstDash val="solid"/>
          </a:ln>
        </p:spPr>
      </p:sp>
      <p:pic>
        <p:nvPicPr>
          <p:cNvPr id="25" name="Image 5" descr="preencoded.png">    </p:cNvPr>
          <p:cNvPicPr>
            <a:picLocks noChangeAspect="1"/>
          </p:cNvPicPr>
          <p:nvPr/>
        </p:nvPicPr>
        <p:blipFill>
          <a:blip r:embed="rId6"/>
          <a:stretch>
            <a:fillRect/>
          </a:stretch>
        </p:blipFill>
        <p:spPr>
          <a:xfrm>
            <a:off x="6557711" y="4866071"/>
            <a:ext cx="289682" cy="289682"/>
          </a:xfrm>
          <a:prstGeom prst="rect">
            <a:avLst/>
          </a:prstGeom>
        </p:spPr>
      </p:pic>
      <p:sp>
        <p:nvSpPr>
          <p:cNvPr id="26" name="Text 18"/>
          <p:cNvSpPr txBox="1"/>
          <p:nvPr/>
        </p:nvSpPr>
        <p:spPr>
          <a:xfrm>
            <a:off x="7223760" y="4690872"/>
            <a:ext cx="457200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Fleksibel</a:t>
            </a:r>
            <a:endParaRPr lang="en-US" sz="1550" dirty="0"/>
          </a:p>
        </p:txBody>
      </p:sp>
      <p:sp>
        <p:nvSpPr>
          <p:cNvPr id="27" name="Text 19"/>
          <p:cNvSpPr txBox="1"/>
          <p:nvPr/>
        </p:nvSpPr>
        <p:spPr>
          <a:xfrm>
            <a:off x="7223760" y="5020056"/>
            <a:ext cx="4572000" cy="685800"/>
          </a:xfrm>
          <a:prstGeom prst="rect">
            <a:avLst/>
          </a:prstGeom>
          <a:noFill/>
          <a:ln/>
        </p:spPr>
        <p:txBody>
          <a:bodyPr wrap="square" lIns="0" tIns="0" rIns="0" bIns="0" rtlCol="0" anchor="t"/>
          <a:lstStyle/>
          <a:p>
            <a:pPr indent="0" marL="0">
              <a:lnSpc>
                <a:spcPct val="112000"/>
              </a:lnSpc>
              <a:buNone/>
            </a:pPr>
            <a:r>
              <a:rPr lang="en-US" sz="1200" dirty="0">
                <a:solidFill>
                  <a:srgbClr val="5C6672"/>
                </a:solidFill>
                <a:latin typeface="Calibri" pitchFamily="34" charset="0"/>
                <a:ea typeface="Calibri" pitchFamily="34" charset="-122"/>
                <a:cs typeface="Calibri" pitchFamily="34" charset="-120"/>
              </a:rPr>
              <a:t>Bisa dipakai untuk SPA, website statis, aplikasi mobile, sampai aplikasi desktop.</a:t>
            </a:r>
            <a:endParaRPr lang="en-US" sz="1200" dirty="0"/>
          </a:p>
        </p:txBody>
      </p:sp>
      <p:pic>
        <p:nvPicPr>
          <p:cNvPr id="29"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30" name="Text 20"/>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1" name="Text 21"/>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PENGENALAN</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React vs Angular vs Vue</a:t>
            </a:r>
            <a:endParaRPr lang="en-US" sz="3200" dirty="0"/>
          </a:p>
        </p:txBody>
      </p:sp>
      <p:pic>
        <p:nvPicPr>
          <p:cNvPr id="4" name="Image 0" descr="preencoded.png">    </p:cNvPr>
          <p:cNvPicPr>
            <a:picLocks noChangeAspect="1"/>
          </p:cNvPicPr>
          <p:nvPr/>
        </p:nvPicPr>
        <p:blipFill>
          <a:blip r:embed="rId1"/>
          <a:stretch>
            <a:fillRect/>
          </a:stretch>
        </p:blipFill>
        <p:spPr>
          <a:xfrm>
            <a:off x="4453128" y="1417320"/>
            <a:ext cx="420624" cy="420624"/>
          </a:xfrm>
          <a:prstGeom prst="rect">
            <a:avLst/>
          </a:prstGeom>
        </p:spPr>
      </p:pic>
      <p:pic>
        <p:nvPicPr>
          <p:cNvPr id="5" name="Image 1" descr="preencoded.png">    </p:cNvPr>
          <p:cNvPicPr>
            <a:picLocks noChangeAspect="1"/>
          </p:cNvPicPr>
          <p:nvPr/>
        </p:nvPicPr>
        <p:blipFill>
          <a:blip r:embed="rId2"/>
          <a:stretch>
            <a:fillRect/>
          </a:stretch>
        </p:blipFill>
        <p:spPr>
          <a:xfrm>
            <a:off x="7287768" y="1417320"/>
            <a:ext cx="420624" cy="420624"/>
          </a:xfrm>
          <a:prstGeom prst="rect">
            <a:avLst/>
          </a:prstGeom>
        </p:spPr>
      </p:pic>
      <p:pic>
        <p:nvPicPr>
          <p:cNvPr id="6" name="Image 2" descr="preencoded.png">    </p:cNvPr>
          <p:cNvPicPr>
            <a:picLocks noChangeAspect="1"/>
          </p:cNvPicPr>
          <p:nvPr/>
        </p:nvPicPr>
        <p:blipFill>
          <a:blip r:embed="rId3"/>
          <a:stretch>
            <a:fillRect/>
          </a:stretch>
        </p:blipFill>
        <p:spPr>
          <a:xfrm>
            <a:off x="10049256" y="1417320"/>
            <a:ext cx="420624" cy="420624"/>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651760"/>
                <a:gridCol w="2926080"/>
                <a:gridCol w="2743200"/>
                <a:gridCol w="2770632"/>
              </a:tblGrid>
              <a:tr h="457200">
                <a:tc>
                  <a:txBody>
                    <a:bodyPr/>
                    <a:lstStyle/>
                    <a:p>
                      <a:pPr indent="0" marL="0">
                        <a:buNone/>
                      </a:pPr>
                      <a:r>
                        <a:rPr lang="en-US" sz="1250" b="1" dirty="0">
                          <a:solidFill>
                            <a:srgbClr val="1B2029"/>
                          </a:solidFill>
                          <a:latin typeface="Calibri" pitchFamily="34" charset="0"/>
                          <a:ea typeface="Calibri" pitchFamily="34" charset="-122"/>
                          <a:cs typeface="Calibri" pitchFamily="34" charset="-120"/>
                        </a:rPr>
                        <a:t>Aspek</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b="1" dirty="0">
                          <a:solidFill>
                            <a:srgbClr val="1B2029"/>
                          </a:solidFill>
                          <a:latin typeface="Calibri" pitchFamily="34" charset="0"/>
                          <a:ea typeface="Calibri" pitchFamily="34" charset="-122"/>
                          <a:cs typeface="Calibri" pitchFamily="34" charset="-120"/>
                        </a:rPr>
                        <a:t>React</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b="1" dirty="0">
                          <a:solidFill>
                            <a:srgbClr val="1B2029"/>
                          </a:solidFill>
                          <a:latin typeface="Calibri" pitchFamily="34" charset="0"/>
                          <a:ea typeface="Calibri" pitchFamily="34" charset="-122"/>
                          <a:cs typeface="Calibri" pitchFamily="34" charset="-120"/>
                        </a:rPr>
                        <a:t>Angular</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b="1" dirty="0">
                          <a:solidFill>
                            <a:srgbClr val="1B2029"/>
                          </a:solidFill>
                          <a:latin typeface="Calibri" pitchFamily="34" charset="0"/>
                          <a:ea typeface="Calibri" pitchFamily="34" charset="-122"/>
                          <a:cs typeface="Calibri" pitchFamily="34" charset="-120"/>
                        </a:rPr>
                        <a:t>Vue</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Jenis</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Library UI</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Framework lengkap</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Framework progresif</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Pengembang</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Meta (Facebook)</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Google</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Evan You &amp; komunitas</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Bahasa utama</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JavaScript / JSX</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TypeScript</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JavaScript / SFC</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Kurva belajar</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Sedang</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Curam</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Landai</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Routing &amp; HTTP</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Pustaka pihak ketiga</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Sudah bawaan</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Resmi, terpisah</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Ukuran inti</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Kecil (fleksibel)</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Besar (lengkap)</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Kecil–sedang</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Cocok untuk</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Proyek apa pun, tim besar</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Aplikasi enterprise</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c>
                  <a:txBody>
                    <a:bodyPr/>
                    <a:lstStyle/>
                    <a:p>
                      <a:pPr indent="0" marL="0">
                        <a:buNone/>
                      </a:pPr>
                      <a:r>
                        <a:rPr lang="en-US" sz="1250" dirty="0">
                          <a:solidFill>
                            <a:srgbClr val="1B2029"/>
                          </a:solidFill>
                          <a:latin typeface="Calibri" pitchFamily="34" charset="0"/>
                          <a:ea typeface="Calibri" pitchFamily="34" charset="-122"/>
                          <a:cs typeface="Calibri" pitchFamily="34" charset="-120"/>
                        </a:rPr>
                        <a:t>Proyek cepat &amp; ringan</a:t>
                      </a:r>
                      <a:endParaRPr lang="en-US" sz="1250" dirty="0">
                        <a:latin typeface="Calibri" charset="0"/>
                        <a:ea typeface="Calibri" charset="0"/>
                        <a:cs typeface="Calibri" charset="0"/>
                      </a:endParaRPr>
                    </a:p>
                  </a:txBody>
                  <a:tcPr marL="127000" marR="127000" marT="50800" marB="50800" anchor="ctr">
                    <a:lnL w="12700" cap="flat" cmpd="sng" algn="ctr">
                      <a:solidFill>
                        <a:srgbClr val="DCE6EC"/>
                      </a:solidFill>
                      <a:prstDash val="solid"/>
                      <a:round/>
                      <a:headEnd type="none" w="med" len="med"/>
                      <a:tailEnd type="none" w="med" len="med"/>
                    </a:lnL>
                    <a:lnR w="12700" cap="flat" cmpd="sng" algn="ctr">
                      <a:solidFill>
                        <a:srgbClr val="DCE6EC"/>
                      </a:solidFill>
                      <a:prstDash val="solid"/>
                      <a:round/>
                      <a:headEnd type="none" w="med" len="med"/>
                      <a:tailEnd type="none" w="med" len="med"/>
                    </a:lnR>
                    <a:lnT w="12700" cap="flat" cmpd="sng" algn="ctr">
                      <a:solidFill>
                        <a:srgbClr val="DCE6EC"/>
                      </a:solidFill>
                      <a:prstDash val="solid"/>
                      <a:round/>
                      <a:headEnd type="none" w="med" len="med"/>
                      <a:tailEnd type="none" w="med" len="med"/>
                    </a:lnT>
                    <a:lnB w="12700" cap="flat" cmpd="sng" algn="ctr">
                      <a:solidFill>
                        <a:srgbClr val="DCE6EC"/>
                      </a:solidFill>
                      <a:prstDash val="solid"/>
                      <a:round/>
                      <a:headEnd type="none" w="med" len="med"/>
                      <a:tailEnd type="none" w="med" len="med"/>
                    </a:lnB>
                    <a:solidFill>
                      <a:srgbClr val="FFFFFF"/>
                    </a:solidFill>
                  </a:tcPr>
                </a:tc>
              </a:tr>
            </a:tbl>
          </a:graphicData>
        </a:graphic>
      </p:graphicFrame>
      <p:sp>
        <p:nvSpPr>
          <p:cNvPr id="8" name="Shape 2"/>
          <p:cNvSpPr/>
          <p:nvPr/>
        </p:nvSpPr>
        <p:spPr>
          <a:xfrm>
            <a:off x="548640" y="1965960"/>
            <a:ext cx="11091672" cy="457200"/>
          </a:xfrm>
          <a:prstGeom prst="rect">
            <a:avLst/>
          </a:prstGeom>
          <a:solidFill>
            <a:srgbClr val="20232A"/>
          </a:solidFill>
          <a:ln w="12700">
            <a:solidFill>
              <a:srgbClr val="20232A"/>
            </a:solidFill>
            <a:prstDash val="solid"/>
          </a:ln>
        </p:spPr>
      </p:sp>
      <p:sp>
        <p:nvSpPr>
          <p:cNvPr id="9" name="Text 3"/>
          <p:cNvSpPr txBox="1"/>
          <p:nvPr/>
        </p:nvSpPr>
        <p:spPr>
          <a:xfrm>
            <a:off x="640080" y="1965960"/>
            <a:ext cx="256032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Aspek</a:t>
            </a:r>
            <a:endParaRPr lang="en-US" sz="1250" dirty="0"/>
          </a:p>
        </p:txBody>
      </p:sp>
      <p:sp>
        <p:nvSpPr>
          <p:cNvPr id="10" name="Text 4"/>
          <p:cNvSpPr txBox="1"/>
          <p:nvPr/>
        </p:nvSpPr>
        <p:spPr>
          <a:xfrm>
            <a:off x="3291840" y="1965960"/>
            <a:ext cx="2743200" cy="457200"/>
          </a:xfrm>
          <a:prstGeom prst="rect">
            <a:avLst/>
          </a:prstGeom>
          <a:noFill/>
          <a:ln/>
        </p:spPr>
        <p:txBody>
          <a:bodyPr wrap="square" lIns="0" tIns="0" rIns="0" bIns="0" rtlCol="0" anchor="ctr"/>
          <a:lstStyle/>
          <a:p>
            <a:pPr indent="0" marL="0">
              <a:buNone/>
            </a:pPr>
            <a:r>
              <a:rPr lang="en-US" sz="1250" b="1" dirty="0">
                <a:solidFill>
                  <a:srgbClr val="61DAFB"/>
                </a:solidFill>
                <a:latin typeface="Calibri" pitchFamily="34" charset="0"/>
                <a:ea typeface="Calibri" pitchFamily="34" charset="-122"/>
                <a:cs typeface="Calibri" pitchFamily="34" charset="-120"/>
              </a:rPr>
              <a:t>React</a:t>
            </a:r>
            <a:endParaRPr lang="en-US" sz="1250" dirty="0"/>
          </a:p>
        </p:txBody>
      </p:sp>
      <p:sp>
        <p:nvSpPr>
          <p:cNvPr id="11" name="Text 5"/>
          <p:cNvSpPr txBox="1"/>
          <p:nvPr/>
        </p:nvSpPr>
        <p:spPr>
          <a:xfrm>
            <a:off x="6217920" y="1965960"/>
            <a:ext cx="256032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Angular</a:t>
            </a:r>
            <a:endParaRPr lang="en-US" sz="1250" dirty="0"/>
          </a:p>
        </p:txBody>
      </p:sp>
      <p:sp>
        <p:nvSpPr>
          <p:cNvPr id="12" name="Text 6"/>
          <p:cNvSpPr txBox="1"/>
          <p:nvPr/>
        </p:nvSpPr>
        <p:spPr>
          <a:xfrm>
            <a:off x="8961120" y="1965960"/>
            <a:ext cx="256032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Vue</a:t>
            </a:r>
            <a:endParaRPr lang="en-US" sz="1250" dirty="0"/>
          </a:p>
        </p:txBody>
      </p:sp>
      <p:sp>
        <p:nvSpPr>
          <p:cNvPr id="13" name="Text 7"/>
          <p:cNvSpPr txBox="1"/>
          <p:nvPr/>
        </p:nvSpPr>
        <p:spPr>
          <a:xfrm>
            <a:off x="548640" y="5806440"/>
            <a:ext cx="11091672" cy="365760"/>
          </a:xfrm>
          <a:prstGeom prst="rect">
            <a:avLst/>
          </a:prstGeom>
          <a:noFill/>
          <a:ln/>
        </p:spPr>
        <p:txBody>
          <a:bodyPr wrap="square" lIns="0" tIns="0" rIns="0" bIns="0" rtlCol="0" anchor="ctr"/>
          <a:lstStyle/>
          <a:p>
            <a:pPr indent="0" marL="0">
              <a:buNone/>
            </a:pPr>
            <a:r>
              <a:rPr lang="en-US" sz="1200" i="1" dirty="0">
                <a:solidFill>
                  <a:srgbClr val="5C6672"/>
                </a:solidFill>
                <a:latin typeface="Calibri" pitchFamily="34" charset="0"/>
                <a:ea typeface="Calibri" pitchFamily="34" charset="-122"/>
                <a:cs typeface="Calibri" pitchFamily="34" charset="-120"/>
              </a:rPr>
              <a:t>Ketiganya mampu membangun aplikasi modern. Pemilihan lebih ditentukan kebutuhan tim, ketersediaan SDM, dan ekosistem proyek.</a:t>
            </a:r>
            <a:endParaRPr lang="en-US" sz="1200" dirty="0"/>
          </a:p>
        </p:txBody>
      </p:sp>
      <p:pic>
        <p:nvPicPr>
          <p:cNvPr id="15" name="Image 3" descr="preencoded.png">    </p:cNvPr>
          <p:cNvPicPr>
            <a:picLocks noChangeAspect="1"/>
          </p:cNvPicPr>
          <p:nvPr/>
        </p:nvPicPr>
        <p:blipFill>
          <a:blip r:embed="rId4"/>
          <a:stretch>
            <a:fillRect/>
          </a:stretch>
        </p:blipFill>
        <p:spPr>
          <a:xfrm>
            <a:off x="502920" y="6382512"/>
            <a:ext cx="201168" cy="201168"/>
          </a:xfrm>
          <a:prstGeom prst="rect">
            <a:avLst/>
          </a:prstGeom>
        </p:spPr>
      </p:pic>
      <p:sp>
        <p:nvSpPr>
          <p:cNvPr id="16" name="Text 8"/>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7" name="Text 9"/>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PENGENALAN</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Ekosistem React</a:t>
            </a:r>
            <a:endParaRPr lang="en-US" sz="3200" dirty="0"/>
          </a:p>
        </p:txBody>
      </p:sp>
      <p:sp>
        <p:nvSpPr>
          <p:cNvPr id="4" name="Shape 2"/>
          <p:cNvSpPr/>
          <p:nvPr/>
        </p:nvSpPr>
        <p:spPr>
          <a:xfrm>
            <a:off x="557784" y="160020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5" name="Image 0" descr="preencoded.png">    </p:cNvPr>
          <p:cNvPicPr>
            <a:picLocks noChangeAspect="1"/>
          </p:cNvPicPr>
          <p:nvPr/>
        </p:nvPicPr>
        <p:blipFill>
          <a:blip r:embed="rId1"/>
          <a:stretch>
            <a:fillRect/>
          </a:stretch>
        </p:blipFill>
        <p:spPr>
          <a:xfrm>
            <a:off x="1353312" y="1837944"/>
            <a:ext cx="493776" cy="493776"/>
          </a:xfrm>
          <a:prstGeom prst="rect">
            <a:avLst/>
          </a:prstGeom>
        </p:spPr>
      </p:pic>
      <p:sp>
        <p:nvSpPr>
          <p:cNvPr id="6" name="Text 3"/>
          <p:cNvSpPr txBox="1"/>
          <p:nvPr/>
        </p:nvSpPr>
        <p:spPr>
          <a:xfrm>
            <a:off x="694944" y="244144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Next.js</a:t>
            </a:r>
            <a:endParaRPr lang="en-US" sz="1300" dirty="0"/>
          </a:p>
        </p:txBody>
      </p:sp>
      <p:sp>
        <p:nvSpPr>
          <p:cNvPr id="7" name="Text 4"/>
          <p:cNvSpPr txBox="1"/>
          <p:nvPr/>
        </p:nvSpPr>
        <p:spPr>
          <a:xfrm>
            <a:off x="694944" y="273405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Framework React untuk SSR, routing, dan SEO.</a:t>
            </a:r>
            <a:endParaRPr lang="en-US" sz="1000" dirty="0"/>
          </a:p>
        </p:txBody>
      </p:sp>
      <p:sp>
        <p:nvSpPr>
          <p:cNvPr id="8" name="Shape 5"/>
          <p:cNvSpPr/>
          <p:nvPr/>
        </p:nvSpPr>
        <p:spPr>
          <a:xfrm>
            <a:off x="2807208" y="160020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9" name="Image 1" descr="preencoded.png">    </p:cNvPr>
          <p:cNvPicPr>
            <a:picLocks noChangeAspect="1"/>
          </p:cNvPicPr>
          <p:nvPr/>
        </p:nvPicPr>
        <p:blipFill>
          <a:blip r:embed="rId2"/>
          <a:stretch>
            <a:fillRect/>
          </a:stretch>
        </p:blipFill>
        <p:spPr>
          <a:xfrm>
            <a:off x="3602736" y="1837944"/>
            <a:ext cx="493776" cy="493776"/>
          </a:xfrm>
          <a:prstGeom prst="rect">
            <a:avLst/>
          </a:prstGeom>
        </p:spPr>
      </p:pic>
      <p:sp>
        <p:nvSpPr>
          <p:cNvPr id="10" name="Text 6"/>
          <p:cNvSpPr txBox="1"/>
          <p:nvPr/>
        </p:nvSpPr>
        <p:spPr>
          <a:xfrm>
            <a:off x="2944368" y="244144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Vite</a:t>
            </a:r>
            <a:endParaRPr lang="en-US" sz="1300" dirty="0"/>
          </a:p>
        </p:txBody>
      </p:sp>
      <p:sp>
        <p:nvSpPr>
          <p:cNvPr id="11" name="Text 7"/>
          <p:cNvSpPr txBox="1"/>
          <p:nvPr/>
        </p:nvSpPr>
        <p:spPr>
          <a:xfrm>
            <a:off x="2944368" y="273405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Build tool cepat untuk membuat proyek React.</a:t>
            </a:r>
            <a:endParaRPr lang="en-US" sz="1000" dirty="0"/>
          </a:p>
        </p:txBody>
      </p:sp>
      <p:sp>
        <p:nvSpPr>
          <p:cNvPr id="12" name="Shape 8"/>
          <p:cNvSpPr/>
          <p:nvPr/>
        </p:nvSpPr>
        <p:spPr>
          <a:xfrm>
            <a:off x="5056632" y="160020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13" name="Image 2" descr="preencoded.png">    </p:cNvPr>
          <p:cNvPicPr>
            <a:picLocks noChangeAspect="1"/>
          </p:cNvPicPr>
          <p:nvPr/>
        </p:nvPicPr>
        <p:blipFill>
          <a:blip r:embed="rId3"/>
          <a:stretch>
            <a:fillRect/>
          </a:stretch>
        </p:blipFill>
        <p:spPr>
          <a:xfrm>
            <a:off x="5852160" y="1837944"/>
            <a:ext cx="493776" cy="493776"/>
          </a:xfrm>
          <a:prstGeom prst="rect">
            <a:avLst/>
          </a:prstGeom>
        </p:spPr>
      </p:pic>
      <p:sp>
        <p:nvSpPr>
          <p:cNvPr id="14" name="Text 9"/>
          <p:cNvSpPr txBox="1"/>
          <p:nvPr/>
        </p:nvSpPr>
        <p:spPr>
          <a:xfrm>
            <a:off x="5193792" y="244144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React Router</a:t>
            </a:r>
            <a:endParaRPr lang="en-US" sz="1300" dirty="0"/>
          </a:p>
        </p:txBody>
      </p:sp>
      <p:sp>
        <p:nvSpPr>
          <p:cNvPr id="15" name="Text 10"/>
          <p:cNvSpPr txBox="1"/>
          <p:nvPr/>
        </p:nvSpPr>
        <p:spPr>
          <a:xfrm>
            <a:off x="5193792" y="273405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Navigasi antar halaman pada aplikasi SPA.</a:t>
            </a:r>
            <a:endParaRPr lang="en-US" sz="1000" dirty="0"/>
          </a:p>
        </p:txBody>
      </p:sp>
      <p:sp>
        <p:nvSpPr>
          <p:cNvPr id="16" name="Shape 11"/>
          <p:cNvSpPr/>
          <p:nvPr/>
        </p:nvSpPr>
        <p:spPr>
          <a:xfrm>
            <a:off x="7306056" y="160020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17" name="Image 3" descr="preencoded.png">    </p:cNvPr>
          <p:cNvPicPr>
            <a:picLocks noChangeAspect="1"/>
          </p:cNvPicPr>
          <p:nvPr/>
        </p:nvPicPr>
        <p:blipFill>
          <a:blip r:embed="rId4"/>
          <a:stretch>
            <a:fillRect/>
          </a:stretch>
        </p:blipFill>
        <p:spPr>
          <a:xfrm>
            <a:off x="8101584" y="1837944"/>
            <a:ext cx="493776" cy="493776"/>
          </a:xfrm>
          <a:prstGeom prst="rect">
            <a:avLst/>
          </a:prstGeom>
        </p:spPr>
      </p:pic>
      <p:sp>
        <p:nvSpPr>
          <p:cNvPr id="18" name="Text 12"/>
          <p:cNvSpPr txBox="1"/>
          <p:nvPr/>
        </p:nvSpPr>
        <p:spPr>
          <a:xfrm>
            <a:off x="7443216" y="244144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Redux Toolkit</a:t>
            </a:r>
            <a:endParaRPr lang="en-US" sz="1300" dirty="0"/>
          </a:p>
        </p:txBody>
      </p:sp>
      <p:sp>
        <p:nvSpPr>
          <p:cNvPr id="19" name="Text 13"/>
          <p:cNvSpPr txBox="1"/>
          <p:nvPr/>
        </p:nvSpPr>
        <p:spPr>
          <a:xfrm>
            <a:off x="7443216" y="273405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Manajemen state global yang terstruktur.</a:t>
            </a:r>
            <a:endParaRPr lang="en-US" sz="1000" dirty="0"/>
          </a:p>
        </p:txBody>
      </p:sp>
      <p:sp>
        <p:nvSpPr>
          <p:cNvPr id="20" name="Shape 14"/>
          <p:cNvSpPr/>
          <p:nvPr/>
        </p:nvSpPr>
        <p:spPr>
          <a:xfrm>
            <a:off x="9555480" y="160020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21" name="Image 4" descr="preencoded.png">    </p:cNvPr>
          <p:cNvPicPr>
            <a:picLocks noChangeAspect="1"/>
          </p:cNvPicPr>
          <p:nvPr/>
        </p:nvPicPr>
        <p:blipFill>
          <a:blip r:embed="rId5"/>
          <a:stretch>
            <a:fillRect/>
          </a:stretch>
        </p:blipFill>
        <p:spPr>
          <a:xfrm>
            <a:off x="10351008" y="1837944"/>
            <a:ext cx="493776" cy="493776"/>
          </a:xfrm>
          <a:prstGeom prst="rect">
            <a:avLst/>
          </a:prstGeom>
        </p:spPr>
      </p:pic>
      <p:sp>
        <p:nvSpPr>
          <p:cNvPr id="22" name="Text 15"/>
          <p:cNvSpPr txBox="1"/>
          <p:nvPr/>
        </p:nvSpPr>
        <p:spPr>
          <a:xfrm>
            <a:off x="9692640" y="244144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TanStack Query</a:t>
            </a:r>
            <a:endParaRPr lang="en-US" sz="1300" dirty="0"/>
          </a:p>
        </p:txBody>
      </p:sp>
      <p:sp>
        <p:nvSpPr>
          <p:cNvPr id="23" name="Text 16"/>
          <p:cNvSpPr txBox="1"/>
          <p:nvPr/>
        </p:nvSpPr>
        <p:spPr>
          <a:xfrm>
            <a:off x="9692640" y="273405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Fetching, caching, dan sinkronisasi data server.</a:t>
            </a:r>
            <a:endParaRPr lang="en-US" sz="1000" dirty="0"/>
          </a:p>
        </p:txBody>
      </p:sp>
      <p:sp>
        <p:nvSpPr>
          <p:cNvPr id="24" name="Shape 17"/>
          <p:cNvSpPr/>
          <p:nvPr/>
        </p:nvSpPr>
        <p:spPr>
          <a:xfrm>
            <a:off x="557784" y="379476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25" name="Image 5" descr="preencoded.png">    </p:cNvPr>
          <p:cNvPicPr>
            <a:picLocks noChangeAspect="1"/>
          </p:cNvPicPr>
          <p:nvPr/>
        </p:nvPicPr>
        <p:blipFill>
          <a:blip r:embed="rId6"/>
          <a:stretch>
            <a:fillRect/>
          </a:stretch>
        </p:blipFill>
        <p:spPr>
          <a:xfrm>
            <a:off x="1353312" y="4032504"/>
            <a:ext cx="493776" cy="493776"/>
          </a:xfrm>
          <a:prstGeom prst="rect">
            <a:avLst/>
          </a:prstGeom>
        </p:spPr>
      </p:pic>
      <p:sp>
        <p:nvSpPr>
          <p:cNvPr id="26" name="Text 18"/>
          <p:cNvSpPr txBox="1"/>
          <p:nvPr/>
        </p:nvSpPr>
        <p:spPr>
          <a:xfrm>
            <a:off x="694944" y="463600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TypeScript</a:t>
            </a:r>
            <a:endParaRPr lang="en-US" sz="1300" dirty="0"/>
          </a:p>
        </p:txBody>
      </p:sp>
      <p:sp>
        <p:nvSpPr>
          <p:cNvPr id="27" name="Text 19"/>
          <p:cNvSpPr txBox="1"/>
          <p:nvPr/>
        </p:nvSpPr>
        <p:spPr>
          <a:xfrm>
            <a:off x="694944" y="492861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Menambahkan tipe data agar kode lebih aman.</a:t>
            </a:r>
            <a:endParaRPr lang="en-US" sz="1000" dirty="0"/>
          </a:p>
        </p:txBody>
      </p:sp>
      <p:sp>
        <p:nvSpPr>
          <p:cNvPr id="28" name="Shape 20"/>
          <p:cNvSpPr/>
          <p:nvPr/>
        </p:nvSpPr>
        <p:spPr>
          <a:xfrm>
            <a:off x="2807208" y="379476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29" name="Image 6" descr="preencoded.png">    </p:cNvPr>
          <p:cNvPicPr>
            <a:picLocks noChangeAspect="1"/>
          </p:cNvPicPr>
          <p:nvPr/>
        </p:nvPicPr>
        <p:blipFill>
          <a:blip r:embed="rId7"/>
          <a:stretch>
            <a:fillRect/>
          </a:stretch>
        </p:blipFill>
        <p:spPr>
          <a:xfrm>
            <a:off x="3602736" y="4032504"/>
            <a:ext cx="493776" cy="493776"/>
          </a:xfrm>
          <a:prstGeom prst="rect">
            <a:avLst/>
          </a:prstGeom>
        </p:spPr>
      </p:pic>
      <p:sp>
        <p:nvSpPr>
          <p:cNvPr id="30" name="Text 21"/>
          <p:cNvSpPr txBox="1"/>
          <p:nvPr/>
        </p:nvSpPr>
        <p:spPr>
          <a:xfrm>
            <a:off x="2944368" y="463600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Tailwind CSS</a:t>
            </a:r>
            <a:endParaRPr lang="en-US" sz="1300" dirty="0"/>
          </a:p>
        </p:txBody>
      </p:sp>
      <p:sp>
        <p:nvSpPr>
          <p:cNvPr id="31" name="Text 22"/>
          <p:cNvSpPr txBox="1"/>
          <p:nvPr/>
        </p:nvSpPr>
        <p:spPr>
          <a:xfrm>
            <a:off x="2944368" y="492861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Styling cepat dengan utility class.</a:t>
            </a:r>
            <a:endParaRPr lang="en-US" sz="1000" dirty="0"/>
          </a:p>
        </p:txBody>
      </p:sp>
      <p:sp>
        <p:nvSpPr>
          <p:cNvPr id="32" name="Shape 23"/>
          <p:cNvSpPr/>
          <p:nvPr/>
        </p:nvSpPr>
        <p:spPr>
          <a:xfrm>
            <a:off x="5056632" y="379476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33" name="Image 7" descr="preencoded.png">    </p:cNvPr>
          <p:cNvPicPr>
            <a:picLocks noChangeAspect="1"/>
          </p:cNvPicPr>
          <p:nvPr/>
        </p:nvPicPr>
        <p:blipFill>
          <a:blip r:embed="rId8"/>
          <a:stretch>
            <a:fillRect/>
          </a:stretch>
        </p:blipFill>
        <p:spPr>
          <a:xfrm>
            <a:off x="5852160" y="4032504"/>
            <a:ext cx="493776" cy="493776"/>
          </a:xfrm>
          <a:prstGeom prst="rect">
            <a:avLst/>
          </a:prstGeom>
        </p:spPr>
      </p:pic>
      <p:sp>
        <p:nvSpPr>
          <p:cNvPr id="34" name="Text 24"/>
          <p:cNvSpPr txBox="1"/>
          <p:nvPr/>
        </p:nvSpPr>
        <p:spPr>
          <a:xfrm>
            <a:off x="5193792" y="463600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MUI</a:t>
            </a:r>
            <a:endParaRPr lang="en-US" sz="1300" dirty="0"/>
          </a:p>
        </p:txBody>
      </p:sp>
      <p:sp>
        <p:nvSpPr>
          <p:cNvPr id="35" name="Text 25"/>
          <p:cNvSpPr txBox="1"/>
          <p:nvPr/>
        </p:nvSpPr>
        <p:spPr>
          <a:xfrm>
            <a:off x="5193792" y="492861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Kumpulan komponen UI siap pakai.</a:t>
            </a:r>
            <a:endParaRPr lang="en-US" sz="1000" dirty="0"/>
          </a:p>
        </p:txBody>
      </p:sp>
      <p:sp>
        <p:nvSpPr>
          <p:cNvPr id="36" name="Shape 26"/>
          <p:cNvSpPr/>
          <p:nvPr/>
        </p:nvSpPr>
        <p:spPr>
          <a:xfrm>
            <a:off x="7306056" y="379476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37" name="Image 8" descr="preencoded.png">    </p:cNvPr>
          <p:cNvPicPr>
            <a:picLocks noChangeAspect="1"/>
          </p:cNvPicPr>
          <p:nvPr/>
        </p:nvPicPr>
        <p:blipFill>
          <a:blip r:embed="rId9"/>
          <a:stretch>
            <a:fillRect/>
          </a:stretch>
        </p:blipFill>
        <p:spPr>
          <a:xfrm>
            <a:off x="8101584" y="4032504"/>
            <a:ext cx="493776" cy="493776"/>
          </a:xfrm>
          <a:prstGeom prst="rect">
            <a:avLst/>
          </a:prstGeom>
        </p:spPr>
      </p:pic>
      <p:sp>
        <p:nvSpPr>
          <p:cNvPr id="38" name="Text 27"/>
          <p:cNvSpPr txBox="1"/>
          <p:nvPr/>
        </p:nvSpPr>
        <p:spPr>
          <a:xfrm>
            <a:off x="7443216" y="463600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Jest &amp; RTL</a:t>
            </a:r>
            <a:endParaRPr lang="en-US" sz="1300" dirty="0"/>
          </a:p>
        </p:txBody>
      </p:sp>
      <p:sp>
        <p:nvSpPr>
          <p:cNvPr id="39" name="Text 28"/>
          <p:cNvSpPr txBox="1"/>
          <p:nvPr/>
        </p:nvSpPr>
        <p:spPr>
          <a:xfrm>
            <a:off x="7443216" y="492861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Pengujian unit dan perilaku komponen.</a:t>
            </a:r>
            <a:endParaRPr lang="en-US" sz="1000" dirty="0"/>
          </a:p>
        </p:txBody>
      </p:sp>
      <p:sp>
        <p:nvSpPr>
          <p:cNvPr id="40" name="Shape 29"/>
          <p:cNvSpPr/>
          <p:nvPr/>
        </p:nvSpPr>
        <p:spPr>
          <a:xfrm>
            <a:off x="9555480" y="3794760"/>
            <a:ext cx="2075688"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pic>
        <p:nvPicPr>
          <p:cNvPr id="41" name="Image 9" descr="preencoded.png">    </p:cNvPr>
          <p:cNvPicPr>
            <a:picLocks noChangeAspect="1"/>
          </p:cNvPicPr>
          <p:nvPr/>
        </p:nvPicPr>
        <p:blipFill>
          <a:blip r:embed="rId10"/>
          <a:stretch>
            <a:fillRect/>
          </a:stretch>
        </p:blipFill>
        <p:spPr>
          <a:xfrm>
            <a:off x="10351008" y="4032504"/>
            <a:ext cx="493776" cy="493776"/>
          </a:xfrm>
          <a:prstGeom prst="rect">
            <a:avLst/>
          </a:prstGeom>
        </p:spPr>
      </p:pic>
      <p:sp>
        <p:nvSpPr>
          <p:cNvPr id="42" name="Text 30"/>
          <p:cNvSpPr txBox="1"/>
          <p:nvPr/>
        </p:nvSpPr>
        <p:spPr>
          <a:xfrm>
            <a:off x="9692640" y="4636008"/>
            <a:ext cx="1801368" cy="292608"/>
          </a:xfrm>
          <a:prstGeom prst="rect">
            <a:avLst/>
          </a:prstGeom>
          <a:noFill/>
          <a:ln/>
        </p:spPr>
        <p:txBody>
          <a:bodyPr wrap="square" lIns="0" tIns="0" rIns="0" bIns="0" rtlCol="0" anchor="ctr"/>
          <a:lstStyle/>
          <a:p>
            <a:pPr algn="ctr" indent="0" marL="0">
              <a:buNone/>
            </a:pPr>
            <a:r>
              <a:rPr lang="en-US" sz="1300" b="1" dirty="0">
                <a:solidFill>
                  <a:srgbClr val="1B2029"/>
                </a:solidFill>
                <a:latin typeface="Calibri" pitchFamily="34" charset="0"/>
                <a:ea typeface="Calibri" pitchFamily="34" charset="-122"/>
                <a:cs typeface="Calibri" pitchFamily="34" charset="-120"/>
              </a:rPr>
              <a:t>Storybook</a:t>
            </a:r>
            <a:endParaRPr lang="en-US" sz="1300" dirty="0"/>
          </a:p>
        </p:txBody>
      </p:sp>
      <p:sp>
        <p:nvSpPr>
          <p:cNvPr id="43" name="Text 31"/>
          <p:cNvSpPr txBox="1"/>
          <p:nvPr/>
        </p:nvSpPr>
        <p:spPr>
          <a:xfrm>
            <a:off x="9692640" y="4928616"/>
            <a:ext cx="1801368" cy="685800"/>
          </a:xfrm>
          <a:prstGeom prst="rect">
            <a:avLst/>
          </a:prstGeom>
          <a:noFill/>
          <a:ln/>
        </p:spPr>
        <p:txBody>
          <a:bodyPr wrap="square" lIns="0" tIns="0" rIns="0" bIns="0" rtlCol="0" anchor="t"/>
          <a:lstStyle/>
          <a:p>
            <a:pPr algn="ctr" indent="0" marL="0">
              <a:lnSpc>
                <a:spcPct val="108000"/>
              </a:lnSpc>
              <a:buNone/>
            </a:pPr>
            <a:r>
              <a:rPr lang="en-US" sz="1000" dirty="0">
                <a:solidFill>
                  <a:srgbClr val="5C6672"/>
                </a:solidFill>
                <a:latin typeface="Calibri" pitchFamily="34" charset="0"/>
                <a:ea typeface="Calibri" pitchFamily="34" charset="-122"/>
                <a:cs typeface="Calibri" pitchFamily="34" charset="-120"/>
              </a:rPr>
              <a:t>Dokumentasi dan uji visual komponen.</a:t>
            </a:r>
            <a:endParaRPr lang="en-US" sz="1000" dirty="0"/>
          </a:p>
        </p:txBody>
      </p:sp>
      <p:pic>
        <p:nvPicPr>
          <p:cNvPr id="45" name="Image 10" descr="preencoded.png">    </p:cNvPr>
          <p:cNvPicPr>
            <a:picLocks noChangeAspect="1"/>
          </p:cNvPicPr>
          <p:nvPr/>
        </p:nvPicPr>
        <p:blipFill>
          <a:blip r:embed="rId11"/>
          <a:stretch>
            <a:fillRect/>
          </a:stretch>
        </p:blipFill>
        <p:spPr>
          <a:xfrm>
            <a:off x="502920" y="6382512"/>
            <a:ext cx="201168" cy="201168"/>
          </a:xfrm>
          <a:prstGeom prst="rect">
            <a:avLst/>
          </a:prstGeom>
        </p:spPr>
      </p:pic>
      <p:sp>
        <p:nvSpPr>
          <p:cNvPr id="46" name="Text 3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47" name="Text 3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502920" y="1051560"/>
            <a:ext cx="3108960" cy="1920240"/>
          </a:xfrm>
          <a:prstGeom prst="rect">
            <a:avLst/>
          </a:prstGeom>
          <a:noFill/>
          <a:ln/>
        </p:spPr>
        <p:txBody>
          <a:bodyPr wrap="square" lIns="0" tIns="0" rIns="0" bIns="0" rtlCol="0" anchor="ctr"/>
          <a:lstStyle/>
          <a:p>
            <a:pPr indent="0" marL="0">
              <a:buNone/>
            </a:pPr>
            <a:r>
              <a:rPr lang="en-US" sz="12000" b="1" dirty="0">
                <a:solidFill>
                  <a:srgbClr val="343C4A"/>
                </a:solidFill>
                <a:latin typeface="Calibri" pitchFamily="34" charset="0"/>
                <a:ea typeface="Calibri" pitchFamily="34" charset="-122"/>
                <a:cs typeface="Calibri" pitchFamily="34" charset="-120"/>
              </a:rPr>
              <a:t>02</a:t>
            </a:r>
            <a:endParaRPr lang="en-US" sz="12000" dirty="0"/>
          </a:p>
        </p:txBody>
      </p:sp>
      <p:sp>
        <p:nvSpPr>
          <p:cNvPr id="3" name="Text 1"/>
          <p:cNvSpPr txBox="1"/>
          <p:nvPr/>
        </p:nvSpPr>
        <p:spPr>
          <a:xfrm>
            <a:off x="548640" y="2971800"/>
            <a:ext cx="71323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Konsep Dasar React</a:t>
            </a:r>
            <a:endParaRPr lang="en-US" sz="4200" dirty="0"/>
          </a:p>
        </p:txBody>
      </p:sp>
      <p:sp>
        <p:nvSpPr>
          <p:cNvPr id="4" name="Text 2"/>
          <p:cNvSpPr txBox="1"/>
          <p:nvPr/>
        </p:nvSpPr>
        <p:spPr>
          <a:xfrm>
            <a:off x="566928" y="3840480"/>
            <a:ext cx="6949440" cy="822960"/>
          </a:xfrm>
          <a:prstGeom prst="rect">
            <a:avLst/>
          </a:prstGeom>
          <a:noFill/>
          <a:ln/>
        </p:spPr>
        <p:txBody>
          <a:bodyPr wrap="square" lIns="0" tIns="0" rIns="0" bIns="0" rtlCol="0" anchor="t"/>
          <a:lstStyle/>
          <a:p>
            <a:pPr indent="0" marL="0">
              <a:buNone/>
            </a:pPr>
            <a:r>
              <a:rPr lang="en-US" sz="1600" dirty="0">
                <a:solidFill>
                  <a:srgbClr val="9FAAB9"/>
                </a:solidFill>
                <a:latin typeface="Calibri" pitchFamily="34" charset="0"/>
                <a:ea typeface="Calibri" pitchFamily="34" charset="-122"/>
                <a:cs typeface="Calibri" pitchFamily="34" charset="-120"/>
              </a:rPr>
              <a:t>Virtual DOM, JSX, komponen, props, rendering daftar, dan penanganan event.</a:t>
            </a:r>
            <a:endParaRPr lang="en-US" sz="1600" dirty="0"/>
          </a:p>
        </p:txBody>
      </p:sp>
      <p:sp>
        <p:nvSpPr>
          <p:cNvPr id="5" name="Shape 3"/>
          <p:cNvSpPr/>
          <p:nvPr/>
        </p:nvSpPr>
        <p:spPr>
          <a:xfrm>
            <a:off x="8366760" y="1965960"/>
            <a:ext cx="2926080" cy="2926080"/>
          </a:xfrm>
          <a:prstGeom prst="ellipse">
            <a:avLst/>
          </a:prstGeom>
          <a:solidFill>
            <a:srgbClr val="2C313C"/>
          </a:solidFill>
          <a:ln w="12700">
            <a:solidFill>
              <a:srgbClr val="2C313C"/>
            </a:solidFill>
            <a:prstDash val="solid"/>
          </a:ln>
        </p:spPr>
      </p:sp>
      <p:pic>
        <p:nvPicPr>
          <p:cNvPr id="6" name="Image 0" descr="preencoded.png">    </p:cNvPr>
          <p:cNvPicPr>
            <a:picLocks noChangeAspect="1"/>
          </p:cNvPicPr>
          <p:nvPr/>
        </p:nvPicPr>
        <p:blipFill>
          <a:blip r:embed="rId1"/>
          <a:stretch>
            <a:fillRect/>
          </a:stretch>
        </p:blipFill>
        <p:spPr>
          <a:xfrm>
            <a:off x="9098280" y="2697480"/>
            <a:ext cx="1463040" cy="1463040"/>
          </a:xfrm>
          <a:prstGeom prst="rect">
            <a:avLst/>
          </a:prstGeom>
        </p:spPr>
      </p:pic>
      <p:pic>
        <p:nvPicPr>
          <p:cNvPr id="7"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8" name="Text 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ReactJS — Materi Komprehensif</a:t>
            </a:r>
            <a:endParaRPr lang="en-US" sz="900" dirty="0"/>
          </a:p>
        </p:txBody>
      </p:sp>
      <p:sp>
        <p:nvSpPr>
          <p:cNvPr id="9" name="Text 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61DAF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Cara Kerja Virtual DOM</a:t>
            </a:r>
            <a:endParaRPr lang="en-US" sz="3200" dirty="0"/>
          </a:p>
        </p:txBody>
      </p:sp>
      <p:sp>
        <p:nvSpPr>
          <p:cNvPr id="4" name="Shape 2"/>
          <p:cNvSpPr/>
          <p:nvPr/>
        </p:nvSpPr>
        <p:spPr>
          <a:xfrm>
            <a:off x="548640" y="1600200"/>
            <a:ext cx="2468880" cy="2057400"/>
          </a:xfrm>
          <a:prstGeom prst="roundRect">
            <a:avLst>
              <a:gd name="adj" fmla="val 5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768096" y="1819656"/>
            <a:ext cx="530352" cy="530352"/>
          </a:xfrm>
          <a:prstGeom prst="ellipse">
            <a:avLst/>
          </a:prstGeom>
          <a:solidFill>
            <a:srgbClr val="20232A"/>
          </a:solidFill>
          <a:ln w="12700">
            <a:solidFill>
              <a:srgbClr val="20232A"/>
            </a:solidFill>
            <a:prstDash val="solid"/>
          </a:ln>
        </p:spPr>
      </p:sp>
      <p:pic>
        <p:nvPicPr>
          <p:cNvPr id="6" name="Image 0" descr="preencoded.png">    </p:cNvPr>
          <p:cNvPicPr>
            <a:picLocks noChangeAspect="1"/>
          </p:cNvPicPr>
          <p:nvPr/>
        </p:nvPicPr>
        <p:blipFill>
          <a:blip r:embed="rId1"/>
          <a:stretch>
            <a:fillRect/>
          </a:stretch>
        </p:blipFill>
        <p:spPr>
          <a:xfrm>
            <a:off x="905988" y="1957548"/>
            <a:ext cx="254569" cy="254569"/>
          </a:xfrm>
          <a:prstGeom prst="rect">
            <a:avLst/>
          </a:prstGeom>
        </p:spPr>
      </p:pic>
      <p:sp>
        <p:nvSpPr>
          <p:cNvPr id="7" name="Text 4"/>
          <p:cNvSpPr txBox="1"/>
          <p:nvPr/>
        </p:nvSpPr>
        <p:spPr>
          <a:xfrm>
            <a:off x="2331720" y="1819656"/>
            <a:ext cx="502920" cy="384048"/>
          </a:xfrm>
          <a:prstGeom prst="rect">
            <a:avLst/>
          </a:prstGeom>
          <a:noFill/>
          <a:ln/>
        </p:spPr>
        <p:txBody>
          <a:bodyPr wrap="square" lIns="0" tIns="0" rIns="0" bIns="0" rtlCol="0" anchor="ctr"/>
          <a:lstStyle/>
          <a:p>
            <a:pPr algn="r" indent="0" marL="0">
              <a:buNone/>
            </a:pPr>
            <a:r>
              <a:rPr lang="en-US" sz="2000" b="1" dirty="0">
                <a:solidFill>
                  <a:srgbClr val="C3D2DD"/>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768096" y="2450592"/>
            <a:ext cx="20574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State Berubah</a:t>
            </a:r>
            <a:endParaRPr lang="en-US" sz="1450" dirty="0"/>
          </a:p>
        </p:txBody>
      </p:sp>
      <p:sp>
        <p:nvSpPr>
          <p:cNvPr id="9" name="Text 6"/>
          <p:cNvSpPr txBox="1"/>
          <p:nvPr/>
        </p:nvSpPr>
        <p:spPr>
          <a:xfrm>
            <a:off x="768096" y="2770632"/>
            <a:ext cx="2057400" cy="7772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Data pada komponen diperbarui, misalnya lewat setState.</a:t>
            </a:r>
            <a:endParaRPr lang="en-US" sz="1100" dirty="0"/>
          </a:p>
        </p:txBody>
      </p:sp>
      <p:sp>
        <p:nvSpPr>
          <p:cNvPr id="10" name="Shape 7"/>
          <p:cNvSpPr/>
          <p:nvPr/>
        </p:nvSpPr>
        <p:spPr>
          <a:xfrm>
            <a:off x="3136392" y="2487168"/>
            <a:ext cx="219456" cy="256032"/>
          </a:xfrm>
          <a:prstGeom prst="rightArrow">
            <a:avLst/>
          </a:prstGeom>
          <a:solidFill>
            <a:srgbClr val="1E90AF"/>
          </a:solidFill>
          <a:ln w="12700">
            <a:solidFill>
              <a:srgbClr val="1E90AF"/>
            </a:solidFill>
            <a:prstDash val="solid"/>
          </a:ln>
        </p:spPr>
      </p:sp>
      <p:sp>
        <p:nvSpPr>
          <p:cNvPr id="11" name="Shape 8"/>
          <p:cNvSpPr/>
          <p:nvPr/>
        </p:nvSpPr>
        <p:spPr>
          <a:xfrm>
            <a:off x="3401568" y="1600200"/>
            <a:ext cx="2468880" cy="2057400"/>
          </a:xfrm>
          <a:prstGeom prst="roundRect">
            <a:avLst>
              <a:gd name="adj" fmla="val 5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2" name="Shape 9"/>
          <p:cNvSpPr/>
          <p:nvPr/>
        </p:nvSpPr>
        <p:spPr>
          <a:xfrm>
            <a:off x="3621024" y="1819656"/>
            <a:ext cx="530352" cy="530352"/>
          </a:xfrm>
          <a:prstGeom prst="ellipse">
            <a:avLst/>
          </a:prstGeom>
          <a:solidFill>
            <a:srgbClr val="20232A"/>
          </a:solidFill>
          <a:ln w="12700">
            <a:solidFill>
              <a:srgbClr val="20232A"/>
            </a:solidFill>
            <a:prstDash val="solid"/>
          </a:ln>
        </p:spPr>
      </p:sp>
      <p:pic>
        <p:nvPicPr>
          <p:cNvPr id="13" name="Image 1" descr="preencoded.png">    </p:cNvPr>
          <p:cNvPicPr>
            <a:picLocks noChangeAspect="1"/>
          </p:cNvPicPr>
          <p:nvPr/>
        </p:nvPicPr>
        <p:blipFill>
          <a:blip r:embed="rId2"/>
          <a:stretch>
            <a:fillRect/>
          </a:stretch>
        </p:blipFill>
        <p:spPr>
          <a:xfrm>
            <a:off x="3758916" y="1957548"/>
            <a:ext cx="254569" cy="254569"/>
          </a:xfrm>
          <a:prstGeom prst="rect">
            <a:avLst/>
          </a:prstGeom>
        </p:spPr>
      </p:pic>
      <p:sp>
        <p:nvSpPr>
          <p:cNvPr id="14" name="Text 10"/>
          <p:cNvSpPr txBox="1"/>
          <p:nvPr/>
        </p:nvSpPr>
        <p:spPr>
          <a:xfrm>
            <a:off x="5184648" y="1819656"/>
            <a:ext cx="502920" cy="384048"/>
          </a:xfrm>
          <a:prstGeom prst="rect">
            <a:avLst/>
          </a:prstGeom>
          <a:noFill/>
          <a:ln/>
        </p:spPr>
        <p:txBody>
          <a:bodyPr wrap="square" lIns="0" tIns="0" rIns="0" bIns="0" rtlCol="0" anchor="ctr"/>
          <a:lstStyle/>
          <a:p>
            <a:pPr algn="r" indent="0" marL="0">
              <a:buNone/>
            </a:pPr>
            <a:r>
              <a:rPr lang="en-US" sz="2000" b="1" dirty="0">
                <a:solidFill>
                  <a:srgbClr val="C3D2DD"/>
                </a:solidFill>
                <a:latin typeface="Calibri" pitchFamily="34" charset="0"/>
                <a:ea typeface="Calibri" pitchFamily="34" charset="-122"/>
                <a:cs typeface="Calibri" pitchFamily="34" charset="-120"/>
              </a:rPr>
              <a:t>2</a:t>
            </a:r>
            <a:endParaRPr lang="en-US" sz="2000" dirty="0"/>
          </a:p>
        </p:txBody>
      </p:sp>
      <p:sp>
        <p:nvSpPr>
          <p:cNvPr id="15" name="Text 11"/>
          <p:cNvSpPr txBox="1"/>
          <p:nvPr/>
        </p:nvSpPr>
        <p:spPr>
          <a:xfrm>
            <a:off x="3621024" y="2450592"/>
            <a:ext cx="20574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Render Ulang</a:t>
            </a:r>
            <a:endParaRPr lang="en-US" sz="1450" dirty="0"/>
          </a:p>
        </p:txBody>
      </p:sp>
      <p:sp>
        <p:nvSpPr>
          <p:cNvPr id="16" name="Text 12"/>
          <p:cNvSpPr txBox="1"/>
          <p:nvPr/>
        </p:nvSpPr>
        <p:spPr>
          <a:xfrm>
            <a:off x="3621024" y="2770632"/>
            <a:ext cx="2057400" cy="7772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React menyusun pohon Virtual DOM baru di memori.</a:t>
            </a:r>
            <a:endParaRPr lang="en-US" sz="1100" dirty="0"/>
          </a:p>
        </p:txBody>
      </p:sp>
      <p:sp>
        <p:nvSpPr>
          <p:cNvPr id="17" name="Shape 13"/>
          <p:cNvSpPr/>
          <p:nvPr/>
        </p:nvSpPr>
        <p:spPr>
          <a:xfrm>
            <a:off x="5989320" y="2487168"/>
            <a:ext cx="219456" cy="256032"/>
          </a:xfrm>
          <a:prstGeom prst="rightArrow">
            <a:avLst/>
          </a:prstGeom>
          <a:solidFill>
            <a:srgbClr val="1E90AF"/>
          </a:solidFill>
          <a:ln w="12700">
            <a:solidFill>
              <a:srgbClr val="1E90AF"/>
            </a:solidFill>
            <a:prstDash val="solid"/>
          </a:ln>
        </p:spPr>
      </p:sp>
      <p:sp>
        <p:nvSpPr>
          <p:cNvPr id="18" name="Shape 14"/>
          <p:cNvSpPr/>
          <p:nvPr/>
        </p:nvSpPr>
        <p:spPr>
          <a:xfrm>
            <a:off x="6254496" y="1600200"/>
            <a:ext cx="2468880" cy="2057400"/>
          </a:xfrm>
          <a:prstGeom prst="roundRect">
            <a:avLst>
              <a:gd name="adj" fmla="val 5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9" name="Shape 15"/>
          <p:cNvSpPr/>
          <p:nvPr/>
        </p:nvSpPr>
        <p:spPr>
          <a:xfrm>
            <a:off x="6473952" y="1819656"/>
            <a:ext cx="530352" cy="530352"/>
          </a:xfrm>
          <a:prstGeom prst="ellipse">
            <a:avLst/>
          </a:prstGeom>
          <a:solidFill>
            <a:srgbClr val="20232A"/>
          </a:solidFill>
          <a:ln w="12700">
            <a:solidFill>
              <a:srgbClr val="20232A"/>
            </a:solidFill>
            <a:prstDash val="solid"/>
          </a:ln>
        </p:spPr>
      </p:sp>
      <p:pic>
        <p:nvPicPr>
          <p:cNvPr id="20" name="Image 2" descr="preencoded.png">    </p:cNvPr>
          <p:cNvPicPr>
            <a:picLocks noChangeAspect="1"/>
          </p:cNvPicPr>
          <p:nvPr/>
        </p:nvPicPr>
        <p:blipFill>
          <a:blip r:embed="rId3"/>
          <a:stretch>
            <a:fillRect/>
          </a:stretch>
        </p:blipFill>
        <p:spPr>
          <a:xfrm>
            <a:off x="6611844" y="1957548"/>
            <a:ext cx="254569" cy="254569"/>
          </a:xfrm>
          <a:prstGeom prst="rect">
            <a:avLst/>
          </a:prstGeom>
        </p:spPr>
      </p:pic>
      <p:sp>
        <p:nvSpPr>
          <p:cNvPr id="21" name="Text 16"/>
          <p:cNvSpPr txBox="1"/>
          <p:nvPr/>
        </p:nvSpPr>
        <p:spPr>
          <a:xfrm>
            <a:off x="8037576" y="1819656"/>
            <a:ext cx="502920" cy="384048"/>
          </a:xfrm>
          <a:prstGeom prst="rect">
            <a:avLst/>
          </a:prstGeom>
          <a:noFill/>
          <a:ln/>
        </p:spPr>
        <p:txBody>
          <a:bodyPr wrap="square" lIns="0" tIns="0" rIns="0" bIns="0" rtlCol="0" anchor="ctr"/>
          <a:lstStyle/>
          <a:p>
            <a:pPr algn="r" indent="0" marL="0">
              <a:buNone/>
            </a:pPr>
            <a:r>
              <a:rPr lang="en-US" sz="2000" b="1" dirty="0">
                <a:solidFill>
                  <a:srgbClr val="C3D2DD"/>
                </a:solidFill>
                <a:latin typeface="Calibri" pitchFamily="34" charset="0"/>
                <a:ea typeface="Calibri" pitchFamily="34" charset="-122"/>
                <a:cs typeface="Calibri" pitchFamily="34" charset="-120"/>
              </a:rPr>
              <a:t>3</a:t>
            </a:r>
            <a:endParaRPr lang="en-US" sz="2000" dirty="0"/>
          </a:p>
        </p:txBody>
      </p:sp>
      <p:sp>
        <p:nvSpPr>
          <p:cNvPr id="22" name="Text 17"/>
          <p:cNvSpPr txBox="1"/>
          <p:nvPr/>
        </p:nvSpPr>
        <p:spPr>
          <a:xfrm>
            <a:off x="6473952" y="2450592"/>
            <a:ext cx="20574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Diffing</a:t>
            </a:r>
            <a:endParaRPr lang="en-US" sz="1450" dirty="0"/>
          </a:p>
        </p:txBody>
      </p:sp>
      <p:sp>
        <p:nvSpPr>
          <p:cNvPr id="23" name="Text 18"/>
          <p:cNvSpPr txBox="1"/>
          <p:nvPr/>
        </p:nvSpPr>
        <p:spPr>
          <a:xfrm>
            <a:off x="6473952" y="2770632"/>
            <a:ext cx="2057400" cy="7772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Virtual DOM lama dan baru dibandingkan untuk mencari perbedaan.</a:t>
            </a:r>
            <a:endParaRPr lang="en-US" sz="1100" dirty="0"/>
          </a:p>
        </p:txBody>
      </p:sp>
      <p:sp>
        <p:nvSpPr>
          <p:cNvPr id="24" name="Shape 19"/>
          <p:cNvSpPr/>
          <p:nvPr/>
        </p:nvSpPr>
        <p:spPr>
          <a:xfrm>
            <a:off x="8842248" y="2487168"/>
            <a:ext cx="219456" cy="256032"/>
          </a:xfrm>
          <a:prstGeom prst="rightArrow">
            <a:avLst/>
          </a:prstGeom>
          <a:solidFill>
            <a:srgbClr val="1E90AF"/>
          </a:solidFill>
          <a:ln w="12700">
            <a:solidFill>
              <a:srgbClr val="1E90AF"/>
            </a:solidFill>
            <a:prstDash val="solid"/>
          </a:ln>
        </p:spPr>
      </p:sp>
      <p:sp>
        <p:nvSpPr>
          <p:cNvPr id="25" name="Shape 20"/>
          <p:cNvSpPr/>
          <p:nvPr/>
        </p:nvSpPr>
        <p:spPr>
          <a:xfrm>
            <a:off x="9107424" y="1600200"/>
            <a:ext cx="2468880" cy="2057400"/>
          </a:xfrm>
          <a:prstGeom prst="roundRect">
            <a:avLst>
              <a:gd name="adj" fmla="val 5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6" name="Shape 21"/>
          <p:cNvSpPr/>
          <p:nvPr/>
        </p:nvSpPr>
        <p:spPr>
          <a:xfrm>
            <a:off x="9326880" y="1819656"/>
            <a:ext cx="530352" cy="530352"/>
          </a:xfrm>
          <a:prstGeom prst="ellipse">
            <a:avLst/>
          </a:prstGeom>
          <a:solidFill>
            <a:srgbClr val="20232A"/>
          </a:solidFill>
          <a:ln w="12700">
            <a:solidFill>
              <a:srgbClr val="20232A"/>
            </a:solidFill>
            <a:prstDash val="solid"/>
          </a:ln>
        </p:spPr>
      </p:sp>
      <p:pic>
        <p:nvPicPr>
          <p:cNvPr id="27" name="Image 3" descr="preencoded.png">    </p:cNvPr>
          <p:cNvPicPr>
            <a:picLocks noChangeAspect="1"/>
          </p:cNvPicPr>
          <p:nvPr/>
        </p:nvPicPr>
        <p:blipFill>
          <a:blip r:embed="rId4"/>
          <a:stretch>
            <a:fillRect/>
          </a:stretch>
        </p:blipFill>
        <p:spPr>
          <a:xfrm>
            <a:off x="9464772" y="1957548"/>
            <a:ext cx="254569" cy="254569"/>
          </a:xfrm>
          <a:prstGeom prst="rect">
            <a:avLst/>
          </a:prstGeom>
        </p:spPr>
      </p:pic>
      <p:sp>
        <p:nvSpPr>
          <p:cNvPr id="28" name="Text 22"/>
          <p:cNvSpPr txBox="1"/>
          <p:nvPr/>
        </p:nvSpPr>
        <p:spPr>
          <a:xfrm>
            <a:off x="10890504" y="1819656"/>
            <a:ext cx="502920" cy="384048"/>
          </a:xfrm>
          <a:prstGeom prst="rect">
            <a:avLst/>
          </a:prstGeom>
          <a:noFill/>
          <a:ln/>
        </p:spPr>
        <p:txBody>
          <a:bodyPr wrap="square" lIns="0" tIns="0" rIns="0" bIns="0" rtlCol="0" anchor="ctr"/>
          <a:lstStyle/>
          <a:p>
            <a:pPr algn="r" indent="0" marL="0">
              <a:buNone/>
            </a:pPr>
            <a:r>
              <a:rPr lang="en-US" sz="2000" b="1" dirty="0">
                <a:solidFill>
                  <a:srgbClr val="C3D2DD"/>
                </a:solidFill>
                <a:latin typeface="Calibri" pitchFamily="34" charset="0"/>
                <a:ea typeface="Calibri" pitchFamily="34" charset="-122"/>
                <a:cs typeface="Calibri" pitchFamily="34" charset="-120"/>
              </a:rPr>
              <a:t>4</a:t>
            </a:r>
            <a:endParaRPr lang="en-US" sz="2000" dirty="0"/>
          </a:p>
        </p:txBody>
      </p:sp>
      <p:sp>
        <p:nvSpPr>
          <p:cNvPr id="29" name="Text 23"/>
          <p:cNvSpPr txBox="1"/>
          <p:nvPr/>
        </p:nvSpPr>
        <p:spPr>
          <a:xfrm>
            <a:off x="9326880" y="2450592"/>
            <a:ext cx="20574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Patch DOM</a:t>
            </a:r>
            <a:endParaRPr lang="en-US" sz="1450" dirty="0"/>
          </a:p>
        </p:txBody>
      </p:sp>
      <p:sp>
        <p:nvSpPr>
          <p:cNvPr id="30" name="Text 24"/>
          <p:cNvSpPr txBox="1"/>
          <p:nvPr/>
        </p:nvSpPr>
        <p:spPr>
          <a:xfrm>
            <a:off x="9326880" y="2770632"/>
            <a:ext cx="2057400" cy="7772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Hanya elemen yang benar-benar berubah yang diperbarui di browser.</a:t>
            </a:r>
            <a:endParaRPr lang="en-US" sz="1100" dirty="0"/>
          </a:p>
        </p:txBody>
      </p:sp>
      <p:sp>
        <p:nvSpPr>
          <p:cNvPr id="31" name="Shape 25"/>
          <p:cNvSpPr/>
          <p:nvPr/>
        </p:nvSpPr>
        <p:spPr>
          <a:xfrm>
            <a:off x="548640" y="4023360"/>
            <a:ext cx="5440680" cy="1783080"/>
          </a:xfrm>
          <a:prstGeom prst="roundRect">
            <a:avLst>
              <a:gd name="adj" fmla="val 61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32" name="Text 26"/>
          <p:cNvSpPr txBox="1"/>
          <p:nvPr/>
        </p:nvSpPr>
        <p:spPr>
          <a:xfrm>
            <a:off x="822960" y="4206240"/>
            <a:ext cx="493776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Mengapa lebih cepat?</a:t>
            </a:r>
            <a:endParaRPr lang="en-US" sz="1500" dirty="0"/>
          </a:p>
        </p:txBody>
      </p:sp>
      <p:sp>
        <p:nvSpPr>
          <p:cNvPr id="33" name="Text 27"/>
          <p:cNvSpPr txBox="1"/>
          <p:nvPr/>
        </p:nvSpPr>
        <p:spPr>
          <a:xfrm>
            <a:off x="822960" y="4526280"/>
            <a:ext cx="4937760" cy="1188720"/>
          </a:xfrm>
          <a:prstGeom prst="rect">
            <a:avLst/>
          </a:prstGeom>
          <a:noFill/>
          <a:ln/>
        </p:spPr>
        <p:txBody>
          <a:bodyPr wrap="square" lIns="0" tIns="0" rIns="0" bIns="0" rtlCol="0" anchor="t"/>
          <a:lstStyle/>
          <a:p>
            <a:pPr indent="0" marL="0">
              <a:lnSpc>
                <a:spcPct val="115000"/>
              </a:lnSpc>
              <a:buNone/>
            </a:pPr>
            <a:r>
              <a:rPr lang="en-US" sz="1200" dirty="0">
                <a:solidFill>
                  <a:srgbClr val="5C6672"/>
                </a:solidFill>
                <a:latin typeface="Calibri" pitchFamily="34" charset="0"/>
                <a:ea typeface="Calibri" pitchFamily="34" charset="-122"/>
                <a:cs typeface="Calibri" pitchFamily="34" charset="-120"/>
              </a:rPr>
              <a:t>Manipulasi DOM asli memicu proses layout dan repaint yang berat. Virtual DOM adalah salinan ringan berupa objek JavaScript, sehingga perbandingan dilakukan di memori dan perubahan ke DOM dikumpulkan menjadi satu pembaruan seminimal mungkin.</a:t>
            </a:r>
            <a:endParaRPr lang="en-US" sz="1200" dirty="0"/>
          </a:p>
        </p:txBody>
      </p:sp>
      <p:sp>
        <p:nvSpPr>
          <p:cNvPr id="34" name="Shape 28"/>
          <p:cNvSpPr/>
          <p:nvPr/>
        </p:nvSpPr>
        <p:spPr>
          <a:xfrm>
            <a:off x="6199632" y="4023360"/>
            <a:ext cx="5440680" cy="1783080"/>
          </a:xfrm>
          <a:prstGeom prst="roundRect">
            <a:avLst>
              <a:gd name="adj" fmla="val 6154"/>
            </a:avLst>
          </a:prstGeom>
          <a:solidFill>
            <a:srgbClr val="20232A"/>
          </a:solidFill>
          <a:ln w="12700">
            <a:solidFill>
              <a:srgbClr val="20232A"/>
            </a:solidFill>
            <a:prstDash val="solid"/>
          </a:ln>
        </p:spPr>
      </p:sp>
      <p:sp>
        <p:nvSpPr>
          <p:cNvPr id="35" name="Text 29"/>
          <p:cNvSpPr txBox="1"/>
          <p:nvPr/>
        </p:nvSpPr>
        <p:spPr>
          <a:xfrm>
            <a:off x="6473952" y="4206240"/>
            <a:ext cx="4937760" cy="310896"/>
          </a:xfrm>
          <a:prstGeom prst="rect">
            <a:avLst/>
          </a:prstGeom>
          <a:noFill/>
          <a:ln/>
        </p:spPr>
        <p:txBody>
          <a:bodyPr wrap="square" lIns="0" tIns="0" rIns="0" bIns="0" rtlCol="0" anchor="ctr"/>
          <a:lstStyle/>
          <a:p>
            <a:pPr indent="0" marL="0">
              <a:buNone/>
            </a:pPr>
            <a:r>
              <a:rPr lang="en-US" sz="1500" b="1" dirty="0">
                <a:solidFill>
                  <a:srgbClr val="61DAFB"/>
                </a:solidFill>
                <a:latin typeface="Calibri" pitchFamily="34" charset="0"/>
                <a:ea typeface="Calibri" pitchFamily="34" charset="-122"/>
                <a:cs typeface="Calibri" pitchFamily="34" charset="-120"/>
              </a:rPr>
              <a:t>Rekonsiliasi (Reconciliation)</a:t>
            </a:r>
            <a:endParaRPr lang="en-US" sz="1500" dirty="0"/>
          </a:p>
        </p:txBody>
      </p:sp>
      <p:sp>
        <p:nvSpPr>
          <p:cNvPr id="36" name="Text 30"/>
          <p:cNvSpPr txBox="1"/>
          <p:nvPr/>
        </p:nvSpPr>
        <p:spPr>
          <a:xfrm>
            <a:off x="6473952" y="4526280"/>
            <a:ext cx="4937760" cy="1188720"/>
          </a:xfrm>
          <a:prstGeom prst="rect">
            <a:avLst/>
          </a:prstGeom>
          <a:noFill/>
          <a:ln/>
        </p:spPr>
        <p:txBody>
          <a:bodyPr wrap="square" lIns="0" tIns="0" rIns="0" bIns="0" rtlCol="0" anchor="t"/>
          <a:lstStyle/>
          <a:p>
            <a:pPr indent="0" marL="0">
              <a:lnSpc>
                <a:spcPct val="115000"/>
              </a:lnSpc>
              <a:buNone/>
            </a:pPr>
            <a:r>
              <a:rPr lang="en-US" sz="1200" dirty="0">
                <a:solidFill>
                  <a:srgbClr val="AEB9C6"/>
                </a:solidFill>
                <a:latin typeface="Calibri" pitchFamily="34" charset="0"/>
                <a:ea typeface="Calibri" pitchFamily="34" charset="-122"/>
                <a:cs typeface="Calibri" pitchFamily="34" charset="-120"/>
              </a:rPr>
              <a:t>Proses React mencocokkan elemen lama dan baru. Elemen dengan tipe sama akan diperbarui atributnya, sedangkan tipe berbeda akan dibuang dan dibuat ulang. Inilah alasan atribut key sangat penting saat merender daftar.</a:t>
            </a:r>
            <a:endParaRPr lang="en-US" sz="1200" dirty="0"/>
          </a:p>
        </p:txBody>
      </p:sp>
      <p:pic>
        <p:nvPicPr>
          <p:cNvPr id="38"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9" name="Text 3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40" name="Text 3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Deklaratif vs Imperatif</a:t>
            </a:r>
            <a:endParaRPr lang="en-US" sz="3200" dirty="0"/>
          </a:p>
        </p:txBody>
      </p:sp>
      <p:sp>
        <p:nvSpPr>
          <p:cNvPr id="4" name="Text 2"/>
          <p:cNvSpPr txBox="1"/>
          <p:nvPr/>
        </p:nvSpPr>
        <p:spPr>
          <a:xfrm>
            <a:off x="548640" y="1463040"/>
            <a:ext cx="544068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Imperatif — JavaScript biasa</a:t>
            </a:r>
            <a:endParaRPr lang="en-US" sz="1500" dirty="0"/>
          </a:p>
        </p:txBody>
      </p:sp>
      <p:sp>
        <p:nvSpPr>
          <p:cNvPr id="5" name="Shape 3"/>
          <p:cNvSpPr/>
          <p:nvPr/>
        </p:nvSpPr>
        <p:spPr>
          <a:xfrm>
            <a:off x="548640" y="1847088"/>
            <a:ext cx="5440680" cy="2014423"/>
          </a:xfrm>
          <a:prstGeom prst="roundRect">
            <a:avLst>
              <a:gd name="adj" fmla="val 4539"/>
            </a:avLst>
          </a:prstGeom>
          <a:solidFill>
            <a:srgbClr val="1B1F27"/>
          </a:solidFill>
          <a:ln w="12700">
            <a:solidFill>
              <a:srgbClr val="323945"/>
            </a:solidFill>
            <a:prstDash val="solid"/>
          </a:ln>
        </p:spPr>
      </p:sp>
      <p:sp>
        <p:nvSpPr>
          <p:cNvPr id="6" name="Text 4"/>
          <p:cNvSpPr txBox="1"/>
          <p:nvPr/>
        </p:nvSpPr>
        <p:spPr>
          <a:xfrm>
            <a:off x="694944" y="1975104"/>
            <a:ext cx="5148072" cy="1758391"/>
          </a:xfrm>
          <a:prstGeom prst="rect">
            <a:avLst/>
          </a:prstGeom>
          <a:noFill/>
          <a:ln/>
        </p:spPr>
        <p:txBody>
          <a:bodyPr wrap="square" lIns="0" tIns="0" rIns="0" bIns="0" rtlCol="0" anchor="t"/>
          <a:lstStyle/>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btn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document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querySelector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'#btn'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let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btn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addEventListener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'click'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document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querySelector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'#out'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textContent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'Nilai: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Kita mengatur langkah demi langkah</a:t>
            </a:r>
            <a:endParaRPr lang="en-US" sz="1150" dirty="0"/>
          </a:p>
        </p:txBody>
      </p:sp>
      <p:sp>
        <p:nvSpPr>
          <p:cNvPr id="7" name="Text 5"/>
          <p:cNvSpPr txBox="1"/>
          <p:nvPr/>
        </p:nvSpPr>
        <p:spPr>
          <a:xfrm>
            <a:off x="6199632" y="1463040"/>
            <a:ext cx="5440680" cy="310896"/>
          </a:xfrm>
          <a:prstGeom prst="rect">
            <a:avLst/>
          </a:prstGeom>
          <a:noFill/>
          <a:ln/>
        </p:spPr>
        <p:txBody>
          <a:bodyPr wrap="square" lIns="0" tIns="0" rIns="0" bIns="0" rtlCol="0" anchor="ctr"/>
          <a:lstStyle/>
          <a:p>
            <a:pPr indent="0" marL="0">
              <a:buNone/>
            </a:pPr>
            <a:r>
              <a:rPr lang="en-US" sz="1500" b="1" dirty="0">
                <a:solidFill>
                  <a:srgbClr val="1E90AF"/>
                </a:solidFill>
                <a:latin typeface="Calibri" pitchFamily="34" charset="0"/>
                <a:ea typeface="Calibri" pitchFamily="34" charset="-122"/>
                <a:cs typeface="Calibri" pitchFamily="34" charset="-120"/>
              </a:rPr>
              <a:t>React — Deklaratif</a:t>
            </a:r>
            <a:endParaRPr lang="en-US" sz="1500" dirty="0"/>
          </a:p>
        </p:txBody>
      </p:sp>
      <p:sp>
        <p:nvSpPr>
          <p:cNvPr id="8" name="Shape 6"/>
          <p:cNvSpPr/>
          <p:nvPr/>
        </p:nvSpPr>
        <p:spPr>
          <a:xfrm>
            <a:off x="6199632" y="1847088"/>
            <a:ext cx="5440680" cy="2014423"/>
          </a:xfrm>
          <a:prstGeom prst="roundRect">
            <a:avLst>
              <a:gd name="adj" fmla="val 4539"/>
            </a:avLst>
          </a:prstGeom>
          <a:solidFill>
            <a:srgbClr val="1B1F27"/>
          </a:solidFill>
          <a:ln w="12700">
            <a:solidFill>
              <a:srgbClr val="323945"/>
            </a:solidFill>
            <a:prstDash val="solid"/>
          </a:ln>
        </p:spPr>
      </p:sp>
      <p:sp>
        <p:nvSpPr>
          <p:cNvPr id="9" name="Text 7"/>
          <p:cNvSpPr txBox="1"/>
          <p:nvPr/>
        </p:nvSpPr>
        <p:spPr>
          <a:xfrm>
            <a:off x="6345936" y="1975104"/>
            <a:ext cx="5148072" cy="1758391"/>
          </a:xfrm>
          <a:prstGeom prst="rect">
            <a:avLst/>
          </a:prstGeom>
          <a:noFill/>
          <a:ln/>
        </p:spPr>
        <p:txBody>
          <a:bodyPr wrap="square" lIns="0" tIns="0" rIns="0" bIns="0" rtlCol="0" anchor="t"/>
          <a:lstStyle/>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Nilai</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count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48640" y="4251960"/>
            <a:ext cx="11091672" cy="1463040"/>
          </a:xfrm>
          <a:prstGeom prst="roundRect">
            <a:avLst>
              <a:gd name="adj" fmla="val 7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Text 9"/>
          <p:cNvSpPr txBox="1"/>
          <p:nvPr/>
        </p:nvSpPr>
        <p:spPr>
          <a:xfrm>
            <a:off x="822960" y="4434840"/>
            <a:ext cx="1051560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Intinya</a:t>
            </a:r>
            <a:endParaRPr lang="en-US" sz="1500" dirty="0"/>
          </a:p>
        </p:txBody>
      </p:sp>
      <p:sp>
        <p:nvSpPr>
          <p:cNvPr id="12" name="Text 10"/>
          <p:cNvSpPr txBox="1"/>
          <p:nvPr/>
        </p:nvSpPr>
        <p:spPr>
          <a:xfrm>
            <a:off x="822960" y="4754880"/>
            <a:ext cx="10515600" cy="868680"/>
          </a:xfrm>
          <a:prstGeom prst="rect">
            <a:avLst/>
          </a:prstGeom>
          <a:noFill/>
          <a:ln/>
        </p:spPr>
        <p:txBody>
          <a:bodyPr wrap="square" lIns="0" tIns="0" rIns="0" bIns="0" rtlCol="0" anchor="t"/>
          <a:lstStyle/>
          <a:p>
            <a:pPr indent="0" marL="0">
              <a:lnSpc>
                <a:spcPct val="115000"/>
              </a:lnSpc>
              <a:buNone/>
            </a:pPr>
            <a:r>
              <a:rPr lang="en-US" sz="1250" dirty="0">
                <a:solidFill>
                  <a:srgbClr val="5C6672"/>
                </a:solidFill>
                <a:latin typeface="Calibri" pitchFamily="34" charset="0"/>
                <a:ea typeface="Calibri" pitchFamily="34" charset="-122"/>
                <a:cs typeface="Calibri" pitchFamily="34" charset="-120"/>
              </a:rPr>
              <a:t>Pada gaya imperatif kita menuliskan cara mengubah tampilan secara manual. Pada React kita cukup mendeskripsikan tampilan untuk setiap kondisi data, lalu React yang mengurus proses pembaruan DOM. Kode menjadi lebih pendek, lebih mudah dibaca, dan lebih kecil kemungkinan tampilan tidak sinkron dengan data.</a:t>
            </a:r>
            <a:endParaRPr lang="en-US" sz="1250" dirty="0"/>
          </a:p>
        </p:txBody>
      </p:sp>
      <p:pic>
        <p:nvPicPr>
          <p:cNvPr id="14"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15" name="Text 1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6" name="Text 1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Persiapan Lingkungan Kerja</a:t>
            </a:r>
            <a:endParaRPr lang="en-US" sz="3200" dirty="0"/>
          </a:p>
        </p:txBody>
      </p:sp>
      <p:sp>
        <p:nvSpPr>
          <p:cNvPr id="4" name="Shape 2"/>
          <p:cNvSpPr/>
          <p:nvPr/>
        </p:nvSpPr>
        <p:spPr>
          <a:xfrm>
            <a:off x="548640" y="1481328"/>
            <a:ext cx="5440680" cy="1005840"/>
          </a:xfrm>
          <a:prstGeom prst="roundRect">
            <a:avLst>
              <a:gd name="adj" fmla="val 10909"/>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777240" y="1728216"/>
            <a:ext cx="512064" cy="512064"/>
          </a:xfrm>
          <a:prstGeom prst="ellipse">
            <a:avLst/>
          </a:prstGeom>
          <a:solidFill>
            <a:srgbClr val="FFFFFF"/>
          </a:solidFill>
          <a:ln w="12700">
            <a:solidFill>
              <a:srgbClr val="DDE7ED"/>
            </a:solidFill>
            <a:prstDash val="solid"/>
          </a:ln>
        </p:spPr>
      </p:sp>
      <p:pic>
        <p:nvPicPr>
          <p:cNvPr id="6" name="Image 0" descr="preencoded.png">    </p:cNvPr>
          <p:cNvPicPr>
            <a:picLocks noChangeAspect="1"/>
          </p:cNvPicPr>
          <p:nvPr/>
        </p:nvPicPr>
        <p:blipFill>
          <a:blip r:embed="rId1"/>
          <a:stretch>
            <a:fillRect/>
          </a:stretch>
        </p:blipFill>
        <p:spPr>
          <a:xfrm>
            <a:off x="905256" y="1856232"/>
            <a:ext cx="256032" cy="256032"/>
          </a:xfrm>
          <a:prstGeom prst="rect">
            <a:avLst/>
          </a:prstGeom>
        </p:spPr>
      </p:pic>
      <p:sp>
        <p:nvSpPr>
          <p:cNvPr id="7" name="Text 4"/>
          <p:cNvSpPr txBox="1"/>
          <p:nvPr/>
        </p:nvSpPr>
        <p:spPr>
          <a:xfrm>
            <a:off x="1463040" y="1664208"/>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Node.js versi 18 ke atas</a:t>
            </a:r>
            <a:endParaRPr lang="en-US" sz="1400" dirty="0"/>
          </a:p>
        </p:txBody>
      </p:sp>
      <p:sp>
        <p:nvSpPr>
          <p:cNvPr id="8" name="Text 5"/>
          <p:cNvSpPr txBox="1"/>
          <p:nvPr/>
        </p:nvSpPr>
        <p:spPr>
          <a:xfrm>
            <a:off x="1463040" y="1956816"/>
            <a:ext cx="4297680" cy="365760"/>
          </a:xfrm>
          <a:prstGeom prst="rect">
            <a:avLst/>
          </a:prstGeom>
          <a:noFill/>
          <a:ln/>
        </p:spPr>
        <p:txBody>
          <a:bodyPr wrap="square" lIns="0" tIns="0" rIns="0" bIns="0" rtlCol="0" anchor="ctr"/>
          <a:lstStyle/>
          <a:p>
            <a:pPr indent="0" marL="0">
              <a:buNone/>
            </a:pPr>
            <a:r>
              <a:rPr lang="en-US" sz="1150" dirty="0">
                <a:solidFill>
                  <a:srgbClr val="5C6672"/>
                </a:solidFill>
                <a:latin typeface="Calibri" pitchFamily="34" charset="0"/>
                <a:ea typeface="Calibri" pitchFamily="34" charset="-122"/>
                <a:cs typeface="Calibri" pitchFamily="34" charset="-120"/>
              </a:rPr>
              <a:t>Runtime JavaScript sekaligus penyedia npm.</a:t>
            </a:r>
            <a:endParaRPr lang="en-US" sz="1150" dirty="0"/>
          </a:p>
        </p:txBody>
      </p:sp>
      <p:sp>
        <p:nvSpPr>
          <p:cNvPr id="9" name="Shape 6"/>
          <p:cNvSpPr/>
          <p:nvPr/>
        </p:nvSpPr>
        <p:spPr>
          <a:xfrm>
            <a:off x="548640" y="2651760"/>
            <a:ext cx="5440680" cy="1005840"/>
          </a:xfrm>
          <a:prstGeom prst="roundRect">
            <a:avLst>
              <a:gd name="adj" fmla="val 10909"/>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0" name="Shape 7"/>
          <p:cNvSpPr/>
          <p:nvPr/>
        </p:nvSpPr>
        <p:spPr>
          <a:xfrm>
            <a:off x="777240" y="2898648"/>
            <a:ext cx="512064" cy="512064"/>
          </a:xfrm>
          <a:prstGeom prst="ellipse">
            <a:avLst/>
          </a:prstGeom>
          <a:solidFill>
            <a:srgbClr val="FFFFFF"/>
          </a:solidFill>
          <a:ln w="12700">
            <a:solidFill>
              <a:srgbClr val="DDE7ED"/>
            </a:solidFill>
            <a:prstDash val="solid"/>
          </a:ln>
        </p:spPr>
      </p:sp>
      <p:pic>
        <p:nvPicPr>
          <p:cNvPr id="11" name="Image 1" descr="preencoded.png">    </p:cNvPr>
          <p:cNvPicPr>
            <a:picLocks noChangeAspect="1"/>
          </p:cNvPicPr>
          <p:nvPr/>
        </p:nvPicPr>
        <p:blipFill>
          <a:blip r:embed="rId2"/>
          <a:stretch>
            <a:fillRect/>
          </a:stretch>
        </p:blipFill>
        <p:spPr>
          <a:xfrm>
            <a:off x="905256" y="3026664"/>
            <a:ext cx="256032" cy="256032"/>
          </a:xfrm>
          <a:prstGeom prst="rect">
            <a:avLst/>
          </a:prstGeom>
        </p:spPr>
      </p:pic>
      <p:sp>
        <p:nvSpPr>
          <p:cNvPr id="12" name="Text 8"/>
          <p:cNvSpPr txBox="1"/>
          <p:nvPr/>
        </p:nvSpPr>
        <p:spPr>
          <a:xfrm>
            <a:off x="1463040" y="283464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Package manager</a:t>
            </a:r>
            <a:endParaRPr lang="en-US" sz="1400" dirty="0"/>
          </a:p>
        </p:txBody>
      </p:sp>
      <p:sp>
        <p:nvSpPr>
          <p:cNvPr id="13" name="Text 9"/>
          <p:cNvSpPr txBox="1"/>
          <p:nvPr/>
        </p:nvSpPr>
        <p:spPr>
          <a:xfrm>
            <a:off x="1463040" y="3127248"/>
            <a:ext cx="4297680" cy="365760"/>
          </a:xfrm>
          <a:prstGeom prst="rect">
            <a:avLst/>
          </a:prstGeom>
          <a:noFill/>
          <a:ln/>
        </p:spPr>
        <p:txBody>
          <a:bodyPr wrap="square" lIns="0" tIns="0" rIns="0" bIns="0" rtlCol="0" anchor="ctr"/>
          <a:lstStyle/>
          <a:p>
            <a:pPr indent="0" marL="0">
              <a:buNone/>
            </a:pPr>
            <a:r>
              <a:rPr lang="en-US" sz="1150" dirty="0">
                <a:solidFill>
                  <a:srgbClr val="5C6672"/>
                </a:solidFill>
                <a:latin typeface="Calibri" pitchFamily="34" charset="0"/>
                <a:ea typeface="Calibri" pitchFamily="34" charset="-122"/>
                <a:cs typeface="Calibri" pitchFamily="34" charset="-120"/>
              </a:rPr>
              <a:t>npm, yarn, atau pnpm untuk mengelola dependensi.</a:t>
            </a:r>
            <a:endParaRPr lang="en-US" sz="1150" dirty="0"/>
          </a:p>
        </p:txBody>
      </p:sp>
      <p:sp>
        <p:nvSpPr>
          <p:cNvPr id="14" name="Shape 10"/>
          <p:cNvSpPr/>
          <p:nvPr/>
        </p:nvSpPr>
        <p:spPr>
          <a:xfrm>
            <a:off x="548640" y="3822192"/>
            <a:ext cx="5440680" cy="1005840"/>
          </a:xfrm>
          <a:prstGeom prst="roundRect">
            <a:avLst>
              <a:gd name="adj" fmla="val 10909"/>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5" name="Shape 11"/>
          <p:cNvSpPr/>
          <p:nvPr/>
        </p:nvSpPr>
        <p:spPr>
          <a:xfrm>
            <a:off x="777240" y="4069080"/>
            <a:ext cx="512064" cy="512064"/>
          </a:xfrm>
          <a:prstGeom prst="ellipse">
            <a:avLst/>
          </a:prstGeom>
          <a:solidFill>
            <a:srgbClr val="FFFFFF"/>
          </a:solidFill>
          <a:ln w="12700">
            <a:solidFill>
              <a:srgbClr val="DDE7ED"/>
            </a:solidFill>
            <a:prstDash val="solid"/>
          </a:ln>
        </p:spPr>
      </p:sp>
      <p:pic>
        <p:nvPicPr>
          <p:cNvPr id="16" name="Image 2" descr="preencoded.png">    </p:cNvPr>
          <p:cNvPicPr>
            <a:picLocks noChangeAspect="1"/>
          </p:cNvPicPr>
          <p:nvPr/>
        </p:nvPicPr>
        <p:blipFill>
          <a:blip r:embed="rId3"/>
          <a:stretch>
            <a:fillRect/>
          </a:stretch>
        </p:blipFill>
        <p:spPr>
          <a:xfrm>
            <a:off x="905256" y="4197096"/>
            <a:ext cx="256032" cy="256032"/>
          </a:xfrm>
          <a:prstGeom prst="rect">
            <a:avLst/>
          </a:prstGeom>
        </p:spPr>
      </p:pic>
      <p:sp>
        <p:nvSpPr>
          <p:cNvPr id="17" name="Text 12"/>
          <p:cNvSpPr txBox="1"/>
          <p:nvPr/>
        </p:nvSpPr>
        <p:spPr>
          <a:xfrm>
            <a:off x="1463040" y="4005072"/>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Vite</a:t>
            </a:r>
            <a:endParaRPr lang="en-US" sz="1400" dirty="0"/>
          </a:p>
        </p:txBody>
      </p:sp>
      <p:sp>
        <p:nvSpPr>
          <p:cNvPr id="18" name="Text 13"/>
          <p:cNvSpPr txBox="1"/>
          <p:nvPr/>
        </p:nvSpPr>
        <p:spPr>
          <a:xfrm>
            <a:off x="1463040" y="4297680"/>
            <a:ext cx="4297680" cy="365760"/>
          </a:xfrm>
          <a:prstGeom prst="rect">
            <a:avLst/>
          </a:prstGeom>
          <a:noFill/>
          <a:ln/>
        </p:spPr>
        <p:txBody>
          <a:bodyPr wrap="square" lIns="0" tIns="0" rIns="0" bIns="0" rtlCol="0" anchor="ctr"/>
          <a:lstStyle/>
          <a:p>
            <a:pPr indent="0" marL="0">
              <a:buNone/>
            </a:pPr>
            <a:r>
              <a:rPr lang="en-US" sz="1150" dirty="0">
                <a:solidFill>
                  <a:srgbClr val="5C6672"/>
                </a:solidFill>
                <a:latin typeface="Calibri" pitchFamily="34" charset="0"/>
                <a:ea typeface="Calibri" pitchFamily="34" charset="-122"/>
                <a:cs typeface="Calibri" pitchFamily="34" charset="-120"/>
              </a:rPr>
              <a:t>Build tool modern untuk membuat proyek React baru.</a:t>
            </a:r>
            <a:endParaRPr lang="en-US" sz="1150" dirty="0"/>
          </a:p>
        </p:txBody>
      </p:sp>
      <p:sp>
        <p:nvSpPr>
          <p:cNvPr id="19" name="Shape 14"/>
          <p:cNvSpPr/>
          <p:nvPr/>
        </p:nvSpPr>
        <p:spPr>
          <a:xfrm>
            <a:off x="548640" y="4992624"/>
            <a:ext cx="5440680" cy="1005840"/>
          </a:xfrm>
          <a:prstGeom prst="roundRect">
            <a:avLst>
              <a:gd name="adj" fmla="val 10909"/>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0" name="Shape 15"/>
          <p:cNvSpPr/>
          <p:nvPr/>
        </p:nvSpPr>
        <p:spPr>
          <a:xfrm>
            <a:off x="777240" y="5239512"/>
            <a:ext cx="512064" cy="512064"/>
          </a:xfrm>
          <a:prstGeom prst="ellipse">
            <a:avLst/>
          </a:prstGeom>
          <a:solidFill>
            <a:srgbClr val="FFFFFF"/>
          </a:solidFill>
          <a:ln w="12700">
            <a:solidFill>
              <a:srgbClr val="DDE7ED"/>
            </a:solidFill>
            <a:prstDash val="solid"/>
          </a:ln>
        </p:spPr>
      </p:sp>
      <p:pic>
        <p:nvPicPr>
          <p:cNvPr id="21" name="Image 3" descr="preencoded.png">    </p:cNvPr>
          <p:cNvPicPr>
            <a:picLocks noChangeAspect="1"/>
          </p:cNvPicPr>
          <p:nvPr/>
        </p:nvPicPr>
        <p:blipFill>
          <a:blip r:embed="rId4"/>
          <a:stretch>
            <a:fillRect/>
          </a:stretch>
        </p:blipFill>
        <p:spPr>
          <a:xfrm>
            <a:off x="905256" y="5367528"/>
            <a:ext cx="256032" cy="256032"/>
          </a:xfrm>
          <a:prstGeom prst="rect">
            <a:avLst/>
          </a:prstGeom>
        </p:spPr>
      </p:pic>
      <p:sp>
        <p:nvSpPr>
          <p:cNvPr id="22" name="Text 16"/>
          <p:cNvSpPr txBox="1"/>
          <p:nvPr/>
        </p:nvSpPr>
        <p:spPr>
          <a:xfrm>
            <a:off x="1463040" y="5175504"/>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Code editor</a:t>
            </a:r>
            <a:endParaRPr lang="en-US" sz="1400" dirty="0"/>
          </a:p>
        </p:txBody>
      </p:sp>
      <p:sp>
        <p:nvSpPr>
          <p:cNvPr id="23" name="Text 17"/>
          <p:cNvSpPr txBox="1"/>
          <p:nvPr/>
        </p:nvSpPr>
        <p:spPr>
          <a:xfrm>
            <a:off x="1463040" y="5468112"/>
            <a:ext cx="4297680" cy="365760"/>
          </a:xfrm>
          <a:prstGeom prst="rect">
            <a:avLst/>
          </a:prstGeom>
          <a:noFill/>
          <a:ln/>
        </p:spPr>
        <p:txBody>
          <a:bodyPr wrap="square" lIns="0" tIns="0" rIns="0" bIns="0" rtlCol="0" anchor="ctr"/>
          <a:lstStyle/>
          <a:p>
            <a:pPr indent="0" marL="0">
              <a:buNone/>
            </a:pPr>
            <a:r>
              <a:rPr lang="en-US" sz="1150" dirty="0">
                <a:solidFill>
                  <a:srgbClr val="5C6672"/>
                </a:solidFill>
                <a:latin typeface="Calibri" pitchFamily="34" charset="0"/>
                <a:ea typeface="Calibri" pitchFamily="34" charset="-122"/>
                <a:cs typeface="Calibri" pitchFamily="34" charset="-120"/>
              </a:rPr>
              <a:t>VS Code beserta ekstensi ESLint dan Prettier.</a:t>
            </a:r>
            <a:endParaRPr lang="en-US" sz="1150" dirty="0"/>
          </a:p>
        </p:txBody>
      </p:sp>
      <p:sp>
        <p:nvSpPr>
          <p:cNvPr id="24" name="Text 18"/>
          <p:cNvSpPr txBox="1"/>
          <p:nvPr/>
        </p:nvSpPr>
        <p:spPr>
          <a:xfrm>
            <a:off x="6199632" y="1481328"/>
            <a:ext cx="544068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Membuat proyek React pertama</a:t>
            </a:r>
            <a:endParaRPr lang="en-US" sz="1500" dirty="0"/>
          </a:p>
        </p:txBody>
      </p:sp>
      <p:sp>
        <p:nvSpPr>
          <p:cNvPr id="25" name="Shape 19"/>
          <p:cNvSpPr/>
          <p:nvPr/>
        </p:nvSpPr>
        <p:spPr>
          <a:xfrm>
            <a:off x="6199632" y="1865376"/>
            <a:ext cx="5440680" cy="2582266"/>
          </a:xfrm>
          <a:prstGeom prst="roundRect">
            <a:avLst>
              <a:gd name="adj" fmla="val 3541"/>
            </a:avLst>
          </a:prstGeom>
          <a:solidFill>
            <a:srgbClr val="1B1F27"/>
          </a:solidFill>
          <a:ln w="12700">
            <a:solidFill>
              <a:srgbClr val="323945"/>
            </a:solidFill>
            <a:prstDash val="solid"/>
          </a:ln>
        </p:spPr>
      </p:sp>
      <p:sp>
        <p:nvSpPr>
          <p:cNvPr id="26" name="Text 20"/>
          <p:cNvSpPr txBox="1"/>
          <p:nvPr/>
        </p:nvSpPr>
        <p:spPr>
          <a:xfrm>
            <a:off x="6345936" y="1993392"/>
            <a:ext cx="5148072" cy="2326234"/>
          </a:xfrm>
          <a:prstGeom prst="rect">
            <a:avLst/>
          </a:prstGeom>
          <a:noFill/>
          <a:ln/>
        </p:spPr>
        <p:txBody>
          <a:bodyPr wrap="square" lIns="0" tIns="0" rIns="0" bIns="0" rtlCol="0" anchor="t"/>
          <a:lstStyle/>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1. Membuat proyek baru</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npm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create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vite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latest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aplikasi</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saya</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pilih framework: React</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pilih varian : JavaScript / TypeScript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2. Masuk folder &amp; pasang dependensi</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cd</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aplikasi</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saya</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npm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install</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3. Menjalankan server pengembangan</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npm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run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dev</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buka http://localhost:5173</a:t>
            </a:r>
            <a:endParaRPr lang="en-US" sz="1150" dirty="0"/>
          </a:p>
        </p:txBody>
      </p:sp>
      <p:sp>
        <p:nvSpPr>
          <p:cNvPr id="27" name="Shape 21"/>
          <p:cNvSpPr/>
          <p:nvPr/>
        </p:nvSpPr>
        <p:spPr>
          <a:xfrm>
            <a:off x="6199632" y="4709160"/>
            <a:ext cx="5440680" cy="777240"/>
          </a:xfrm>
          <a:prstGeom prst="roundRect">
            <a:avLst>
              <a:gd name="adj" fmla="val 14118"/>
            </a:avLst>
          </a:prstGeom>
          <a:solidFill>
            <a:srgbClr val="20232A"/>
          </a:solidFill>
          <a:ln w="12700">
            <a:solidFill>
              <a:srgbClr val="20232A"/>
            </a:solidFill>
            <a:prstDash val="solid"/>
          </a:ln>
        </p:spPr>
      </p:sp>
      <p:sp>
        <p:nvSpPr>
          <p:cNvPr id="28" name="Text 22"/>
          <p:cNvSpPr txBox="1"/>
          <p:nvPr/>
        </p:nvSpPr>
        <p:spPr>
          <a:xfrm>
            <a:off x="6446520" y="4818888"/>
            <a:ext cx="4983480" cy="548640"/>
          </a:xfrm>
          <a:prstGeom prst="rect">
            <a:avLst/>
          </a:prstGeom>
          <a:noFill/>
          <a:ln/>
        </p:spPr>
        <p:txBody>
          <a:bodyPr wrap="square" lIns="0" tIns="0" rIns="0" bIns="0" rtlCol="0" anchor="ctr"/>
          <a:lstStyle/>
          <a:p>
            <a:pPr indent="0" marL="0">
              <a:lnSpc>
                <a:spcPct val="110000"/>
              </a:lnSpc>
              <a:buNone/>
            </a:pPr>
            <a:r>
              <a:rPr lang="en-US" sz="1150" dirty="0">
                <a:solidFill>
                  <a:srgbClr val="CFE9F5"/>
                </a:solidFill>
                <a:latin typeface="Calibri" pitchFamily="34" charset="0"/>
                <a:ea typeface="Calibri" pitchFamily="34" charset="-122"/>
                <a:cs typeface="Calibri" pitchFamily="34" charset="-120"/>
              </a:rPr>
              <a:t>Tip: hindari create-react-app karena sudah tidak direkomendasikan. Gunakan Vite atau Next.js.</a:t>
            </a:r>
            <a:endParaRPr lang="en-US" sz="1150" dirty="0"/>
          </a:p>
        </p:txBody>
      </p:sp>
      <p:pic>
        <p:nvPicPr>
          <p:cNvPr id="30"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1" name="Text 23"/>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2" name="Text 24"/>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Struktur Proyek React</a:t>
            </a:r>
            <a:endParaRPr lang="en-US" sz="3200" dirty="0"/>
          </a:p>
        </p:txBody>
      </p:sp>
      <p:sp>
        <p:nvSpPr>
          <p:cNvPr id="4" name="Shape 2"/>
          <p:cNvSpPr/>
          <p:nvPr/>
        </p:nvSpPr>
        <p:spPr>
          <a:xfrm>
            <a:off x="548640" y="1481328"/>
            <a:ext cx="5257800" cy="3150108"/>
          </a:xfrm>
          <a:prstGeom prst="roundRect">
            <a:avLst>
              <a:gd name="adj" fmla="val 2903"/>
            </a:avLst>
          </a:prstGeom>
          <a:solidFill>
            <a:srgbClr val="1B1F27"/>
          </a:solidFill>
          <a:ln w="12700">
            <a:solidFill>
              <a:srgbClr val="323945"/>
            </a:solidFill>
            <a:prstDash val="solid"/>
          </a:ln>
        </p:spPr>
      </p:sp>
      <p:sp>
        <p:nvSpPr>
          <p:cNvPr id="5" name="Text 3"/>
          <p:cNvSpPr txBox="1"/>
          <p:nvPr/>
        </p:nvSpPr>
        <p:spPr>
          <a:xfrm>
            <a:off x="694944" y="1609344"/>
            <a:ext cx="4965192" cy="2894076"/>
          </a:xfrm>
          <a:prstGeom prst="rect">
            <a:avLst/>
          </a:prstGeom>
          <a:noFill/>
          <a:ln/>
        </p:spPr>
        <p:txBody>
          <a:bodyPr wrap="square" lIns="0" tIns="0" rIns="0" bIns="0" rtlCol="0" anchor="t"/>
          <a:lstStyle/>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aplikasi</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saya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node_modules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pustaka terpasang</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public</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aset statis publik</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src</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assets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gambar, font, ikon</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components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komponen dapat dipakai ulang</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pages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halaman aplikasi</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hooks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custom hooks</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services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pemanggilan API</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App</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jsx</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komponen root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main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jsx</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titik masuk aplikasi</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index</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css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gaya global</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index</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html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template HTML</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package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json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metadata &amp; skrip</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vite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config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js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konfigurasi build</a:t>
            </a:r>
            <a:endParaRPr lang="en-US" sz="1150" dirty="0"/>
          </a:p>
        </p:txBody>
      </p:sp>
      <p:sp>
        <p:nvSpPr>
          <p:cNvPr id="6" name="Text 4"/>
          <p:cNvSpPr txBox="1"/>
          <p:nvPr/>
        </p:nvSpPr>
        <p:spPr>
          <a:xfrm>
            <a:off x="6126480" y="1481328"/>
            <a:ext cx="5532120" cy="274320"/>
          </a:xfrm>
          <a:prstGeom prst="rect">
            <a:avLst/>
          </a:prstGeom>
          <a:noFill/>
          <a:ln/>
        </p:spPr>
        <p:txBody>
          <a:bodyPr wrap="square" lIns="0" tIns="0" rIns="0" bIns="0" rtlCol="0" anchor="ctr"/>
          <a:lstStyle/>
          <a:p>
            <a:pPr indent="0" marL="0">
              <a:buNone/>
            </a:pPr>
            <a:r>
              <a:rPr lang="en-US" sz="1300" b="1" dirty="0">
                <a:solidFill>
                  <a:srgbClr val="1E90AF"/>
                </a:solidFill>
                <a:latin typeface="Courier New" pitchFamily="34" charset="0"/>
                <a:ea typeface="Courier New" pitchFamily="34" charset="-122"/>
                <a:cs typeface="Courier New" pitchFamily="34" charset="-120"/>
              </a:rPr>
              <a:t>main.jsx</a:t>
            </a:r>
            <a:endParaRPr lang="en-US" sz="1300" dirty="0"/>
          </a:p>
        </p:txBody>
      </p:sp>
      <p:sp>
        <p:nvSpPr>
          <p:cNvPr id="7" name="Text 5"/>
          <p:cNvSpPr txBox="1"/>
          <p:nvPr/>
        </p:nvSpPr>
        <p:spPr>
          <a:xfrm>
            <a:off x="6126480" y="1755648"/>
            <a:ext cx="553212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Titik masuk aplikasi. Berisi createRoot yang menempelkan komponen App ke elemen #root di index.html.</a:t>
            </a:r>
            <a:endParaRPr lang="en-US" sz="1150" dirty="0"/>
          </a:p>
        </p:txBody>
      </p:sp>
      <p:sp>
        <p:nvSpPr>
          <p:cNvPr id="8" name="Text 6"/>
          <p:cNvSpPr txBox="1"/>
          <p:nvPr/>
        </p:nvSpPr>
        <p:spPr>
          <a:xfrm>
            <a:off x="6126480" y="2414016"/>
            <a:ext cx="5532120" cy="274320"/>
          </a:xfrm>
          <a:prstGeom prst="rect">
            <a:avLst/>
          </a:prstGeom>
          <a:noFill/>
          <a:ln/>
        </p:spPr>
        <p:txBody>
          <a:bodyPr wrap="square" lIns="0" tIns="0" rIns="0" bIns="0" rtlCol="0" anchor="ctr"/>
          <a:lstStyle/>
          <a:p>
            <a:pPr indent="0" marL="0">
              <a:buNone/>
            </a:pPr>
            <a:r>
              <a:rPr lang="en-US" sz="1300" b="1" dirty="0">
                <a:solidFill>
                  <a:srgbClr val="1E90AF"/>
                </a:solidFill>
                <a:latin typeface="Courier New" pitchFamily="34" charset="0"/>
                <a:ea typeface="Courier New" pitchFamily="34" charset="-122"/>
                <a:cs typeface="Courier New" pitchFamily="34" charset="-120"/>
              </a:rPr>
              <a:t>App.jsx</a:t>
            </a:r>
            <a:endParaRPr lang="en-US" sz="1300" dirty="0"/>
          </a:p>
        </p:txBody>
      </p:sp>
      <p:sp>
        <p:nvSpPr>
          <p:cNvPr id="9" name="Text 7"/>
          <p:cNvSpPr txBox="1"/>
          <p:nvPr/>
        </p:nvSpPr>
        <p:spPr>
          <a:xfrm>
            <a:off x="6126480" y="2688336"/>
            <a:ext cx="553212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Komponen paling atas. Biasanya memuat layout utama dan pengaturan routing.</a:t>
            </a:r>
            <a:endParaRPr lang="en-US" sz="1150" dirty="0"/>
          </a:p>
        </p:txBody>
      </p:sp>
      <p:sp>
        <p:nvSpPr>
          <p:cNvPr id="10" name="Text 8"/>
          <p:cNvSpPr txBox="1"/>
          <p:nvPr/>
        </p:nvSpPr>
        <p:spPr>
          <a:xfrm>
            <a:off x="6126480" y="3346704"/>
            <a:ext cx="5532120" cy="274320"/>
          </a:xfrm>
          <a:prstGeom prst="rect">
            <a:avLst/>
          </a:prstGeom>
          <a:noFill/>
          <a:ln/>
        </p:spPr>
        <p:txBody>
          <a:bodyPr wrap="square" lIns="0" tIns="0" rIns="0" bIns="0" rtlCol="0" anchor="ctr"/>
          <a:lstStyle/>
          <a:p>
            <a:pPr indent="0" marL="0">
              <a:buNone/>
            </a:pPr>
            <a:r>
              <a:rPr lang="en-US" sz="1300" b="1" dirty="0">
                <a:solidFill>
                  <a:srgbClr val="1E90AF"/>
                </a:solidFill>
                <a:latin typeface="Courier New" pitchFamily="34" charset="0"/>
                <a:ea typeface="Courier New" pitchFamily="34" charset="-122"/>
                <a:cs typeface="Courier New" pitchFamily="34" charset="-120"/>
              </a:rPr>
              <a:t>components/</a:t>
            </a:r>
            <a:endParaRPr lang="en-US" sz="1300" dirty="0"/>
          </a:p>
        </p:txBody>
      </p:sp>
      <p:sp>
        <p:nvSpPr>
          <p:cNvPr id="11" name="Text 9"/>
          <p:cNvSpPr txBox="1"/>
          <p:nvPr/>
        </p:nvSpPr>
        <p:spPr>
          <a:xfrm>
            <a:off x="6126480" y="3621024"/>
            <a:ext cx="553212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Kumpulan komponen kecil seperti Button, Card, atau Navbar yang dipakai berulang.</a:t>
            </a:r>
            <a:endParaRPr lang="en-US" sz="1150" dirty="0"/>
          </a:p>
        </p:txBody>
      </p:sp>
      <p:sp>
        <p:nvSpPr>
          <p:cNvPr id="12" name="Text 10"/>
          <p:cNvSpPr txBox="1"/>
          <p:nvPr/>
        </p:nvSpPr>
        <p:spPr>
          <a:xfrm>
            <a:off x="6126480" y="4279392"/>
            <a:ext cx="5532120" cy="274320"/>
          </a:xfrm>
          <a:prstGeom prst="rect">
            <a:avLst/>
          </a:prstGeom>
          <a:noFill/>
          <a:ln/>
        </p:spPr>
        <p:txBody>
          <a:bodyPr wrap="square" lIns="0" tIns="0" rIns="0" bIns="0" rtlCol="0" anchor="ctr"/>
          <a:lstStyle/>
          <a:p>
            <a:pPr indent="0" marL="0">
              <a:buNone/>
            </a:pPr>
            <a:r>
              <a:rPr lang="en-US" sz="1300" b="1" dirty="0">
                <a:solidFill>
                  <a:srgbClr val="1E90AF"/>
                </a:solidFill>
                <a:latin typeface="Courier New" pitchFamily="34" charset="0"/>
                <a:ea typeface="Courier New" pitchFamily="34" charset="-122"/>
                <a:cs typeface="Courier New" pitchFamily="34" charset="-120"/>
              </a:rPr>
              <a:t>pages/</a:t>
            </a:r>
            <a:endParaRPr lang="en-US" sz="1300" dirty="0"/>
          </a:p>
        </p:txBody>
      </p:sp>
      <p:sp>
        <p:nvSpPr>
          <p:cNvPr id="13" name="Text 11"/>
          <p:cNvSpPr txBox="1"/>
          <p:nvPr/>
        </p:nvSpPr>
        <p:spPr>
          <a:xfrm>
            <a:off x="6126480" y="4553712"/>
            <a:ext cx="553212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Komponen berukuran halaman penuh yang dipetakan ke sebuah rute, misalnya Beranda atau Detail.</a:t>
            </a:r>
            <a:endParaRPr lang="en-US" sz="1150" dirty="0"/>
          </a:p>
        </p:txBody>
      </p:sp>
      <p:sp>
        <p:nvSpPr>
          <p:cNvPr id="14" name="Text 12"/>
          <p:cNvSpPr txBox="1"/>
          <p:nvPr/>
        </p:nvSpPr>
        <p:spPr>
          <a:xfrm>
            <a:off x="6126480" y="5212080"/>
            <a:ext cx="5532120" cy="274320"/>
          </a:xfrm>
          <a:prstGeom prst="rect">
            <a:avLst/>
          </a:prstGeom>
          <a:noFill/>
          <a:ln/>
        </p:spPr>
        <p:txBody>
          <a:bodyPr wrap="square" lIns="0" tIns="0" rIns="0" bIns="0" rtlCol="0" anchor="ctr"/>
          <a:lstStyle/>
          <a:p>
            <a:pPr indent="0" marL="0">
              <a:buNone/>
            </a:pPr>
            <a:r>
              <a:rPr lang="en-US" sz="1300" b="1" dirty="0">
                <a:solidFill>
                  <a:srgbClr val="1E90AF"/>
                </a:solidFill>
                <a:latin typeface="Courier New" pitchFamily="34" charset="0"/>
                <a:ea typeface="Courier New" pitchFamily="34" charset="-122"/>
                <a:cs typeface="Courier New" pitchFamily="34" charset="-120"/>
              </a:rPr>
              <a:t>package.json</a:t>
            </a:r>
            <a:endParaRPr lang="en-US" sz="1300" dirty="0"/>
          </a:p>
        </p:txBody>
      </p:sp>
      <p:sp>
        <p:nvSpPr>
          <p:cNvPr id="15" name="Text 13"/>
          <p:cNvSpPr txBox="1"/>
          <p:nvPr/>
        </p:nvSpPr>
        <p:spPr>
          <a:xfrm>
            <a:off x="6126480" y="5486400"/>
            <a:ext cx="5532120" cy="566928"/>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Mendaftarkan dependensi dan skrip: dev, build, preview, serta lint.</a:t>
            </a:r>
            <a:endParaRPr lang="en-US" sz="1150" dirty="0"/>
          </a:p>
        </p:txBody>
      </p:sp>
      <p:pic>
        <p:nvPicPr>
          <p:cNvPr id="17"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18" name="Text 1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9" name="Text 1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JSX: Menulis UI di dalam JavaScript</a:t>
            </a:r>
            <a:endParaRPr lang="en-US" sz="3200" dirty="0"/>
          </a:p>
        </p:txBody>
      </p:sp>
      <p:sp>
        <p:nvSpPr>
          <p:cNvPr id="4" name="Shape 2"/>
          <p:cNvSpPr/>
          <p:nvPr/>
        </p:nvSpPr>
        <p:spPr>
          <a:xfrm>
            <a:off x="548640" y="1481328"/>
            <a:ext cx="6035040" cy="2483510"/>
          </a:xfrm>
          <a:prstGeom prst="roundRect">
            <a:avLst>
              <a:gd name="adj" fmla="val 3682"/>
            </a:avLst>
          </a:prstGeom>
          <a:solidFill>
            <a:srgbClr val="1B1F27"/>
          </a:solidFill>
          <a:ln w="12700">
            <a:solidFill>
              <a:srgbClr val="323945"/>
            </a:solidFill>
            <a:prstDash val="solid"/>
          </a:ln>
        </p:spPr>
      </p:sp>
      <p:sp>
        <p:nvSpPr>
          <p:cNvPr id="5" name="Text 3"/>
          <p:cNvSpPr txBox="1"/>
          <p:nvPr/>
        </p:nvSpPr>
        <p:spPr>
          <a:xfrm>
            <a:off x="694944" y="1609344"/>
            <a:ext cx="5742432" cy="2227478"/>
          </a:xfrm>
          <a:prstGeom prst="rect">
            <a:avLst/>
          </a:prstGeom>
          <a:noFill/>
          <a:ln/>
        </p:spPr>
        <p:txBody>
          <a:bodyPr wrap="square" lIns="0" tIns="0" rIns="0" bIns="0" rtlCol="0" anchor="t"/>
          <a:lstStyle/>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'Mujahidin'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nilai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92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elemen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"kartu"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Halo</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Nilai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akhir</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kamu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nilai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Status</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nilai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75</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'Lulus'</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'Remedial'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&lt;img</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src</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fotoUrl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alt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"foto profil"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Shape 4"/>
          <p:cNvSpPr/>
          <p:nvPr/>
        </p:nvSpPr>
        <p:spPr>
          <a:xfrm>
            <a:off x="6812280" y="1481328"/>
            <a:ext cx="4828032" cy="2148840"/>
          </a:xfrm>
          <a:prstGeom prst="roundRect">
            <a:avLst>
              <a:gd name="adj" fmla="val 510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Text 5"/>
          <p:cNvSpPr txBox="1"/>
          <p:nvPr/>
        </p:nvSpPr>
        <p:spPr>
          <a:xfrm>
            <a:off x="7059168" y="1664208"/>
            <a:ext cx="434340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Apa itu JSX?</a:t>
            </a:r>
            <a:endParaRPr lang="en-US" sz="1500" dirty="0"/>
          </a:p>
        </p:txBody>
      </p:sp>
      <p:sp>
        <p:nvSpPr>
          <p:cNvPr id="8" name="Text 6"/>
          <p:cNvSpPr txBox="1"/>
          <p:nvPr/>
        </p:nvSpPr>
        <p:spPr>
          <a:xfrm>
            <a:off x="7059168" y="1975104"/>
            <a:ext cx="4343400" cy="1463040"/>
          </a:xfrm>
          <a:prstGeom prst="rect">
            <a:avLst/>
          </a:prstGeom>
          <a:noFill/>
          <a:ln/>
        </p:spPr>
        <p:txBody>
          <a:bodyPr wrap="square" lIns="0" tIns="0" rIns="0" bIns="0" rtlCol="0" anchor="t"/>
          <a:lstStyle/>
          <a:p>
            <a:pPr indent="0" marL="0">
              <a:lnSpc>
                <a:spcPct val="115000"/>
              </a:lnSpc>
              <a:buNone/>
            </a:pPr>
            <a:r>
              <a:rPr lang="en-US" sz="1150" dirty="0">
                <a:solidFill>
                  <a:srgbClr val="5C6672"/>
                </a:solidFill>
                <a:latin typeface="Calibri" pitchFamily="34" charset="0"/>
                <a:ea typeface="Calibri" pitchFamily="34" charset="-122"/>
                <a:cs typeface="Calibri" pitchFamily="34" charset="-120"/>
              </a:rPr>
              <a:t>JSX adalah perluasan sintaks JavaScript yang memungkinkan penulisan struktur mirip HTML di dalam kode JavaScript. Browser tidak memahami JSX, sehingga Babel mengubahnya menjadi pemanggilan fungsi React biasa saat proses build.</a:t>
            </a:r>
            <a:endParaRPr lang="en-US" sz="1150" dirty="0"/>
          </a:p>
        </p:txBody>
      </p:sp>
      <p:sp>
        <p:nvSpPr>
          <p:cNvPr id="9" name="Text 7"/>
          <p:cNvSpPr txBox="1"/>
          <p:nvPr/>
        </p:nvSpPr>
        <p:spPr>
          <a:xfrm>
            <a:off x="6812280" y="3794760"/>
            <a:ext cx="4828032"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Hasil kompilasi Babel</a:t>
            </a:r>
            <a:endParaRPr lang="en-US" sz="1350" dirty="0"/>
          </a:p>
        </p:txBody>
      </p:sp>
      <p:sp>
        <p:nvSpPr>
          <p:cNvPr id="10" name="Shape 8"/>
          <p:cNvSpPr/>
          <p:nvPr/>
        </p:nvSpPr>
        <p:spPr>
          <a:xfrm>
            <a:off x="6812280" y="4133088"/>
            <a:ext cx="4828032" cy="1002182"/>
          </a:xfrm>
          <a:prstGeom prst="roundRect">
            <a:avLst>
              <a:gd name="adj" fmla="val 9124"/>
            </a:avLst>
          </a:prstGeom>
          <a:solidFill>
            <a:srgbClr val="1B1F27"/>
          </a:solidFill>
          <a:ln w="12700">
            <a:solidFill>
              <a:srgbClr val="323945"/>
            </a:solidFill>
            <a:prstDash val="solid"/>
          </a:ln>
        </p:spPr>
      </p:sp>
      <p:sp>
        <p:nvSpPr>
          <p:cNvPr id="11" name="Text 9"/>
          <p:cNvSpPr txBox="1"/>
          <p:nvPr/>
        </p:nvSpPr>
        <p:spPr>
          <a:xfrm>
            <a:off x="6958584" y="4261104"/>
            <a:ext cx="4535424" cy="746150"/>
          </a:xfrm>
          <a:prstGeom prst="rect">
            <a:avLst/>
          </a:prstGeom>
          <a:noFill/>
          <a:ln/>
        </p:spPr>
        <p:txBody>
          <a:bodyPr wrap="square" lIns="0" tIns="0" rIns="0" bIns="0" rtlCol="0" anchor="t"/>
          <a:lstStyle/>
          <a:p>
            <a:pPr indent="0" marL="0">
              <a:lnSpc>
                <a:spcPct val="106000"/>
              </a:lnSpc>
              <a:buNone/>
            </a:pPr>
            <a:r>
              <a:rPr lang="en-US" sz="1050" dirty="0">
                <a:solidFill>
                  <a:srgbClr val="61DAFB"/>
                </a:solidFill>
                <a:latin typeface="Courier New" pitchFamily="34" charset="0"/>
                <a:ea typeface="Courier New" pitchFamily="34" charset="-122"/>
                <a:cs typeface="Courier New" pitchFamily="34" charset="-120"/>
              </a:rPr>
              <a:t>React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createElement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'h1'</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'judul'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'Halo,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12" name="Shape 10"/>
          <p:cNvSpPr/>
          <p:nvPr/>
        </p:nvSpPr>
        <p:spPr>
          <a:xfrm>
            <a:off x="548640" y="4617720"/>
            <a:ext cx="6035040" cy="1188720"/>
          </a:xfrm>
          <a:prstGeom prst="roundRect">
            <a:avLst>
              <a:gd name="adj" fmla="val 9231"/>
            </a:avLst>
          </a:prstGeom>
          <a:solidFill>
            <a:srgbClr val="20232A"/>
          </a:solidFill>
          <a:ln w="12700">
            <a:solidFill>
              <a:srgbClr val="20232A"/>
            </a:solidFill>
            <a:prstDash val="solid"/>
          </a:ln>
        </p:spPr>
      </p:sp>
      <p:sp>
        <p:nvSpPr>
          <p:cNvPr id="13" name="Text 11"/>
          <p:cNvSpPr txBox="1"/>
          <p:nvPr/>
        </p:nvSpPr>
        <p:spPr>
          <a:xfrm>
            <a:off x="822960" y="4800600"/>
            <a:ext cx="5532120" cy="868680"/>
          </a:xfrm>
          <a:prstGeom prst="rect">
            <a:avLst/>
          </a:prstGeom>
          <a:noFill/>
          <a:ln/>
        </p:spPr>
        <p:txBody>
          <a:bodyPr wrap="square" lIns="0" tIns="0" rIns="0" bIns="0" rtlCol="0" anchor="ctr"/>
          <a:lstStyle/>
          <a:p>
            <a:pPr indent="0" marL="0">
              <a:lnSpc>
                <a:spcPct val="115000"/>
              </a:lnSpc>
              <a:buNone/>
            </a:pPr>
            <a:r>
              <a:rPr lang="en-US" sz="1200" dirty="0">
                <a:solidFill>
                  <a:srgbClr val="CFE9F5"/>
                </a:solidFill>
                <a:latin typeface="Calibri" pitchFamily="34" charset="0"/>
                <a:ea typeface="Calibri" pitchFamily="34" charset="-122"/>
                <a:cs typeface="Calibri" pitchFamily="34" charset="-120"/>
              </a:rPr>
              <a:t>Kurung kurawal { } dipakai untuk menyisipkan ekspresi JavaScript: variabel, operasi matematika, pemanggilan fungsi, maupun operator ternary.</a:t>
            </a:r>
            <a:endParaRPr lang="en-US" sz="1200" dirty="0"/>
          </a:p>
        </p:txBody>
      </p:sp>
      <p:pic>
        <p:nvPicPr>
          <p:cNvPr id="15"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16" name="Text 1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7" name="Text 1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Aturan Penulisan JSX</a:t>
            </a:r>
            <a:endParaRPr lang="en-US" sz="3200" dirty="0"/>
          </a:p>
        </p:txBody>
      </p:sp>
      <p:sp>
        <p:nvSpPr>
          <p:cNvPr id="4" name="Shape 2"/>
          <p:cNvSpPr/>
          <p:nvPr/>
        </p:nvSpPr>
        <p:spPr>
          <a:xfrm>
            <a:off x="548640" y="1463040"/>
            <a:ext cx="5440680" cy="2176272"/>
          </a:xfrm>
          <a:prstGeom prst="roundRect">
            <a:avLst>
              <a:gd name="adj" fmla="val 5042"/>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Text 3"/>
          <p:cNvSpPr txBox="1"/>
          <p:nvPr/>
        </p:nvSpPr>
        <p:spPr>
          <a:xfrm>
            <a:off x="804672" y="1627632"/>
            <a:ext cx="365760" cy="310896"/>
          </a:xfrm>
          <a:prstGeom prst="rect">
            <a:avLst/>
          </a:prstGeom>
          <a:noFill/>
          <a:ln/>
        </p:spPr>
        <p:txBody>
          <a:bodyPr wrap="square" lIns="0" tIns="0" rIns="0" bIns="0" rtlCol="0" anchor="ctr"/>
          <a:lstStyle/>
          <a:p>
            <a:pPr indent="0" marL="0">
              <a:buNone/>
            </a:pPr>
            <a:r>
              <a:rPr lang="en-US" sz="1700" b="1" dirty="0">
                <a:solidFill>
                  <a:srgbClr val="1E90A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170432" y="1627632"/>
            <a:ext cx="45720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Satu elemen induk</a:t>
            </a:r>
            <a:endParaRPr lang="en-US" sz="1450" dirty="0"/>
          </a:p>
        </p:txBody>
      </p:sp>
      <p:sp>
        <p:nvSpPr>
          <p:cNvPr id="7" name="Text 5"/>
          <p:cNvSpPr txBox="1"/>
          <p:nvPr/>
        </p:nvSpPr>
        <p:spPr>
          <a:xfrm>
            <a:off x="804672" y="1975104"/>
            <a:ext cx="4937760" cy="566928"/>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Setiap komponen hanya boleh mengembalikan satu elemen terluar. Gunakan &lt;div&gt; atau Fragment &lt;&gt;...&lt;/&gt;.</a:t>
            </a:r>
            <a:endParaRPr lang="en-US" sz="1100" dirty="0"/>
          </a:p>
        </p:txBody>
      </p:sp>
      <p:sp>
        <p:nvSpPr>
          <p:cNvPr id="8" name="Shape 6"/>
          <p:cNvSpPr/>
          <p:nvPr/>
        </p:nvSpPr>
        <p:spPr>
          <a:xfrm>
            <a:off x="804672" y="2596896"/>
            <a:ext cx="4937760" cy="896112"/>
          </a:xfrm>
          <a:prstGeom prst="roundRect">
            <a:avLst>
              <a:gd name="adj" fmla="val 10204"/>
            </a:avLst>
          </a:prstGeom>
          <a:solidFill>
            <a:srgbClr val="1B1F27"/>
          </a:solidFill>
          <a:ln w="12700">
            <a:solidFill>
              <a:srgbClr val="323945"/>
            </a:solidFill>
            <a:prstDash val="solid"/>
          </a:ln>
        </p:spPr>
      </p:sp>
      <p:sp>
        <p:nvSpPr>
          <p:cNvPr id="9" name="Text 7"/>
          <p:cNvSpPr txBox="1"/>
          <p:nvPr/>
        </p:nvSpPr>
        <p:spPr>
          <a:xfrm>
            <a:off x="950976" y="2724912"/>
            <a:ext cx="4645152" cy="640080"/>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Judul</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Isi</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6199632" y="1463040"/>
            <a:ext cx="5440680" cy="2176272"/>
          </a:xfrm>
          <a:prstGeom prst="roundRect">
            <a:avLst>
              <a:gd name="adj" fmla="val 5042"/>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Text 9"/>
          <p:cNvSpPr txBox="1"/>
          <p:nvPr/>
        </p:nvSpPr>
        <p:spPr>
          <a:xfrm>
            <a:off x="6455664" y="1627632"/>
            <a:ext cx="365760" cy="310896"/>
          </a:xfrm>
          <a:prstGeom prst="rect">
            <a:avLst/>
          </a:prstGeom>
          <a:noFill/>
          <a:ln/>
        </p:spPr>
        <p:txBody>
          <a:bodyPr wrap="square" lIns="0" tIns="0" rIns="0" bIns="0" rtlCol="0" anchor="ctr"/>
          <a:lstStyle/>
          <a:p>
            <a:pPr indent="0" marL="0">
              <a:buNone/>
            </a:pPr>
            <a:r>
              <a:rPr lang="en-US" sz="1700" b="1" dirty="0">
                <a:solidFill>
                  <a:srgbClr val="1E90AF"/>
                </a:solidFill>
                <a:latin typeface="Calibri" pitchFamily="34" charset="0"/>
                <a:ea typeface="Calibri" pitchFamily="34" charset="-122"/>
                <a:cs typeface="Calibri" pitchFamily="34" charset="-120"/>
              </a:rPr>
              <a:t>2</a:t>
            </a:r>
            <a:endParaRPr lang="en-US" sz="1700" dirty="0"/>
          </a:p>
        </p:txBody>
      </p:sp>
      <p:sp>
        <p:nvSpPr>
          <p:cNvPr id="12" name="Text 10"/>
          <p:cNvSpPr txBox="1"/>
          <p:nvPr/>
        </p:nvSpPr>
        <p:spPr>
          <a:xfrm>
            <a:off x="6821424" y="1627632"/>
            <a:ext cx="45720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className, bukan class</a:t>
            </a:r>
            <a:endParaRPr lang="en-US" sz="1450" dirty="0"/>
          </a:p>
        </p:txBody>
      </p:sp>
      <p:sp>
        <p:nvSpPr>
          <p:cNvPr id="13" name="Text 11"/>
          <p:cNvSpPr txBox="1"/>
          <p:nvPr/>
        </p:nvSpPr>
        <p:spPr>
          <a:xfrm>
            <a:off x="6455664" y="1975104"/>
            <a:ext cx="4937760" cy="566928"/>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Kata class sudah dipakai JavaScript, sehingga atribut CSS ditulis className. Atribut lain memakai camelCase.</a:t>
            </a:r>
            <a:endParaRPr lang="en-US" sz="1100" dirty="0"/>
          </a:p>
        </p:txBody>
      </p:sp>
      <p:sp>
        <p:nvSpPr>
          <p:cNvPr id="14" name="Shape 12"/>
          <p:cNvSpPr/>
          <p:nvPr/>
        </p:nvSpPr>
        <p:spPr>
          <a:xfrm>
            <a:off x="6455664" y="2596896"/>
            <a:ext cx="4937760" cy="896112"/>
          </a:xfrm>
          <a:prstGeom prst="roundRect">
            <a:avLst>
              <a:gd name="adj" fmla="val 10204"/>
            </a:avLst>
          </a:prstGeom>
          <a:solidFill>
            <a:srgbClr val="1B1F27"/>
          </a:solidFill>
          <a:ln w="12700">
            <a:solidFill>
              <a:srgbClr val="323945"/>
            </a:solidFill>
            <a:prstDash val="solid"/>
          </a:ln>
        </p:spPr>
      </p:sp>
      <p:sp>
        <p:nvSpPr>
          <p:cNvPr id="15" name="Text 13"/>
          <p:cNvSpPr txBox="1"/>
          <p:nvPr/>
        </p:nvSpPr>
        <p:spPr>
          <a:xfrm>
            <a:off x="6601968" y="2724912"/>
            <a:ext cx="4645152" cy="640080"/>
          </a:xfrm>
          <a:prstGeom prst="rect">
            <a:avLst/>
          </a:prstGeom>
          <a:noFill/>
          <a:ln/>
        </p:spPr>
        <p:txBody>
          <a:bodyPr wrap="square" lIns="0" tIns="0" rIns="0" bIns="0" rtlCol="0" anchor="t"/>
          <a:lstStyle/>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"kartu"</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&lt;label</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htmlFor</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"nama"</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aksi</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p:txBody>
      </p:sp>
      <p:sp>
        <p:nvSpPr>
          <p:cNvPr id="16" name="Shape 14"/>
          <p:cNvSpPr/>
          <p:nvPr/>
        </p:nvSpPr>
        <p:spPr>
          <a:xfrm>
            <a:off x="548640" y="3767328"/>
            <a:ext cx="5440680" cy="2176272"/>
          </a:xfrm>
          <a:prstGeom prst="roundRect">
            <a:avLst>
              <a:gd name="adj" fmla="val 5042"/>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7" name="Text 15"/>
          <p:cNvSpPr txBox="1"/>
          <p:nvPr/>
        </p:nvSpPr>
        <p:spPr>
          <a:xfrm>
            <a:off x="804672" y="3931920"/>
            <a:ext cx="365760" cy="310896"/>
          </a:xfrm>
          <a:prstGeom prst="rect">
            <a:avLst/>
          </a:prstGeom>
          <a:noFill/>
          <a:ln/>
        </p:spPr>
        <p:txBody>
          <a:bodyPr wrap="square" lIns="0" tIns="0" rIns="0" bIns="0" rtlCol="0" anchor="ctr"/>
          <a:lstStyle/>
          <a:p>
            <a:pPr indent="0" marL="0">
              <a:buNone/>
            </a:pPr>
            <a:r>
              <a:rPr lang="en-US" sz="1700" b="1" dirty="0">
                <a:solidFill>
                  <a:srgbClr val="1E90AF"/>
                </a:solidFill>
                <a:latin typeface="Calibri" pitchFamily="34" charset="0"/>
                <a:ea typeface="Calibri" pitchFamily="34" charset="-122"/>
                <a:cs typeface="Calibri" pitchFamily="34" charset="-120"/>
              </a:rPr>
              <a:t>3</a:t>
            </a:r>
            <a:endParaRPr lang="en-US" sz="1700" dirty="0"/>
          </a:p>
        </p:txBody>
      </p:sp>
      <p:sp>
        <p:nvSpPr>
          <p:cNvPr id="18" name="Text 16"/>
          <p:cNvSpPr txBox="1"/>
          <p:nvPr/>
        </p:nvSpPr>
        <p:spPr>
          <a:xfrm>
            <a:off x="1170432" y="3931920"/>
            <a:ext cx="45720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Semua tag harus ditutup</a:t>
            </a:r>
            <a:endParaRPr lang="en-US" sz="1450" dirty="0"/>
          </a:p>
        </p:txBody>
      </p:sp>
      <p:sp>
        <p:nvSpPr>
          <p:cNvPr id="19" name="Text 17"/>
          <p:cNvSpPr txBox="1"/>
          <p:nvPr/>
        </p:nvSpPr>
        <p:spPr>
          <a:xfrm>
            <a:off x="804672" y="4279392"/>
            <a:ext cx="4937760" cy="566928"/>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Tag tanpa isi wajib ditutup sendiri dengan garis miring sebelum kurung penutup.</a:t>
            </a:r>
            <a:endParaRPr lang="en-US" sz="1100" dirty="0"/>
          </a:p>
        </p:txBody>
      </p:sp>
      <p:sp>
        <p:nvSpPr>
          <p:cNvPr id="20" name="Shape 18"/>
          <p:cNvSpPr/>
          <p:nvPr/>
        </p:nvSpPr>
        <p:spPr>
          <a:xfrm>
            <a:off x="804672" y="4901184"/>
            <a:ext cx="4937760" cy="896112"/>
          </a:xfrm>
          <a:prstGeom prst="roundRect">
            <a:avLst>
              <a:gd name="adj" fmla="val 10204"/>
            </a:avLst>
          </a:prstGeom>
          <a:solidFill>
            <a:srgbClr val="1B1F27"/>
          </a:solidFill>
          <a:ln w="12700">
            <a:solidFill>
              <a:srgbClr val="323945"/>
            </a:solidFill>
            <a:prstDash val="solid"/>
          </a:ln>
        </p:spPr>
      </p:sp>
      <p:sp>
        <p:nvSpPr>
          <p:cNvPr id="21" name="Text 19"/>
          <p:cNvSpPr txBox="1"/>
          <p:nvPr/>
        </p:nvSpPr>
        <p:spPr>
          <a:xfrm>
            <a:off x="950976" y="5029200"/>
            <a:ext cx="4645152" cy="640080"/>
          </a:xfrm>
          <a:prstGeom prst="rect">
            <a:avLst/>
          </a:prstGeom>
          <a:noFill/>
          <a:ln/>
        </p:spPr>
        <p:txBody>
          <a:bodyPr wrap="square" lIns="0" tIns="0" rIns="0" bIns="0" rtlCol="0" anchor="t"/>
          <a:lstStyle/>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&lt;img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src</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url</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alt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"foto"</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&lt;br</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type</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"text"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p:txBody>
      </p:sp>
      <p:sp>
        <p:nvSpPr>
          <p:cNvPr id="22" name="Shape 20"/>
          <p:cNvSpPr/>
          <p:nvPr/>
        </p:nvSpPr>
        <p:spPr>
          <a:xfrm>
            <a:off x="6199632" y="3767328"/>
            <a:ext cx="5440680" cy="2176272"/>
          </a:xfrm>
          <a:prstGeom prst="roundRect">
            <a:avLst>
              <a:gd name="adj" fmla="val 5042"/>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3" name="Text 21"/>
          <p:cNvSpPr txBox="1"/>
          <p:nvPr/>
        </p:nvSpPr>
        <p:spPr>
          <a:xfrm>
            <a:off x="6455664" y="3931920"/>
            <a:ext cx="365760" cy="310896"/>
          </a:xfrm>
          <a:prstGeom prst="rect">
            <a:avLst/>
          </a:prstGeom>
          <a:noFill/>
          <a:ln/>
        </p:spPr>
        <p:txBody>
          <a:bodyPr wrap="square" lIns="0" tIns="0" rIns="0" bIns="0" rtlCol="0" anchor="ctr"/>
          <a:lstStyle/>
          <a:p>
            <a:pPr indent="0" marL="0">
              <a:buNone/>
            </a:pPr>
            <a:r>
              <a:rPr lang="en-US" sz="1700" b="1" dirty="0">
                <a:solidFill>
                  <a:srgbClr val="1E90AF"/>
                </a:solidFill>
                <a:latin typeface="Calibri" pitchFamily="34" charset="0"/>
                <a:ea typeface="Calibri" pitchFamily="34" charset="-122"/>
                <a:cs typeface="Calibri" pitchFamily="34" charset="-120"/>
              </a:rPr>
              <a:t>4</a:t>
            </a:r>
            <a:endParaRPr lang="en-US" sz="1700" dirty="0"/>
          </a:p>
        </p:txBody>
      </p:sp>
      <p:sp>
        <p:nvSpPr>
          <p:cNvPr id="24" name="Text 22"/>
          <p:cNvSpPr txBox="1"/>
          <p:nvPr/>
        </p:nvSpPr>
        <p:spPr>
          <a:xfrm>
            <a:off x="6821424" y="3931920"/>
            <a:ext cx="4572000" cy="310896"/>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Nama komponen kapital</a:t>
            </a:r>
            <a:endParaRPr lang="en-US" sz="1450" dirty="0"/>
          </a:p>
        </p:txBody>
      </p:sp>
      <p:sp>
        <p:nvSpPr>
          <p:cNvPr id="25" name="Text 23"/>
          <p:cNvSpPr txBox="1"/>
          <p:nvPr/>
        </p:nvSpPr>
        <p:spPr>
          <a:xfrm>
            <a:off x="6455664" y="4279392"/>
            <a:ext cx="4937760" cy="566928"/>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Komponen buatan sendiri diawali huruf besar agar tidak dianggap tag HTML biasa.</a:t>
            </a:r>
            <a:endParaRPr lang="en-US" sz="1100" dirty="0"/>
          </a:p>
        </p:txBody>
      </p:sp>
      <p:sp>
        <p:nvSpPr>
          <p:cNvPr id="26" name="Shape 24"/>
          <p:cNvSpPr/>
          <p:nvPr/>
        </p:nvSpPr>
        <p:spPr>
          <a:xfrm>
            <a:off x="6455664" y="4901184"/>
            <a:ext cx="4937760" cy="896112"/>
          </a:xfrm>
          <a:prstGeom prst="roundRect">
            <a:avLst>
              <a:gd name="adj" fmla="val 10204"/>
            </a:avLst>
          </a:prstGeom>
          <a:solidFill>
            <a:srgbClr val="1B1F27"/>
          </a:solidFill>
          <a:ln w="12700">
            <a:solidFill>
              <a:srgbClr val="323945"/>
            </a:solidFill>
            <a:prstDash val="solid"/>
          </a:ln>
        </p:spPr>
      </p:sp>
      <p:sp>
        <p:nvSpPr>
          <p:cNvPr id="27" name="Text 25"/>
          <p:cNvSpPr txBox="1"/>
          <p:nvPr/>
        </p:nvSpPr>
        <p:spPr>
          <a:xfrm>
            <a:off x="6601968" y="5029200"/>
            <a:ext cx="4645152" cy="640080"/>
          </a:xfrm>
          <a:prstGeom prst="rect">
            <a:avLst/>
          </a:prstGeom>
          <a:noFill/>
          <a:ln/>
        </p:spPr>
        <p:txBody>
          <a:bodyPr wrap="square" lIns="0" tIns="0" rIns="0" bIns="0" rtlCol="0" anchor="t"/>
          <a:lstStyle/>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&lt;Profil</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7A8796"/>
                </a:solidFill>
                <a:latin typeface="Courier New" pitchFamily="34" charset="0"/>
                <a:ea typeface="Courier New" pitchFamily="34" charset="-122"/>
                <a:cs typeface="Courier New" pitchFamily="34" charset="-120"/>
              </a:rPr>
              <a:t>// komponen</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&lt;profil</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7A8796"/>
                </a:solidFill>
                <a:latin typeface="Courier New" pitchFamily="34" charset="0"/>
                <a:ea typeface="Courier New" pitchFamily="34" charset="-122"/>
                <a:cs typeface="Courier New" pitchFamily="34" charset="-120"/>
              </a:rPr>
              <a:t>// dianggap tag HTML</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&lt;TombolKirim</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p:txBody>
      </p:sp>
      <p:pic>
        <p:nvPicPr>
          <p:cNvPr id="29"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30"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1"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Komponen: Blok Penyusun Aplikasi</a:t>
            </a:r>
            <a:endParaRPr lang="en-US" sz="3200" dirty="0"/>
          </a:p>
        </p:txBody>
      </p:sp>
      <p:sp>
        <p:nvSpPr>
          <p:cNvPr id="4" name="Shape 2"/>
          <p:cNvSpPr/>
          <p:nvPr/>
        </p:nvSpPr>
        <p:spPr>
          <a:xfrm>
            <a:off x="548640" y="1481328"/>
            <a:ext cx="5943600" cy="3471062"/>
          </a:xfrm>
          <a:prstGeom prst="roundRect">
            <a:avLst>
              <a:gd name="adj" fmla="val 2634"/>
            </a:avLst>
          </a:prstGeom>
          <a:solidFill>
            <a:srgbClr val="1B1F27"/>
          </a:solidFill>
          <a:ln w="12700">
            <a:solidFill>
              <a:srgbClr val="323945"/>
            </a:solidFill>
            <a:prstDash val="solid"/>
          </a:ln>
        </p:spPr>
      </p:sp>
      <p:sp>
        <p:nvSpPr>
          <p:cNvPr id="5" name="Text 3"/>
          <p:cNvSpPr txBox="1"/>
          <p:nvPr/>
        </p:nvSpPr>
        <p:spPr>
          <a:xfrm>
            <a:off x="694944" y="1609344"/>
            <a:ext cx="5650992" cy="3215030"/>
          </a:xfrm>
          <a:prstGeom prst="rect">
            <a:avLst/>
          </a:prstGeom>
          <a:noFill/>
          <a:ln/>
        </p:spPr>
        <p:txBody>
          <a:bodyPr wrap="square" lIns="0" tIns="0" rIns="0" bIns="0" rtlCol="0" anchor="t"/>
          <a:lstStyle/>
          <a:p>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1. Mendefinisikan komponen</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TombolKirim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Kirim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2. Menggunakan di komponen lain</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FormKontak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placeholder</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&lt;TombolKirim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export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default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FormKontak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Shape 4"/>
          <p:cNvSpPr/>
          <p:nvPr/>
        </p:nvSpPr>
        <p:spPr>
          <a:xfrm>
            <a:off x="6766560" y="1609344"/>
            <a:ext cx="548640" cy="548640"/>
          </a:xfrm>
          <a:prstGeom prst="ellipse">
            <a:avLst/>
          </a:prstGeom>
          <a:solidFill>
            <a:srgbClr val="20232A"/>
          </a:solidFill>
          <a:ln w="12700">
            <a:solidFill>
              <a:srgbClr val="20232A"/>
            </a:solidFill>
            <a:prstDash val="solid"/>
          </a:ln>
        </p:spPr>
      </p:sp>
      <p:pic>
        <p:nvPicPr>
          <p:cNvPr id="7" name="Image 0" descr="preencoded.png">    </p:cNvPr>
          <p:cNvPicPr>
            <a:picLocks noChangeAspect="1"/>
          </p:cNvPicPr>
          <p:nvPr/>
        </p:nvPicPr>
        <p:blipFill>
          <a:blip r:embed="rId1"/>
          <a:stretch>
            <a:fillRect/>
          </a:stretch>
        </p:blipFill>
        <p:spPr>
          <a:xfrm>
            <a:off x="6909206" y="1751990"/>
            <a:ext cx="263347" cy="263347"/>
          </a:xfrm>
          <a:prstGeom prst="rect">
            <a:avLst/>
          </a:prstGeom>
        </p:spPr>
      </p:pic>
      <p:sp>
        <p:nvSpPr>
          <p:cNvPr id="8" name="Text 5"/>
          <p:cNvSpPr txBox="1"/>
          <p:nvPr/>
        </p:nvSpPr>
        <p:spPr>
          <a:xfrm>
            <a:off x="7498080" y="1591056"/>
            <a:ext cx="411480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Fungsi biasa</a:t>
            </a:r>
            <a:endParaRPr lang="en-US" sz="1450" dirty="0"/>
          </a:p>
        </p:txBody>
      </p:sp>
      <p:sp>
        <p:nvSpPr>
          <p:cNvPr id="9" name="Text 6"/>
          <p:cNvSpPr txBox="1"/>
          <p:nvPr/>
        </p:nvSpPr>
        <p:spPr>
          <a:xfrm>
            <a:off x="7498080" y="1892808"/>
            <a:ext cx="4114800" cy="54864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Komponen adalah fungsi JavaScript yang mengembalikan JSX.</a:t>
            </a:r>
            <a:endParaRPr lang="en-US" sz="1150" dirty="0"/>
          </a:p>
        </p:txBody>
      </p:sp>
      <p:sp>
        <p:nvSpPr>
          <p:cNvPr id="10" name="Shape 7"/>
          <p:cNvSpPr/>
          <p:nvPr/>
        </p:nvSpPr>
        <p:spPr>
          <a:xfrm>
            <a:off x="6766560" y="2706624"/>
            <a:ext cx="548640" cy="548640"/>
          </a:xfrm>
          <a:prstGeom prst="ellipse">
            <a:avLst/>
          </a:prstGeom>
          <a:solidFill>
            <a:srgbClr val="20232A"/>
          </a:solidFill>
          <a:ln w="12700">
            <a:solidFill>
              <a:srgbClr val="20232A"/>
            </a:solidFill>
            <a:prstDash val="solid"/>
          </a:ln>
        </p:spPr>
      </p:sp>
      <p:pic>
        <p:nvPicPr>
          <p:cNvPr id="11" name="Image 1" descr="preencoded.png">    </p:cNvPr>
          <p:cNvPicPr>
            <a:picLocks noChangeAspect="1"/>
          </p:cNvPicPr>
          <p:nvPr/>
        </p:nvPicPr>
        <p:blipFill>
          <a:blip r:embed="rId2"/>
          <a:stretch>
            <a:fillRect/>
          </a:stretch>
        </p:blipFill>
        <p:spPr>
          <a:xfrm>
            <a:off x="6909206" y="2849270"/>
            <a:ext cx="263347" cy="263347"/>
          </a:xfrm>
          <a:prstGeom prst="rect">
            <a:avLst/>
          </a:prstGeom>
        </p:spPr>
      </p:pic>
      <p:sp>
        <p:nvSpPr>
          <p:cNvPr id="12" name="Text 8"/>
          <p:cNvSpPr txBox="1"/>
          <p:nvPr/>
        </p:nvSpPr>
        <p:spPr>
          <a:xfrm>
            <a:off x="7498080" y="2688336"/>
            <a:ext cx="411480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Nama huruf besar</a:t>
            </a:r>
            <a:endParaRPr lang="en-US" sz="1450" dirty="0"/>
          </a:p>
        </p:txBody>
      </p:sp>
      <p:sp>
        <p:nvSpPr>
          <p:cNvPr id="13" name="Text 9"/>
          <p:cNvSpPr txBox="1"/>
          <p:nvPr/>
        </p:nvSpPr>
        <p:spPr>
          <a:xfrm>
            <a:off x="7498080" y="2990088"/>
            <a:ext cx="4114800" cy="54864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Wajib diawali huruf kapital agar dikenali sebagai komponen.</a:t>
            </a:r>
            <a:endParaRPr lang="en-US" sz="1150" dirty="0"/>
          </a:p>
        </p:txBody>
      </p:sp>
      <p:sp>
        <p:nvSpPr>
          <p:cNvPr id="14" name="Shape 10"/>
          <p:cNvSpPr/>
          <p:nvPr/>
        </p:nvSpPr>
        <p:spPr>
          <a:xfrm>
            <a:off x="6766560" y="3803904"/>
            <a:ext cx="548640" cy="548640"/>
          </a:xfrm>
          <a:prstGeom prst="ellipse">
            <a:avLst/>
          </a:prstGeom>
          <a:solidFill>
            <a:srgbClr val="20232A"/>
          </a:solidFill>
          <a:ln w="12700">
            <a:solidFill>
              <a:srgbClr val="20232A"/>
            </a:solidFill>
            <a:prstDash val="solid"/>
          </a:ln>
        </p:spPr>
      </p:sp>
      <p:pic>
        <p:nvPicPr>
          <p:cNvPr id="15" name="Image 2" descr="preencoded.png">    </p:cNvPr>
          <p:cNvPicPr>
            <a:picLocks noChangeAspect="1"/>
          </p:cNvPicPr>
          <p:nvPr/>
        </p:nvPicPr>
        <p:blipFill>
          <a:blip r:embed="rId3"/>
          <a:stretch>
            <a:fillRect/>
          </a:stretch>
        </p:blipFill>
        <p:spPr>
          <a:xfrm>
            <a:off x="6909206" y="3946550"/>
            <a:ext cx="263347" cy="263347"/>
          </a:xfrm>
          <a:prstGeom prst="rect">
            <a:avLst/>
          </a:prstGeom>
        </p:spPr>
      </p:pic>
      <p:sp>
        <p:nvSpPr>
          <p:cNvPr id="16" name="Text 11"/>
          <p:cNvSpPr txBox="1"/>
          <p:nvPr/>
        </p:nvSpPr>
        <p:spPr>
          <a:xfrm>
            <a:off x="7498080" y="3785616"/>
            <a:ext cx="411480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Dapat bersarang</a:t>
            </a:r>
            <a:endParaRPr lang="en-US" sz="1450" dirty="0"/>
          </a:p>
        </p:txBody>
      </p:sp>
      <p:sp>
        <p:nvSpPr>
          <p:cNvPr id="17" name="Text 12"/>
          <p:cNvSpPr txBox="1"/>
          <p:nvPr/>
        </p:nvSpPr>
        <p:spPr>
          <a:xfrm>
            <a:off x="7498080" y="4087368"/>
            <a:ext cx="4114800" cy="54864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Komponen boleh memuat komponen lain sehingga membentuk pohon.</a:t>
            </a:r>
            <a:endParaRPr lang="en-US" sz="1150" dirty="0"/>
          </a:p>
        </p:txBody>
      </p:sp>
      <p:sp>
        <p:nvSpPr>
          <p:cNvPr id="18" name="Shape 13"/>
          <p:cNvSpPr/>
          <p:nvPr/>
        </p:nvSpPr>
        <p:spPr>
          <a:xfrm>
            <a:off x="6766560" y="4901184"/>
            <a:ext cx="548640" cy="548640"/>
          </a:xfrm>
          <a:prstGeom prst="ellipse">
            <a:avLst/>
          </a:prstGeom>
          <a:solidFill>
            <a:srgbClr val="20232A"/>
          </a:solidFill>
          <a:ln w="12700">
            <a:solidFill>
              <a:srgbClr val="20232A"/>
            </a:solidFill>
            <a:prstDash val="solid"/>
          </a:ln>
        </p:spPr>
      </p:sp>
      <p:pic>
        <p:nvPicPr>
          <p:cNvPr id="19" name="Image 3" descr="preencoded.png">    </p:cNvPr>
          <p:cNvPicPr>
            <a:picLocks noChangeAspect="1"/>
          </p:cNvPicPr>
          <p:nvPr/>
        </p:nvPicPr>
        <p:blipFill>
          <a:blip r:embed="rId4"/>
          <a:stretch>
            <a:fillRect/>
          </a:stretch>
        </p:blipFill>
        <p:spPr>
          <a:xfrm>
            <a:off x="6909206" y="5043830"/>
            <a:ext cx="263347" cy="263347"/>
          </a:xfrm>
          <a:prstGeom prst="rect">
            <a:avLst/>
          </a:prstGeom>
        </p:spPr>
      </p:pic>
      <p:sp>
        <p:nvSpPr>
          <p:cNvPr id="20" name="Text 14"/>
          <p:cNvSpPr txBox="1"/>
          <p:nvPr/>
        </p:nvSpPr>
        <p:spPr>
          <a:xfrm>
            <a:off x="7498080" y="4882896"/>
            <a:ext cx="411480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Dapat dipakai ulang</a:t>
            </a:r>
            <a:endParaRPr lang="en-US" sz="1450" dirty="0"/>
          </a:p>
        </p:txBody>
      </p:sp>
      <p:sp>
        <p:nvSpPr>
          <p:cNvPr id="21" name="Text 15"/>
          <p:cNvSpPr txBox="1"/>
          <p:nvPr/>
        </p:nvSpPr>
        <p:spPr>
          <a:xfrm>
            <a:off x="7498080" y="5184648"/>
            <a:ext cx="4114800" cy="54864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Satu komponen bisa dipanggil berkali-kali dengan data berbeda.</a:t>
            </a:r>
            <a:endParaRPr lang="en-US" sz="1150" dirty="0"/>
          </a:p>
        </p:txBody>
      </p:sp>
      <p:pic>
        <p:nvPicPr>
          <p:cNvPr id="23"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24" name="Text 1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5" name="Text 1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Props: Mengirim Data ke Komponen</a:t>
            </a:r>
            <a:endParaRPr lang="en-US" sz="3200" dirty="0"/>
          </a:p>
        </p:txBody>
      </p:sp>
      <p:sp>
        <p:nvSpPr>
          <p:cNvPr id="4" name="Shape 2"/>
          <p:cNvSpPr/>
          <p:nvPr/>
        </p:nvSpPr>
        <p:spPr>
          <a:xfrm>
            <a:off x="548640" y="1481328"/>
            <a:ext cx="6309360" cy="4656125"/>
          </a:xfrm>
          <a:prstGeom prst="roundRect">
            <a:avLst>
              <a:gd name="adj" fmla="val 1964"/>
            </a:avLst>
          </a:prstGeom>
          <a:solidFill>
            <a:srgbClr val="1B1F27"/>
          </a:solidFill>
          <a:ln w="12700">
            <a:solidFill>
              <a:srgbClr val="323945"/>
            </a:solidFill>
            <a:prstDash val="solid"/>
          </a:ln>
        </p:spPr>
      </p:sp>
      <p:sp>
        <p:nvSpPr>
          <p:cNvPr id="5" name="Text 3"/>
          <p:cNvSpPr txBox="1"/>
          <p:nvPr/>
        </p:nvSpPr>
        <p:spPr>
          <a:xfrm>
            <a:off x="694944" y="1609344"/>
            <a:ext cx="6016752" cy="4400093"/>
          </a:xfrm>
          <a:prstGeom prst="rect">
            <a:avLst/>
          </a:prstGeom>
          <a:noFill/>
          <a:ln/>
        </p:spPr>
        <p:txBody>
          <a:bodyPr wrap="square" lIns="0" tIns="0" rIns="0" bIns="0" rtlCol="0" anchor="t"/>
          <a:lstStyle/>
          <a:p>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Komponen anak menerima props</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KartuMahasiswa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jurusan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"kartu"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&lt;h3</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&lt;/h3</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Jurusan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jurusan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Komponen induk mengirim data</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Daftar</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&lt;KartuMahasiswa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"Rina"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"20101"</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jurusan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"Manajemen"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&lt;KartuMahasiswa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"Budi"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"20102"</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jurusan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"Akuntansi"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Shape 4"/>
          <p:cNvSpPr/>
          <p:nvPr/>
        </p:nvSpPr>
        <p:spPr>
          <a:xfrm>
            <a:off x="7086600" y="1481328"/>
            <a:ext cx="4553712" cy="859536"/>
          </a:xfrm>
          <a:prstGeom prst="roundRect">
            <a:avLst>
              <a:gd name="adj" fmla="val 1276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Shape 5"/>
          <p:cNvSpPr/>
          <p:nvPr/>
        </p:nvSpPr>
        <p:spPr>
          <a:xfrm>
            <a:off x="7287768" y="1645920"/>
            <a:ext cx="530352" cy="530352"/>
          </a:xfrm>
          <a:prstGeom prst="ellipse">
            <a:avLst/>
          </a:prstGeom>
          <a:solidFill>
            <a:srgbClr val="20232A"/>
          </a:solidFill>
          <a:ln w="12700">
            <a:solidFill>
              <a:srgbClr val="20232A"/>
            </a:solidFill>
            <a:prstDash val="solid"/>
          </a:ln>
        </p:spPr>
      </p:sp>
      <p:pic>
        <p:nvPicPr>
          <p:cNvPr id="8" name="Image 0" descr="preencoded.png">    </p:cNvPr>
          <p:cNvPicPr>
            <a:picLocks noChangeAspect="1"/>
          </p:cNvPicPr>
          <p:nvPr/>
        </p:nvPicPr>
        <p:blipFill>
          <a:blip r:embed="rId1"/>
          <a:stretch>
            <a:fillRect/>
          </a:stretch>
        </p:blipFill>
        <p:spPr>
          <a:xfrm>
            <a:off x="7425660" y="1783812"/>
            <a:ext cx="254569" cy="254569"/>
          </a:xfrm>
          <a:prstGeom prst="rect">
            <a:avLst/>
          </a:prstGeom>
        </p:spPr>
      </p:pic>
      <p:sp>
        <p:nvSpPr>
          <p:cNvPr id="9" name="Text 6"/>
          <p:cNvSpPr txBox="1"/>
          <p:nvPr/>
        </p:nvSpPr>
        <p:spPr>
          <a:xfrm>
            <a:off x="7973568" y="1600200"/>
            <a:ext cx="352044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Aliran satu arah</a:t>
            </a:r>
            <a:endParaRPr lang="en-US" sz="1350" dirty="0"/>
          </a:p>
        </p:txBody>
      </p:sp>
      <p:sp>
        <p:nvSpPr>
          <p:cNvPr id="10" name="Text 7"/>
          <p:cNvSpPr txBox="1"/>
          <p:nvPr/>
        </p:nvSpPr>
        <p:spPr>
          <a:xfrm>
            <a:off x="7973568" y="1865376"/>
            <a:ext cx="352044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Data mengalir dari induk ke anak, tidak sebaliknya.</a:t>
            </a:r>
            <a:endParaRPr lang="en-US" sz="1050" dirty="0"/>
          </a:p>
        </p:txBody>
      </p:sp>
      <p:sp>
        <p:nvSpPr>
          <p:cNvPr id="11" name="Shape 8"/>
          <p:cNvSpPr/>
          <p:nvPr/>
        </p:nvSpPr>
        <p:spPr>
          <a:xfrm>
            <a:off x="7086600" y="2450592"/>
            <a:ext cx="4553712" cy="859536"/>
          </a:xfrm>
          <a:prstGeom prst="roundRect">
            <a:avLst>
              <a:gd name="adj" fmla="val 1276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2" name="Shape 9"/>
          <p:cNvSpPr/>
          <p:nvPr/>
        </p:nvSpPr>
        <p:spPr>
          <a:xfrm>
            <a:off x="7287768" y="2615184"/>
            <a:ext cx="530352" cy="530352"/>
          </a:xfrm>
          <a:prstGeom prst="ellipse">
            <a:avLst/>
          </a:prstGeom>
          <a:solidFill>
            <a:srgbClr val="20232A"/>
          </a:solidFill>
          <a:ln w="12700">
            <a:solidFill>
              <a:srgbClr val="20232A"/>
            </a:solidFill>
            <a:prstDash val="solid"/>
          </a:ln>
        </p:spPr>
      </p:sp>
      <p:pic>
        <p:nvPicPr>
          <p:cNvPr id="13" name="Image 1" descr="preencoded.png">    </p:cNvPr>
          <p:cNvPicPr>
            <a:picLocks noChangeAspect="1"/>
          </p:cNvPicPr>
          <p:nvPr/>
        </p:nvPicPr>
        <p:blipFill>
          <a:blip r:embed="rId2"/>
          <a:stretch>
            <a:fillRect/>
          </a:stretch>
        </p:blipFill>
        <p:spPr>
          <a:xfrm>
            <a:off x="7425660" y="2753076"/>
            <a:ext cx="254569" cy="254569"/>
          </a:xfrm>
          <a:prstGeom prst="rect">
            <a:avLst/>
          </a:prstGeom>
        </p:spPr>
      </p:pic>
      <p:sp>
        <p:nvSpPr>
          <p:cNvPr id="14" name="Text 10"/>
          <p:cNvSpPr txBox="1"/>
          <p:nvPr/>
        </p:nvSpPr>
        <p:spPr>
          <a:xfrm>
            <a:off x="7973568" y="2569464"/>
            <a:ext cx="352044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Read-only</a:t>
            </a:r>
            <a:endParaRPr lang="en-US" sz="1350" dirty="0"/>
          </a:p>
        </p:txBody>
      </p:sp>
      <p:sp>
        <p:nvSpPr>
          <p:cNvPr id="15" name="Text 11"/>
          <p:cNvSpPr txBox="1"/>
          <p:nvPr/>
        </p:nvSpPr>
        <p:spPr>
          <a:xfrm>
            <a:off x="7973568" y="2834640"/>
            <a:ext cx="352044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Komponen anak tidak boleh mengubah nilai props yang diterimanya.</a:t>
            </a:r>
            <a:endParaRPr lang="en-US" sz="1050" dirty="0"/>
          </a:p>
        </p:txBody>
      </p:sp>
      <p:sp>
        <p:nvSpPr>
          <p:cNvPr id="16" name="Shape 12"/>
          <p:cNvSpPr/>
          <p:nvPr/>
        </p:nvSpPr>
        <p:spPr>
          <a:xfrm>
            <a:off x="7086600" y="3419856"/>
            <a:ext cx="4553712" cy="859536"/>
          </a:xfrm>
          <a:prstGeom prst="roundRect">
            <a:avLst>
              <a:gd name="adj" fmla="val 1276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7" name="Shape 13"/>
          <p:cNvSpPr/>
          <p:nvPr/>
        </p:nvSpPr>
        <p:spPr>
          <a:xfrm>
            <a:off x="7287768" y="3584448"/>
            <a:ext cx="530352" cy="530352"/>
          </a:xfrm>
          <a:prstGeom prst="ellipse">
            <a:avLst/>
          </a:prstGeom>
          <a:solidFill>
            <a:srgbClr val="20232A"/>
          </a:solidFill>
          <a:ln w="12700">
            <a:solidFill>
              <a:srgbClr val="20232A"/>
            </a:solidFill>
            <a:prstDash val="solid"/>
          </a:ln>
        </p:spPr>
      </p:sp>
      <p:pic>
        <p:nvPicPr>
          <p:cNvPr id="18" name="Image 2" descr="preencoded.png">    </p:cNvPr>
          <p:cNvPicPr>
            <a:picLocks noChangeAspect="1"/>
          </p:cNvPicPr>
          <p:nvPr/>
        </p:nvPicPr>
        <p:blipFill>
          <a:blip r:embed="rId3"/>
          <a:stretch>
            <a:fillRect/>
          </a:stretch>
        </p:blipFill>
        <p:spPr>
          <a:xfrm>
            <a:off x="7425660" y="3722340"/>
            <a:ext cx="254569" cy="254569"/>
          </a:xfrm>
          <a:prstGeom prst="rect">
            <a:avLst/>
          </a:prstGeom>
        </p:spPr>
      </p:pic>
      <p:sp>
        <p:nvSpPr>
          <p:cNvPr id="19" name="Text 14"/>
          <p:cNvSpPr txBox="1"/>
          <p:nvPr/>
        </p:nvSpPr>
        <p:spPr>
          <a:xfrm>
            <a:off x="7973568" y="3538728"/>
            <a:ext cx="352044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Tipe bebas</a:t>
            </a:r>
            <a:endParaRPr lang="en-US" sz="1350" dirty="0"/>
          </a:p>
        </p:txBody>
      </p:sp>
      <p:sp>
        <p:nvSpPr>
          <p:cNvPr id="20" name="Text 15"/>
          <p:cNvSpPr txBox="1"/>
          <p:nvPr/>
        </p:nvSpPr>
        <p:spPr>
          <a:xfrm>
            <a:off x="7973568" y="3803904"/>
            <a:ext cx="352044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Props dapat berisi teks, angka, boolean, array, objek, bahkan fungsi.</a:t>
            </a:r>
            <a:endParaRPr lang="en-US" sz="1050" dirty="0"/>
          </a:p>
        </p:txBody>
      </p:sp>
      <p:sp>
        <p:nvSpPr>
          <p:cNvPr id="21" name="Shape 16"/>
          <p:cNvSpPr/>
          <p:nvPr/>
        </p:nvSpPr>
        <p:spPr>
          <a:xfrm>
            <a:off x="7086600" y="4389120"/>
            <a:ext cx="4553712" cy="859536"/>
          </a:xfrm>
          <a:prstGeom prst="roundRect">
            <a:avLst>
              <a:gd name="adj" fmla="val 1276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2" name="Shape 17"/>
          <p:cNvSpPr/>
          <p:nvPr/>
        </p:nvSpPr>
        <p:spPr>
          <a:xfrm>
            <a:off x="7287768" y="4553712"/>
            <a:ext cx="530352" cy="530352"/>
          </a:xfrm>
          <a:prstGeom prst="ellipse">
            <a:avLst/>
          </a:prstGeom>
          <a:solidFill>
            <a:srgbClr val="20232A"/>
          </a:solidFill>
          <a:ln w="12700">
            <a:solidFill>
              <a:srgbClr val="20232A"/>
            </a:solidFill>
            <a:prstDash val="solid"/>
          </a:ln>
        </p:spPr>
      </p:sp>
      <p:pic>
        <p:nvPicPr>
          <p:cNvPr id="23" name="Image 3" descr="preencoded.png">    </p:cNvPr>
          <p:cNvPicPr>
            <a:picLocks noChangeAspect="1"/>
          </p:cNvPicPr>
          <p:nvPr/>
        </p:nvPicPr>
        <p:blipFill>
          <a:blip r:embed="rId4"/>
          <a:stretch>
            <a:fillRect/>
          </a:stretch>
        </p:blipFill>
        <p:spPr>
          <a:xfrm>
            <a:off x="7425660" y="4691604"/>
            <a:ext cx="254569" cy="254569"/>
          </a:xfrm>
          <a:prstGeom prst="rect">
            <a:avLst/>
          </a:prstGeom>
        </p:spPr>
      </p:pic>
      <p:sp>
        <p:nvSpPr>
          <p:cNvPr id="24" name="Text 18"/>
          <p:cNvSpPr txBox="1"/>
          <p:nvPr/>
        </p:nvSpPr>
        <p:spPr>
          <a:xfrm>
            <a:off x="7973568" y="4507992"/>
            <a:ext cx="352044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Nilai bawaan</a:t>
            </a:r>
            <a:endParaRPr lang="en-US" sz="1350" dirty="0"/>
          </a:p>
        </p:txBody>
      </p:sp>
      <p:sp>
        <p:nvSpPr>
          <p:cNvPr id="25" name="Text 19"/>
          <p:cNvSpPr txBox="1"/>
          <p:nvPr/>
        </p:nvSpPr>
        <p:spPr>
          <a:xfrm>
            <a:off x="7973568" y="4773168"/>
            <a:ext cx="352044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Gunakan nilai default agar komponen tetap aman saat props kosong.</a:t>
            </a:r>
            <a:endParaRPr lang="en-US" sz="1050" dirty="0"/>
          </a:p>
        </p:txBody>
      </p:sp>
      <p:sp>
        <p:nvSpPr>
          <p:cNvPr id="26" name="Shape 20"/>
          <p:cNvSpPr/>
          <p:nvPr/>
        </p:nvSpPr>
        <p:spPr>
          <a:xfrm>
            <a:off x="7086600" y="5394960"/>
            <a:ext cx="4553712" cy="829361"/>
          </a:xfrm>
          <a:prstGeom prst="roundRect">
            <a:avLst>
              <a:gd name="adj" fmla="val 11025"/>
            </a:avLst>
          </a:prstGeom>
          <a:solidFill>
            <a:srgbClr val="1B1F27"/>
          </a:solidFill>
          <a:ln w="12700">
            <a:solidFill>
              <a:srgbClr val="323945"/>
            </a:solidFill>
            <a:prstDash val="solid"/>
          </a:ln>
        </p:spPr>
      </p:sp>
      <p:sp>
        <p:nvSpPr>
          <p:cNvPr id="27" name="Text 21"/>
          <p:cNvSpPr txBox="1"/>
          <p:nvPr/>
        </p:nvSpPr>
        <p:spPr>
          <a:xfrm>
            <a:off x="7232904" y="5522976"/>
            <a:ext cx="4261104" cy="573329"/>
          </a:xfrm>
          <a:prstGeom prst="rect">
            <a:avLst/>
          </a:prstGeom>
          <a:noFill/>
          <a:ln/>
        </p:spPr>
        <p:txBody>
          <a:bodyPr wrap="square" lIns="0" tIns="0" rIns="0" bIns="0" rtlCol="0" anchor="t"/>
          <a:lstStyle/>
          <a:p>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Tombol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'Simpan'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pic>
        <p:nvPicPr>
          <p:cNvPr id="29"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0" name="Text 2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1" name="Text 2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Merender Daftar Data &amp; Atribut key</a:t>
            </a:r>
            <a:endParaRPr lang="en-US" sz="3200" dirty="0"/>
          </a:p>
        </p:txBody>
      </p:sp>
      <p:sp>
        <p:nvSpPr>
          <p:cNvPr id="4" name="Shape 2"/>
          <p:cNvSpPr/>
          <p:nvPr/>
        </p:nvSpPr>
        <p:spPr>
          <a:xfrm>
            <a:off x="548640" y="1481328"/>
            <a:ext cx="6309360" cy="3668573"/>
          </a:xfrm>
          <a:prstGeom prst="roundRect">
            <a:avLst>
              <a:gd name="adj" fmla="val 2493"/>
            </a:avLst>
          </a:prstGeom>
          <a:solidFill>
            <a:srgbClr val="1B1F27"/>
          </a:solidFill>
          <a:ln w="12700">
            <a:solidFill>
              <a:srgbClr val="323945"/>
            </a:solidFill>
            <a:prstDash val="solid"/>
          </a:ln>
        </p:spPr>
      </p:sp>
      <p:sp>
        <p:nvSpPr>
          <p:cNvPr id="5" name="Text 3"/>
          <p:cNvSpPr txBox="1"/>
          <p:nvPr/>
        </p:nvSpPr>
        <p:spPr>
          <a:xfrm>
            <a:off x="694944" y="1609344"/>
            <a:ext cx="6016752" cy="3412541"/>
          </a:xfrm>
          <a:prstGeom prst="rect">
            <a:avLst/>
          </a:prstGeom>
          <a:noFill/>
          <a:ln/>
        </p:spPr>
        <p:txBody>
          <a:bodyPr wrap="square" lIns="0" tIns="0" rIns="0" bIns="0" rtlCol="0" anchor="t"/>
          <a:lstStyle/>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produk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'Laptop'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harga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8500000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'Mouse'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harga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150000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3</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'Keyboard'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harga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320000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DaftarProduk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produk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map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&lt;li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key</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Rp</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harga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&lt;/li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Shape 4"/>
          <p:cNvSpPr/>
          <p:nvPr/>
        </p:nvSpPr>
        <p:spPr>
          <a:xfrm>
            <a:off x="7086600" y="1481328"/>
            <a:ext cx="4553712" cy="2011680"/>
          </a:xfrm>
          <a:prstGeom prst="roundRect">
            <a:avLst>
              <a:gd name="adj" fmla="val 5455"/>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Text 5"/>
          <p:cNvSpPr txBox="1"/>
          <p:nvPr/>
        </p:nvSpPr>
        <p:spPr>
          <a:xfrm>
            <a:off x="7333488" y="1645920"/>
            <a:ext cx="406908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Pola dasar</a:t>
            </a:r>
            <a:endParaRPr lang="en-US" sz="1500" dirty="0"/>
          </a:p>
        </p:txBody>
      </p:sp>
      <p:sp>
        <p:nvSpPr>
          <p:cNvPr id="8" name="Text 6"/>
          <p:cNvSpPr txBox="1"/>
          <p:nvPr/>
        </p:nvSpPr>
        <p:spPr>
          <a:xfrm>
            <a:off x="7333488" y="1956816"/>
            <a:ext cx="4069080" cy="1371600"/>
          </a:xfrm>
          <a:prstGeom prst="rect">
            <a:avLst/>
          </a:prstGeom>
          <a:noFill/>
          <a:ln/>
        </p:spPr>
        <p:txBody>
          <a:bodyPr wrap="square" lIns="0" tIns="0" rIns="0" bIns="0" rtlCol="0" anchor="t"/>
          <a:lstStyle/>
          <a:p>
            <a:pPr indent="0" marL="0">
              <a:lnSpc>
                <a:spcPct val="115000"/>
              </a:lnSpc>
              <a:buNone/>
            </a:pPr>
            <a:r>
              <a:rPr lang="en-US" sz="1150" dirty="0">
                <a:solidFill>
                  <a:srgbClr val="5C6672"/>
                </a:solidFill>
                <a:latin typeface="Calibri" pitchFamily="34" charset="0"/>
                <a:ea typeface="Calibri" pitchFamily="34" charset="-122"/>
                <a:cs typeface="Calibri" pitchFamily="34" charset="-120"/>
              </a:rPr>
              <a:t>Gunakan metode map() untuk mengubah setiap item array menjadi satu elemen JSX. Hasil map berupa array elemen yang langsung dapat dirender React di dalam kurung kurawal.</a:t>
            </a:r>
            <a:endParaRPr lang="en-US" sz="1150" dirty="0"/>
          </a:p>
        </p:txBody>
      </p:sp>
      <p:sp>
        <p:nvSpPr>
          <p:cNvPr id="9" name="Shape 7"/>
          <p:cNvSpPr/>
          <p:nvPr/>
        </p:nvSpPr>
        <p:spPr>
          <a:xfrm>
            <a:off x="7086600" y="3657600"/>
            <a:ext cx="4553712" cy="2148840"/>
          </a:xfrm>
          <a:prstGeom prst="roundRect">
            <a:avLst>
              <a:gd name="adj" fmla="val 5106"/>
            </a:avLst>
          </a:prstGeom>
          <a:solidFill>
            <a:srgbClr val="20232A"/>
          </a:solidFill>
          <a:ln w="12700">
            <a:solidFill>
              <a:srgbClr val="20232A"/>
            </a:solidFill>
            <a:prstDash val="solid"/>
          </a:ln>
        </p:spPr>
      </p:sp>
      <p:sp>
        <p:nvSpPr>
          <p:cNvPr id="10" name="Shape 8"/>
          <p:cNvSpPr/>
          <p:nvPr/>
        </p:nvSpPr>
        <p:spPr>
          <a:xfrm>
            <a:off x="7333488" y="3858768"/>
            <a:ext cx="502920" cy="502920"/>
          </a:xfrm>
          <a:prstGeom prst="ellipse">
            <a:avLst/>
          </a:prstGeom>
          <a:solidFill>
            <a:srgbClr val="3A2E22"/>
          </a:solidFill>
          <a:ln w="12700">
            <a:solidFill>
              <a:srgbClr val="3A2E22"/>
            </a:solidFill>
            <a:prstDash val="solid"/>
          </a:ln>
        </p:spPr>
      </p:sp>
      <p:pic>
        <p:nvPicPr>
          <p:cNvPr id="11" name="Image 0" descr="preencoded.png">    </p:cNvPr>
          <p:cNvPicPr>
            <a:picLocks noChangeAspect="1"/>
          </p:cNvPicPr>
          <p:nvPr/>
        </p:nvPicPr>
        <p:blipFill>
          <a:blip r:embed="rId1"/>
          <a:stretch>
            <a:fillRect/>
          </a:stretch>
        </p:blipFill>
        <p:spPr>
          <a:xfrm>
            <a:off x="7464247" y="3989527"/>
            <a:ext cx="241402" cy="241402"/>
          </a:xfrm>
          <a:prstGeom prst="rect">
            <a:avLst/>
          </a:prstGeom>
        </p:spPr>
      </p:pic>
      <p:sp>
        <p:nvSpPr>
          <p:cNvPr id="12" name="Text 9"/>
          <p:cNvSpPr txBox="1"/>
          <p:nvPr/>
        </p:nvSpPr>
        <p:spPr>
          <a:xfrm>
            <a:off x="7973568" y="3877056"/>
            <a:ext cx="3474720" cy="292608"/>
          </a:xfrm>
          <a:prstGeom prst="rect">
            <a:avLst/>
          </a:prstGeom>
          <a:noFill/>
          <a:ln/>
        </p:spPr>
        <p:txBody>
          <a:bodyPr wrap="square" lIns="0" tIns="0" rIns="0" bIns="0" rtlCol="0" anchor="ctr"/>
          <a:lstStyle/>
          <a:p>
            <a:pPr indent="0" marL="0">
              <a:buNone/>
            </a:pPr>
            <a:r>
              <a:rPr lang="en-US" sz="1500" b="1" dirty="0">
                <a:solidFill>
                  <a:srgbClr val="FFB454"/>
                </a:solidFill>
                <a:latin typeface="Calibri" pitchFamily="34" charset="0"/>
                <a:ea typeface="Calibri" pitchFamily="34" charset="-122"/>
                <a:cs typeface="Calibri" pitchFamily="34" charset="-120"/>
              </a:rPr>
              <a:t>Pentingnya key</a:t>
            </a:r>
            <a:endParaRPr lang="en-US" sz="1500" dirty="0"/>
          </a:p>
        </p:txBody>
      </p:sp>
      <p:sp>
        <p:nvSpPr>
          <p:cNvPr id="13" name="Text 10"/>
          <p:cNvSpPr txBox="1"/>
          <p:nvPr/>
        </p:nvSpPr>
        <p:spPr>
          <a:xfrm>
            <a:off x="7333488" y="4480560"/>
            <a:ext cx="4069080" cy="1234440"/>
          </a:xfrm>
          <a:prstGeom prst="rect">
            <a:avLst/>
          </a:prstGeom>
          <a:noFill/>
          <a:ln/>
        </p:spPr>
        <p:txBody>
          <a:bodyPr wrap="square" lIns="0" tIns="0" rIns="0" bIns="0" rtlCol="0" anchor="t"/>
          <a:lstStyle/>
          <a:p>
            <a:pPr indent="0" marL="0">
              <a:lnSpc>
                <a:spcPct val="115000"/>
              </a:lnSpc>
              <a:buNone/>
            </a:pPr>
            <a:r>
              <a:rPr lang="en-US" sz="1150" dirty="0">
                <a:solidFill>
                  <a:srgbClr val="AEB9C6"/>
                </a:solidFill>
                <a:latin typeface="Calibri" pitchFamily="34" charset="0"/>
                <a:ea typeface="Calibri" pitchFamily="34" charset="-122"/>
                <a:cs typeface="Calibri" pitchFamily="34" charset="-120"/>
              </a:rPr>
              <a:t>key membantu React mengenali item mana yang berubah, ditambahkan, atau dihapus. Gunakan ID unik dari data, bukan indeks array, karena indeks dapat berubah saat daftar diurutkan atau item dihapus sehingga tampilan bisa keliru.</a:t>
            </a:r>
            <a:endParaRPr lang="en-US" sz="1150" dirty="0"/>
          </a:p>
        </p:txBody>
      </p:sp>
      <p:pic>
        <p:nvPicPr>
          <p:cNvPr id="15"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16" name="Text 1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7" name="Text 1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Rendering Bersyarat</a:t>
            </a:r>
            <a:endParaRPr lang="en-US" sz="3200" dirty="0"/>
          </a:p>
        </p:txBody>
      </p:sp>
      <p:sp>
        <p:nvSpPr>
          <p:cNvPr id="4" name="Shape 2"/>
          <p:cNvSpPr/>
          <p:nvPr/>
        </p:nvSpPr>
        <p:spPr>
          <a:xfrm>
            <a:off x="548640" y="1463040"/>
            <a:ext cx="3575304" cy="3429000"/>
          </a:xfrm>
          <a:prstGeom prst="roundRect">
            <a:avLst>
              <a:gd name="adj" fmla="val 32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Text 3"/>
          <p:cNvSpPr txBox="1"/>
          <p:nvPr/>
        </p:nvSpPr>
        <p:spPr>
          <a:xfrm>
            <a:off x="804672" y="1664208"/>
            <a:ext cx="3063240" cy="310896"/>
          </a:xfrm>
          <a:prstGeom prst="rect">
            <a:avLst/>
          </a:prstGeom>
          <a:noFill/>
          <a:ln/>
        </p:spPr>
        <p:txBody>
          <a:bodyPr wrap="square" lIns="0" tIns="0" rIns="0" bIns="0" rtlCol="0" anchor="ctr"/>
          <a:lstStyle/>
          <a:p>
            <a:pPr indent="0" marL="0">
              <a:buNone/>
            </a:pPr>
            <a:r>
              <a:rPr lang="en-US" sz="1500" b="1" dirty="0">
                <a:solidFill>
                  <a:srgbClr val="1E90AF"/>
                </a:solidFill>
                <a:latin typeface="Calibri" pitchFamily="34" charset="0"/>
                <a:ea typeface="Calibri" pitchFamily="34" charset="-122"/>
                <a:cs typeface="Calibri" pitchFamily="34" charset="-120"/>
              </a:rPr>
              <a:t>if / else</a:t>
            </a:r>
            <a:endParaRPr lang="en-US" sz="1500" dirty="0"/>
          </a:p>
        </p:txBody>
      </p:sp>
      <p:sp>
        <p:nvSpPr>
          <p:cNvPr id="6" name="Text 4"/>
          <p:cNvSpPr txBox="1"/>
          <p:nvPr/>
        </p:nvSpPr>
        <p:spPr>
          <a:xfrm>
            <a:off x="804672" y="2011680"/>
            <a:ext cx="3063240" cy="68580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Paling jelas dibaca untuk percabangan besar sebelum blok return.</a:t>
            </a:r>
            <a:endParaRPr lang="en-US" sz="1150" dirty="0"/>
          </a:p>
        </p:txBody>
      </p:sp>
      <p:sp>
        <p:nvSpPr>
          <p:cNvPr id="7" name="Shape 5"/>
          <p:cNvSpPr/>
          <p:nvPr/>
        </p:nvSpPr>
        <p:spPr>
          <a:xfrm>
            <a:off x="804672" y="2788920"/>
            <a:ext cx="3063240" cy="1874520"/>
          </a:xfrm>
          <a:prstGeom prst="roundRect">
            <a:avLst>
              <a:gd name="adj" fmla="val 4878"/>
            </a:avLst>
          </a:prstGeom>
          <a:solidFill>
            <a:srgbClr val="1B1F27"/>
          </a:solidFill>
          <a:ln w="12700">
            <a:solidFill>
              <a:srgbClr val="323945"/>
            </a:solidFill>
            <a:prstDash val="solid"/>
          </a:ln>
        </p:spPr>
      </p:sp>
      <p:sp>
        <p:nvSpPr>
          <p:cNvPr id="8" name="Text 6"/>
          <p:cNvSpPr txBox="1"/>
          <p:nvPr/>
        </p:nvSpPr>
        <p:spPr>
          <a:xfrm>
            <a:off x="950976" y="2916936"/>
            <a:ext cx="2770632" cy="1618488"/>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Salam</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login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login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Selamat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datang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Silakan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masuk</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4306824" y="1463040"/>
            <a:ext cx="3575304" cy="3429000"/>
          </a:xfrm>
          <a:prstGeom prst="roundRect">
            <a:avLst>
              <a:gd name="adj" fmla="val 32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0" name="Text 8"/>
          <p:cNvSpPr txBox="1"/>
          <p:nvPr/>
        </p:nvSpPr>
        <p:spPr>
          <a:xfrm>
            <a:off x="4562856" y="1664208"/>
            <a:ext cx="3063240" cy="310896"/>
          </a:xfrm>
          <a:prstGeom prst="rect">
            <a:avLst/>
          </a:prstGeom>
          <a:noFill/>
          <a:ln/>
        </p:spPr>
        <p:txBody>
          <a:bodyPr wrap="square" lIns="0" tIns="0" rIns="0" bIns="0" rtlCol="0" anchor="ctr"/>
          <a:lstStyle/>
          <a:p>
            <a:pPr indent="0" marL="0">
              <a:buNone/>
            </a:pPr>
            <a:r>
              <a:rPr lang="en-US" sz="1500" b="1" dirty="0">
                <a:solidFill>
                  <a:srgbClr val="1E90AF"/>
                </a:solidFill>
                <a:latin typeface="Calibri" pitchFamily="34" charset="0"/>
                <a:ea typeface="Calibri" pitchFamily="34" charset="-122"/>
                <a:cs typeface="Calibri" pitchFamily="34" charset="-120"/>
              </a:rPr>
              <a:t>Operator ternary</a:t>
            </a:r>
            <a:endParaRPr lang="en-US" sz="1500" dirty="0"/>
          </a:p>
        </p:txBody>
      </p:sp>
      <p:sp>
        <p:nvSpPr>
          <p:cNvPr id="11" name="Text 9"/>
          <p:cNvSpPr txBox="1"/>
          <p:nvPr/>
        </p:nvSpPr>
        <p:spPr>
          <a:xfrm>
            <a:off x="4562856" y="2011680"/>
            <a:ext cx="3063240" cy="68580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Ringkas untuk memilih satu di antara dua tampilan di dalam JSX.</a:t>
            </a:r>
            <a:endParaRPr lang="en-US" sz="1150" dirty="0"/>
          </a:p>
        </p:txBody>
      </p:sp>
      <p:sp>
        <p:nvSpPr>
          <p:cNvPr id="12" name="Shape 10"/>
          <p:cNvSpPr/>
          <p:nvPr/>
        </p:nvSpPr>
        <p:spPr>
          <a:xfrm>
            <a:off x="4562856" y="2788920"/>
            <a:ext cx="3063240" cy="1874520"/>
          </a:xfrm>
          <a:prstGeom prst="roundRect">
            <a:avLst>
              <a:gd name="adj" fmla="val 4878"/>
            </a:avLst>
          </a:prstGeom>
          <a:solidFill>
            <a:srgbClr val="1B1F27"/>
          </a:solidFill>
          <a:ln w="12700">
            <a:solidFill>
              <a:srgbClr val="323945"/>
            </a:solidFill>
            <a:prstDash val="solid"/>
          </a:ln>
        </p:spPr>
      </p:sp>
      <p:sp>
        <p:nvSpPr>
          <p:cNvPr id="13" name="Text 11"/>
          <p:cNvSpPr txBox="1"/>
          <p:nvPr/>
        </p:nvSpPr>
        <p:spPr>
          <a:xfrm>
            <a:off x="4709160" y="2916936"/>
            <a:ext cx="2770632" cy="1618488"/>
          </a:xfrm>
          <a:prstGeom prst="rect">
            <a:avLst/>
          </a:prstGeom>
          <a:noFill/>
          <a:ln/>
        </p:spPr>
        <p:txBody>
          <a:bodyPr wrap="square" lIns="0" tIns="0" rIns="0" bIns="0" rtlCol="0" anchor="t"/>
          <a:lstStyle/>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login</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'Halo, pengguna'</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'Anda belum masuk'</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p:txBody>
      </p:sp>
      <p:sp>
        <p:nvSpPr>
          <p:cNvPr id="14" name="Shape 12"/>
          <p:cNvSpPr/>
          <p:nvPr/>
        </p:nvSpPr>
        <p:spPr>
          <a:xfrm>
            <a:off x="8065008" y="1463040"/>
            <a:ext cx="3575304" cy="3429000"/>
          </a:xfrm>
          <a:prstGeom prst="roundRect">
            <a:avLst>
              <a:gd name="adj" fmla="val 32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5" name="Text 13"/>
          <p:cNvSpPr txBox="1"/>
          <p:nvPr/>
        </p:nvSpPr>
        <p:spPr>
          <a:xfrm>
            <a:off x="8321040" y="1664208"/>
            <a:ext cx="3063240" cy="310896"/>
          </a:xfrm>
          <a:prstGeom prst="rect">
            <a:avLst/>
          </a:prstGeom>
          <a:noFill/>
          <a:ln/>
        </p:spPr>
        <p:txBody>
          <a:bodyPr wrap="square" lIns="0" tIns="0" rIns="0" bIns="0" rtlCol="0" anchor="ctr"/>
          <a:lstStyle/>
          <a:p>
            <a:pPr indent="0" marL="0">
              <a:buNone/>
            </a:pPr>
            <a:r>
              <a:rPr lang="en-US" sz="1500" b="1" dirty="0">
                <a:solidFill>
                  <a:srgbClr val="1E90AF"/>
                </a:solidFill>
                <a:latin typeface="Calibri" pitchFamily="34" charset="0"/>
                <a:ea typeface="Calibri" pitchFamily="34" charset="-122"/>
                <a:cs typeface="Calibri" pitchFamily="34" charset="-120"/>
              </a:rPr>
              <a:t>Operator &amp;&amp;</a:t>
            </a:r>
            <a:endParaRPr lang="en-US" sz="1500" dirty="0"/>
          </a:p>
        </p:txBody>
      </p:sp>
      <p:sp>
        <p:nvSpPr>
          <p:cNvPr id="16" name="Text 14"/>
          <p:cNvSpPr txBox="1"/>
          <p:nvPr/>
        </p:nvSpPr>
        <p:spPr>
          <a:xfrm>
            <a:off x="8321040" y="2011680"/>
            <a:ext cx="3063240" cy="68580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Menampilkan elemen hanya bila kondisi bernilai benar.</a:t>
            </a:r>
            <a:endParaRPr lang="en-US" sz="1150" dirty="0"/>
          </a:p>
        </p:txBody>
      </p:sp>
      <p:sp>
        <p:nvSpPr>
          <p:cNvPr id="17" name="Shape 15"/>
          <p:cNvSpPr/>
          <p:nvPr/>
        </p:nvSpPr>
        <p:spPr>
          <a:xfrm>
            <a:off x="8321040" y="2788920"/>
            <a:ext cx="3063240" cy="1874520"/>
          </a:xfrm>
          <a:prstGeom prst="roundRect">
            <a:avLst>
              <a:gd name="adj" fmla="val 4878"/>
            </a:avLst>
          </a:prstGeom>
          <a:solidFill>
            <a:srgbClr val="1B1F27"/>
          </a:solidFill>
          <a:ln w="12700">
            <a:solidFill>
              <a:srgbClr val="323945"/>
            </a:solidFill>
            <a:prstDash val="solid"/>
          </a:ln>
        </p:spPr>
      </p:sp>
      <p:sp>
        <p:nvSpPr>
          <p:cNvPr id="18" name="Text 16"/>
          <p:cNvSpPr txBox="1"/>
          <p:nvPr/>
        </p:nvSpPr>
        <p:spPr>
          <a:xfrm>
            <a:off x="8467344" y="2916936"/>
            <a:ext cx="2770632" cy="1618488"/>
          </a:xfrm>
          <a:prstGeom prst="rect">
            <a:avLst/>
          </a:prstGeom>
          <a:noFill/>
          <a:ln/>
        </p:spPr>
        <p:txBody>
          <a:bodyPr wrap="square" lIns="0" tIns="0" rIns="0" bIns="0" rtlCol="0" anchor="t"/>
          <a:lstStyle/>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keranjang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length</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&amp;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&amp;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&lt;span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keranjang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length</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item</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&lt;/span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9" name="Text 17"/>
          <p:cNvSpPr txBox="1"/>
          <p:nvPr/>
        </p:nvSpPr>
        <p:spPr>
          <a:xfrm>
            <a:off x="548640" y="5212080"/>
            <a:ext cx="11091672" cy="365760"/>
          </a:xfrm>
          <a:prstGeom prst="rect">
            <a:avLst/>
          </a:prstGeom>
          <a:noFill/>
          <a:ln/>
        </p:spPr>
        <p:txBody>
          <a:bodyPr wrap="square" lIns="0" tIns="0" rIns="0" bIns="0" rtlCol="0" anchor="ctr"/>
          <a:lstStyle/>
          <a:p>
            <a:pPr indent="0" marL="0">
              <a:buNone/>
            </a:pPr>
            <a:r>
              <a:rPr lang="en-US" sz="1200" i="1" dirty="0">
                <a:solidFill>
                  <a:srgbClr val="5C6672"/>
                </a:solidFill>
                <a:latin typeface="Calibri" pitchFamily="34" charset="0"/>
                <a:ea typeface="Calibri" pitchFamily="34" charset="-122"/>
                <a:cs typeface="Calibri" pitchFamily="34" charset="-120"/>
              </a:rPr>
              <a:t>Hati-hati dengan operator &amp;&amp; pada angka: nilai 0 akan ikut tercetak di layar. Ubah dahulu menjadi boolean, misalnya jumlah &gt; 0.</a:t>
            </a:r>
            <a:endParaRPr lang="en-US" sz="1200" dirty="0"/>
          </a:p>
        </p:txBody>
      </p:sp>
      <p:pic>
        <p:nvPicPr>
          <p:cNvPr id="21"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2" name="Text 18"/>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3" name="Text 19"/>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KONSEP DASAR</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Menangani Event Pengguna</a:t>
            </a:r>
            <a:endParaRPr lang="en-US" sz="3200" dirty="0"/>
          </a:p>
        </p:txBody>
      </p:sp>
      <p:sp>
        <p:nvSpPr>
          <p:cNvPr id="4" name="Shape 2"/>
          <p:cNvSpPr/>
          <p:nvPr/>
        </p:nvSpPr>
        <p:spPr>
          <a:xfrm>
            <a:off x="548640" y="1481328"/>
            <a:ext cx="6492240" cy="3273552"/>
          </a:xfrm>
          <a:prstGeom prst="roundRect">
            <a:avLst>
              <a:gd name="adj" fmla="val 2793"/>
            </a:avLst>
          </a:prstGeom>
          <a:solidFill>
            <a:srgbClr val="1B1F27"/>
          </a:solidFill>
          <a:ln w="12700">
            <a:solidFill>
              <a:srgbClr val="323945"/>
            </a:solidFill>
            <a:prstDash val="solid"/>
          </a:ln>
        </p:spPr>
      </p:sp>
      <p:sp>
        <p:nvSpPr>
          <p:cNvPr id="5" name="Text 3"/>
          <p:cNvSpPr txBox="1"/>
          <p:nvPr/>
        </p:nvSpPr>
        <p:spPr>
          <a:xfrm>
            <a:off x="694944" y="1609344"/>
            <a:ext cx="6199632" cy="3017520"/>
          </a:xfrm>
          <a:prstGeom prst="rect">
            <a:avLst/>
          </a:prstGeom>
          <a:noFill/>
          <a:ln/>
        </p:spPr>
        <p:txBody>
          <a:bodyPr wrap="square" lIns="0" tIns="0" rIns="0" bIns="0" rtlCol="0" anchor="t"/>
          <a:lstStyle/>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FormPencarian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handleSubmit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preventDefault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cegah reload halaman</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console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log</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'form dikirim'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onSubmit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handleSubmit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cari</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target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console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log</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'klik'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Cari</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7269480" y="1481328"/>
            <a:ext cx="4370832"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Event yang sering dipakai</a:t>
            </a:r>
            <a:endParaRPr lang="en-US" sz="1500" dirty="0"/>
          </a:p>
        </p:txBody>
      </p:sp>
      <p:sp>
        <p:nvSpPr>
          <p:cNvPr id="7" name="Shape 5"/>
          <p:cNvSpPr/>
          <p:nvPr/>
        </p:nvSpPr>
        <p:spPr>
          <a:xfrm>
            <a:off x="7269480" y="1920240"/>
            <a:ext cx="4370832" cy="530352"/>
          </a:xfrm>
          <a:prstGeom prst="roundRect">
            <a:avLst>
              <a:gd name="adj" fmla="val 20690"/>
            </a:avLst>
          </a:prstGeom>
          <a:solidFill>
            <a:srgbClr val="F2F6F9"/>
          </a:solidFill>
          <a:ln w="12700">
            <a:solidFill>
              <a:srgbClr val="F2F6F9"/>
            </a:solidFill>
            <a:prstDash val="solid"/>
          </a:ln>
        </p:spPr>
      </p:sp>
      <p:sp>
        <p:nvSpPr>
          <p:cNvPr id="8" name="Text 6"/>
          <p:cNvSpPr txBox="1"/>
          <p:nvPr/>
        </p:nvSpPr>
        <p:spPr>
          <a:xfrm>
            <a:off x="7452360" y="1920240"/>
            <a:ext cx="1234440" cy="530352"/>
          </a:xfrm>
          <a:prstGeom prst="rect">
            <a:avLst/>
          </a:prstGeom>
          <a:noFill/>
          <a:ln/>
        </p:spPr>
        <p:txBody>
          <a:bodyPr wrap="square" lIns="0" tIns="0" rIns="0" bIns="0" rtlCol="0" anchor="ctr"/>
          <a:lstStyle/>
          <a:p>
            <a:pPr indent="0" marL="0">
              <a:buNone/>
            </a:pPr>
            <a:r>
              <a:rPr lang="en-US" sz="1150" b="1" dirty="0">
                <a:solidFill>
                  <a:srgbClr val="1E90AF"/>
                </a:solidFill>
                <a:latin typeface="Courier New" pitchFamily="34" charset="0"/>
                <a:ea typeface="Courier New" pitchFamily="34" charset="-122"/>
                <a:cs typeface="Courier New" pitchFamily="34" charset="-120"/>
              </a:rPr>
              <a:t>onClick</a:t>
            </a:r>
            <a:endParaRPr lang="en-US" sz="1150" dirty="0"/>
          </a:p>
        </p:txBody>
      </p:sp>
      <p:sp>
        <p:nvSpPr>
          <p:cNvPr id="9" name="Text 7"/>
          <p:cNvSpPr txBox="1"/>
          <p:nvPr/>
        </p:nvSpPr>
        <p:spPr>
          <a:xfrm>
            <a:off x="8686800" y="1920240"/>
            <a:ext cx="2788920" cy="530352"/>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Saat elemen diklik pengguna.</a:t>
            </a:r>
            <a:endParaRPr lang="en-US" sz="1050" dirty="0"/>
          </a:p>
        </p:txBody>
      </p:sp>
      <p:sp>
        <p:nvSpPr>
          <p:cNvPr id="10" name="Shape 8"/>
          <p:cNvSpPr/>
          <p:nvPr/>
        </p:nvSpPr>
        <p:spPr>
          <a:xfrm>
            <a:off x="7269480" y="2542032"/>
            <a:ext cx="4370832" cy="530352"/>
          </a:xfrm>
          <a:prstGeom prst="roundRect">
            <a:avLst>
              <a:gd name="adj" fmla="val 20690"/>
            </a:avLst>
          </a:prstGeom>
          <a:solidFill>
            <a:srgbClr val="F2F6F9"/>
          </a:solidFill>
          <a:ln w="12700">
            <a:solidFill>
              <a:srgbClr val="F2F6F9"/>
            </a:solidFill>
            <a:prstDash val="solid"/>
          </a:ln>
        </p:spPr>
      </p:sp>
      <p:sp>
        <p:nvSpPr>
          <p:cNvPr id="11" name="Text 9"/>
          <p:cNvSpPr txBox="1"/>
          <p:nvPr/>
        </p:nvSpPr>
        <p:spPr>
          <a:xfrm>
            <a:off x="7452360" y="2542032"/>
            <a:ext cx="1234440" cy="530352"/>
          </a:xfrm>
          <a:prstGeom prst="rect">
            <a:avLst/>
          </a:prstGeom>
          <a:noFill/>
          <a:ln/>
        </p:spPr>
        <p:txBody>
          <a:bodyPr wrap="square" lIns="0" tIns="0" rIns="0" bIns="0" rtlCol="0" anchor="ctr"/>
          <a:lstStyle/>
          <a:p>
            <a:pPr indent="0" marL="0">
              <a:buNone/>
            </a:pPr>
            <a:r>
              <a:rPr lang="en-US" sz="1150" b="1" dirty="0">
                <a:solidFill>
                  <a:srgbClr val="1E90AF"/>
                </a:solidFill>
                <a:latin typeface="Courier New" pitchFamily="34" charset="0"/>
                <a:ea typeface="Courier New" pitchFamily="34" charset="-122"/>
                <a:cs typeface="Courier New" pitchFamily="34" charset="-120"/>
              </a:rPr>
              <a:t>onChange</a:t>
            </a:r>
            <a:endParaRPr lang="en-US" sz="1150" dirty="0"/>
          </a:p>
        </p:txBody>
      </p:sp>
      <p:sp>
        <p:nvSpPr>
          <p:cNvPr id="12" name="Text 10"/>
          <p:cNvSpPr txBox="1"/>
          <p:nvPr/>
        </p:nvSpPr>
        <p:spPr>
          <a:xfrm>
            <a:off x="8686800" y="2542032"/>
            <a:ext cx="2788920" cy="530352"/>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Saat isi input, textarea, atau select berubah.</a:t>
            </a:r>
            <a:endParaRPr lang="en-US" sz="1050" dirty="0"/>
          </a:p>
        </p:txBody>
      </p:sp>
      <p:sp>
        <p:nvSpPr>
          <p:cNvPr id="13" name="Shape 11"/>
          <p:cNvSpPr/>
          <p:nvPr/>
        </p:nvSpPr>
        <p:spPr>
          <a:xfrm>
            <a:off x="7269480" y="3163824"/>
            <a:ext cx="4370832" cy="530352"/>
          </a:xfrm>
          <a:prstGeom prst="roundRect">
            <a:avLst>
              <a:gd name="adj" fmla="val 20690"/>
            </a:avLst>
          </a:prstGeom>
          <a:solidFill>
            <a:srgbClr val="F2F6F9"/>
          </a:solidFill>
          <a:ln w="12700">
            <a:solidFill>
              <a:srgbClr val="F2F6F9"/>
            </a:solidFill>
            <a:prstDash val="solid"/>
          </a:ln>
        </p:spPr>
      </p:sp>
      <p:sp>
        <p:nvSpPr>
          <p:cNvPr id="14" name="Text 12"/>
          <p:cNvSpPr txBox="1"/>
          <p:nvPr/>
        </p:nvSpPr>
        <p:spPr>
          <a:xfrm>
            <a:off x="7452360" y="3163824"/>
            <a:ext cx="1234440" cy="530352"/>
          </a:xfrm>
          <a:prstGeom prst="rect">
            <a:avLst/>
          </a:prstGeom>
          <a:noFill/>
          <a:ln/>
        </p:spPr>
        <p:txBody>
          <a:bodyPr wrap="square" lIns="0" tIns="0" rIns="0" bIns="0" rtlCol="0" anchor="ctr"/>
          <a:lstStyle/>
          <a:p>
            <a:pPr indent="0" marL="0">
              <a:buNone/>
            </a:pPr>
            <a:r>
              <a:rPr lang="en-US" sz="1150" b="1" dirty="0">
                <a:solidFill>
                  <a:srgbClr val="1E90AF"/>
                </a:solidFill>
                <a:latin typeface="Courier New" pitchFamily="34" charset="0"/>
                <a:ea typeface="Courier New" pitchFamily="34" charset="-122"/>
                <a:cs typeface="Courier New" pitchFamily="34" charset="-120"/>
              </a:rPr>
              <a:t>onSubmit</a:t>
            </a:r>
            <a:endParaRPr lang="en-US" sz="1150" dirty="0"/>
          </a:p>
        </p:txBody>
      </p:sp>
      <p:sp>
        <p:nvSpPr>
          <p:cNvPr id="15" name="Text 13"/>
          <p:cNvSpPr txBox="1"/>
          <p:nvPr/>
        </p:nvSpPr>
        <p:spPr>
          <a:xfrm>
            <a:off x="8686800" y="3163824"/>
            <a:ext cx="2788920" cy="530352"/>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Saat formulir dikirim.</a:t>
            </a:r>
            <a:endParaRPr lang="en-US" sz="1050" dirty="0"/>
          </a:p>
        </p:txBody>
      </p:sp>
      <p:sp>
        <p:nvSpPr>
          <p:cNvPr id="16" name="Shape 14"/>
          <p:cNvSpPr/>
          <p:nvPr/>
        </p:nvSpPr>
        <p:spPr>
          <a:xfrm>
            <a:off x="7269480" y="3785616"/>
            <a:ext cx="4370832" cy="530352"/>
          </a:xfrm>
          <a:prstGeom prst="roundRect">
            <a:avLst>
              <a:gd name="adj" fmla="val 20690"/>
            </a:avLst>
          </a:prstGeom>
          <a:solidFill>
            <a:srgbClr val="F2F6F9"/>
          </a:solidFill>
          <a:ln w="12700">
            <a:solidFill>
              <a:srgbClr val="F2F6F9"/>
            </a:solidFill>
            <a:prstDash val="solid"/>
          </a:ln>
        </p:spPr>
      </p:sp>
      <p:sp>
        <p:nvSpPr>
          <p:cNvPr id="17" name="Text 15"/>
          <p:cNvSpPr txBox="1"/>
          <p:nvPr/>
        </p:nvSpPr>
        <p:spPr>
          <a:xfrm>
            <a:off x="7452360" y="3785616"/>
            <a:ext cx="1234440" cy="530352"/>
          </a:xfrm>
          <a:prstGeom prst="rect">
            <a:avLst/>
          </a:prstGeom>
          <a:noFill/>
          <a:ln/>
        </p:spPr>
        <p:txBody>
          <a:bodyPr wrap="square" lIns="0" tIns="0" rIns="0" bIns="0" rtlCol="0" anchor="ctr"/>
          <a:lstStyle/>
          <a:p>
            <a:pPr indent="0" marL="0">
              <a:buNone/>
            </a:pPr>
            <a:r>
              <a:rPr lang="en-US" sz="1150" b="1" dirty="0">
                <a:solidFill>
                  <a:srgbClr val="1E90AF"/>
                </a:solidFill>
                <a:latin typeface="Courier New" pitchFamily="34" charset="0"/>
                <a:ea typeface="Courier New" pitchFamily="34" charset="-122"/>
                <a:cs typeface="Courier New" pitchFamily="34" charset="-120"/>
              </a:rPr>
              <a:t>onMouseEnter</a:t>
            </a:r>
            <a:endParaRPr lang="en-US" sz="1150" dirty="0"/>
          </a:p>
        </p:txBody>
      </p:sp>
      <p:sp>
        <p:nvSpPr>
          <p:cNvPr id="18" name="Text 16"/>
          <p:cNvSpPr txBox="1"/>
          <p:nvPr/>
        </p:nvSpPr>
        <p:spPr>
          <a:xfrm>
            <a:off x="8686800" y="3785616"/>
            <a:ext cx="2788920" cy="530352"/>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Saat kursor memasuki area elemen.</a:t>
            </a:r>
            <a:endParaRPr lang="en-US" sz="1050" dirty="0"/>
          </a:p>
        </p:txBody>
      </p:sp>
      <p:sp>
        <p:nvSpPr>
          <p:cNvPr id="19" name="Shape 17"/>
          <p:cNvSpPr/>
          <p:nvPr/>
        </p:nvSpPr>
        <p:spPr>
          <a:xfrm>
            <a:off x="7269480" y="4407408"/>
            <a:ext cx="4370832" cy="530352"/>
          </a:xfrm>
          <a:prstGeom prst="roundRect">
            <a:avLst>
              <a:gd name="adj" fmla="val 20690"/>
            </a:avLst>
          </a:prstGeom>
          <a:solidFill>
            <a:srgbClr val="F2F6F9"/>
          </a:solidFill>
          <a:ln w="12700">
            <a:solidFill>
              <a:srgbClr val="F2F6F9"/>
            </a:solidFill>
            <a:prstDash val="solid"/>
          </a:ln>
        </p:spPr>
      </p:sp>
      <p:sp>
        <p:nvSpPr>
          <p:cNvPr id="20" name="Text 18"/>
          <p:cNvSpPr txBox="1"/>
          <p:nvPr/>
        </p:nvSpPr>
        <p:spPr>
          <a:xfrm>
            <a:off x="7452360" y="4407408"/>
            <a:ext cx="1234440" cy="530352"/>
          </a:xfrm>
          <a:prstGeom prst="rect">
            <a:avLst/>
          </a:prstGeom>
          <a:noFill/>
          <a:ln/>
        </p:spPr>
        <p:txBody>
          <a:bodyPr wrap="square" lIns="0" tIns="0" rIns="0" bIns="0" rtlCol="0" anchor="ctr"/>
          <a:lstStyle/>
          <a:p>
            <a:pPr indent="0" marL="0">
              <a:buNone/>
            </a:pPr>
            <a:r>
              <a:rPr lang="en-US" sz="1150" b="1" dirty="0">
                <a:solidFill>
                  <a:srgbClr val="1E90AF"/>
                </a:solidFill>
                <a:latin typeface="Courier New" pitchFamily="34" charset="0"/>
                <a:ea typeface="Courier New" pitchFamily="34" charset="-122"/>
                <a:cs typeface="Courier New" pitchFamily="34" charset="-120"/>
              </a:rPr>
              <a:t>onKeyDown</a:t>
            </a:r>
            <a:endParaRPr lang="en-US" sz="1150" dirty="0"/>
          </a:p>
        </p:txBody>
      </p:sp>
      <p:sp>
        <p:nvSpPr>
          <p:cNvPr id="21" name="Text 19"/>
          <p:cNvSpPr txBox="1"/>
          <p:nvPr/>
        </p:nvSpPr>
        <p:spPr>
          <a:xfrm>
            <a:off x="8686800" y="4407408"/>
            <a:ext cx="2788920" cy="530352"/>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Saat tombol papan ketik ditekan.</a:t>
            </a:r>
            <a:endParaRPr lang="en-US" sz="1050" dirty="0"/>
          </a:p>
        </p:txBody>
      </p:sp>
      <p:sp>
        <p:nvSpPr>
          <p:cNvPr id="22" name="Shape 20"/>
          <p:cNvSpPr/>
          <p:nvPr/>
        </p:nvSpPr>
        <p:spPr>
          <a:xfrm>
            <a:off x="7269480" y="5138928"/>
            <a:ext cx="4370832" cy="822960"/>
          </a:xfrm>
          <a:prstGeom prst="roundRect">
            <a:avLst>
              <a:gd name="adj" fmla="val 13333"/>
            </a:avLst>
          </a:prstGeom>
          <a:solidFill>
            <a:srgbClr val="20232A"/>
          </a:solidFill>
          <a:ln w="12700">
            <a:solidFill>
              <a:srgbClr val="20232A"/>
            </a:solidFill>
            <a:prstDash val="solid"/>
          </a:ln>
        </p:spPr>
      </p:sp>
      <p:sp>
        <p:nvSpPr>
          <p:cNvPr id="23" name="Text 21"/>
          <p:cNvSpPr txBox="1"/>
          <p:nvPr/>
        </p:nvSpPr>
        <p:spPr>
          <a:xfrm>
            <a:off x="7479792" y="5230368"/>
            <a:ext cx="3950208" cy="640080"/>
          </a:xfrm>
          <a:prstGeom prst="rect">
            <a:avLst/>
          </a:prstGeom>
          <a:noFill/>
          <a:ln/>
        </p:spPr>
        <p:txBody>
          <a:bodyPr wrap="square" lIns="0" tIns="0" rIns="0" bIns="0" rtlCol="0" anchor="ctr"/>
          <a:lstStyle/>
          <a:p>
            <a:pPr indent="0" marL="0">
              <a:lnSpc>
                <a:spcPct val="112000"/>
              </a:lnSpc>
              <a:buNone/>
            </a:pPr>
            <a:r>
              <a:rPr lang="en-US" sz="1100" dirty="0">
                <a:solidFill>
                  <a:srgbClr val="CFE9F5"/>
                </a:solidFill>
                <a:latin typeface="Calibri" pitchFamily="34" charset="0"/>
                <a:ea typeface="Calibri" pitchFamily="34" charset="-122"/>
                <a:cs typeface="Calibri" pitchFamily="34" charset="-120"/>
              </a:rPr>
              <a:t>Tulis onClick={fungsi} tanpa tanda kurung. Menulis onClick={fungsi()} akan langsung mengeksekusi fungsi saat render.</a:t>
            </a:r>
            <a:endParaRPr lang="en-US" sz="1100" dirty="0"/>
          </a:p>
        </p:txBody>
      </p:sp>
      <p:pic>
        <p:nvPicPr>
          <p:cNvPr id="25"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6" name="Text 2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7" name="Text 2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502920" y="1051560"/>
            <a:ext cx="3108960" cy="1920240"/>
          </a:xfrm>
          <a:prstGeom prst="rect">
            <a:avLst/>
          </a:prstGeom>
          <a:noFill/>
          <a:ln/>
        </p:spPr>
        <p:txBody>
          <a:bodyPr wrap="square" lIns="0" tIns="0" rIns="0" bIns="0" rtlCol="0" anchor="ctr"/>
          <a:lstStyle/>
          <a:p>
            <a:pPr indent="0" marL="0">
              <a:buNone/>
            </a:pPr>
            <a:r>
              <a:rPr lang="en-US" sz="12000" b="1" dirty="0">
                <a:solidFill>
                  <a:srgbClr val="343C4A"/>
                </a:solidFill>
                <a:latin typeface="Calibri" pitchFamily="34" charset="0"/>
                <a:ea typeface="Calibri" pitchFamily="34" charset="-122"/>
                <a:cs typeface="Calibri" pitchFamily="34" charset="-120"/>
              </a:rPr>
              <a:t>03</a:t>
            </a:r>
            <a:endParaRPr lang="en-US" sz="12000" dirty="0"/>
          </a:p>
        </p:txBody>
      </p:sp>
      <p:sp>
        <p:nvSpPr>
          <p:cNvPr id="3" name="Text 1"/>
          <p:cNvSpPr txBox="1"/>
          <p:nvPr/>
        </p:nvSpPr>
        <p:spPr>
          <a:xfrm>
            <a:off x="548640" y="2971800"/>
            <a:ext cx="71323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State &amp; React Hooks</a:t>
            </a:r>
            <a:endParaRPr lang="en-US" sz="4200" dirty="0"/>
          </a:p>
        </p:txBody>
      </p:sp>
      <p:sp>
        <p:nvSpPr>
          <p:cNvPr id="4" name="Text 2"/>
          <p:cNvSpPr txBox="1"/>
          <p:nvPr/>
        </p:nvSpPr>
        <p:spPr>
          <a:xfrm>
            <a:off x="566928" y="3840480"/>
            <a:ext cx="6949440" cy="822960"/>
          </a:xfrm>
          <a:prstGeom prst="rect">
            <a:avLst/>
          </a:prstGeom>
          <a:noFill/>
          <a:ln/>
        </p:spPr>
        <p:txBody>
          <a:bodyPr wrap="square" lIns="0" tIns="0" rIns="0" bIns="0" rtlCol="0" anchor="t"/>
          <a:lstStyle/>
          <a:p>
            <a:pPr indent="0" marL="0">
              <a:buNone/>
            </a:pPr>
            <a:r>
              <a:rPr lang="en-US" sz="1600" dirty="0">
                <a:solidFill>
                  <a:srgbClr val="9FAAB9"/>
                </a:solidFill>
                <a:latin typeface="Calibri" pitchFamily="34" charset="0"/>
                <a:ea typeface="Calibri" pitchFamily="34" charset="-122"/>
                <a:cs typeface="Calibri" pitchFamily="34" charset="-120"/>
              </a:rPr>
              <a:t>Membuat komponen menjadi hidup: menyimpan data, bereaksi, dan berbagi informasi.</a:t>
            </a:r>
            <a:endParaRPr lang="en-US" sz="1600" dirty="0"/>
          </a:p>
        </p:txBody>
      </p:sp>
      <p:sp>
        <p:nvSpPr>
          <p:cNvPr id="5" name="Shape 3"/>
          <p:cNvSpPr/>
          <p:nvPr/>
        </p:nvSpPr>
        <p:spPr>
          <a:xfrm>
            <a:off x="8366760" y="1965960"/>
            <a:ext cx="2926080" cy="2926080"/>
          </a:xfrm>
          <a:prstGeom prst="ellipse">
            <a:avLst/>
          </a:prstGeom>
          <a:solidFill>
            <a:srgbClr val="2C313C"/>
          </a:solidFill>
          <a:ln w="12700">
            <a:solidFill>
              <a:srgbClr val="2C313C"/>
            </a:solidFill>
            <a:prstDash val="solid"/>
          </a:ln>
        </p:spPr>
      </p:sp>
      <p:pic>
        <p:nvPicPr>
          <p:cNvPr id="6" name="Image 0" descr="preencoded.png">    </p:cNvPr>
          <p:cNvPicPr>
            <a:picLocks noChangeAspect="1"/>
          </p:cNvPicPr>
          <p:nvPr/>
        </p:nvPicPr>
        <p:blipFill>
          <a:blip r:embed="rId1"/>
          <a:stretch>
            <a:fillRect/>
          </a:stretch>
        </p:blipFill>
        <p:spPr>
          <a:xfrm>
            <a:off x="9098280" y="2697480"/>
            <a:ext cx="1463040" cy="1463040"/>
          </a:xfrm>
          <a:prstGeom prst="rect">
            <a:avLst/>
          </a:prstGeom>
        </p:spPr>
      </p:pic>
      <p:pic>
        <p:nvPicPr>
          <p:cNvPr id="7"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8" name="Text 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ReactJS — Materi Komprehensif</a:t>
            </a:r>
            <a:endParaRPr lang="en-US" sz="900" dirty="0"/>
          </a:p>
        </p:txBody>
      </p:sp>
      <p:sp>
        <p:nvSpPr>
          <p:cNvPr id="9" name="Text 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61DAF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State &amp; Hook useState</a:t>
            </a:r>
            <a:endParaRPr lang="en-US" sz="3200" dirty="0"/>
          </a:p>
        </p:txBody>
      </p:sp>
      <p:sp>
        <p:nvSpPr>
          <p:cNvPr id="4" name="Shape 2"/>
          <p:cNvSpPr/>
          <p:nvPr/>
        </p:nvSpPr>
        <p:spPr>
          <a:xfrm>
            <a:off x="548640" y="1481328"/>
            <a:ext cx="6446520" cy="3471062"/>
          </a:xfrm>
          <a:prstGeom prst="roundRect">
            <a:avLst>
              <a:gd name="adj" fmla="val 2634"/>
            </a:avLst>
          </a:prstGeom>
          <a:solidFill>
            <a:srgbClr val="1B1F27"/>
          </a:solidFill>
          <a:ln w="12700">
            <a:solidFill>
              <a:srgbClr val="323945"/>
            </a:solidFill>
            <a:prstDash val="solid"/>
          </a:ln>
        </p:spPr>
      </p:sp>
      <p:sp>
        <p:nvSpPr>
          <p:cNvPr id="5" name="Text 3"/>
          <p:cNvSpPr txBox="1"/>
          <p:nvPr/>
        </p:nvSpPr>
        <p:spPr>
          <a:xfrm>
            <a:off x="694944" y="1609344"/>
            <a:ext cx="6153912" cy="3215030"/>
          </a:xfrm>
          <a:prstGeom prst="rect">
            <a:avLst/>
          </a:prstGeom>
          <a:noFill/>
          <a:ln/>
        </p:spPr>
        <p:txBody>
          <a:bodyPr wrap="square" lIns="0" tIns="0" rIns="0" bIns="0" rtlCol="0" anchor="t"/>
          <a:lstStyle/>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'react'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Penghitung</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[nilai saat ini, fungsi pengubah]</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Jumlah</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klik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Tambah</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setAngka</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Reset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Shape 4"/>
          <p:cNvSpPr/>
          <p:nvPr/>
        </p:nvSpPr>
        <p:spPr>
          <a:xfrm>
            <a:off x="7223760" y="1481328"/>
            <a:ext cx="4416552" cy="1691640"/>
          </a:xfrm>
          <a:prstGeom prst="roundRect">
            <a:avLst>
              <a:gd name="adj" fmla="val 648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Text 5"/>
          <p:cNvSpPr txBox="1"/>
          <p:nvPr/>
        </p:nvSpPr>
        <p:spPr>
          <a:xfrm>
            <a:off x="7452360" y="1645920"/>
            <a:ext cx="397764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Apa itu state?</a:t>
            </a:r>
            <a:endParaRPr lang="en-US" sz="1500" dirty="0"/>
          </a:p>
        </p:txBody>
      </p:sp>
      <p:sp>
        <p:nvSpPr>
          <p:cNvPr id="8" name="Text 6"/>
          <p:cNvSpPr txBox="1"/>
          <p:nvPr/>
        </p:nvSpPr>
        <p:spPr>
          <a:xfrm>
            <a:off x="7452360" y="1956816"/>
            <a:ext cx="3977640" cy="1143000"/>
          </a:xfrm>
          <a:prstGeom prst="rect">
            <a:avLst/>
          </a:prstGeom>
          <a:noFill/>
          <a:ln/>
        </p:spPr>
        <p:txBody>
          <a:bodyPr wrap="square" lIns="0" tIns="0" rIns="0" bIns="0" rtlCol="0" anchor="t"/>
          <a:lstStyle/>
          <a:p>
            <a:pPr indent="0" marL="0">
              <a:lnSpc>
                <a:spcPct val="115000"/>
              </a:lnSpc>
              <a:buNone/>
            </a:pPr>
            <a:r>
              <a:rPr lang="en-US" sz="1150" dirty="0">
                <a:solidFill>
                  <a:srgbClr val="5C6672"/>
                </a:solidFill>
                <a:latin typeface="Calibri" pitchFamily="34" charset="0"/>
                <a:ea typeface="Calibri" pitchFamily="34" charset="-122"/>
                <a:cs typeface="Calibri" pitchFamily="34" charset="-120"/>
              </a:rPr>
              <a:t>State adalah data milik komponen yang dapat berubah selama aplikasi berjalan. Setiap kali state diperbarui, React merender ulang komponen sehingga tampilan selalu sesuai data terbaru.</a:t>
            </a:r>
            <a:endParaRPr lang="en-US" sz="1150" dirty="0"/>
          </a:p>
        </p:txBody>
      </p:sp>
      <p:sp>
        <p:nvSpPr>
          <p:cNvPr id="9" name="Shape 7"/>
          <p:cNvSpPr/>
          <p:nvPr/>
        </p:nvSpPr>
        <p:spPr>
          <a:xfrm>
            <a:off x="7223760" y="3383280"/>
            <a:ext cx="457200" cy="457200"/>
          </a:xfrm>
          <a:prstGeom prst="ellipse">
            <a:avLst/>
          </a:prstGeom>
          <a:solidFill>
            <a:srgbClr val="20232A"/>
          </a:solidFill>
          <a:ln w="12700">
            <a:solidFill>
              <a:srgbClr val="20232A"/>
            </a:solidFill>
            <a:prstDash val="solid"/>
          </a:ln>
        </p:spPr>
      </p:sp>
      <p:sp>
        <p:nvSpPr>
          <p:cNvPr id="10" name="Text 8"/>
          <p:cNvSpPr txBox="1"/>
          <p:nvPr/>
        </p:nvSpPr>
        <p:spPr>
          <a:xfrm>
            <a:off x="7223760" y="3383280"/>
            <a:ext cx="457200" cy="457200"/>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818120" y="3355848"/>
            <a:ext cx="3657600" cy="256032"/>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Deklarasi</a:t>
            </a:r>
            <a:endParaRPr lang="en-US" sz="1300" dirty="0"/>
          </a:p>
        </p:txBody>
      </p:sp>
      <p:sp>
        <p:nvSpPr>
          <p:cNvPr id="12" name="Text 10"/>
          <p:cNvSpPr txBox="1"/>
          <p:nvPr/>
        </p:nvSpPr>
        <p:spPr>
          <a:xfrm>
            <a:off x="7818120" y="3611880"/>
            <a:ext cx="3657600" cy="256032"/>
          </a:xfrm>
          <a:prstGeom prst="rect">
            <a:avLst/>
          </a:prstGeom>
          <a:noFill/>
          <a:ln/>
        </p:spPr>
        <p:txBody>
          <a:bodyPr wrap="square" lIns="0" tIns="0" rIns="0" bIns="0" rtlCol="0" anchor="ctr"/>
          <a:lstStyle/>
          <a:p>
            <a:pPr indent="0" marL="0">
              <a:buNone/>
            </a:pPr>
            <a:r>
              <a:rPr lang="en-US" sz="1100" dirty="0">
                <a:solidFill>
                  <a:srgbClr val="5C6672"/>
                </a:solidFill>
                <a:latin typeface="Courier New" pitchFamily="34" charset="0"/>
                <a:ea typeface="Courier New" pitchFamily="34" charset="-122"/>
                <a:cs typeface="Courier New" pitchFamily="34" charset="-120"/>
              </a:rPr>
              <a:t>useState(nilaiAwal)</a:t>
            </a:r>
            <a:endParaRPr lang="en-US" sz="1100" dirty="0"/>
          </a:p>
        </p:txBody>
      </p:sp>
      <p:sp>
        <p:nvSpPr>
          <p:cNvPr id="13" name="Shape 11"/>
          <p:cNvSpPr/>
          <p:nvPr/>
        </p:nvSpPr>
        <p:spPr>
          <a:xfrm>
            <a:off x="7223760" y="4041648"/>
            <a:ext cx="457200" cy="457200"/>
          </a:xfrm>
          <a:prstGeom prst="ellipse">
            <a:avLst/>
          </a:prstGeom>
          <a:solidFill>
            <a:srgbClr val="20232A"/>
          </a:solidFill>
          <a:ln w="12700">
            <a:solidFill>
              <a:srgbClr val="20232A"/>
            </a:solidFill>
            <a:prstDash val="solid"/>
          </a:ln>
        </p:spPr>
      </p:sp>
      <p:sp>
        <p:nvSpPr>
          <p:cNvPr id="14" name="Text 12"/>
          <p:cNvSpPr txBox="1"/>
          <p:nvPr/>
        </p:nvSpPr>
        <p:spPr>
          <a:xfrm>
            <a:off x="7223760" y="4041648"/>
            <a:ext cx="457200" cy="457200"/>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818120" y="4014216"/>
            <a:ext cx="3657600" cy="256032"/>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Pemakaian</a:t>
            </a:r>
            <a:endParaRPr lang="en-US" sz="1300" dirty="0"/>
          </a:p>
        </p:txBody>
      </p:sp>
      <p:sp>
        <p:nvSpPr>
          <p:cNvPr id="16" name="Text 14"/>
          <p:cNvSpPr txBox="1"/>
          <p:nvPr/>
        </p:nvSpPr>
        <p:spPr>
          <a:xfrm>
            <a:off x="7818120" y="4270248"/>
            <a:ext cx="3657600" cy="256032"/>
          </a:xfrm>
          <a:prstGeom prst="rect">
            <a:avLst/>
          </a:prstGeom>
          <a:noFill/>
          <a:ln/>
        </p:spPr>
        <p:txBody>
          <a:bodyPr wrap="square" lIns="0" tIns="0" rIns="0" bIns="0" rtlCol="0" anchor="ctr"/>
          <a:lstStyle/>
          <a:p>
            <a:pPr indent="0" marL="0">
              <a:buNone/>
            </a:pPr>
            <a:r>
              <a:rPr lang="en-US" sz="1100" dirty="0">
                <a:solidFill>
                  <a:srgbClr val="5C6672"/>
                </a:solidFill>
                <a:latin typeface="Courier New" pitchFamily="34" charset="0"/>
                <a:ea typeface="Courier New" pitchFamily="34" charset="-122"/>
                <a:cs typeface="Courier New" pitchFamily="34" charset="-120"/>
              </a:rPr>
              <a:t>Tampilkan variabel di JSX</a:t>
            </a:r>
            <a:endParaRPr lang="en-US" sz="1100" dirty="0"/>
          </a:p>
        </p:txBody>
      </p:sp>
      <p:sp>
        <p:nvSpPr>
          <p:cNvPr id="17" name="Shape 15"/>
          <p:cNvSpPr/>
          <p:nvPr/>
        </p:nvSpPr>
        <p:spPr>
          <a:xfrm>
            <a:off x="7223760" y="4700016"/>
            <a:ext cx="457200" cy="457200"/>
          </a:xfrm>
          <a:prstGeom prst="ellipse">
            <a:avLst/>
          </a:prstGeom>
          <a:solidFill>
            <a:srgbClr val="20232A"/>
          </a:solidFill>
          <a:ln w="12700">
            <a:solidFill>
              <a:srgbClr val="20232A"/>
            </a:solidFill>
            <a:prstDash val="solid"/>
          </a:ln>
        </p:spPr>
      </p:sp>
      <p:sp>
        <p:nvSpPr>
          <p:cNvPr id="18" name="Text 16"/>
          <p:cNvSpPr txBox="1"/>
          <p:nvPr/>
        </p:nvSpPr>
        <p:spPr>
          <a:xfrm>
            <a:off x="7223760" y="4700016"/>
            <a:ext cx="457200" cy="457200"/>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7818120" y="4672584"/>
            <a:ext cx="3657600" cy="256032"/>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Pembaruan</a:t>
            </a:r>
            <a:endParaRPr lang="en-US" sz="1300" dirty="0"/>
          </a:p>
        </p:txBody>
      </p:sp>
      <p:sp>
        <p:nvSpPr>
          <p:cNvPr id="20" name="Text 18"/>
          <p:cNvSpPr txBox="1"/>
          <p:nvPr/>
        </p:nvSpPr>
        <p:spPr>
          <a:xfrm>
            <a:off x="7818120" y="4928616"/>
            <a:ext cx="3657600" cy="256032"/>
          </a:xfrm>
          <a:prstGeom prst="rect">
            <a:avLst/>
          </a:prstGeom>
          <a:noFill/>
          <a:ln/>
        </p:spPr>
        <p:txBody>
          <a:bodyPr wrap="square" lIns="0" tIns="0" rIns="0" bIns="0" rtlCol="0" anchor="ctr"/>
          <a:lstStyle/>
          <a:p>
            <a:pPr indent="0" marL="0">
              <a:buNone/>
            </a:pPr>
            <a:r>
              <a:rPr lang="en-US" sz="1100" dirty="0">
                <a:solidFill>
                  <a:srgbClr val="5C6672"/>
                </a:solidFill>
                <a:latin typeface="Courier New" pitchFamily="34" charset="0"/>
                <a:ea typeface="Courier New" pitchFamily="34" charset="-122"/>
                <a:cs typeface="Courier New" pitchFamily="34" charset="-120"/>
              </a:rPr>
              <a:t>Panggil fungsi set...</a:t>
            </a:r>
            <a:endParaRPr lang="en-US" sz="1100" dirty="0"/>
          </a:p>
        </p:txBody>
      </p:sp>
      <p:sp>
        <p:nvSpPr>
          <p:cNvPr id="21" name="Shape 19"/>
          <p:cNvSpPr/>
          <p:nvPr/>
        </p:nvSpPr>
        <p:spPr>
          <a:xfrm>
            <a:off x="7223760" y="5349240"/>
            <a:ext cx="4416552" cy="658368"/>
          </a:xfrm>
          <a:prstGeom prst="roundRect">
            <a:avLst>
              <a:gd name="adj" fmla="val 16667"/>
            </a:avLst>
          </a:prstGeom>
          <a:solidFill>
            <a:srgbClr val="20232A"/>
          </a:solidFill>
          <a:ln w="12700">
            <a:solidFill>
              <a:srgbClr val="20232A"/>
            </a:solidFill>
            <a:prstDash val="solid"/>
          </a:ln>
        </p:spPr>
      </p:sp>
      <p:sp>
        <p:nvSpPr>
          <p:cNvPr id="22" name="Text 20"/>
          <p:cNvSpPr txBox="1"/>
          <p:nvPr/>
        </p:nvSpPr>
        <p:spPr>
          <a:xfrm>
            <a:off x="7424928" y="5422392"/>
            <a:ext cx="4023360" cy="512064"/>
          </a:xfrm>
          <a:prstGeom prst="rect">
            <a:avLst/>
          </a:prstGeom>
          <a:noFill/>
          <a:ln/>
        </p:spPr>
        <p:txBody>
          <a:bodyPr wrap="square" lIns="0" tIns="0" rIns="0" bIns="0" rtlCol="0" anchor="ctr"/>
          <a:lstStyle/>
          <a:p>
            <a:pPr indent="0" marL="0">
              <a:lnSpc>
                <a:spcPct val="110000"/>
              </a:lnSpc>
              <a:buNone/>
            </a:pPr>
            <a:r>
              <a:rPr lang="en-US" sz="1050" dirty="0">
                <a:solidFill>
                  <a:srgbClr val="CFE9F5"/>
                </a:solidFill>
                <a:latin typeface="Calibri" pitchFamily="34" charset="0"/>
                <a:ea typeface="Calibri" pitchFamily="34" charset="-122"/>
                <a:cs typeface="Calibri" pitchFamily="34" charset="-120"/>
              </a:rPr>
              <a:t>Jangan ubah state langsung (angka++). Selalu gunakan fungsi set agar React tahu harus merender ulang.</a:t>
            </a:r>
            <a:endParaRPr lang="en-US" sz="1050" dirty="0"/>
          </a:p>
        </p:txBody>
      </p:sp>
      <p:pic>
        <p:nvPicPr>
          <p:cNvPr id="24"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5" name="Text 2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6" name="Text 2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useEffect: Efek Samping &amp; Siklus Hidup</a:t>
            </a:r>
            <a:endParaRPr lang="en-US" sz="3200" dirty="0"/>
          </a:p>
        </p:txBody>
      </p:sp>
      <p:sp>
        <p:nvSpPr>
          <p:cNvPr id="4" name="Shape 2"/>
          <p:cNvSpPr/>
          <p:nvPr/>
        </p:nvSpPr>
        <p:spPr>
          <a:xfrm>
            <a:off x="548640" y="1481328"/>
            <a:ext cx="6446520" cy="3471062"/>
          </a:xfrm>
          <a:prstGeom prst="roundRect">
            <a:avLst>
              <a:gd name="adj" fmla="val 2634"/>
            </a:avLst>
          </a:prstGeom>
          <a:solidFill>
            <a:srgbClr val="1B1F27"/>
          </a:solidFill>
          <a:ln w="12700">
            <a:solidFill>
              <a:srgbClr val="323945"/>
            </a:solidFill>
            <a:prstDash val="solid"/>
          </a:ln>
        </p:spPr>
      </p:sp>
      <p:sp>
        <p:nvSpPr>
          <p:cNvPr id="5" name="Text 3"/>
          <p:cNvSpPr txBox="1"/>
          <p:nvPr/>
        </p:nvSpPr>
        <p:spPr>
          <a:xfrm>
            <a:off x="694944" y="1609344"/>
            <a:ext cx="6153912" cy="3215030"/>
          </a:xfrm>
          <a:prstGeom prst="rect">
            <a:avLst/>
          </a:prstGeom>
          <a:noFill/>
          <a:ln/>
        </p:spPr>
        <p:txBody>
          <a:bodyPr wrap="square" lIns="0" tIns="0" rIns="0" bIns="0" rtlCol="0" anchor="t"/>
          <a:lstStyle/>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useEffect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'react'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Jam</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waktu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setWaktu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new</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Date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61DAFB"/>
                </a:solidFill>
                <a:latin typeface="Courier New" pitchFamily="34" charset="0"/>
                <a:ea typeface="Courier New" pitchFamily="34" charset="-122"/>
                <a:cs typeface="Courier New" pitchFamily="34" charset="-120"/>
              </a:rPr>
              <a:t>useEffect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setInterval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setWaktu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new</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Date</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FFB454"/>
                </a:solidFill>
                <a:latin typeface="Courier New" pitchFamily="34" charset="0"/>
                <a:ea typeface="Courier New" pitchFamily="34" charset="-122"/>
                <a:cs typeface="Courier New" pitchFamily="34" charset="-120"/>
              </a:rPr>
              <a:t>1000</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fungsi pembersih saat komponen dilepas</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clearInterval</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7A8796"/>
                </a:solidFill>
                <a:latin typeface="Courier New" pitchFamily="34" charset="0"/>
                <a:ea typeface="Courier New" pitchFamily="34" charset="-122"/>
                <a:cs typeface="Courier New" pitchFamily="34" charset="-120"/>
              </a:rPr>
              <a:t>// array dependensi</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waktu</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toLocaleTimeString</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200" dirty="0">
                <a:solidFill>
                  <a:srgbClr val="3DD68C"/>
                </a:solidFill>
                <a:latin typeface="Courier New" pitchFamily="34" charset="0"/>
                <a:ea typeface="Courier New" pitchFamily="34" charset="-122"/>
                <a:cs typeface="Courier New" pitchFamily="34" charset="-120"/>
              </a:rPr>
              <a:t>&lt;/h2</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6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7223760" y="1481328"/>
            <a:ext cx="4416552"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Perilaku array dependensi</a:t>
            </a:r>
            <a:endParaRPr lang="en-US" sz="1500" dirty="0"/>
          </a:p>
        </p:txBody>
      </p:sp>
      <p:sp>
        <p:nvSpPr>
          <p:cNvPr id="7" name="Shape 5"/>
          <p:cNvSpPr/>
          <p:nvPr/>
        </p:nvSpPr>
        <p:spPr>
          <a:xfrm>
            <a:off x="7223760" y="1901952"/>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8" name="Text 6"/>
          <p:cNvSpPr txBox="1"/>
          <p:nvPr/>
        </p:nvSpPr>
        <p:spPr>
          <a:xfrm>
            <a:off x="7424928" y="1993392"/>
            <a:ext cx="4023360" cy="274320"/>
          </a:xfrm>
          <a:prstGeom prst="rect">
            <a:avLst/>
          </a:prstGeom>
          <a:noFill/>
          <a:ln/>
        </p:spPr>
        <p:txBody>
          <a:bodyPr wrap="square" lIns="0" tIns="0" rIns="0" bIns="0" rtlCol="0" anchor="ctr"/>
          <a:lstStyle/>
          <a:p>
            <a:pPr indent="0" marL="0">
              <a:buNone/>
            </a:pPr>
            <a:r>
              <a:rPr lang="en-US" sz="1250" b="1" dirty="0">
                <a:solidFill>
                  <a:srgbClr val="FF6B6B"/>
                </a:solidFill>
                <a:latin typeface="Courier New" pitchFamily="34" charset="0"/>
                <a:ea typeface="Courier New" pitchFamily="34" charset="-122"/>
                <a:cs typeface="Courier New" pitchFamily="34" charset="-120"/>
              </a:rPr>
              <a:t>tanpa array</a:t>
            </a:r>
            <a:endParaRPr lang="en-US" sz="1250" dirty="0"/>
          </a:p>
        </p:txBody>
      </p:sp>
      <p:sp>
        <p:nvSpPr>
          <p:cNvPr id="9" name="Text 7"/>
          <p:cNvSpPr txBox="1"/>
          <p:nvPr/>
        </p:nvSpPr>
        <p:spPr>
          <a:xfrm>
            <a:off x="7424928" y="2267712"/>
            <a:ext cx="4023360" cy="384048"/>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Dijalankan setiap kali komponen selesai dirender.</a:t>
            </a:r>
            <a:endParaRPr lang="en-US" sz="1100" dirty="0"/>
          </a:p>
        </p:txBody>
      </p:sp>
      <p:sp>
        <p:nvSpPr>
          <p:cNvPr id="10" name="Shape 8"/>
          <p:cNvSpPr/>
          <p:nvPr/>
        </p:nvSpPr>
        <p:spPr>
          <a:xfrm>
            <a:off x="7223760" y="2862072"/>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Text 9"/>
          <p:cNvSpPr txBox="1"/>
          <p:nvPr/>
        </p:nvSpPr>
        <p:spPr>
          <a:xfrm>
            <a:off x="7424928" y="2953512"/>
            <a:ext cx="4023360" cy="274320"/>
          </a:xfrm>
          <a:prstGeom prst="rect">
            <a:avLst/>
          </a:prstGeom>
          <a:noFill/>
          <a:ln/>
        </p:spPr>
        <p:txBody>
          <a:bodyPr wrap="square" lIns="0" tIns="0" rIns="0" bIns="0" rtlCol="0" anchor="ctr"/>
          <a:lstStyle/>
          <a:p>
            <a:pPr indent="0" marL="0">
              <a:buNone/>
            </a:pPr>
            <a:r>
              <a:rPr lang="en-US" sz="1250" b="1" dirty="0">
                <a:solidFill>
                  <a:srgbClr val="3DD68C"/>
                </a:solidFill>
                <a:latin typeface="Courier New" pitchFamily="34" charset="0"/>
                <a:ea typeface="Courier New" pitchFamily="34" charset="-122"/>
                <a:cs typeface="Courier New" pitchFamily="34" charset="-120"/>
              </a:rPr>
              <a:t>[ ]</a:t>
            </a:r>
            <a:endParaRPr lang="en-US" sz="1250" dirty="0"/>
          </a:p>
        </p:txBody>
      </p:sp>
      <p:sp>
        <p:nvSpPr>
          <p:cNvPr id="12" name="Text 10"/>
          <p:cNvSpPr txBox="1"/>
          <p:nvPr/>
        </p:nvSpPr>
        <p:spPr>
          <a:xfrm>
            <a:off x="7424928" y="3227832"/>
            <a:ext cx="4023360" cy="384048"/>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Hanya sekali saat komponen pertama kali tampil.</a:t>
            </a:r>
            <a:endParaRPr lang="en-US" sz="1100" dirty="0"/>
          </a:p>
        </p:txBody>
      </p:sp>
      <p:sp>
        <p:nvSpPr>
          <p:cNvPr id="13" name="Shape 11"/>
          <p:cNvSpPr/>
          <p:nvPr/>
        </p:nvSpPr>
        <p:spPr>
          <a:xfrm>
            <a:off x="7223760" y="3822192"/>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4" name="Text 12"/>
          <p:cNvSpPr txBox="1"/>
          <p:nvPr/>
        </p:nvSpPr>
        <p:spPr>
          <a:xfrm>
            <a:off x="7424928" y="3913632"/>
            <a:ext cx="4023360" cy="274320"/>
          </a:xfrm>
          <a:prstGeom prst="rect">
            <a:avLst/>
          </a:prstGeom>
          <a:noFill/>
          <a:ln/>
        </p:spPr>
        <p:txBody>
          <a:bodyPr wrap="square" lIns="0" tIns="0" rIns="0" bIns="0" rtlCol="0" anchor="ctr"/>
          <a:lstStyle/>
          <a:p>
            <a:pPr indent="0" marL="0">
              <a:buNone/>
            </a:pPr>
            <a:r>
              <a:rPr lang="en-US" sz="1250" b="1" dirty="0">
                <a:solidFill>
                  <a:srgbClr val="1E90AF"/>
                </a:solidFill>
                <a:latin typeface="Courier New" pitchFamily="34" charset="0"/>
                <a:ea typeface="Courier New" pitchFamily="34" charset="-122"/>
                <a:cs typeface="Courier New" pitchFamily="34" charset="-120"/>
              </a:rPr>
              <a:t>[nilai]</a:t>
            </a:r>
            <a:endParaRPr lang="en-US" sz="1250" dirty="0"/>
          </a:p>
        </p:txBody>
      </p:sp>
      <p:sp>
        <p:nvSpPr>
          <p:cNvPr id="15" name="Text 13"/>
          <p:cNvSpPr txBox="1"/>
          <p:nvPr/>
        </p:nvSpPr>
        <p:spPr>
          <a:xfrm>
            <a:off x="7424928" y="4187952"/>
            <a:ext cx="4023360" cy="384048"/>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Dijalankan ulang setiap kali nilai tersebut berubah.</a:t>
            </a:r>
            <a:endParaRPr lang="en-US" sz="1100" dirty="0"/>
          </a:p>
        </p:txBody>
      </p:sp>
      <p:sp>
        <p:nvSpPr>
          <p:cNvPr id="16" name="Shape 14"/>
          <p:cNvSpPr/>
          <p:nvPr/>
        </p:nvSpPr>
        <p:spPr>
          <a:xfrm>
            <a:off x="7223760" y="4828032"/>
            <a:ext cx="4416552" cy="1170432"/>
          </a:xfrm>
          <a:prstGeom prst="roundRect">
            <a:avLst>
              <a:gd name="adj" fmla="val 9375"/>
            </a:avLst>
          </a:prstGeom>
          <a:solidFill>
            <a:srgbClr val="20232A"/>
          </a:solidFill>
          <a:ln w="12700">
            <a:solidFill>
              <a:srgbClr val="20232A"/>
            </a:solidFill>
            <a:prstDash val="solid"/>
          </a:ln>
        </p:spPr>
      </p:sp>
      <p:sp>
        <p:nvSpPr>
          <p:cNvPr id="17" name="Shape 15"/>
          <p:cNvSpPr/>
          <p:nvPr/>
        </p:nvSpPr>
        <p:spPr>
          <a:xfrm>
            <a:off x="7424928" y="4983480"/>
            <a:ext cx="457200" cy="457200"/>
          </a:xfrm>
          <a:prstGeom prst="ellipse">
            <a:avLst/>
          </a:prstGeom>
          <a:solidFill>
            <a:srgbClr val="24303A"/>
          </a:solidFill>
          <a:ln w="12700">
            <a:solidFill>
              <a:srgbClr val="24303A"/>
            </a:solidFill>
            <a:prstDash val="solid"/>
          </a:ln>
        </p:spPr>
      </p:sp>
      <p:pic>
        <p:nvPicPr>
          <p:cNvPr id="18" name="Image 0" descr="preencoded.png">    </p:cNvPr>
          <p:cNvPicPr>
            <a:picLocks noChangeAspect="1"/>
          </p:cNvPicPr>
          <p:nvPr/>
        </p:nvPicPr>
        <p:blipFill>
          <a:blip r:embed="rId1"/>
          <a:stretch>
            <a:fillRect/>
          </a:stretch>
        </p:blipFill>
        <p:spPr>
          <a:xfrm>
            <a:off x="7543800" y="5102352"/>
            <a:ext cx="219456" cy="219456"/>
          </a:xfrm>
          <a:prstGeom prst="rect">
            <a:avLst/>
          </a:prstGeom>
        </p:spPr>
      </p:pic>
      <p:sp>
        <p:nvSpPr>
          <p:cNvPr id="19" name="Text 16"/>
          <p:cNvSpPr txBox="1"/>
          <p:nvPr/>
        </p:nvSpPr>
        <p:spPr>
          <a:xfrm>
            <a:off x="8001000" y="5001768"/>
            <a:ext cx="3474720" cy="274320"/>
          </a:xfrm>
          <a:prstGeom prst="rect">
            <a:avLst/>
          </a:prstGeom>
          <a:noFill/>
          <a:ln/>
        </p:spPr>
        <p:txBody>
          <a:bodyPr wrap="square" lIns="0" tIns="0" rIns="0" bIns="0" rtlCol="0" anchor="ctr"/>
          <a:lstStyle/>
          <a:p>
            <a:pPr indent="0" marL="0">
              <a:buNone/>
            </a:pPr>
            <a:r>
              <a:rPr lang="en-US" sz="1300" b="1" dirty="0">
                <a:solidFill>
                  <a:srgbClr val="61DAFB"/>
                </a:solidFill>
                <a:latin typeface="Calibri" pitchFamily="34" charset="0"/>
                <a:ea typeface="Calibri" pitchFamily="34" charset="-122"/>
                <a:cs typeface="Calibri" pitchFamily="34" charset="-120"/>
              </a:rPr>
              <a:t>Fungsi pembersih</a:t>
            </a:r>
            <a:endParaRPr lang="en-US" sz="1300" dirty="0"/>
          </a:p>
        </p:txBody>
      </p:sp>
      <p:sp>
        <p:nvSpPr>
          <p:cNvPr id="20" name="Text 17"/>
          <p:cNvSpPr txBox="1"/>
          <p:nvPr/>
        </p:nvSpPr>
        <p:spPr>
          <a:xfrm>
            <a:off x="7424928" y="5440680"/>
            <a:ext cx="4023360" cy="457200"/>
          </a:xfrm>
          <a:prstGeom prst="rect">
            <a:avLst/>
          </a:prstGeom>
          <a:noFill/>
          <a:ln/>
        </p:spPr>
        <p:txBody>
          <a:bodyPr wrap="square" lIns="0" tIns="0" rIns="0" bIns="0" rtlCol="0" anchor="t"/>
          <a:lstStyle/>
          <a:p>
            <a:pPr indent="0" marL="0">
              <a:lnSpc>
                <a:spcPct val="110000"/>
              </a:lnSpc>
              <a:buNone/>
            </a:pPr>
            <a:r>
              <a:rPr lang="en-US" sz="1050" dirty="0">
                <a:solidFill>
                  <a:srgbClr val="AEB9C6"/>
                </a:solidFill>
                <a:latin typeface="Calibri" pitchFamily="34" charset="0"/>
                <a:ea typeface="Calibri" pitchFamily="34" charset="-122"/>
                <a:cs typeface="Calibri" pitchFamily="34" charset="-120"/>
              </a:rPr>
              <a:t>Kembalikan sebuah fungsi untuk menghentikan timer, membatalkan permintaan jaringan, atau melepas event listener.</a:t>
            </a:r>
            <a:endParaRPr lang="en-US" sz="1050" dirty="0"/>
          </a:p>
        </p:txBody>
      </p:sp>
      <p:pic>
        <p:nvPicPr>
          <p:cNvPr id="22"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23" name="Text 18"/>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4" name="Text 19"/>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useContext: Berbagi Data Antar Komponen</a:t>
            </a:r>
            <a:endParaRPr lang="en-US" sz="3200" dirty="0"/>
          </a:p>
        </p:txBody>
      </p:sp>
      <p:sp>
        <p:nvSpPr>
          <p:cNvPr id="4" name="Shape 2"/>
          <p:cNvSpPr/>
          <p:nvPr/>
        </p:nvSpPr>
        <p:spPr>
          <a:xfrm>
            <a:off x="548640" y="1481328"/>
            <a:ext cx="6446520" cy="3717950"/>
          </a:xfrm>
          <a:prstGeom prst="roundRect">
            <a:avLst>
              <a:gd name="adj" fmla="val 2459"/>
            </a:avLst>
          </a:prstGeom>
          <a:solidFill>
            <a:srgbClr val="1B1F27"/>
          </a:solidFill>
          <a:ln w="12700">
            <a:solidFill>
              <a:srgbClr val="323945"/>
            </a:solidFill>
            <a:prstDash val="solid"/>
          </a:ln>
        </p:spPr>
      </p:sp>
      <p:sp>
        <p:nvSpPr>
          <p:cNvPr id="5" name="Text 3"/>
          <p:cNvSpPr txBox="1"/>
          <p:nvPr/>
        </p:nvSpPr>
        <p:spPr>
          <a:xfrm>
            <a:off x="694944" y="1609344"/>
            <a:ext cx="6153912" cy="3461918"/>
          </a:xfrm>
          <a:prstGeom prst="rect">
            <a:avLst/>
          </a:prstGeom>
          <a:noFill/>
          <a:ln/>
        </p:spPr>
        <p:txBody>
          <a:bodyPr wrap="square" lIns="0" tIns="0" rIns="0" bIns="0" rtlCol="0" anchor="t"/>
          <a:lstStyle/>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1. Membuat context</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TemaContext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createContext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'terang'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2. Membungkus pohon komponen dengan Provider</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App</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setTema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'gelap'</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&lt;TemaContext.Provider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&lt;Halaman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&lt;/TemaContext.Provider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3. Mengambil nilai di komponen mana pun</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Tombol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useContext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TemaContext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tema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Simpan</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6" name="Shape 4"/>
          <p:cNvSpPr/>
          <p:nvPr/>
        </p:nvSpPr>
        <p:spPr>
          <a:xfrm>
            <a:off x="7223760" y="1481328"/>
            <a:ext cx="4416552" cy="1874520"/>
          </a:xfrm>
          <a:prstGeom prst="roundRect">
            <a:avLst>
              <a:gd name="adj" fmla="val 585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Text 5"/>
          <p:cNvSpPr txBox="1"/>
          <p:nvPr/>
        </p:nvSpPr>
        <p:spPr>
          <a:xfrm>
            <a:off x="7452360" y="1645920"/>
            <a:ext cx="397764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Masalah prop drilling</a:t>
            </a:r>
            <a:endParaRPr lang="en-US" sz="1500" dirty="0"/>
          </a:p>
        </p:txBody>
      </p:sp>
      <p:sp>
        <p:nvSpPr>
          <p:cNvPr id="8" name="Text 6"/>
          <p:cNvSpPr txBox="1"/>
          <p:nvPr/>
        </p:nvSpPr>
        <p:spPr>
          <a:xfrm>
            <a:off x="7452360" y="1975104"/>
            <a:ext cx="3977640" cy="1234440"/>
          </a:xfrm>
          <a:prstGeom prst="rect">
            <a:avLst/>
          </a:prstGeom>
          <a:noFill/>
          <a:ln/>
        </p:spPr>
        <p:txBody>
          <a:bodyPr wrap="square" lIns="0" tIns="0" rIns="0" bIns="0" rtlCol="0" anchor="t"/>
          <a:lstStyle/>
          <a:p>
            <a:pPr indent="0" marL="0">
              <a:lnSpc>
                <a:spcPct val="115000"/>
              </a:lnSpc>
              <a:buNone/>
            </a:pPr>
            <a:r>
              <a:rPr lang="en-US" sz="1150" dirty="0">
                <a:solidFill>
                  <a:srgbClr val="5C6672"/>
                </a:solidFill>
                <a:latin typeface="Calibri" pitchFamily="34" charset="0"/>
                <a:ea typeface="Calibri" pitchFamily="34" charset="-122"/>
                <a:cs typeface="Calibri" pitchFamily="34" charset="-120"/>
              </a:rPr>
              <a:t>Tanpa context, data harus dioper melewati setiap komponen perantara meski komponen tersebut tidak membutuhkannya. Kode menjadi panjang dan sulit dirawat.</a:t>
            </a:r>
            <a:endParaRPr lang="en-US" sz="1150" dirty="0"/>
          </a:p>
        </p:txBody>
      </p:sp>
      <p:sp>
        <p:nvSpPr>
          <p:cNvPr id="9" name="Shape 7"/>
          <p:cNvSpPr/>
          <p:nvPr/>
        </p:nvSpPr>
        <p:spPr>
          <a:xfrm>
            <a:off x="7223760" y="3566160"/>
            <a:ext cx="4416552" cy="640080"/>
          </a:xfrm>
          <a:prstGeom prst="roundRect">
            <a:avLst>
              <a:gd name="adj" fmla="val 17143"/>
            </a:avLst>
          </a:prstGeom>
          <a:solidFill>
            <a:srgbClr val="E4EDF3"/>
          </a:solidFill>
          <a:ln w="12700">
            <a:solidFill>
              <a:srgbClr val="E4EDF3"/>
            </a:solidFill>
            <a:prstDash val="solid"/>
          </a:ln>
        </p:spPr>
      </p:sp>
      <p:sp>
        <p:nvSpPr>
          <p:cNvPr id="10" name="Text 8"/>
          <p:cNvSpPr txBox="1"/>
          <p:nvPr/>
        </p:nvSpPr>
        <p:spPr>
          <a:xfrm>
            <a:off x="7424928" y="3566160"/>
            <a:ext cx="1097280" cy="640080"/>
          </a:xfrm>
          <a:prstGeom prst="rect">
            <a:avLst/>
          </a:prstGeom>
          <a:noFill/>
          <a:ln/>
        </p:spPr>
        <p:txBody>
          <a:bodyPr wrap="square" lIns="0" tIns="0" rIns="0" bIns="0" rtlCol="0" anchor="ctr"/>
          <a:lstStyle/>
          <a:p>
            <a:pPr indent="0" marL="0">
              <a:buNone/>
            </a:pPr>
            <a:r>
              <a:rPr lang="en-US" sz="1200" b="1" dirty="0">
                <a:solidFill>
                  <a:srgbClr val="1B2029"/>
                </a:solidFill>
                <a:latin typeface="Courier New" pitchFamily="34" charset="0"/>
                <a:ea typeface="Courier New" pitchFamily="34" charset="-122"/>
                <a:cs typeface="Courier New" pitchFamily="34" charset="-120"/>
              </a:rPr>
              <a:t>App</a:t>
            </a:r>
            <a:endParaRPr lang="en-US" sz="1200" dirty="0"/>
          </a:p>
        </p:txBody>
      </p:sp>
      <p:sp>
        <p:nvSpPr>
          <p:cNvPr id="11" name="Text 9"/>
          <p:cNvSpPr txBox="1"/>
          <p:nvPr/>
        </p:nvSpPr>
        <p:spPr>
          <a:xfrm>
            <a:off x="8458200" y="3566160"/>
            <a:ext cx="2926080" cy="640080"/>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Menyediakan nilai lewat Provider</a:t>
            </a:r>
            <a:endParaRPr lang="en-US" sz="1050" dirty="0"/>
          </a:p>
        </p:txBody>
      </p:sp>
      <p:sp>
        <p:nvSpPr>
          <p:cNvPr id="12" name="Shape 10"/>
          <p:cNvSpPr/>
          <p:nvPr/>
        </p:nvSpPr>
        <p:spPr>
          <a:xfrm>
            <a:off x="9052560" y="4224528"/>
            <a:ext cx="182880" cy="164592"/>
          </a:xfrm>
          <a:prstGeom prst="downArrow">
            <a:avLst/>
          </a:prstGeom>
          <a:solidFill>
            <a:srgbClr val="1E90AF"/>
          </a:solidFill>
          <a:ln w="12700">
            <a:solidFill>
              <a:srgbClr val="1E90AF"/>
            </a:solidFill>
            <a:prstDash val="solid"/>
          </a:ln>
        </p:spPr>
      </p:sp>
      <p:sp>
        <p:nvSpPr>
          <p:cNvPr id="13" name="Shape 11"/>
          <p:cNvSpPr/>
          <p:nvPr/>
        </p:nvSpPr>
        <p:spPr>
          <a:xfrm>
            <a:off x="7479792" y="4407408"/>
            <a:ext cx="4160520" cy="640080"/>
          </a:xfrm>
          <a:prstGeom prst="roundRect">
            <a:avLst>
              <a:gd name="adj" fmla="val 17143"/>
            </a:avLst>
          </a:prstGeom>
          <a:solidFill>
            <a:srgbClr val="E4EDF3"/>
          </a:solidFill>
          <a:ln w="12700">
            <a:solidFill>
              <a:srgbClr val="E4EDF3"/>
            </a:solidFill>
            <a:prstDash val="solid"/>
          </a:ln>
        </p:spPr>
      </p:sp>
      <p:sp>
        <p:nvSpPr>
          <p:cNvPr id="14" name="Text 12"/>
          <p:cNvSpPr txBox="1"/>
          <p:nvPr/>
        </p:nvSpPr>
        <p:spPr>
          <a:xfrm>
            <a:off x="7680960" y="4407408"/>
            <a:ext cx="1097280" cy="640080"/>
          </a:xfrm>
          <a:prstGeom prst="rect">
            <a:avLst/>
          </a:prstGeom>
          <a:noFill/>
          <a:ln/>
        </p:spPr>
        <p:txBody>
          <a:bodyPr wrap="square" lIns="0" tIns="0" rIns="0" bIns="0" rtlCol="0" anchor="ctr"/>
          <a:lstStyle/>
          <a:p>
            <a:pPr indent="0" marL="0">
              <a:buNone/>
            </a:pPr>
            <a:r>
              <a:rPr lang="en-US" sz="1200" b="1" dirty="0">
                <a:solidFill>
                  <a:srgbClr val="1B2029"/>
                </a:solidFill>
                <a:latin typeface="Courier New" pitchFamily="34" charset="0"/>
                <a:ea typeface="Courier New" pitchFamily="34" charset="-122"/>
                <a:cs typeface="Courier New" pitchFamily="34" charset="-120"/>
              </a:rPr>
              <a:t>Layout</a:t>
            </a:r>
            <a:endParaRPr lang="en-US" sz="1200" dirty="0"/>
          </a:p>
        </p:txBody>
      </p:sp>
      <p:sp>
        <p:nvSpPr>
          <p:cNvPr id="15" name="Text 13"/>
          <p:cNvSpPr txBox="1"/>
          <p:nvPr/>
        </p:nvSpPr>
        <p:spPr>
          <a:xfrm>
            <a:off x="8714232" y="4407408"/>
            <a:ext cx="2670048" cy="640080"/>
          </a:xfrm>
          <a:prstGeom prst="rect">
            <a:avLst/>
          </a:prstGeom>
          <a:noFill/>
          <a:ln/>
        </p:spPr>
        <p:txBody>
          <a:bodyPr wrap="square" lIns="0" tIns="0" rIns="0" bIns="0" rtlCol="0" anchor="ctr"/>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Tidak perlu meneruskan props</a:t>
            </a:r>
            <a:endParaRPr lang="en-US" sz="1050" dirty="0"/>
          </a:p>
        </p:txBody>
      </p:sp>
      <p:sp>
        <p:nvSpPr>
          <p:cNvPr id="16" name="Shape 14"/>
          <p:cNvSpPr/>
          <p:nvPr/>
        </p:nvSpPr>
        <p:spPr>
          <a:xfrm>
            <a:off x="9052560" y="5065776"/>
            <a:ext cx="182880" cy="164592"/>
          </a:xfrm>
          <a:prstGeom prst="downArrow">
            <a:avLst/>
          </a:prstGeom>
          <a:solidFill>
            <a:srgbClr val="1E90AF"/>
          </a:solidFill>
          <a:ln w="12700">
            <a:solidFill>
              <a:srgbClr val="1E90AF"/>
            </a:solidFill>
            <a:prstDash val="solid"/>
          </a:ln>
        </p:spPr>
      </p:sp>
      <p:sp>
        <p:nvSpPr>
          <p:cNvPr id="17" name="Shape 15"/>
          <p:cNvSpPr/>
          <p:nvPr/>
        </p:nvSpPr>
        <p:spPr>
          <a:xfrm>
            <a:off x="7735824" y="5248656"/>
            <a:ext cx="3904488" cy="640080"/>
          </a:xfrm>
          <a:prstGeom prst="roundRect">
            <a:avLst>
              <a:gd name="adj" fmla="val 17143"/>
            </a:avLst>
          </a:prstGeom>
          <a:solidFill>
            <a:srgbClr val="20232A"/>
          </a:solidFill>
          <a:ln w="12700">
            <a:solidFill>
              <a:srgbClr val="20232A"/>
            </a:solidFill>
            <a:prstDash val="solid"/>
          </a:ln>
        </p:spPr>
      </p:sp>
      <p:sp>
        <p:nvSpPr>
          <p:cNvPr id="18" name="Text 16"/>
          <p:cNvSpPr txBox="1"/>
          <p:nvPr/>
        </p:nvSpPr>
        <p:spPr>
          <a:xfrm>
            <a:off x="7936992" y="5248656"/>
            <a:ext cx="1097280" cy="640080"/>
          </a:xfrm>
          <a:prstGeom prst="rect">
            <a:avLst/>
          </a:prstGeom>
          <a:noFill/>
          <a:ln/>
        </p:spPr>
        <p:txBody>
          <a:bodyPr wrap="square" lIns="0" tIns="0" rIns="0" bIns="0" rtlCol="0" anchor="ctr"/>
          <a:lstStyle/>
          <a:p>
            <a:pPr indent="0" marL="0">
              <a:buNone/>
            </a:pPr>
            <a:r>
              <a:rPr lang="en-US" sz="1200" b="1" dirty="0">
                <a:solidFill>
                  <a:srgbClr val="61DAFB"/>
                </a:solidFill>
                <a:latin typeface="Courier New" pitchFamily="34" charset="0"/>
                <a:ea typeface="Courier New" pitchFamily="34" charset="-122"/>
                <a:cs typeface="Courier New" pitchFamily="34" charset="-120"/>
              </a:rPr>
              <a:t>Tombol</a:t>
            </a:r>
            <a:endParaRPr lang="en-US" sz="1200" dirty="0"/>
          </a:p>
        </p:txBody>
      </p:sp>
      <p:sp>
        <p:nvSpPr>
          <p:cNvPr id="19" name="Text 17"/>
          <p:cNvSpPr txBox="1"/>
          <p:nvPr/>
        </p:nvSpPr>
        <p:spPr>
          <a:xfrm>
            <a:off x="8970264" y="5248656"/>
            <a:ext cx="2414016" cy="640080"/>
          </a:xfrm>
          <a:prstGeom prst="rect">
            <a:avLst/>
          </a:prstGeom>
          <a:noFill/>
          <a:ln/>
        </p:spPr>
        <p:txBody>
          <a:bodyPr wrap="square" lIns="0" tIns="0" rIns="0" bIns="0" rtlCol="0" anchor="ctr"/>
          <a:lstStyle/>
          <a:p>
            <a:pPr indent="0" marL="0">
              <a:lnSpc>
                <a:spcPct val="105000"/>
              </a:lnSpc>
              <a:buNone/>
            </a:pPr>
            <a:r>
              <a:rPr lang="en-US" sz="1050" dirty="0">
                <a:solidFill>
                  <a:srgbClr val="AEB9C6"/>
                </a:solidFill>
                <a:latin typeface="Calibri" pitchFamily="34" charset="0"/>
                <a:ea typeface="Calibri" pitchFamily="34" charset="-122"/>
                <a:cs typeface="Calibri" pitchFamily="34" charset="-120"/>
              </a:rPr>
              <a:t>Langsung memakai useContext</a:t>
            </a:r>
            <a:endParaRPr lang="en-US" sz="1050" dirty="0"/>
          </a:p>
        </p:txBody>
      </p:sp>
      <p:sp>
        <p:nvSpPr>
          <p:cNvPr id="20" name="Text 18"/>
          <p:cNvSpPr txBox="1"/>
          <p:nvPr/>
        </p:nvSpPr>
        <p:spPr>
          <a:xfrm>
            <a:off x="7223760" y="5943600"/>
            <a:ext cx="4416552" cy="320040"/>
          </a:xfrm>
          <a:prstGeom prst="rect">
            <a:avLst/>
          </a:prstGeom>
          <a:noFill/>
          <a:ln/>
        </p:spPr>
        <p:txBody>
          <a:bodyPr wrap="square" lIns="0" tIns="0" rIns="0" bIns="0" rtlCol="0" anchor="ctr"/>
          <a:lstStyle/>
          <a:p>
            <a:pPr indent="0" marL="0">
              <a:buNone/>
            </a:pPr>
            <a:r>
              <a:rPr lang="en-US" sz="1050" i="1" dirty="0">
                <a:solidFill>
                  <a:srgbClr val="5C6672"/>
                </a:solidFill>
                <a:latin typeface="Calibri" pitchFamily="34" charset="0"/>
                <a:ea typeface="Calibri" pitchFamily="34" charset="-122"/>
                <a:cs typeface="Calibri" pitchFamily="34" charset="-120"/>
              </a:rPr>
              <a:t>Cocok untuk data global ringan: tema, bahasa, atau sesi pengguna.</a:t>
            </a:r>
            <a:endParaRPr lang="en-US" sz="1050" dirty="0"/>
          </a:p>
        </p:txBody>
      </p:sp>
      <p:pic>
        <p:nvPicPr>
          <p:cNvPr id="22"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3" name="Text 19"/>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4" name="Text 20"/>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useRef &amp; useReducer</a:t>
            </a:r>
            <a:endParaRPr lang="en-US" sz="3200" dirty="0"/>
          </a:p>
        </p:txBody>
      </p:sp>
      <p:sp>
        <p:nvSpPr>
          <p:cNvPr id="4" name="Text 2"/>
          <p:cNvSpPr txBox="1"/>
          <p:nvPr/>
        </p:nvSpPr>
        <p:spPr>
          <a:xfrm>
            <a:off x="548640" y="1444752"/>
            <a:ext cx="5440680" cy="292608"/>
          </a:xfrm>
          <a:prstGeom prst="rect">
            <a:avLst/>
          </a:prstGeom>
          <a:noFill/>
          <a:ln/>
        </p:spPr>
        <p:txBody>
          <a:bodyPr wrap="square" lIns="0" tIns="0" rIns="0" bIns="0" rtlCol="0" anchor="ctr"/>
          <a:lstStyle/>
          <a:p>
            <a:pPr indent="0" marL="0">
              <a:buNone/>
            </a:pPr>
            <a:r>
              <a:rPr lang="en-US" sz="1450" b="1" dirty="0">
                <a:solidFill>
                  <a:srgbClr val="1E90AF"/>
                </a:solidFill>
                <a:latin typeface="Calibri" pitchFamily="34" charset="0"/>
                <a:ea typeface="Calibri" pitchFamily="34" charset="-122"/>
                <a:cs typeface="Calibri" pitchFamily="34" charset="-120"/>
              </a:rPr>
              <a:t>useRef — menyimpan nilai tanpa render ulang</a:t>
            </a:r>
            <a:endParaRPr lang="en-US" sz="1450" dirty="0"/>
          </a:p>
        </p:txBody>
      </p:sp>
      <p:sp>
        <p:nvSpPr>
          <p:cNvPr id="5" name="Shape 3"/>
          <p:cNvSpPr/>
          <p:nvPr/>
        </p:nvSpPr>
        <p:spPr>
          <a:xfrm>
            <a:off x="548640" y="1792224"/>
            <a:ext cx="5440680" cy="1940357"/>
          </a:xfrm>
          <a:prstGeom prst="roundRect">
            <a:avLst>
              <a:gd name="adj" fmla="val 4713"/>
            </a:avLst>
          </a:prstGeom>
          <a:solidFill>
            <a:srgbClr val="1B1F27"/>
          </a:solidFill>
          <a:ln w="12700">
            <a:solidFill>
              <a:srgbClr val="323945"/>
            </a:solidFill>
            <a:prstDash val="solid"/>
          </a:ln>
        </p:spPr>
      </p:sp>
      <p:sp>
        <p:nvSpPr>
          <p:cNvPr id="6" name="Text 4"/>
          <p:cNvSpPr txBox="1"/>
          <p:nvPr/>
        </p:nvSpPr>
        <p:spPr>
          <a:xfrm>
            <a:off x="694944" y="1920240"/>
            <a:ext cx="5148072" cy="1684325"/>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FormFokus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inputRef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useRef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null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useEffect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inputRef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current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focus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inputRef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594360" y="3977640"/>
            <a:ext cx="5349240" cy="19202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Mengakses elemen DOM secara langsung, misalnya fokus input atau memutar video.</a:t>
            </a:r>
            <a:endParaRPr lang="en-US" sz="1150" dirty="0"/>
          </a:p>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Menyimpan nilai antar render (ID timer, nilai sebelumnya) tanpa memicu render ulang.</a:t>
            </a:r>
            <a:endParaRPr lang="en-US" sz="1150" dirty="0"/>
          </a:p>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Perubahan pada ref.current tidak akan memperbarui tampilan.</a:t>
            </a:r>
            <a:endParaRPr lang="en-US" sz="1150" dirty="0"/>
          </a:p>
        </p:txBody>
      </p:sp>
      <p:sp>
        <p:nvSpPr>
          <p:cNvPr id="8" name="Text 6"/>
          <p:cNvSpPr txBox="1"/>
          <p:nvPr/>
        </p:nvSpPr>
        <p:spPr>
          <a:xfrm>
            <a:off x="6199632" y="1444752"/>
            <a:ext cx="5440680" cy="292608"/>
          </a:xfrm>
          <a:prstGeom prst="rect">
            <a:avLst/>
          </a:prstGeom>
          <a:noFill/>
          <a:ln/>
        </p:spPr>
        <p:txBody>
          <a:bodyPr wrap="square" lIns="0" tIns="0" rIns="0" bIns="0" rtlCol="0" anchor="ctr"/>
          <a:lstStyle/>
          <a:p>
            <a:pPr indent="0" marL="0">
              <a:buNone/>
            </a:pPr>
            <a:r>
              <a:rPr lang="en-US" sz="1450" b="1" dirty="0">
                <a:solidFill>
                  <a:srgbClr val="1E90AF"/>
                </a:solidFill>
                <a:latin typeface="Calibri" pitchFamily="34" charset="0"/>
                <a:ea typeface="Calibri" pitchFamily="34" charset="-122"/>
                <a:cs typeface="Calibri" pitchFamily="34" charset="-120"/>
              </a:rPr>
              <a:t>useReducer — state kompleks yang terstruktur</a:t>
            </a:r>
            <a:endParaRPr lang="en-US" sz="1450" dirty="0"/>
          </a:p>
        </p:txBody>
      </p:sp>
      <p:sp>
        <p:nvSpPr>
          <p:cNvPr id="9" name="Shape 7"/>
          <p:cNvSpPr/>
          <p:nvPr/>
        </p:nvSpPr>
        <p:spPr>
          <a:xfrm>
            <a:off x="6199632" y="1792224"/>
            <a:ext cx="5440680" cy="1940357"/>
          </a:xfrm>
          <a:prstGeom prst="roundRect">
            <a:avLst>
              <a:gd name="adj" fmla="val 4713"/>
            </a:avLst>
          </a:prstGeom>
          <a:solidFill>
            <a:srgbClr val="1B1F27"/>
          </a:solidFill>
          <a:ln w="12700">
            <a:solidFill>
              <a:srgbClr val="323945"/>
            </a:solidFill>
            <a:prstDash val="solid"/>
          </a:ln>
        </p:spPr>
      </p:sp>
      <p:sp>
        <p:nvSpPr>
          <p:cNvPr id="10" name="Text 8"/>
          <p:cNvSpPr txBox="1"/>
          <p:nvPr/>
        </p:nvSpPr>
        <p:spPr>
          <a:xfrm>
            <a:off x="6345936" y="1920240"/>
            <a:ext cx="5148072" cy="1684325"/>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reducer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switch</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type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case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'tambah'</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case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'kurang'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1</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default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dispatch</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useReducer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reducer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0</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11" name="Text 9"/>
          <p:cNvSpPr txBox="1"/>
          <p:nvPr/>
        </p:nvSpPr>
        <p:spPr>
          <a:xfrm>
            <a:off x="6245352" y="3977640"/>
            <a:ext cx="5349240" cy="19202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Dipakai saat satu state memiliki banyak kemungkinan perubahan.</a:t>
            </a:r>
            <a:endParaRPr lang="en-US" sz="1150" dirty="0"/>
          </a:p>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Semua logika perubahan terkumpul di satu fungsi reducer sehingga mudah diuji.</a:t>
            </a:r>
            <a:endParaRPr lang="en-US" sz="1150" dirty="0"/>
          </a:p>
          <a:p>
            <a:pPr marL="342900" indent="-342900">
              <a:lnSpc>
                <a:spcPct val="105000"/>
              </a:lnSpc>
              <a:spcAft>
                <a:spcPts val="800"/>
              </a:spcAft>
              <a:buSzPct val="100000"/>
              <a:buChar char="▪"/>
            </a:pPr>
            <a:r>
              <a:rPr lang="en-US" sz="1150" dirty="0">
                <a:solidFill>
                  <a:srgbClr val="1B2029"/>
                </a:solidFill>
                <a:latin typeface="Calibri" pitchFamily="34" charset="0"/>
                <a:ea typeface="Calibri" pitchFamily="34" charset="-122"/>
                <a:cs typeface="Calibri" pitchFamily="34" charset="-120"/>
              </a:rPr>
              <a:t>Perbarui state dengan mengirim action melalui dispatch, bukan set langsung.</a:t>
            </a:r>
            <a:endParaRPr lang="en-US" sz="1150" dirty="0"/>
          </a:p>
        </p:txBody>
      </p:sp>
      <p:sp>
        <p:nvSpPr>
          <p:cNvPr id="12" name="Shape 10"/>
          <p:cNvSpPr/>
          <p:nvPr/>
        </p:nvSpPr>
        <p:spPr>
          <a:xfrm>
            <a:off x="548640" y="5321808"/>
            <a:ext cx="11091672" cy="914400"/>
          </a:xfrm>
          <a:prstGeom prst="roundRect">
            <a:avLst>
              <a:gd name="adj" fmla="val 12000"/>
            </a:avLst>
          </a:prstGeom>
          <a:solidFill>
            <a:srgbClr val="20232A"/>
          </a:solidFill>
          <a:ln w="12700">
            <a:solidFill>
              <a:srgbClr val="20232A"/>
            </a:solidFill>
            <a:prstDash val="solid"/>
          </a:ln>
        </p:spPr>
      </p:sp>
      <p:sp>
        <p:nvSpPr>
          <p:cNvPr id="13" name="Shape 11"/>
          <p:cNvSpPr/>
          <p:nvPr/>
        </p:nvSpPr>
        <p:spPr>
          <a:xfrm>
            <a:off x="804672" y="5486400"/>
            <a:ext cx="548640" cy="548640"/>
          </a:xfrm>
          <a:prstGeom prst="ellipse">
            <a:avLst/>
          </a:prstGeom>
          <a:solidFill>
            <a:srgbClr val="2F3844"/>
          </a:solidFill>
          <a:ln w="12700">
            <a:solidFill>
              <a:srgbClr val="2F3844"/>
            </a:solidFill>
            <a:prstDash val="solid"/>
          </a:ln>
        </p:spPr>
      </p:sp>
      <p:pic>
        <p:nvPicPr>
          <p:cNvPr id="14" name="Image 0" descr="preencoded.png">    </p:cNvPr>
          <p:cNvPicPr>
            <a:picLocks noChangeAspect="1"/>
          </p:cNvPicPr>
          <p:nvPr/>
        </p:nvPicPr>
        <p:blipFill>
          <a:blip r:embed="rId1"/>
          <a:stretch>
            <a:fillRect/>
          </a:stretch>
        </p:blipFill>
        <p:spPr>
          <a:xfrm>
            <a:off x="947318" y="5629046"/>
            <a:ext cx="263347" cy="263347"/>
          </a:xfrm>
          <a:prstGeom prst="rect">
            <a:avLst/>
          </a:prstGeom>
        </p:spPr>
      </p:pic>
      <p:sp>
        <p:nvSpPr>
          <p:cNvPr id="15" name="Text 12"/>
          <p:cNvSpPr txBox="1"/>
          <p:nvPr/>
        </p:nvSpPr>
        <p:spPr>
          <a:xfrm>
            <a:off x="1508760" y="5440680"/>
            <a:ext cx="3840480" cy="274320"/>
          </a:xfrm>
          <a:prstGeom prst="rect">
            <a:avLst/>
          </a:prstGeom>
          <a:noFill/>
          <a:ln/>
        </p:spPr>
        <p:txBody>
          <a:bodyPr wrap="square" lIns="0" tIns="0" rIns="0" bIns="0" rtlCol="0" anchor="ctr"/>
          <a:lstStyle/>
          <a:p>
            <a:pPr indent="0" marL="0">
              <a:buNone/>
            </a:pPr>
            <a:r>
              <a:rPr lang="en-US" sz="1350" b="1" dirty="0">
                <a:solidFill>
                  <a:srgbClr val="61DAFB"/>
                </a:solidFill>
                <a:latin typeface="Calibri" pitchFamily="34" charset="0"/>
                <a:ea typeface="Calibri" pitchFamily="34" charset="-122"/>
                <a:cs typeface="Calibri" pitchFamily="34" charset="-120"/>
              </a:rPr>
              <a:t>Kapan memakai yang mana?</a:t>
            </a:r>
            <a:endParaRPr lang="en-US" sz="1350" dirty="0"/>
          </a:p>
        </p:txBody>
      </p:sp>
      <p:sp>
        <p:nvSpPr>
          <p:cNvPr id="16" name="Text 13"/>
          <p:cNvSpPr txBox="1"/>
          <p:nvPr/>
        </p:nvSpPr>
        <p:spPr>
          <a:xfrm>
            <a:off x="1508760" y="5705856"/>
            <a:ext cx="9875520" cy="457200"/>
          </a:xfrm>
          <a:prstGeom prst="rect">
            <a:avLst/>
          </a:prstGeom>
          <a:noFill/>
          <a:ln/>
        </p:spPr>
        <p:txBody>
          <a:bodyPr wrap="square" lIns="0" tIns="0" rIns="0" bIns="0" rtlCol="0" anchor="t"/>
          <a:lstStyle/>
          <a:p>
            <a:pPr indent="0" marL="0">
              <a:lnSpc>
                <a:spcPct val="110000"/>
              </a:lnSpc>
              <a:buNone/>
            </a:pPr>
            <a:r>
              <a:rPr lang="en-US" sz="1100" dirty="0">
                <a:solidFill>
                  <a:srgbClr val="AEB9C6"/>
                </a:solidFill>
                <a:latin typeface="Calibri" pitchFamily="34" charset="0"/>
                <a:ea typeface="Calibri" pitchFamily="34" charset="-122"/>
                <a:cs typeface="Calibri" pitchFamily="34" charset="-120"/>
              </a:rPr>
              <a:t>Gunakan useRef untuk nilai yang tidak perlu ditampilkan, useState untuk data tampilan sederhana, dan useReducer ketika satu data punya banyak aksi perubahan yang saling berkaitan.</a:t>
            </a:r>
            <a:endParaRPr lang="en-US" sz="1100" dirty="0"/>
          </a:p>
        </p:txBody>
      </p:sp>
      <p:pic>
        <p:nvPicPr>
          <p:cNvPr id="18"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19" name="Text 1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0" name="Text 1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useMemo, useCallback &amp; memo</a:t>
            </a:r>
            <a:endParaRPr lang="en-US" sz="3200" dirty="0"/>
          </a:p>
        </p:txBody>
      </p:sp>
      <p:sp>
        <p:nvSpPr>
          <p:cNvPr id="4" name="Text 2"/>
          <p:cNvSpPr txBox="1"/>
          <p:nvPr/>
        </p:nvSpPr>
        <p:spPr>
          <a:xfrm>
            <a:off x="548640" y="1444752"/>
            <a:ext cx="5440680" cy="292608"/>
          </a:xfrm>
          <a:prstGeom prst="rect">
            <a:avLst/>
          </a:prstGeom>
          <a:noFill/>
          <a:ln/>
        </p:spPr>
        <p:txBody>
          <a:bodyPr wrap="square" lIns="0" tIns="0" rIns="0" bIns="0" rtlCol="0" anchor="ctr"/>
          <a:lstStyle/>
          <a:p>
            <a:pPr indent="0" marL="0">
              <a:buNone/>
            </a:pPr>
            <a:r>
              <a:rPr lang="en-US" sz="1450" b="1" dirty="0">
                <a:solidFill>
                  <a:srgbClr val="1E90AF"/>
                </a:solidFill>
                <a:latin typeface="Calibri" pitchFamily="34" charset="0"/>
                <a:ea typeface="Calibri" pitchFamily="34" charset="-122"/>
                <a:cs typeface="Calibri" pitchFamily="34" charset="-120"/>
              </a:rPr>
              <a:t>useMemo — menyimpan hasil perhitungan</a:t>
            </a:r>
            <a:endParaRPr lang="en-US" sz="1450" dirty="0"/>
          </a:p>
        </p:txBody>
      </p:sp>
      <p:sp>
        <p:nvSpPr>
          <p:cNvPr id="5" name="Shape 3"/>
          <p:cNvSpPr/>
          <p:nvPr/>
        </p:nvSpPr>
        <p:spPr>
          <a:xfrm>
            <a:off x="548640" y="1792224"/>
            <a:ext cx="5440680" cy="1397203"/>
          </a:xfrm>
          <a:prstGeom prst="roundRect">
            <a:avLst>
              <a:gd name="adj" fmla="val 6545"/>
            </a:avLst>
          </a:prstGeom>
          <a:solidFill>
            <a:srgbClr val="1B1F27"/>
          </a:solidFill>
          <a:ln w="12700">
            <a:solidFill>
              <a:srgbClr val="323945"/>
            </a:solidFill>
            <a:prstDash val="solid"/>
          </a:ln>
        </p:spPr>
      </p:sp>
      <p:sp>
        <p:nvSpPr>
          <p:cNvPr id="6" name="Text 4"/>
          <p:cNvSpPr txBox="1"/>
          <p:nvPr/>
        </p:nvSpPr>
        <p:spPr>
          <a:xfrm>
            <a:off x="694944" y="1920240"/>
            <a:ext cx="5148072" cy="1141171"/>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totalHarga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useMemo</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keranjang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reduce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jml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jml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item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harga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0</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keranjang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7A8796"/>
                </a:solidFill>
                <a:latin typeface="Courier New" pitchFamily="34" charset="0"/>
                <a:ea typeface="Courier New" pitchFamily="34" charset="-122"/>
                <a:cs typeface="Courier New" pitchFamily="34" charset="-120"/>
              </a:rPr>
              <a:t>// dihitung ulang hanya bila keranjang berubah</a:t>
            </a:r>
            <a:endParaRPr lang="en-US" sz="1100" dirty="0"/>
          </a:p>
        </p:txBody>
      </p:sp>
      <p:sp>
        <p:nvSpPr>
          <p:cNvPr id="7" name="Text 5"/>
          <p:cNvSpPr txBox="1"/>
          <p:nvPr/>
        </p:nvSpPr>
        <p:spPr>
          <a:xfrm>
            <a:off x="6199632" y="1444752"/>
            <a:ext cx="5440680" cy="292608"/>
          </a:xfrm>
          <a:prstGeom prst="rect">
            <a:avLst/>
          </a:prstGeom>
          <a:noFill/>
          <a:ln/>
        </p:spPr>
        <p:txBody>
          <a:bodyPr wrap="square" lIns="0" tIns="0" rIns="0" bIns="0" rtlCol="0" anchor="ctr"/>
          <a:lstStyle/>
          <a:p>
            <a:pPr indent="0" marL="0">
              <a:buNone/>
            </a:pPr>
            <a:r>
              <a:rPr lang="en-US" sz="1450" b="1" dirty="0">
                <a:solidFill>
                  <a:srgbClr val="1E90AF"/>
                </a:solidFill>
                <a:latin typeface="Calibri" pitchFamily="34" charset="0"/>
                <a:ea typeface="Calibri" pitchFamily="34" charset="-122"/>
                <a:cs typeface="Calibri" pitchFamily="34" charset="-120"/>
              </a:rPr>
              <a:t>useCallback — menyimpan referensi fungsi</a:t>
            </a:r>
            <a:endParaRPr lang="en-US" sz="1450" dirty="0"/>
          </a:p>
        </p:txBody>
      </p:sp>
      <p:sp>
        <p:nvSpPr>
          <p:cNvPr id="8" name="Shape 6"/>
          <p:cNvSpPr/>
          <p:nvPr/>
        </p:nvSpPr>
        <p:spPr>
          <a:xfrm>
            <a:off x="6199632" y="1792224"/>
            <a:ext cx="5440680" cy="1397203"/>
          </a:xfrm>
          <a:prstGeom prst="roundRect">
            <a:avLst>
              <a:gd name="adj" fmla="val 6545"/>
            </a:avLst>
          </a:prstGeom>
          <a:solidFill>
            <a:srgbClr val="1B1F27"/>
          </a:solidFill>
          <a:ln w="12700">
            <a:solidFill>
              <a:srgbClr val="323945"/>
            </a:solidFill>
            <a:prstDash val="solid"/>
          </a:ln>
        </p:spPr>
      </p:sp>
      <p:sp>
        <p:nvSpPr>
          <p:cNvPr id="9" name="Text 7"/>
          <p:cNvSpPr txBox="1"/>
          <p:nvPr/>
        </p:nvSpPr>
        <p:spPr>
          <a:xfrm>
            <a:off x="6345936" y="1920240"/>
            <a:ext cx="5148072" cy="1141171"/>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handleHapus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useCallback</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lama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lama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filter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7A8796"/>
                </a:solidFill>
                <a:latin typeface="Courier New" pitchFamily="34" charset="0"/>
                <a:ea typeface="Courier New" pitchFamily="34" charset="-122"/>
                <a:cs typeface="Courier New" pitchFamily="34" charset="-120"/>
              </a:rPr>
              <a:t>// fungsi tidak dibuat ulang tiap render</a:t>
            </a:r>
            <a:endParaRPr lang="en-US" sz="1100" dirty="0"/>
          </a:p>
        </p:txBody>
      </p:sp>
      <p:sp>
        <p:nvSpPr>
          <p:cNvPr id="10" name="Shape 8"/>
          <p:cNvSpPr/>
          <p:nvPr/>
        </p:nvSpPr>
        <p:spPr>
          <a:xfrm>
            <a:off x="548640" y="3383280"/>
            <a:ext cx="5440680" cy="2331720"/>
          </a:xfrm>
          <a:prstGeom prst="roundRect">
            <a:avLst>
              <a:gd name="adj" fmla="val 4706"/>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Shape 9"/>
          <p:cNvSpPr/>
          <p:nvPr/>
        </p:nvSpPr>
        <p:spPr>
          <a:xfrm>
            <a:off x="804672" y="3584448"/>
            <a:ext cx="502920" cy="502920"/>
          </a:xfrm>
          <a:prstGeom prst="ellipse">
            <a:avLst/>
          </a:prstGeom>
          <a:solidFill>
            <a:srgbClr val="1F7A57"/>
          </a:solidFill>
          <a:ln w="12700">
            <a:solidFill>
              <a:srgbClr val="1F7A57"/>
            </a:solidFill>
            <a:prstDash val="solid"/>
          </a:ln>
        </p:spPr>
      </p:sp>
      <p:pic>
        <p:nvPicPr>
          <p:cNvPr id="12" name="Image 0" descr="preencoded.png">    </p:cNvPr>
          <p:cNvPicPr>
            <a:picLocks noChangeAspect="1"/>
          </p:cNvPicPr>
          <p:nvPr/>
        </p:nvPicPr>
        <p:blipFill>
          <a:blip r:embed="rId1"/>
          <a:stretch>
            <a:fillRect/>
          </a:stretch>
        </p:blipFill>
        <p:spPr>
          <a:xfrm>
            <a:off x="935431" y="3715207"/>
            <a:ext cx="241402" cy="241402"/>
          </a:xfrm>
          <a:prstGeom prst="rect">
            <a:avLst/>
          </a:prstGeom>
        </p:spPr>
      </p:pic>
      <p:sp>
        <p:nvSpPr>
          <p:cNvPr id="13" name="Text 10"/>
          <p:cNvSpPr txBox="1"/>
          <p:nvPr/>
        </p:nvSpPr>
        <p:spPr>
          <a:xfrm>
            <a:off x="1463040" y="3602736"/>
            <a:ext cx="420624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Gunakan bila</a:t>
            </a:r>
            <a:endParaRPr lang="en-US" sz="1450" dirty="0"/>
          </a:p>
        </p:txBody>
      </p:sp>
      <p:sp>
        <p:nvSpPr>
          <p:cNvPr id="14" name="Text 11"/>
          <p:cNvSpPr txBox="1"/>
          <p:nvPr/>
        </p:nvSpPr>
        <p:spPr>
          <a:xfrm>
            <a:off x="822960" y="4224528"/>
            <a:ext cx="4937760" cy="13716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50" dirty="0">
                <a:solidFill>
                  <a:srgbClr val="5C6672"/>
                </a:solidFill>
                <a:latin typeface="Calibri" pitchFamily="34" charset="0"/>
                <a:ea typeface="Calibri" pitchFamily="34" charset="-122"/>
                <a:cs typeface="Calibri" pitchFamily="34" charset="-120"/>
              </a:rPr>
              <a:t>Perhitungan benar-benar berat, misalnya menyaring ribuan data.</a:t>
            </a:r>
            <a:endParaRPr lang="en-US" sz="1150" dirty="0"/>
          </a:p>
          <a:p>
            <a:pPr marL="342900" indent="-342900">
              <a:lnSpc>
                <a:spcPct val="105000"/>
              </a:lnSpc>
              <a:spcAft>
                <a:spcPts val="800"/>
              </a:spcAft>
              <a:buSzPct val="100000"/>
              <a:buChar char="▪"/>
            </a:pPr>
            <a:r>
              <a:rPr lang="en-US" sz="1150" dirty="0">
                <a:solidFill>
                  <a:srgbClr val="5C6672"/>
                </a:solidFill>
                <a:latin typeface="Calibri" pitchFamily="34" charset="0"/>
                <a:ea typeface="Calibri" pitchFamily="34" charset="-122"/>
                <a:cs typeface="Calibri" pitchFamily="34" charset="-120"/>
              </a:rPr>
              <a:t>Fungsi atau nilai dikirim sebagai props ke komponen yang dibungkus memo.</a:t>
            </a:r>
            <a:endParaRPr lang="en-US" sz="1150" dirty="0"/>
          </a:p>
          <a:p>
            <a:pPr marL="342900" indent="-342900">
              <a:lnSpc>
                <a:spcPct val="105000"/>
              </a:lnSpc>
              <a:spcAft>
                <a:spcPts val="800"/>
              </a:spcAft>
              <a:buSzPct val="100000"/>
              <a:buChar char="▪"/>
            </a:pPr>
            <a:r>
              <a:rPr lang="en-US" sz="1150" dirty="0">
                <a:solidFill>
                  <a:srgbClr val="5C6672"/>
                </a:solidFill>
                <a:latin typeface="Calibri" pitchFamily="34" charset="0"/>
                <a:ea typeface="Calibri" pitchFamily="34" charset="-122"/>
                <a:cs typeface="Calibri" pitchFamily="34" charset="-120"/>
              </a:rPr>
              <a:t>Masalah performa sudah terbukti lewat React DevTools Profiler.</a:t>
            </a:r>
            <a:endParaRPr lang="en-US" sz="1150" dirty="0"/>
          </a:p>
        </p:txBody>
      </p:sp>
      <p:sp>
        <p:nvSpPr>
          <p:cNvPr id="15" name="Shape 12"/>
          <p:cNvSpPr/>
          <p:nvPr/>
        </p:nvSpPr>
        <p:spPr>
          <a:xfrm>
            <a:off x="6199632" y="3383280"/>
            <a:ext cx="5440680" cy="2331720"/>
          </a:xfrm>
          <a:prstGeom prst="roundRect">
            <a:avLst>
              <a:gd name="adj" fmla="val 4706"/>
            </a:avLst>
          </a:prstGeom>
          <a:solidFill>
            <a:srgbClr val="20232A"/>
          </a:solidFill>
          <a:ln w="12700">
            <a:solidFill>
              <a:srgbClr val="20232A"/>
            </a:solidFill>
            <a:prstDash val="solid"/>
          </a:ln>
        </p:spPr>
      </p:sp>
      <p:sp>
        <p:nvSpPr>
          <p:cNvPr id="16" name="Shape 13"/>
          <p:cNvSpPr/>
          <p:nvPr/>
        </p:nvSpPr>
        <p:spPr>
          <a:xfrm>
            <a:off x="6455664" y="3584448"/>
            <a:ext cx="502920" cy="502920"/>
          </a:xfrm>
          <a:prstGeom prst="ellipse">
            <a:avLst/>
          </a:prstGeom>
          <a:solidFill>
            <a:srgbClr val="5A2A2A"/>
          </a:solidFill>
          <a:ln w="12700">
            <a:solidFill>
              <a:srgbClr val="5A2A2A"/>
            </a:solidFill>
            <a:prstDash val="solid"/>
          </a:ln>
        </p:spPr>
      </p:sp>
      <p:pic>
        <p:nvPicPr>
          <p:cNvPr id="17" name="Image 1" descr="preencoded.png">    </p:cNvPr>
          <p:cNvPicPr>
            <a:picLocks noChangeAspect="1"/>
          </p:cNvPicPr>
          <p:nvPr/>
        </p:nvPicPr>
        <p:blipFill>
          <a:blip r:embed="rId2"/>
          <a:stretch>
            <a:fillRect/>
          </a:stretch>
        </p:blipFill>
        <p:spPr>
          <a:xfrm>
            <a:off x="6586423" y="3715207"/>
            <a:ext cx="241402" cy="241402"/>
          </a:xfrm>
          <a:prstGeom prst="rect">
            <a:avLst/>
          </a:prstGeom>
        </p:spPr>
      </p:pic>
      <p:sp>
        <p:nvSpPr>
          <p:cNvPr id="18" name="Text 14"/>
          <p:cNvSpPr txBox="1"/>
          <p:nvPr/>
        </p:nvSpPr>
        <p:spPr>
          <a:xfrm>
            <a:off x="7114032" y="3602736"/>
            <a:ext cx="420624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Hindari bila</a:t>
            </a:r>
            <a:endParaRPr lang="en-US" sz="1450" dirty="0"/>
          </a:p>
        </p:txBody>
      </p:sp>
      <p:sp>
        <p:nvSpPr>
          <p:cNvPr id="19" name="Text 15"/>
          <p:cNvSpPr txBox="1"/>
          <p:nvPr/>
        </p:nvSpPr>
        <p:spPr>
          <a:xfrm>
            <a:off x="6473952" y="4224528"/>
            <a:ext cx="4937760" cy="137160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50" dirty="0">
                <a:solidFill>
                  <a:srgbClr val="AEB9C6"/>
                </a:solidFill>
                <a:latin typeface="Calibri" pitchFamily="34" charset="0"/>
                <a:ea typeface="Calibri" pitchFamily="34" charset="-122"/>
                <a:cs typeface="Calibri" pitchFamily="34" charset="-120"/>
              </a:rPr>
              <a:t>Dipakai pada setiap variabel tanpa alasan yang jelas.</a:t>
            </a:r>
            <a:endParaRPr lang="en-US" sz="1150" dirty="0"/>
          </a:p>
          <a:p>
            <a:pPr marL="342900" indent="-342900">
              <a:lnSpc>
                <a:spcPct val="105000"/>
              </a:lnSpc>
              <a:spcAft>
                <a:spcPts val="800"/>
              </a:spcAft>
              <a:buSzPct val="100000"/>
              <a:buChar char="▪"/>
            </a:pPr>
            <a:r>
              <a:rPr lang="en-US" sz="1150" dirty="0">
                <a:solidFill>
                  <a:srgbClr val="AEB9C6"/>
                </a:solidFill>
                <a:latin typeface="Calibri" pitchFamily="34" charset="0"/>
                <a:ea typeface="Calibri" pitchFamily="34" charset="-122"/>
                <a:cs typeface="Calibri" pitchFamily="34" charset="-120"/>
              </a:rPr>
              <a:t>Perhitungannya ringan; biaya penyimpanan justru lebih mahal.</a:t>
            </a:r>
            <a:endParaRPr lang="en-US" sz="1150" dirty="0"/>
          </a:p>
          <a:p>
            <a:pPr marL="342900" indent="-342900">
              <a:lnSpc>
                <a:spcPct val="105000"/>
              </a:lnSpc>
              <a:spcAft>
                <a:spcPts val="800"/>
              </a:spcAft>
              <a:buSzPct val="100000"/>
              <a:buChar char="▪"/>
            </a:pPr>
            <a:r>
              <a:rPr lang="en-US" sz="1150" dirty="0">
                <a:solidFill>
                  <a:srgbClr val="AEB9C6"/>
                </a:solidFill>
                <a:latin typeface="Calibri" pitchFamily="34" charset="0"/>
                <a:ea typeface="Calibri" pitchFamily="34" charset="-122"/>
                <a:cs typeface="Calibri" pitchFamily="34" charset="-120"/>
              </a:rPr>
              <a:t>Kode menjadi sulit dibaca hanya demi optimasi yang tidak terasa.</a:t>
            </a:r>
            <a:endParaRPr lang="en-US" sz="1150" dirty="0"/>
          </a:p>
        </p:txBody>
      </p:sp>
      <p:pic>
        <p:nvPicPr>
          <p:cNvPr id="21" name="Image 2" descr="preencoded.png">    </p:cNvPr>
          <p:cNvPicPr>
            <a:picLocks noChangeAspect="1"/>
          </p:cNvPicPr>
          <p:nvPr/>
        </p:nvPicPr>
        <p:blipFill>
          <a:blip r:embed="rId3"/>
          <a:stretch>
            <a:fillRect/>
          </a:stretch>
        </p:blipFill>
        <p:spPr>
          <a:xfrm>
            <a:off x="502920" y="6382512"/>
            <a:ext cx="201168" cy="201168"/>
          </a:xfrm>
          <a:prstGeom prst="rect">
            <a:avLst/>
          </a:prstGeom>
        </p:spPr>
      </p:pic>
      <p:sp>
        <p:nvSpPr>
          <p:cNvPr id="22" name="Text 1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3" name="Text 1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Custom Hooks: Logika yang Dapat Dipakai Ulang</a:t>
            </a:r>
            <a:endParaRPr lang="en-US" sz="3200" dirty="0"/>
          </a:p>
        </p:txBody>
      </p:sp>
      <p:sp>
        <p:nvSpPr>
          <p:cNvPr id="4" name="Shape 2"/>
          <p:cNvSpPr/>
          <p:nvPr/>
        </p:nvSpPr>
        <p:spPr>
          <a:xfrm>
            <a:off x="548640" y="1481328"/>
            <a:ext cx="6720840" cy="3528670"/>
          </a:xfrm>
          <a:prstGeom prst="roundRect">
            <a:avLst>
              <a:gd name="adj" fmla="val 2591"/>
            </a:avLst>
          </a:prstGeom>
          <a:solidFill>
            <a:srgbClr val="1B1F27"/>
          </a:solidFill>
          <a:ln w="12700">
            <a:solidFill>
              <a:srgbClr val="323945"/>
            </a:solidFill>
            <a:prstDash val="solid"/>
          </a:ln>
        </p:spPr>
      </p:sp>
      <p:sp>
        <p:nvSpPr>
          <p:cNvPr id="5" name="Text 3"/>
          <p:cNvSpPr txBox="1"/>
          <p:nvPr/>
        </p:nvSpPr>
        <p:spPr>
          <a:xfrm>
            <a:off x="694944" y="1609344"/>
            <a:ext cx="6428232" cy="3272638"/>
          </a:xfrm>
          <a:prstGeom prst="rect">
            <a:avLst/>
          </a:prstGeom>
          <a:noFill/>
          <a:ln/>
        </p:spPr>
        <p:txBody>
          <a:bodyPr wrap="square" lIns="0" tIns="0" rIns="0" bIns="0" rtlCol="0" anchor="t"/>
          <a:lstStyle/>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hooks/useFetch.js</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export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useFetch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url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setData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null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setLoading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true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setError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null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useEffect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setLoading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true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61DAFB"/>
                </a:solidFill>
                <a:latin typeface="Courier New" pitchFamily="34" charset="0"/>
                <a:ea typeface="Courier New" pitchFamily="34" charset="-122"/>
                <a:cs typeface="Courier New" pitchFamily="34" charset="-120"/>
              </a:rPr>
              <a:t>fetch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url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then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json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then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setData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catch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setError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finally</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setLoading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false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url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6" name="Text 4"/>
          <p:cNvSpPr txBox="1"/>
          <p:nvPr/>
        </p:nvSpPr>
        <p:spPr>
          <a:xfrm>
            <a:off x="7543800" y="1481328"/>
            <a:ext cx="409651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Pemakaian di komponen</a:t>
            </a:r>
            <a:endParaRPr lang="en-US" sz="1400" dirty="0"/>
          </a:p>
        </p:txBody>
      </p:sp>
      <p:sp>
        <p:nvSpPr>
          <p:cNvPr id="7" name="Shape 5"/>
          <p:cNvSpPr/>
          <p:nvPr/>
        </p:nvSpPr>
        <p:spPr>
          <a:xfrm>
            <a:off x="7543800" y="1828800"/>
            <a:ext cx="4096512" cy="1463040"/>
          </a:xfrm>
          <a:prstGeom prst="roundRect">
            <a:avLst>
              <a:gd name="adj" fmla="val 6250"/>
            </a:avLst>
          </a:prstGeom>
          <a:solidFill>
            <a:srgbClr val="1B1F27"/>
          </a:solidFill>
          <a:ln w="12700">
            <a:solidFill>
              <a:srgbClr val="323945"/>
            </a:solidFill>
            <a:prstDash val="solid"/>
          </a:ln>
        </p:spPr>
      </p:sp>
      <p:sp>
        <p:nvSpPr>
          <p:cNvPr id="8" name="Text 6"/>
          <p:cNvSpPr txBox="1"/>
          <p:nvPr/>
        </p:nvSpPr>
        <p:spPr>
          <a:xfrm>
            <a:off x="7690104" y="1956816"/>
            <a:ext cx="3803904" cy="1207008"/>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Produk</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useFetch</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'/api/produk'</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Memuat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&lt;List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items</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7543800" y="3977640"/>
            <a:ext cx="502920" cy="502920"/>
          </a:xfrm>
          <a:prstGeom prst="ellipse">
            <a:avLst/>
          </a:prstGeom>
          <a:solidFill>
            <a:srgbClr val="20232A"/>
          </a:solidFill>
          <a:ln w="12700">
            <a:solidFill>
              <a:srgbClr val="20232A"/>
            </a:solidFill>
            <a:prstDash val="solid"/>
          </a:ln>
        </p:spPr>
      </p:sp>
      <p:pic>
        <p:nvPicPr>
          <p:cNvPr id="10" name="Image 0" descr="preencoded.png">    </p:cNvPr>
          <p:cNvPicPr>
            <a:picLocks noChangeAspect="1"/>
          </p:cNvPicPr>
          <p:nvPr/>
        </p:nvPicPr>
        <p:blipFill>
          <a:blip r:embed="rId1"/>
          <a:stretch>
            <a:fillRect/>
          </a:stretch>
        </p:blipFill>
        <p:spPr>
          <a:xfrm>
            <a:off x="7674559" y="4108399"/>
            <a:ext cx="241402" cy="241402"/>
          </a:xfrm>
          <a:prstGeom prst="rect">
            <a:avLst/>
          </a:prstGeom>
        </p:spPr>
      </p:pic>
      <p:sp>
        <p:nvSpPr>
          <p:cNvPr id="11" name="Text 8"/>
          <p:cNvSpPr txBox="1"/>
          <p:nvPr/>
        </p:nvSpPr>
        <p:spPr>
          <a:xfrm>
            <a:off x="8183880" y="3950208"/>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Nama diawali use</a:t>
            </a:r>
            <a:endParaRPr lang="en-US" sz="1250" dirty="0"/>
          </a:p>
        </p:txBody>
      </p:sp>
      <p:sp>
        <p:nvSpPr>
          <p:cNvPr id="12" name="Text 9"/>
          <p:cNvSpPr txBox="1"/>
          <p:nvPr/>
        </p:nvSpPr>
        <p:spPr>
          <a:xfrm>
            <a:off x="8183880" y="4206240"/>
            <a:ext cx="3474720" cy="402336"/>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Konvensi wajib agar React mengenalinya sebagai hook.</a:t>
            </a:r>
            <a:endParaRPr lang="en-US" sz="1050" dirty="0"/>
          </a:p>
        </p:txBody>
      </p:sp>
      <p:sp>
        <p:nvSpPr>
          <p:cNvPr id="13" name="Shape 10"/>
          <p:cNvSpPr/>
          <p:nvPr/>
        </p:nvSpPr>
        <p:spPr>
          <a:xfrm>
            <a:off x="7543800" y="4709160"/>
            <a:ext cx="502920" cy="502920"/>
          </a:xfrm>
          <a:prstGeom prst="ellipse">
            <a:avLst/>
          </a:prstGeom>
          <a:solidFill>
            <a:srgbClr val="20232A"/>
          </a:solidFill>
          <a:ln w="12700">
            <a:solidFill>
              <a:srgbClr val="20232A"/>
            </a:solidFill>
            <a:prstDash val="solid"/>
          </a:ln>
        </p:spPr>
      </p:sp>
      <p:pic>
        <p:nvPicPr>
          <p:cNvPr id="14" name="Image 1" descr="preencoded.png">    </p:cNvPr>
          <p:cNvPicPr>
            <a:picLocks noChangeAspect="1"/>
          </p:cNvPicPr>
          <p:nvPr/>
        </p:nvPicPr>
        <p:blipFill>
          <a:blip r:embed="rId2"/>
          <a:stretch>
            <a:fillRect/>
          </a:stretch>
        </p:blipFill>
        <p:spPr>
          <a:xfrm>
            <a:off x="7674559" y="4839919"/>
            <a:ext cx="241402" cy="241402"/>
          </a:xfrm>
          <a:prstGeom prst="rect">
            <a:avLst/>
          </a:prstGeom>
        </p:spPr>
      </p:pic>
      <p:sp>
        <p:nvSpPr>
          <p:cNvPr id="15" name="Text 11"/>
          <p:cNvSpPr txBox="1"/>
          <p:nvPr/>
        </p:nvSpPr>
        <p:spPr>
          <a:xfrm>
            <a:off x="8183880" y="4681728"/>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Bebas duplikasi</a:t>
            </a:r>
            <a:endParaRPr lang="en-US" sz="1250" dirty="0"/>
          </a:p>
        </p:txBody>
      </p:sp>
      <p:sp>
        <p:nvSpPr>
          <p:cNvPr id="16" name="Text 12"/>
          <p:cNvSpPr txBox="1"/>
          <p:nvPr/>
        </p:nvSpPr>
        <p:spPr>
          <a:xfrm>
            <a:off x="8183880" y="4937760"/>
            <a:ext cx="3474720" cy="402336"/>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Logika yang sama tidak ditulis ulang di banyak komponen.</a:t>
            </a:r>
            <a:endParaRPr lang="en-US" sz="1050" dirty="0"/>
          </a:p>
        </p:txBody>
      </p:sp>
      <p:sp>
        <p:nvSpPr>
          <p:cNvPr id="17" name="Shape 13"/>
          <p:cNvSpPr/>
          <p:nvPr/>
        </p:nvSpPr>
        <p:spPr>
          <a:xfrm>
            <a:off x="7543800" y="5440680"/>
            <a:ext cx="502920" cy="502920"/>
          </a:xfrm>
          <a:prstGeom prst="ellipse">
            <a:avLst/>
          </a:prstGeom>
          <a:solidFill>
            <a:srgbClr val="20232A"/>
          </a:solidFill>
          <a:ln w="12700">
            <a:solidFill>
              <a:srgbClr val="20232A"/>
            </a:solidFill>
            <a:prstDash val="solid"/>
          </a:ln>
        </p:spPr>
      </p:sp>
      <p:pic>
        <p:nvPicPr>
          <p:cNvPr id="18" name="Image 2" descr="preencoded.png">    </p:cNvPr>
          <p:cNvPicPr>
            <a:picLocks noChangeAspect="1"/>
          </p:cNvPicPr>
          <p:nvPr/>
        </p:nvPicPr>
        <p:blipFill>
          <a:blip r:embed="rId3"/>
          <a:stretch>
            <a:fillRect/>
          </a:stretch>
        </p:blipFill>
        <p:spPr>
          <a:xfrm>
            <a:off x="7674559" y="5571439"/>
            <a:ext cx="241402" cy="241402"/>
          </a:xfrm>
          <a:prstGeom prst="rect">
            <a:avLst/>
          </a:prstGeom>
        </p:spPr>
      </p:pic>
      <p:sp>
        <p:nvSpPr>
          <p:cNvPr id="19" name="Text 14"/>
          <p:cNvSpPr txBox="1"/>
          <p:nvPr/>
        </p:nvSpPr>
        <p:spPr>
          <a:xfrm>
            <a:off x="8183880" y="5413248"/>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Mudah diuji</a:t>
            </a:r>
            <a:endParaRPr lang="en-US" sz="1250" dirty="0"/>
          </a:p>
        </p:txBody>
      </p:sp>
      <p:sp>
        <p:nvSpPr>
          <p:cNvPr id="20" name="Text 15"/>
          <p:cNvSpPr txBox="1"/>
          <p:nvPr/>
        </p:nvSpPr>
        <p:spPr>
          <a:xfrm>
            <a:off x="8183880" y="5669280"/>
            <a:ext cx="3474720" cy="402336"/>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Logika terpisah dari tampilan sehingga lebih mudah dirawat.</a:t>
            </a:r>
            <a:endParaRPr lang="en-US" sz="1050" dirty="0"/>
          </a:p>
        </p:txBody>
      </p:sp>
      <p:pic>
        <p:nvPicPr>
          <p:cNvPr id="22" name="Image 3" descr="preencoded.png">    </p:cNvPr>
          <p:cNvPicPr>
            <a:picLocks noChangeAspect="1"/>
          </p:cNvPicPr>
          <p:nvPr/>
        </p:nvPicPr>
        <p:blipFill>
          <a:blip r:embed="rId4"/>
          <a:stretch>
            <a:fillRect/>
          </a:stretch>
        </p:blipFill>
        <p:spPr>
          <a:xfrm>
            <a:off x="502920" y="6382512"/>
            <a:ext cx="201168" cy="201168"/>
          </a:xfrm>
          <a:prstGeom prst="rect">
            <a:avLst/>
          </a:prstGeom>
        </p:spPr>
      </p:pic>
      <p:sp>
        <p:nvSpPr>
          <p:cNvPr id="23" name="Text 1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4" name="Text 1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STATE &amp; HOOKS</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Aturan Wajib Penggunaan Hooks</a:t>
            </a:r>
            <a:endParaRPr lang="en-US" sz="3200" dirty="0"/>
          </a:p>
        </p:txBody>
      </p:sp>
      <p:sp>
        <p:nvSpPr>
          <p:cNvPr id="4" name="Shape 2"/>
          <p:cNvSpPr/>
          <p:nvPr/>
        </p:nvSpPr>
        <p:spPr>
          <a:xfrm>
            <a:off x="548640" y="1463040"/>
            <a:ext cx="5440680" cy="2468880"/>
          </a:xfrm>
          <a:prstGeom prst="roundRect">
            <a:avLst>
              <a:gd name="adj" fmla="val 444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664208"/>
            <a:ext cx="530352" cy="530352"/>
          </a:xfrm>
          <a:prstGeom prst="ellipse">
            <a:avLst/>
          </a:prstGeom>
          <a:solidFill>
            <a:srgbClr val="1F7A57"/>
          </a:solidFill>
          <a:ln w="12700">
            <a:solidFill>
              <a:srgbClr val="1F7A57"/>
            </a:solidFill>
            <a:prstDash val="solid"/>
          </a:ln>
        </p:spPr>
      </p:sp>
      <p:pic>
        <p:nvPicPr>
          <p:cNvPr id="6" name="Image 0" descr="preencoded.png">    </p:cNvPr>
          <p:cNvPicPr>
            <a:picLocks noChangeAspect="1"/>
          </p:cNvPicPr>
          <p:nvPr/>
        </p:nvPicPr>
        <p:blipFill>
          <a:blip r:embed="rId1"/>
          <a:stretch>
            <a:fillRect/>
          </a:stretch>
        </p:blipFill>
        <p:spPr>
          <a:xfrm>
            <a:off x="942564" y="1802100"/>
            <a:ext cx="254569" cy="254569"/>
          </a:xfrm>
          <a:prstGeom prst="rect">
            <a:avLst/>
          </a:prstGeom>
        </p:spPr>
      </p:pic>
      <p:sp>
        <p:nvSpPr>
          <p:cNvPr id="7" name="Text 4"/>
          <p:cNvSpPr txBox="1"/>
          <p:nvPr/>
        </p:nvSpPr>
        <p:spPr>
          <a:xfrm>
            <a:off x="1481328" y="1682496"/>
            <a:ext cx="4206240" cy="310896"/>
          </a:xfrm>
          <a:prstGeom prst="rect">
            <a:avLst/>
          </a:prstGeom>
          <a:noFill/>
          <a:ln/>
        </p:spPr>
        <p:txBody>
          <a:bodyPr wrap="square" lIns="0" tIns="0" rIns="0" bIns="0" rtlCol="0" anchor="ctr"/>
          <a:lstStyle/>
          <a:p>
            <a:pPr indent="0" marL="0">
              <a:buNone/>
            </a:pPr>
            <a:r>
              <a:rPr lang="en-US" sz="1600" b="1" dirty="0">
                <a:solidFill>
                  <a:srgbClr val="1B2029"/>
                </a:solidFill>
                <a:latin typeface="Calibri" pitchFamily="34" charset="0"/>
                <a:ea typeface="Calibri" pitchFamily="34" charset="-122"/>
                <a:cs typeface="Calibri" pitchFamily="34" charset="-120"/>
              </a:rPr>
              <a:t>Yang benar</a:t>
            </a:r>
            <a:endParaRPr lang="en-US" sz="1600" dirty="0"/>
          </a:p>
        </p:txBody>
      </p:sp>
      <p:sp>
        <p:nvSpPr>
          <p:cNvPr id="8" name="Text 5"/>
          <p:cNvSpPr txBox="1"/>
          <p:nvPr/>
        </p:nvSpPr>
        <p:spPr>
          <a:xfrm>
            <a:off x="822960" y="2331720"/>
            <a:ext cx="4937760" cy="14630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00" dirty="0">
                <a:solidFill>
                  <a:srgbClr val="5C6672"/>
                </a:solidFill>
                <a:latin typeface="Calibri" pitchFamily="34" charset="0"/>
                <a:ea typeface="Calibri" pitchFamily="34" charset="-122"/>
                <a:cs typeface="Calibri" pitchFamily="34" charset="-120"/>
              </a:rPr>
              <a:t>Panggil hook di baris paling atas komponen.</a:t>
            </a:r>
            <a:endParaRPr lang="en-US" sz="1200" dirty="0"/>
          </a:p>
          <a:p>
            <a:pPr marL="342900" indent="-342900">
              <a:lnSpc>
                <a:spcPct val="105000"/>
              </a:lnSpc>
              <a:spcAft>
                <a:spcPts val="800"/>
              </a:spcAft>
              <a:buSzPct val="100000"/>
              <a:buChar char="▪"/>
            </a:pPr>
            <a:r>
              <a:rPr lang="en-US" sz="1200" dirty="0">
                <a:solidFill>
                  <a:srgbClr val="5C6672"/>
                </a:solidFill>
                <a:latin typeface="Calibri" pitchFamily="34" charset="0"/>
                <a:ea typeface="Calibri" pitchFamily="34" charset="-122"/>
                <a:cs typeface="Calibri" pitchFamily="34" charset="-120"/>
              </a:rPr>
              <a:t>Hanya di dalam function component atau custom hook.</a:t>
            </a:r>
            <a:endParaRPr lang="en-US" sz="1200" dirty="0"/>
          </a:p>
          <a:p>
            <a:pPr marL="342900" indent="-342900">
              <a:lnSpc>
                <a:spcPct val="105000"/>
              </a:lnSpc>
              <a:spcAft>
                <a:spcPts val="800"/>
              </a:spcAft>
              <a:buSzPct val="100000"/>
              <a:buChar char="▪"/>
            </a:pPr>
            <a:r>
              <a:rPr lang="en-US" sz="1200" dirty="0">
                <a:solidFill>
                  <a:srgbClr val="5C6672"/>
                </a:solidFill>
                <a:latin typeface="Calibri" pitchFamily="34" charset="0"/>
                <a:ea typeface="Calibri" pitchFamily="34" charset="-122"/>
                <a:cs typeface="Calibri" pitchFamily="34" charset="-120"/>
              </a:rPr>
              <a:t>Urutan pemanggilan hook harus selalu sama di setiap render.</a:t>
            </a:r>
            <a:endParaRPr lang="en-US" sz="1200" dirty="0"/>
          </a:p>
        </p:txBody>
      </p:sp>
      <p:sp>
        <p:nvSpPr>
          <p:cNvPr id="9" name="Shape 6"/>
          <p:cNvSpPr/>
          <p:nvPr/>
        </p:nvSpPr>
        <p:spPr>
          <a:xfrm>
            <a:off x="6199632" y="1463040"/>
            <a:ext cx="5440680" cy="2468880"/>
          </a:xfrm>
          <a:prstGeom prst="roundRect">
            <a:avLst>
              <a:gd name="adj" fmla="val 4444"/>
            </a:avLst>
          </a:prstGeom>
          <a:solidFill>
            <a:srgbClr val="20232A"/>
          </a:solidFill>
          <a:ln w="12700">
            <a:solidFill>
              <a:srgbClr val="20232A"/>
            </a:solidFill>
            <a:prstDash val="solid"/>
          </a:ln>
        </p:spPr>
      </p:sp>
      <p:sp>
        <p:nvSpPr>
          <p:cNvPr id="10" name="Shape 7"/>
          <p:cNvSpPr/>
          <p:nvPr/>
        </p:nvSpPr>
        <p:spPr>
          <a:xfrm>
            <a:off x="6455664" y="1664208"/>
            <a:ext cx="530352" cy="530352"/>
          </a:xfrm>
          <a:prstGeom prst="ellipse">
            <a:avLst/>
          </a:prstGeom>
          <a:solidFill>
            <a:srgbClr val="5A2A2A"/>
          </a:solidFill>
          <a:ln w="12700">
            <a:solidFill>
              <a:srgbClr val="5A2A2A"/>
            </a:solidFill>
            <a:prstDash val="solid"/>
          </a:ln>
        </p:spPr>
      </p:sp>
      <p:pic>
        <p:nvPicPr>
          <p:cNvPr id="11" name="Image 1" descr="preencoded.png">    </p:cNvPr>
          <p:cNvPicPr>
            <a:picLocks noChangeAspect="1"/>
          </p:cNvPicPr>
          <p:nvPr/>
        </p:nvPicPr>
        <p:blipFill>
          <a:blip r:embed="rId2"/>
          <a:stretch>
            <a:fillRect/>
          </a:stretch>
        </p:blipFill>
        <p:spPr>
          <a:xfrm>
            <a:off x="6593556" y="1802100"/>
            <a:ext cx="254569" cy="254569"/>
          </a:xfrm>
          <a:prstGeom prst="rect">
            <a:avLst/>
          </a:prstGeom>
        </p:spPr>
      </p:pic>
      <p:sp>
        <p:nvSpPr>
          <p:cNvPr id="12" name="Text 8"/>
          <p:cNvSpPr txBox="1"/>
          <p:nvPr/>
        </p:nvSpPr>
        <p:spPr>
          <a:xfrm>
            <a:off x="7132320" y="1682496"/>
            <a:ext cx="42062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Yang dilarang</a:t>
            </a:r>
            <a:endParaRPr lang="en-US" sz="1600" dirty="0"/>
          </a:p>
        </p:txBody>
      </p:sp>
      <p:sp>
        <p:nvSpPr>
          <p:cNvPr id="13" name="Text 9"/>
          <p:cNvSpPr txBox="1"/>
          <p:nvPr/>
        </p:nvSpPr>
        <p:spPr>
          <a:xfrm>
            <a:off x="6473952" y="2331720"/>
            <a:ext cx="4937760" cy="146304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200" dirty="0">
                <a:solidFill>
                  <a:srgbClr val="AEB9C6"/>
                </a:solidFill>
                <a:latin typeface="Calibri" pitchFamily="34" charset="0"/>
                <a:ea typeface="Calibri" pitchFamily="34" charset="-122"/>
                <a:cs typeface="Calibri" pitchFamily="34" charset="-120"/>
              </a:rPr>
              <a:t>Memanggil hook di dalam if, for, atau while.</a:t>
            </a:r>
            <a:endParaRPr lang="en-US" sz="1200" dirty="0"/>
          </a:p>
          <a:p>
            <a:pPr marL="342900" indent="-342900">
              <a:lnSpc>
                <a:spcPct val="105000"/>
              </a:lnSpc>
              <a:spcAft>
                <a:spcPts val="800"/>
              </a:spcAft>
              <a:buSzPct val="100000"/>
              <a:buChar char="▪"/>
            </a:pPr>
            <a:r>
              <a:rPr lang="en-US" sz="1200" dirty="0">
                <a:solidFill>
                  <a:srgbClr val="AEB9C6"/>
                </a:solidFill>
                <a:latin typeface="Calibri" pitchFamily="34" charset="0"/>
                <a:ea typeface="Calibri" pitchFamily="34" charset="-122"/>
                <a:cs typeface="Calibri" pitchFamily="34" charset="-120"/>
              </a:rPr>
              <a:t>Memanggil hook di dalam fungsi biasa atau class component.</a:t>
            </a:r>
            <a:endParaRPr lang="en-US" sz="1200" dirty="0"/>
          </a:p>
          <a:p>
            <a:pPr marL="342900" indent="-342900">
              <a:lnSpc>
                <a:spcPct val="105000"/>
              </a:lnSpc>
              <a:spcAft>
                <a:spcPts val="800"/>
              </a:spcAft>
              <a:buSzPct val="100000"/>
              <a:buChar char="▪"/>
            </a:pPr>
            <a:r>
              <a:rPr lang="en-US" sz="1200" dirty="0">
                <a:solidFill>
                  <a:srgbClr val="AEB9C6"/>
                </a:solidFill>
                <a:latin typeface="Calibri" pitchFamily="34" charset="0"/>
                <a:ea typeface="Calibri" pitchFamily="34" charset="-122"/>
                <a:cs typeface="Calibri" pitchFamily="34" charset="-120"/>
              </a:rPr>
              <a:t>Memanggil hook setelah pernyataan return lebih awal.</a:t>
            </a:r>
            <a:endParaRPr lang="en-US" sz="1200" dirty="0"/>
          </a:p>
        </p:txBody>
      </p:sp>
      <p:sp>
        <p:nvSpPr>
          <p:cNvPr id="14" name="Text 10"/>
          <p:cNvSpPr txBox="1"/>
          <p:nvPr/>
        </p:nvSpPr>
        <p:spPr>
          <a:xfrm>
            <a:off x="548640" y="4114800"/>
            <a:ext cx="1109167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Contoh kesalahan yang sering terjadi</a:t>
            </a:r>
            <a:endParaRPr lang="en-US" sz="1400" dirty="0"/>
          </a:p>
        </p:txBody>
      </p:sp>
      <p:sp>
        <p:nvSpPr>
          <p:cNvPr id="15" name="Shape 11"/>
          <p:cNvSpPr/>
          <p:nvPr/>
        </p:nvSpPr>
        <p:spPr>
          <a:xfrm>
            <a:off x="548640" y="4462272"/>
            <a:ext cx="5440680" cy="1002182"/>
          </a:xfrm>
          <a:prstGeom prst="roundRect">
            <a:avLst>
              <a:gd name="adj" fmla="val 9124"/>
            </a:avLst>
          </a:prstGeom>
          <a:solidFill>
            <a:srgbClr val="1B1F27"/>
          </a:solidFill>
          <a:ln w="12700">
            <a:solidFill>
              <a:srgbClr val="323945"/>
            </a:solidFill>
            <a:prstDash val="solid"/>
          </a:ln>
        </p:spPr>
      </p:sp>
      <p:sp>
        <p:nvSpPr>
          <p:cNvPr id="16" name="Text 12"/>
          <p:cNvSpPr txBox="1"/>
          <p:nvPr/>
        </p:nvSpPr>
        <p:spPr>
          <a:xfrm>
            <a:off x="694944" y="4590288"/>
            <a:ext cx="5148072" cy="746150"/>
          </a:xfrm>
          <a:prstGeom prst="rect">
            <a:avLst/>
          </a:prstGeom>
          <a:noFill/>
          <a:ln/>
        </p:spPr>
        <p:txBody>
          <a:bodyPr wrap="square" lIns="0" tIns="0" rIns="0" bIns="0" rtlCol="0" anchor="t"/>
          <a:lstStyle/>
          <a:p>
            <a:pPr indent="0" marL="0">
              <a:lnSpc>
                <a:spcPct val="106000"/>
              </a:lnSpc>
              <a:buNone/>
            </a:pPr>
            <a:r>
              <a:rPr lang="en-US" sz="1050" dirty="0">
                <a:solidFill>
                  <a:srgbClr val="7A8796"/>
                </a:solidFill>
                <a:latin typeface="Courier New" pitchFamily="34" charset="0"/>
                <a:ea typeface="Courier New" pitchFamily="34" charset="-122"/>
                <a:cs typeface="Courier New" pitchFamily="34" charset="-120"/>
              </a:rPr>
              <a:t>// SALAH — hook di dalam kondisi</a:t>
            </a:r>
            <a:endParaRPr lang="en-US" sz="1050" dirty="0"/>
          </a:p>
          <a:p>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login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17" name="Shape 13"/>
          <p:cNvSpPr/>
          <p:nvPr/>
        </p:nvSpPr>
        <p:spPr>
          <a:xfrm>
            <a:off x="6199632" y="4462272"/>
            <a:ext cx="5440680" cy="1002182"/>
          </a:xfrm>
          <a:prstGeom prst="roundRect">
            <a:avLst>
              <a:gd name="adj" fmla="val 9124"/>
            </a:avLst>
          </a:prstGeom>
          <a:solidFill>
            <a:srgbClr val="1B1F27"/>
          </a:solidFill>
          <a:ln w="12700">
            <a:solidFill>
              <a:srgbClr val="323945"/>
            </a:solidFill>
            <a:prstDash val="solid"/>
          </a:ln>
        </p:spPr>
      </p:sp>
      <p:sp>
        <p:nvSpPr>
          <p:cNvPr id="18" name="Text 14"/>
          <p:cNvSpPr txBox="1"/>
          <p:nvPr/>
        </p:nvSpPr>
        <p:spPr>
          <a:xfrm>
            <a:off x="6345936" y="4590288"/>
            <a:ext cx="5148072" cy="746150"/>
          </a:xfrm>
          <a:prstGeom prst="rect">
            <a:avLst/>
          </a:prstGeom>
          <a:noFill/>
          <a:ln/>
        </p:spPr>
        <p:txBody>
          <a:bodyPr wrap="square" lIns="0" tIns="0" rIns="0" bIns="0" rtlCol="0" anchor="t"/>
          <a:lstStyle/>
          <a:p>
            <a:pPr indent="0" marL="0">
              <a:lnSpc>
                <a:spcPct val="106000"/>
              </a:lnSpc>
              <a:buNone/>
            </a:pPr>
            <a:r>
              <a:rPr lang="en-US" sz="1050" dirty="0">
                <a:solidFill>
                  <a:srgbClr val="7A8796"/>
                </a:solidFill>
                <a:latin typeface="Courier New" pitchFamily="34" charset="0"/>
                <a:ea typeface="Courier New" pitchFamily="34" charset="-122"/>
                <a:cs typeface="Courier New" pitchFamily="34" charset="-120"/>
              </a:rPr>
              <a:t>// BENAR — hook di atas, kondisi di dalam</a:t>
            </a:r>
            <a:endParaRPr lang="en-US" sz="1050" dirty="0"/>
          </a:p>
          <a:p>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login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setNama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'pengguna'</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p:txBody>
      </p:sp>
      <p:pic>
        <p:nvPicPr>
          <p:cNvPr id="20" name="Image 2" descr="preencoded.png">    </p:cNvPr>
          <p:cNvPicPr>
            <a:picLocks noChangeAspect="1"/>
          </p:cNvPicPr>
          <p:nvPr/>
        </p:nvPicPr>
        <p:blipFill>
          <a:blip r:embed="rId3"/>
          <a:stretch>
            <a:fillRect/>
          </a:stretch>
        </p:blipFill>
        <p:spPr>
          <a:xfrm>
            <a:off x="502920" y="6382512"/>
            <a:ext cx="201168" cy="201168"/>
          </a:xfrm>
          <a:prstGeom prst="rect">
            <a:avLst/>
          </a:prstGeom>
        </p:spPr>
      </p:pic>
      <p:sp>
        <p:nvSpPr>
          <p:cNvPr id="21" name="Text 15"/>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2" name="Text 16"/>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502920" y="1051560"/>
            <a:ext cx="3108960" cy="1920240"/>
          </a:xfrm>
          <a:prstGeom prst="rect">
            <a:avLst/>
          </a:prstGeom>
          <a:noFill/>
          <a:ln/>
        </p:spPr>
        <p:txBody>
          <a:bodyPr wrap="square" lIns="0" tIns="0" rIns="0" bIns="0" rtlCol="0" anchor="ctr"/>
          <a:lstStyle/>
          <a:p>
            <a:pPr indent="0" marL="0">
              <a:buNone/>
            </a:pPr>
            <a:r>
              <a:rPr lang="en-US" sz="12000" b="1" dirty="0">
                <a:solidFill>
                  <a:srgbClr val="343C4A"/>
                </a:solidFill>
                <a:latin typeface="Calibri" pitchFamily="34" charset="0"/>
                <a:ea typeface="Calibri" pitchFamily="34" charset="-122"/>
                <a:cs typeface="Calibri" pitchFamily="34" charset="-120"/>
              </a:rPr>
              <a:t>04</a:t>
            </a:r>
            <a:endParaRPr lang="en-US" sz="12000" dirty="0"/>
          </a:p>
        </p:txBody>
      </p:sp>
      <p:sp>
        <p:nvSpPr>
          <p:cNvPr id="3" name="Text 1"/>
          <p:cNvSpPr txBox="1"/>
          <p:nvPr/>
        </p:nvSpPr>
        <p:spPr>
          <a:xfrm>
            <a:off x="548640" y="2971800"/>
            <a:ext cx="71323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Membangun Aplikasi</a:t>
            </a:r>
            <a:endParaRPr lang="en-US" sz="4200" dirty="0"/>
          </a:p>
        </p:txBody>
      </p:sp>
      <p:sp>
        <p:nvSpPr>
          <p:cNvPr id="4" name="Text 2"/>
          <p:cNvSpPr txBox="1"/>
          <p:nvPr/>
        </p:nvSpPr>
        <p:spPr>
          <a:xfrm>
            <a:off x="566928" y="3840480"/>
            <a:ext cx="6949440" cy="822960"/>
          </a:xfrm>
          <a:prstGeom prst="rect">
            <a:avLst/>
          </a:prstGeom>
          <a:noFill/>
          <a:ln/>
        </p:spPr>
        <p:txBody>
          <a:bodyPr wrap="square" lIns="0" tIns="0" rIns="0" bIns="0" rtlCol="0" anchor="t"/>
          <a:lstStyle/>
          <a:p>
            <a:pPr indent="0" marL="0">
              <a:buNone/>
            </a:pPr>
            <a:r>
              <a:rPr lang="en-US" sz="1600" dirty="0">
                <a:solidFill>
                  <a:srgbClr val="9FAAB9"/>
                </a:solidFill>
                <a:latin typeface="Calibri" pitchFamily="34" charset="0"/>
                <a:ea typeface="Calibri" pitchFamily="34" charset="-122"/>
                <a:cs typeface="Calibri" pitchFamily="34" charset="-120"/>
              </a:rPr>
              <a:t>Formulir, komunikasi antar komponen, routing, data dari API, dan styling.</a:t>
            </a:r>
            <a:endParaRPr lang="en-US" sz="1600" dirty="0"/>
          </a:p>
        </p:txBody>
      </p:sp>
      <p:sp>
        <p:nvSpPr>
          <p:cNvPr id="5" name="Shape 3"/>
          <p:cNvSpPr/>
          <p:nvPr/>
        </p:nvSpPr>
        <p:spPr>
          <a:xfrm>
            <a:off x="8366760" y="1965960"/>
            <a:ext cx="2926080" cy="2926080"/>
          </a:xfrm>
          <a:prstGeom prst="ellipse">
            <a:avLst/>
          </a:prstGeom>
          <a:solidFill>
            <a:srgbClr val="2C313C"/>
          </a:solidFill>
          <a:ln w="12700">
            <a:solidFill>
              <a:srgbClr val="2C313C"/>
            </a:solidFill>
            <a:prstDash val="solid"/>
          </a:ln>
        </p:spPr>
      </p:sp>
      <p:pic>
        <p:nvPicPr>
          <p:cNvPr id="6" name="Image 0" descr="preencoded.png">    </p:cNvPr>
          <p:cNvPicPr>
            <a:picLocks noChangeAspect="1"/>
          </p:cNvPicPr>
          <p:nvPr/>
        </p:nvPicPr>
        <p:blipFill>
          <a:blip r:embed="rId1"/>
          <a:stretch>
            <a:fillRect/>
          </a:stretch>
        </p:blipFill>
        <p:spPr>
          <a:xfrm>
            <a:off x="9098280" y="2697480"/>
            <a:ext cx="1463040" cy="1463040"/>
          </a:xfrm>
          <a:prstGeom prst="rect">
            <a:avLst/>
          </a:prstGeom>
        </p:spPr>
      </p:pic>
      <p:pic>
        <p:nvPicPr>
          <p:cNvPr id="7"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8" name="Text 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ReactJS — Materi Komprehensif</a:t>
            </a:r>
            <a:endParaRPr lang="en-US" sz="900" dirty="0"/>
          </a:p>
        </p:txBody>
      </p:sp>
      <p:sp>
        <p:nvSpPr>
          <p:cNvPr id="9" name="Text 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61DAF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Formulir &amp; Controlled Component</a:t>
            </a:r>
            <a:endParaRPr lang="en-US" sz="3200" dirty="0"/>
          </a:p>
        </p:txBody>
      </p:sp>
      <p:sp>
        <p:nvSpPr>
          <p:cNvPr id="4" name="Shape 2"/>
          <p:cNvSpPr/>
          <p:nvPr/>
        </p:nvSpPr>
        <p:spPr>
          <a:xfrm>
            <a:off x="548640" y="1481328"/>
            <a:ext cx="6720840" cy="4475074"/>
          </a:xfrm>
          <a:prstGeom prst="roundRect">
            <a:avLst>
              <a:gd name="adj" fmla="val 2043"/>
            </a:avLst>
          </a:prstGeom>
          <a:solidFill>
            <a:srgbClr val="1B1F27"/>
          </a:solidFill>
          <a:ln w="12700">
            <a:solidFill>
              <a:srgbClr val="323945"/>
            </a:solidFill>
            <a:prstDash val="solid"/>
          </a:ln>
        </p:spPr>
      </p:sp>
      <p:sp>
        <p:nvSpPr>
          <p:cNvPr id="5" name="Text 3"/>
          <p:cNvSpPr txBox="1"/>
          <p:nvPr/>
        </p:nvSpPr>
        <p:spPr>
          <a:xfrm>
            <a:off x="694944" y="1609344"/>
            <a:ext cx="6428232" cy="4219042"/>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FormPendaftaran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email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target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handleSubmit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preventDefault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onSubmit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handleSubmit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"nama"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name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"email"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email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handleChange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type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"submit"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Daftar</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7543800" y="1481328"/>
            <a:ext cx="4096512" cy="2103120"/>
          </a:xfrm>
          <a:prstGeom prst="roundRect">
            <a:avLst>
              <a:gd name="adj" fmla="val 5217"/>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7" name="Text 5"/>
          <p:cNvSpPr txBox="1"/>
          <p:nvPr/>
        </p:nvSpPr>
        <p:spPr>
          <a:xfrm>
            <a:off x="7772400" y="1664208"/>
            <a:ext cx="365760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Controlled component</a:t>
            </a:r>
            <a:endParaRPr lang="en-US" sz="1450" dirty="0"/>
          </a:p>
        </p:txBody>
      </p:sp>
      <p:sp>
        <p:nvSpPr>
          <p:cNvPr id="8" name="Text 6"/>
          <p:cNvSpPr txBox="1"/>
          <p:nvPr/>
        </p:nvSpPr>
        <p:spPr>
          <a:xfrm>
            <a:off x="7772400" y="1993392"/>
            <a:ext cx="3657600" cy="1463040"/>
          </a:xfrm>
          <a:prstGeom prst="rect">
            <a:avLst/>
          </a:prstGeom>
          <a:noFill/>
          <a:ln/>
        </p:spPr>
        <p:txBody>
          <a:bodyPr wrap="square" lIns="0" tIns="0" rIns="0" bIns="0" rtlCol="0" anchor="t"/>
          <a:lstStyle/>
          <a:p>
            <a:pPr indent="0" marL="0">
              <a:lnSpc>
                <a:spcPct val="115000"/>
              </a:lnSpc>
              <a:buNone/>
            </a:pPr>
            <a:r>
              <a:rPr lang="en-US" sz="1100" dirty="0">
                <a:solidFill>
                  <a:srgbClr val="5C6672"/>
                </a:solidFill>
                <a:latin typeface="Calibri" pitchFamily="34" charset="0"/>
                <a:ea typeface="Calibri" pitchFamily="34" charset="-122"/>
                <a:cs typeface="Calibri" pitchFamily="34" charset="-120"/>
              </a:rPr>
              <a:t>Nilai input dikendalikan penuh oleh state React melalui atribut value dan onChange. State menjadi satu-satunya sumber kebenaran sehingga validasi, reset, dan pengisian otomatis menjadi mudah.</a:t>
            </a:r>
            <a:endParaRPr lang="en-US" sz="1100" dirty="0"/>
          </a:p>
        </p:txBody>
      </p:sp>
      <p:sp>
        <p:nvSpPr>
          <p:cNvPr id="9" name="Shape 7"/>
          <p:cNvSpPr/>
          <p:nvPr/>
        </p:nvSpPr>
        <p:spPr>
          <a:xfrm>
            <a:off x="7543800" y="3749040"/>
            <a:ext cx="4096512" cy="1371600"/>
          </a:xfrm>
          <a:prstGeom prst="roundRect">
            <a:avLst>
              <a:gd name="adj" fmla="val 8000"/>
            </a:avLst>
          </a:prstGeom>
          <a:solidFill>
            <a:srgbClr val="20232A"/>
          </a:solidFill>
          <a:ln w="12700">
            <a:solidFill>
              <a:srgbClr val="20232A"/>
            </a:solidFill>
            <a:prstDash val="solid"/>
          </a:ln>
        </p:spPr>
      </p:sp>
      <p:sp>
        <p:nvSpPr>
          <p:cNvPr id="10" name="Text 8"/>
          <p:cNvSpPr txBox="1"/>
          <p:nvPr/>
        </p:nvSpPr>
        <p:spPr>
          <a:xfrm>
            <a:off x="7772400" y="3913632"/>
            <a:ext cx="3657600" cy="274320"/>
          </a:xfrm>
          <a:prstGeom prst="rect">
            <a:avLst/>
          </a:prstGeom>
          <a:noFill/>
          <a:ln/>
        </p:spPr>
        <p:txBody>
          <a:bodyPr wrap="square" lIns="0" tIns="0" rIns="0" bIns="0" rtlCol="0" anchor="ctr"/>
          <a:lstStyle/>
          <a:p>
            <a:pPr indent="0" marL="0">
              <a:buNone/>
            </a:pPr>
            <a:r>
              <a:rPr lang="en-US" sz="1300" b="1" dirty="0">
                <a:solidFill>
                  <a:srgbClr val="61DAFB"/>
                </a:solidFill>
                <a:latin typeface="Calibri" pitchFamily="34" charset="0"/>
                <a:ea typeface="Calibri" pitchFamily="34" charset="-122"/>
                <a:cs typeface="Calibri" pitchFamily="34" charset="-120"/>
              </a:rPr>
              <a:t>Satu state untuk banyak field</a:t>
            </a:r>
            <a:endParaRPr lang="en-US" sz="1300" dirty="0"/>
          </a:p>
        </p:txBody>
      </p:sp>
      <p:sp>
        <p:nvSpPr>
          <p:cNvPr id="11" name="Text 9"/>
          <p:cNvSpPr txBox="1"/>
          <p:nvPr/>
        </p:nvSpPr>
        <p:spPr>
          <a:xfrm>
            <a:off x="7772400" y="4224528"/>
            <a:ext cx="3657600" cy="777240"/>
          </a:xfrm>
          <a:prstGeom prst="rect">
            <a:avLst/>
          </a:prstGeom>
          <a:noFill/>
          <a:ln/>
        </p:spPr>
        <p:txBody>
          <a:bodyPr wrap="square" lIns="0" tIns="0" rIns="0" bIns="0" rtlCol="0" anchor="t"/>
          <a:lstStyle/>
          <a:p>
            <a:pPr indent="0" marL="0">
              <a:lnSpc>
                <a:spcPct val="112000"/>
              </a:lnSpc>
              <a:buNone/>
            </a:pPr>
            <a:r>
              <a:rPr lang="en-US" sz="1100" dirty="0">
                <a:solidFill>
                  <a:srgbClr val="AEB9C6"/>
                </a:solidFill>
                <a:latin typeface="Calibri" pitchFamily="34" charset="0"/>
                <a:ea typeface="Calibri" pitchFamily="34" charset="-122"/>
                <a:cs typeface="Calibri" pitchFamily="34" charset="-120"/>
              </a:rPr>
              <a:t>Gunakan objek dan properti dinamis [name] agar satu fungsi handleChange melayani seluruh input.</a:t>
            </a:r>
            <a:endParaRPr lang="en-US" sz="1100" dirty="0"/>
          </a:p>
        </p:txBody>
      </p:sp>
      <p:sp>
        <p:nvSpPr>
          <p:cNvPr id="12" name="Text 10"/>
          <p:cNvSpPr txBox="1"/>
          <p:nvPr/>
        </p:nvSpPr>
        <p:spPr>
          <a:xfrm>
            <a:off x="7543800" y="5257800"/>
            <a:ext cx="4096512" cy="548640"/>
          </a:xfrm>
          <a:prstGeom prst="rect">
            <a:avLst/>
          </a:prstGeom>
          <a:noFill/>
          <a:ln/>
        </p:spPr>
        <p:txBody>
          <a:bodyPr wrap="square" lIns="0" tIns="0" rIns="0" bIns="0" rtlCol="0" anchor="t"/>
          <a:lstStyle/>
          <a:p>
            <a:pPr indent="0" marL="0">
              <a:lnSpc>
                <a:spcPct val="110000"/>
              </a:lnSpc>
              <a:buNone/>
            </a:pPr>
            <a:r>
              <a:rPr lang="en-US" sz="1050" i="1" dirty="0">
                <a:solidFill>
                  <a:srgbClr val="5C6672"/>
                </a:solidFill>
                <a:latin typeface="Calibri" pitchFamily="34" charset="0"/>
                <a:ea typeface="Calibri" pitchFamily="34" charset="-122"/>
                <a:cs typeface="Calibri" pitchFamily="34" charset="-120"/>
              </a:rPr>
              <a:t>Untuk formulir besar, pertimbangkan pustaka React Hook Form agar validasi lebih ringkas.</a:t>
            </a:r>
            <a:endParaRPr lang="en-US" sz="1050" dirty="0"/>
          </a:p>
        </p:txBody>
      </p:sp>
      <p:pic>
        <p:nvPicPr>
          <p:cNvPr id="14"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15" name="Text 1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16" name="Text 1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Komunikasi Antar Komponen</a:t>
            </a:r>
            <a:endParaRPr lang="en-US" sz="3200" dirty="0"/>
          </a:p>
        </p:txBody>
      </p:sp>
      <p:sp>
        <p:nvSpPr>
          <p:cNvPr id="4" name="Shape 2"/>
          <p:cNvSpPr/>
          <p:nvPr/>
        </p:nvSpPr>
        <p:spPr>
          <a:xfrm>
            <a:off x="548640" y="1481328"/>
            <a:ext cx="5440680" cy="4206240"/>
          </a:xfrm>
          <a:prstGeom prst="roundRect">
            <a:avLst>
              <a:gd name="adj" fmla="val 2609"/>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Text 3"/>
          <p:cNvSpPr txBox="1"/>
          <p:nvPr/>
        </p:nvSpPr>
        <p:spPr>
          <a:xfrm>
            <a:off x="804672" y="1664208"/>
            <a:ext cx="4937760" cy="310896"/>
          </a:xfrm>
          <a:prstGeom prst="rect">
            <a:avLst/>
          </a:prstGeom>
          <a:noFill/>
          <a:ln/>
        </p:spPr>
        <p:txBody>
          <a:bodyPr wrap="square" lIns="0" tIns="0" rIns="0" bIns="0" rtlCol="0" anchor="ctr"/>
          <a:lstStyle/>
          <a:p>
            <a:pPr indent="0" marL="0">
              <a:buNone/>
            </a:pPr>
            <a:r>
              <a:rPr lang="en-US" sz="1550" b="1" dirty="0">
                <a:solidFill>
                  <a:srgbClr val="1B2029"/>
                </a:solidFill>
                <a:latin typeface="Calibri" pitchFamily="34" charset="0"/>
                <a:ea typeface="Calibri" pitchFamily="34" charset="-122"/>
                <a:cs typeface="Calibri" pitchFamily="34" charset="-120"/>
              </a:rPr>
              <a:t>Lifting State Up</a:t>
            </a:r>
            <a:endParaRPr lang="en-US" sz="1550" dirty="0"/>
          </a:p>
        </p:txBody>
      </p:sp>
      <p:sp>
        <p:nvSpPr>
          <p:cNvPr id="6" name="Text 4"/>
          <p:cNvSpPr txBox="1"/>
          <p:nvPr/>
        </p:nvSpPr>
        <p:spPr>
          <a:xfrm>
            <a:off x="804672" y="1993392"/>
            <a:ext cx="4937760" cy="68580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Bila dua komponen bersaudara membutuhkan data yang sama, pindahkan state ke komponen induk terdekat, lalu turunkan sebagai props.</a:t>
            </a:r>
            <a:endParaRPr lang="en-US" sz="1150" dirty="0"/>
          </a:p>
        </p:txBody>
      </p:sp>
      <p:sp>
        <p:nvSpPr>
          <p:cNvPr id="7" name="Shape 5"/>
          <p:cNvSpPr/>
          <p:nvPr/>
        </p:nvSpPr>
        <p:spPr>
          <a:xfrm>
            <a:off x="2148840" y="2788920"/>
            <a:ext cx="2194560" cy="566928"/>
          </a:xfrm>
          <a:prstGeom prst="roundRect">
            <a:avLst>
              <a:gd name="adj" fmla="val 16129"/>
            </a:avLst>
          </a:prstGeom>
          <a:solidFill>
            <a:srgbClr val="20232A"/>
          </a:solidFill>
          <a:ln w="12700">
            <a:solidFill>
              <a:srgbClr val="20232A"/>
            </a:solidFill>
            <a:prstDash val="solid"/>
          </a:ln>
        </p:spPr>
      </p:sp>
      <p:sp>
        <p:nvSpPr>
          <p:cNvPr id="8" name="Text 6"/>
          <p:cNvSpPr txBox="1"/>
          <p:nvPr/>
        </p:nvSpPr>
        <p:spPr>
          <a:xfrm>
            <a:off x="2148840" y="2788920"/>
            <a:ext cx="2194560" cy="566928"/>
          </a:xfrm>
          <a:prstGeom prst="rect">
            <a:avLst/>
          </a:prstGeom>
          <a:noFill/>
          <a:ln/>
        </p:spPr>
        <p:txBody>
          <a:bodyPr wrap="square" lIns="0" tIns="0" rIns="0" bIns="0" rtlCol="0" anchor="ctr"/>
          <a:lstStyle/>
          <a:p>
            <a:pPr algn="ctr" indent="0" marL="0">
              <a:buNone/>
            </a:pPr>
            <a:r>
              <a:rPr lang="en-US" sz="1200" b="1" dirty="0">
                <a:solidFill>
                  <a:srgbClr val="61DAFB"/>
                </a:solidFill>
                <a:latin typeface="Calibri" pitchFamily="34" charset="0"/>
                <a:ea typeface="Calibri" pitchFamily="34" charset="-122"/>
                <a:cs typeface="Calibri" pitchFamily="34" charset="-120"/>
              </a:rPr>
              <a:t>Induk (state)</a:t>
            </a:r>
            <a:endParaRPr lang="en-US" sz="1200" dirty="0"/>
          </a:p>
        </p:txBody>
      </p:sp>
      <p:sp>
        <p:nvSpPr>
          <p:cNvPr id="9" name="Shape 7"/>
          <p:cNvSpPr/>
          <p:nvPr/>
        </p:nvSpPr>
        <p:spPr>
          <a:xfrm>
            <a:off x="868680" y="3977640"/>
            <a:ext cx="2057400" cy="566928"/>
          </a:xfrm>
          <a:prstGeom prst="roundRect">
            <a:avLst>
              <a:gd name="adj" fmla="val 16129"/>
            </a:avLst>
          </a:prstGeom>
          <a:solidFill>
            <a:srgbClr val="FFFFFF"/>
          </a:solidFill>
          <a:ln w="12700">
            <a:solidFill>
              <a:srgbClr val="C7D6DF"/>
            </a:solidFill>
            <a:prstDash val="solid"/>
          </a:ln>
        </p:spPr>
      </p:sp>
      <p:sp>
        <p:nvSpPr>
          <p:cNvPr id="10" name="Text 8"/>
          <p:cNvSpPr txBox="1"/>
          <p:nvPr/>
        </p:nvSpPr>
        <p:spPr>
          <a:xfrm>
            <a:off x="868680" y="3977640"/>
            <a:ext cx="2057400" cy="566928"/>
          </a:xfrm>
          <a:prstGeom prst="rect">
            <a:avLst/>
          </a:prstGeom>
          <a:noFill/>
          <a:ln/>
        </p:spPr>
        <p:txBody>
          <a:bodyPr wrap="square" lIns="0" tIns="0" rIns="0" bIns="0" rtlCol="0" anchor="ctr"/>
          <a:lstStyle/>
          <a:p>
            <a:pPr algn="ctr" indent="0" marL="0">
              <a:buNone/>
            </a:pPr>
            <a:r>
              <a:rPr lang="en-US" sz="1200" dirty="0">
                <a:solidFill>
                  <a:srgbClr val="1B2029"/>
                </a:solidFill>
                <a:latin typeface="Calibri" pitchFamily="34" charset="0"/>
                <a:ea typeface="Calibri" pitchFamily="34" charset="-122"/>
                <a:cs typeface="Calibri" pitchFamily="34" charset="-120"/>
              </a:rPr>
              <a:t>Anak A</a:t>
            </a:r>
            <a:endParaRPr lang="en-US" sz="1200" dirty="0"/>
          </a:p>
        </p:txBody>
      </p:sp>
      <p:sp>
        <p:nvSpPr>
          <p:cNvPr id="11" name="Shape 9"/>
          <p:cNvSpPr/>
          <p:nvPr/>
        </p:nvSpPr>
        <p:spPr>
          <a:xfrm>
            <a:off x="3566160" y="3977640"/>
            <a:ext cx="2057400" cy="566928"/>
          </a:xfrm>
          <a:prstGeom prst="roundRect">
            <a:avLst>
              <a:gd name="adj" fmla="val 16129"/>
            </a:avLst>
          </a:prstGeom>
          <a:solidFill>
            <a:srgbClr val="FFFFFF"/>
          </a:solidFill>
          <a:ln w="12700">
            <a:solidFill>
              <a:srgbClr val="C7D6DF"/>
            </a:solidFill>
            <a:prstDash val="solid"/>
          </a:ln>
        </p:spPr>
      </p:sp>
      <p:sp>
        <p:nvSpPr>
          <p:cNvPr id="12" name="Text 10"/>
          <p:cNvSpPr txBox="1"/>
          <p:nvPr/>
        </p:nvSpPr>
        <p:spPr>
          <a:xfrm>
            <a:off x="3566160" y="3977640"/>
            <a:ext cx="2057400" cy="566928"/>
          </a:xfrm>
          <a:prstGeom prst="rect">
            <a:avLst/>
          </a:prstGeom>
          <a:noFill/>
          <a:ln/>
        </p:spPr>
        <p:txBody>
          <a:bodyPr wrap="square" lIns="0" tIns="0" rIns="0" bIns="0" rtlCol="0" anchor="ctr"/>
          <a:lstStyle/>
          <a:p>
            <a:pPr algn="ctr" indent="0" marL="0">
              <a:buNone/>
            </a:pPr>
            <a:r>
              <a:rPr lang="en-US" sz="1200" dirty="0">
                <a:solidFill>
                  <a:srgbClr val="1B2029"/>
                </a:solidFill>
                <a:latin typeface="Calibri" pitchFamily="34" charset="0"/>
                <a:ea typeface="Calibri" pitchFamily="34" charset="-122"/>
                <a:cs typeface="Calibri" pitchFamily="34" charset="-120"/>
              </a:rPr>
              <a:t>Anak B</a:t>
            </a:r>
            <a:endParaRPr lang="en-US" sz="1200" dirty="0"/>
          </a:p>
        </p:txBody>
      </p:sp>
      <p:sp>
        <p:nvSpPr>
          <p:cNvPr id="13" name="Shape 11"/>
          <p:cNvSpPr/>
          <p:nvPr/>
        </p:nvSpPr>
        <p:spPr>
          <a:xfrm flipH="1">
            <a:off x="1901952" y="3355848"/>
            <a:ext cx="1344168" cy="621792"/>
          </a:xfrm>
          <a:prstGeom prst="line">
            <a:avLst/>
          </a:prstGeom>
          <a:noFill/>
          <a:ln w="19050">
            <a:solidFill>
              <a:srgbClr val="9FB3C0"/>
            </a:solidFill>
            <a:prstDash val="solid"/>
            <a:tailEnd type="triangle"/>
          </a:ln>
        </p:spPr>
      </p:sp>
      <p:sp>
        <p:nvSpPr>
          <p:cNvPr id="14" name="Shape 12"/>
          <p:cNvSpPr/>
          <p:nvPr/>
        </p:nvSpPr>
        <p:spPr>
          <a:xfrm>
            <a:off x="3246120" y="3355848"/>
            <a:ext cx="1344168" cy="621792"/>
          </a:xfrm>
          <a:prstGeom prst="line">
            <a:avLst/>
          </a:prstGeom>
          <a:noFill/>
          <a:ln w="19050">
            <a:solidFill>
              <a:srgbClr val="9FB3C0"/>
            </a:solidFill>
            <a:prstDash val="solid"/>
            <a:tailEnd type="triangle"/>
          </a:ln>
        </p:spPr>
      </p:sp>
      <p:sp>
        <p:nvSpPr>
          <p:cNvPr id="15" name="Text 13"/>
          <p:cNvSpPr txBox="1"/>
          <p:nvPr/>
        </p:nvSpPr>
        <p:spPr>
          <a:xfrm>
            <a:off x="804672" y="4709160"/>
            <a:ext cx="4937760" cy="274320"/>
          </a:xfrm>
          <a:prstGeom prst="rect">
            <a:avLst/>
          </a:prstGeom>
          <a:noFill/>
          <a:ln/>
        </p:spPr>
        <p:txBody>
          <a:bodyPr wrap="square" lIns="0" tIns="0" rIns="0" bIns="0" rtlCol="0" anchor="ctr"/>
          <a:lstStyle/>
          <a:p>
            <a:pPr algn="ctr" indent="0" marL="0">
              <a:buNone/>
            </a:pPr>
            <a:r>
              <a:rPr lang="en-US" sz="1050" dirty="0">
                <a:solidFill>
                  <a:srgbClr val="5C6672"/>
                </a:solidFill>
                <a:latin typeface="Calibri" pitchFamily="34" charset="0"/>
                <a:ea typeface="Calibri" pitchFamily="34" charset="-122"/>
                <a:cs typeface="Calibri" pitchFamily="34" charset="-120"/>
              </a:rPr>
              <a:t>props turun  ↓            fungsi callback naik  ↑</a:t>
            </a:r>
            <a:endParaRPr lang="en-US" sz="1050" dirty="0"/>
          </a:p>
        </p:txBody>
      </p:sp>
      <p:sp>
        <p:nvSpPr>
          <p:cNvPr id="16" name="Text 14"/>
          <p:cNvSpPr txBox="1"/>
          <p:nvPr/>
        </p:nvSpPr>
        <p:spPr>
          <a:xfrm>
            <a:off x="804672" y="5029200"/>
            <a:ext cx="4937760" cy="502920"/>
          </a:xfrm>
          <a:prstGeom prst="rect">
            <a:avLst/>
          </a:prstGeom>
          <a:noFill/>
          <a:ln/>
        </p:spPr>
        <p:txBody>
          <a:bodyPr wrap="square" lIns="0" tIns="0" rIns="0" bIns="0" rtlCol="0" anchor="t"/>
          <a:lstStyle/>
          <a:p>
            <a:pPr algn="ctr" indent="0" marL="0">
              <a:lnSpc>
                <a:spcPct val="110000"/>
              </a:lnSpc>
              <a:buNone/>
            </a:pPr>
            <a:r>
              <a:rPr lang="en-US" sz="1100" dirty="0">
                <a:solidFill>
                  <a:srgbClr val="5C6672"/>
                </a:solidFill>
                <a:latin typeface="Calibri" pitchFamily="34" charset="0"/>
                <a:ea typeface="Calibri" pitchFamily="34" charset="-122"/>
                <a:cs typeface="Calibri" pitchFamily="34" charset="-120"/>
              </a:rPr>
              <a:t>Anak mengubah data induk dengan memanggil fungsi yang dikirim sebagai props.</a:t>
            </a:r>
            <a:endParaRPr lang="en-US" sz="1100" dirty="0"/>
          </a:p>
        </p:txBody>
      </p:sp>
      <p:sp>
        <p:nvSpPr>
          <p:cNvPr id="17" name="Shape 15"/>
          <p:cNvSpPr/>
          <p:nvPr/>
        </p:nvSpPr>
        <p:spPr>
          <a:xfrm>
            <a:off x="6199632" y="1481328"/>
            <a:ext cx="5440680" cy="4112971"/>
          </a:xfrm>
          <a:prstGeom prst="roundRect">
            <a:avLst>
              <a:gd name="adj" fmla="val 2223"/>
            </a:avLst>
          </a:prstGeom>
          <a:solidFill>
            <a:srgbClr val="1B1F27"/>
          </a:solidFill>
          <a:ln w="12700">
            <a:solidFill>
              <a:srgbClr val="323945"/>
            </a:solidFill>
            <a:prstDash val="solid"/>
          </a:ln>
        </p:spPr>
      </p:sp>
      <p:sp>
        <p:nvSpPr>
          <p:cNvPr id="18" name="Text 16"/>
          <p:cNvSpPr txBox="1"/>
          <p:nvPr/>
        </p:nvSpPr>
        <p:spPr>
          <a:xfrm>
            <a:off x="6345936" y="1609344"/>
            <a:ext cx="5148072" cy="3856939"/>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Induk</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pesan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setPesan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&lt;Masukan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onKirim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setPesan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&lt;Tampilan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pesan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Masukan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onKirim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onKirim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target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Tampilan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Anda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menulis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pic>
        <p:nvPicPr>
          <p:cNvPr id="20"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1" name="Text 17"/>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2" name="Text 18"/>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Mengambil Data dari API</a:t>
            </a:r>
            <a:endParaRPr lang="en-US" sz="3200" dirty="0"/>
          </a:p>
        </p:txBody>
      </p:sp>
      <p:sp>
        <p:nvSpPr>
          <p:cNvPr id="4" name="Shape 2"/>
          <p:cNvSpPr/>
          <p:nvPr/>
        </p:nvSpPr>
        <p:spPr>
          <a:xfrm>
            <a:off x="548640" y="1481328"/>
            <a:ext cx="6720840" cy="4656125"/>
          </a:xfrm>
          <a:prstGeom prst="roundRect">
            <a:avLst>
              <a:gd name="adj" fmla="val 1964"/>
            </a:avLst>
          </a:prstGeom>
          <a:solidFill>
            <a:srgbClr val="1B1F27"/>
          </a:solidFill>
          <a:ln w="12700">
            <a:solidFill>
              <a:srgbClr val="323945"/>
            </a:solidFill>
            <a:prstDash val="solid"/>
          </a:ln>
        </p:spPr>
      </p:sp>
      <p:sp>
        <p:nvSpPr>
          <p:cNvPr id="5" name="Text 3"/>
          <p:cNvSpPr txBox="1"/>
          <p:nvPr/>
        </p:nvSpPr>
        <p:spPr>
          <a:xfrm>
            <a:off x="694944" y="1609344"/>
            <a:ext cx="6428232" cy="4400093"/>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DaftarArtikel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setLoading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true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null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useEffect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async</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ambilData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try</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await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fetch</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'/api/artikel'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ok</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throw</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new</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'Gagal memuat'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await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res</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json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catch</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message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finally</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setLoading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false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ambilData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loading</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Memuat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Terjadi</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kesalahan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error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data</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map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7543800" y="1481328"/>
            <a:ext cx="409651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Tiga kondisi wajib ditangani</a:t>
            </a:r>
            <a:endParaRPr lang="en-US" sz="1400" dirty="0"/>
          </a:p>
        </p:txBody>
      </p:sp>
      <p:sp>
        <p:nvSpPr>
          <p:cNvPr id="7" name="Shape 5"/>
          <p:cNvSpPr/>
          <p:nvPr/>
        </p:nvSpPr>
        <p:spPr>
          <a:xfrm>
            <a:off x="7543800" y="1874520"/>
            <a:ext cx="4096512" cy="914400"/>
          </a:xfrm>
          <a:prstGeom prst="roundRect">
            <a:avLst>
              <a:gd name="adj" fmla="val 120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8" name="Shape 6"/>
          <p:cNvSpPr/>
          <p:nvPr/>
        </p:nvSpPr>
        <p:spPr>
          <a:xfrm>
            <a:off x="7744968" y="2075688"/>
            <a:ext cx="512064" cy="512064"/>
          </a:xfrm>
          <a:prstGeom prst="ellipse">
            <a:avLst/>
          </a:prstGeom>
          <a:solidFill>
            <a:srgbClr val="1E90AF"/>
          </a:solidFill>
          <a:ln w="12700">
            <a:solidFill>
              <a:srgbClr val="1E90AF"/>
            </a:solidFill>
            <a:prstDash val="solid"/>
          </a:ln>
        </p:spPr>
      </p:sp>
      <p:pic>
        <p:nvPicPr>
          <p:cNvPr id="9" name="Image 0" descr="preencoded.png">    </p:cNvPr>
          <p:cNvPicPr>
            <a:picLocks noChangeAspect="1"/>
          </p:cNvPicPr>
          <p:nvPr/>
        </p:nvPicPr>
        <p:blipFill>
          <a:blip r:embed="rId1"/>
          <a:stretch>
            <a:fillRect/>
          </a:stretch>
        </p:blipFill>
        <p:spPr>
          <a:xfrm>
            <a:off x="7878105" y="2208825"/>
            <a:ext cx="245791" cy="245791"/>
          </a:xfrm>
          <a:prstGeom prst="rect">
            <a:avLst/>
          </a:prstGeom>
        </p:spPr>
      </p:pic>
      <p:sp>
        <p:nvSpPr>
          <p:cNvPr id="10" name="Text 7"/>
          <p:cNvSpPr txBox="1"/>
          <p:nvPr/>
        </p:nvSpPr>
        <p:spPr>
          <a:xfrm>
            <a:off x="8394192" y="2020824"/>
            <a:ext cx="310896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Loading</a:t>
            </a:r>
            <a:endParaRPr lang="en-US" sz="1300" dirty="0"/>
          </a:p>
        </p:txBody>
      </p:sp>
      <p:sp>
        <p:nvSpPr>
          <p:cNvPr id="11" name="Text 8"/>
          <p:cNvSpPr txBox="1"/>
          <p:nvPr/>
        </p:nvSpPr>
        <p:spPr>
          <a:xfrm>
            <a:off x="8394192" y="2295144"/>
            <a:ext cx="3108960" cy="438912"/>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Tampilkan indikator agar pengguna tahu proses berjalan.</a:t>
            </a:r>
            <a:endParaRPr lang="en-US" sz="1050" dirty="0"/>
          </a:p>
        </p:txBody>
      </p:sp>
      <p:sp>
        <p:nvSpPr>
          <p:cNvPr id="12" name="Shape 9"/>
          <p:cNvSpPr/>
          <p:nvPr/>
        </p:nvSpPr>
        <p:spPr>
          <a:xfrm>
            <a:off x="7543800" y="2926080"/>
            <a:ext cx="4096512" cy="914400"/>
          </a:xfrm>
          <a:prstGeom prst="roundRect">
            <a:avLst>
              <a:gd name="adj" fmla="val 120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3" name="Shape 10"/>
          <p:cNvSpPr/>
          <p:nvPr/>
        </p:nvSpPr>
        <p:spPr>
          <a:xfrm>
            <a:off x="7744968" y="3127248"/>
            <a:ext cx="512064" cy="512064"/>
          </a:xfrm>
          <a:prstGeom prst="ellipse">
            <a:avLst/>
          </a:prstGeom>
          <a:solidFill>
            <a:srgbClr val="FF6B6B"/>
          </a:solidFill>
          <a:ln w="12700">
            <a:solidFill>
              <a:srgbClr val="FF6B6B"/>
            </a:solidFill>
            <a:prstDash val="solid"/>
          </a:ln>
        </p:spPr>
      </p:sp>
      <p:pic>
        <p:nvPicPr>
          <p:cNvPr id="14" name="Image 1" descr="preencoded.png">    </p:cNvPr>
          <p:cNvPicPr>
            <a:picLocks noChangeAspect="1"/>
          </p:cNvPicPr>
          <p:nvPr/>
        </p:nvPicPr>
        <p:blipFill>
          <a:blip r:embed="rId2"/>
          <a:stretch>
            <a:fillRect/>
          </a:stretch>
        </p:blipFill>
        <p:spPr>
          <a:xfrm>
            <a:off x="7878105" y="3260385"/>
            <a:ext cx="245791" cy="245791"/>
          </a:xfrm>
          <a:prstGeom prst="rect">
            <a:avLst/>
          </a:prstGeom>
        </p:spPr>
      </p:pic>
      <p:sp>
        <p:nvSpPr>
          <p:cNvPr id="15" name="Text 11"/>
          <p:cNvSpPr txBox="1"/>
          <p:nvPr/>
        </p:nvSpPr>
        <p:spPr>
          <a:xfrm>
            <a:off x="8394192" y="3072384"/>
            <a:ext cx="310896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Error</a:t>
            </a:r>
            <a:endParaRPr lang="en-US" sz="1300" dirty="0"/>
          </a:p>
        </p:txBody>
      </p:sp>
      <p:sp>
        <p:nvSpPr>
          <p:cNvPr id="16" name="Text 12"/>
          <p:cNvSpPr txBox="1"/>
          <p:nvPr/>
        </p:nvSpPr>
        <p:spPr>
          <a:xfrm>
            <a:off x="8394192" y="3346704"/>
            <a:ext cx="3108960" cy="438912"/>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Sediakan pesan yang jelas dan opsi mencoba lagi.</a:t>
            </a:r>
            <a:endParaRPr lang="en-US" sz="1050" dirty="0"/>
          </a:p>
        </p:txBody>
      </p:sp>
      <p:sp>
        <p:nvSpPr>
          <p:cNvPr id="17" name="Shape 13"/>
          <p:cNvSpPr/>
          <p:nvPr/>
        </p:nvSpPr>
        <p:spPr>
          <a:xfrm>
            <a:off x="7543800" y="3977640"/>
            <a:ext cx="4096512" cy="914400"/>
          </a:xfrm>
          <a:prstGeom prst="roundRect">
            <a:avLst>
              <a:gd name="adj" fmla="val 120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8" name="Shape 14"/>
          <p:cNvSpPr/>
          <p:nvPr/>
        </p:nvSpPr>
        <p:spPr>
          <a:xfrm>
            <a:off x="7744968" y="4178808"/>
            <a:ext cx="512064" cy="512064"/>
          </a:xfrm>
          <a:prstGeom prst="ellipse">
            <a:avLst/>
          </a:prstGeom>
          <a:solidFill>
            <a:srgbClr val="1F7A57"/>
          </a:solidFill>
          <a:ln w="12700">
            <a:solidFill>
              <a:srgbClr val="1F7A57"/>
            </a:solidFill>
            <a:prstDash val="solid"/>
          </a:ln>
        </p:spPr>
      </p:sp>
      <p:pic>
        <p:nvPicPr>
          <p:cNvPr id="19" name="Image 2" descr="preencoded.png">    </p:cNvPr>
          <p:cNvPicPr>
            <a:picLocks noChangeAspect="1"/>
          </p:cNvPicPr>
          <p:nvPr/>
        </p:nvPicPr>
        <p:blipFill>
          <a:blip r:embed="rId3"/>
          <a:stretch>
            <a:fillRect/>
          </a:stretch>
        </p:blipFill>
        <p:spPr>
          <a:xfrm>
            <a:off x="7878105" y="4311945"/>
            <a:ext cx="245791" cy="245791"/>
          </a:xfrm>
          <a:prstGeom prst="rect">
            <a:avLst/>
          </a:prstGeom>
        </p:spPr>
      </p:pic>
      <p:sp>
        <p:nvSpPr>
          <p:cNvPr id="20" name="Text 15"/>
          <p:cNvSpPr txBox="1"/>
          <p:nvPr/>
        </p:nvSpPr>
        <p:spPr>
          <a:xfrm>
            <a:off x="8394192" y="4123944"/>
            <a:ext cx="310896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Sukses</a:t>
            </a:r>
            <a:endParaRPr lang="en-US" sz="1300" dirty="0"/>
          </a:p>
        </p:txBody>
      </p:sp>
      <p:sp>
        <p:nvSpPr>
          <p:cNvPr id="21" name="Text 16"/>
          <p:cNvSpPr txBox="1"/>
          <p:nvPr/>
        </p:nvSpPr>
        <p:spPr>
          <a:xfrm>
            <a:off x="8394192" y="4398264"/>
            <a:ext cx="3108960" cy="438912"/>
          </a:xfrm>
          <a:prstGeom prst="rect">
            <a:avLst/>
          </a:prstGeom>
          <a:noFill/>
          <a:ln/>
        </p:spPr>
        <p:txBody>
          <a:bodyPr wrap="square" lIns="0" tIns="0" rIns="0" bIns="0" rtlCol="0" anchor="t"/>
          <a:lstStyle/>
          <a:p>
            <a:pPr indent="0" marL="0">
              <a:lnSpc>
                <a:spcPct val="108000"/>
              </a:lnSpc>
              <a:buNone/>
            </a:pPr>
            <a:r>
              <a:rPr lang="en-US" sz="1050" dirty="0">
                <a:solidFill>
                  <a:srgbClr val="5C6672"/>
                </a:solidFill>
                <a:latin typeface="Calibri" pitchFamily="34" charset="0"/>
                <a:ea typeface="Calibri" pitchFamily="34" charset="-122"/>
                <a:cs typeface="Calibri" pitchFamily="34" charset="-120"/>
              </a:rPr>
              <a:t>Tampilkan data; siapkan tampilan khusus bila data kosong.</a:t>
            </a:r>
            <a:endParaRPr lang="en-US" sz="1050" dirty="0"/>
          </a:p>
        </p:txBody>
      </p:sp>
      <p:sp>
        <p:nvSpPr>
          <p:cNvPr id="22" name="Shape 17"/>
          <p:cNvSpPr/>
          <p:nvPr/>
        </p:nvSpPr>
        <p:spPr>
          <a:xfrm>
            <a:off x="7543800" y="5074920"/>
            <a:ext cx="4096512" cy="914400"/>
          </a:xfrm>
          <a:prstGeom prst="roundRect">
            <a:avLst>
              <a:gd name="adj" fmla="val 12000"/>
            </a:avLst>
          </a:prstGeom>
          <a:solidFill>
            <a:srgbClr val="20232A"/>
          </a:solidFill>
          <a:ln w="12700">
            <a:solidFill>
              <a:srgbClr val="20232A"/>
            </a:solidFill>
            <a:prstDash val="solid"/>
          </a:ln>
        </p:spPr>
      </p:sp>
      <p:pic>
        <p:nvPicPr>
          <p:cNvPr id="23" name="Image 3" descr="preencoded.png">    </p:cNvPr>
          <p:cNvPicPr>
            <a:picLocks noChangeAspect="1"/>
          </p:cNvPicPr>
          <p:nvPr/>
        </p:nvPicPr>
        <p:blipFill>
          <a:blip r:embed="rId4"/>
          <a:stretch>
            <a:fillRect/>
          </a:stretch>
        </p:blipFill>
        <p:spPr>
          <a:xfrm>
            <a:off x="7772400" y="5285232"/>
            <a:ext cx="457200" cy="457200"/>
          </a:xfrm>
          <a:prstGeom prst="rect">
            <a:avLst/>
          </a:prstGeom>
        </p:spPr>
      </p:pic>
      <p:sp>
        <p:nvSpPr>
          <p:cNvPr id="24" name="Text 18"/>
          <p:cNvSpPr txBox="1"/>
          <p:nvPr/>
        </p:nvSpPr>
        <p:spPr>
          <a:xfrm>
            <a:off x="8366760" y="5166360"/>
            <a:ext cx="3108960" cy="731520"/>
          </a:xfrm>
          <a:prstGeom prst="rect">
            <a:avLst/>
          </a:prstGeom>
          <a:noFill/>
          <a:ln/>
        </p:spPr>
        <p:txBody>
          <a:bodyPr wrap="square" lIns="0" tIns="0" rIns="0" bIns="0" rtlCol="0" anchor="ctr"/>
          <a:lstStyle/>
          <a:p>
            <a:pPr indent="0" marL="0">
              <a:lnSpc>
                <a:spcPct val="110000"/>
              </a:lnSpc>
              <a:buNone/>
            </a:pPr>
            <a:r>
              <a:rPr lang="en-US" sz="1050" dirty="0">
                <a:solidFill>
                  <a:srgbClr val="CFE9F5"/>
                </a:solidFill>
                <a:latin typeface="Calibri" pitchFamily="34" charset="0"/>
                <a:ea typeface="Calibri" pitchFamily="34" charset="-122"/>
                <a:cs typeface="Calibri" pitchFamily="34" charset="-120"/>
              </a:rPr>
              <a:t>Untuk proyek nyata gunakan TanStack Query atau SWR: caching, retry, dan sinkronisasi otomatis.</a:t>
            </a:r>
            <a:endParaRPr lang="en-US" sz="1050" dirty="0"/>
          </a:p>
        </p:txBody>
      </p:sp>
      <p:pic>
        <p:nvPicPr>
          <p:cNvPr id="26"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27" name="Text 19"/>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8" name="Text 20"/>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Navigasi Halaman dengan React Router</a:t>
            </a:r>
            <a:endParaRPr lang="en-US" sz="3200" dirty="0"/>
          </a:p>
        </p:txBody>
      </p:sp>
      <p:pic>
        <p:nvPicPr>
          <p:cNvPr id="4" name="Image 0" descr="preencoded.png">    </p:cNvPr>
          <p:cNvPicPr>
            <a:picLocks noChangeAspect="1"/>
          </p:cNvPicPr>
          <p:nvPr/>
        </p:nvPicPr>
        <p:blipFill>
          <a:blip r:embed="rId1"/>
          <a:stretch>
            <a:fillRect/>
          </a:stretch>
        </p:blipFill>
        <p:spPr>
          <a:xfrm>
            <a:off x="10881360" y="566928"/>
            <a:ext cx="731520" cy="731520"/>
          </a:xfrm>
          <a:prstGeom prst="rect">
            <a:avLst/>
          </a:prstGeom>
        </p:spPr>
      </p:pic>
      <p:sp>
        <p:nvSpPr>
          <p:cNvPr id="5" name="Shape 2"/>
          <p:cNvSpPr/>
          <p:nvPr/>
        </p:nvSpPr>
        <p:spPr>
          <a:xfrm>
            <a:off x="548640" y="1481328"/>
            <a:ext cx="6446520" cy="4285793"/>
          </a:xfrm>
          <a:prstGeom prst="roundRect">
            <a:avLst>
              <a:gd name="adj" fmla="val 2134"/>
            </a:avLst>
          </a:prstGeom>
          <a:solidFill>
            <a:srgbClr val="1B1F27"/>
          </a:solidFill>
          <a:ln w="12700">
            <a:solidFill>
              <a:srgbClr val="323945"/>
            </a:solidFill>
            <a:prstDash val="solid"/>
          </a:ln>
        </p:spPr>
      </p:sp>
      <p:sp>
        <p:nvSpPr>
          <p:cNvPr id="6" name="Text 3"/>
          <p:cNvSpPr txBox="1"/>
          <p:nvPr/>
        </p:nvSpPr>
        <p:spPr>
          <a:xfrm>
            <a:off x="694944" y="1609344"/>
            <a:ext cx="6153912" cy="4029761"/>
          </a:xfrm>
          <a:prstGeom prst="rect">
            <a:avLst/>
          </a:prstGeom>
          <a:noFill/>
          <a:ln/>
        </p:spPr>
        <p:txBody>
          <a:bodyPr wrap="square" lIns="0" tIns="0" rIns="0" bIns="0" rtlCol="0" anchor="t"/>
          <a:lstStyle/>
          <a:p>
            <a:pPr indent="0" marL="0">
              <a:lnSpc>
                <a:spcPct val="106000"/>
              </a:lnSpc>
              <a:buNone/>
            </a:pPr>
            <a:r>
              <a:rPr lang="en-US" sz="1150" dirty="0">
                <a:solidFill>
                  <a:srgbClr val="7A8796"/>
                </a:solidFill>
                <a:latin typeface="Courier New" pitchFamily="34" charset="0"/>
                <a:ea typeface="Courier New" pitchFamily="34" charset="-122"/>
                <a:cs typeface="Courier New" pitchFamily="34" charset="-120"/>
              </a:rPr>
              <a:t>// npm install react-router-dom</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BrowserRouter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Routes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Route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Link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'react-router-dom'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App</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&lt;BrowserRouter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&lt;nav</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&lt;Link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Beranda</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&lt;/Link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&lt;Link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"/tentang"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Tentang</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&lt;/Link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&lt;/nav</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path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element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&lt;Beranda</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path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"/tentang"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element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&lt;Tentang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path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"/produk/:id"</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element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&lt;Detail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path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element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&lt;TidakDitemukan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&lt;/Routes</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&lt;/BrowserRouter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7" name="Text 4"/>
          <p:cNvSpPr txBox="1"/>
          <p:nvPr/>
        </p:nvSpPr>
        <p:spPr>
          <a:xfrm>
            <a:off x="7223760" y="1481328"/>
            <a:ext cx="441655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Komponen &amp; hook utama</a:t>
            </a:r>
            <a:endParaRPr lang="en-US" sz="1400" dirty="0"/>
          </a:p>
        </p:txBody>
      </p:sp>
      <p:sp>
        <p:nvSpPr>
          <p:cNvPr id="8" name="Shape 5"/>
          <p:cNvSpPr/>
          <p:nvPr/>
        </p:nvSpPr>
        <p:spPr>
          <a:xfrm>
            <a:off x="7223760" y="1874520"/>
            <a:ext cx="4416552" cy="658368"/>
          </a:xfrm>
          <a:prstGeom prst="roundRect">
            <a:avLst>
              <a:gd name="adj" fmla="val 16667"/>
            </a:avLst>
          </a:prstGeom>
          <a:solidFill>
            <a:srgbClr val="F2F6F9"/>
          </a:solidFill>
          <a:ln w="12700">
            <a:solidFill>
              <a:srgbClr val="F2F6F9"/>
            </a:solidFill>
            <a:prstDash val="solid"/>
          </a:ln>
        </p:spPr>
      </p:sp>
      <p:sp>
        <p:nvSpPr>
          <p:cNvPr id="9" name="Text 6"/>
          <p:cNvSpPr txBox="1"/>
          <p:nvPr/>
        </p:nvSpPr>
        <p:spPr>
          <a:xfrm>
            <a:off x="7424928" y="1947672"/>
            <a:ext cx="4023360" cy="256032"/>
          </a:xfrm>
          <a:prstGeom prst="rect">
            <a:avLst/>
          </a:prstGeom>
          <a:noFill/>
          <a:ln/>
        </p:spPr>
        <p:txBody>
          <a:bodyPr wrap="square" lIns="0" tIns="0" rIns="0" bIns="0" rtlCol="0" anchor="ctr"/>
          <a:lstStyle/>
          <a:p>
            <a:pPr indent="0" marL="0">
              <a:buNone/>
            </a:pPr>
            <a:r>
              <a:rPr lang="en-US" sz="1200" b="1" dirty="0">
                <a:solidFill>
                  <a:srgbClr val="1E90AF"/>
                </a:solidFill>
                <a:latin typeface="Courier New" pitchFamily="34" charset="0"/>
                <a:ea typeface="Courier New" pitchFamily="34" charset="-122"/>
                <a:cs typeface="Courier New" pitchFamily="34" charset="-120"/>
              </a:rPr>
              <a:t>BrowserRouter</a:t>
            </a:r>
            <a:endParaRPr lang="en-US" sz="1200" dirty="0"/>
          </a:p>
        </p:txBody>
      </p:sp>
      <p:sp>
        <p:nvSpPr>
          <p:cNvPr id="10" name="Text 7"/>
          <p:cNvSpPr txBox="1"/>
          <p:nvPr/>
        </p:nvSpPr>
        <p:spPr>
          <a:xfrm>
            <a:off x="7424928" y="2203704"/>
            <a:ext cx="4023360" cy="274320"/>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Membungkus aplikasi dan mengaktifkan routing.</a:t>
            </a:r>
            <a:endParaRPr lang="en-US" sz="1050" dirty="0"/>
          </a:p>
        </p:txBody>
      </p:sp>
      <p:sp>
        <p:nvSpPr>
          <p:cNvPr id="11" name="Shape 8"/>
          <p:cNvSpPr/>
          <p:nvPr/>
        </p:nvSpPr>
        <p:spPr>
          <a:xfrm>
            <a:off x="7223760" y="2660904"/>
            <a:ext cx="4416552" cy="658368"/>
          </a:xfrm>
          <a:prstGeom prst="roundRect">
            <a:avLst>
              <a:gd name="adj" fmla="val 16667"/>
            </a:avLst>
          </a:prstGeom>
          <a:solidFill>
            <a:srgbClr val="F2F6F9"/>
          </a:solidFill>
          <a:ln w="12700">
            <a:solidFill>
              <a:srgbClr val="F2F6F9"/>
            </a:solidFill>
            <a:prstDash val="solid"/>
          </a:ln>
        </p:spPr>
      </p:sp>
      <p:sp>
        <p:nvSpPr>
          <p:cNvPr id="12" name="Text 9"/>
          <p:cNvSpPr txBox="1"/>
          <p:nvPr/>
        </p:nvSpPr>
        <p:spPr>
          <a:xfrm>
            <a:off x="7424928" y="2734056"/>
            <a:ext cx="4023360" cy="256032"/>
          </a:xfrm>
          <a:prstGeom prst="rect">
            <a:avLst/>
          </a:prstGeom>
          <a:noFill/>
          <a:ln/>
        </p:spPr>
        <p:txBody>
          <a:bodyPr wrap="square" lIns="0" tIns="0" rIns="0" bIns="0" rtlCol="0" anchor="ctr"/>
          <a:lstStyle/>
          <a:p>
            <a:pPr indent="0" marL="0">
              <a:buNone/>
            </a:pPr>
            <a:r>
              <a:rPr lang="en-US" sz="1200" b="1" dirty="0">
                <a:solidFill>
                  <a:srgbClr val="1E90AF"/>
                </a:solidFill>
                <a:latin typeface="Courier New" pitchFamily="34" charset="0"/>
                <a:ea typeface="Courier New" pitchFamily="34" charset="-122"/>
                <a:cs typeface="Courier New" pitchFamily="34" charset="-120"/>
              </a:rPr>
              <a:t>Routes &amp; Route</a:t>
            </a:r>
            <a:endParaRPr lang="en-US" sz="1200" dirty="0"/>
          </a:p>
        </p:txBody>
      </p:sp>
      <p:sp>
        <p:nvSpPr>
          <p:cNvPr id="13" name="Text 10"/>
          <p:cNvSpPr txBox="1"/>
          <p:nvPr/>
        </p:nvSpPr>
        <p:spPr>
          <a:xfrm>
            <a:off x="7424928" y="2990088"/>
            <a:ext cx="4023360" cy="274320"/>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Memetakan alamat URL ke komponen halaman.</a:t>
            </a:r>
            <a:endParaRPr lang="en-US" sz="1050" dirty="0"/>
          </a:p>
        </p:txBody>
      </p:sp>
      <p:sp>
        <p:nvSpPr>
          <p:cNvPr id="14" name="Shape 11"/>
          <p:cNvSpPr/>
          <p:nvPr/>
        </p:nvSpPr>
        <p:spPr>
          <a:xfrm>
            <a:off x="7223760" y="3447288"/>
            <a:ext cx="4416552" cy="658368"/>
          </a:xfrm>
          <a:prstGeom prst="roundRect">
            <a:avLst>
              <a:gd name="adj" fmla="val 16667"/>
            </a:avLst>
          </a:prstGeom>
          <a:solidFill>
            <a:srgbClr val="F2F6F9"/>
          </a:solidFill>
          <a:ln w="12700">
            <a:solidFill>
              <a:srgbClr val="F2F6F9"/>
            </a:solidFill>
            <a:prstDash val="solid"/>
          </a:ln>
        </p:spPr>
      </p:sp>
      <p:sp>
        <p:nvSpPr>
          <p:cNvPr id="15" name="Text 12"/>
          <p:cNvSpPr txBox="1"/>
          <p:nvPr/>
        </p:nvSpPr>
        <p:spPr>
          <a:xfrm>
            <a:off x="7424928" y="3520440"/>
            <a:ext cx="4023360" cy="256032"/>
          </a:xfrm>
          <a:prstGeom prst="rect">
            <a:avLst/>
          </a:prstGeom>
          <a:noFill/>
          <a:ln/>
        </p:spPr>
        <p:txBody>
          <a:bodyPr wrap="square" lIns="0" tIns="0" rIns="0" bIns="0" rtlCol="0" anchor="ctr"/>
          <a:lstStyle/>
          <a:p>
            <a:pPr indent="0" marL="0">
              <a:buNone/>
            </a:pPr>
            <a:r>
              <a:rPr lang="en-US" sz="1200" b="1" dirty="0">
                <a:solidFill>
                  <a:srgbClr val="1E90AF"/>
                </a:solidFill>
                <a:latin typeface="Courier New" pitchFamily="34" charset="0"/>
                <a:ea typeface="Courier New" pitchFamily="34" charset="-122"/>
                <a:cs typeface="Courier New" pitchFamily="34" charset="-120"/>
              </a:rPr>
              <a:t>Link</a:t>
            </a:r>
            <a:endParaRPr lang="en-US" sz="1200" dirty="0"/>
          </a:p>
        </p:txBody>
      </p:sp>
      <p:sp>
        <p:nvSpPr>
          <p:cNvPr id="16" name="Text 13"/>
          <p:cNvSpPr txBox="1"/>
          <p:nvPr/>
        </p:nvSpPr>
        <p:spPr>
          <a:xfrm>
            <a:off x="7424928" y="3776472"/>
            <a:ext cx="4023360" cy="274320"/>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Navigasi tanpa memuat ulang halaman.</a:t>
            </a:r>
            <a:endParaRPr lang="en-US" sz="1050" dirty="0"/>
          </a:p>
        </p:txBody>
      </p:sp>
      <p:sp>
        <p:nvSpPr>
          <p:cNvPr id="17" name="Shape 14"/>
          <p:cNvSpPr/>
          <p:nvPr/>
        </p:nvSpPr>
        <p:spPr>
          <a:xfrm>
            <a:off x="7223760" y="4233672"/>
            <a:ext cx="4416552" cy="658368"/>
          </a:xfrm>
          <a:prstGeom prst="roundRect">
            <a:avLst>
              <a:gd name="adj" fmla="val 16667"/>
            </a:avLst>
          </a:prstGeom>
          <a:solidFill>
            <a:srgbClr val="F2F6F9"/>
          </a:solidFill>
          <a:ln w="12700">
            <a:solidFill>
              <a:srgbClr val="F2F6F9"/>
            </a:solidFill>
            <a:prstDash val="solid"/>
          </a:ln>
        </p:spPr>
      </p:sp>
      <p:sp>
        <p:nvSpPr>
          <p:cNvPr id="18" name="Text 15"/>
          <p:cNvSpPr txBox="1"/>
          <p:nvPr/>
        </p:nvSpPr>
        <p:spPr>
          <a:xfrm>
            <a:off x="7424928" y="4306824"/>
            <a:ext cx="4023360" cy="256032"/>
          </a:xfrm>
          <a:prstGeom prst="rect">
            <a:avLst/>
          </a:prstGeom>
          <a:noFill/>
          <a:ln/>
        </p:spPr>
        <p:txBody>
          <a:bodyPr wrap="square" lIns="0" tIns="0" rIns="0" bIns="0" rtlCol="0" anchor="ctr"/>
          <a:lstStyle/>
          <a:p>
            <a:pPr indent="0" marL="0">
              <a:buNone/>
            </a:pPr>
            <a:r>
              <a:rPr lang="en-US" sz="1200" b="1" dirty="0">
                <a:solidFill>
                  <a:srgbClr val="1E90AF"/>
                </a:solidFill>
                <a:latin typeface="Courier New" pitchFamily="34" charset="0"/>
                <a:ea typeface="Courier New" pitchFamily="34" charset="-122"/>
                <a:cs typeface="Courier New" pitchFamily="34" charset="-120"/>
              </a:rPr>
              <a:t>useParams()</a:t>
            </a:r>
            <a:endParaRPr lang="en-US" sz="1200" dirty="0"/>
          </a:p>
        </p:txBody>
      </p:sp>
      <p:sp>
        <p:nvSpPr>
          <p:cNvPr id="19" name="Text 16"/>
          <p:cNvSpPr txBox="1"/>
          <p:nvPr/>
        </p:nvSpPr>
        <p:spPr>
          <a:xfrm>
            <a:off x="7424928" y="4562856"/>
            <a:ext cx="4023360" cy="274320"/>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Membaca bagian dinamis URL, misalnya :id.</a:t>
            </a:r>
            <a:endParaRPr lang="en-US" sz="1050" dirty="0"/>
          </a:p>
        </p:txBody>
      </p:sp>
      <p:sp>
        <p:nvSpPr>
          <p:cNvPr id="20" name="Shape 17"/>
          <p:cNvSpPr/>
          <p:nvPr/>
        </p:nvSpPr>
        <p:spPr>
          <a:xfrm>
            <a:off x="7223760" y="5020056"/>
            <a:ext cx="4416552" cy="658368"/>
          </a:xfrm>
          <a:prstGeom prst="roundRect">
            <a:avLst>
              <a:gd name="adj" fmla="val 16667"/>
            </a:avLst>
          </a:prstGeom>
          <a:solidFill>
            <a:srgbClr val="F2F6F9"/>
          </a:solidFill>
          <a:ln w="12700">
            <a:solidFill>
              <a:srgbClr val="F2F6F9"/>
            </a:solidFill>
            <a:prstDash val="solid"/>
          </a:ln>
        </p:spPr>
      </p:sp>
      <p:sp>
        <p:nvSpPr>
          <p:cNvPr id="21" name="Text 18"/>
          <p:cNvSpPr txBox="1"/>
          <p:nvPr/>
        </p:nvSpPr>
        <p:spPr>
          <a:xfrm>
            <a:off x="7424928" y="5093208"/>
            <a:ext cx="4023360" cy="256032"/>
          </a:xfrm>
          <a:prstGeom prst="rect">
            <a:avLst/>
          </a:prstGeom>
          <a:noFill/>
          <a:ln/>
        </p:spPr>
        <p:txBody>
          <a:bodyPr wrap="square" lIns="0" tIns="0" rIns="0" bIns="0" rtlCol="0" anchor="ctr"/>
          <a:lstStyle/>
          <a:p>
            <a:pPr indent="0" marL="0">
              <a:buNone/>
            </a:pPr>
            <a:r>
              <a:rPr lang="en-US" sz="1200" b="1" dirty="0">
                <a:solidFill>
                  <a:srgbClr val="1E90AF"/>
                </a:solidFill>
                <a:latin typeface="Courier New" pitchFamily="34" charset="0"/>
                <a:ea typeface="Courier New" pitchFamily="34" charset="-122"/>
                <a:cs typeface="Courier New" pitchFamily="34" charset="-120"/>
              </a:rPr>
              <a:t>useNavigate()</a:t>
            </a:r>
            <a:endParaRPr lang="en-US" sz="1200" dirty="0"/>
          </a:p>
        </p:txBody>
      </p:sp>
      <p:sp>
        <p:nvSpPr>
          <p:cNvPr id="22" name="Text 19"/>
          <p:cNvSpPr txBox="1"/>
          <p:nvPr/>
        </p:nvSpPr>
        <p:spPr>
          <a:xfrm>
            <a:off x="7424928" y="5349240"/>
            <a:ext cx="4023360" cy="274320"/>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Berpindah halaman lewat kode program.</a:t>
            </a:r>
            <a:endParaRPr lang="en-US" sz="1050" dirty="0"/>
          </a:p>
        </p:txBody>
      </p:sp>
      <p:sp>
        <p:nvSpPr>
          <p:cNvPr id="23" name="Text 20"/>
          <p:cNvSpPr txBox="1"/>
          <p:nvPr/>
        </p:nvSpPr>
        <p:spPr>
          <a:xfrm>
            <a:off x="7223760" y="5852160"/>
            <a:ext cx="4416552" cy="320040"/>
          </a:xfrm>
          <a:prstGeom prst="rect">
            <a:avLst/>
          </a:prstGeom>
          <a:noFill/>
          <a:ln/>
        </p:spPr>
        <p:txBody>
          <a:bodyPr wrap="square" lIns="0" tIns="0" rIns="0" bIns="0" rtlCol="0" anchor="ctr"/>
          <a:lstStyle/>
          <a:p>
            <a:pPr indent="0" marL="0">
              <a:buNone/>
            </a:pPr>
            <a:r>
              <a:rPr lang="en-US" sz="1050" i="1" dirty="0">
                <a:solidFill>
                  <a:srgbClr val="5C6672"/>
                </a:solidFill>
                <a:latin typeface="Calibri" pitchFamily="34" charset="0"/>
                <a:ea typeface="Calibri" pitchFamily="34" charset="-122"/>
                <a:cs typeface="Calibri" pitchFamily="34" charset="-120"/>
              </a:rPr>
              <a:t>SPA: pindah halaman tanpa memuat ulang dokumen.</a:t>
            </a:r>
            <a:endParaRPr lang="en-US" sz="1050" dirty="0"/>
          </a:p>
        </p:txBody>
      </p:sp>
      <p:pic>
        <p:nvPicPr>
          <p:cNvPr id="25"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26" name="Text 21"/>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7" name="Text 22"/>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Manajemen State Aplikasi</a:t>
            </a:r>
            <a:endParaRPr lang="en-US" sz="3200" dirty="0"/>
          </a:p>
        </p:txBody>
      </p:sp>
      <p:sp>
        <p:nvSpPr>
          <p:cNvPr id="4" name="Shape 2"/>
          <p:cNvSpPr/>
          <p:nvPr/>
        </p:nvSpPr>
        <p:spPr>
          <a:xfrm>
            <a:off x="548640" y="1481328"/>
            <a:ext cx="3575304" cy="3474720"/>
          </a:xfrm>
          <a:prstGeom prst="roundRect">
            <a:avLst>
              <a:gd name="adj" fmla="val 3158"/>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691640"/>
            <a:ext cx="603504" cy="603504"/>
          </a:xfrm>
          <a:prstGeom prst="ellipse">
            <a:avLst/>
          </a:prstGeom>
          <a:solidFill>
            <a:srgbClr val="F2F6F9"/>
          </a:solidFill>
          <a:ln w="12700">
            <a:solidFill>
              <a:srgbClr val="F2F6F9"/>
            </a:solidFill>
            <a:prstDash val="solid"/>
          </a:ln>
        </p:spPr>
      </p:sp>
      <p:pic>
        <p:nvPicPr>
          <p:cNvPr id="6" name="Image 0" descr="preencoded.png">    </p:cNvPr>
          <p:cNvPicPr>
            <a:picLocks noChangeAspect="1"/>
          </p:cNvPicPr>
          <p:nvPr/>
        </p:nvPicPr>
        <p:blipFill>
          <a:blip r:embed="rId1"/>
          <a:stretch>
            <a:fillRect/>
          </a:stretch>
        </p:blipFill>
        <p:spPr>
          <a:xfrm>
            <a:off x="960120" y="1847088"/>
            <a:ext cx="292608" cy="292608"/>
          </a:xfrm>
          <a:prstGeom prst="rect">
            <a:avLst/>
          </a:prstGeom>
        </p:spPr>
      </p:pic>
      <p:sp>
        <p:nvSpPr>
          <p:cNvPr id="7" name="Text 4"/>
          <p:cNvSpPr txBox="1"/>
          <p:nvPr/>
        </p:nvSpPr>
        <p:spPr>
          <a:xfrm>
            <a:off x="804672" y="2395728"/>
            <a:ext cx="306324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useState + Context</a:t>
            </a:r>
            <a:endParaRPr lang="en-US" sz="1500" dirty="0"/>
          </a:p>
        </p:txBody>
      </p:sp>
      <p:sp>
        <p:nvSpPr>
          <p:cNvPr id="8" name="Text 5"/>
          <p:cNvSpPr txBox="1"/>
          <p:nvPr/>
        </p:nvSpPr>
        <p:spPr>
          <a:xfrm>
            <a:off x="804672" y="2724912"/>
            <a:ext cx="3063240" cy="50292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Bawaan React, tanpa pustaka tambahan.</a:t>
            </a:r>
            <a:endParaRPr lang="en-US" sz="1150" dirty="0"/>
          </a:p>
        </p:txBody>
      </p:sp>
      <p:sp>
        <p:nvSpPr>
          <p:cNvPr id="9" name="Text 6"/>
          <p:cNvSpPr txBox="1"/>
          <p:nvPr/>
        </p:nvSpPr>
        <p:spPr>
          <a:xfrm>
            <a:off x="804672" y="3337560"/>
            <a:ext cx="3063240" cy="173736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Aplikasi kecil–menengah</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Data global sederhana</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Tema, bahasa, sesi login</a:t>
            </a:r>
            <a:endParaRPr lang="en-US" sz="1100" dirty="0"/>
          </a:p>
        </p:txBody>
      </p:sp>
      <p:sp>
        <p:nvSpPr>
          <p:cNvPr id="10" name="Shape 7"/>
          <p:cNvSpPr/>
          <p:nvPr/>
        </p:nvSpPr>
        <p:spPr>
          <a:xfrm>
            <a:off x="4306824" y="1481328"/>
            <a:ext cx="3575304" cy="3474720"/>
          </a:xfrm>
          <a:prstGeom prst="roundRect">
            <a:avLst>
              <a:gd name="adj" fmla="val 3158"/>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1" name="Shape 8"/>
          <p:cNvSpPr/>
          <p:nvPr/>
        </p:nvSpPr>
        <p:spPr>
          <a:xfrm>
            <a:off x="4562856" y="1691640"/>
            <a:ext cx="603504" cy="603504"/>
          </a:xfrm>
          <a:prstGeom prst="ellipse">
            <a:avLst/>
          </a:prstGeom>
          <a:solidFill>
            <a:srgbClr val="F2F6F9"/>
          </a:solidFill>
          <a:ln w="12700">
            <a:solidFill>
              <a:srgbClr val="F2F6F9"/>
            </a:solidFill>
            <a:prstDash val="solid"/>
          </a:ln>
        </p:spPr>
      </p:sp>
      <p:pic>
        <p:nvPicPr>
          <p:cNvPr id="12" name="Image 1" descr="preencoded.png">    </p:cNvPr>
          <p:cNvPicPr>
            <a:picLocks noChangeAspect="1"/>
          </p:cNvPicPr>
          <p:nvPr/>
        </p:nvPicPr>
        <p:blipFill>
          <a:blip r:embed="rId2"/>
          <a:stretch>
            <a:fillRect/>
          </a:stretch>
        </p:blipFill>
        <p:spPr>
          <a:xfrm>
            <a:off x="4718304" y="1847088"/>
            <a:ext cx="292608" cy="292608"/>
          </a:xfrm>
          <a:prstGeom prst="rect">
            <a:avLst/>
          </a:prstGeom>
        </p:spPr>
      </p:pic>
      <p:sp>
        <p:nvSpPr>
          <p:cNvPr id="13" name="Text 9"/>
          <p:cNvSpPr txBox="1"/>
          <p:nvPr/>
        </p:nvSpPr>
        <p:spPr>
          <a:xfrm>
            <a:off x="4562856" y="2395728"/>
            <a:ext cx="306324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Redux Toolkit</a:t>
            </a:r>
            <a:endParaRPr lang="en-US" sz="1500" dirty="0"/>
          </a:p>
        </p:txBody>
      </p:sp>
      <p:sp>
        <p:nvSpPr>
          <p:cNvPr id="14" name="Text 10"/>
          <p:cNvSpPr txBox="1"/>
          <p:nvPr/>
        </p:nvSpPr>
        <p:spPr>
          <a:xfrm>
            <a:off x="4562856" y="2724912"/>
            <a:ext cx="3063240" cy="50292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Standar industri untuk state kompleks.</a:t>
            </a:r>
            <a:endParaRPr lang="en-US" sz="1150" dirty="0"/>
          </a:p>
        </p:txBody>
      </p:sp>
      <p:sp>
        <p:nvSpPr>
          <p:cNvPr id="15" name="Text 11"/>
          <p:cNvSpPr txBox="1"/>
          <p:nvPr/>
        </p:nvSpPr>
        <p:spPr>
          <a:xfrm>
            <a:off x="4562856" y="3337560"/>
            <a:ext cx="3063240" cy="173736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Aplikasi besar &amp; tim besar</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Riwayat aksi dapat dilacak</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DevTools sangat lengkap</a:t>
            </a:r>
            <a:endParaRPr lang="en-US" sz="1100" dirty="0"/>
          </a:p>
        </p:txBody>
      </p:sp>
      <p:sp>
        <p:nvSpPr>
          <p:cNvPr id="16" name="Shape 12"/>
          <p:cNvSpPr/>
          <p:nvPr/>
        </p:nvSpPr>
        <p:spPr>
          <a:xfrm>
            <a:off x="8065008" y="1481328"/>
            <a:ext cx="3575304" cy="3474720"/>
          </a:xfrm>
          <a:prstGeom prst="roundRect">
            <a:avLst>
              <a:gd name="adj" fmla="val 3158"/>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7" name="Shape 13"/>
          <p:cNvSpPr/>
          <p:nvPr/>
        </p:nvSpPr>
        <p:spPr>
          <a:xfrm>
            <a:off x="8321040" y="1691640"/>
            <a:ext cx="603504" cy="603504"/>
          </a:xfrm>
          <a:prstGeom prst="ellipse">
            <a:avLst/>
          </a:prstGeom>
          <a:solidFill>
            <a:srgbClr val="F2F6F9"/>
          </a:solidFill>
          <a:ln w="12700">
            <a:solidFill>
              <a:srgbClr val="F2F6F9"/>
            </a:solidFill>
            <a:prstDash val="solid"/>
          </a:ln>
        </p:spPr>
      </p:sp>
      <p:pic>
        <p:nvPicPr>
          <p:cNvPr id="18" name="Image 2" descr="preencoded.png">    </p:cNvPr>
          <p:cNvPicPr>
            <a:picLocks noChangeAspect="1"/>
          </p:cNvPicPr>
          <p:nvPr/>
        </p:nvPicPr>
        <p:blipFill>
          <a:blip r:embed="rId3"/>
          <a:stretch>
            <a:fillRect/>
          </a:stretch>
        </p:blipFill>
        <p:spPr>
          <a:xfrm>
            <a:off x="8476488" y="1847088"/>
            <a:ext cx="292608" cy="292608"/>
          </a:xfrm>
          <a:prstGeom prst="rect">
            <a:avLst/>
          </a:prstGeom>
        </p:spPr>
      </p:pic>
      <p:sp>
        <p:nvSpPr>
          <p:cNvPr id="19" name="Text 14"/>
          <p:cNvSpPr txBox="1"/>
          <p:nvPr/>
        </p:nvSpPr>
        <p:spPr>
          <a:xfrm>
            <a:off x="8321040" y="2395728"/>
            <a:ext cx="3063240" cy="310896"/>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TanStack Query</a:t>
            </a:r>
            <a:endParaRPr lang="en-US" sz="1500" dirty="0"/>
          </a:p>
        </p:txBody>
      </p:sp>
      <p:sp>
        <p:nvSpPr>
          <p:cNvPr id="20" name="Text 15"/>
          <p:cNvSpPr txBox="1"/>
          <p:nvPr/>
        </p:nvSpPr>
        <p:spPr>
          <a:xfrm>
            <a:off x="8321040" y="2724912"/>
            <a:ext cx="3063240" cy="502920"/>
          </a:xfrm>
          <a:prstGeom prst="rect">
            <a:avLst/>
          </a:prstGeom>
          <a:noFill/>
          <a:ln/>
        </p:spPr>
        <p:txBody>
          <a:bodyPr wrap="square" lIns="0" tIns="0" rIns="0" bIns="0" rtlCol="0" anchor="t"/>
          <a:lstStyle/>
          <a:p>
            <a:pPr indent="0" marL="0">
              <a:lnSpc>
                <a:spcPct val="110000"/>
              </a:lnSpc>
              <a:buNone/>
            </a:pPr>
            <a:r>
              <a:rPr lang="en-US" sz="1150" dirty="0">
                <a:solidFill>
                  <a:srgbClr val="5C6672"/>
                </a:solidFill>
                <a:latin typeface="Calibri" pitchFamily="34" charset="0"/>
                <a:ea typeface="Calibri" pitchFamily="34" charset="-122"/>
                <a:cs typeface="Calibri" pitchFamily="34" charset="-120"/>
              </a:rPr>
              <a:t>Khusus data yang berasal dari server.</a:t>
            </a:r>
            <a:endParaRPr lang="en-US" sz="1150" dirty="0"/>
          </a:p>
        </p:txBody>
      </p:sp>
      <p:sp>
        <p:nvSpPr>
          <p:cNvPr id="21" name="Text 16"/>
          <p:cNvSpPr txBox="1"/>
          <p:nvPr/>
        </p:nvSpPr>
        <p:spPr>
          <a:xfrm>
            <a:off x="8321040" y="3337560"/>
            <a:ext cx="3063240" cy="173736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Caching otomatis</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Refetch &amp; retry bawaan</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Mengurangi kode useEffect</a:t>
            </a:r>
            <a:endParaRPr lang="en-US" sz="1100" dirty="0"/>
          </a:p>
        </p:txBody>
      </p:sp>
      <p:sp>
        <p:nvSpPr>
          <p:cNvPr id="22" name="Shape 17"/>
          <p:cNvSpPr/>
          <p:nvPr/>
        </p:nvSpPr>
        <p:spPr>
          <a:xfrm>
            <a:off x="548640" y="5230368"/>
            <a:ext cx="11091672" cy="749808"/>
          </a:xfrm>
          <a:prstGeom prst="roundRect">
            <a:avLst>
              <a:gd name="adj" fmla="val 14634"/>
            </a:avLst>
          </a:prstGeom>
          <a:solidFill>
            <a:srgbClr val="20232A"/>
          </a:solidFill>
          <a:ln w="12700">
            <a:solidFill>
              <a:srgbClr val="20232A"/>
            </a:solidFill>
            <a:prstDash val="solid"/>
          </a:ln>
        </p:spPr>
      </p:sp>
      <p:sp>
        <p:nvSpPr>
          <p:cNvPr id="23" name="Text 18"/>
          <p:cNvSpPr txBox="1"/>
          <p:nvPr/>
        </p:nvSpPr>
        <p:spPr>
          <a:xfrm>
            <a:off x="822960" y="5230368"/>
            <a:ext cx="10561320" cy="749808"/>
          </a:xfrm>
          <a:prstGeom prst="rect">
            <a:avLst/>
          </a:prstGeom>
          <a:noFill/>
          <a:ln/>
        </p:spPr>
        <p:txBody>
          <a:bodyPr wrap="square" lIns="0" tIns="0" rIns="0" bIns="0" rtlCol="0" anchor="ctr"/>
          <a:lstStyle/>
          <a:p>
            <a:pPr indent="0" marL="0">
              <a:buNone/>
            </a:pPr>
            <a:r>
              <a:rPr lang="en-US" sz="1150" dirty="0">
                <a:solidFill>
                  <a:srgbClr val="CFE9F5"/>
                </a:solidFill>
                <a:latin typeface="Calibri" pitchFamily="34" charset="0"/>
                <a:ea typeface="Calibri" pitchFamily="34" charset="-122"/>
                <a:cs typeface="Calibri" pitchFamily="34" charset="-120"/>
              </a:rPr>
              <a:t>Aturan praktis: mulai dari state lokal. Naik ke Context bila datanya dibutuhkan banyak komponen, dan gunakan pustaka khusus hanya ketika kompleksitas benar-benar menuntutnya.</a:t>
            </a:r>
            <a:endParaRPr lang="en-US" sz="1150" dirty="0"/>
          </a:p>
        </p:txBody>
      </p:sp>
      <p:pic>
        <p:nvPicPr>
          <p:cNvPr id="25" name="Image 3" descr="preencoded.png">    </p:cNvPr>
          <p:cNvPicPr>
            <a:picLocks noChangeAspect="1"/>
          </p:cNvPicPr>
          <p:nvPr/>
        </p:nvPicPr>
        <p:blipFill>
          <a:blip r:embed="rId4"/>
          <a:stretch>
            <a:fillRect/>
          </a:stretch>
        </p:blipFill>
        <p:spPr>
          <a:xfrm>
            <a:off x="502920" y="6382512"/>
            <a:ext cx="201168" cy="201168"/>
          </a:xfrm>
          <a:prstGeom prst="rect">
            <a:avLst/>
          </a:prstGeom>
        </p:spPr>
      </p:pic>
      <p:sp>
        <p:nvSpPr>
          <p:cNvPr id="26" name="Text 19"/>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7" name="Text 20"/>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MEMBANGUN APLIKASI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Cara Menata Tampilan (Styling)</a:t>
            </a:r>
            <a:endParaRPr lang="en-US" sz="3200" dirty="0"/>
          </a:p>
        </p:txBody>
      </p:sp>
      <p:sp>
        <p:nvSpPr>
          <p:cNvPr id="4" name="Shape 2"/>
          <p:cNvSpPr/>
          <p:nvPr/>
        </p:nvSpPr>
        <p:spPr>
          <a:xfrm>
            <a:off x="548640" y="1463040"/>
            <a:ext cx="5440680" cy="2103120"/>
          </a:xfrm>
          <a:prstGeom prst="roundRect">
            <a:avLst>
              <a:gd name="adj" fmla="val 5217"/>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664208"/>
            <a:ext cx="548640" cy="548640"/>
          </a:xfrm>
          <a:prstGeom prst="ellipse">
            <a:avLst/>
          </a:prstGeom>
          <a:solidFill>
            <a:srgbClr val="FFFFFF"/>
          </a:solidFill>
          <a:ln w="12700">
            <a:solidFill>
              <a:srgbClr val="DDE7ED"/>
            </a:solidFill>
            <a:prstDash val="solid"/>
          </a:ln>
        </p:spPr>
      </p:sp>
      <p:pic>
        <p:nvPicPr>
          <p:cNvPr id="6" name="Image 0" descr="preencoded.png">    </p:cNvPr>
          <p:cNvPicPr>
            <a:picLocks noChangeAspect="1"/>
          </p:cNvPicPr>
          <p:nvPr/>
        </p:nvPicPr>
        <p:blipFill>
          <a:blip r:embed="rId1"/>
          <a:stretch>
            <a:fillRect/>
          </a:stretch>
        </p:blipFill>
        <p:spPr>
          <a:xfrm>
            <a:off x="941832" y="1801368"/>
            <a:ext cx="274320" cy="274320"/>
          </a:xfrm>
          <a:prstGeom prst="rect">
            <a:avLst/>
          </a:prstGeom>
        </p:spPr>
      </p:pic>
      <p:sp>
        <p:nvSpPr>
          <p:cNvPr id="7" name="Text 4"/>
          <p:cNvSpPr txBox="1"/>
          <p:nvPr/>
        </p:nvSpPr>
        <p:spPr>
          <a:xfrm>
            <a:off x="1481328" y="1682496"/>
            <a:ext cx="420624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CSS Modules</a:t>
            </a:r>
            <a:endParaRPr lang="en-US" sz="1450" dirty="0"/>
          </a:p>
        </p:txBody>
      </p:sp>
      <p:sp>
        <p:nvSpPr>
          <p:cNvPr id="8" name="Text 5"/>
          <p:cNvSpPr txBox="1"/>
          <p:nvPr/>
        </p:nvSpPr>
        <p:spPr>
          <a:xfrm>
            <a:off x="1481328" y="1956816"/>
            <a:ext cx="420624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File .module.css dengan nama kelas yang otomatis unik per komponen.</a:t>
            </a:r>
            <a:endParaRPr lang="en-US" sz="1100" dirty="0"/>
          </a:p>
        </p:txBody>
      </p:sp>
      <p:sp>
        <p:nvSpPr>
          <p:cNvPr id="9" name="Shape 6"/>
          <p:cNvSpPr/>
          <p:nvPr/>
        </p:nvSpPr>
        <p:spPr>
          <a:xfrm>
            <a:off x="804672" y="2633472"/>
            <a:ext cx="4937760" cy="749808"/>
          </a:xfrm>
          <a:prstGeom prst="roundRect">
            <a:avLst>
              <a:gd name="adj" fmla="val 12195"/>
            </a:avLst>
          </a:prstGeom>
          <a:solidFill>
            <a:srgbClr val="1B1F27"/>
          </a:solidFill>
          <a:ln w="12700">
            <a:solidFill>
              <a:srgbClr val="323945"/>
            </a:solidFill>
            <a:prstDash val="solid"/>
          </a:ln>
        </p:spPr>
      </p:sp>
      <p:sp>
        <p:nvSpPr>
          <p:cNvPr id="10" name="Text 7"/>
          <p:cNvSpPr txBox="1"/>
          <p:nvPr/>
        </p:nvSpPr>
        <p:spPr>
          <a:xfrm>
            <a:off x="950976" y="2761488"/>
            <a:ext cx="4645152" cy="493776"/>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'./Kartu.module.css'</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kartu</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p:txBody>
      </p:sp>
      <p:sp>
        <p:nvSpPr>
          <p:cNvPr id="11" name="Shape 8"/>
          <p:cNvSpPr/>
          <p:nvPr/>
        </p:nvSpPr>
        <p:spPr>
          <a:xfrm>
            <a:off x="6199632" y="1463040"/>
            <a:ext cx="5440680" cy="2103120"/>
          </a:xfrm>
          <a:prstGeom prst="roundRect">
            <a:avLst>
              <a:gd name="adj" fmla="val 5217"/>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2" name="Shape 9"/>
          <p:cNvSpPr/>
          <p:nvPr/>
        </p:nvSpPr>
        <p:spPr>
          <a:xfrm>
            <a:off x="6455664" y="1664208"/>
            <a:ext cx="548640" cy="548640"/>
          </a:xfrm>
          <a:prstGeom prst="ellipse">
            <a:avLst/>
          </a:prstGeom>
          <a:solidFill>
            <a:srgbClr val="FFFFFF"/>
          </a:solidFill>
          <a:ln w="12700">
            <a:solidFill>
              <a:srgbClr val="DDE7ED"/>
            </a:solidFill>
            <a:prstDash val="solid"/>
          </a:ln>
        </p:spPr>
      </p:sp>
      <p:pic>
        <p:nvPicPr>
          <p:cNvPr id="13" name="Image 1" descr="preencoded.png">    </p:cNvPr>
          <p:cNvPicPr>
            <a:picLocks noChangeAspect="1"/>
          </p:cNvPicPr>
          <p:nvPr/>
        </p:nvPicPr>
        <p:blipFill>
          <a:blip r:embed="rId2"/>
          <a:stretch>
            <a:fillRect/>
          </a:stretch>
        </p:blipFill>
        <p:spPr>
          <a:xfrm>
            <a:off x="6592824" y="1801368"/>
            <a:ext cx="274320" cy="274320"/>
          </a:xfrm>
          <a:prstGeom prst="rect">
            <a:avLst/>
          </a:prstGeom>
        </p:spPr>
      </p:pic>
      <p:sp>
        <p:nvSpPr>
          <p:cNvPr id="14" name="Text 10"/>
          <p:cNvSpPr txBox="1"/>
          <p:nvPr/>
        </p:nvSpPr>
        <p:spPr>
          <a:xfrm>
            <a:off x="7132320" y="1682496"/>
            <a:ext cx="420624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Tailwind CSS</a:t>
            </a:r>
            <a:endParaRPr lang="en-US" sz="1450" dirty="0"/>
          </a:p>
        </p:txBody>
      </p:sp>
      <p:sp>
        <p:nvSpPr>
          <p:cNvPr id="15" name="Text 11"/>
          <p:cNvSpPr txBox="1"/>
          <p:nvPr/>
        </p:nvSpPr>
        <p:spPr>
          <a:xfrm>
            <a:off x="7132320" y="1956816"/>
            <a:ext cx="420624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Utility class langsung di JSX, cepat dan konsisten.</a:t>
            </a:r>
            <a:endParaRPr lang="en-US" sz="1100" dirty="0"/>
          </a:p>
        </p:txBody>
      </p:sp>
      <p:sp>
        <p:nvSpPr>
          <p:cNvPr id="16" name="Shape 12"/>
          <p:cNvSpPr/>
          <p:nvPr/>
        </p:nvSpPr>
        <p:spPr>
          <a:xfrm>
            <a:off x="6455664" y="2633472"/>
            <a:ext cx="4937760" cy="749808"/>
          </a:xfrm>
          <a:prstGeom prst="roundRect">
            <a:avLst>
              <a:gd name="adj" fmla="val 12195"/>
            </a:avLst>
          </a:prstGeom>
          <a:solidFill>
            <a:srgbClr val="1B1F27"/>
          </a:solidFill>
          <a:ln w="12700">
            <a:solidFill>
              <a:srgbClr val="323945"/>
            </a:solidFill>
            <a:prstDash val="solid"/>
          </a:ln>
        </p:spPr>
      </p:sp>
      <p:sp>
        <p:nvSpPr>
          <p:cNvPr id="17" name="Text 13"/>
          <p:cNvSpPr txBox="1"/>
          <p:nvPr/>
        </p:nvSpPr>
        <p:spPr>
          <a:xfrm>
            <a:off x="6601968" y="2761488"/>
            <a:ext cx="4645152" cy="493776"/>
          </a:xfrm>
          <a:prstGeom prst="rect">
            <a:avLst/>
          </a:prstGeom>
          <a:noFill/>
          <a:ln/>
        </p:spPr>
        <p:txBody>
          <a:bodyPr wrap="square" lIns="0" tIns="0" rIns="0" bIns="0" rtlCol="0" anchor="t"/>
          <a:lstStyle/>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className</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p</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4</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rounded</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bg</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white</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shadow</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&gt;</a:t>
            </a:r>
            <a:endParaRPr lang="en-US" sz="1000" dirty="0"/>
          </a:p>
        </p:txBody>
      </p:sp>
      <p:sp>
        <p:nvSpPr>
          <p:cNvPr id="18" name="Shape 14"/>
          <p:cNvSpPr/>
          <p:nvPr/>
        </p:nvSpPr>
        <p:spPr>
          <a:xfrm>
            <a:off x="548640" y="3703320"/>
            <a:ext cx="5440680" cy="2103120"/>
          </a:xfrm>
          <a:prstGeom prst="roundRect">
            <a:avLst>
              <a:gd name="adj" fmla="val 5217"/>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9" name="Shape 15"/>
          <p:cNvSpPr/>
          <p:nvPr/>
        </p:nvSpPr>
        <p:spPr>
          <a:xfrm>
            <a:off x="804672" y="3904488"/>
            <a:ext cx="548640" cy="548640"/>
          </a:xfrm>
          <a:prstGeom prst="ellipse">
            <a:avLst/>
          </a:prstGeom>
          <a:solidFill>
            <a:srgbClr val="FFFFFF"/>
          </a:solidFill>
          <a:ln w="12700">
            <a:solidFill>
              <a:srgbClr val="DDE7ED"/>
            </a:solidFill>
            <a:prstDash val="solid"/>
          </a:ln>
        </p:spPr>
      </p:sp>
      <p:pic>
        <p:nvPicPr>
          <p:cNvPr id="20" name="Image 2" descr="preencoded.png">    </p:cNvPr>
          <p:cNvPicPr>
            <a:picLocks noChangeAspect="1"/>
          </p:cNvPicPr>
          <p:nvPr/>
        </p:nvPicPr>
        <p:blipFill>
          <a:blip r:embed="rId3"/>
          <a:stretch>
            <a:fillRect/>
          </a:stretch>
        </p:blipFill>
        <p:spPr>
          <a:xfrm>
            <a:off x="941832" y="4041648"/>
            <a:ext cx="274320" cy="274320"/>
          </a:xfrm>
          <a:prstGeom prst="rect">
            <a:avLst/>
          </a:prstGeom>
        </p:spPr>
      </p:pic>
      <p:sp>
        <p:nvSpPr>
          <p:cNvPr id="21" name="Text 16"/>
          <p:cNvSpPr txBox="1"/>
          <p:nvPr/>
        </p:nvSpPr>
        <p:spPr>
          <a:xfrm>
            <a:off x="1481328" y="3922776"/>
            <a:ext cx="420624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Styled Components</a:t>
            </a:r>
            <a:endParaRPr lang="en-US" sz="1450" dirty="0"/>
          </a:p>
        </p:txBody>
      </p:sp>
      <p:sp>
        <p:nvSpPr>
          <p:cNvPr id="22" name="Text 17"/>
          <p:cNvSpPr txBox="1"/>
          <p:nvPr/>
        </p:nvSpPr>
        <p:spPr>
          <a:xfrm>
            <a:off x="1481328" y="4197096"/>
            <a:ext cx="420624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Menulis CSS di dalam JavaScript sebagai komponen.</a:t>
            </a:r>
            <a:endParaRPr lang="en-US" sz="1100" dirty="0"/>
          </a:p>
        </p:txBody>
      </p:sp>
      <p:sp>
        <p:nvSpPr>
          <p:cNvPr id="23" name="Shape 18"/>
          <p:cNvSpPr/>
          <p:nvPr/>
        </p:nvSpPr>
        <p:spPr>
          <a:xfrm>
            <a:off x="804672" y="4873752"/>
            <a:ext cx="4937760" cy="749808"/>
          </a:xfrm>
          <a:prstGeom prst="roundRect">
            <a:avLst>
              <a:gd name="adj" fmla="val 12195"/>
            </a:avLst>
          </a:prstGeom>
          <a:solidFill>
            <a:srgbClr val="1B1F27"/>
          </a:solidFill>
          <a:ln w="12700">
            <a:solidFill>
              <a:srgbClr val="323945"/>
            </a:solidFill>
            <a:prstDash val="solid"/>
          </a:ln>
        </p:spPr>
      </p:sp>
      <p:sp>
        <p:nvSpPr>
          <p:cNvPr id="24" name="Text 19"/>
          <p:cNvSpPr txBox="1"/>
          <p:nvPr/>
        </p:nvSpPr>
        <p:spPr>
          <a:xfrm>
            <a:off x="950976" y="5001768"/>
            <a:ext cx="4645152" cy="493776"/>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Tombol</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styled</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button</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background</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61</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dafb</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25" name="Shape 20"/>
          <p:cNvSpPr/>
          <p:nvPr/>
        </p:nvSpPr>
        <p:spPr>
          <a:xfrm>
            <a:off x="6199632" y="3703320"/>
            <a:ext cx="5440680" cy="2103120"/>
          </a:xfrm>
          <a:prstGeom prst="roundRect">
            <a:avLst>
              <a:gd name="adj" fmla="val 5217"/>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6" name="Shape 21"/>
          <p:cNvSpPr/>
          <p:nvPr/>
        </p:nvSpPr>
        <p:spPr>
          <a:xfrm>
            <a:off x="6455664" y="3904488"/>
            <a:ext cx="548640" cy="548640"/>
          </a:xfrm>
          <a:prstGeom prst="ellipse">
            <a:avLst/>
          </a:prstGeom>
          <a:solidFill>
            <a:srgbClr val="FFFFFF"/>
          </a:solidFill>
          <a:ln w="12700">
            <a:solidFill>
              <a:srgbClr val="DDE7ED"/>
            </a:solidFill>
            <a:prstDash val="solid"/>
          </a:ln>
        </p:spPr>
      </p:sp>
      <p:pic>
        <p:nvPicPr>
          <p:cNvPr id="27" name="Image 3" descr="preencoded.png">    </p:cNvPr>
          <p:cNvPicPr>
            <a:picLocks noChangeAspect="1"/>
          </p:cNvPicPr>
          <p:nvPr/>
        </p:nvPicPr>
        <p:blipFill>
          <a:blip r:embed="rId4"/>
          <a:stretch>
            <a:fillRect/>
          </a:stretch>
        </p:blipFill>
        <p:spPr>
          <a:xfrm>
            <a:off x="6592824" y="4041648"/>
            <a:ext cx="274320" cy="274320"/>
          </a:xfrm>
          <a:prstGeom prst="rect">
            <a:avLst/>
          </a:prstGeom>
        </p:spPr>
      </p:pic>
      <p:sp>
        <p:nvSpPr>
          <p:cNvPr id="28" name="Text 22"/>
          <p:cNvSpPr txBox="1"/>
          <p:nvPr/>
        </p:nvSpPr>
        <p:spPr>
          <a:xfrm>
            <a:off x="7132320" y="3922776"/>
            <a:ext cx="420624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Component Library</a:t>
            </a:r>
            <a:endParaRPr lang="en-US" sz="1450" dirty="0"/>
          </a:p>
        </p:txBody>
      </p:sp>
      <p:sp>
        <p:nvSpPr>
          <p:cNvPr id="29" name="Text 23"/>
          <p:cNvSpPr txBox="1"/>
          <p:nvPr/>
        </p:nvSpPr>
        <p:spPr>
          <a:xfrm>
            <a:off x="7132320" y="4197096"/>
            <a:ext cx="420624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Komponen siap pakai seperti MUI, Chakra, atau shadcn/ui.</a:t>
            </a:r>
            <a:endParaRPr lang="en-US" sz="1100" dirty="0"/>
          </a:p>
        </p:txBody>
      </p:sp>
      <p:sp>
        <p:nvSpPr>
          <p:cNvPr id="30" name="Shape 24"/>
          <p:cNvSpPr/>
          <p:nvPr/>
        </p:nvSpPr>
        <p:spPr>
          <a:xfrm>
            <a:off x="6455664" y="4873752"/>
            <a:ext cx="4937760" cy="749808"/>
          </a:xfrm>
          <a:prstGeom prst="roundRect">
            <a:avLst>
              <a:gd name="adj" fmla="val 12195"/>
            </a:avLst>
          </a:prstGeom>
          <a:solidFill>
            <a:srgbClr val="1B1F27"/>
          </a:solidFill>
          <a:ln w="12700">
            <a:solidFill>
              <a:srgbClr val="323945"/>
            </a:solidFill>
            <a:prstDash val="solid"/>
          </a:ln>
        </p:spPr>
      </p:sp>
      <p:sp>
        <p:nvSpPr>
          <p:cNvPr id="31" name="Text 25"/>
          <p:cNvSpPr txBox="1"/>
          <p:nvPr/>
        </p:nvSpPr>
        <p:spPr>
          <a:xfrm>
            <a:off x="6601968" y="5001768"/>
            <a:ext cx="4645152" cy="493776"/>
          </a:xfrm>
          <a:prstGeom prst="rect">
            <a:avLst/>
          </a:prstGeom>
          <a:noFill/>
          <a:ln/>
        </p:spPr>
        <p:txBody>
          <a:bodyPr wrap="square" lIns="0" tIns="0" rIns="0" bIns="0" rtlCol="0" anchor="t"/>
          <a:lstStyle/>
          <a:p>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Button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'@mui/material/Button'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variant</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FFB454"/>
                </a:solidFill>
                <a:latin typeface="Courier New" pitchFamily="34" charset="0"/>
                <a:ea typeface="Courier New" pitchFamily="34" charset="-122"/>
                <a:cs typeface="Courier New" pitchFamily="34" charset="-120"/>
              </a:rPr>
              <a:t>"contained"</a:t>
            </a:r>
            <a:pPr indent="0" marL="0">
              <a:lnSpc>
                <a:spcPct val="106000"/>
              </a:lnSpc>
              <a:buNone/>
            </a:pPr>
            <a:r>
              <a:rPr lang="en-US" sz="10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3DD68C"/>
                </a:solidFill>
                <a:latin typeface="Courier New" pitchFamily="34" charset="0"/>
                <a:ea typeface="Courier New" pitchFamily="34" charset="-122"/>
                <a:cs typeface="Courier New" pitchFamily="34" charset="-120"/>
              </a:rPr>
              <a:t>/&gt;</a:t>
            </a:r>
            <a:endParaRPr lang="en-US" sz="1000" dirty="0"/>
          </a:p>
        </p:txBody>
      </p:sp>
      <p:pic>
        <p:nvPicPr>
          <p:cNvPr id="33"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4"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5"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502920" y="1051560"/>
            <a:ext cx="3108960" cy="1920240"/>
          </a:xfrm>
          <a:prstGeom prst="rect">
            <a:avLst/>
          </a:prstGeom>
          <a:noFill/>
          <a:ln/>
        </p:spPr>
        <p:txBody>
          <a:bodyPr wrap="square" lIns="0" tIns="0" rIns="0" bIns="0" rtlCol="0" anchor="ctr"/>
          <a:lstStyle/>
          <a:p>
            <a:pPr indent="0" marL="0">
              <a:buNone/>
            </a:pPr>
            <a:r>
              <a:rPr lang="en-US" sz="12000" b="1" dirty="0">
                <a:solidFill>
                  <a:srgbClr val="343C4A"/>
                </a:solidFill>
                <a:latin typeface="Calibri" pitchFamily="34" charset="0"/>
                <a:ea typeface="Calibri" pitchFamily="34" charset="-122"/>
                <a:cs typeface="Calibri" pitchFamily="34" charset="-120"/>
              </a:rPr>
              <a:t>05</a:t>
            </a:r>
            <a:endParaRPr lang="en-US" sz="12000" dirty="0"/>
          </a:p>
        </p:txBody>
      </p:sp>
      <p:sp>
        <p:nvSpPr>
          <p:cNvPr id="3" name="Text 1"/>
          <p:cNvSpPr txBox="1"/>
          <p:nvPr/>
        </p:nvSpPr>
        <p:spPr>
          <a:xfrm>
            <a:off x="548640" y="2971800"/>
            <a:ext cx="7132320" cy="82296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Kualitas &amp; Publikasi</a:t>
            </a:r>
            <a:endParaRPr lang="en-US" sz="4200" dirty="0"/>
          </a:p>
        </p:txBody>
      </p:sp>
      <p:sp>
        <p:nvSpPr>
          <p:cNvPr id="4" name="Text 2"/>
          <p:cNvSpPr txBox="1"/>
          <p:nvPr/>
        </p:nvSpPr>
        <p:spPr>
          <a:xfrm>
            <a:off x="566928" y="3840480"/>
            <a:ext cx="6949440" cy="822960"/>
          </a:xfrm>
          <a:prstGeom prst="rect">
            <a:avLst/>
          </a:prstGeom>
          <a:noFill/>
          <a:ln/>
        </p:spPr>
        <p:txBody>
          <a:bodyPr wrap="square" lIns="0" tIns="0" rIns="0" bIns="0" rtlCol="0" anchor="t"/>
          <a:lstStyle/>
          <a:p>
            <a:pPr indent="0" marL="0">
              <a:buNone/>
            </a:pPr>
            <a:r>
              <a:rPr lang="en-US" sz="1600" dirty="0">
                <a:solidFill>
                  <a:srgbClr val="9FAAB9"/>
                </a:solidFill>
                <a:latin typeface="Calibri" pitchFamily="34" charset="0"/>
                <a:ea typeface="Calibri" pitchFamily="34" charset="-122"/>
                <a:cs typeface="Calibri" pitchFamily="34" charset="-120"/>
              </a:rPr>
              <a:t>Optimasi performa, pengujian, proses build, deployment, dan pengenalan Next.js.</a:t>
            </a:r>
            <a:endParaRPr lang="en-US" sz="1600" dirty="0"/>
          </a:p>
        </p:txBody>
      </p:sp>
      <p:sp>
        <p:nvSpPr>
          <p:cNvPr id="5" name="Shape 3"/>
          <p:cNvSpPr/>
          <p:nvPr/>
        </p:nvSpPr>
        <p:spPr>
          <a:xfrm>
            <a:off x="8366760" y="1965960"/>
            <a:ext cx="2926080" cy="2926080"/>
          </a:xfrm>
          <a:prstGeom prst="ellipse">
            <a:avLst/>
          </a:prstGeom>
          <a:solidFill>
            <a:srgbClr val="2C313C"/>
          </a:solidFill>
          <a:ln w="12700">
            <a:solidFill>
              <a:srgbClr val="2C313C"/>
            </a:solidFill>
            <a:prstDash val="solid"/>
          </a:ln>
        </p:spPr>
      </p:sp>
      <p:pic>
        <p:nvPicPr>
          <p:cNvPr id="6" name="Image 0" descr="preencoded.png">    </p:cNvPr>
          <p:cNvPicPr>
            <a:picLocks noChangeAspect="1"/>
          </p:cNvPicPr>
          <p:nvPr/>
        </p:nvPicPr>
        <p:blipFill>
          <a:blip r:embed="rId1"/>
          <a:stretch>
            <a:fillRect/>
          </a:stretch>
        </p:blipFill>
        <p:spPr>
          <a:xfrm>
            <a:off x="9098280" y="2697480"/>
            <a:ext cx="1463040" cy="1463040"/>
          </a:xfrm>
          <a:prstGeom prst="rect">
            <a:avLst/>
          </a:prstGeom>
        </p:spPr>
      </p:pic>
      <p:pic>
        <p:nvPicPr>
          <p:cNvPr id="7" name="Image 1" descr="preencoded.png">    </p:cNvPr>
          <p:cNvPicPr>
            <a:picLocks noChangeAspect="1"/>
          </p:cNvPicPr>
          <p:nvPr/>
        </p:nvPicPr>
        <p:blipFill>
          <a:blip r:embed="rId2"/>
          <a:stretch>
            <a:fillRect/>
          </a:stretch>
        </p:blipFill>
        <p:spPr>
          <a:xfrm>
            <a:off x="502920" y="6382512"/>
            <a:ext cx="201168" cy="201168"/>
          </a:xfrm>
          <a:prstGeom prst="rect">
            <a:avLst/>
          </a:prstGeom>
        </p:spPr>
      </p:pic>
      <p:sp>
        <p:nvSpPr>
          <p:cNvPr id="8" name="Text 4"/>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8A94A3"/>
                </a:solidFill>
                <a:latin typeface="Calibri" pitchFamily="34" charset="0"/>
                <a:ea typeface="Calibri" pitchFamily="34" charset="-122"/>
                <a:cs typeface="Calibri" pitchFamily="34" charset="-120"/>
              </a:rPr>
              <a:t>ReactJS — Materi Komprehensif</a:t>
            </a:r>
            <a:endParaRPr lang="en-US" sz="900" dirty="0"/>
          </a:p>
        </p:txBody>
      </p:sp>
      <p:sp>
        <p:nvSpPr>
          <p:cNvPr id="9" name="Text 5"/>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61DAFB"/>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KUALITAS &amp; PUBLIKASI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Optimasi Performa Aplikasi</a:t>
            </a:r>
            <a:endParaRPr lang="en-US" sz="3200" dirty="0"/>
          </a:p>
        </p:txBody>
      </p:sp>
      <p:sp>
        <p:nvSpPr>
          <p:cNvPr id="4" name="Shape 2"/>
          <p:cNvSpPr/>
          <p:nvPr/>
        </p:nvSpPr>
        <p:spPr>
          <a:xfrm>
            <a:off x="548640" y="1536192"/>
            <a:ext cx="566928" cy="566928"/>
          </a:xfrm>
          <a:prstGeom prst="ellipse">
            <a:avLst/>
          </a:prstGeom>
          <a:solidFill>
            <a:srgbClr val="20232A"/>
          </a:solidFill>
          <a:ln w="12700">
            <a:solidFill>
              <a:srgbClr val="20232A"/>
            </a:solidFill>
            <a:prstDash val="solid"/>
          </a:ln>
        </p:spPr>
      </p:sp>
      <p:pic>
        <p:nvPicPr>
          <p:cNvPr id="5" name="Image 0" descr="preencoded.png">    </p:cNvPr>
          <p:cNvPicPr>
            <a:picLocks noChangeAspect="1"/>
          </p:cNvPicPr>
          <p:nvPr/>
        </p:nvPicPr>
        <p:blipFill>
          <a:blip r:embed="rId1"/>
          <a:stretch>
            <a:fillRect/>
          </a:stretch>
        </p:blipFill>
        <p:spPr>
          <a:xfrm>
            <a:off x="696041" y="1683593"/>
            <a:ext cx="272125" cy="272125"/>
          </a:xfrm>
          <a:prstGeom prst="rect">
            <a:avLst/>
          </a:prstGeom>
        </p:spPr>
      </p:pic>
      <p:sp>
        <p:nvSpPr>
          <p:cNvPr id="6" name="Text 3"/>
          <p:cNvSpPr txBox="1"/>
          <p:nvPr/>
        </p:nvSpPr>
        <p:spPr>
          <a:xfrm>
            <a:off x="1325880" y="150876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React.memo</a:t>
            </a:r>
            <a:endParaRPr lang="en-US" sz="1450" dirty="0"/>
          </a:p>
        </p:txBody>
      </p:sp>
      <p:sp>
        <p:nvSpPr>
          <p:cNvPr id="7" name="Text 4"/>
          <p:cNvSpPr txBox="1"/>
          <p:nvPr/>
        </p:nvSpPr>
        <p:spPr>
          <a:xfrm>
            <a:off x="1325880" y="179222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Mencegah render ulang komponen bila props tidak berubah.</a:t>
            </a:r>
            <a:endParaRPr lang="en-US" sz="1150" dirty="0"/>
          </a:p>
        </p:txBody>
      </p:sp>
      <p:sp>
        <p:nvSpPr>
          <p:cNvPr id="8" name="Shape 5"/>
          <p:cNvSpPr/>
          <p:nvPr/>
        </p:nvSpPr>
        <p:spPr>
          <a:xfrm>
            <a:off x="6199632" y="1536192"/>
            <a:ext cx="566928" cy="566928"/>
          </a:xfrm>
          <a:prstGeom prst="ellipse">
            <a:avLst/>
          </a:prstGeom>
          <a:solidFill>
            <a:srgbClr val="20232A"/>
          </a:solidFill>
          <a:ln w="12700">
            <a:solidFill>
              <a:srgbClr val="20232A"/>
            </a:solidFill>
            <a:prstDash val="solid"/>
          </a:ln>
        </p:spPr>
      </p:sp>
      <p:pic>
        <p:nvPicPr>
          <p:cNvPr id="9" name="Image 1" descr="preencoded.png">    </p:cNvPr>
          <p:cNvPicPr>
            <a:picLocks noChangeAspect="1"/>
          </p:cNvPicPr>
          <p:nvPr/>
        </p:nvPicPr>
        <p:blipFill>
          <a:blip r:embed="rId2"/>
          <a:stretch>
            <a:fillRect/>
          </a:stretch>
        </p:blipFill>
        <p:spPr>
          <a:xfrm>
            <a:off x="6347033" y="1683593"/>
            <a:ext cx="272125" cy="272125"/>
          </a:xfrm>
          <a:prstGeom prst="rect">
            <a:avLst/>
          </a:prstGeom>
        </p:spPr>
      </p:pic>
      <p:sp>
        <p:nvSpPr>
          <p:cNvPr id="10" name="Text 6"/>
          <p:cNvSpPr txBox="1"/>
          <p:nvPr/>
        </p:nvSpPr>
        <p:spPr>
          <a:xfrm>
            <a:off x="6976872" y="150876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Code splitting</a:t>
            </a:r>
            <a:endParaRPr lang="en-US" sz="1450" dirty="0"/>
          </a:p>
        </p:txBody>
      </p:sp>
      <p:sp>
        <p:nvSpPr>
          <p:cNvPr id="11" name="Text 7"/>
          <p:cNvSpPr txBox="1"/>
          <p:nvPr/>
        </p:nvSpPr>
        <p:spPr>
          <a:xfrm>
            <a:off x="6976872" y="179222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Muat komponen besar hanya saat dibutuhkan dengan lazy dan Suspense.</a:t>
            </a:r>
            <a:endParaRPr lang="en-US" sz="1150" dirty="0"/>
          </a:p>
        </p:txBody>
      </p:sp>
      <p:sp>
        <p:nvSpPr>
          <p:cNvPr id="12" name="Shape 8"/>
          <p:cNvSpPr/>
          <p:nvPr/>
        </p:nvSpPr>
        <p:spPr>
          <a:xfrm>
            <a:off x="548640" y="2862072"/>
            <a:ext cx="566928" cy="566928"/>
          </a:xfrm>
          <a:prstGeom prst="ellipse">
            <a:avLst/>
          </a:prstGeom>
          <a:solidFill>
            <a:srgbClr val="20232A"/>
          </a:solidFill>
          <a:ln w="12700">
            <a:solidFill>
              <a:srgbClr val="20232A"/>
            </a:solidFill>
            <a:prstDash val="solid"/>
          </a:ln>
        </p:spPr>
      </p:sp>
      <p:pic>
        <p:nvPicPr>
          <p:cNvPr id="13" name="Image 2" descr="preencoded.png">    </p:cNvPr>
          <p:cNvPicPr>
            <a:picLocks noChangeAspect="1"/>
          </p:cNvPicPr>
          <p:nvPr/>
        </p:nvPicPr>
        <p:blipFill>
          <a:blip r:embed="rId3"/>
          <a:stretch>
            <a:fillRect/>
          </a:stretch>
        </p:blipFill>
        <p:spPr>
          <a:xfrm>
            <a:off x="696041" y="3009473"/>
            <a:ext cx="272125" cy="272125"/>
          </a:xfrm>
          <a:prstGeom prst="rect">
            <a:avLst/>
          </a:prstGeom>
        </p:spPr>
      </p:pic>
      <p:sp>
        <p:nvSpPr>
          <p:cNvPr id="14" name="Text 9"/>
          <p:cNvSpPr txBox="1"/>
          <p:nvPr/>
        </p:nvSpPr>
        <p:spPr>
          <a:xfrm>
            <a:off x="1325880" y="283464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Key yang stabil</a:t>
            </a:r>
            <a:endParaRPr lang="en-US" sz="1450" dirty="0"/>
          </a:p>
        </p:txBody>
      </p:sp>
      <p:sp>
        <p:nvSpPr>
          <p:cNvPr id="15" name="Text 10"/>
          <p:cNvSpPr txBox="1"/>
          <p:nvPr/>
        </p:nvSpPr>
        <p:spPr>
          <a:xfrm>
            <a:off x="1325880" y="311810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Gunakan ID unik agar React tidak membuat ulang elemen daftar.</a:t>
            </a:r>
            <a:endParaRPr lang="en-US" sz="1150" dirty="0"/>
          </a:p>
        </p:txBody>
      </p:sp>
      <p:sp>
        <p:nvSpPr>
          <p:cNvPr id="16" name="Shape 11"/>
          <p:cNvSpPr/>
          <p:nvPr/>
        </p:nvSpPr>
        <p:spPr>
          <a:xfrm>
            <a:off x="6199632" y="2862072"/>
            <a:ext cx="566928" cy="566928"/>
          </a:xfrm>
          <a:prstGeom prst="ellipse">
            <a:avLst/>
          </a:prstGeom>
          <a:solidFill>
            <a:srgbClr val="20232A"/>
          </a:solidFill>
          <a:ln w="12700">
            <a:solidFill>
              <a:srgbClr val="20232A"/>
            </a:solidFill>
            <a:prstDash val="solid"/>
          </a:ln>
        </p:spPr>
      </p:sp>
      <p:pic>
        <p:nvPicPr>
          <p:cNvPr id="17" name="Image 3" descr="preencoded.png">    </p:cNvPr>
          <p:cNvPicPr>
            <a:picLocks noChangeAspect="1"/>
          </p:cNvPicPr>
          <p:nvPr/>
        </p:nvPicPr>
        <p:blipFill>
          <a:blip r:embed="rId4"/>
          <a:stretch>
            <a:fillRect/>
          </a:stretch>
        </p:blipFill>
        <p:spPr>
          <a:xfrm>
            <a:off x="6347033" y="3009473"/>
            <a:ext cx="272125" cy="272125"/>
          </a:xfrm>
          <a:prstGeom prst="rect">
            <a:avLst/>
          </a:prstGeom>
        </p:spPr>
      </p:pic>
      <p:sp>
        <p:nvSpPr>
          <p:cNvPr id="18" name="Text 12"/>
          <p:cNvSpPr txBox="1"/>
          <p:nvPr/>
        </p:nvSpPr>
        <p:spPr>
          <a:xfrm>
            <a:off x="6976872" y="283464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Virtualisasi daftar</a:t>
            </a:r>
            <a:endParaRPr lang="en-US" sz="1450" dirty="0"/>
          </a:p>
        </p:txBody>
      </p:sp>
      <p:sp>
        <p:nvSpPr>
          <p:cNvPr id="19" name="Text 13"/>
          <p:cNvSpPr txBox="1"/>
          <p:nvPr/>
        </p:nvSpPr>
        <p:spPr>
          <a:xfrm>
            <a:off x="6976872" y="311810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Render hanya baris yang terlihat pada layar untuk data ribuan baris.</a:t>
            </a:r>
            <a:endParaRPr lang="en-US" sz="1150" dirty="0"/>
          </a:p>
        </p:txBody>
      </p:sp>
      <p:sp>
        <p:nvSpPr>
          <p:cNvPr id="20" name="Shape 14"/>
          <p:cNvSpPr/>
          <p:nvPr/>
        </p:nvSpPr>
        <p:spPr>
          <a:xfrm>
            <a:off x="548640" y="4187952"/>
            <a:ext cx="566928" cy="566928"/>
          </a:xfrm>
          <a:prstGeom prst="ellipse">
            <a:avLst/>
          </a:prstGeom>
          <a:solidFill>
            <a:srgbClr val="20232A"/>
          </a:solidFill>
          <a:ln w="12700">
            <a:solidFill>
              <a:srgbClr val="20232A"/>
            </a:solidFill>
            <a:prstDash val="solid"/>
          </a:ln>
        </p:spPr>
      </p:sp>
      <p:pic>
        <p:nvPicPr>
          <p:cNvPr id="21" name="Image 4" descr="preencoded.png">    </p:cNvPr>
          <p:cNvPicPr>
            <a:picLocks noChangeAspect="1"/>
          </p:cNvPicPr>
          <p:nvPr/>
        </p:nvPicPr>
        <p:blipFill>
          <a:blip r:embed="rId5"/>
          <a:stretch>
            <a:fillRect/>
          </a:stretch>
        </p:blipFill>
        <p:spPr>
          <a:xfrm>
            <a:off x="696041" y="4335353"/>
            <a:ext cx="272125" cy="272125"/>
          </a:xfrm>
          <a:prstGeom prst="rect">
            <a:avLst/>
          </a:prstGeom>
        </p:spPr>
      </p:pic>
      <p:sp>
        <p:nvSpPr>
          <p:cNvPr id="22" name="Text 15"/>
          <p:cNvSpPr txBox="1"/>
          <p:nvPr/>
        </p:nvSpPr>
        <p:spPr>
          <a:xfrm>
            <a:off x="1325880" y="416052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Optimasi aset</a:t>
            </a:r>
            <a:endParaRPr lang="en-US" sz="1450" dirty="0"/>
          </a:p>
        </p:txBody>
      </p:sp>
      <p:sp>
        <p:nvSpPr>
          <p:cNvPr id="23" name="Text 16"/>
          <p:cNvSpPr txBox="1"/>
          <p:nvPr/>
        </p:nvSpPr>
        <p:spPr>
          <a:xfrm>
            <a:off x="1325880" y="444398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Kompres gambar, gunakan format modern, dan terapkan lazy loading.</a:t>
            </a:r>
            <a:endParaRPr lang="en-US" sz="1150" dirty="0"/>
          </a:p>
        </p:txBody>
      </p:sp>
      <p:sp>
        <p:nvSpPr>
          <p:cNvPr id="24" name="Shape 17"/>
          <p:cNvSpPr/>
          <p:nvPr/>
        </p:nvSpPr>
        <p:spPr>
          <a:xfrm>
            <a:off x="6199632" y="4187952"/>
            <a:ext cx="566928" cy="566928"/>
          </a:xfrm>
          <a:prstGeom prst="ellipse">
            <a:avLst/>
          </a:prstGeom>
          <a:solidFill>
            <a:srgbClr val="20232A"/>
          </a:solidFill>
          <a:ln w="12700">
            <a:solidFill>
              <a:srgbClr val="20232A"/>
            </a:solidFill>
            <a:prstDash val="solid"/>
          </a:ln>
        </p:spPr>
      </p:sp>
      <p:pic>
        <p:nvPicPr>
          <p:cNvPr id="25" name="Image 5" descr="preencoded.png">    </p:cNvPr>
          <p:cNvPicPr>
            <a:picLocks noChangeAspect="1"/>
          </p:cNvPicPr>
          <p:nvPr/>
        </p:nvPicPr>
        <p:blipFill>
          <a:blip r:embed="rId6"/>
          <a:stretch>
            <a:fillRect/>
          </a:stretch>
        </p:blipFill>
        <p:spPr>
          <a:xfrm>
            <a:off x="6347033" y="4335353"/>
            <a:ext cx="272125" cy="272125"/>
          </a:xfrm>
          <a:prstGeom prst="rect">
            <a:avLst/>
          </a:prstGeom>
        </p:spPr>
      </p:pic>
      <p:sp>
        <p:nvSpPr>
          <p:cNvPr id="26" name="Text 18"/>
          <p:cNvSpPr txBox="1"/>
          <p:nvPr/>
        </p:nvSpPr>
        <p:spPr>
          <a:xfrm>
            <a:off x="6976872" y="4160520"/>
            <a:ext cx="4617720" cy="274320"/>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Ukur dahulu</a:t>
            </a:r>
            <a:endParaRPr lang="en-US" sz="1450" dirty="0"/>
          </a:p>
        </p:txBody>
      </p:sp>
      <p:sp>
        <p:nvSpPr>
          <p:cNvPr id="27" name="Text 19"/>
          <p:cNvSpPr txBox="1"/>
          <p:nvPr/>
        </p:nvSpPr>
        <p:spPr>
          <a:xfrm>
            <a:off x="6976872" y="4443984"/>
            <a:ext cx="4617720" cy="548640"/>
          </a:xfrm>
          <a:prstGeom prst="rect">
            <a:avLst/>
          </a:prstGeom>
          <a:noFill/>
          <a:ln/>
        </p:spPr>
        <p:txBody>
          <a:bodyPr wrap="square" lIns="0" tIns="0" rIns="0" bIns="0" rtlCol="0" anchor="t"/>
          <a:lstStyle/>
          <a:p>
            <a:pPr indent="0" marL="0">
              <a:lnSpc>
                <a:spcPct val="112000"/>
              </a:lnSpc>
              <a:buNone/>
            </a:pPr>
            <a:r>
              <a:rPr lang="en-US" sz="1150" dirty="0">
                <a:solidFill>
                  <a:srgbClr val="5C6672"/>
                </a:solidFill>
                <a:latin typeface="Calibri" pitchFamily="34" charset="0"/>
                <a:ea typeface="Calibri" pitchFamily="34" charset="-122"/>
                <a:cs typeface="Calibri" pitchFamily="34" charset="-120"/>
              </a:rPr>
              <a:t>Gunakan React DevTools Profiler dan Lighthouse sebelum berasumsi.</a:t>
            </a:r>
            <a:endParaRPr lang="en-US" sz="1150" dirty="0"/>
          </a:p>
        </p:txBody>
      </p:sp>
      <p:sp>
        <p:nvSpPr>
          <p:cNvPr id="28" name="Shape 20"/>
          <p:cNvSpPr/>
          <p:nvPr/>
        </p:nvSpPr>
        <p:spPr>
          <a:xfrm>
            <a:off x="548640" y="5230368"/>
            <a:ext cx="11091672" cy="672998"/>
          </a:xfrm>
          <a:prstGeom prst="roundRect">
            <a:avLst>
              <a:gd name="adj" fmla="val 13587"/>
            </a:avLst>
          </a:prstGeom>
          <a:solidFill>
            <a:srgbClr val="1B1F27"/>
          </a:solidFill>
          <a:ln w="12700">
            <a:solidFill>
              <a:srgbClr val="323945"/>
            </a:solidFill>
            <a:prstDash val="solid"/>
          </a:ln>
        </p:spPr>
      </p:sp>
      <p:sp>
        <p:nvSpPr>
          <p:cNvPr id="29" name="Text 21"/>
          <p:cNvSpPr txBox="1"/>
          <p:nvPr/>
        </p:nvSpPr>
        <p:spPr>
          <a:xfrm>
            <a:off x="694944" y="5358384"/>
            <a:ext cx="10799064" cy="416966"/>
          </a:xfrm>
          <a:prstGeom prst="rect">
            <a:avLst/>
          </a:prstGeom>
          <a:noFill/>
          <a:ln/>
        </p:spPr>
        <p:txBody>
          <a:bodyPr wrap="square" lIns="0" tIns="0" rIns="0" bIns="0" rtlCol="0" anchor="t"/>
          <a:lstStyle/>
          <a:p>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Dasbor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1DAFB"/>
                </a:solidFill>
                <a:latin typeface="Courier New" pitchFamily="34" charset="0"/>
                <a:ea typeface="Courier New" pitchFamily="34" charset="-122"/>
                <a:cs typeface="Courier New" pitchFamily="34" charset="-120"/>
              </a:rPr>
              <a:t>lazy</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FFB454"/>
                </a:solidFill>
                <a:latin typeface="Courier New" pitchFamily="34" charset="0"/>
                <a:ea typeface="Courier New" pitchFamily="34" charset="-122"/>
                <a:cs typeface="Courier New" pitchFamily="34" charset="-120"/>
              </a:rPr>
              <a:t>'./Dasbor'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7A8796"/>
                </a:solidFill>
                <a:latin typeface="Courier New" pitchFamily="34" charset="0"/>
                <a:ea typeface="Courier New" pitchFamily="34" charset="-122"/>
                <a:cs typeface="Courier New" pitchFamily="34" charset="-120"/>
              </a:rPr>
              <a:t>// dimuat terpisah</a:t>
            </a:r>
            <a:endParaRPr lang="en-US" sz="1100" dirty="0"/>
          </a:p>
          <a:p>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&lt;Suspense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fallback</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Memuat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halaman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&lt;/p</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&lt;Dasbor</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00" dirty="0">
                <a:solidFill>
                  <a:srgbClr val="3DD68C"/>
                </a:solidFill>
                <a:latin typeface="Courier New" pitchFamily="34" charset="0"/>
                <a:ea typeface="Courier New" pitchFamily="34" charset="-122"/>
                <a:cs typeface="Courier New" pitchFamily="34" charset="-120"/>
              </a:rPr>
              <a:t>&lt;/Suspense</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&gt;</a:t>
            </a:r>
            <a:endParaRPr lang="en-US" sz="1100" dirty="0"/>
          </a:p>
        </p:txBody>
      </p:sp>
      <p:pic>
        <p:nvPicPr>
          <p:cNvPr id="31"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32" name="Text 22"/>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3" name="Text 23"/>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KUALITAS &amp; PUBLIKASI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Pengujian Aplikasi React</a:t>
            </a:r>
            <a:endParaRPr lang="en-US" sz="3200" dirty="0"/>
          </a:p>
        </p:txBody>
      </p:sp>
      <p:sp>
        <p:nvSpPr>
          <p:cNvPr id="4" name="Shape 2"/>
          <p:cNvSpPr/>
          <p:nvPr/>
        </p:nvSpPr>
        <p:spPr>
          <a:xfrm>
            <a:off x="548640" y="1481328"/>
            <a:ext cx="6446520" cy="2771546"/>
          </a:xfrm>
          <a:prstGeom prst="roundRect">
            <a:avLst>
              <a:gd name="adj" fmla="val 3299"/>
            </a:avLst>
          </a:prstGeom>
          <a:solidFill>
            <a:srgbClr val="1B1F27"/>
          </a:solidFill>
          <a:ln w="12700">
            <a:solidFill>
              <a:srgbClr val="323945"/>
            </a:solidFill>
            <a:prstDash val="solid"/>
          </a:ln>
        </p:spPr>
      </p:sp>
      <p:sp>
        <p:nvSpPr>
          <p:cNvPr id="5" name="Text 3"/>
          <p:cNvSpPr txBox="1"/>
          <p:nvPr/>
        </p:nvSpPr>
        <p:spPr>
          <a:xfrm>
            <a:off x="694944" y="1609344"/>
            <a:ext cx="6153912" cy="2515514"/>
          </a:xfrm>
          <a:prstGeom prst="rect">
            <a:avLst/>
          </a:prstGeom>
          <a:noFill/>
          <a:ln/>
        </p:spPr>
        <p:txBody>
          <a:bodyPr wrap="square" lIns="0" tIns="0" rIns="0" bIns="0" rtlCol="0" anchor="t"/>
          <a:lstStyle/>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render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screen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fireEvent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'@testing-library/react'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import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Penghitung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from</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'./Penghitung'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test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'angka bertambah saat tombol diklik'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render</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&lt;Penghitung</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3DD68C"/>
                </a:solidFill>
                <a:latin typeface="Courier New" pitchFamily="34" charset="0"/>
                <a:ea typeface="Courier New" pitchFamily="34" charset="-122"/>
                <a:cs typeface="Courier New" pitchFamily="34" charset="-120"/>
              </a:rPr>
              <a:t>/&gt;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tombol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screen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getByText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'Tambah'</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fireEvent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click</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tombol</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expect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screen</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getByText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FB454"/>
                </a:solidFill>
                <a:latin typeface="Courier New" pitchFamily="34" charset="0"/>
                <a:ea typeface="Courier New" pitchFamily="34" charset="-122"/>
                <a:cs typeface="Courier New" pitchFamily="34" charset="-120"/>
              </a:rPr>
              <a:t>'Jumlah klik: 1'</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toBeInTheDocument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
        <p:nvSpPr>
          <p:cNvPr id="6" name="Text 4"/>
          <p:cNvSpPr txBox="1"/>
          <p:nvPr/>
        </p:nvSpPr>
        <p:spPr>
          <a:xfrm>
            <a:off x="7223760" y="1481328"/>
            <a:ext cx="441655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Perkakas utama</a:t>
            </a:r>
            <a:endParaRPr lang="en-US" sz="1400" dirty="0"/>
          </a:p>
        </p:txBody>
      </p:sp>
      <p:sp>
        <p:nvSpPr>
          <p:cNvPr id="7" name="Shape 5"/>
          <p:cNvSpPr/>
          <p:nvPr/>
        </p:nvSpPr>
        <p:spPr>
          <a:xfrm>
            <a:off x="7223760" y="1874520"/>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8" name="Shape 6"/>
          <p:cNvSpPr/>
          <p:nvPr/>
        </p:nvSpPr>
        <p:spPr>
          <a:xfrm>
            <a:off x="7424928" y="2029968"/>
            <a:ext cx="512064" cy="512064"/>
          </a:xfrm>
          <a:prstGeom prst="ellipse">
            <a:avLst/>
          </a:prstGeom>
          <a:solidFill>
            <a:srgbClr val="FFFFFF"/>
          </a:solidFill>
          <a:ln w="12700">
            <a:solidFill>
              <a:srgbClr val="DDE7ED"/>
            </a:solidFill>
            <a:prstDash val="solid"/>
          </a:ln>
        </p:spPr>
      </p:sp>
      <p:pic>
        <p:nvPicPr>
          <p:cNvPr id="9" name="Image 0" descr="preencoded.png">    </p:cNvPr>
          <p:cNvPicPr>
            <a:picLocks noChangeAspect="1"/>
          </p:cNvPicPr>
          <p:nvPr/>
        </p:nvPicPr>
        <p:blipFill>
          <a:blip r:embed="rId1"/>
          <a:stretch>
            <a:fillRect/>
          </a:stretch>
        </p:blipFill>
        <p:spPr>
          <a:xfrm>
            <a:off x="7552944" y="2157984"/>
            <a:ext cx="256032" cy="256032"/>
          </a:xfrm>
          <a:prstGeom prst="rect">
            <a:avLst/>
          </a:prstGeom>
        </p:spPr>
      </p:pic>
      <p:sp>
        <p:nvSpPr>
          <p:cNvPr id="10" name="Text 7"/>
          <p:cNvSpPr txBox="1"/>
          <p:nvPr/>
        </p:nvSpPr>
        <p:spPr>
          <a:xfrm>
            <a:off x="8065008" y="2002536"/>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Jest / Vitest</a:t>
            </a:r>
            <a:endParaRPr lang="en-US" sz="1250" dirty="0"/>
          </a:p>
        </p:txBody>
      </p:sp>
      <p:sp>
        <p:nvSpPr>
          <p:cNvPr id="11" name="Text 8"/>
          <p:cNvSpPr txBox="1"/>
          <p:nvPr/>
        </p:nvSpPr>
        <p:spPr>
          <a:xfrm>
            <a:off x="8065008" y="2276856"/>
            <a:ext cx="3474720" cy="365760"/>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Kerangka kerja untuk menjalankan pengujian.</a:t>
            </a:r>
            <a:endParaRPr lang="en-US" sz="1050" dirty="0"/>
          </a:p>
        </p:txBody>
      </p:sp>
      <p:sp>
        <p:nvSpPr>
          <p:cNvPr id="12" name="Shape 9"/>
          <p:cNvSpPr/>
          <p:nvPr/>
        </p:nvSpPr>
        <p:spPr>
          <a:xfrm>
            <a:off x="7223760" y="2834640"/>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3" name="Shape 10"/>
          <p:cNvSpPr/>
          <p:nvPr/>
        </p:nvSpPr>
        <p:spPr>
          <a:xfrm>
            <a:off x="7424928" y="2990088"/>
            <a:ext cx="512064" cy="512064"/>
          </a:xfrm>
          <a:prstGeom prst="ellipse">
            <a:avLst/>
          </a:prstGeom>
          <a:solidFill>
            <a:srgbClr val="FFFFFF"/>
          </a:solidFill>
          <a:ln w="12700">
            <a:solidFill>
              <a:srgbClr val="DDE7ED"/>
            </a:solidFill>
            <a:prstDash val="solid"/>
          </a:ln>
        </p:spPr>
      </p:sp>
      <p:pic>
        <p:nvPicPr>
          <p:cNvPr id="14" name="Image 1" descr="preencoded.png">    </p:cNvPr>
          <p:cNvPicPr>
            <a:picLocks noChangeAspect="1"/>
          </p:cNvPicPr>
          <p:nvPr/>
        </p:nvPicPr>
        <p:blipFill>
          <a:blip r:embed="rId2"/>
          <a:stretch>
            <a:fillRect/>
          </a:stretch>
        </p:blipFill>
        <p:spPr>
          <a:xfrm>
            <a:off x="7552944" y="3118104"/>
            <a:ext cx="256032" cy="256032"/>
          </a:xfrm>
          <a:prstGeom prst="rect">
            <a:avLst/>
          </a:prstGeom>
        </p:spPr>
      </p:pic>
      <p:sp>
        <p:nvSpPr>
          <p:cNvPr id="15" name="Text 11"/>
          <p:cNvSpPr txBox="1"/>
          <p:nvPr/>
        </p:nvSpPr>
        <p:spPr>
          <a:xfrm>
            <a:off x="8065008" y="2962656"/>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Testing Library</a:t>
            </a:r>
            <a:endParaRPr lang="en-US" sz="1250" dirty="0"/>
          </a:p>
        </p:txBody>
      </p:sp>
      <p:sp>
        <p:nvSpPr>
          <p:cNvPr id="16" name="Text 12"/>
          <p:cNvSpPr txBox="1"/>
          <p:nvPr/>
        </p:nvSpPr>
        <p:spPr>
          <a:xfrm>
            <a:off x="8065008" y="3236976"/>
            <a:ext cx="3474720" cy="365760"/>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Menguji komponen dari sudut pandang pengguna.</a:t>
            </a:r>
            <a:endParaRPr lang="en-US" sz="1050" dirty="0"/>
          </a:p>
        </p:txBody>
      </p:sp>
      <p:sp>
        <p:nvSpPr>
          <p:cNvPr id="17" name="Shape 13"/>
          <p:cNvSpPr/>
          <p:nvPr/>
        </p:nvSpPr>
        <p:spPr>
          <a:xfrm>
            <a:off x="7223760" y="3794760"/>
            <a:ext cx="4416552" cy="822960"/>
          </a:xfrm>
          <a:prstGeom prst="roundRect">
            <a:avLst>
              <a:gd name="adj" fmla="val 13333"/>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8" name="Shape 14"/>
          <p:cNvSpPr/>
          <p:nvPr/>
        </p:nvSpPr>
        <p:spPr>
          <a:xfrm>
            <a:off x="7424928" y="3950208"/>
            <a:ext cx="512064" cy="512064"/>
          </a:xfrm>
          <a:prstGeom prst="ellipse">
            <a:avLst/>
          </a:prstGeom>
          <a:solidFill>
            <a:srgbClr val="FFFFFF"/>
          </a:solidFill>
          <a:ln w="12700">
            <a:solidFill>
              <a:srgbClr val="DDE7ED"/>
            </a:solidFill>
            <a:prstDash val="solid"/>
          </a:ln>
        </p:spPr>
      </p:sp>
      <p:pic>
        <p:nvPicPr>
          <p:cNvPr id="19" name="Image 2" descr="preencoded.png">    </p:cNvPr>
          <p:cNvPicPr>
            <a:picLocks noChangeAspect="1"/>
          </p:cNvPicPr>
          <p:nvPr/>
        </p:nvPicPr>
        <p:blipFill>
          <a:blip r:embed="rId3"/>
          <a:stretch>
            <a:fillRect/>
          </a:stretch>
        </p:blipFill>
        <p:spPr>
          <a:xfrm>
            <a:off x="7552944" y="4078224"/>
            <a:ext cx="256032" cy="256032"/>
          </a:xfrm>
          <a:prstGeom prst="rect">
            <a:avLst/>
          </a:prstGeom>
        </p:spPr>
      </p:pic>
      <p:sp>
        <p:nvSpPr>
          <p:cNvPr id="20" name="Text 15"/>
          <p:cNvSpPr txBox="1"/>
          <p:nvPr/>
        </p:nvSpPr>
        <p:spPr>
          <a:xfrm>
            <a:off x="8065008" y="3922776"/>
            <a:ext cx="347472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Cypress / Playwright</a:t>
            </a:r>
            <a:endParaRPr lang="en-US" sz="1250" dirty="0"/>
          </a:p>
        </p:txBody>
      </p:sp>
      <p:sp>
        <p:nvSpPr>
          <p:cNvPr id="21" name="Text 16"/>
          <p:cNvSpPr txBox="1"/>
          <p:nvPr/>
        </p:nvSpPr>
        <p:spPr>
          <a:xfrm>
            <a:off x="8065008" y="4197096"/>
            <a:ext cx="3474720" cy="365760"/>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Pengujian end-to-end pada browser sungguhan.</a:t>
            </a:r>
            <a:endParaRPr lang="en-US" sz="1050" dirty="0"/>
          </a:p>
        </p:txBody>
      </p:sp>
      <p:sp>
        <p:nvSpPr>
          <p:cNvPr id="22" name="Shape 17"/>
          <p:cNvSpPr/>
          <p:nvPr/>
        </p:nvSpPr>
        <p:spPr>
          <a:xfrm>
            <a:off x="7223760" y="4800600"/>
            <a:ext cx="4416552" cy="1188720"/>
          </a:xfrm>
          <a:prstGeom prst="roundRect">
            <a:avLst>
              <a:gd name="adj" fmla="val 9231"/>
            </a:avLst>
          </a:prstGeom>
          <a:solidFill>
            <a:srgbClr val="20232A"/>
          </a:solidFill>
          <a:ln w="12700">
            <a:solidFill>
              <a:srgbClr val="20232A"/>
            </a:solidFill>
            <a:prstDash val="solid"/>
          </a:ln>
        </p:spPr>
      </p:sp>
      <p:sp>
        <p:nvSpPr>
          <p:cNvPr id="23" name="Text 18"/>
          <p:cNvSpPr txBox="1"/>
          <p:nvPr/>
        </p:nvSpPr>
        <p:spPr>
          <a:xfrm>
            <a:off x="7424928" y="4937760"/>
            <a:ext cx="4023360" cy="274320"/>
          </a:xfrm>
          <a:prstGeom prst="rect">
            <a:avLst/>
          </a:prstGeom>
          <a:noFill/>
          <a:ln/>
        </p:spPr>
        <p:txBody>
          <a:bodyPr wrap="square" lIns="0" tIns="0" rIns="0" bIns="0" rtlCol="0" anchor="ctr"/>
          <a:lstStyle/>
          <a:p>
            <a:pPr indent="0" marL="0">
              <a:buNone/>
            </a:pPr>
            <a:r>
              <a:rPr lang="en-US" sz="1300" b="1" dirty="0">
                <a:solidFill>
                  <a:srgbClr val="61DAFB"/>
                </a:solidFill>
                <a:latin typeface="Calibri" pitchFamily="34" charset="0"/>
                <a:ea typeface="Calibri" pitchFamily="34" charset="-122"/>
                <a:cs typeface="Calibri" pitchFamily="34" charset="-120"/>
              </a:rPr>
              <a:t>Prinsip pengujian</a:t>
            </a:r>
            <a:endParaRPr lang="en-US" sz="1300" dirty="0"/>
          </a:p>
        </p:txBody>
      </p:sp>
      <p:sp>
        <p:nvSpPr>
          <p:cNvPr id="24" name="Text 19"/>
          <p:cNvSpPr txBox="1"/>
          <p:nvPr/>
        </p:nvSpPr>
        <p:spPr>
          <a:xfrm>
            <a:off x="7424928" y="5230368"/>
            <a:ext cx="4023360" cy="685800"/>
          </a:xfrm>
          <a:prstGeom prst="rect">
            <a:avLst/>
          </a:prstGeom>
          <a:noFill/>
          <a:ln/>
        </p:spPr>
        <p:txBody>
          <a:bodyPr wrap="square" lIns="0" tIns="0" rIns="0" bIns="0" rtlCol="0" anchor="t"/>
          <a:lstStyle/>
          <a:p>
            <a:pPr indent="0" marL="0">
              <a:lnSpc>
                <a:spcPct val="112000"/>
              </a:lnSpc>
              <a:buNone/>
            </a:pPr>
            <a:r>
              <a:rPr lang="en-US" sz="1050" dirty="0">
                <a:solidFill>
                  <a:srgbClr val="AEB9C6"/>
                </a:solidFill>
                <a:latin typeface="Calibri" pitchFamily="34" charset="0"/>
                <a:ea typeface="Calibri" pitchFamily="34" charset="-122"/>
                <a:cs typeface="Calibri" pitchFamily="34" charset="-120"/>
              </a:rPr>
              <a:t>Uji perilaku yang dirasakan pengguna, bukan detail teknis di dalam komponen. Cari elemen berdasarkan teks atau peran, bukan nama kelas CSS.</a:t>
            </a:r>
            <a:endParaRPr lang="en-US" sz="1050" dirty="0"/>
          </a:p>
        </p:txBody>
      </p:sp>
      <p:sp>
        <p:nvSpPr>
          <p:cNvPr id="25" name="Text 20"/>
          <p:cNvSpPr txBox="1"/>
          <p:nvPr/>
        </p:nvSpPr>
        <p:spPr>
          <a:xfrm>
            <a:off x="548640" y="4434840"/>
            <a:ext cx="644652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Piramida pengujian</a:t>
            </a:r>
            <a:endParaRPr lang="en-US" sz="1400" dirty="0"/>
          </a:p>
        </p:txBody>
      </p:sp>
      <p:sp>
        <p:nvSpPr>
          <p:cNvPr id="26" name="Shape 21"/>
          <p:cNvSpPr/>
          <p:nvPr/>
        </p:nvSpPr>
        <p:spPr>
          <a:xfrm>
            <a:off x="2583180" y="4846320"/>
            <a:ext cx="2377440" cy="402336"/>
          </a:xfrm>
          <a:prstGeom prst="roundRect">
            <a:avLst>
              <a:gd name="adj" fmla="val 18182"/>
            </a:avLst>
          </a:prstGeom>
          <a:solidFill>
            <a:srgbClr val="20232A"/>
          </a:solidFill>
          <a:ln w="12700">
            <a:solidFill>
              <a:srgbClr val="20232A"/>
            </a:solidFill>
            <a:prstDash val="solid"/>
          </a:ln>
        </p:spPr>
      </p:sp>
      <p:sp>
        <p:nvSpPr>
          <p:cNvPr id="27" name="Text 22"/>
          <p:cNvSpPr txBox="1"/>
          <p:nvPr/>
        </p:nvSpPr>
        <p:spPr>
          <a:xfrm>
            <a:off x="2583180" y="4846320"/>
            <a:ext cx="2377440" cy="402336"/>
          </a:xfrm>
          <a:prstGeom prst="rect">
            <a:avLst/>
          </a:prstGeom>
          <a:noFill/>
          <a:ln/>
        </p:spPr>
        <p:txBody>
          <a:bodyPr wrap="square" lIns="0" tIns="0" rIns="0" bIns="0" rtlCol="0" anchor="ctr"/>
          <a:lstStyle/>
          <a:p>
            <a:pPr algn="ctr" indent="0" marL="0">
              <a:buNone/>
            </a:pPr>
            <a:r>
              <a:rPr lang="en-US" sz="1100" b="1" dirty="0">
                <a:solidFill>
                  <a:srgbClr val="61DAFB"/>
                </a:solidFill>
                <a:latin typeface="Calibri" pitchFamily="34" charset="0"/>
                <a:ea typeface="Calibri" pitchFamily="34" charset="-122"/>
                <a:cs typeface="Calibri" pitchFamily="34" charset="-120"/>
              </a:rPr>
              <a:t>End-to-end — sedikit, mahal, lambat</a:t>
            </a:r>
            <a:endParaRPr lang="en-US" sz="1100" dirty="0"/>
          </a:p>
        </p:txBody>
      </p:sp>
      <p:sp>
        <p:nvSpPr>
          <p:cNvPr id="28" name="Shape 23"/>
          <p:cNvSpPr/>
          <p:nvPr/>
        </p:nvSpPr>
        <p:spPr>
          <a:xfrm>
            <a:off x="1805940" y="5321808"/>
            <a:ext cx="3931920" cy="402336"/>
          </a:xfrm>
          <a:prstGeom prst="roundRect">
            <a:avLst>
              <a:gd name="adj" fmla="val 18182"/>
            </a:avLst>
          </a:prstGeom>
          <a:solidFill>
            <a:srgbClr val="1E90AF"/>
          </a:solidFill>
          <a:ln w="12700">
            <a:solidFill>
              <a:srgbClr val="1E90AF"/>
            </a:solidFill>
            <a:prstDash val="solid"/>
          </a:ln>
        </p:spPr>
      </p:sp>
      <p:sp>
        <p:nvSpPr>
          <p:cNvPr id="29" name="Text 24"/>
          <p:cNvSpPr txBox="1"/>
          <p:nvPr/>
        </p:nvSpPr>
        <p:spPr>
          <a:xfrm>
            <a:off x="1805940" y="5321808"/>
            <a:ext cx="3931920" cy="40233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Integrasi — secukupnya</a:t>
            </a:r>
            <a:endParaRPr lang="en-US" sz="1100" dirty="0"/>
          </a:p>
        </p:txBody>
      </p:sp>
      <p:sp>
        <p:nvSpPr>
          <p:cNvPr id="30" name="Shape 25"/>
          <p:cNvSpPr/>
          <p:nvPr/>
        </p:nvSpPr>
        <p:spPr>
          <a:xfrm>
            <a:off x="1028700" y="5797296"/>
            <a:ext cx="5486400" cy="402336"/>
          </a:xfrm>
          <a:prstGeom prst="roundRect">
            <a:avLst>
              <a:gd name="adj" fmla="val 18182"/>
            </a:avLst>
          </a:prstGeom>
          <a:solidFill>
            <a:srgbClr val="E4EDF3"/>
          </a:solidFill>
          <a:ln w="12700">
            <a:solidFill>
              <a:srgbClr val="E4EDF3"/>
            </a:solidFill>
            <a:prstDash val="solid"/>
          </a:ln>
        </p:spPr>
      </p:sp>
      <p:sp>
        <p:nvSpPr>
          <p:cNvPr id="31" name="Text 26"/>
          <p:cNvSpPr txBox="1"/>
          <p:nvPr/>
        </p:nvSpPr>
        <p:spPr>
          <a:xfrm>
            <a:off x="1028700" y="5797296"/>
            <a:ext cx="5486400" cy="402336"/>
          </a:xfrm>
          <a:prstGeom prst="rect">
            <a:avLst/>
          </a:prstGeom>
          <a:noFill/>
          <a:ln/>
        </p:spPr>
        <p:txBody>
          <a:bodyPr wrap="square" lIns="0" tIns="0" rIns="0" bIns="0" rtlCol="0" anchor="ctr"/>
          <a:lstStyle/>
          <a:p>
            <a:pPr algn="ctr" indent="0" marL="0">
              <a:buNone/>
            </a:pPr>
            <a:r>
              <a:rPr lang="en-US" sz="1100" dirty="0">
                <a:solidFill>
                  <a:srgbClr val="1B2029"/>
                </a:solidFill>
                <a:latin typeface="Calibri" pitchFamily="34" charset="0"/>
                <a:ea typeface="Calibri" pitchFamily="34" charset="-122"/>
                <a:cs typeface="Calibri" pitchFamily="34" charset="-120"/>
              </a:rPr>
              <a:t>Unit &amp; komponen — paling banyak</a:t>
            </a:r>
            <a:endParaRPr lang="en-US" sz="1100" dirty="0"/>
          </a:p>
        </p:txBody>
      </p:sp>
      <p:pic>
        <p:nvPicPr>
          <p:cNvPr id="33" name="Image 3" descr="preencoded.png">    </p:cNvPr>
          <p:cNvPicPr>
            <a:picLocks noChangeAspect="1"/>
          </p:cNvPicPr>
          <p:nvPr/>
        </p:nvPicPr>
        <p:blipFill>
          <a:blip r:embed="rId4"/>
          <a:stretch>
            <a:fillRect/>
          </a:stretch>
        </p:blipFill>
        <p:spPr>
          <a:xfrm>
            <a:off x="502920" y="6382512"/>
            <a:ext cx="201168" cy="201168"/>
          </a:xfrm>
          <a:prstGeom prst="rect">
            <a:avLst/>
          </a:prstGeom>
        </p:spPr>
      </p:pic>
      <p:sp>
        <p:nvSpPr>
          <p:cNvPr id="34" name="Text 27"/>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5" name="Text 28"/>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KUALITAS &amp; PUBLIKASI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Build &amp; Publikasi Aplikasi</a:t>
            </a:r>
            <a:endParaRPr lang="en-US" sz="3200" dirty="0"/>
          </a:p>
        </p:txBody>
      </p:sp>
      <p:sp>
        <p:nvSpPr>
          <p:cNvPr id="4" name="Shape 2"/>
          <p:cNvSpPr/>
          <p:nvPr/>
        </p:nvSpPr>
        <p:spPr>
          <a:xfrm>
            <a:off x="548640" y="1481328"/>
            <a:ext cx="6446520"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777240" y="1636776"/>
            <a:ext cx="548640" cy="548640"/>
          </a:xfrm>
          <a:prstGeom prst="ellipse">
            <a:avLst/>
          </a:prstGeom>
          <a:solidFill>
            <a:srgbClr val="20232A"/>
          </a:solidFill>
          <a:ln w="12700">
            <a:solidFill>
              <a:srgbClr val="20232A"/>
            </a:solidFill>
            <a:prstDash val="solid"/>
          </a:ln>
        </p:spPr>
      </p:sp>
      <p:pic>
        <p:nvPicPr>
          <p:cNvPr id="6" name="Image 0" descr="preencoded.png">    </p:cNvPr>
          <p:cNvPicPr>
            <a:picLocks noChangeAspect="1"/>
          </p:cNvPicPr>
          <p:nvPr/>
        </p:nvPicPr>
        <p:blipFill>
          <a:blip r:embed="rId1"/>
          <a:stretch>
            <a:fillRect/>
          </a:stretch>
        </p:blipFill>
        <p:spPr>
          <a:xfrm>
            <a:off x="919886" y="1779422"/>
            <a:ext cx="263347" cy="263347"/>
          </a:xfrm>
          <a:prstGeom prst="rect">
            <a:avLst/>
          </a:prstGeom>
        </p:spPr>
      </p:pic>
      <p:sp>
        <p:nvSpPr>
          <p:cNvPr id="7" name="Text 4"/>
          <p:cNvSpPr txBox="1"/>
          <p:nvPr/>
        </p:nvSpPr>
        <p:spPr>
          <a:xfrm>
            <a:off x="1463040" y="1591056"/>
            <a:ext cx="530352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Persiapan</a:t>
            </a:r>
            <a:endParaRPr lang="en-US" sz="1350" dirty="0"/>
          </a:p>
        </p:txBody>
      </p:sp>
      <p:sp>
        <p:nvSpPr>
          <p:cNvPr id="8" name="Text 5"/>
          <p:cNvSpPr txBox="1"/>
          <p:nvPr/>
        </p:nvSpPr>
        <p:spPr>
          <a:xfrm>
            <a:off x="1463040" y="1865376"/>
            <a:ext cx="5303520" cy="420624"/>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Cek variabel lingkungan (.env), hapus console.log, jalankan lint dan pengujian.</a:t>
            </a:r>
            <a:endParaRPr lang="en-US" sz="1100" dirty="0"/>
          </a:p>
        </p:txBody>
      </p:sp>
      <p:sp>
        <p:nvSpPr>
          <p:cNvPr id="9" name="Shape 6"/>
          <p:cNvSpPr/>
          <p:nvPr/>
        </p:nvSpPr>
        <p:spPr>
          <a:xfrm>
            <a:off x="548640" y="2505456"/>
            <a:ext cx="6446520"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0" name="Shape 7"/>
          <p:cNvSpPr/>
          <p:nvPr/>
        </p:nvSpPr>
        <p:spPr>
          <a:xfrm>
            <a:off x="777240" y="2660904"/>
            <a:ext cx="548640" cy="548640"/>
          </a:xfrm>
          <a:prstGeom prst="ellipse">
            <a:avLst/>
          </a:prstGeom>
          <a:solidFill>
            <a:srgbClr val="20232A"/>
          </a:solidFill>
          <a:ln w="12700">
            <a:solidFill>
              <a:srgbClr val="20232A"/>
            </a:solidFill>
            <a:prstDash val="solid"/>
          </a:ln>
        </p:spPr>
      </p:sp>
      <p:pic>
        <p:nvPicPr>
          <p:cNvPr id="11" name="Image 1" descr="preencoded.png">    </p:cNvPr>
          <p:cNvPicPr>
            <a:picLocks noChangeAspect="1"/>
          </p:cNvPicPr>
          <p:nvPr/>
        </p:nvPicPr>
        <p:blipFill>
          <a:blip r:embed="rId2"/>
          <a:stretch>
            <a:fillRect/>
          </a:stretch>
        </p:blipFill>
        <p:spPr>
          <a:xfrm>
            <a:off x="919886" y="2803550"/>
            <a:ext cx="263347" cy="263347"/>
          </a:xfrm>
          <a:prstGeom prst="rect">
            <a:avLst/>
          </a:prstGeom>
        </p:spPr>
      </p:pic>
      <p:sp>
        <p:nvSpPr>
          <p:cNvPr id="12" name="Text 8"/>
          <p:cNvSpPr txBox="1"/>
          <p:nvPr/>
        </p:nvSpPr>
        <p:spPr>
          <a:xfrm>
            <a:off x="1463040" y="2615184"/>
            <a:ext cx="530352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Build produksi</a:t>
            </a:r>
            <a:endParaRPr lang="en-US" sz="1350" dirty="0"/>
          </a:p>
        </p:txBody>
      </p:sp>
      <p:sp>
        <p:nvSpPr>
          <p:cNvPr id="13" name="Text 9"/>
          <p:cNvSpPr txBox="1"/>
          <p:nvPr/>
        </p:nvSpPr>
        <p:spPr>
          <a:xfrm>
            <a:off x="1463040" y="2889504"/>
            <a:ext cx="5303520" cy="420624"/>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Perintah npm run build menghasilkan folder dist berisi file statis yang sudah dioptimasi.</a:t>
            </a:r>
            <a:endParaRPr lang="en-US" sz="1100" dirty="0"/>
          </a:p>
        </p:txBody>
      </p:sp>
      <p:sp>
        <p:nvSpPr>
          <p:cNvPr id="14" name="Shape 10"/>
          <p:cNvSpPr/>
          <p:nvPr/>
        </p:nvSpPr>
        <p:spPr>
          <a:xfrm>
            <a:off x="548640" y="3529584"/>
            <a:ext cx="6446520"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5" name="Shape 11"/>
          <p:cNvSpPr/>
          <p:nvPr/>
        </p:nvSpPr>
        <p:spPr>
          <a:xfrm>
            <a:off x="777240" y="3685032"/>
            <a:ext cx="548640" cy="548640"/>
          </a:xfrm>
          <a:prstGeom prst="ellipse">
            <a:avLst/>
          </a:prstGeom>
          <a:solidFill>
            <a:srgbClr val="20232A"/>
          </a:solidFill>
          <a:ln w="12700">
            <a:solidFill>
              <a:srgbClr val="20232A"/>
            </a:solidFill>
            <a:prstDash val="solid"/>
          </a:ln>
        </p:spPr>
      </p:sp>
      <p:pic>
        <p:nvPicPr>
          <p:cNvPr id="16" name="Image 2" descr="preencoded.png">    </p:cNvPr>
          <p:cNvPicPr>
            <a:picLocks noChangeAspect="1"/>
          </p:cNvPicPr>
          <p:nvPr/>
        </p:nvPicPr>
        <p:blipFill>
          <a:blip r:embed="rId3"/>
          <a:stretch>
            <a:fillRect/>
          </a:stretch>
        </p:blipFill>
        <p:spPr>
          <a:xfrm>
            <a:off x="919886" y="3827678"/>
            <a:ext cx="263347" cy="263347"/>
          </a:xfrm>
          <a:prstGeom prst="rect">
            <a:avLst/>
          </a:prstGeom>
        </p:spPr>
      </p:pic>
      <p:sp>
        <p:nvSpPr>
          <p:cNvPr id="17" name="Text 12"/>
          <p:cNvSpPr txBox="1"/>
          <p:nvPr/>
        </p:nvSpPr>
        <p:spPr>
          <a:xfrm>
            <a:off x="1463040" y="3639312"/>
            <a:ext cx="530352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Uji hasil build</a:t>
            </a:r>
            <a:endParaRPr lang="en-US" sz="1350" dirty="0"/>
          </a:p>
        </p:txBody>
      </p:sp>
      <p:sp>
        <p:nvSpPr>
          <p:cNvPr id="18" name="Text 13"/>
          <p:cNvSpPr txBox="1"/>
          <p:nvPr/>
        </p:nvSpPr>
        <p:spPr>
          <a:xfrm>
            <a:off x="1463040" y="3913632"/>
            <a:ext cx="5303520" cy="420624"/>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Jalankan npm run preview untuk memastikan aplikasi berjalan sama seperti saat pengembangan.</a:t>
            </a:r>
            <a:endParaRPr lang="en-US" sz="1100" dirty="0"/>
          </a:p>
        </p:txBody>
      </p:sp>
      <p:sp>
        <p:nvSpPr>
          <p:cNvPr id="19" name="Shape 14"/>
          <p:cNvSpPr/>
          <p:nvPr/>
        </p:nvSpPr>
        <p:spPr>
          <a:xfrm>
            <a:off x="548640" y="4553712"/>
            <a:ext cx="6446520"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0" name="Shape 15"/>
          <p:cNvSpPr/>
          <p:nvPr/>
        </p:nvSpPr>
        <p:spPr>
          <a:xfrm>
            <a:off x="777240" y="4709160"/>
            <a:ext cx="548640" cy="548640"/>
          </a:xfrm>
          <a:prstGeom prst="ellipse">
            <a:avLst/>
          </a:prstGeom>
          <a:solidFill>
            <a:srgbClr val="20232A"/>
          </a:solidFill>
          <a:ln w="12700">
            <a:solidFill>
              <a:srgbClr val="20232A"/>
            </a:solidFill>
            <a:prstDash val="solid"/>
          </a:ln>
        </p:spPr>
      </p:sp>
      <p:pic>
        <p:nvPicPr>
          <p:cNvPr id="21" name="Image 3" descr="preencoded.png">    </p:cNvPr>
          <p:cNvPicPr>
            <a:picLocks noChangeAspect="1"/>
          </p:cNvPicPr>
          <p:nvPr/>
        </p:nvPicPr>
        <p:blipFill>
          <a:blip r:embed="rId4"/>
          <a:stretch>
            <a:fillRect/>
          </a:stretch>
        </p:blipFill>
        <p:spPr>
          <a:xfrm>
            <a:off x="919886" y="4851806"/>
            <a:ext cx="263347" cy="263347"/>
          </a:xfrm>
          <a:prstGeom prst="rect">
            <a:avLst/>
          </a:prstGeom>
        </p:spPr>
      </p:pic>
      <p:sp>
        <p:nvSpPr>
          <p:cNvPr id="22" name="Text 16"/>
          <p:cNvSpPr txBox="1"/>
          <p:nvPr/>
        </p:nvSpPr>
        <p:spPr>
          <a:xfrm>
            <a:off x="1463040" y="4663440"/>
            <a:ext cx="5303520" cy="274320"/>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Deploy</a:t>
            </a:r>
            <a:endParaRPr lang="en-US" sz="1350" dirty="0"/>
          </a:p>
        </p:txBody>
      </p:sp>
      <p:sp>
        <p:nvSpPr>
          <p:cNvPr id="23" name="Text 17"/>
          <p:cNvSpPr txBox="1"/>
          <p:nvPr/>
        </p:nvSpPr>
        <p:spPr>
          <a:xfrm>
            <a:off x="1463040" y="4937760"/>
            <a:ext cx="5303520" cy="420624"/>
          </a:xfrm>
          <a:prstGeom prst="rect">
            <a:avLst/>
          </a:prstGeom>
          <a:noFill/>
          <a:ln/>
        </p:spPr>
        <p:txBody>
          <a:bodyPr wrap="square" lIns="0" tIns="0" rIns="0" bIns="0" rtlCol="0" anchor="t"/>
          <a:lstStyle/>
          <a:p>
            <a:pPr indent="0" marL="0">
              <a:lnSpc>
                <a:spcPct val="108000"/>
              </a:lnSpc>
              <a:buNone/>
            </a:pPr>
            <a:r>
              <a:rPr lang="en-US" sz="1100" dirty="0">
                <a:solidFill>
                  <a:srgbClr val="5C6672"/>
                </a:solidFill>
                <a:latin typeface="Calibri" pitchFamily="34" charset="0"/>
                <a:ea typeface="Calibri" pitchFamily="34" charset="-122"/>
                <a:cs typeface="Calibri" pitchFamily="34" charset="-120"/>
              </a:rPr>
              <a:t>Unggah ke layanan hosting; umumnya cukup menghubungkan repositori Git.</a:t>
            </a:r>
            <a:endParaRPr lang="en-US" sz="1100" dirty="0"/>
          </a:p>
        </p:txBody>
      </p:sp>
      <p:sp>
        <p:nvSpPr>
          <p:cNvPr id="24" name="Shape 18"/>
          <p:cNvSpPr/>
          <p:nvPr/>
        </p:nvSpPr>
        <p:spPr>
          <a:xfrm>
            <a:off x="548640" y="5486400"/>
            <a:ext cx="6446520" cy="672998"/>
          </a:xfrm>
          <a:prstGeom prst="roundRect">
            <a:avLst>
              <a:gd name="adj" fmla="val 13587"/>
            </a:avLst>
          </a:prstGeom>
          <a:solidFill>
            <a:srgbClr val="1B1F27"/>
          </a:solidFill>
          <a:ln w="12700">
            <a:solidFill>
              <a:srgbClr val="323945"/>
            </a:solidFill>
            <a:prstDash val="solid"/>
          </a:ln>
        </p:spPr>
      </p:sp>
      <p:sp>
        <p:nvSpPr>
          <p:cNvPr id="25" name="Text 19"/>
          <p:cNvSpPr txBox="1"/>
          <p:nvPr/>
        </p:nvSpPr>
        <p:spPr>
          <a:xfrm>
            <a:off x="694944" y="5614416"/>
            <a:ext cx="6153912" cy="416966"/>
          </a:xfrm>
          <a:prstGeom prst="rect">
            <a:avLst/>
          </a:prstGeom>
          <a:noFill/>
          <a:ln/>
        </p:spPr>
        <p:txBody>
          <a:bodyPr wrap="square" lIns="0" tIns="0" rIns="0" bIns="0" rtlCol="0" anchor="t"/>
          <a:lstStyle/>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npm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run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build</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7A8796"/>
                </a:solidFill>
                <a:latin typeface="Courier New" pitchFamily="34" charset="0"/>
                <a:ea typeface="Courier New" pitchFamily="34" charset="-122"/>
                <a:cs typeface="Courier New" pitchFamily="34" charset="-120"/>
              </a:rPr>
              <a:t>// menghasilkan folder dist/</a:t>
            </a:r>
            <a:endParaRPr lang="en-US" sz="1100" dirty="0"/>
          </a:p>
          <a:p>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npm</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run</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preview</a:t>
            </a:r>
            <a:pPr indent="0" marL="0">
              <a:lnSpc>
                <a:spcPct val="106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7A8796"/>
                </a:solidFill>
                <a:latin typeface="Courier New" pitchFamily="34" charset="0"/>
                <a:ea typeface="Courier New" pitchFamily="34" charset="-122"/>
                <a:cs typeface="Courier New" pitchFamily="34" charset="-120"/>
              </a:rPr>
              <a:t>// uji hasil build secara lokal</a:t>
            </a:r>
            <a:endParaRPr lang="en-US" sz="1100" dirty="0"/>
          </a:p>
        </p:txBody>
      </p:sp>
      <p:sp>
        <p:nvSpPr>
          <p:cNvPr id="26" name="Text 20"/>
          <p:cNvSpPr txBox="1"/>
          <p:nvPr/>
        </p:nvSpPr>
        <p:spPr>
          <a:xfrm>
            <a:off x="7223760" y="1481328"/>
            <a:ext cx="4416552"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Pilihan platform hosting</a:t>
            </a:r>
            <a:endParaRPr lang="en-US" sz="1400" dirty="0"/>
          </a:p>
        </p:txBody>
      </p:sp>
      <p:sp>
        <p:nvSpPr>
          <p:cNvPr id="27" name="Shape 21"/>
          <p:cNvSpPr/>
          <p:nvPr/>
        </p:nvSpPr>
        <p:spPr>
          <a:xfrm>
            <a:off x="7223760" y="1874520"/>
            <a:ext cx="4416552"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8" name="Shape 22"/>
          <p:cNvSpPr/>
          <p:nvPr/>
        </p:nvSpPr>
        <p:spPr>
          <a:xfrm>
            <a:off x="7424928" y="2057400"/>
            <a:ext cx="512064" cy="512064"/>
          </a:xfrm>
          <a:prstGeom prst="ellipse">
            <a:avLst/>
          </a:prstGeom>
          <a:solidFill>
            <a:srgbClr val="FFFFFF"/>
          </a:solidFill>
          <a:ln w="12700">
            <a:solidFill>
              <a:srgbClr val="DDE7ED"/>
            </a:solidFill>
            <a:prstDash val="solid"/>
          </a:ln>
        </p:spPr>
      </p:sp>
      <p:pic>
        <p:nvPicPr>
          <p:cNvPr id="29" name="Image 4" descr="preencoded.png">    </p:cNvPr>
          <p:cNvPicPr>
            <a:picLocks noChangeAspect="1"/>
          </p:cNvPicPr>
          <p:nvPr/>
        </p:nvPicPr>
        <p:blipFill>
          <a:blip r:embed="rId5"/>
          <a:stretch>
            <a:fillRect/>
          </a:stretch>
        </p:blipFill>
        <p:spPr>
          <a:xfrm>
            <a:off x="7552944" y="2185416"/>
            <a:ext cx="256032" cy="256032"/>
          </a:xfrm>
          <a:prstGeom prst="rect">
            <a:avLst/>
          </a:prstGeom>
        </p:spPr>
      </p:pic>
      <p:sp>
        <p:nvSpPr>
          <p:cNvPr id="30" name="Text 23"/>
          <p:cNvSpPr txBox="1"/>
          <p:nvPr/>
        </p:nvSpPr>
        <p:spPr>
          <a:xfrm>
            <a:off x="8065008" y="2011680"/>
            <a:ext cx="347472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Vercel</a:t>
            </a:r>
            <a:endParaRPr lang="en-US" sz="1300" dirty="0"/>
          </a:p>
        </p:txBody>
      </p:sp>
      <p:sp>
        <p:nvSpPr>
          <p:cNvPr id="31" name="Text 24"/>
          <p:cNvSpPr txBox="1"/>
          <p:nvPr/>
        </p:nvSpPr>
        <p:spPr>
          <a:xfrm>
            <a:off x="8065008" y="2286000"/>
            <a:ext cx="347472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Paling mulus untuk React dan Next.js.</a:t>
            </a:r>
            <a:endParaRPr lang="en-US" sz="1050" dirty="0"/>
          </a:p>
        </p:txBody>
      </p:sp>
      <p:sp>
        <p:nvSpPr>
          <p:cNvPr id="32" name="Shape 25"/>
          <p:cNvSpPr/>
          <p:nvPr/>
        </p:nvSpPr>
        <p:spPr>
          <a:xfrm>
            <a:off x="7223760" y="2898648"/>
            <a:ext cx="4416552"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33" name="Shape 26"/>
          <p:cNvSpPr/>
          <p:nvPr/>
        </p:nvSpPr>
        <p:spPr>
          <a:xfrm>
            <a:off x="7424928" y="3081528"/>
            <a:ext cx="512064" cy="512064"/>
          </a:xfrm>
          <a:prstGeom prst="ellipse">
            <a:avLst/>
          </a:prstGeom>
          <a:solidFill>
            <a:srgbClr val="FFFFFF"/>
          </a:solidFill>
          <a:ln w="12700">
            <a:solidFill>
              <a:srgbClr val="DDE7ED"/>
            </a:solidFill>
            <a:prstDash val="solid"/>
          </a:ln>
        </p:spPr>
      </p:sp>
      <p:pic>
        <p:nvPicPr>
          <p:cNvPr id="34" name="Image 5" descr="preencoded.png">    </p:cNvPr>
          <p:cNvPicPr>
            <a:picLocks noChangeAspect="1"/>
          </p:cNvPicPr>
          <p:nvPr/>
        </p:nvPicPr>
        <p:blipFill>
          <a:blip r:embed="rId6"/>
          <a:stretch>
            <a:fillRect/>
          </a:stretch>
        </p:blipFill>
        <p:spPr>
          <a:xfrm>
            <a:off x="7552944" y="3209544"/>
            <a:ext cx="256032" cy="256032"/>
          </a:xfrm>
          <a:prstGeom prst="rect">
            <a:avLst/>
          </a:prstGeom>
        </p:spPr>
      </p:pic>
      <p:sp>
        <p:nvSpPr>
          <p:cNvPr id="35" name="Text 27"/>
          <p:cNvSpPr txBox="1"/>
          <p:nvPr/>
        </p:nvSpPr>
        <p:spPr>
          <a:xfrm>
            <a:off x="8065008" y="3035808"/>
            <a:ext cx="347472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Netlify</a:t>
            </a:r>
            <a:endParaRPr lang="en-US" sz="1300" dirty="0"/>
          </a:p>
        </p:txBody>
      </p:sp>
      <p:sp>
        <p:nvSpPr>
          <p:cNvPr id="36" name="Text 28"/>
          <p:cNvSpPr txBox="1"/>
          <p:nvPr/>
        </p:nvSpPr>
        <p:spPr>
          <a:xfrm>
            <a:off x="8065008" y="3310128"/>
            <a:ext cx="347472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Deploy otomatis dari Git, gratis untuk proyek kecil.</a:t>
            </a:r>
            <a:endParaRPr lang="en-US" sz="1050" dirty="0"/>
          </a:p>
        </p:txBody>
      </p:sp>
      <p:sp>
        <p:nvSpPr>
          <p:cNvPr id="37" name="Shape 29"/>
          <p:cNvSpPr/>
          <p:nvPr/>
        </p:nvSpPr>
        <p:spPr>
          <a:xfrm>
            <a:off x="7223760" y="3922776"/>
            <a:ext cx="4416552"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38" name="Shape 30"/>
          <p:cNvSpPr/>
          <p:nvPr/>
        </p:nvSpPr>
        <p:spPr>
          <a:xfrm>
            <a:off x="7424928" y="4105656"/>
            <a:ext cx="512064" cy="512064"/>
          </a:xfrm>
          <a:prstGeom prst="ellipse">
            <a:avLst/>
          </a:prstGeom>
          <a:solidFill>
            <a:srgbClr val="FFFFFF"/>
          </a:solidFill>
          <a:ln w="12700">
            <a:solidFill>
              <a:srgbClr val="DDE7ED"/>
            </a:solidFill>
            <a:prstDash val="solid"/>
          </a:ln>
        </p:spPr>
      </p:sp>
      <p:pic>
        <p:nvPicPr>
          <p:cNvPr id="39" name="Image 6" descr="preencoded.png">    </p:cNvPr>
          <p:cNvPicPr>
            <a:picLocks noChangeAspect="1"/>
          </p:cNvPicPr>
          <p:nvPr/>
        </p:nvPicPr>
        <p:blipFill>
          <a:blip r:embed="rId7"/>
          <a:stretch>
            <a:fillRect/>
          </a:stretch>
        </p:blipFill>
        <p:spPr>
          <a:xfrm>
            <a:off x="7552944" y="4233672"/>
            <a:ext cx="256032" cy="256032"/>
          </a:xfrm>
          <a:prstGeom prst="rect">
            <a:avLst/>
          </a:prstGeom>
        </p:spPr>
      </p:pic>
      <p:sp>
        <p:nvSpPr>
          <p:cNvPr id="40" name="Text 31"/>
          <p:cNvSpPr txBox="1"/>
          <p:nvPr/>
        </p:nvSpPr>
        <p:spPr>
          <a:xfrm>
            <a:off x="8065008" y="4059936"/>
            <a:ext cx="347472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GitHub Pages</a:t>
            </a:r>
            <a:endParaRPr lang="en-US" sz="1300" dirty="0"/>
          </a:p>
        </p:txBody>
      </p:sp>
      <p:sp>
        <p:nvSpPr>
          <p:cNvPr id="41" name="Text 32"/>
          <p:cNvSpPr txBox="1"/>
          <p:nvPr/>
        </p:nvSpPr>
        <p:spPr>
          <a:xfrm>
            <a:off x="8065008" y="4334256"/>
            <a:ext cx="347472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Cocok untuk portofolio dan situs statis.</a:t>
            </a:r>
            <a:endParaRPr lang="en-US" sz="1050" dirty="0"/>
          </a:p>
        </p:txBody>
      </p:sp>
      <p:sp>
        <p:nvSpPr>
          <p:cNvPr id="42" name="Shape 33"/>
          <p:cNvSpPr/>
          <p:nvPr/>
        </p:nvSpPr>
        <p:spPr>
          <a:xfrm>
            <a:off x="7223760" y="4946904"/>
            <a:ext cx="4416552" cy="877824"/>
          </a:xfrm>
          <a:prstGeom prst="roundRect">
            <a:avLst>
              <a:gd name="adj" fmla="val 12500"/>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43" name="Shape 34"/>
          <p:cNvSpPr/>
          <p:nvPr/>
        </p:nvSpPr>
        <p:spPr>
          <a:xfrm>
            <a:off x="7424928" y="5129784"/>
            <a:ext cx="512064" cy="512064"/>
          </a:xfrm>
          <a:prstGeom prst="ellipse">
            <a:avLst/>
          </a:prstGeom>
          <a:solidFill>
            <a:srgbClr val="FFFFFF"/>
          </a:solidFill>
          <a:ln w="12700">
            <a:solidFill>
              <a:srgbClr val="DDE7ED"/>
            </a:solidFill>
            <a:prstDash val="solid"/>
          </a:ln>
        </p:spPr>
      </p:sp>
      <p:pic>
        <p:nvPicPr>
          <p:cNvPr id="44" name="Image 7" descr="preencoded.png">    </p:cNvPr>
          <p:cNvPicPr>
            <a:picLocks noChangeAspect="1"/>
          </p:cNvPicPr>
          <p:nvPr/>
        </p:nvPicPr>
        <p:blipFill>
          <a:blip r:embed="rId8"/>
          <a:stretch>
            <a:fillRect/>
          </a:stretch>
        </p:blipFill>
        <p:spPr>
          <a:xfrm>
            <a:off x="7552944" y="5257800"/>
            <a:ext cx="256032" cy="256032"/>
          </a:xfrm>
          <a:prstGeom prst="rect">
            <a:avLst/>
          </a:prstGeom>
        </p:spPr>
      </p:pic>
      <p:sp>
        <p:nvSpPr>
          <p:cNvPr id="45" name="Text 35"/>
          <p:cNvSpPr txBox="1"/>
          <p:nvPr/>
        </p:nvSpPr>
        <p:spPr>
          <a:xfrm>
            <a:off x="8065008" y="5084064"/>
            <a:ext cx="3474720" cy="274320"/>
          </a:xfrm>
          <a:prstGeom prst="rect">
            <a:avLst/>
          </a:prstGeom>
          <a:noFill/>
          <a:ln/>
        </p:spPr>
        <p:txBody>
          <a:bodyPr wrap="square" lIns="0" tIns="0" rIns="0" bIns="0" rtlCol="0" anchor="ctr"/>
          <a:lstStyle/>
          <a:p>
            <a:pPr indent="0" marL="0">
              <a:buNone/>
            </a:pPr>
            <a:r>
              <a:rPr lang="en-US" sz="1300" b="1" dirty="0">
                <a:solidFill>
                  <a:srgbClr val="1B2029"/>
                </a:solidFill>
                <a:latin typeface="Calibri" pitchFamily="34" charset="0"/>
                <a:ea typeface="Calibri" pitchFamily="34" charset="-122"/>
                <a:cs typeface="Calibri" pitchFamily="34" charset="-120"/>
              </a:rPr>
              <a:t>Firebase Hosting</a:t>
            </a:r>
            <a:endParaRPr lang="en-US" sz="1300" dirty="0"/>
          </a:p>
        </p:txBody>
      </p:sp>
      <p:sp>
        <p:nvSpPr>
          <p:cNvPr id="46" name="Text 36"/>
          <p:cNvSpPr txBox="1"/>
          <p:nvPr/>
        </p:nvSpPr>
        <p:spPr>
          <a:xfrm>
            <a:off x="8065008" y="5358384"/>
            <a:ext cx="3474720" cy="384048"/>
          </a:xfrm>
          <a:prstGeom prst="rect">
            <a:avLst/>
          </a:prstGeom>
          <a:noFill/>
          <a:ln/>
        </p:spPr>
        <p:txBody>
          <a:bodyPr wrap="square" lIns="0" tIns="0" rIns="0" bIns="0" rtlCol="0" anchor="t"/>
          <a:lstStyle/>
          <a:p>
            <a:pPr indent="0" marL="0">
              <a:lnSpc>
                <a:spcPct val="105000"/>
              </a:lnSpc>
              <a:buNone/>
            </a:pPr>
            <a:r>
              <a:rPr lang="en-US" sz="1050" dirty="0">
                <a:solidFill>
                  <a:srgbClr val="5C6672"/>
                </a:solidFill>
                <a:latin typeface="Calibri" pitchFamily="34" charset="0"/>
                <a:ea typeface="Calibri" pitchFamily="34" charset="-122"/>
                <a:cs typeface="Calibri" pitchFamily="34" charset="-120"/>
              </a:rPr>
              <a:t>Terintegrasi dengan layanan backend Google.</a:t>
            </a:r>
            <a:endParaRPr lang="en-US" sz="1050" dirty="0"/>
          </a:p>
        </p:txBody>
      </p:sp>
      <p:pic>
        <p:nvPicPr>
          <p:cNvPr id="48" name="Image 8" descr="preencoded.png">    </p:cNvPr>
          <p:cNvPicPr>
            <a:picLocks noChangeAspect="1"/>
          </p:cNvPicPr>
          <p:nvPr/>
        </p:nvPicPr>
        <p:blipFill>
          <a:blip r:embed="rId9"/>
          <a:stretch>
            <a:fillRect/>
          </a:stretch>
        </p:blipFill>
        <p:spPr>
          <a:xfrm>
            <a:off x="502920" y="6382512"/>
            <a:ext cx="201168" cy="201168"/>
          </a:xfrm>
          <a:prstGeom prst="rect">
            <a:avLst/>
          </a:prstGeom>
        </p:spPr>
      </p:pic>
      <p:sp>
        <p:nvSpPr>
          <p:cNvPr id="49" name="Text 37"/>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50" name="Text 38"/>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KUALITAS &amp; PUBLIKASI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Melangkah ke Next.js</a:t>
            </a:r>
            <a:endParaRPr lang="en-US" sz="3200" dirty="0"/>
          </a:p>
        </p:txBody>
      </p:sp>
      <p:pic>
        <p:nvPicPr>
          <p:cNvPr id="4" name="Image 0" descr="preencoded.png">    </p:cNvPr>
          <p:cNvPicPr>
            <a:picLocks noChangeAspect="1"/>
          </p:cNvPicPr>
          <p:nvPr/>
        </p:nvPicPr>
        <p:blipFill>
          <a:blip r:embed="rId1"/>
          <a:stretch>
            <a:fillRect/>
          </a:stretch>
        </p:blipFill>
        <p:spPr>
          <a:xfrm>
            <a:off x="10927080" y="566928"/>
            <a:ext cx="713232" cy="713232"/>
          </a:xfrm>
          <a:prstGeom prst="rect">
            <a:avLst/>
          </a:prstGeom>
        </p:spPr>
      </p:pic>
      <p:sp>
        <p:nvSpPr>
          <p:cNvPr id="5" name="Shape 2"/>
          <p:cNvSpPr/>
          <p:nvPr/>
        </p:nvSpPr>
        <p:spPr>
          <a:xfrm>
            <a:off x="548640" y="1481328"/>
            <a:ext cx="5440680" cy="1965960"/>
          </a:xfrm>
          <a:prstGeom prst="roundRect">
            <a:avLst>
              <a:gd name="adj" fmla="val 5581"/>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6" name="Text 3"/>
          <p:cNvSpPr txBox="1"/>
          <p:nvPr/>
        </p:nvSpPr>
        <p:spPr>
          <a:xfrm>
            <a:off x="804672" y="1664208"/>
            <a:ext cx="4937760" cy="292608"/>
          </a:xfrm>
          <a:prstGeom prst="rect">
            <a:avLst/>
          </a:prstGeom>
          <a:noFill/>
          <a:ln/>
        </p:spPr>
        <p:txBody>
          <a:bodyPr wrap="square" lIns="0" tIns="0" rIns="0" bIns="0" rtlCol="0" anchor="ctr"/>
          <a:lstStyle/>
          <a:p>
            <a:pPr indent="0" marL="0">
              <a:buNone/>
            </a:pPr>
            <a:r>
              <a:rPr lang="en-US" sz="1500" b="1" dirty="0">
                <a:solidFill>
                  <a:srgbClr val="1B2029"/>
                </a:solidFill>
                <a:latin typeface="Calibri" pitchFamily="34" charset="0"/>
                <a:ea typeface="Calibri" pitchFamily="34" charset="-122"/>
                <a:cs typeface="Calibri" pitchFamily="34" charset="-120"/>
              </a:rPr>
              <a:t>Mengapa perlu framework?</a:t>
            </a:r>
            <a:endParaRPr lang="en-US" sz="1500" dirty="0"/>
          </a:p>
        </p:txBody>
      </p:sp>
      <p:sp>
        <p:nvSpPr>
          <p:cNvPr id="7" name="Text 4"/>
          <p:cNvSpPr txBox="1"/>
          <p:nvPr/>
        </p:nvSpPr>
        <p:spPr>
          <a:xfrm>
            <a:off x="804672" y="1993392"/>
            <a:ext cx="4937760" cy="1325880"/>
          </a:xfrm>
          <a:prstGeom prst="rect">
            <a:avLst/>
          </a:prstGeom>
          <a:noFill/>
          <a:ln/>
        </p:spPr>
        <p:txBody>
          <a:bodyPr wrap="square" lIns="0" tIns="0" rIns="0" bIns="0" rtlCol="0" anchor="t"/>
          <a:lstStyle/>
          <a:p>
            <a:pPr indent="0" marL="0">
              <a:lnSpc>
                <a:spcPct val="115000"/>
              </a:lnSpc>
              <a:buNone/>
            </a:pPr>
            <a:r>
              <a:rPr lang="en-US" sz="1150" dirty="0">
                <a:solidFill>
                  <a:srgbClr val="5C6672"/>
                </a:solidFill>
                <a:latin typeface="Calibri" pitchFamily="34" charset="0"/>
                <a:ea typeface="Calibri" pitchFamily="34" charset="-122"/>
                <a:cs typeface="Calibri" pitchFamily="34" charset="-120"/>
              </a:rPr>
              <a:t>React murni merender aplikasi di sisi browser (CSR), sehingga halaman awal bisa terasa lambat dan kurang optimal untuk mesin pencari. Next.js menambahkan rendering di sisi server beserta banyak fitur produksi.</a:t>
            </a:r>
            <a:endParaRPr lang="en-US" sz="1150" dirty="0"/>
          </a:p>
        </p:txBody>
      </p:sp>
      <p:sp>
        <p:nvSpPr>
          <p:cNvPr id="8" name="Shape 5"/>
          <p:cNvSpPr/>
          <p:nvPr/>
        </p:nvSpPr>
        <p:spPr>
          <a:xfrm>
            <a:off x="548640" y="3703320"/>
            <a:ext cx="530352" cy="530352"/>
          </a:xfrm>
          <a:prstGeom prst="ellipse">
            <a:avLst/>
          </a:prstGeom>
          <a:solidFill>
            <a:srgbClr val="20232A"/>
          </a:solidFill>
          <a:ln w="12700">
            <a:solidFill>
              <a:srgbClr val="20232A"/>
            </a:solidFill>
            <a:prstDash val="solid"/>
          </a:ln>
        </p:spPr>
      </p:sp>
      <p:pic>
        <p:nvPicPr>
          <p:cNvPr id="9" name="Image 1" descr="preencoded.png">    </p:cNvPr>
          <p:cNvPicPr>
            <a:picLocks noChangeAspect="1"/>
          </p:cNvPicPr>
          <p:nvPr/>
        </p:nvPicPr>
        <p:blipFill>
          <a:blip r:embed="rId2"/>
          <a:stretch>
            <a:fillRect/>
          </a:stretch>
        </p:blipFill>
        <p:spPr>
          <a:xfrm>
            <a:off x="686532" y="3841212"/>
            <a:ext cx="254569" cy="254569"/>
          </a:xfrm>
          <a:prstGeom prst="rect">
            <a:avLst/>
          </a:prstGeom>
        </p:spPr>
      </p:pic>
      <p:sp>
        <p:nvSpPr>
          <p:cNvPr id="10" name="Text 6"/>
          <p:cNvSpPr txBox="1"/>
          <p:nvPr/>
        </p:nvSpPr>
        <p:spPr>
          <a:xfrm>
            <a:off x="1234440" y="3685032"/>
            <a:ext cx="475488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Routing berbasis file</a:t>
            </a:r>
            <a:endParaRPr lang="en-US" sz="1250" dirty="0"/>
          </a:p>
        </p:txBody>
      </p:sp>
      <p:sp>
        <p:nvSpPr>
          <p:cNvPr id="11" name="Text 7"/>
          <p:cNvSpPr txBox="1"/>
          <p:nvPr/>
        </p:nvSpPr>
        <p:spPr>
          <a:xfrm>
            <a:off x="1234440" y="3941064"/>
            <a:ext cx="4754880" cy="292608"/>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Struktur folder langsung menjadi alamat halaman.</a:t>
            </a:r>
            <a:endParaRPr lang="en-US" sz="1050" dirty="0"/>
          </a:p>
        </p:txBody>
      </p:sp>
      <p:sp>
        <p:nvSpPr>
          <p:cNvPr id="12" name="Shape 8"/>
          <p:cNvSpPr/>
          <p:nvPr/>
        </p:nvSpPr>
        <p:spPr>
          <a:xfrm>
            <a:off x="548640" y="4361688"/>
            <a:ext cx="530352" cy="530352"/>
          </a:xfrm>
          <a:prstGeom prst="ellipse">
            <a:avLst/>
          </a:prstGeom>
          <a:solidFill>
            <a:srgbClr val="20232A"/>
          </a:solidFill>
          <a:ln w="12700">
            <a:solidFill>
              <a:srgbClr val="20232A"/>
            </a:solidFill>
            <a:prstDash val="solid"/>
          </a:ln>
        </p:spPr>
      </p:sp>
      <p:pic>
        <p:nvPicPr>
          <p:cNvPr id="13" name="Image 2" descr="preencoded.png">    </p:cNvPr>
          <p:cNvPicPr>
            <a:picLocks noChangeAspect="1"/>
          </p:cNvPicPr>
          <p:nvPr/>
        </p:nvPicPr>
        <p:blipFill>
          <a:blip r:embed="rId3"/>
          <a:stretch>
            <a:fillRect/>
          </a:stretch>
        </p:blipFill>
        <p:spPr>
          <a:xfrm>
            <a:off x="686532" y="4499580"/>
            <a:ext cx="254569" cy="254569"/>
          </a:xfrm>
          <a:prstGeom prst="rect">
            <a:avLst/>
          </a:prstGeom>
        </p:spPr>
      </p:pic>
      <p:sp>
        <p:nvSpPr>
          <p:cNvPr id="14" name="Text 9"/>
          <p:cNvSpPr txBox="1"/>
          <p:nvPr/>
        </p:nvSpPr>
        <p:spPr>
          <a:xfrm>
            <a:off x="1234440" y="4343400"/>
            <a:ext cx="475488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SSR &amp; SSG</a:t>
            </a:r>
            <a:endParaRPr lang="en-US" sz="1250" dirty="0"/>
          </a:p>
        </p:txBody>
      </p:sp>
      <p:sp>
        <p:nvSpPr>
          <p:cNvPr id="15" name="Text 10"/>
          <p:cNvSpPr txBox="1"/>
          <p:nvPr/>
        </p:nvSpPr>
        <p:spPr>
          <a:xfrm>
            <a:off x="1234440" y="4599432"/>
            <a:ext cx="4754880" cy="292608"/>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Halaman dapat dirender di server atau dibuat saat build.</a:t>
            </a:r>
            <a:endParaRPr lang="en-US" sz="1050" dirty="0"/>
          </a:p>
        </p:txBody>
      </p:sp>
      <p:sp>
        <p:nvSpPr>
          <p:cNvPr id="16" name="Shape 11"/>
          <p:cNvSpPr/>
          <p:nvPr/>
        </p:nvSpPr>
        <p:spPr>
          <a:xfrm>
            <a:off x="548640" y="5020056"/>
            <a:ext cx="530352" cy="530352"/>
          </a:xfrm>
          <a:prstGeom prst="ellipse">
            <a:avLst/>
          </a:prstGeom>
          <a:solidFill>
            <a:srgbClr val="20232A"/>
          </a:solidFill>
          <a:ln w="12700">
            <a:solidFill>
              <a:srgbClr val="20232A"/>
            </a:solidFill>
            <a:prstDash val="solid"/>
          </a:ln>
        </p:spPr>
      </p:sp>
      <p:pic>
        <p:nvPicPr>
          <p:cNvPr id="17" name="Image 3" descr="preencoded.png">    </p:cNvPr>
          <p:cNvPicPr>
            <a:picLocks noChangeAspect="1"/>
          </p:cNvPicPr>
          <p:nvPr/>
        </p:nvPicPr>
        <p:blipFill>
          <a:blip r:embed="rId4"/>
          <a:stretch>
            <a:fillRect/>
          </a:stretch>
        </p:blipFill>
        <p:spPr>
          <a:xfrm>
            <a:off x="686532" y="5157948"/>
            <a:ext cx="254569" cy="254569"/>
          </a:xfrm>
          <a:prstGeom prst="rect">
            <a:avLst/>
          </a:prstGeom>
        </p:spPr>
      </p:pic>
      <p:sp>
        <p:nvSpPr>
          <p:cNvPr id="18" name="Text 12"/>
          <p:cNvSpPr txBox="1"/>
          <p:nvPr/>
        </p:nvSpPr>
        <p:spPr>
          <a:xfrm>
            <a:off x="1234440" y="5001768"/>
            <a:ext cx="475488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Server Components</a:t>
            </a:r>
            <a:endParaRPr lang="en-US" sz="1250" dirty="0"/>
          </a:p>
        </p:txBody>
      </p:sp>
      <p:sp>
        <p:nvSpPr>
          <p:cNvPr id="19" name="Text 13"/>
          <p:cNvSpPr txBox="1"/>
          <p:nvPr/>
        </p:nvSpPr>
        <p:spPr>
          <a:xfrm>
            <a:off x="1234440" y="5257800"/>
            <a:ext cx="4754880" cy="292608"/>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Sebagian komponen berjalan di server sehingga bundel lebih kecil.</a:t>
            </a:r>
            <a:endParaRPr lang="en-US" sz="1050" dirty="0"/>
          </a:p>
        </p:txBody>
      </p:sp>
      <p:sp>
        <p:nvSpPr>
          <p:cNvPr id="20" name="Shape 14"/>
          <p:cNvSpPr/>
          <p:nvPr/>
        </p:nvSpPr>
        <p:spPr>
          <a:xfrm>
            <a:off x="548640" y="5678424"/>
            <a:ext cx="530352" cy="530352"/>
          </a:xfrm>
          <a:prstGeom prst="ellipse">
            <a:avLst/>
          </a:prstGeom>
          <a:solidFill>
            <a:srgbClr val="20232A"/>
          </a:solidFill>
          <a:ln w="12700">
            <a:solidFill>
              <a:srgbClr val="20232A"/>
            </a:solidFill>
            <a:prstDash val="solid"/>
          </a:ln>
        </p:spPr>
      </p:sp>
      <p:pic>
        <p:nvPicPr>
          <p:cNvPr id="21" name="Image 4" descr="preencoded.png">    </p:cNvPr>
          <p:cNvPicPr>
            <a:picLocks noChangeAspect="1"/>
          </p:cNvPicPr>
          <p:nvPr/>
        </p:nvPicPr>
        <p:blipFill>
          <a:blip r:embed="rId5"/>
          <a:stretch>
            <a:fillRect/>
          </a:stretch>
        </p:blipFill>
        <p:spPr>
          <a:xfrm>
            <a:off x="686532" y="5816316"/>
            <a:ext cx="254569" cy="254569"/>
          </a:xfrm>
          <a:prstGeom prst="rect">
            <a:avLst/>
          </a:prstGeom>
        </p:spPr>
      </p:pic>
      <p:sp>
        <p:nvSpPr>
          <p:cNvPr id="22" name="Text 15"/>
          <p:cNvSpPr txBox="1"/>
          <p:nvPr/>
        </p:nvSpPr>
        <p:spPr>
          <a:xfrm>
            <a:off x="1234440" y="5660136"/>
            <a:ext cx="4754880" cy="256032"/>
          </a:xfrm>
          <a:prstGeom prst="rect">
            <a:avLst/>
          </a:prstGeom>
          <a:noFill/>
          <a:ln/>
        </p:spPr>
        <p:txBody>
          <a:bodyPr wrap="square" lIns="0" tIns="0" rIns="0" bIns="0" rtlCol="0" anchor="ctr"/>
          <a:lstStyle/>
          <a:p>
            <a:pPr indent="0" marL="0">
              <a:buNone/>
            </a:pPr>
            <a:r>
              <a:rPr lang="en-US" sz="1250" b="1" dirty="0">
                <a:solidFill>
                  <a:srgbClr val="1B2029"/>
                </a:solidFill>
                <a:latin typeface="Calibri" pitchFamily="34" charset="0"/>
                <a:ea typeface="Calibri" pitchFamily="34" charset="-122"/>
                <a:cs typeface="Calibri" pitchFamily="34" charset="-120"/>
              </a:rPr>
              <a:t>Optimasi bawaan</a:t>
            </a:r>
            <a:endParaRPr lang="en-US" sz="1250" dirty="0"/>
          </a:p>
        </p:txBody>
      </p:sp>
      <p:sp>
        <p:nvSpPr>
          <p:cNvPr id="23" name="Text 16"/>
          <p:cNvSpPr txBox="1"/>
          <p:nvPr/>
        </p:nvSpPr>
        <p:spPr>
          <a:xfrm>
            <a:off x="1234440" y="5916168"/>
            <a:ext cx="4754880" cy="292608"/>
          </a:xfrm>
          <a:prstGeom prst="rect">
            <a:avLst/>
          </a:prstGeom>
          <a:noFill/>
          <a:ln/>
        </p:spPr>
        <p:txBody>
          <a:bodyPr wrap="square" lIns="0" tIns="0" rIns="0" bIns="0" rtlCol="0" anchor="ctr"/>
          <a:lstStyle/>
          <a:p>
            <a:pPr indent="0" marL="0">
              <a:buNone/>
            </a:pPr>
            <a:r>
              <a:rPr lang="en-US" sz="1050" dirty="0">
                <a:solidFill>
                  <a:srgbClr val="5C6672"/>
                </a:solidFill>
                <a:latin typeface="Calibri" pitchFamily="34" charset="0"/>
                <a:ea typeface="Calibri" pitchFamily="34" charset="-122"/>
                <a:cs typeface="Calibri" pitchFamily="34" charset="-120"/>
              </a:rPr>
              <a:t>Gambar, font, dan skrip dioptimalkan secara otomatis.</a:t>
            </a:r>
            <a:endParaRPr lang="en-US" sz="1050" dirty="0"/>
          </a:p>
        </p:txBody>
      </p:sp>
      <p:sp>
        <p:nvSpPr>
          <p:cNvPr id="24" name="Text 17"/>
          <p:cNvSpPr txBox="1"/>
          <p:nvPr/>
        </p:nvSpPr>
        <p:spPr>
          <a:xfrm>
            <a:off x="6199632" y="1481328"/>
            <a:ext cx="5440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Perbandingan cara render</a:t>
            </a:r>
            <a:endParaRPr lang="en-US" sz="1400" dirty="0"/>
          </a:p>
        </p:txBody>
      </p:sp>
      <p:sp>
        <p:nvSpPr>
          <p:cNvPr id="25" name="Shape 18"/>
          <p:cNvSpPr/>
          <p:nvPr/>
        </p:nvSpPr>
        <p:spPr>
          <a:xfrm>
            <a:off x="6199632" y="1874520"/>
            <a:ext cx="5440680" cy="1920240"/>
          </a:xfrm>
          <a:prstGeom prst="roundRect">
            <a:avLst>
              <a:gd name="adj" fmla="val 571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6" name="Text 19"/>
          <p:cNvSpPr txBox="1"/>
          <p:nvPr/>
        </p:nvSpPr>
        <p:spPr>
          <a:xfrm>
            <a:off x="6455664" y="2039112"/>
            <a:ext cx="493776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CSR — React + Vite</a:t>
            </a:r>
            <a:endParaRPr lang="en-US" sz="1450" dirty="0"/>
          </a:p>
        </p:txBody>
      </p:sp>
      <p:sp>
        <p:nvSpPr>
          <p:cNvPr id="27" name="Text 20"/>
          <p:cNvSpPr txBox="1"/>
          <p:nvPr/>
        </p:nvSpPr>
        <p:spPr>
          <a:xfrm>
            <a:off x="6455664" y="2350008"/>
            <a:ext cx="4937760" cy="310896"/>
          </a:xfrm>
          <a:prstGeom prst="rect">
            <a:avLst/>
          </a:prstGeom>
          <a:noFill/>
          <a:ln/>
        </p:spPr>
        <p:txBody>
          <a:bodyPr wrap="square" lIns="0" tIns="0" rIns="0" bIns="0" rtlCol="0" anchor="ctr"/>
          <a:lstStyle/>
          <a:p>
            <a:pPr indent="0" marL="0">
              <a:buNone/>
            </a:pPr>
            <a:r>
              <a:rPr lang="en-US" sz="1100" dirty="0">
                <a:solidFill>
                  <a:srgbClr val="5C6672"/>
                </a:solidFill>
                <a:latin typeface="Calibri" pitchFamily="34" charset="0"/>
                <a:ea typeface="Calibri" pitchFamily="34" charset="-122"/>
                <a:cs typeface="Calibri" pitchFamily="34" charset="-120"/>
              </a:rPr>
              <a:t>Browser mengunduh JavaScript lalu merender halaman.</a:t>
            </a:r>
            <a:endParaRPr lang="en-US" sz="1100" dirty="0"/>
          </a:p>
        </p:txBody>
      </p:sp>
      <p:sp>
        <p:nvSpPr>
          <p:cNvPr id="28" name="Text 21"/>
          <p:cNvSpPr txBox="1"/>
          <p:nvPr/>
        </p:nvSpPr>
        <p:spPr>
          <a:xfrm>
            <a:off x="6455664" y="2743200"/>
            <a:ext cx="4937760" cy="9144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00" dirty="0">
                <a:solidFill>
                  <a:srgbClr val="5C6672"/>
                </a:solidFill>
                <a:latin typeface="Calibri" pitchFamily="34" charset="0"/>
                <a:ea typeface="Calibri" pitchFamily="34" charset="-122"/>
                <a:cs typeface="Calibri" pitchFamily="34" charset="-120"/>
              </a:rPr>
              <a:t>Interaksi sangat dinamis</a:t>
            </a:r>
            <a:endParaRPr lang="en-US" sz="1100" dirty="0"/>
          </a:p>
          <a:p>
            <a:pPr marL="342900" indent="-342900">
              <a:lnSpc>
                <a:spcPct val="105000"/>
              </a:lnSpc>
              <a:spcAft>
                <a:spcPts val="400"/>
              </a:spcAft>
              <a:buSzPct val="100000"/>
              <a:buChar char="▪"/>
            </a:pPr>
            <a:r>
              <a:rPr lang="en-US" sz="1100" dirty="0">
                <a:solidFill>
                  <a:srgbClr val="5C6672"/>
                </a:solidFill>
                <a:latin typeface="Calibri" pitchFamily="34" charset="0"/>
                <a:ea typeface="Calibri" pitchFamily="34" charset="-122"/>
                <a:cs typeface="Calibri" pitchFamily="34" charset="-120"/>
              </a:rPr>
              <a:t>Muat awal lebih lambat</a:t>
            </a:r>
            <a:endParaRPr lang="en-US" sz="1100" dirty="0"/>
          </a:p>
          <a:p>
            <a:pPr marL="342900" indent="-342900">
              <a:lnSpc>
                <a:spcPct val="105000"/>
              </a:lnSpc>
              <a:spcAft>
                <a:spcPts val="400"/>
              </a:spcAft>
              <a:buSzPct val="100000"/>
              <a:buChar char="▪"/>
            </a:pPr>
            <a:r>
              <a:rPr lang="en-US" sz="1100" dirty="0">
                <a:solidFill>
                  <a:srgbClr val="5C6672"/>
                </a:solidFill>
                <a:latin typeface="Calibri" pitchFamily="34" charset="0"/>
                <a:ea typeface="Calibri" pitchFamily="34" charset="-122"/>
                <a:cs typeface="Calibri" pitchFamily="34" charset="-120"/>
              </a:rPr>
              <a:t>SEO perlu usaha tambahan</a:t>
            </a:r>
            <a:endParaRPr lang="en-US" sz="1100" dirty="0"/>
          </a:p>
        </p:txBody>
      </p:sp>
      <p:sp>
        <p:nvSpPr>
          <p:cNvPr id="29" name="Shape 22"/>
          <p:cNvSpPr/>
          <p:nvPr/>
        </p:nvSpPr>
        <p:spPr>
          <a:xfrm>
            <a:off x="6199632" y="3977640"/>
            <a:ext cx="5440680" cy="1920240"/>
          </a:xfrm>
          <a:prstGeom prst="roundRect">
            <a:avLst>
              <a:gd name="adj" fmla="val 5714"/>
            </a:avLst>
          </a:prstGeom>
          <a:solidFill>
            <a:srgbClr val="20232A"/>
          </a:solidFill>
          <a:ln w="12700">
            <a:solidFill>
              <a:srgbClr val="20232A"/>
            </a:solidFill>
            <a:prstDash val="solid"/>
          </a:ln>
        </p:spPr>
      </p:sp>
      <p:sp>
        <p:nvSpPr>
          <p:cNvPr id="30" name="Text 23"/>
          <p:cNvSpPr txBox="1"/>
          <p:nvPr/>
        </p:nvSpPr>
        <p:spPr>
          <a:xfrm>
            <a:off x="6455664" y="4142232"/>
            <a:ext cx="4937760" cy="292608"/>
          </a:xfrm>
          <a:prstGeom prst="rect">
            <a:avLst/>
          </a:prstGeom>
          <a:noFill/>
          <a:ln/>
        </p:spPr>
        <p:txBody>
          <a:bodyPr wrap="square" lIns="0" tIns="0" rIns="0" bIns="0" rtlCol="0" anchor="ctr"/>
          <a:lstStyle/>
          <a:p>
            <a:pPr indent="0" marL="0">
              <a:buNone/>
            </a:pPr>
            <a:r>
              <a:rPr lang="en-US" sz="1450" b="1" dirty="0">
                <a:solidFill>
                  <a:srgbClr val="61DAFB"/>
                </a:solidFill>
                <a:latin typeface="Calibri" pitchFamily="34" charset="0"/>
                <a:ea typeface="Calibri" pitchFamily="34" charset="-122"/>
                <a:cs typeface="Calibri" pitchFamily="34" charset="-120"/>
              </a:rPr>
              <a:t>SSR/SSG — Next.js</a:t>
            </a:r>
            <a:endParaRPr lang="en-US" sz="1450" dirty="0"/>
          </a:p>
        </p:txBody>
      </p:sp>
      <p:sp>
        <p:nvSpPr>
          <p:cNvPr id="31" name="Text 24"/>
          <p:cNvSpPr txBox="1"/>
          <p:nvPr/>
        </p:nvSpPr>
        <p:spPr>
          <a:xfrm>
            <a:off x="6455664" y="4453128"/>
            <a:ext cx="4937760" cy="310896"/>
          </a:xfrm>
          <a:prstGeom prst="rect">
            <a:avLst/>
          </a:prstGeom>
          <a:noFill/>
          <a:ln/>
        </p:spPr>
        <p:txBody>
          <a:bodyPr wrap="square" lIns="0" tIns="0" rIns="0" bIns="0" rtlCol="0" anchor="ctr"/>
          <a:lstStyle/>
          <a:p>
            <a:pPr indent="0" marL="0">
              <a:buNone/>
            </a:pPr>
            <a:r>
              <a:rPr lang="en-US" sz="1100" dirty="0">
                <a:solidFill>
                  <a:srgbClr val="AEB9C6"/>
                </a:solidFill>
                <a:latin typeface="Calibri" pitchFamily="34" charset="0"/>
                <a:ea typeface="Calibri" pitchFamily="34" charset="-122"/>
                <a:cs typeface="Calibri" pitchFamily="34" charset="-120"/>
              </a:rPr>
              <a:t>HTML disiapkan server sehingga langsung tampil.</a:t>
            </a:r>
            <a:endParaRPr lang="en-US" sz="1100" dirty="0"/>
          </a:p>
        </p:txBody>
      </p:sp>
      <p:sp>
        <p:nvSpPr>
          <p:cNvPr id="32" name="Text 25"/>
          <p:cNvSpPr txBox="1"/>
          <p:nvPr/>
        </p:nvSpPr>
        <p:spPr>
          <a:xfrm>
            <a:off x="6455664" y="4846320"/>
            <a:ext cx="4937760" cy="9144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100" dirty="0">
                <a:solidFill>
                  <a:srgbClr val="AEB9C6"/>
                </a:solidFill>
                <a:latin typeface="Calibri" pitchFamily="34" charset="0"/>
                <a:ea typeface="Calibri" pitchFamily="34" charset="-122"/>
                <a:cs typeface="Calibri" pitchFamily="34" charset="-120"/>
              </a:rPr>
              <a:t>Muat awal lebih cepat</a:t>
            </a:r>
            <a:endParaRPr lang="en-US" sz="1100" dirty="0"/>
          </a:p>
          <a:p>
            <a:pPr marL="342900" indent="-342900">
              <a:lnSpc>
                <a:spcPct val="105000"/>
              </a:lnSpc>
              <a:spcAft>
                <a:spcPts val="400"/>
              </a:spcAft>
              <a:buSzPct val="100000"/>
              <a:buChar char="▪"/>
            </a:pPr>
            <a:r>
              <a:rPr lang="en-US" sz="1100" dirty="0">
                <a:solidFill>
                  <a:srgbClr val="AEB9C6"/>
                </a:solidFill>
                <a:latin typeface="Calibri" pitchFamily="34" charset="0"/>
                <a:ea typeface="Calibri" pitchFamily="34" charset="-122"/>
                <a:cs typeface="Calibri" pitchFamily="34" charset="-120"/>
              </a:rPr>
              <a:t>SEO lebih baik</a:t>
            </a:r>
            <a:endParaRPr lang="en-US" sz="1100" dirty="0"/>
          </a:p>
          <a:p>
            <a:pPr marL="342900" indent="-342900">
              <a:lnSpc>
                <a:spcPct val="105000"/>
              </a:lnSpc>
              <a:spcAft>
                <a:spcPts val="400"/>
              </a:spcAft>
              <a:buSzPct val="100000"/>
              <a:buChar char="▪"/>
            </a:pPr>
            <a:r>
              <a:rPr lang="en-US" sz="1100" dirty="0">
                <a:solidFill>
                  <a:srgbClr val="AEB9C6"/>
                </a:solidFill>
                <a:latin typeface="Calibri" pitchFamily="34" charset="0"/>
                <a:ea typeface="Calibri" pitchFamily="34" charset="-122"/>
                <a:cs typeface="Calibri" pitchFamily="34" charset="-120"/>
              </a:rPr>
              <a:t>Perlu lingkungan Node.js</a:t>
            </a:r>
            <a:endParaRPr lang="en-US" sz="1100" dirty="0"/>
          </a:p>
        </p:txBody>
      </p:sp>
      <p:pic>
        <p:nvPicPr>
          <p:cNvPr id="34" name="Image 5" descr="preencoded.png">    </p:cNvPr>
          <p:cNvPicPr>
            <a:picLocks noChangeAspect="1"/>
          </p:cNvPicPr>
          <p:nvPr/>
        </p:nvPicPr>
        <p:blipFill>
          <a:blip r:embed="rId6"/>
          <a:stretch>
            <a:fillRect/>
          </a:stretch>
        </p:blipFill>
        <p:spPr>
          <a:xfrm>
            <a:off x="502920" y="6382512"/>
            <a:ext cx="201168" cy="201168"/>
          </a:xfrm>
          <a:prstGeom prst="rect">
            <a:avLst/>
          </a:prstGeom>
        </p:spPr>
      </p:pic>
      <p:sp>
        <p:nvSpPr>
          <p:cNvPr id="35"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6"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Praktik Terbaik</a:t>
            </a:r>
            <a:endParaRPr lang="en-US" sz="3200" dirty="0"/>
          </a:p>
        </p:txBody>
      </p:sp>
      <p:sp>
        <p:nvSpPr>
          <p:cNvPr id="4" name="Shape 2"/>
          <p:cNvSpPr/>
          <p:nvPr/>
        </p:nvSpPr>
        <p:spPr>
          <a:xfrm>
            <a:off x="548640" y="1481328"/>
            <a:ext cx="5440680" cy="1325880"/>
          </a:xfrm>
          <a:prstGeom prst="roundRect">
            <a:avLst>
              <a:gd name="adj" fmla="val 8276"/>
            </a:avLst>
          </a:prstGeom>
          <a:solidFill>
            <a:srgbClr val="F2F6F9"/>
          </a:solidFill>
          <a:ln w="12700">
            <a:solidFill>
              <a:srgbClr val="F2F6F9"/>
            </a:solidFill>
            <a:prstDash val="solid"/>
          </a:ln>
        </p:spPr>
      </p:sp>
      <p:sp>
        <p:nvSpPr>
          <p:cNvPr id="5" name="Shape 3"/>
          <p:cNvSpPr/>
          <p:nvPr/>
        </p:nvSpPr>
        <p:spPr>
          <a:xfrm>
            <a:off x="804672" y="1865376"/>
            <a:ext cx="566928" cy="566928"/>
          </a:xfrm>
          <a:prstGeom prst="ellipse">
            <a:avLst/>
          </a:prstGeom>
          <a:solidFill>
            <a:srgbClr val="20232A"/>
          </a:solidFill>
          <a:ln w="12700">
            <a:solidFill>
              <a:srgbClr val="20232A"/>
            </a:solidFill>
            <a:prstDash val="solid"/>
          </a:ln>
        </p:spPr>
      </p:sp>
      <p:pic>
        <p:nvPicPr>
          <p:cNvPr id="6" name="Image 0" descr="preencoded.png">    </p:cNvPr>
          <p:cNvPicPr>
            <a:picLocks noChangeAspect="1"/>
          </p:cNvPicPr>
          <p:nvPr/>
        </p:nvPicPr>
        <p:blipFill>
          <a:blip r:embed="rId1"/>
          <a:stretch>
            <a:fillRect/>
          </a:stretch>
        </p:blipFill>
        <p:spPr>
          <a:xfrm>
            <a:off x="952073" y="2012777"/>
            <a:ext cx="272125" cy="272125"/>
          </a:xfrm>
          <a:prstGeom prst="rect">
            <a:avLst/>
          </a:prstGeom>
        </p:spPr>
      </p:pic>
      <p:sp>
        <p:nvSpPr>
          <p:cNvPr id="7" name="Text 4"/>
          <p:cNvSpPr txBox="1"/>
          <p:nvPr/>
        </p:nvSpPr>
        <p:spPr>
          <a:xfrm>
            <a:off x="1508760" y="173736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Komponen kecil &amp; fokus</a:t>
            </a:r>
            <a:endParaRPr lang="en-US" sz="1400" dirty="0"/>
          </a:p>
        </p:txBody>
      </p:sp>
      <p:sp>
        <p:nvSpPr>
          <p:cNvPr id="8" name="Text 5"/>
          <p:cNvSpPr txBox="1"/>
          <p:nvPr/>
        </p:nvSpPr>
        <p:spPr>
          <a:xfrm>
            <a:off x="1508760" y="202996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Satu komponen sebaiknya mengerjakan satu tanggung jawab saja.</a:t>
            </a:r>
            <a:endParaRPr lang="en-US" sz="1100" dirty="0"/>
          </a:p>
        </p:txBody>
      </p:sp>
      <p:sp>
        <p:nvSpPr>
          <p:cNvPr id="9" name="Shape 6"/>
          <p:cNvSpPr/>
          <p:nvPr/>
        </p:nvSpPr>
        <p:spPr>
          <a:xfrm>
            <a:off x="6199632" y="1481328"/>
            <a:ext cx="5440680" cy="1325880"/>
          </a:xfrm>
          <a:prstGeom prst="roundRect">
            <a:avLst>
              <a:gd name="adj" fmla="val 8276"/>
            </a:avLst>
          </a:prstGeom>
          <a:solidFill>
            <a:srgbClr val="F2F6F9"/>
          </a:solidFill>
          <a:ln w="12700">
            <a:solidFill>
              <a:srgbClr val="F2F6F9"/>
            </a:solidFill>
            <a:prstDash val="solid"/>
          </a:ln>
        </p:spPr>
      </p:sp>
      <p:sp>
        <p:nvSpPr>
          <p:cNvPr id="10" name="Shape 7"/>
          <p:cNvSpPr/>
          <p:nvPr/>
        </p:nvSpPr>
        <p:spPr>
          <a:xfrm>
            <a:off x="6455664" y="1865376"/>
            <a:ext cx="566928" cy="566928"/>
          </a:xfrm>
          <a:prstGeom prst="ellipse">
            <a:avLst/>
          </a:prstGeom>
          <a:solidFill>
            <a:srgbClr val="20232A"/>
          </a:solidFill>
          <a:ln w="12700">
            <a:solidFill>
              <a:srgbClr val="20232A"/>
            </a:solidFill>
            <a:prstDash val="solid"/>
          </a:ln>
        </p:spPr>
      </p:sp>
      <p:pic>
        <p:nvPicPr>
          <p:cNvPr id="11" name="Image 1" descr="preencoded.png">    </p:cNvPr>
          <p:cNvPicPr>
            <a:picLocks noChangeAspect="1"/>
          </p:cNvPicPr>
          <p:nvPr/>
        </p:nvPicPr>
        <p:blipFill>
          <a:blip r:embed="rId2"/>
          <a:stretch>
            <a:fillRect/>
          </a:stretch>
        </p:blipFill>
        <p:spPr>
          <a:xfrm>
            <a:off x="6603065" y="2012777"/>
            <a:ext cx="272125" cy="272125"/>
          </a:xfrm>
          <a:prstGeom prst="rect">
            <a:avLst/>
          </a:prstGeom>
        </p:spPr>
      </p:pic>
      <p:sp>
        <p:nvSpPr>
          <p:cNvPr id="12" name="Text 8"/>
          <p:cNvSpPr txBox="1"/>
          <p:nvPr/>
        </p:nvSpPr>
        <p:spPr>
          <a:xfrm>
            <a:off x="7159752" y="173736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Penamaan yang jelas</a:t>
            </a:r>
            <a:endParaRPr lang="en-US" sz="1400" dirty="0"/>
          </a:p>
        </p:txBody>
      </p:sp>
      <p:sp>
        <p:nvSpPr>
          <p:cNvPr id="13" name="Text 9"/>
          <p:cNvSpPr txBox="1"/>
          <p:nvPr/>
        </p:nvSpPr>
        <p:spPr>
          <a:xfrm>
            <a:off x="7159752" y="202996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Nama komponen dan variabel menjelaskan maksudnya tanpa perlu komentar.</a:t>
            </a:r>
            <a:endParaRPr lang="en-US" sz="1100" dirty="0"/>
          </a:p>
        </p:txBody>
      </p:sp>
      <p:sp>
        <p:nvSpPr>
          <p:cNvPr id="14" name="Shape 10"/>
          <p:cNvSpPr/>
          <p:nvPr/>
        </p:nvSpPr>
        <p:spPr>
          <a:xfrm>
            <a:off x="548640" y="3035808"/>
            <a:ext cx="5440680" cy="1325880"/>
          </a:xfrm>
          <a:prstGeom prst="roundRect">
            <a:avLst>
              <a:gd name="adj" fmla="val 8276"/>
            </a:avLst>
          </a:prstGeom>
          <a:solidFill>
            <a:srgbClr val="F2F6F9"/>
          </a:solidFill>
          <a:ln w="12700">
            <a:solidFill>
              <a:srgbClr val="F2F6F9"/>
            </a:solidFill>
            <a:prstDash val="solid"/>
          </a:ln>
        </p:spPr>
      </p:sp>
      <p:sp>
        <p:nvSpPr>
          <p:cNvPr id="15" name="Shape 11"/>
          <p:cNvSpPr/>
          <p:nvPr/>
        </p:nvSpPr>
        <p:spPr>
          <a:xfrm>
            <a:off x="804672" y="3419856"/>
            <a:ext cx="566928" cy="566928"/>
          </a:xfrm>
          <a:prstGeom prst="ellipse">
            <a:avLst/>
          </a:prstGeom>
          <a:solidFill>
            <a:srgbClr val="20232A"/>
          </a:solidFill>
          <a:ln w="12700">
            <a:solidFill>
              <a:srgbClr val="20232A"/>
            </a:solidFill>
            <a:prstDash val="solid"/>
          </a:ln>
        </p:spPr>
      </p:sp>
      <p:pic>
        <p:nvPicPr>
          <p:cNvPr id="16" name="Image 2" descr="preencoded.png">    </p:cNvPr>
          <p:cNvPicPr>
            <a:picLocks noChangeAspect="1"/>
          </p:cNvPicPr>
          <p:nvPr/>
        </p:nvPicPr>
        <p:blipFill>
          <a:blip r:embed="rId3"/>
          <a:stretch>
            <a:fillRect/>
          </a:stretch>
        </p:blipFill>
        <p:spPr>
          <a:xfrm>
            <a:off x="952073" y="3567257"/>
            <a:ext cx="272125" cy="272125"/>
          </a:xfrm>
          <a:prstGeom prst="rect">
            <a:avLst/>
          </a:prstGeom>
        </p:spPr>
      </p:pic>
      <p:sp>
        <p:nvSpPr>
          <p:cNvPr id="17" name="Text 12"/>
          <p:cNvSpPr txBox="1"/>
          <p:nvPr/>
        </p:nvSpPr>
        <p:spPr>
          <a:xfrm>
            <a:off x="1508760" y="329184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Pisahkan logika &amp; tampilan</a:t>
            </a:r>
            <a:endParaRPr lang="en-US" sz="1400" dirty="0"/>
          </a:p>
        </p:txBody>
      </p:sp>
      <p:sp>
        <p:nvSpPr>
          <p:cNvPr id="18" name="Text 13"/>
          <p:cNvSpPr txBox="1"/>
          <p:nvPr/>
        </p:nvSpPr>
        <p:spPr>
          <a:xfrm>
            <a:off x="1508760" y="358444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Pindahkan logika berulang ke custom hook atau folder services.</a:t>
            </a:r>
            <a:endParaRPr lang="en-US" sz="1100" dirty="0"/>
          </a:p>
        </p:txBody>
      </p:sp>
      <p:sp>
        <p:nvSpPr>
          <p:cNvPr id="19" name="Shape 14"/>
          <p:cNvSpPr/>
          <p:nvPr/>
        </p:nvSpPr>
        <p:spPr>
          <a:xfrm>
            <a:off x="6199632" y="3035808"/>
            <a:ext cx="5440680" cy="1325880"/>
          </a:xfrm>
          <a:prstGeom prst="roundRect">
            <a:avLst>
              <a:gd name="adj" fmla="val 8276"/>
            </a:avLst>
          </a:prstGeom>
          <a:solidFill>
            <a:srgbClr val="F2F6F9"/>
          </a:solidFill>
          <a:ln w="12700">
            <a:solidFill>
              <a:srgbClr val="F2F6F9"/>
            </a:solidFill>
            <a:prstDash val="solid"/>
          </a:ln>
        </p:spPr>
      </p:sp>
      <p:sp>
        <p:nvSpPr>
          <p:cNvPr id="20" name="Shape 15"/>
          <p:cNvSpPr/>
          <p:nvPr/>
        </p:nvSpPr>
        <p:spPr>
          <a:xfrm>
            <a:off x="6455664" y="3419856"/>
            <a:ext cx="566928" cy="566928"/>
          </a:xfrm>
          <a:prstGeom prst="ellipse">
            <a:avLst/>
          </a:prstGeom>
          <a:solidFill>
            <a:srgbClr val="20232A"/>
          </a:solidFill>
          <a:ln w="12700">
            <a:solidFill>
              <a:srgbClr val="20232A"/>
            </a:solidFill>
            <a:prstDash val="solid"/>
          </a:ln>
        </p:spPr>
      </p:sp>
      <p:pic>
        <p:nvPicPr>
          <p:cNvPr id="21" name="Image 3" descr="preencoded.png">    </p:cNvPr>
          <p:cNvPicPr>
            <a:picLocks noChangeAspect="1"/>
          </p:cNvPicPr>
          <p:nvPr/>
        </p:nvPicPr>
        <p:blipFill>
          <a:blip r:embed="rId4"/>
          <a:stretch>
            <a:fillRect/>
          </a:stretch>
        </p:blipFill>
        <p:spPr>
          <a:xfrm>
            <a:off x="6603065" y="3567257"/>
            <a:ext cx="272125" cy="272125"/>
          </a:xfrm>
          <a:prstGeom prst="rect">
            <a:avLst/>
          </a:prstGeom>
        </p:spPr>
      </p:pic>
      <p:sp>
        <p:nvSpPr>
          <p:cNvPr id="22" name="Text 16"/>
          <p:cNvSpPr txBox="1"/>
          <p:nvPr/>
        </p:nvSpPr>
        <p:spPr>
          <a:xfrm>
            <a:off x="7159752" y="329184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Struktur folder konsisten</a:t>
            </a:r>
            <a:endParaRPr lang="en-US" sz="1400" dirty="0"/>
          </a:p>
        </p:txBody>
      </p:sp>
      <p:sp>
        <p:nvSpPr>
          <p:cNvPr id="23" name="Text 17"/>
          <p:cNvSpPr txBox="1"/>
          <p:nvPr/>
        </p:nvSpPr>
        <p:spPr>
          <a:xfrm>
            <a:off x="7159752" y="358444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Sepakati struktur di awal proyek dan patuhi bersama satu tim.</a:t>
            </a:r>
            <a:endParaRPr lang="en-US" sz="1100" dirty="0"/>
          </a:p>
        </p:txBody>
      </p:sp>
      <p:sp>
        <p:nvSpPr>
          <p:cNvPr id="24" name="Shape 18"/>
          <p:cNvSpPr/>
          <p:nvPr/>
        </p:nvSpPr>
        <p:spPr>
          <a:xfrm>
            <a:off x="548640" y="4590288"/>
            <a:ext cx="5440680" cy="1325880"/>
          </a:xfrm>
          <a:prstGeom prst="roundRect">
            <a:avLst>
              <a:gd name="adj" fmla="val 8276"/>
            </a:avLst>
          </a:prstGeom>
          <a:solidFill>
            <a:srgbClr val="F2F6F9"/>
          </a:solidFill>
          <a:ln w="12700">
            <a:solidFill>
              <a:srgbClr val="F2F6F9"/>
            </a:solidFill>
            <a:prstDash val="solid"/>
          </a:ln>
        </p:spPr>
      </p:sp>
      <p:sp>
        <p:nvSpPr>
          <p:cNvPr id="25" name="Shape 19"/>
          <p:cNvSpPr/>
          <p:nvPr/>
        </p:nvSpPr>
        <p:spPr>
          <a:xfrm>
            <a:off x="804672" y="4974336"/>
            <a:ext cx="566928" cy="566928"/>
          </a:xfrm>
          <a:prstGeom prst="ellipse">
            <a:avLst/>
          </a:prstGeom>
          <a:solidFill>
            <a:srgbClr val="20232A"/>
          </a:solidFill>
          <a:ln w="12700">
            <a:solidFill>
              <a:srgbClr val="20232A"/>
            </a:solidFill>
            <a:prstDash val="solid"/>
          </a:ln>
        </p:spPr>
      </p:sp>
      <p:pic>
        <p:nvPicPr>
          <p:cNvPr id="26" name="Image 4" descr="preencoded.png">    </p:cNvPr>
          <p:cNvPicPr>
            <a:picLocks noChangeAspect="1"/>
          </p:cNvPicPr>
          <p:nvPr/>
        </p:nvPicPr>
        <p:blipFill>
          <a:blip r:embed="rId5"/>
          <a:stretch>
            <a:fillRect/>
          </a:stretch>
        </p:blipFill>
        <p:spPr>
          <a:xfrm>
            <a:off x="952073" y="5121737"/>
            <a:ext cx="272125" cy="272125"/>
          </a:xfrm>
          <a:prstGeom prst="rect">
            <a:avLst/>
          </a:prstGeom>
        </p:spPr>
      </p:pic>
      <p:sp>
        <p:nvSpPr>
          <p:cNvPr id="27" name="Text 20"/>
          <p:cNvSpPr txBox="1"/>
          <p:nvPr/>
        </p:nvSpPr>
        <p:spPr>
          <a:xfrm>
            <a:off x="1508760" y="484632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Aktifkan ESLint &amp; Prettier</a:t>
            </a:r>
            <a:endParaRPr lang="en-US" sz="1400" dirty="0"/>
          </a:p>
        </p:txBody>
      </p:sp>
      <p:sp>
        <p:nvSpPr>
          <p:cNvPr id="28" name="Text 21"/>
          <p:cNvSpPr txBox="1"/>
          <p:nvPr/>
        </p:nvSpPr>
        <p:spPr>
          <a:xfrm>
            <a:off x="1508760" y="513892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Kesalahan umum terdeteksi lebih awal dan gaya penulisan seragam.</a:t>
            </a:r>
            <a:endParaRPr lang="en-US" sz="1100" dirty="0"/>
          </a:p>
        </p:txBody>
      </p:sp>
      <p:sp>
        <p:nvSpPr>
          <p:cNvPr id="29" name="Shape 22"/>
          <p:cNvSpPr/>
          <p:nvPr/>
        </p:nvSpPr>
        <p:spPr>
          <a:xfrm>
            <a:off x="6199632" y="4590288"/>
            <a:ext cx="5440680" cy="1325880"/>
          </a:xfrm>
          <a:prstGeom prst="roundRect">
            <a:avLst>
              <a:gd name="adj" fmla="val 8276"/>
            </a:avLst>
          </a:prstGeom>
          <a:solidFill>
            <a:srgbClr val="F2F6F9"/>
          </a:solidFill>
          <a:ln w="12700">
            <a:solidFill>
              <a:srgbClr val="F2F6F9"/>
            </a:solidFill>
            <a:prstDash val="solid"/>
          </a:ln>
        </p:spPr>
      </p:sp>
      <p:sp>
        <p:nvSpPr>
          <p:cNvPr id="30" name="Shape 23"/>
          <p:cNvSpPr/>
          <p:nvPr/>
        </p:nvSpPr>
        <p:spPr>
          <a:xfrm>
            <a:off x="6455664" y="4974336"/>
            <a:ext cx="566928" cy="566928"/>
          </a:xfrm>
          <a:prstGeom prst="ellipse">
            <a:avLst/>
          </a:prstGeom>
          <a:solidFill>
            <a:srgbClr val="20232A"/>
          </a:solidFill>
          <a:ln w="12700">
            <a:solidFill>
              <a:srgbClr val="20232A"/>
            </a:solidFill>
            <a:prstDash val="solid"/>
          </a:ln>
        </p:spPr>
      </p:sp>
      <p:pic>
        <p:nvPicPr>
          <p:cNvPr id="31" name="Image 5" descr="preencoded.png">    </p:cNvPr>
          <p:cNvPicPr>
            <a:picLocks noChangeAspect="1"/>
          </p:cNvPicPr>
          <p:nvPr/>
        </p:nvPicPr>
        <p:blipFill>
          <a:blip r:embed="rId6"/>
          <a:stretch>
            <a:fillRect/>
          </a:stretch>
        </p:blipFill>
        <p:spPr>
          <a:xfrm>
            <a:off x="6603065" y="5121737"/>
            <a:ext cx="272125" cy="272125"/>
          </a:xfrm>
          <a:prstGeom prst="rect">
            <a:avLst/>
          </a:prstGeom>
        </p:spPr>
      </p:pic>
      <p:sp>
        <p:nvSpPr>
          <p:cNvPr id="32" name="Text 24"/>
          <p:cNvSpPr txBox="1"/>
          <p:nvPr/>
        </p:nvSpPr>
        <p:spPr>
          <a:xfrm>
            <a:off x="7159752" y="4846320"/>
            <a:ext cx="4297680" cy="292608"/>
          </a:xfrm>
          <a:prstGeom prst="rect">
            <a:avLst/>
          </a:prstGeom>
          <a:noFill/>
          <a:ln/>
        </p:spPr>
        <p:txBody>
          <a:bodyPr wrap="square" lIns="0" tIns="0" rIns="0" bIns="0" rtlCol="0" anchor="ctr"/>
          <a:lstStyle/>
          <a:p>
            <a:pPr indent="0" marL="0">
              <a:buNone/>
            </a:pPr>
            <a:r>
              <a:rPr lang="en-US" sz="1400" b="1" dirty="0">
                <a:solidFill>
                  <a:srgbClr val="1B2029"/>
                </a:solidFill>
                <a:latin typeface="Calibri" pitchFamily="34" charset="0"/>
                <a:ea typeface="Calibri" pitchFamily="34" charset="-122"/>
                <a:cs typeface="Calibri" pitchFamily="34" charset="-120"/>
              </a:rPr>
              <a:t>Pertimbangkan TypeScript</a:t>
            </a:r>
            <a:endParaRPr lang="en-US" sz="1400" dirty="0"/>
          </a:p>
        </p:txBody>
      </p:sp>
      <p:sp>
        <p:nvSpPr>
          <p:cNvPr id="33" name="Text 25"/>
          <p:cNvSpPr txBox="1"/>
          <p:nvPr/>
        </p:nvSpPr>
        <p:spPr>
          <a:xfrm>
            <a:off x="7159752" y="513892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Tipe data mencegah banyak bug sejak proses penulisan kode.</a:t>
            </a:r>
            <a:endParaRPr lang="en-US" sz="1100" dirty="0"/>
          </a:p>
        </p:txBody>
      </p:sp>
      <p:pic>
        <p:nvPicPr>
          <p:cNvPr id="35"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36"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7"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Kesalahan Umum Pemula</a:t>
            </a:r>
            <a:endParaRPr lang="en-US" sz="3200" dirty="0"/>
          </a:p>
        </p:txBody>
      </p:sp>
      <p:sp>
        <p:nvSpPr>
          <p:cNvPr id="4" name="Shape 2"/>
          <p:cNvSpPr/>
          <p:nvPr/>
        </p:nvSpPr>
        <p:spPr>
          <a:xfrm>
            <a:off x="548640" y="148132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804672" y="1865376"/>
            <a:ext cx="548640" cy="548640"/>
          </a:xfrm>
          <a:prstGeom prst="ellipse">
            <a:avLst/>
          </a:prstGeom>
          <a:solidFill>
            <a:srgbClr val="FBE9E7"/>
          </a:solidFill>
          <a:ln w="12700">
            <a:solidFill>
              <a:srgbClr val="FBE9E7"/>
            </a:solidFill>
            <a:prstDash val="solid"/>
          </a:ln>
        </p:spPr>
      </p:sp>
      <p:pic>
        <p:nvPicPr>
          <p:cNvPr id="6" name="Image 0" descr="preencoded.png">    </p:cNvPr>
          <p:cNvPicPr>
            <a:picLocks noChangeAspect="1"/>
          </p:cNvPicPr>
          <p:nvPr/>
        </p:nvPicPr>
        <p:blipFill>
          <a:blip r:embed="rId1"/>
          <a:stretch>
            <a:fillRect/>
          </a:stretch>
        </p:blipFill>
        <p:spPr>
          <a:xfrm>
            <a:off x="947318" y="2008022"/>
            <a:ext cx="263347" cy="263347"/>
          </a:xfrm>
          <a:prstGeom prst="rect">
            <a:avLst/>
          </a:prstGeom>
        </p:spPr>
      </p:pic>
      <p:sp>
        <p:nvSpPr>
          <p:cNvPr id="7" name="Text 4"/>
          <p:cNvSpPr txBox="1"/>
          <p:nvPr/>
        </p:nvSpPr>
        <p:spPr>
          <a:xfrm>
            <a:off x="1490472" y="173736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Mengubah state secara langsung</a:t>
            </a:r>
            <a:endParaRPr lang="en-US" sz="1350" dirty="0"/>
          </a:p>
        </p:txBody>
      </p:sp>
      <p:sp>
        <p:nvSpPr>
          <p:cNvPr id="8" name="Text 5"/>
          <p:cNvSpPr txBox="1"/>
          <p:nvPr/>
        </p:nvSpPr>
        <p:spPr>
          <a:xfrm>
            <a:off x="1490472" y="202996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data.push(item) tidak memicu render. Buat array atau objek baru.</a:t>
            </a:r>
            <a:endParaRPr lang="en-US" sz="1100" dirty="0"/>
          </a:p>
        </p:txBody>
      </p:sp>
      <p:sp>
        <p:nvSpPr>
          <p:cNvPr id="9" name="Shape 6"/>
          <p:cNvSpPr/>
          <p:nvPr/>
        </p:nvSpPr>
        <p:spPr>
          <a:xfrm>
            <a:off x="6199632" y="148132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10" name="Shape 7"/>
          <p:cNvSpPr/>
          <p:nvPr/>
        </p:nvSpPr>
        <p:spPr>
          <a:xfrm>
            <a:off x="6455664" y="1865376"/>
            <a:ext cx="548640" cy="548640"/>
          </a:xfrm>
          <a:prstGeom prst="ellipse">
            <a:avLst/>
          </a:prstGeom>
          <a:solidFill>
            <a:srgbClr val="FBE9E7"/>
          </a:solidFill>
          <a:ln w="12700">
            <a:solidFill>
              <a:srgbClr val="FBE9E7"/>
            </a:solidFill>
            <a:prstDash val="solid"/>
          </a:ln>
        </p:spPr>
      </p:sp>
      <p:pic>
        <p:nvPicPr>
          <p:cNvPr id="11" name="Image 1" descr="preencoded.png">    </p:cNvPr>
          <p:cNvPicPr>
            <a:picLocks noChangeAspect="1"/>
          </p:cNvPicPr>
          <p:nvPr/>
        </p:nvPicPr>
        <p:blipFill>
          <a:blip r:embed="rId2"/>
          <a:stretch>
            <a:fillRect/>
          </a:stretch>
        </p:blipFill>
        <p:spPr>
          <a:xfrm>
            <a:off x="6598310" y="2008022"/>
            <a:ext cx="263347" cy="263347"/>
          </a:xfrm>
          <a:prstGeom prst="rect">
            <a:avLst/>
          </a:prstGeom>
        </p:spPr>
      </p:pic>
      <p:sp>
        <p:nvSpPr>
          <p:cNvPr id="12" name="Text 8"/>
          <p:cNvSpPr txBox="1"/>
          <p:nvPr/>
        </p:nvSpPr>
        <p:spPr>
          <a:xfrm>
            <a:off x="7141464" y="173736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Memakai indeks sebagai key</a:t>
            </a:r>
            <a:endParaRPr lang="en-US" sz="1350" dirty="0"/>
          </a:p>
        </p:txBody>
      </p:sp>
      <p:sp>
        <p:nvSpPr>
          <p:cNvPr id="13" name="Text 9"/>
          <p:cNvSpPr txBox="1"/>
          <p:nvPr/>
        </p:nvSpPr>
        <p:spPr>
          <a:xfrm>
            <a:off x="7141464" y="202996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Tampilan bisa kacau saat daftar diurutkan, difilter, atau item dihapus.</a:t>
            </a:r>
            <a:endParaRPr lang="en-US" sz="1100" dirty="0"/>
          </a:p>
        </p:txBody>
      </p:sp>
      <p:sp>
        <p:nvSpPr>
          <p:cNvPr id="14" name="Shape 10"/>
          <p:cNvSpPr/>
          <p:nvPr/>
        </p:nvSpPr>
        <p:spPr>
          <a:xfrm>
            <a:off x="548640" y="303580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15" name="Shape 11"/>
          <p:cNvSpPr/>
          <p:nvPr/>
        </p:nvSpPr>
        <p:spPr>
          <a:xfrm>
            <a:off x="804672" y="3419856"/>
            <a:ext cx="548640" cy="548640"/>
          </a:xfrm>
          <a:prstGeom prst="ellipse">
            <a:avLst/>
          </a:prstGeom>
          <a:solidFill>
            <a:srgbClr val="FBE9E7"/>
          </a:solidFill>
          <a:ln w="12700">
            <a:solidFill>
              <a:srgbClr val="FBE9E7"/>
            </a:solidFill>
            <a:prstDash val="solid"/>
          </a:ln>
        </p:spPr>
      </p:sp>
      <p:pic>
        <p:nvPicPr>
          <p:cNvPr id="16" name="Image 2" descr="preencoded.png">    </p:cNvPr>
          <p:cNvPicPr>
            <a:picLocks noChangeAspect="1"/>
          </p:cNvPicPr>
          <p:nvPr/>
        </p:nvPicPr>
        <p:blipFill>
          <a:blip r:embed="rId3"/>
          <a:stretch>
            <a:fillRect/>
          </a:stretch>
        </p:blipFill>
        <p:spPr>
          <a:xfrm>
            <a:off x="947318" y="3562502"/>
            <a:ext cx="263347" cy="263347"/>
          </a:xfrm>
          <a:prstGeom prst="rect">
            <a:avLst/>
          </a:prstGeom>
        </p:spPr>
      </p:pic>
      <p:sp>
        <p:nvSpPr>
          <p:cNvPr id="17" name="Text 12"/>
          <p:cNvSpPr txBox="1"/>
          <p:nvPr/>
        </p:nvSpPr>
        <p:spPr>
          <a:xfrm>
            <a:off x="1490472" y="329184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Lupa array dependensi useEffect</a:t>
            </a:r>
            <a:endParaRPr lang="en-US" sz="1350" dirty="0"/>
          </a:p>
        </p:txBody>
      </p:sp>
      <p:sp>
        <p:nvSpPr>
          <p:cNvPr id="18" name="Text 13"/>
          <p:cNvSpPr txBox="1"/>
          <p:nvPr/>
        </p:nvSpPr>
        <p:spPr>
          <a:xfrm>
            <a:off x="1490472" y="358444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Efek berjalan setiap render dan berisiko memicu perulangan tak berujung.</a:t>
            </a:r>
            <a:endParaRPr lang="en-US" sz="1100" dirty="0"/>
          </a:p>
        </p:txBody>
      </p:sp>
      <p:sp>
        <p:nvSpPr>
          <p:cNvPr id="19" name="Shape 14"/>
          <p:cNvSpPr/>
          <p:nvPr/>
        </p:nvSpPr>
        <p:spPr>
          <a:xfrm>
            <a:off x="6199632" y="303580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20" name="Shape 15"/>
          <p:cNvSpPr/>
          <p:nvPr/>
        </p:nvSpPr>
        <p:spPr>
          <a:xfrm>
            <a:off x="6455664" y="3419856"/>
            <a:ext cx="548640" cy="548640"/>
          </a:xfrm>
          <a:prstGeom prst="ellipse">
            <a:avLst/>
          </a:prstGeom>
          <a:solidFill>
            <a:srgbClr val="FBE9E7"/>
          </a:solidFill>
          <a:ln w="12700">
            <a:solidFill>
              <a:srgbClr val="FBE9E7"/>
            </a:solidFill>
            <a:prstDash val="solid"/>
          </a:ln>
        </p:spPr>
      </p:sp>
      <p:pic>
        <p:nvPicPr>
          <p:cNvPr id="21" name="Image 3" descr="preencoded.png">    </p:cNvPr>
          <p:cNvPicPr>
            <a:picLocks noChangeAspect="1"/>
          </p:cNvPicPr>
          <p:nvPr/>
        </p:nvPicPr>
        <p:blipFill>
          <a:blip r:embed="rId4"/>
          <a:stretch>
            <a:fillRect/>
          </a:stretch>
        </p:blipFill>
        <p:spPr>
          <a:xfrm>
            <a:off x="6598310" y="3562502"/>
            <a:ext cx="263347" cy="263347"/>
          </a:xfrm>
          <a:prstGeom prst="rect">
            <a:avLst/>
          </a:prstGeom>
        </p:spPr>
      </p:pic>
      <p:sp>
        <p:nvSpPr>
          <p:cNvPr id="22" name="Text 16"/>
          <p:cNvSpPr txBox="1"/>
          <p:nvPr/>
        </p:nvSpPr>
        <p:spPr>
          <a:xfrm>
            <a:off x="7141464" y="329184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Terlalu banyak state</a:t>
            </a:r>
            <a:endParaRPr lang="en-US" sz="1350" dirty="0"/>
          </a:p>
        </p:txBody>
      </p:sp>
      <p:sp>
        <p:nvSpPr>
          <p:cNvPr id="23" name="Text 17"/>
          <p:cNvSpPr txBox="1"/>
          <p:nvPr/>
        </p:nvSpPr>
        <p:spPr>
          <a:xfrm>
            <a:off x="7141464" y="358444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Nilai yang bisa dihitung dari state lain tidak perlu disimpan terpisah.</a:t>
            </a:r>
            <a:endParaRPr lang="en-US" sz="1100" dirty="0"/>
          </a:p>
        </p:txBody>
      </p:sp>
      <p:sp>
        <p:nvSpPr>
          <p:cNvPr id="24" name="Shape 18"/>
          <p:cNvSpPr/>
          <p:nvPr/>
        </p:nvSpPr>
        <p:spPr>
          <a:xfrm>
            <a:off x="548640" y="459028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25" name="Shape 19"/>
          <p:cNvSpPr/>
          <p:nvPr/>
        </p:nvSpPr>
        <p:spPr>
          <a:xfrm>
            <a:off x="804672" y="4974336"/>
            <a:ext cx="548640" cy="548640"/>
          </a:xfrm>
          <a:prstGeom prst="ellipse">
            <a:avLst/>
          </a:prstGeom>
          <a:solidFill>
            <a:srgbClr val="FBE9E7"/>
          </a:solidFill>
          <a:ln w="12700">
            <a:solidFill>
              <a:srgbClr val="FBE9E7"/>
            </a:solidFill>
            <a:prstDash val="solid"/>
          </a:ln>
        </p:spPr>
      </p:sp>
      <p:pic>
        <p:nvPicPr>
          <p:cNvPr id="26" name="Image 4" descr="preencoded.png">    </p:cNvPr>
          <p:cNvPicPr>
            <a:picLocks noChangeAspect="1"/>
          </p:cNvPicPr>
          <p:nvPr/>
        </p:nvPicPr>
        <p:blipFill>
          <a:blip r:embed="rId5"/>
          <a:stretch>
            <a:fillRect/>
          </a:stretch>
        </p:blipFill>
        <p:spPr>
          <a:xfrm>
            <a:off x="947318" y="5116982"/>
            <a:ext cx="263347" cy="263347"/>
          </a:xfrm>
          <a:prstGeom prst="rect">
            <a:avLst/>
          </a:prstGeom>
        </p:spPr>
      </p:pic>
      <p:sp>
        <p:nvSpPr>
          <p:cNvPr id="27" name="Text 20"/>
          <p:cNvSpPr txBox="1"/>
          <p:nvPr/>
        </p:nvSpPr>
        <p:spPr>
          <a:xfrm>
            <a:off x="1490472" y="484632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Prop drilling berlebihan</a:t>
            </a:r>
            <a:endParaRPr lang="en-US" sz="1350" dirty="0"/>
          </a:p>
        </p:txBody>
      </p:sp>
      <p:sp>
        <p:nvSpPr>
          <p:cNvPr id="28" name="Text 21"/>
          <p:cNvSpPr txBox="1"/>
          <p:nvPr/>
        </p:nvSpPr>
        <p:spPr>
          <a:xfrm>
            <a:off x="1490472" y="513892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Props dioper melewati banyak lapisan. Gunakan Context bila sudah terasa berat.</a:t>
            </a:r>
            <a:endParaRPr lang="en-US" sz="1100" dirty="0"/>
          </a:p>
        </p:txBody>
      </p:sp>
      <p:sp>
        <p:nvSpPr>
          <p:cNvPr id="29" name="Shape 22"/>
          <p:cNvSpPr/>
          <p:nvPr/>
        </p:nvSpPr>
        <p:spPr>
          <a:xfrm>
            <a:off x="6199632" y="4590288"/>
            <a:ext cx="5440680" cy="1325880"/>
          </a:xfrm>
          <a:prstGeom prst="roundRect">
            <a:avLst>
              <a:gd name="adj" fmla="val 8276"/>
            </a:avLst>
          </a:prstGeom>
          <a:solidFill>
            <a:srgbClr val="FFFFFF"/>
          </a:solidFill>
          <a:ln w="12700">
            <a:solidFill>
              <a:srgbClr val="E6DADA"/>
            </a:solidFill>
            <a:prstDash val="solid"/>
          </a:ln>
          <a:effectLst>
            <a:outerShdw sx="100000" sy="100000" kx="0" ky="0" algn="bl" rotWithShape="0" blurRad="101600" dist="12700" dir="5400000">
              <a:srgbClr val="9AA7B4">
                <a:alpha val="22000"/>
              </a:srgbClr>
            </a:outerShdw>
          </a:effectLst>
        </p:spPr>
      </p:sp>
      <p:sp>
        <p:nvSpPr>
          <p:cNvPr id="30" name="Shape 23"/>
          <p:cNvSpPr/>
          <p:nvPr/>
        </p:nvSpPr>
        <p:spPr>
          <a:xfrm>
            <a:off x="6455664" y="4974336"/>
            <a:ext cx="548640" cy="548640"/>
          </a:xfrm>
          <a:prstGeom prst="ellipse">
            <a:avLst/>
          </a:prstGeom>
          <a:solidFill>
            <a:srgbClr val="FBE9E7"/>
          </a:solidFill>
          <a:ln w="12700">
            <a:solidFill>
              <a:srgbClr val="FBE9E7"/>
            </a:solidFill>
            <a:prstDash val="solid"/>
          </a:ln>
        </p:spPr>
      </p:sp>
      <p:pic>
        <p:nvPicPr>
          <p:cNvPr id="31" name="Image 5" descr="preencoded.png">    </p:cNvPr>
          <p:cNvPicPr>
            <a:picLocks noChangeAspect="1"/>
          </p:cNvPicPr>
          <p:nvPr/>
        </p:nvPicPr>
        <p:blipFill>
          <a:blip r:embed="rId6"/>
          <a:stretch>
            <a:fillRect/>
          </a:stretch>
        </p:blipFill>
        <p:spPr>
          <a:xfrm>
            <a:off x="6598310" y="5116982"/>
            <a:ext cx="263347" cy="263347"/>
          </a:xfrm>
          <a:prstGeom prst="rect">
            <a:avLst/>
          </a:prstGeom>
        </p:spPr>
      </p:pic>
      <p:sp>
        <p:nvSpPr>
          <p:cNvPr id="32" name="Text 24"/>
          <p:cNvSpPr txBox="1"/>
          <p:nvPr/>
        </p:nvSpPr>
        <p:spPr>
          <a:xfrm>
            <a:off x="7141464" y="4846320"/>
            <a:ext cx="4297680" cy="292608"/>
          </a:xfrm>
          <a:prstGeom prst="rect">
            <a:avLst/>
          </a:prstGeom>
          <a:noFill/>
          <a:ln/>
        </p:spPr>
        <p:txBody>
          <a:bodyPr wrap="square" lIns="0" tIns="0" rIns="0" bIns="0" rtlCol="0" anchor="ctr"/>
          <a:lstStyle/>
          <a:p>
            <a:pPr indent="0" marL="0">
              <a:buNone/>
            </a:pPr>
            <a:r>
              <a:rPr lang="en-US" sz="1350" b="1" dirty="0">
                <a:solidFill>
                  <a:srgbClr val="1B2029"/>
                </a:solidFill>
                <a:latin typeface="Calibri" pitchFamily="34" charset="0"/>
                <a:ea typeface="Calibri" pitchFamily="34" charset="-122"/>
                <a:cs typeface="Calibri" pitchFamily="34" charset="-120"/>
              </a:rPr>
              <a:t>Memanggil fungsi di onClick</a:t>
            </a:r>
            <a:endParaRPr lang="en-US" sz="1350" dirty="0"/>
          </a:p>
        </p:txBody>
      </p:sp>
      <p:sp>
        <p:nvSpPr>
          <p:cNvPr id="33" name="Text 25"/>
          <p:cNvSpPr txBox="1"/>
          <p:nvPr/>
        </p:nvSpPr>
        <p:spPr>
          <a:xfrm>
            <a:off x="7141464" y="5138928"/>
            <a:ext cx="4297680" cy="54864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onClick={hapus()} langsung berjalan saat render; tulis onClick={hapus}.</a:t>
            </a:r>
            <a:endParaRPr lang="en-US" sz="1100" dirty="0"/>
          </a:p>
        </p:txBody>
      </p:sp>
      <p:pic>
        <p:nvPicPr>
          <p:cNvPr id="35"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36"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7"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Studi Kasus: Aplikasi Daftar Tugas</a:t>
            </a:r>
            <a:endParaRPr lang="en-US" sz="3200" dirty="0"/>
          </a:p>
        </p:txBody>
      </p:sp>
      <p:sp>
        <p:nvSpPr>
          <p:cNvPr id="4" name="Shape 2"/>
          <p:cNvSpPr/>
          <p:nvPr/>
        </p:nvSpPr>
        <p:spPr>
          <a:xfrm>
            <a:off x="548640" y="1481328"/>
            <a:ext cx="5669280" cy="3940150"/>
          </a:xfrm>
          <a:prstGeom prst="roundRect">
            <a:avLst>
              <a:gd name="adj" fmla="val 2321"/>
            </a:avLst>
          </a:prstGeom>
          <a:solidFill>
            <a:srgbClr val="1B1F27"/>
          </a:solidFill>
          <a:ln w="12700">
            <a:solidFill>
              <a:srgbClr val="323945"/>
            </a:solidFill>
            <a:prstDash val="solid"/>
          </a:ln>
        </p:spPr>
      </p:sp>
      <p:sp>
        <p:nvSpPr>
          <p:cNvPr id="5" name="Text 3"/>
          <p:cNvSpPr txBox="1"/>
          <p:nvPr/>
        </p:nvSpPr>
        <p:spPr>
          <a:xfrm>
            <a:off x="694944" y="1609344"/>
            <a:ext cx="5376672" cy="3684118"/>
          </a:xfrm>
          <a:prstGeom prst="rect">
            <a:avLst/>
          </a:prstGeom>
          <a:noFill/>
          <a:ln/>
        </p:spPr>
        <p:txBody>
          <a:bodyPr wrap="square" lIns="0" tIns="0" rIns="0" bIns="0" rtlCol="0" anchor="t"/>
          <a:lstStyle/>
          <a:p>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AplikasiTugas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1DAFB"/>
                </a:solidFill>
                <a:latin typeface="Courier New" pitchFamily="34" charset="0"/>
                <a:ea typeface="Courier New" pitchFamily="34" charset="-122"/>
                <a:cs typeface="Courier New" pitchFamily="34" charset="-120"/>
              </a:rPr>
              <a:t>useState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tambah</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preventDefault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if</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trim</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Date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now</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judul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selesai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false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toggle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map</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selesai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selesai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hapus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filter</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6" name="Shape 4"/>
          <p:cNvSpPr/>
          <p:nvPr/>
        </p:nvSpPr>
        <p:spPr>
          <a:xfrm>
            <a:off x="6446520" y="1481328"/>
            <a:ext cx="5193792" cy="4112971"/>
          </a:xfrm>
          <a:prstGeom prst="roundRect">
            <a:avLst>
              <a:gd name="adj" fmla="val 2223"/>
            </a:avLst>
          </a:prstGeom>
          <a:solidFill>
            <a:srgbClr val="1B1F27"/>
          </a:solidFill>
          <a:ln w="12700">
            <a:solidFill>
              <a:srgbClr val="323945"/>
            </a:solidFill>
            <a:prstDash val="solid"/>
          </a:ln>
        </p:spPr>
      </p:sp>
      <p:sp>
        <p:nvSpPr>
          <p:cNvPr id="7" name="Text 5"/>
          <p:cNvSpPr txBox="1"/>
          <p:nvPr/>
        </p:nvSpPr>
        <p:spPr>
          <a:xfrm>
            <a:off x="6592824" y="1609344"/>
            <a:ext cx="4901184" cy="3856939"/>
          </a:xfrm>
          <a:prstGeom prst="rect">
            <a:avLst/>
          </a:prstGeom>
          <a:noFill/>
          <a:ln/>
        </p:spPr>
        <p:txBody>
          <a:bodyPr wrap="square" lIns="0" tIns="0" rIns="0" bIns="0" rtlCol="0" anchor="t"/>
          <a:lstStyle/>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B197FC"/>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&lt;div</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Daftar</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&lt;/h1</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onSubmit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tambah</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setTeks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target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value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Tambah</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&lt;/form</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tugas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map</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&lt;li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key</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&lt;input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type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FFB454"/>
                </a:solidFill>
                <a:latin typeface="Courier New" pitchFamily="34" charset="0"/>
                <a:ea typeface="Courier New" pitchFamily="34" charset="-122"/>
                <a:cs typeface="Courier New" pitchFamily="34" charset="-120"/>
              </a:rPr>
              <a:t>"checkbox"</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checked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selesai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onChange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toggle</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judul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onClick</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hapus</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id</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Hapus</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&lt;/button</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&lt;/li</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3DD68C"/>
                </a:solidFill>
                <a:latin typeface="Courier New" pitchFamily="34" charset="0"/>
                <a:ea typeface="Courier New" pitchFamily="34" charset="-122"/>
                <a:cs typeface="Courier New" pitchFamily="34" charset="-120"/>
              </a:rPr>
              <a:t>&lt;/ul</a:t>
            </a:r>
            <a:pPr indent="0" marL="0">
              <a:lnSpc>
                <a:spcPct val="106000"/>
              </a:lnSpc>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p:txBody>
      </p:sp>
      <p:sp>
        <p:nvSpPr>
          <p:cNvPr id="8" name="Shape 6"/>
          <p:cNvSpPr/>
          <p:nvPr/>
        </p:nvSpPr>
        <p:spPr>
          <a:xfrm>
            <a:off x="548640" y="5806440"/>
            <a:ext cx="914400" cy="384048"/>
          </a:xfrm>
          <a:prstGeom prst="roundRect">
            <a:avLst>
              <a:gd name="adj" fmla="val 50000"/>
            </a:avLst>
          </a:prstGeom>
          <a:solidFill>
            <a:srgbClr val="20232A"/>
          </a:solidFill>
          <a:ln w="12700">
            <a:solidFill>
              <a:srgbClr val="20232A"/>
            </a:solidFill>
            <a:prstDash val="solid"/>
          </a:ln>
        </p:spPr>
      </p:sp>
      <p:sp>
        <p:nvSpPr>
          <p:cNvPr id="9" name="Text 7"/>
          <p:cNvSpPr txBox="1"/>
          <p:nvPr/>
        </p:nvSpPr>
        <p:spPr>
          <a:xfrm>
            <a:off x="548640" y="5806440"/>
            <a:ext cx="914400"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useState</a:t>
            </a:r>
            <a:endParaRPr lang="en-US" sz="1050" dirty="0"/>
          </a:p>
        </p:txBody>
      </p:sp>
      <p:sp>
        <p:nvSpPr>
          <p:cNvPr id="10" name="Shape 8"/>
          <p:cNvSpPr/>
          <p:nvPr/>
        </p:nvSpPr>
        <p:spPr>
          <a:xfrm>
            <a:off x="1609344" y="5806440"/>
            <a:ext cx="1682496" cy="384048"/>
          </a:xfrm>
          <a:prstGeom prst="roundRect">
            <a:avLst>
              <a:gd name="adj" fmla="val 50000"/>
            </a:avLst>
          </a:prstGeom>
          <a:solidFill>
            <a:srgbClr val="20232A"/>
          </a:solidFill>
          <a:ln w="12700">
            <a:solidFill>
              <a:srgbClr val="20232A"/>
            </a:solidFill>
            <a:prstDash val="solid"/>
          </a:ln>
        </p:spPr>
      </p:sp>
      <p:sp>
        <p:nvSpPr>
          <p:cNvPr id="11" name="Text 9"/>
          <p:cNvSpPr txBox="1"/>
          <p:nvPr/>
        </p:nvSpPr>
        <p:spPr>
          <a:xfrm>
            <a:off x="1609344" y="5806440"/>
            <a:ext cx="1682496"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controlled input</a:t>
            </a:r>
            <a:endParaRPr lang="en-US" sz="1050" dirty="0"/>
          </a:p>
        </p:txBody>
      </p:sp>
      <p:sp>
        <p:nvSpPr>
          <p:cNvPr id="12" name="Shape 10"/>
          <p:cNvSpPr/>
          <p:nvPr/>
        </p:nvSpPr>
        <p:spPr>
          <a:xfrm>
            <a:off x="3438144" y="5806440"/>
            <a:ext cx="1010412" cy="384048"/>
          </a:xfrm>
          <a:prstGeom prst="roundRect">
            <a:avLst>
              <a:gd name="adj" fmla="val 50000"/>
            </a:avLst>
          </a:prstGeom>
          <a:solidFill>
            <a:srgbClr val="20232A"/>
          </a:solidFill>
          <a:ln w="12700">
            <a:solidFill>
              <a:srgbClr val="20232A"/>
            </a:solidFill>
            <a:prstDash val="solid"/>
          </a:ln>
        </p:spPr>
      </p:sp>
      <p:sp>
        <p:nvSpPr>
          <p:cNvPr id="13" name="Text 11"/>
          <p:cNvSpPr txBox="1"/>
          <p:nvPr/>
        </p:nvSpPr>
        <p:spPr>
          <a:xfrm>
            <a:off x="3438144" y="5806440"/>
            <a:ext cx="1010412"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map + key</a:t>
            </a:r>
            <a:endParaRPr lang="en-US" sz="1050" dirty="0"/>
          </a:p>
        </p:txBody>
      </p:sp>
      <p:sp>
        <p:nvSpPr>
          <p:cNvPr id="14" name="Shape 12"/>
          <p:cNvSpPr/>
          <p:nvPr/>
        </p:nvSpPr>
        <p:spPr>
          <a:xfrm>
            <a:off x="4594860" y="5806440"/>
            <a:ext cx="1298448" cy="384048"/>
          </a:xfrm>
          <a:prstGeom prst="roundRect">
            <a:avLst>
              <a:gd name="adj" fmla="val 50000"/>
            </a:avLst>
          </a:prstGeom>
          <a:solidFill>
            <a:srgbClr val="20232A"/>
          </a:solidFill>
          <a:ln w="12700">
            <a:solidFill>
              <a:srgbClr val="20232A"/>
            </a:solidFill>
            <a:prstDash val="solid"/>
          </a:ln>
        </p:spPr>
      </p:sp>
      <p:sp>
        <p:nvSpPr>
          <p:cNvPr id="15" name="Text 13"/>
          <p:cNvSpPr txBox="1"/>
          <p:nvPr/>
        </p:nvSpPr>
        <p:spPr>
          <a:xfrm>
            <a:off x="4594860" y="5806440"/>
            <a:ext cx="1298448"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immutability</a:t>
            </a:r>
            <a:endParaRPr lang="en-US" sz="1050" dirty="0"/>
          </a:p>
        </p:txBody>
      </p:sp>
      <p:sp>
        <p:nvSpPr>
          <p:cNvPr id="16" name="Shape 14"/>
          <p:cNvSpPr/>
          <p:nvPr/>
        </p:nvSpPr>
        <p:spPr>
          <a:xfrm>
            <a:off x="6039612" y="5806440"/>
            <a:ext cx="1394460" cy="384048"/>
          </a:xfrm>
          <a:prstGeom prst="roundRect">
            <a:avLst>
              <a:gd name="adj" fmla="val 50000"/>
            </a:avLst>
          </a:prstGeom>
          <a:solidFill>
            <a:srgbClr val="20232A"/>
          </a:solidFill>
          <a:ln w="12700">
            <a:solidFill>
              <a:srgbClr val="20232A"/>
            </a:solidFill>
            <a:prstDash val="solid"/>
          </a:ln>
        </p:spPr>
      </p:sp>
      <p:sp>
        <p:nvSpPr>
          <p:cNvPr id="17" name="Text 15"/>
          <p:cNvSpPr txBox="1"/>
          <p:nvPr/>
        </p:nvSpPr>
        <p:spPr>
          <a:xfrm>
            <a:off x="6039612" y="5806440"/>
            <a:ext cx="1394460"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event handler</a:t>
            </a:r>
            <a:endParaRPr lang="en-US" sz="1050" dirty="0"/>
          </a:p>
        </p:txBody>
      </p:sp>
      <p:sp>
        <p:nvSpPr>
          <p:cNvPr id="18" name="Shape 16"/>
          <p:cNvSpPr/>
          <p:nvPr/>
        </p:nvSpPr>
        <p:spPr>
          <a:xfrm>
            <a:off x="7580376" y="5806440"/>
            <a:ext cx="1202436" cy="384048"/>
          </a:xfrm>
          <a:prstGeom prst="roundRect">
            <a:avLst>
              <a:gd name="adj" fmla="val 50000"/>
            </a:avLst>
          </a:prstGeom>
          <a:solidFill>
            <a:srgbClr val="20232A"/>
          </a:solidFill>
          <a:ln w="12700">
            <a:solidFill>
              <a:srgbClr val="20232A"/>
            </a:solidFill>
            <a:prstDash val="solid"/>
          </a:ln>
        </p:spPr>
      </p:sp>
      <p:sp>
        <p:nvSpPr>
          <p:cNvPr id="19" name="Text 17"/>
          <p:cNvSpPr txBox="1"/>
          <p:nvPr/>
        </p:nvSpPr>
        <p:spPr>
          <a:xfrm>
            <a:off x="7580376" y="5806440"/>
            <a:ext cx="1202436" cy="384048"/>
          </a:xfrm>
          <a:prstGeom prst="rect">
            <a:avLst/>
          </a:prstGeom>
          <a:noFill/>
          <a:ln/>
        </p:spPr>
        <p:txBody>
          <a:bodyPr wrap="square" lIns="0" tIns="0" rIns="0" bIns="0" rtlCol="0" anchor="ctr"/>
          <a:lstStyle/>
          <a:p>
            <a:pPr algn="ctr" indent="0" marL="0">
              <a:buNone/>
            </a:pPr>
            <a:r>
              <a:rPr lang="en-US" sz="1050" dirty="0">
                <a:solidFill>
                  <a:srgbClr val="61DAFB"/>
                </a:solidFill>
                <a:latin typeface="Courier New" pitchFamily="34" charset="0"/>
                <a:ea typeface="Courier New" pitchFamily="34" charset="-122"/>
                <a:cs typeface="Courier New" pitchFamily="34" charset="-120"/>
              </a:rPr>
              <a:t>conditional</a:t>
            </a:r>
            <a:endParaRPr lang="en-US" sz="1050" dirty="0"/>
          </a:p>
        </p:txBody>
      </p:sp>
      <p:pic>
        <p:nvPicPr>
          <p:cNvPr id="21"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22" name="Text 18"/>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23" name="Text 19"/>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Roadmap Belajar React</a:t>
            </a:r>
            <a:endParaRPr lang="en-US" sz="3200" dirty="0"/>
          </a:p>
        </p:txBody>
      </p:sp>
      <p:sp>
        <p:nvSpPr>
          <p:cNvPr id="4" name="Shape 2"/>
          <p:cNvSpPr/>
          <p:nvPr/>
        </p:nvSpPr>
        <p:spPr>
          <a:xfrm>
            <a:off x="548640" y="1554480"/>
            <a:ext cx="2468880" cy="3931920"/>
          </a:xfrm>
          <a:prstGeom prst="roundRect">
            <a:avLst>
              <a:gd name="adj" fmla="val 444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5" name="Shape 3"/>
          <p:cNvSpPr/>
          <p:nvPr/>
        </p:nvSpPr>
        <p:spPr>
          <a:xfrm>
            <a:off x="768096" y="1783080"/>
            <a:ext cx="566928" cy="566928"/>
          </a:xfrm>
          <a:prstGeom prst="ellipse">
            <a:avLst/>
          </a:prstGeom>
          <a:solidFill>
            <a:srgbClr val="20232A"/>
          </a:solidFill>
          <a:ln w="12700">
            <a:solidFill>
              <a:srgbClr val="20232A"/>
            </a:solidFill>
            <a:prstDash val="solid"/>
          </a:ln>
        </p:spPr>
      </p:sp>
      <p:pic>
        <p:nvPicPr>
          <p:cNvPr id="6" name="Image 0" descr="preencoded.png">    </p:cNvPr>
          <p:cNvPicPr>
            <a:picLocks noChangeAspect="1"/>
          </p:cNvPicPr>
          <p:nvPr/>
        </p:nvPicPr>
        <p:blipFill>
          <a:blip r:embed="rId1"/>
          <a:stretch>
            <a:fillRect/>
          </a:stretch>
        </p:blipFill>
        <p:spPr>
          <a:xfrm>
            <a:off x="915497" y="1930481"/>
            <a:ext cx="272125" cy="272125"/>
          </a:xfrm>
          <a:prstGeom prst="rect">
            <a:avLst/>
          </a:prstGeom>
        </p:spPr>
      </p:pic>
      <p:sp>
        <p:nvSpPr>
          <p:cNvPr id="7" name="Text 4"/>
          <p:cNvSpPr txBox="1"/>
          <p:nvPr/>
        </p:nvSpPr>
        <p:spPr>
          <a:xfrm>
            <a:off x="768096" y="2468880"/>
            <a:ext cx="2057400" cy="237744"/>
          </a:xfrm>
          <a:prstGeom prst="rect">
            <a:avLst/>
          </a:prstGeom>
          <a:noFill/>
          <a:ln/>
        </p:spPr>
        <p:txBody>
          <a:bodyPr wrap="square" lIns="0" tIns="0" rIns="0" bIns="0" rtlCol="0" anchor="ctr"/>
          <a:lstStyle/>
          <a:p>
            <a:pPr indent="0" marL="0">
              <a:buNone/>
            </a:pPr>
            <a:r>
              <a:rPr lang="en-US" sz="1050" b="1" spc="120" kern="0" dirty="0">
                <a:solidFill>
                  <a:srgbClr val="1E90AF"/>
                </a:solidFill>
                <a:latin typeface="Calibri" pitchFamily="34" charset="0"/>
                <a:ea typeface="Calibri" pitchFamily="34" charset="-122"/>
                <a:cs typeface="Calibri" pitchFamily="34" charset="-120"/>
              </a:rPr>
              <a:t>Tahap 1</a:t>
            </a:r>
            <a:endParaRPr lang="en-US" sz="1050" dirty="0"/>
          </a:p>
        </p:txBody>
      </p:sp>
      <p:sp>
        <p:nvSpPr>
          <p:cNvPr id="8" name="Text 5"/>
          <p:cNvSpPr txBox="1"/>
          <p:nvPr/>
        </p:nvSpPr>
        <p:spPr>
          <a:xfrm>
            <a:off x="768096" y="2724912"/>
            <a:ext cx="2057400" cy="329184"/>
          </a:xfrm>
          <a:prstGeom prst="rect">
            <a:avLst/>
          </a:prstGeom>
          <a:noFill/>
          <a:ln/>
        </p:spPr>
        <p:txBody>
          <a:bodyPr wrap="square" lIns="0" tIns="0" rIns="0" bIns="0" rtlCol="0" anchor="ctr"/>
          <a:lstStyle/>
          <a:p>
            <a:pPr indent="0" marL="0">
              <a:buNone/>
            </a:pPr>
            <a:r>
              <a:rPr lang="en-US" sz="1700" b="1" dirty="0">
                <a:solidFill>
                  <a:srgbClr val="1B2029"/>
                </a:solidFill>
                <a:latin typeface="Calibri" pitchFamily="34" charset="0"/>
                <a:ea typeface="Calibri" pitchFamily="34" charset="-122"/>
                <a:cs typeface="Calibri" pitchFamily="34" charset="-120"/>
              </a:rPr>
              <a:t>Fondasi</a:t>
            </a:r>
            <a:endParaRPr lang="en-US" sz="1700" dirty="0"/>
          </a:p>
        </p:txBody>
      </p:sp>
      <p:sp>
        <p:nvSpPr>
          <p:cNvPr id="9" name="Text 6"/>
          <p:cNvSpPr txBox="1"/>
          <p:nvPr/>
        </p:nvSpPr>
        <p:spPr>
          <a:xfrm>
            <a:off x="768096" y="3063240"/>
            <a:ext cx="2057400" cy="256032"/>
          </a:xfrm>
          <a:prstGeom prst="rect">
            <a:avLst/>
          </a:prstGeom>
          <a:noFill/>
          <a:ln/>
        </p:spPr>
        <p:txBody>
          <a:bodyPr wrap="square" lIns="0" tIns="0" rIns="0" bIns="0" rtlCol="0" anchor="ctr"/>
          <a:lstStyle/>
          <a:p>
            <a:pPr indent="0" marL="0">
              <a:buNone/>
            </a:pPr>
            <a:r>
              <a:rPr lang="en-US" sz="1100" i="1" dirty="0">
                <a:solidFill>
                  <a:srgbClr val="5C6672"/>
                </a:solidFill>
                <a:latin typeface="Calibri" pitchFamily="34" charset="0"/>
                <a:ea typeface="Calibri" pitchFamily="34" charset="-122"/>
                <a:cs typeface="Calibri" pitchFamily="34" charset="-120"/>
              </a:rPr>
              <a:t>1–2 minggu</a:t>
            </a:r>
            <a:endParaRPr lang="en-US" sz="1100" dirty="0"/>
          </a:p>
        </p:txBody>
      </p:sp>
      <p:sp>
        <p:nvSpPr>
          <p:cNvPr id="10" name="Text 7"/>
          <p:cNvSpPr txBox="1"/>
          <p:nvPr/>
        </p:nvSpPr>
        <p:spPr>
          <a:xfrm>
            <a:off x="768096" y="3429000"/>
            <a:ext cx="2057400" cy="18745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HTML, CSS, JavaScript ES6+</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Array method: map, filter, reduce</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Destructuring &amp; spread operator</a:t>
            </a:r>
            <a:endParaRPr lang="en-US" sz="1100" dirty="0"/>
          </a:p>
        </p:txBody>
      </p:sp>
      <p:sp>
        <p:nvSpPr>
          <p:cNvPr id="11" name="Shape 8"/>
          <p:cNvSpPr/>
          <p:nvPr/>
        </p:nvSpPr>
        <p:spPr>
          <a:xfrm>
            <a:off x="3136392" y="3429000"/>
            <a:ext cx="201168" cy="237744"/>
          </a:xfrm>
          <a:prstGeom prst="rightArrow">
            <a:avLst/>
          </a:prstGeom>
          <a:solidFill>
            <a:srgbClr val="1E90AF"/>
          </a:solidFill>
          <a:ln w="12700">
            <a:solidFill>
              <a:srgbClr val="1E90AF"/>
            </a:solidFill>
            <a:prstDash val="solid"/>
          </a:ln>
        </p:spPr>
      </p:sp>
      <p:sp>
        <p:nvSpPr>
          <p:cNvPr id="12" name="Shape 9"/>
          <p:cNvSpPr/>
          <p:nvPr/>
        </p:nvSpPr>
        <p:spPr>
          <a:xfrm>
            <a:off x="3401568" y="1554480"/>
            <a:ext cx="2468880" cy="3931920"/>
          </a:xfrm>
          <a:prstGeom prst="roundRect">
            <a:avLst>
              <a:gd name="adj" fmla="val 444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13" name="Shape 10"/>
          <p:cNvSpPr/>
          <p:nvPr/>
        </p:nvSpPr>
        <p:spPr>
          <a:xfrm>
            <a:off x="3621024" y="1783080"/>
            <a:ext cx="566928" cy="566928"/>
          </a:xfrm>
          <a:prstGeom prst="ellipse">
            <a:avLst/>
          </a:prstGeom>
          <a:solidFill>
            <a:srgbClr val="20232A"/>
          </a:solidFill>
          <a:ln w="12700">
            <a:solidFill>
              <a:srgbClr val="20232A"/>
            </a:solidFill>
            <a:prstDash val="solid"/>
          </a:ln>
        </p:spPr>
      </p:sp>
      <p:pic>
        <p:nvPicPr>
          <p:cNvPr id="14" name="Image 1" descr="preencoded.png">    </p:cNvPr>
          <p:cNvPicPr>
            <a:picLocks noChangeAspect="1"/>
          </p:cNvPicPr>
          <p:nvPr/>
        </p:nvPicPr>
        <p:blipFill>
          <a:blip r:embed="rId2"/>
          <a:stretch>
            <a:fillRect/>
          </a:stretch>
        </p:blipFill>
        <p:spPr>
          <a:xfrm>
            <a:off x="3768425" y="1930481"/>
            <a:ext cx="272125" cy="272125"/>
          </a:xfrm>
          <a:prstGeom prst="rect">
            <a:avLst/>
          </a:prstGeom>
        </p:spPr>
      </p:pic>
      <p:sp>
        <p:nvSpPr>
          <p:cNvPr id="15" name="Text 11"/>
          <p:cNvSpPr txBox="1"/>
          <p:nvPr/>
        </p:nvSpPr>
        <p:spPr>
          <a:xfrm>
            <a:off x="3621024" y="2468880"/>
            <a:ext cx="2057400" cy="237744"/>
          </a:xfrm>
          <a:prstGeom prst="rect">
            <a:avLst/>
          </a:prstGeom>
          <a:noFill/>
          <a:ln/>
        </p:spPr>
        <p:txBody>
          <a:bodyPr wrap="square" lIns="0" tIns="0" rIns="0" bIns="0" rtlCol="0" anchor="ctr"/>
          <a:lstStyle/>
          <a:p>
            <a:pPr indent="0" marL="0">
              <a:buNone/>
            </a:pPr>
            <a:r>
              <a:rPr lang="en-US" sz="1050" b="1" spc="120" kern="0" dirty="0">
                <a:solidFill>
                  <a:srgbClr val="1E90AF"/>
                </a:solidFill>
                <a:latin typeface="Calibri" pitchFamily="34" charset="0"/>
                <a:ea typeface="Calibri" pitchFamily="34" charset="-122"/>
                <a:cs typeface="Calibri" pitchFamily="34" charset="-120"/>
              </a:rPr>
              <a:t>Tahap 2</a:t>
            </a:r>
            <a:endParaRPr lang="en-US" sz="1050" dirty="0"/>
          </a:p>
        </p:txBody>
      </p:sp>
      <p:sp>
        <p:nvSpPr>
          <p:cNvPr id="16" name="Text 12"/>
          <p:cNvSpPr txBox="1"/>
          <p:nvPr/>
        </p:nvSpPr>
        <p:spPr>
          <a:xfrm>
            <a:off x="3621024" y="2724912"/>
            <a:ext cx="2057400" cy="329184"/>
          </a:xfrm>
          <a:prstGeom prst="rect">
            <a:avLst/>
          </a:prstGeom>
          <a:noFill/>
          <a:ln/>
        </p:spPr>
        <p:txBody>
          <a:bodyPr wrap="square" lIns="0" tIns="0" rIns="0" bIns="0" rtlCol="0" anchor="ctr"/>
          <a:lstStyle/>
          <a:p>
            <a:pPr indent="0" marL="0">
              <a:buNone/>
            </a:pPr>
            <a:r>
              <a:rPr lang="en-US" sz="1700" b="1" dirty="0">
                <a:solidFill>
                  <a:srgbClr val="1B2029"/>
                </a:solidFill>
                <a:latin typeface="Calibri" pitchFamily="34" charset="0"/>
                <a:ea typeface="Calibri" pitchFamily="34" charset="-122"/>
                <a:cs typeface="Calibri" pitchFamily="34" charset="-120"/>
              </a:rPr>
              <a:t>Dasar React</a:t>
            </a:r>
            <a:endParaRPr lang="en-US" sz="1700" dirty="0"/>
          </a:p>
        </p:txBody>
      </p:sp>
      <p:sp>
        <p:nvSpPr>
          <p:cNvPr id="17" name="Text 13"/>
          <p:cNvSpPr txBox="1"/>
          <p:nvPr/>
        </p:nvSpPr>
        <p:spPr>
          <a:xfrm>
            <a:off x="3621024" y="3063240"/>
            <a:ext cx="2057400" cy="256032"/>
          </a:xfrm>
          <a:prstGeom prst="rect">
            <a:avLst/>
          </a:prstGeom>
          <a:noFill/>
          <a:ln/>
        </p:spPr>
        <p:txBody>
          <a:bodyPr wrap="square" lIns="0" tIns="0" rIns="0" bIns="0" rtlCol="0" anchor="ctr"/>
          <a:lstStyle/>
          <a:p>
            <a:pPr indent="0" marL="0">
              <a:buNone/>
            </a:pPr>
            <a:r>
              <a:rPr lang="en-US" sz="1100" i="1" dirty="0">
                <a:solidFill>
                  <a:srgbClr val="5C6672"/>
                </a:solidFill>
                <a:latin typeface="Calibri" pitchFamily="34" charset="0"/>
                <a:ea typeface="Calibri" pitchFamily="34" charset="-122"/>
                <a:cs typeface="Calibri" pitchFamily="34" charset="-120"/>
              </a:rPr>
              <a:t>2–3 minggu</a:t>
            </a:r>
            <a:endParaRPr lang="en-US" sz="1100" dirty="0"/>
          </a:p>
        </p:txBody>
      </p:sp>
      <p:sp>
        <p:nvSpPr>
          <p:cNvPr id="18" name="Text 14"/>
          <p:cNvSpPr txBox="1"/>
          <p:nvPr/>
        </p:nvSpPr>
        <p:spPr>
          <a:xfrm>
            <a:off x="3621024" y="3429000"/>
            <a:ext cx="2057400" cy="18745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JSX, komponen, dan props</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useState &amp; event handling</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Rendering daftar &amp; bersyarat</a:t>
            </a:r>
            <a:endParaRPr lang="en-US" sz="1100" dirty="0"/>
          </a:p>
        </p:txBody>
      </p:sp>
      <p:sp>
        <p:nvSpPr>
          <p:cNvPr id="19" name="Shape 15"/>
          <p:cNvSpPr/>
          <p:nvPr/>
        </p:nvSpPr>
        <p:spPr>
          <a:xfrm>
            <a:off x="5989320" y="3429000"/>
            <a:ext cx="201168" cy="237744"/>
          </a:xfrm>
          <a:prstGeom prst="rightArrow">
            <a:avLst/>
          </a:prstGeom>
          <a:solidFill>
            <a:srgbClr val="1E90AF"/>
          </a:solidFill>
          <a:ln w="12700">
            <a:solidFill>
              <a:srgbClr val="1E90AF"/>
            </a:solidFill>
            <a:prstDash val="solid"/>
          </a:ln>
        </p:spPr>
      </p:sp>
      <p:sp>
        <p:nvSpPr>
          <p:cNvPr id="20" name="Shape 16"/>
          <p:cNvSpPr/>
          <p:nvPr/>
        </p:nvSpPr>
        <p:spPr>
          <a:xfrm>
            <a:off x="6254496" y="1554480"/>
            <a:ext cx="2468880" cy="3931920"/>
          </a:xfrm>
          <a:prstGeom prst="roundRect">
            <a:avLst>
              <a:gd name="adj" fmla="val 4444"/>
            </a:avLst>
          </a:prstGeom>
          <a:solidFill>
            <a:srgbClr val="F2F6F9"/>
          </a:solidFill>
          <a:ln w="12700">
            <a:solidFill>
              <a:srgbClr val="F2F6F9"/>
            </a:solidFill>
            <a:prstDash val="solid"/>
          </a:ln>
          <a:effectLst>
            <a:outerShdw sx="100000" sy="100000" kx="0" ky="0" algn="bl" rotWithShape="0" blurRad="101600" dist="12700" dir="5400000">
              <a:srgbClr val="9AA7B4">
                <a:alpha val="22000"/>
              </a:srgbClr>
            </a:outerShdw>
          </a:effectLst>
        </p:spPr>
      </p:sp>
      <p:sp>
        <p:nvSpPr>
          <p:cNvPr id="21" name="Shape 17"/>
          <p:cNvSpPr/>
          <p:nvPr/>
        </p:nvSpPr>
        <p:spPr>
          <a:xfrm>
            <a:off x="6473952" y="1783080"/>
            <a:ext cx="566928" cy="566928"/>
          </a:xfrm>
          <a:prstGeom prst="ellipse">
            <a:avLst/>
          </a:prstGeom>
          <a:solidFill>
            <a:srgbClr val="20232A"/>
          </a:solidFill>
          <a:ln w="12700">
            <a:solidFill>
              <a:srgbClr val="20232A"/>
            </a:solidFill>
            <a:prstDash val="solid"/>
          </a:ln>
        </p:spPr>
      </p:sp>
      <p:pic>
        <p:nvPicPr>
          <p:cNvPr id="22" name="Image 2" descr="preencoded.png">    </p:cNvPr>
          <p:cNvPicPr>
            <a:picLocks noChangeAspect="1"/>
          </p:cNvPicPr>
          <p:nvPr/>
        </p:nvPicPr>
        <p:blipFill>
          <a:blip r:embed="rId3"/>
          <a:stretch>
            <a:fillRect/>
          </a:stretch>
        </p:blipFill>
        <p:spPr>
          <a:xfrm>
            <a:off x="6621353" y="1930481"/>
            <a:ext cx="272125" cy="272125"/>
          </a:xfrm>
          <a:prstGeom prst="rect">
            <a:avLst/>
          </a:prstGeom>
        </p:spPr>
      </p:pic>
      <p:sp>
        <p:nvSpPr>
          <p:cNvPr id="23" name="Text 18"/>
          <p:cNvSpPr txBox="1"/>
          <p:nvPr/>
        </p:nvSpPr>
        <p:spPr>
          <a:xfrm>
            <a:off x="6473952" y="2468880"/>
            <a:ext cx="2057400" cy="237744"/>
          </a:xfrm>
          <a:prstGeom prst="rect">
            <a:avLst/>
          </a:prstGeom>
          <a:noFill/>
          <a:ln/>
        </p:spPr>
        <p:txBody>
          <a:bodyPr wrap="square" lIns="0" tIns="0" rIns="0" bIns="0" rtlCol="0" anchor="ctr"/>
          <a:lstStyle/>
          <a:p>
            <a:pPr indent="0" marL="0">
              <a:buNone/>
            </a:pPr>
            <a:r>
              <a:rPr lang="en-US" sz="1050" b="1" spc="120" kern="0" dirty="0">
                <a:solidFill>
                  <a:srgbClr val="1E90AF"/>
                </a:solidFill>
                <a:latin typeface="Calibri" pitchFamily="34" charset="0"/>
                <a:ea typeface="Calibri" pitchFamily="34" charset="-122"/>
                <a:cs typeface="Calibri" pitchFamily="34" charset="-120"/>
              </a:rPr>
              <a:t>Tahap 3</a:t>
            </a:r>
            <a:endParaRPr lang="en-US" sz="1050" dirty="0"/>
          </a:p>
        </p:txBody>
      </p:sp>
      <p:sp>
        <p:nvSpPr>
          <p:cNvPr id="24" name="Text 19"/>
          <p:cNvSpPr txBox="1"/>
          <p:nvPr/>
        </p:nvSpPr>
        <p:spPr>
          <a:xfrm>
            <a:off x="6473952" y="2724912"/>
            <a:ext cx="2057400" cy="329184"/>
          </a:xfrm>
          <a:prstGeom prst="rect">
            <a:avLst/>
          </a:prstGeom>
          <a:noFill/>
          <a:ln/>
        </p:spPr>
        <p:txBody>
          <a:bodyPr wrap="square" lIns="0" tIns="0" rIns="0" bIns="0" rtlCol="0" anchor="ctr"/>
          <a:lstStyle/>
          <a:p>
            <a:pPr indent="0" marL="0">
              <a:buNone/>
            </a:pPr>
            <a:r>
              <a:rPr lang="en-US" sz="1700" b="1" dirty="0">
                <a:solidFill>
                  <a:srgbClr val="1B2029"/>
                </a:solidFill>
                <a:latin typeface="Calibri" pitchFamily="34" charset="0"/>
                <a:ea typeface="Calibri" pitchFamily="34" charset="-122"/>
                <a:cs typeface="Calibri" pitchFamily="34" charset="-120"/>
              </a:rPr>
              <a:t>Menengah</a:t>
            </a:r>
            <a:endParaRPr lang="en-US" sz="1700" dirty="0"/>
          </a:p>
        </p:txBody>
      </p:sp>
      <p:sp>
        <p:nvSpPr>
          <p:cNvPr id="25" name="Text 20"/>
          <p:cNvSpPr txBox="1"/>
          <p:nvPr/>
        </p:nvSpPr>
        <p:spPr>
          <a:xfrm>
            <a:off x="6473952" y="3063240"/>
            <a:ext cx="2057400" cy="256032"/>
          </a:xfrm>
          <a:prstGeom prst="rect">
            <a:avLst/>
          </a:prstGeom>
          <a:noFill/>
          <a:ln/>
        </p:spPr>
        <p:txBody>
          <a:bodyPr wrap="square" lIns="0" tIns="0" rIns="0" bIns="0" rtlCol="0" anchor="ctr"/>
          <a:lstStyle/>
          <a:p>
            <a:pPr indent="0" marL="0">
              <a:buNone/>
            </a:pPr>
            <a:r>
              <a:rPr lang="en-US" sz="1100" i="1" dirty="0">
                <a:solidFill>
                  <a:srgbClr val="5C6672"/>
                </a:solidFill>
                <a:latin typeface="Calibri" pitchFamily="34" charset="0"/>
                <a:ea typeface="Calibri" pitchFamily="34" charset="-122"/>
                <a:cs typeface="Calibri" pitchFamily="34" charset="-120"/>
              </a:rPr>
              <a:t>3–4 minggu</a:t>
            </a:r>
            <a:endParaRPr lang="en-US" sz="1100" dirty="0"/>
          </a:p>
        </p:txBody>
      </p:sp>
      <p:sp>
        <p:nvSpPr>
          <p:cNvPr id="26" name="Text 21"/>
          <p:cNvSpPr txBox="1"/>
          <p:nvPr/>
        </p:nvSpPr>
        <p:spPr>
          <a:xfrm>
            <a:off x="6473952" y="3429000"/>
            <a:ext cx="2057400" cy="18745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useEffect &amp; pemanggilan API</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React Router &amp; formulir</a:t>
            </a:r>
            <a:endParaRPr lang="en-US" sz="1100" dirty="0"/>
          </a:p>
          <a:p>
            <a:pPr marL="342900" indent="-342900">
              <a:lnSpc>
                <a:spcPct val="105000"/>
              </a:lnSpc>
              <a:spcAft>
                <a:spcPts val="800"/>
              </a:spcAft>
              <a:buSzPct val="100000"/>
              <a:buChar char="▪"/>
            </a:pPr>
            <a:r>
              <a:rPr lang="en-US" sz="1100" dirty="0">
                <a:solidFill>
                  <a:srgbClr val="1B2029"/>
                </a:solidFill>
                <a:latin typeface="Calibri" pitchFamily="34" charset="0"/>
                <a:ea typeface="Calibri" pitchFamily="34" charset="-122"/>
                <a:cs typeface="Calibri" pitchFamily="34" charset="-120"/>
              </a:rPr>
              <a:t>Context serta custom hooks</a:t>
            </a:r>
            <a:endParaRPr lang="en-US" sz="1100" dirty="0"/>
          </a:p>
        </p:txBody>
      </p:sp>
      <p:sp>
        <p:nvSpPr>
          <p:cNvPr id="27" name="Shape 22"/>
          <p:cNvSpPr/>
          <p:nvPr/>
        </p:nvSpPr>
        <p:spPr>
          <a:xfrm>
            <a:off x="8842248" y="3429000"/>
            <a:ext cx="201168" cy="237744"/>
          </a:xfrm>
          <a:prstGeom prst="rightArrow">
            <a:avLst/>
          </a:prstGeom>
          <a:solidFill>
            <a:srgbClr val="1E90AF"/>
          </a:solidFill>
          <a:ln w="12700">
            <a:solidFill>
              <a:srgbClr val="1E90AF"/>
            </a:solidFill>
            <a:prstDash val="solid"/>
          </a:ln>
        </p:spPr>
      </p:sp>
      <p:sp>
        <p:nvSpPr>
          <p:cNvPr id="28" name="Shape 23"/>
          <p:cNvSpPr/>
          <p:nvPr/>
        </p:nvSpPr>
        <p:spPr>
          <a:xfrm>
            <a:off x="9107424" y="1554480"/>
            <a:ext cx="2468880" cy="3931920"/>
          </a:xfrm>
          <a:prstGeom prst="roundRect">
            <a:avLst>
              <a:gd name="adj" fmla="val 4444"/>
            </a:avLst>
          </a:prstGeom>
          <a:solidFill>
            <a:srgbClr val="20232A"/>
          </a:solidFill>
          <a:ln w="12700">
            <a:solidFill>
              <a:srgbClr val="20232A"/>
            </a:solidFill>
            <a:prstDash val="solid"/>
          </a:ln>
        </p:spPr>
      </p:sp>
      <p:sp>
        <p:nvSpPr>
          <p:cNvPr id="29" name="Shape 24"/>
          <p:cNvSpPr/>
          <p:nvPr/>
        </p:nvSpPr>
        <p:spPr>
          <a:xfrm>
            <a:off x="9326880" y="1783080"/>
            <a:ext cx="566928" cy="566928"/>
          </a:xfrm>
          <a:prstGeom prst="ellipse">
            <a:avLst/>
          </a:prstGeom>
          <a:solidFill>
            <a:srgbClr val="2F3844"/>
          </a:solidFill>
          <a:ln w="12700">
            <a:solidFill>
              <a:srgbClr val="2F3844"/>
            </a:solidFill>
            <a:prstDash val="solid"/>
          </a:ln>
        </p:spPr>
      </p:sp>
      <p:pic>
        <p:nvPicPr>
          <p:cNvPr id="30" name="Image 3" descr="preencoded.png">    </p:cNvPr>
          <p:cNvPicPr>
            <a:picLocks noChangeAspect="1"/>
          </p:cNvPicPr>
          <p:nvPr/>
        </p:nvPicPr>
        <p:blipFill>
          <a:blip r:embed="rId4"/>
          <a:stretch>
            <a:fillRect/>
          </a:stretch>
        </p:blipFill>
        <p:spPr>
          <a:xfrm>
            <a:off x="9474281" y="1930481"/>
            <a:ext cx="272125" cy="272125"/>
          </a:xfrm>
          <a:prstGeom prst="rect">
            <a:avLst/>
          </a:prstGeom>
        </p:spPr>
      </p:pic>
      <p:sp>
        <p:nvSpPr>
          <p:cNvPr id="31" name="Text 25"/>
          <p:cNvSpPr txBox="1"/>
          <p:nvPr/>
        </p:nvSpPr>
        <p:spPr>
          <a:xfrm>
            <a:off x="9326880" y="2468880"/>
            <a:ext cx="2057400" cy="237744"/>
          </a:xfrm>
          <a:prstGeom prst="rect">
            <a:avLst/>
          </a:prstGeom>
          <a:noFill/>
          <a:ln/>
        </p:spPr>
        <p:txBody>
          <a:bodyPr wrap="square" lIns="0" tIns="0" rIns="0" bIns="0" rtlCol="0" anchor="ctr"/>
          <a:lstStyle/>
          <a:p>
            <a:pPr indent="0" marL="0">
              <a:buNone/>
            </a:pPr>
            <a:r>
              <a:rPr lang="en-US" sz="1050" b="1" spc="120" kern="0" dirty="0">
                <a:solidFill>
                  <a:srgbClr val="61DAFB"/>
                </a:solidFill>
                <a:latin typeface="Calibri" pitchFamily="34" charset="0"/>
                <a:ea typeface="Calibri" pitchFamily="34" charset="-122"/>
                <a:cs typeface="Calibri" pitchFamily="34" charset="-120"/>
              </a:rPr>
              <a:t>Tahap 4</a:t>
            </a:r>
            <a:endParaRPr lang="en-US" sz="1050" dirty="0"/>
          </a:p>
        </p:txBody>
      </p:sp>
      <p:sp>
        <p:nvSpPr>
          <p:cNvPr id="32" name="Text 26"/>
          <p:cNvSpPr txBox="1"/>
          <p:nvPr/>
        </p:nvSpPr>
        <p:spPr>
          <a:xfrm>
            <a:off x="9326880" y="2724912"/>
            <a:ext cx="2057400" cy="32918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Lanjutan</a:t>
            </a:r>
            <a:endParaRPr lang="en-US" sz="1700" dirty="0"/>
          </a:p>
        </p:txBody>
      </p:sp>
      <p:sp>
        <p:nvSpPr>
          <p:cNvPr id="33" name="Text 27"/>
          <p:cNvSpPr txBox="1"/>
          <p:nvPr/>
        </p:nvSpPr>
        <p:spPr>
          <a:xfrm>
            <a:off x="9326880" y="3063240"/>
            <a:ext cx="2057400" cy="256032"/>
          </a:xfrm>
          <a:prstGeom prst="rect">
            <a:avLst/>
          </a:prstGeom>
          <a:noFill/>
          <a:ln/>
        </p:spPr>
        <p:txBody>
          <a:bodyPr wrap="square" lIns="0" tIns="0" rIns="0" bIns="0" rtlCol="0" anchor="ctr"/>
          <a:lstStyle/>
          <a:p>
            <a:pPr indent="0" marL="0">
              <a:buNone/>
            </a:pPr>
            <a:r>
              <a:rPr lang="en-US" sz="1100" i="1" dirty="0">
                <a:solidFill>
                  <a:srgbClr val="8E9AA8"/>
                </a:solidFill>
                <a:latin typeface="Calibri" pitchFamily="34" charset="0"/>
                <a:ea typeface="Calibri" pitchFamily="34" charset="-122"/>
                <a:cs typeface="Calibri" pitchFamily="34" charset="-120"/>
              </a:rPr>
              <a:t>Berkelanjutan</a:t>
            </a:r>
            <a:endParaRPr lang="en-US" sz="1100" dirty="0"/>
          </a:p>
        </p:txBody>
      </p:sp>
      <p:sp>
        <p:nvSpPr>
          <p:cNvPr id="34" name="Text 28"/>
          <p:cNvSpPr txBox="1"/>
          <p:nvPr/>
        </p:nvSpPr>
        <p:spPr>
          <a:xfrm>
            <a:off x="9326880" y="3429000"/>
            <a:ext cx="2057400" cy="187452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100" dirty="0">
                <a:solidFill>
                  <a:srgbClr val="AEB9C6"/>
                </a:solidFill>
                <a:latin typeface="Calibri" pitchFamily="34" charset="0"/>
                <a:ea typeface="Calibri" pitchFamily="34" charset="-122"/>
                <a:cs typeface="Calibri" pitchFamily="34" charset="-120"/>
              </a:rPr>
              <a:t>TypeScript &amp; pengujian</a:t>
            </a:r>
            <a:endParaRPr lang="en-US" sz="1100" dirty="0"/>
          </a:p>
          <a:p>
            <a:pPr marL="342900" indent="-342900">
              <a:lnSpc>
                <a:spcPct val="105000"/>
              </a:lnSpc>
              <a:spcAft>
                <a:spcPts val="800"/>
              </a:spcAft>
              <a:buSzPct val="100000"/>
              <a:buChar char="▪"/>
            </a:pPr>
            <a:r>
              <a:rPr lang="en-US" sz="1100" dirty="0">
                <a:solidFill>
                  <a:srgbClr val="AEB9C6"/>
                </a:solidFill>
                <a:latin typeface="Calibri" pitchFamily="34" charset="0"/>
                <a:ea typeface="Calibri" pitchFamily="34" charset="-122"/>
                <a:cs typeface="Calibri" pitchFamily="34" charset="-120"/>
              </a:rPr>
              <a:t>Next.js dan rendering server</a:t>
            </a:r>
            <a:endParaRPr lang="en-US" sz="1100" dirty="0"/>
          </a:p>
          <a:p>
            <a:pPr marL="342900" indent="-342900">
              <a:lnSpc>
                <a:spcPct val="105000"/>
              </a:lnSpc>
              <a:spcAft>
                <a:spcPts val="800"/>
              </a:spcAft>
              <a:buSzPct val="100000"/>
              <a:buChar char="▪"/>
            </a:pPr>
            <a:r>
              <a:rPr lang="en-US" sz="1100" dirty="0">
                <a:solidFill>
                  <a:srgbClr val="AEB9C6"/>
                </a:solidFill>
                <a:latin typeface="Calibri" pitchFamily="34" charset="0"/>
                <a:ea typeface="Calibri" pitchFamily="34" charset="-122"/>
                <a:cs typeface="Calibri" pitchFamily="34" charset="-120"/>
              </a:rPr>
              <a:t>Optimasi performa &amp; CI/CD</a:t>
            </a:r>
            <a:endParaRPr lang="en-US" sz="1100" dirty="0"/>
          </a:p>
        </p:txBody>
      </p:sp>
      <p:sp>
        <p:nvSpPr>
          <p:cNvPr id="35" name="Text 29"/>
          <p:cNvSpPr txBox="1"/>
          <p:nvPr/>
        </p:nvSpPr>
        <p:spPr>
          <a:xfrm>
            <a:off x="548640" y="5669280"/>
            <a:ext cx="11091672" cy="365760"/>
          </a:xfrm>
          <a:prstGeom prst="rect">
            <a:avLst/>
          </a:prstGeom>
          <a:noFill/>
          <a:ln/>
        </p:spPr>
        <p:txBody>
          <a:bodyPr wrap="square" lIns="0" tIns="0" rIns="0" bIns="0" rtlCol="0" anchor="ctr"/>
          <a:lstStyle/>
          <a:p>
            <a:pPr indent="0" marL="0">
              <a:buNone/>
            </a:pPr>
            <a:r>
              <a:rPr lang="en-US" sz="1200" i="1" dirty="0">
                <a:solidFill>
                  <a:srgbClr val="5C6672"/>
                </a:solidFill>
                <a:latin typeface="Calibri" pitchFamily="34" charset="0"/>
                <a:ea typeface="Calibri" pitchFamily="34" charset="-122"/>
                <a:cs typeface="Calibri" pitchFamily="34" charset="-120"/>
              </a:rPr>
              <a:t>Belajar React paling efektif dengan membangun proyek nyata: kalkulator, daftar tugas, katalog film dari API publik, lalu aplikasi berautentikasi.</a:t>
            </a:r>
            <a:endParaRPr lang="en-US" sz="1200" dirty="0"/>
          </a:p>
        </p:txBody>
      </p:sp>
      <p:pic>
        <p:nvPicPr>
          <p:cNvPr id="37" name="Image 4" descr="preencoded.png">    </p:cNvPr>
          <p:cNvPicPr>
            <a:picLocks noChangeAspect="1"/>
          </p:cNvPicPr>
          <p:nvPr/>
        </p:nvPicPr>
        <p:blipFill>
          <a:blip r:embed="rId5"/>
          <a:stretch>
            <a:fillRect/>
          </a:stretch>
        </p:blipFill>
        <p:spPr>
          <a:xfrm>
            <a:off x="502920" y="6382512"/>
            <a:ext cx="201168" cy="201168"/>
          </a:xfrm>
          <a:prstGeom prst="rect">
            <a:avLst/>
          </a:prstGeom>
        </p:spPr>
      </p:pic>
      <p:sp>
        <p:nvSpPr>
          <p:cNvPr id="38" name="Text 30"/>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9" name="Text 31"/>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Ringkasan Materi</a:t>
            </a:r>
            <a:endParaRPr lang="en-US" sz="3200" dirty="0"/>
          </a:p>
        </p:txBody>
      </p:sp>
      <p:sp>
        <p:nvSpPr>
          <p:cNvPr id="4" name="Shape 2"/>
          <p:cNvSpPr/>
          <p:nvPr/>
        </p:nvSpPr>
        <p:spPr>
          <a:xfrm>
            <a:off x="548640" y="1536192"/>
            <a:ext cx="475488" cy="475488"/>
          </a:xfrm>
          <a:prstGeom prst="ellipse">
            <a:avLst/>
          </a:prstGeom>
          <a:solidFill>
            <a:srgbClr val="20232A"/>
          </a:solidFill>
          <a:ln w="12700">
            <a:solidFill>
              <a:srgbClr val="20232A"/>
            </a:solidFill>
            <a:prstDash val="solid"/>
          </a:ln>
        </p:spPr>
      </p:sp>
      <p:sp>
        <p:nvSpPr>
          <p:cNvPr id="5" name="Text 3"/>
          <p:cNvSpPr txBox="1"/>
          <p:nvPr/>
        </p:nvSpPr>
        <p:spPr>
          <a:xfrm>
            <a:off x="548640" y="1536192"/>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07008" y="1499616"/>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React adalah library UI</a:t>
            </a:r>
            <a:endParaRPr lang="en-US" sz="1450" dirty="0"/>
          </a:p>
        </p:txBody>
      </p:sp>
      <p:sp>
        <p:nvSpPr>
          <p:cNvPr id="7" name="Text 5"/>
          <p:cNvSpPr txBox="1"/>
          <p:nvPr/>
        </p:nvSpPr>
        <p:spPr>
          <a:xfrm>
            <a:off x="4800600" y="1499616"/>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Fokus pada tampilan, disusun dari komponen yang dapat dipakai ulang.</a:t>
            </a:r>
            <a:endParaRPr lang="en-US" sz="1200" dirty="0"/>
          </a:p>
        </p:txBody>
      </p:sp>
      <p:sp>
        <p:nvSpPr>
          <p:cNvPr id="8" name="Shape 6"/>
          <p:cNvSpPr/>
          <p:nvPr/>
        </p:nvSpPr>
        <p:spPr>
          <a:xfrm>
            <a:off x="548640" y="2295144"/>
            <a:ext cx="475488" cy="475488"/>
          </a:xfrm>
          <a:prstGeom prst="ellipse">
            <a:avLst/>
          </a:prstGeom>
          <a:solidFill>
            <a:srgbClr val="20232A"/>
          </a:solidFill>
          <a:ln w="12700">
            <a:solidFill>
              <a:srgbClr val="20232A"/>
            </a:solidFill>
            <a:prstDash val="solid"/>
          </a:ln>
        </p:spPr>
      </p:sp>
      <p:sp>
        <p:nvSpPr>
          <p:cNvPr id="9" name="Text 7"/>
          <p:cNvSpPr txBox="1"/>
          <p:nvPr/>
        </p:nvSpPr>
        <p:spPr>
          <a:xfrm>
            <a:off x="548640" y="2295144"/>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07008" y="2258568"/>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JSX menyatukan logika &amp; tampilan</a:t>
            </a:r>
            <a:endParaRPr lang="en-US" sz="1450" dirty="0"/>
          </a:p>
        </p:txBody>
      </p:sp>
      <p:sp>
        <p:nvSpPr>
          <p:cNvPr id="11" name="Text 9"/>
          <p:cNvSpPr txBox="1"/>
          <p:nvPr/>
        </p:nvSpPr>
        <p:spPr>
          <a:xfrm>
            <a:off x="4800600" y="2258568"/>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Struktur mirip HTML ditulis langsung di dalam JavaScript.</a:t>
            </a:r>
            <a:endParaRPr lang="en-US" sz="1200" dirty="0"/>
          </a:p>
        </p:txBody>
      </p:sp>
      <p:sp>
        <p:nvSpPr>
          <p:cNvPr id="12" name="Shape 10"/>
          <p:cNvSpPr/>
          <p:nvPr/>
        </p:nvSpPr>
        <p:spPr>
          <a:xfrm>
            <a:off x="548640" y="3054096"/>
            <a:ext cx="475488" cy="475488"/>
          </a:xfrm>
          <a:prstGeom prst="ellipse">
            <a:avLst/>
          </a:prstGeom>
          <a:solidFill>
            <a:srgbClr val="20232A"/>
          </a:solidFill>
          <a:ln w="12700">
            <a:solidFill>
              <a:srgbClr val="20232A"/>
            </a:solidFill>
            <a:prstDash val="solid"/>
          </a:ln>
        </p:spPr>
      </p:sp>
      <p:sp>
        <p:nvSpPr>
          <p:cNvPr id="13" name="Text 11"/>
          <p:cNvSpPr txBox="1"/>
          <p:nvPr/>
        </p:nvSpPr>
        <p:spPr>
          <a:xfrm>
            <a:off x="548640" y="3054096"/>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07008" y="3017520"/>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Props turun, state di dalam</a:t>
            </a:r>
            <a:endParaRPr lang="en-US" sz="1450" dirty="0"/>
          </a:p>
        </p:txBody>
      </p:sp>
      <p:sp>
        <p:nvSpPr>
          <p:cNvPr id="15" name="Text 13"/>
          <p:cNvSpPr txBox="1"/>
          <p:nvPr/>
        </p:nvSpPr>
        <p:spPr>
          <a:xfrm>
            <a:off x="4800600" y="3017520"/>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Props dikirim dari induk dan bersifat tetap; state dimiliki komponen dan bisa berubah.</a:t>
            </a:r>
            <a:endParaRPr lang="en-US" sz="1200" dirty="0"/>
          </a:p>
        </p:txBody>
      </p:sp>
      <p:sp>
        <p:nvSpPr>
          <p:cNvPr id="16" name="Shape 14"/>
          <p:cNvSpPr/>
          <p:nvPr/>
        </p:nvSpPr>
        <p:spPr>
          <a:xfrm>
            <a:off x="548640" y="3813048"/>
            <a:ext cx="475488" cy="475488"/>
          </a:xfrm>
          <a:prstGeom prst="ellipse">
            <a:avLst/>
          </a:prstGeom>
          <a:solidFill>
            <a:srgbClr val="20232A"/>
          </a:solidFill>
          <a:ln w="12700">
            <a:solidFill>
              <a:srgbClr val="20232A"/>
            </a:solidFill>
            <a:prstDash val="solid"/>
          </a:ln>
        </p:spPr>
      </p:sp>
      <p:sp>
        <p:nvSpPr>
          <p:cNvPr id="17" name="Text 15"/>
          <p:cNvSpPr txBox="1"/>
          <p:nvPr/>
        </p:nvSpPr>
        <p:spPr>
          <a:xfrm>
            <a:off x="548640" y="3813048"/>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207008" y="3776472"/>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Hooks memberi kemampuan penuh</a:t>
            </a:r>
            <a:endParaRPr lang="en-US" sz="1450" dirty="0"/>
          </a:p>
        </p:txBody>
      </p:sp>
      <p:sp>
        <p:nvSpPr>
          <p:cNvPr id="19" name="Text 17"/>
          <p:cNvSpPr txBox="1"/>
          <p:nvPr/>
        </p:nvSpPr>
        <p:spPr>
          <a:xfrm>
            <a:off x="4800600" y="3776472"/>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useState, useEffect, useContext, dan custom hook menjadi fondasi React modern.</a:t>
            </a:r>
            <a:endParaRPr lang="en-US" sz="1200" dirty="0"/>
          </a:p>
        </p:txBody>
      </p:sp>
      <p:sp>
        <p:nvSpPr>
          <p:cNvPr id="20" name="Shape 18"/>
          <p:cNvSpPr/>
          <p:nvPr/>
        </p:nvSpPr>
        <p:spPr>
          <a:xfrm>
            <a:off x="548640" y="4572000"/>
            <a:ext cx="475488" cy="475488"/>
          </a:xfrm>
          <a:prstGeom prst="ellipse">
            <a:avLst/>
          </a:prstGeom>
          <a:solidFill>
            <a:srgbClr val="20232A"/>
          </a:solidFill>
          <a:ln w="12700">
            <a:solidFill>
              <a:srgbClr val="20232A"/>
            </a:solidFill>
            <a:prstDash val="solid"/>
          </a:ln>
        </p:spPr>
      </p:sp>
      <p:sp>
        <p:nvSpPr>
          <p:cNvPr id="21" name="Text 19"/>
          <p:cNvSpPr txBox="1"/>
          <p:nvPr/>
        </p:nvSpPr>
        <p:spPr>
          <a:xfrm>
            <a:off x="548640" y="4572000"/>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207008" y="4535424"/>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Ekosistem melengkapi kebutuhan</a:t>
            </a:r>
            <a:endParaRPr lang="en-US" sz="1450" dirty="0"/>
          </a:p>
        </p:txBody>
      </p:sp>
      <p:sp>
        <p:nvSpPr>
          <p:cNvPr id="23" name="Text 21"/>
          <p:cNvSpPr txBox="1"/>
          <p:nvPr/>
        </p:nvSpPr>
        <p:spPr>
          <a:xfrm>
            <a:off x="4800600" y="4535424"/>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Routing, data fetching, styling, dan pengujian ditangani pustaka pendukung.</a:t>
            </a:r>
            <a:endParaRPr lang="en-US" sz="1200" dirty="0"/>
          </a:p>
        </p:txBody>
      </p:sp>
      <p:sp>
        <p:nvSpPr>
          <p:cNvPr id="24" name="Shape 22"/>
          <p:cNvSpPr/>
          <p:nvPr/>
        </p:nvSpPr>
        <p:spPr>
          <a:xfrm>
            <a:off x="548640" y="5330952"/>
            <a:ext cx="475488" cy="475488"/>
          </a:xfrm>
          <a:prstGeom prst="ellipse">
            <a:avLst/>
          </a:prstGeom>
          <a:solidFill>
            <a:srgbClr val="20232A"/>
          </a:solidFill>
          <a:ln w="12700">
            <a:solidFill>
              <a:srgbClr val="20232A"/>
            </a:solidFill>
            <a:prstDash val="solid"/>
          </a:ln>
        </p:spPr>
      </p:sp>
      <p:sp>
        <p:nvSpPr>
          <p:cNvPr id="25" name="Text 23"/>
          <p:cNvSpPr txBox="1"/>
          <p:nvPr/>
        </p:nvSpPr>
        <p:spPr>
          <a:xfrm>
            <a:off x="548640" y="5330952"/>
            <a:ext cx="475488" cy="475488"/>
          </a:xfrm>
          <a:prstGeom prst="rect">
            <a:avLst/>
          </a:prstGeom>
          <a:noFill/>
          <a:ln/>
        </p:spPr>
        <p:txBody>
          <a:bodyPr wrap="square" lIns="0" tIns="0" rIns="0" bIns="0" rtlCol="0" anchor="ctr"/>
          <a:lstStyle/>
          <a:p>
            <a:pPr algn="ctr" indent="0" marL="0">
              <a:buNone/>
            </a:pPr>
            <a:r>
              <a:rPr lang="en-US" sz="1300" b="1" dirty="0">
                <a:solidFill>
                  <a:srgbClr val="61DAFB"/>
                </a:solidFill>
                <a:latin typeface="Calibri" pitchFamily="34" charset="0"/>
                <a:ea typeface="Calibri" pitchFamily="34" charset="-122"/>
                <a:cs typeface="Calibri" pitchFamily="34" charset="-120"/>
              </a:rPr>
              <a:t>6</a:t>
            </a:r>
            <a:endParaRPr lang="en-US" sz="1300" dirty="0"/>
          </a:p>
        </p:txBody>
      </p:sp>
      <p:sp>
        <p:nvSpPr>
          <p:cNvPr id="26" name="Text 24"/>
          <p:cNvSpPr txBox="1"/>
          <p:nvPr/>
        </p:nvSpPr>
        <p:spPr>
          <a:xfrm>
            <a:off x="1207008" y="5294376"/>
            <a:ext cx="3474720" cy="292608"/>
          </a:xfrm>
          <a:prstGeom prst="rect">
            <a:avLst/>
          </a:prstGeom>
          <a:noFill/>
          <a:ln/>
        </p:spPr>
        <p:txBody>
          <a:bodyPr wrap="square" lIns="0" tIns="0" rIns="0" bIns="0" rtlCol="0" anchor="ctr"/>
          <a:lstStyle/>
          <a:p>
            <a:pPr indent="0" marL="0">
              <a:buNone/>
            </a:pPr>
            <a:r>
              <a:rPr lang="en-US" sz="1450" b="1" dirty="0">
                <a:solidFill>
                  <a:srgbClr val="1B2029"/>
                </a:solidFill>
                <a:latin typeface="Calibri" pitchFamily="34" charset="0"/>
                <a:ea typeface="Calibri" pitchFamily="34" charset="-122"/>
                <a:cs typeface="Calibri" pitchFamily="34" charset="-120"/>
              </a:rPr>
              <a:t>Praktik lebih penting dari teori</a:t>
            </a:r>
            <a:endParaRPr lang="en-US" sz="1450" dirty="0"/>
          </a:p>
        </p:txBody>
      </p:sp>
      <p:sp>
        <p:nvSpPr>
          <p:cNvPr id="27" name="Text 25"/>
          <p:cNvSpPr txBox="1"/>
          <p:nvPr/>
        </p:nvSpPr>
        <p:spPr>
          <a:xfrm>
            <a:off x="4800600" y="5294376"/>
            <a:ext cx="6839712" cy="566928"/>
          </a:xfrm>
          <a:prstGeom prst="rect">
            <a:avLst/>
          </a:prstGeom>
          <a:noFill/>
          <a:ln/>
        </p:spPr>
        <p:txBody>
          <a:bodyPr wrap="square" lIns="0" tIns="0" rIns="0" bIns="0" rtlCol="0" anchor="ctr"/>
          <a:lstStyle/>
          <a:p>
            <a:pPr indent="0" marL="0">
              <a:lnSpc>
                <a:spcPct val="110000"/>
              </a:lnSpc>
              <a:buNone/>
            </a:pPr>
            <a:r>
              <a:rPr lang="en-US" sz="1200" dirty="0">
                <a:solidFill>
                  <a:srgbClr val="5C6672"/>
                </a:solidFill>
                <a:latin typeface="Calibri" pitchFamily="34" charset="0"/>
                <a:ea typeface="Calibri" pitchFamily="34" charset="-122"/>
                <a:cs typeface="Calibri" pitchFamily="34" charset="-120"/>
              </a:rPr>
              <a:t>Bangun proyek nyata secara bertahap agar konsep benar-benar melekat.</a:t>
            </a:r>
            <a:endParaRPr lang="en-US" sz="1200" dirty="0"/>
          </a:p>
        </p:txBody>
      </p:sp>
      <p:pic>
        <p:nvPicPr>
          <p:cNvPr id="29" name="Image 0" descr="preencoded.png">    </p:cNvPr>
          <p:cNvPicPr>
            <a:picLocks noChangeAspect="1"/>
          </p:cNvPicPr>
          <p:nvPr/>
        </p:nvPicPr>
        <p:blipFill>
          <a:blip r:embed="rId1"/>
          <a:stretch>
            <a:fillRect/>
          </a:stretch>
        </p:blipFill>
        <p:spPr>
          <a:xfrm>
            <a:off x="502920" y="6382512"/>
            <a:ext cx="201168" cy="201168"/>
          </a:xfrm>
          <a:prstGeom prst="rect">
            <a:avLst/>
          </a:prstGeom>
        </p:spPr>
      </p:pic>
      <p:sp>
        <p:nvSpPr>
          <p:cNvPr id="30"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1"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0058400" cy="256032"/>
          </a:xfrm>
          <a:prstGeom prst="rect">
            <a:avLst/>
          </a:prstGeom>
          <a:noFill/>
          <a:ln/>
        </p:spPr>
        <p:txBody>
          <a:bodyPr wrap="square" lIns="0" tIns="0" rIns="0" bIns="0" rtlCol="0" anchor="ctr"/>
          <a:lstStyle/>
          <a:p>
            <a:pPr indent="0" marL="0">
              <a:buNone/>
            </a:pPr>
            <a:r>
              <a:rPr lang="en-US" sz="1100" b="1" spc="160" kern="0" dirty="0">
                <a:solidFill>
                  <a:srgbClr val="1E90AF"/>
                </a:solidFill>
                <a:latin typeface="Calibri" pitchFamily="34" charset="0"/>
                <a:ea typeface="Calibri" pitchFamily="34" charset="-122"/>
                <a:cs typeface="Calibri" pitchFamily="34" charset="-120"/>
              </a:rPr>
              <a:t>PENUTUP MATERI</a:t>
            </a:r>
            <a:endParaRPr lang="en-US" sz="110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indent="0" marL="0">
              <a:buNone/>
            </a:pPr>
            <a:r>
              <a:rPr lang="en-US" sz="3200" b="1" dirty="0">
                <a:solidFill>
                  <a:srgbClr val="1B2029"/>
                </a:solidFill>
                <a:latin typeface="Calibri" pitchFamily="34" charset="0"/>
                <a:ea typeface="Calibri" pitchFamily="34" charset="-122"/>
                <a:cs typeface="Calibri" pitchFamily="34" charset="-120"/>
              </a:rPr>
              <a:t>Referensi &amp; Sumber Belajar</a:t>
            </a:r>
            <a:endParaRPr lang="en-US" sz="3200" dirty="0"/>
          </a:p>
        </p:txBody>
      </p:sp>
      <p:sp>
        <p:nvSpPr>
          <p:cNvPr id="4" name="Shape 2"/>
          <p:cNvSpPr/>
          <p:nvPr/>
        </p:nvSpPr>
        <p:spPr>
          <a:xfrm>
            <a:off x="548640" y="1508760"/>
            <a:ext cx="5440680" cy="1298448"/>
          </a:xfrm>
          <a:prstGeom prst="roundRect">
            <a:avLst>
              <a:gd name="adj" fmla="val 8451"/>
            </a:avLst>
          </a:prstGeom>
          <a:solidFill>
            <a:srgbClr val="F2F6F9"/>
          </a:solidFill>
          <a:ln w="12700">
            <a:solidFill>
              <a:srgbClr val="F2F6F9"/>
            </a:solidFill>
            <a:prstDash val="solid"/>
          </a:ln>
        </p:spPr>
      </p:sp>
      <p:sp>
        <p:nvSpPr>
          <p:cNvPr id="5" name="Shape 3"/>
          <p:cNvSpPr/>
          <p:nvPr/>
        </p:nvSpPr>
        <p:spPr>
          <a:xfrm>
            <a:off x="804672" y="1874520"/>
            <a:ext cx="566928" cy="566928"/>
          </a:xfrm>
          <a:prstGeom prst="ellipse">
            <a:avLst/>
          </a:prstGeom>
          <a:solidFill>
            <a:srgbClr val="FFFFFF"/>
          </a:solidFill>
          <a:ln w="12700">
            <a:solidFill>
              <a:srgbClr val="DDE7ED"/>
            </a:solidFill>
            <a:prstDash val="solid"/>
          </a:ln>
        </p:spPr>
      </p:sp>
      <p:pic>
        <p:nvPicPr>
          <p:cNvPr id="6" name="Image 0" descr="preencoded.png">    </p:cNvPr>
          <p:cNvPicPr>
            <a:picLocks noChangeAspect="1"/>
          </p:cNvPicPr>
          <p:nvPr/>
        </p:nvPicPr>
        <p:blipFill>
          <a:blip r:embed="rId1"/>
          <a:stretch>
            <a:fillRect/>
          </a:stretch>
        </p:blipFill>
        <p:spPr>
          <a:xfrm>
            <a:off x="950976" y="2020824"/>
            <a:ext cx="274320" cy="274320"/>
          </a:xfrm>
          <a:prstGeom prst="rect">
            <a:avLst/>
          </a:prstGeom>
        </p:spPr>
      </p:pic>
      <p:sp>
        <p:nvSpPr>
          <p:cNvPr id="7" name="Text 4"/>
          <p:cNvSpPr txBox="1"/>
          <p:nvPr/>
        </p:nvSpPr>
        <p:spPr>
          <a:xfrm>
            <a:off x="1517904" y="178308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react.dev</a:t>
            </a:r>
            <a:endParaRPr lang="en-US" sz="1400" dirty="0"/>
          </a:p>
        </p:txBody>
      </p:sp>
      <p:sp>
        <p:nvSpPr>
          <p:cNvPr id="8" name="Text 5"/>
          <p:cNvSpPr txBox="1"/>
          <p:nvPr/>
        </p:nvSpPr>
        <p:spPr>
          <a:xfrm>
            <a:off x="1517904" y="207568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Dokumentasi resmi React beserta tutorial interaktif.</a:t>
            </a:r>
            <a:endParaRPr lang="en-US" sz="1100" dirty="0"/>
          </a:p>
        </p:txBody>
      </p:sp>
      <p:sp>
        <p:nvSpPr>
          <p:cNvPr id="9" name="Shape 6"/>
          <p:cNvSpPr/>
          <p:nvPr/>
        </p:nvSpPr>
        <p:spPr>
          <a:xfrm>
            <a:off x="6199632" y="1508760"/>
            <a:ext cx="5440680" cy="1298448"/>
          </a:xfrm>
          <a:prstGeom prst="roundRect">
            <a:avLst>
              <a:gd name="adj" fmla="val 8451"/>
            </a:avLst>
          </a:prstGeom>
          <a:solidFill>
            <a:srgbClr val="F2F6F9"/>
          </a:solidFill>
          <a:ln w="12700">
            <a:solidFill>
              <a:srgbClr val="F2F6F9"/>
            </a:solidFill>
            <a:prstDash val="solid"/>
          </a:ln>
        </p:spPr>
      </p:sp>
      <p:sp>
        <p:nvSpPr>
          <p:cNvPr id="10" name="Shape 7"/>
          <p:cNvSpPr/>
          <p:nvPr/>
        </p:nvSpPr>
        <p:spPr>
          <a:xfrm>
            <a:off x="6455664" y="1874520"/>
            <a:ext cx="566928" cy="566928"/>
          </a:xfrm>
          <a:prstGeom prst="ellipse">
            <a:avLst/>
          </a:prstGeom>
          <a:solidFill>
            <a:srgbClr val="FFFFFF"/>
          </a:solidFill>
          <a:ln w="12700">
            <a:solidFill>
              <a:srgbClr val="DDE7ED"/>
            </a:solidFill>
            <a:prstDash val="solid"/>
          </a:ln>
        </p:spPr>
      </p:sp>
      <p:pic>
        <p:nvPicPr>
          <p:cNvPr id="11" name="Image 1" descr="preencoded.png">    </p:cNvPr>
          <p:cNvPicPr>
            <a:picLocks noChangeAspect="1"/>
          </p:cNvPicPr>
          <p:nvPr/>
        </p:nvPicPr>
        <p:blipFill>
          <a:blip r:embed="rId2"/>
          <a:stretch>
            <a:fillRect/>
          </a:stretch>
        </p:blipFill>
        <p:spPr>
          <a:xfrm>
            <a:off x="6601968" y="2020824"/>
            <a:ext cx="274320" cy="274320"/>
          </a:xfrm>
          <a:prstGeom prst="rect">
            <a:avLst/>
          </a:prstGeom>
        </p:spPr>
      </p:pic>
      <p:sp>
        <p:nvSpPr>
          <p:cNvPr id="12" name="Text 8"/>
          <p:cNvSpPr txBox="1"/>
          <p:nvPr/>
        </p:nvSpPr>
        <p:spPr>
          <a:xfrm>
            <a:off x="7168896" y="178308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developer.mozilla.org</a:t>
            </a:r>
            <a:endParaRPr lang="en-US" sz="1400" dirty="0"/>
          </a:p>
        </p:txBody>
      </p:sp>
      <p:sp>
        <p:nvSpPr>
          <p:cNvPr id="13" name="Text 9"/>
          <p:cNvSpPr txBox="1"/>
          <p:nvPr/>
        </p:nvSpPr>
        <p:spPr>
          <a:xfrm>
            <a:off x="7168896" y="207568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Referensi JavaScript, HTML, dan CSS dari MDN Web Docs.</a:t>
            </a:r>
            <a:endParaRPr lang="en-US" sz="1100" dirty="0"/>
          </a:p>
        </p:txBody>
      </p:sp>
      <p:sp>
        <p:nvSpPr>
          <p:cNvPr id="14" name="Shape 10"/>
          <p:cNvSpPr/>
          <p:nvPr/>
        </p:nvSpPr>
        <p:spPr>
          <a:xfrm>
            <a:off x="548640" y="3063240"/>
            <a:ext cx="5440680" cy="1298448"/>
          </a:xfrm>
          <a:prstGeom prst="roundRect">
            <a:avLst>
              <a:gd name="adj" fmla="val 8451"/>
            </a:avLst>
          </a:prstGeom>
          <a:solidFill>
            <a:srgbClr val="F2F6F9"/>
          </a:solidFill>
          <a:ln w="12700">
            <a:solidFill>
              <a:srgbClr val="F2F6F9"/>
            </a:solidFill>
            <a:prstDash val="solid"/>
          </a:ln>
        </p:spPr>
      </p:sp>
      <p:sp>
        <p:nvSpPr>
          <p:cNvPr id="15" name="Shape 11"/>
          <p:cNvSpPr/>
          <p:nvPr/>
        </p:nvSpPr>
        <p:spPr>
          <a:xfrm>
            <a:off x="804672" y="3429000"/>
            <a:ext cx="566928" cy="566928"/>
          </a:xfrm>
          <a:prstGeom prst="ellipse">
            <a:avLst/>
          </a:prstGeom>
          <a:solidFill>
            <a:srgbClr val="FFFFFF"/>
          </a:solidFill>
          <a:ln w="12700">
            <a:solidFill>
              <a:srgbClr val="DDE7ED"/>
            </a:solidFill>
            <a:prstDash val="solid"/>
          </a:ln>
        </p:spPr>
      </p:sp>
      <p:pic>
        <p:nvPicPr>
          <p:cNvPr id="16" name="Image 2" descr="preencoded.png">    </p:cNvPr>
          <p:cNvPicPr>
            <a:picLocks noChangeAspect="1"/>
          </p:cNvPicPr>
          <p:nvPr/>
        </p:nvPicPr>
        <p:blipFill>
          <a:blip r:embed="rId3"/>
          <a:stretch>
            <a:fillRect/>
          </a:stretch>
        </p:blipFill>
        <p:spPr>
          <a:xfrm>
            <a:off x="950976" y="3575304"/>
            <a:ext cx="274320" cy="274320"/>
          </a:xfrm>
          <a:prstGeom prst="rect">
            <a:avLst/>
          </a:prstGeom>
        </p:spPr>
      </p:pic>
      <p:sp>
        <p:nvSpPr>
          <p:cNvPr id="17" name="Text 12"/>
          <p:cNvSpPr txBox="1"/>
          <p:nvPr/>
        </p:nvSpPr>
        <p:spPr>
          <a:xfrm>
            <a:off x="1517904" y="333756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nextjs.org/learn</a:t>
            </a:r>
            <a:endParaRPr lang="en-US" sz="1400" dirty="0"/>
          </a:p>
        </p:txBody>
      </p:sp>
      <p:sp>
        <p:nvSpPr>
          <p:cNvPr id="18" name="Text 13"/>
          <p:cNvSpPr txBox="1"/>
          <p:nvPr/>
        </p:nvSpPr>
        <p:spPr>
          <a:xfrm>
            <a:off x="1517904" y="363016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Kursus resmi Next.js secara bertahap dan gratis.</a:t>
            </a:r>
            <a:endParaRPr lang="en-US" sz="1100" dirty="0"/>
          </a:p>
        </p:txBody>
      </p:sp>
      <p:sp>
        <p:nvSpPr>
          <p:cNvPr id="19" name="Shape 14"/>
          <p:cNvSpPr/>
          <p:nvPr/>
        </p:nvSpPr>
        <p:spPr>
          <a:xfrm>
            <a:off x="6199632" y="3063240"/>
            <a:ext cx="5440680" cy="1298448"/>
          </a:xfrm>
          <a:prstGeom prst="roundRect">
            <a:avLst>
              <a:gd name="adj" fmla="val 8451"/>
            </a:avLst>
          </a:prstGeom>
          <a:solidFill>
            <a:srgbClr val="F2F6F9"/>
          </a:solidFill>
          <a:ln w="12700">
            <a:solidFill>
              <a:srgbClr val="F2F6F9"/>
            </a:solidFill>
            <a:prstDash val="solid"/>
          </a:ln>
        </p:spPr>
      </p:sp>
      <p:sp>
        <p:nvSpPr>
          <p:cNvPr id="20" name="Shape 15"/>
          <p:cNvSpPr/>
          <p:nvPr/>
        </p:nvSpPr>
        <p:spPr>
          <a:xfrm>
            <a:off x="6455664" y="3429000"/>
            <a:ext cx="566928" cy="566928"/>
          </a:xfrm>
          <a:prstGeom prst="ellipse">
            <a:avLst/>
          </a:prstGeom>
          <a:solidFill>
            <a:srgbClr val="FFFFFF"/>
          </a:solidFill>
          <a:ln w="12700">
            <a:solidFill>
              <a:srgbClr val="DDE7ED"/>
            </a:solidFill>
            <a:prstDash val="solid"/>
          </a:ln>
        </p:spPr>
      </p:sp>
      <p:pic>
        <p:nvPicPr>
          <p:cNvPr id="21" name="Image 3" descr="preencoded.png">    </p:cNvPr>
          <p:cNvPicPr>
            <a:picLocks noChangeAspect="1"/>
          </p:cNvPicPr>
          <p:nvPr/>
        </p:nvPicPr>
        <p:blipFill>
          <a:blip r:embed="rId4"/>
          <a:stretch>
            <a:fillRect/>
          </a:stretch>
        </p:blipFill>
        <p:spPr>
          <a:xfrm>
            <a:off x="6601968" y="3575304"/>
            <a:ext cx="274320" cy="274320"/>
          </a:xfrm>
          <a:prstGeom prst="rect">
            <a:avLst/>
          </a:prstGeom>
        </p:spPr>
      </p:pic>
      <p:sp>
        <p:nvSpPr>
          <p:cNvPr id="22" name="Text 16"/>
          <p:cNvSpPr txBox="1"/>
          <p:nvPr/>
        </p:nvSpPr>
        <p:spPr>
          <a:xfrm>
            <a:off x="7168896" y="333756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vite.dev/guide</a:t>
            </a:r>
            <a:endParaRPr lang="en-US" sz="1400" dirty="0"/>
          </a:p>
        </p:txBody>
      </p:sp>
      <p:sp>
        <p:nvSpPr>
          <p:cNvPr id="23" name="Text 17"/>
          <p:cNvSpPr txBox="1"/>
          <p:nvPr/>
        </p:nvSpPr>
        <p:spPr>
          <a:xfrm>
            <a:off x="7168896" y="363016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Panduan konfigurasi dan optimasi build dengan Vite.</a:t>
            </a:r>
            <a:endParaRPr lang="en-US" sz="1100" dirty="0"/>
          </a:p>
        </p:txBody>
      </p:sp>
      <p:sp>
        <p:nvSpPr>
          <p:cNvPr id="24" name="Shape 18"/>
          <p:cNvSpPr/>
          <p:nvPr/>
        </p:nvSpPr>
        <p:spPr>
          <a:xfrm>
            <a:off x="548640" y="4617720"/>
            <a:ext cx="5440680" cy="1298448"/>
          </a:xfrm>
          <a:prstGeom prst="roundRect">
            <a:avLst>
              <a:gd name="adj" fmla="val 8451"/>
            </a:avLst>
          </a:prstGeom>
          <a:solidFill>
            <a:srgbClr val="F2F6F9"/>
          </a:solidFill>
          <a:ln w="12700">
            <a:solidFill>
              <a:srgbClr val="F2F6F9"/>
            </a:solidFill>
            <a:prstDash val="solid"/>
          </a:ln>
        </p:spPr>
      </p:sp>
      <p:sp>
        <p:nvSpPr>
          <p:cNvPr id="25" name="Shape 19"/>
          <p:cNvSpPr/>
          <p:nvPr/>
        </p:nvSpPr>
        <p:spPr>
          <a:xfrm>
            <a:off x="804672" y="4983480"/>
            <a:ext cx="566928" cy="566928"/>
          </a:xfrm>
          <a:prstGeom prst="ellipse">
            <a:avLst/>
          </a:prstGeom>
          <a:solidFill>
            <a:srgbClr val="FFFFFF"/>
          </a:solidFill>
          <a:ln w="12700">
            <a:solidFill>
              <a:srgbClr val="DDE7ED"/>
            </a:solidFill>
            <a:prstDash val="solid"/>
          </a:ln>
        </p:spPr>
      </p:sp>
      <p:pic>
        <p:nvPicPr>
          <p:cNvPr id="26" name="Image 4" descr="preencoded.png">    </p:cNvPr>
          <p:cNvPicPr>
            <a:picLocks noChangeAspect="1"/>
          </p:cNvPicPr>
          <p:nvPr/>
        </p:nvPicPr>
        <p:blipFill>
          <a:blip r:embed="rId5"/>
          <a:stretch>
            <a:fillRect/>
          </a:stretch>
        </p:blipFill>
        <p:spPr>
          <a:xfrm>
            <a:off x="950976" y="5129784"/>
            <a:ext cx="274320" cy="274320"/>
          </a:xfrm>
          <a:prstGeom prst="rect">
            <a:avLst/>
          </a:prstGeom>
        </p:spPr>
      </p:pic>
      <p:sp>
        <p:nvSpPr>
          <p:cNvPr id="27" name="Text 20"/>
          <p:cNvSpPr txBox="1"/>
          <p:nvPr/>
        </p:nvSpPr>
        <p:spPr>
          <a:xfrm>
            <a:off x="1517904" y="489204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reactrouter.com</a:t>
            </a:r>
            <a:endParaRPr lang="en-US" sz="1400" dirty="0"/>
          </a:p>
        </p:txBody>
      </p:sp>
      <p:sp>
        <p:nvSpPr>
          <p:cNvPr id="28" name="Text 21"/>
          <p:cNvSpPr txBox="1"/>
          <p:nvPr/>
        </p:nvSpPr>
        <p:spPr>
          <a:xfrm>
            <a:off x="1517904" y="518464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Dokumentasi lengkap routing untuk aplikasi React.</a:t>
            </a:r>
            <a:endParaRPr lang="en-US" sz="1100" dirty="0"/>
          </a:p>
        </p:txBody>
      </p:sp>
      <p:sp>
        <p:nvSpPr>
          <p:cNvPr id="29" name="Shape 22"/>
          <p:cNvSpPr/>
          <p:nvPr/>
        </p:nvSpPr>
        <p:spPr>
          <a:xfrm>
            <a:off x="6199632" y="4617720"/>
            <a:ext cx="5440680" cy="1298448"/>
          </a:xfrm>
          <a:prstGeom prst="roundRect">
            <a:avLst>
              <a:gd name="adj" fmla="val 8451"/>
            </a:avLst>
          </a:prstGeom>
          <a:solidFill>
            <a:srgbClr val="F2F6F9"/>
          </a:solidFill>
          <a:ln w="12700">
            <a:solidFill>
              <a:srgbClr val="F2F6F9"/>
            </a:solidFill>
            <a:prstDash val="solid"/>
          </a:ln>
        </p:spPr>
      </p:sp>
      <p:sp>
        <p:nvSpPr>
          <p:cNvPr id="30" name="Shape 23"/>
          <p:cNvSpPr/>
          <p:nvPr/>
        </p:nvSpPr>
        <p:spPr>
          <a:xfrm>
            <a:off x="6455664" y="4983480"/>
            <a:ext cx="566928" cy="566928"/>
          </a:xfrm>
          <a:prstGeom prst="ellipse">
            <a:avLst/>
          </a:prstGeom>
          <a:solidFill>
            <a:srgbClr val="FFFFFF"/>
          </a:solidFill>
          <a:ln w="12700">
            <a:solidFill>
              <a:srgbClr val="DDE7ED"/>
            </a:solidFill>
            <a:prstDash val="solid"/>
          </a:ln>
        </p:spPr>
      </p:sp>
      <p:pic>
        <p:nvPicPr>
          <p:cNvPr id="31" name="Image 5" descr="preencoded.png">    </p:cNvPr>
          <p:cNvPicPr>
            <a:picLocks noChangeAspect="1"/>
          </p:cNvPicPr>
          <p:nvPr/>
        </p:nvPicPr>
        <p:blipFill>
          <a:blip r:embed="rId6"/>
          <a:stretch>
            <a:fillRect/>
          </a:stretch>
        </p:blipFill>
        <p:spPr>
          <a:xfrm>
            <a:off x="6601968" y="5129784"/>
            <a:ext cx="274320" cy="274320"/>
          </a:xfrm>
          <a:prstGeom prst="rect">
            <a:avLst/>
          </a:prstGeom>
        </p:spPr>
      </p:pic>
      <p:sp>
        <p:nvSpPr>
          <p:cNvPr id="32" name="Text 24"/>
          <p:cNvSpPr txBox="1"/>
          <p:nvPr/>
        </p:nvSpPr>
        <p:spPr>
          <a:xfrm>
            <a:off x="7168896" y="4892040"/>
            <a:ext cx="4297680" cy="292608"/>
          </a:xfrm>
          <a:prstGeom prst="rect">
            <a:avLst/>
          </a:prstGeom>
          <a:noFill/>
          <a:ln/>
        </p:spPr>
        <p:txBody>
          <a:bodyPr wrap="square" lIns="0" tIns="0" rIns="0" bIns="0" rtlCol="0" anchor="ctr"/>
          <a:lstStyle/>
          <a:p>
            <a:pPr indent="0" marL="0">
              <a:buNone/>
            </a:pPr>
            <a:r>
              <a:rPr lang="en-US" sz="1400" b="1" dirty="0">
                <a:solidFill>
                  <a:srgbClr val="1E90AF"/>
                </a:solidFill>
                <a:latin typeface="Courier New" pitchFamily="34" charset="0"/>
                <a:ea typeface="Courier New" pitchFamily="34" charset="-122"/>
                <a:cs typeface="Courier New" pitchFamily="34" charset="-120"/>
              </a:rPr>
              <a:t>testing-library.com</a:t>
            </a:r>
            <a:endParaRPr lang="en-US" sz="1400" dirty="0"/>
          </a:p>
        </p:txBody>
      </p:sp>
      <p:sp>
        <p:nvSpPr>
          <p:cNvPr id="33" name="Text 25"/>
          <p:cNvSpPr txBox="1"/>
          <p:nvPr/>
        </p:nvSpPr>
        <p:spPr>
          <a:xfrm>
            <a:off x="7168896" y="5184648"/>
            <a:ext cx="4297680" cy="502920"/>
          </a:xfrm>
          <a:prstGeom prst="rect">
            <a:avLst/>
          </a:prstGeom>
          <a:noFill/>
          <a:ln/>
        </p:spPr>
        <p:txBody>
          <a:bodyPr wrap="square" lIns="0" tIns="0" rIns="0" bIns="0" rtlCol="0" anchor="t"/>
          <a:lstStyle/>
          <a:p>
            <a:pPr indent="0" marL="0">
              <a:lnSpc>
                <a:spcPct val="110000"/>
              </a:lnSpc>
              <a:buNone/>
            </a:pPr>
            <a:r>
              <a:rPr lang="en-US" sz="1100" dirty="0">
                <a:solidFill>
                  <a:srgbClr val="5C6672"/>
                </a:solidFill>
                <a:latin typeface="Calibri" pitchFamily="34" charset="0"/>
                <a:ea typeface="Calibri" pitchFamily="34" charset="-122"/>
                <a:cs typeface="Calibri" pitchFamily="34" charset="-120"/>
              </a:rPr>
              <a:t>Panduan pengujian komponen dari sudut pandang pengguna.</a:t>
            </a:r>
            <a:endParaRPr lang="en-US" sz="1100" dirty="0"/>
          </a:p>
        </p:txBody>
      </p:sp>
      <p:pic>
        <p:nvPicPr>
          <p:cNvPr id="35" name="Image 6" descr="preencoded.png">    </p:cNvPr>
          <p:cNvPicPr>
            <a:picLocks noChangeAspect="1"/>
          </p:cNvPicPr>
          <p:nvPr/>
        </p:nvPicPr>
        <p:blipFill>
          <a:blip r:embed="rId7"/>
          <a:stretch>
            <a:fillRect/>
          </a:stretch>
        </p:blipFill>
        <p:spPr>
          <a:xfrm>
            <a:off x="502920" y="6382512"/>
            <a:ext cx="201168" cy="201168"/>
          </a:xfrm>
          <a:prstGeom prst="rect">
            <a:avLst/>
          </a:prstGeom>
        </p:spPr>
      </p:pic>
      <p:sp>
        <p:nvSpPr>
          <p:cNvPr id="36" name="Text 26"/>
          <p:cNvSpPr txBox="1"/>
          <p:nvPr/>
        </p:nvSpPr>
        <p:spPr>
          <a:xfrm>
            <a:off x="758952" y="6355080"/>
            <a:ext cx="4114800" cy="256032"/>
          </a:xfrm>
          <a:prstGeom prst="rect">
            <a:avLst/>
          </a:prstGeom>
          <a:noFill/>
          <a:ln/>
        </p:spPr>
        <p:txBody>
          <a:bodyPr wrap="square" lIns="0" tIns="0" rIns="0" bIns="0" rtlCol="0" anchor="ctr"/>
          <a:lstStyle/>
          <a:p>
            <a:pPr indent="0" marL="0">
              <a:buNone/>
            </a:pPr>
            <a:r>
              <a:rPr lang="en-US" sz="900" dirty="0">
                <a:solidFill>
                  <a:srgbClr val="5C6672"/>
                </a:solidFill>
                <a:latin typeface="Calibri" pitchFamily="34" charset="0"/>
                <a:ea typeface="Calibri" pitchFamily="34" charset="-122"/>
                <a:cs typeface="Calibri" pitchFamily="34" charset="-120"/>
              </a:rPr>
              <a:t>ReactJS — Materi Komprehensif</a:t>
            </a:r>
            <a:endParaRPr lang="en-US" sz="900" dirty="0"/>
          </a:p>
        </p:txBody>
      </p:sp>
      <p:sp>
        <p:nvSpPr>
          <p:cNvPr id="37" name="Text 27"/>
          <p:cNvSpPr txBox="1"/>
          <p:nvPr/>
        </p:nvSpPr>
        <p:spPr>
          <a:xfrm>
            <a:off x="11155680" y="6355080"/>
            <a:ext cx="548640" cy="256032"/>
          </a:xfrm>
          <a:prstGeom prst="rect">
            <a:avLst/>
          </a:prstGeom>
          <a:noFill/>
          <a:ln/>
        </p:spPr>
        <p:txBody>
          <a:bodyPr wrap="square" lIns="0" tIns="0" rIns="0" bIns="0" rtlCol="0" anchor="ctr"/>
          <a:lstStyle/>
          <a:p>
            <a:pPr algn="r" indent="0" marL="0">
              <a:buNone/>
            </a:pPr>
            <a:r>
              <a:rPr lang="en-US" sz="1000" b="1" dirty="0">
                <a:solidFill>
                  <a:srgbClr val="1E90AF"/>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0232A"/>
        </a:solidFill>
      </p:bgPr>
    </p:bg>
    <p:spTree>
      <p:nvGrpSpPr>
        <p:cNvPr id="1" name=""/>
        <p:cNvGrpSpPr/>
        <p:nvPr/>
      </p:nvGrpSpPr>
      <p:grpSpPr>
        <a:xfrm>
          <a:off x="0" y="0"/>
          <a:ext cx="0" cy="0"/>
          <a:chOff x="0" y="0"/>
          <a:chExt cx="0" cy="0"/>
        </a:xfrm>
      </p:grpSpPr>
      <p:sp>
        <p:nvSpPr>
          <p:cNvPr id="2" name="Shape 0"/>
          <p:cNvSpPr/>
          <p:nvPr/>
        </p:nvSpPr>
        <p:spPr>
          <a:xfrm>
            <a:off x="4453128" y="1051560"/>
            <a:ext cx="3291840" cy="3291840"/>
          </a:xfrm>
          <a:prstGeom prst="ellipse">
            <a:avLst/>
          </a:prstGeom>
          <a:solidFill>
            <a:srgbClr val="272C36"/>
          </a:solidFill>
          <a:ln w="12700">
            <a:solidFill>
              <a:srgbClr val="272C36"/>
            </a:solidFill>
            <a:prstDash val="solid"/>
          </a:ln>
        </p:spPr>
      </p:sp>
      <p:pic>
        <p:nvPicPr>
          <p:cNvPr id="3" name="Image 0" descr="preencoded.png">    </p:cNvPr>
          <p:cNvPicPr>
            <a:picLocks noChangeAspect="1"/>
          </p:cNvPicPr>
          <p:nvPr/>
        </p:nvPicPr>
        <p:blipFill>
          <a:blip r:embed="rId1"/>
          <a:stretch>
            <a:fillRect/>
          </a:stretch>
        </p:blipFill>
        <p:spPr>
          <a:xfrm>
            <a:off x="5276088" y="1874520"/>
            <a:ext cx="1645920" cy="1645920"/>
          </a:xfrm>
          <a:prstGeom prst="rect">
            <a:avLst/>
          </a:prstGeom>
        </p:spPr>
      </p:pic>
      <p:sp>
        <p:nvSpPr>
          <p:cNvPr id="4" name="Text 1"/>
          <p:cNvSpPr txBox="1"/>
          <p:nvPr/>
        </p:nvSpPr>
        <p:spPr>
          <a:xfrm>
            <a:off x="1371600" y="4572000"/>
            <a:ext cx="9445752" cy="77724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Terima Kasih</a:t>
            </a:r>
            <a:endParaRPr lang="en-US" sz="4600" dirty="0"/>
          </a:p>
        </p:txBody>
      </p:sp>
      <p:sp>
        <p:nvSpPr>
          <p:cNvPr id="5" name="Text 2"/>
          <p:cNvSpPr txBox="1"/>
          <p:nvPr/>
        </p:nvSpPr>
        <p:spPr>
          <a:xfrm>
            <a:off x="1371600" y="5349240"/>
            <a:ext cx="9445752" cy="457200"/>
          </a:xfrm>
          <a:prstGeom prst="rect">
            <a:avLst/>
          </a:prstGeom>
          <a:noFill/>
          <a:ln/>
        </p:spPr>
        <p:txBody>
          <a:bodyPr wrap="square" lIns="0" tIns="0" rIns="0" bIns="0" rtlCol="0" anchor="ctr"/>
          <a:lstStyle/>
          <a:p>
            <a:pPr algn="ctr" indent="0" marL="0">
              <a:buNone/>
            </a:pPr>
            <a:r>
              <a:rPr lang="en-US" sz="1500" dirty="0">
                <a:solidFill>
                  <a:srgbClr val="A9B4C2"/>
                </a:solidFill>
                <a:latin typeface="Calibri" pitchFamily="34" charset="0"/>
                <a:ea typeface="Calibri" pitchFamily="34" charset="-122"/>
                <a:cs typeface="Calibri" pitchFamily="34" charset="-120"/>
              </a:rPr>
              <a:t>Selamat mencoba membangun aplikasi React pertama Anda. Sesi tanya jawab dipersilakan.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ReactJS - Materi Komprehensif</dc:title>
  <dc:subject>Pengenalan sampai penerapan ReactJS</dc:subject>
  <dc:creator>Materi Pembelajaran</dc:creator>
  <cp:lastModifiedBy>Materi Pembelajaran</cp:lastModifiedBy>
  <cp:revision>1</cp:revision>
  <dcterms:created xsi:type="dcterms:W3CDTF">2026-09-03T08:52:31Z</dcterms:created>
  <dcterms:modified xsi:type="dcterms:W3CDTF">2026-09-03T08:52:31Z</dcterms:modified>
</cp:coreProperties>
</file>