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554480"/>
            <a:ext cx="5029200" cy="5029200"/>
          </a:xfrm>
          <a:prstGeom prst="ellipse">
            <a:avLst/>
          </a:prstGeom>
          <a:solidFill>
            <a:srgbClr val="E34F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2926080"/>
            <a:ext cx="5486400" cy="5486400"/>
          </a:xfrm>
          <a:prstGeom prst="ellipse">
            <a:avLst/>
          </a:prstGeom>
          <a:solidFill>
            <a:srgbClr val="1572B6">
              <a:alpha val="14000"/>
            </a:srgbClr>
          </a:solidFill>
          <a:ln/>
        </p:spPr>
      </p:sp>
      <p:pic>
        <p:nvPicPr>
          <p:cNvPr id="4" name="Image 0" descr="/home/claude/html5css3/icons/html5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777240" cy="777240"/>
          </a:xfrm>
          <a:prstGeom prst="rect">
            <a:avLst/>
          </a:prstGeom>
        </p:spPr>
      </p:pic>
      <p:pic>
        <p:nvPicPr>
          <p:cNvPr id="5" name="Image 1" descr="/home/claude/html5css3/icons/css3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777240"/>
            <a:ext cx="777240" cy="777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9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PEMBELAJARAN WEB FRONT-END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04672" y="22402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34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</a:t>
            </a:r>
            <a:pPr indent="0" marL="0">
              <a:buNone/>
            </a:pPr>
            <a:r>
              <a:rPr lang="en-US" sz="6000" b="1" dirty="0">
                <a:solidFill>
                  <a:srgbClr val="C7C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</a:t>
            </a:r>
            <a:pPr indent="0" marL="0">
              <a:buNone/>
            </a:pPr>
            <a:r>
              <a:rPr lang="en-US" sz="60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822960" y="36118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Struktur Halaman Web dan Penguasaan Styling Modern: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Selector, Layout, Responsive Design, hingga Animasi CSS3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822960" y="4892040"/>
            <a:ext cx="7498080" cy="0"/>
          </a:xfrm>
          <a:prstGeom prst="line">
            <a:avLst/>
          </a:prstGeom>
          <a:noFill/>
          <a:ln w="12700">
            <a:solidFill>
              <a:srgbClr val="3A407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50749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Komprehensif  •  Struktur • Semantik • Styling • Layout • Responsive • Animasi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list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Pembahasan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9164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4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554480" y="1691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&amp; Evolusi HTML5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4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554480" y="2560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Dokumen &amp; Elemen Semantik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342900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4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554480" y="3429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Multimedia &amp; API HTML5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429768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554480" y="4297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CSS3 &amp; Selector Modern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51663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554480" y="5166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Model, Display &amp; Positioning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17920" y="169164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1908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7132320" y="1691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 &amp; Multi-column Layout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17920" y="256032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1908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7132320" y="2560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Warna, Background &amp; Tipografi CSS3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17920" y="342900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19088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7132320" y="3429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Border, Shadow, Transform &amp; Transisi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217920" y="429768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19088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7132320" y="4297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Animasi, Responsive Design &amp; CSS Variables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217920" y="51663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19088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36" name="Text 33"/>
          <p:cNvSpPr/>
          <p:nvPr/>
        </p:nvSpPr>
        <p:spPr>
          <a:xfrm>
            <a:off x="7132320" y="5166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Functions, Filter &amp; Specificity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2194560"/>
            <a:ext cx="2468880" cy="246888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4" name="Image 0" descr="/home/claude/html5css3/icons/html5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5353" y="2750058"/>
            <a:ext cx="1357884" cy="1357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7223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Pengenalan HTML5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 generasi ke-5 — standar terbaru untuk membangun struktur dan konten halaman web modern, mendukung multimedia dan aplikasi web tanpa plugin tambahan.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3" name="Image 0" descr="/home/claude/html5css3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HTML5?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E34F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508760"/>
            <a:ext cx="5623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adalah revisi kelima dari bahasa markup HTML, dirilis resmi oleh W3C &amp; WHATWG pada Oktober 2014. HTML5 dirancang agar konten lebih terstruktur secara semantik, mendukung multimedia native, dan lebih ringan tanpa bergantung pada plugin seperti Flash.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9" name="Image 1" descr="/home/claude/html5css3/icons/ta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16611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3026664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Elements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98448" y="3337560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nav, main, article, footer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904488"/>
            <a:ext cx="457200" cy="45720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13" name="Image 2" descr="/home/claude/html5css3/icons/med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007358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867912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Multimedia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98448" y="4178808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video tanpa plugin eksternal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745736"/>
            <a:ext cx="457200" cy="45720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17" name="Image 3" descr="/home/claude/html5css3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848606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709160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Storage &amp; API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98448" y="5020056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localStorage, geolocation, drag &amp; drop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586984"/>
            <a:ext cx="457200" cy="45720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21" name="Image 4" descr="/home/claude/html5css3/icons/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689854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98448" y="5550408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98448" y="5861304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 di desktop, tablet, mobile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583680" y="1508760"/>
            <a:ext cx="4983480" cy="4709160"/>
          </a:xfrm>
          <a:prstGeom prst="roundRect">
            <a:avLst>
              <a:gd name="adj" fmla="val 1942"/>
            </a:avLst>
          </a:prstGeom>
          <a:solidFill>
            <a:srgbClr val="1B1F3B"/>
          </a:solidFill>
          <a:ln/>
        </p:spPr>
      </p:sp>
      <p:sp>
        <p:nvSpPr>
          <p:cNvPr id="25" name="Text 18"/>
          <p:cNvSpPr/>
          <p:nvPr/>
        </p:nvSpPr>
        <p:spPr>
          <a:xfrm>
            <a:off x="690372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EVOLUSI HTML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903720" y="2313432"/>
            <a:ext cx="128016" cy="128016"/>
          </a:xfrm>
          <a:prstGeom prst="ellipse">
            <a:avLst/>
          </a:prstGeom>
          <a:solidFill>
            <a:srgbClr val="E34F26"/>
          </a:solidFill>
          <a:ln/>
        </p:spPr>
      </p:sp>
      <p:sp>
        <p:nvSpPr>
          <p:cNvPr id="27" name="Shape 20"/>
          <p:cNvSpPr/>
          <p:nvPr/>
        </p:nvSpPr>
        <p:spPr>
          <a:xfrm>
            <a:off x="6963156" y="2468880"/>
            <a:ext cx="0" cy="566928"/>
          </a:xfrm>
          <a:prstGeom prst="line">
            <a:avLst/>
          </a:prstGeom>
          <a:noFill/>
          <a:ln w="19050">
            <a:solidFill>
              <a:srgbClr val="3A407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178040" y="2212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178040" y="24505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pertama kali diperkenalkan oleh Tim Berners-Lee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903720" y="3063240"/>
            <a:ext cx="128016" cy="128016"/>
          </a:xfrm>
          <a:prstGeom prst="ellipse">
            <a:avLst/>
          </a:prstGeom>
          <a:solidFill>
            <a:srgbClr val="E34F26"/>
          </a:solidFill>
          <a:ln/>
        </p:spPr>
      </p:sp>
      <p:sp>
        <p:nvSpPr>
          <p:cNvPr id="31" name="Shape 24"/>
          <p:cNvSpPr/>
          <p:nvPr/>
        </p:nvSpPr>
        <p:spPr>
          <a:xfrm>
            <a:off x="6963156" y="3218688"/>
            <a:ext cx="0" cy="566928"/>
          </a:xfrm>
          <a:prstGeom prst="line">
            <a:avLst/>
          </a:prstGeom>
          <a:noFill/>
          <a:ln w="19050">
            <a:solidFill>
              <a:srgbClr val="3A407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178040" y="2962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178040" y="3200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4.01 — standar stabil dipakai lebih dari satu dekade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903720" y="3813048"/>
            <a:ext cx="128016" cy="128016"/>
          </a:xfrm>
          <a:prstGeom prst="ellipse">
            <a:avLst/>
          </a:prstGeom>
          <a:solidFill>
            <a:srgbClr val="E34F26"/>
          </a:solidFill>
          <a:ln/>
        </p:spPr>
      </p:sp>
      <p:sp>
        <p:nvSpPr>
          <p:cNvPr id="35" name="Shape 28"/>
          <p:cNvSpPr/>
          <p:nvPr/>
        </p:nvSpPr>
        <p:spPr>
          <a:xfrm>
            <a:off x="6963156" y="3968496"/>
            <a:ext cx="0" cy="566928"/>
          </a:xfrm>
          <a:prstGeom prst="line">
            <a:avLst/>
          </a:prstGeom>
          <a:noFill/>
          <a:ln w="19050">
            <a:solidFill>
              <a:srgbClr val="3A407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178040" y="3712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178040" y="39502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awal HTML5 dipublikasikan oleh WHATWG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903720" y="4562856"/>
            <a:ext cx="128016" cy="128016"/>
          </a:xfrm>
          <a:prstGeom prst="ellipse">
            <a:avLst/>
          </a:prstGeom>
          <a:solidFill>
            <a:srgbClr val="E34F26"/>
          </a:solidFill>
          <a:ln/>
        </p:spPr>
      </p:sp>
      <p:sp>
        <p:nvSpPr>
          <p:cNvPr id="39" name="Shape 32"/>
          <p:cNvSpPr/>
          <p:nvPr/>
        </p:nvSpPr>
        <p:spPr>
          <a:xfrm>
            <a:off x="6963156" y="4718304"/>
            <a:ext cx="0" cy="566928"/>
          </a:xfrm>
          <a:prstGeom prst="line">
            <a:avLst/>
          </a:prstGeom>
          <a:noFill/>
          <a:ln w="19050">
            <a:solidFill>
              <a:srgbClr val="3A407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178040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7178040" y="47000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resmi menjadi rekomendasi W3C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6903720" y="5312664"/>
            <a:ext cx="128016" cy="128016"/>
          </a:xfrm>
          <a:prstGeom prst="ellipse">
            <a:avLst/>
          </a:prstGeom>
          <a:solidFill>
            <a:srgbClr val="E34F26"/>
          </a:solidFill>
          <a:ln/>
        </p:spPr>
      </p:sp>
      <p:sp>
        <p:nvSpPr>
          <p:cNvPr id="43" name="Text 36"/>
          <p:cNvSpPr/>
          <p:nvPr/>
        </p:nvSpPr>
        <p:spPr>
          <a:xfrm>
            <a:off x="7178040" y="5212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Kini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7178040" y="54498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Living Standard — terus diperbarui berkelanjutan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3" name="Image 0" descr="/home/claude/html5css3/icons/layer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DASAR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Dokumen HTML5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E34F2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B1F3B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71907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171907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0" name="Shape 7"/>
          <p:cNvSpPr/>
          <p:nvPr/>
        </p:nvSpPr>
        <p:spPr>
          <a:xfrm>
            <a:off x="1280160" y="171907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96596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lang="id"&gt;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content="width=device-width,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initial-scale=1.0"&gt;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&lt;title&gt;Judul Halaman&lt;/title&gt;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&lt;link rel="stylesheet"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href="style.css"&gt;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&lt;h1&gt;Selamat Datang&lt;/h1&gt;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&lt;p&gt;Konten halaman...&lt;/p&gt;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0" y="155448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20840" y="18105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Bagian Penting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20840" y="2286000"/>
            <a:ext cx="4526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&lt;!DOCTYPE html&gt; — mendeklarasikan dokumen sebagai HTML5, wajib di baris pertama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 lang="..."&gt; — elemen akar; atribut lang membantu aksesibilitas &amp; SEO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&lt;meta charset="UTF-8"&gt; — memastikan encoding karakter universal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viewport — kunci utama agar halaman responsif di perangkat mobile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 berisi metadata: title, link CSS, meta tag — tidak tampil di layar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 berisi seluruh konten yang dirender dan terlihat pengguna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3" name="Image 0" descr="/home/claude/html5css3/icons/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 Semantik HTML5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E34F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semantik memberi makna yang jelas pada struktur halaman — baik untuk pengembang, mesin pencari, maupun pembaca layar (screen reader) — dibanding penggunaan &lt;div&gt; generik untuk segalanya.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6035040" cy="4114800"/>
          </a:xfrm>
          <a:prstGeom prst="roundRect">
            <a:avLst>
              <a:gd name="adj" fmla="val 1333"/>
            </a:avLst>
          </a:prstGeom>
          <a:solidFill>
            <a:srgbClr val="FFF3EE"/>
          </a:solidFill>
          <a:ln w="19050">
            <a:solidFill>
              <a:srgbClr val="E34F2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868680" y="2377440"/>
            <a:ext cx="55778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43D1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3774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3063240"/>
            <a:ext cx="5577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43D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0632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3657600"/>
            <a:ext cx="55778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5875">
            <a:solidFill>
              <a:srgbClr val="C43D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97280" y="38862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C43D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38862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749040" y="38862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C43D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38862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97280" y="4800600"/>
            <a:ext cx="51206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43D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4800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8680" y="5715000"/>
            <a:ext cx="5577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43D1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7150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494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atas: logo, judul, deskripsi pembuka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949440" y="2679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Kumpulan tautan navigasi utama situs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949440" y="3255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inti/utama halaman (hanya satu per halaman)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949440" y="38313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mandiri: artikel, postingan blog, berita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949440" y="4407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Pengelompokan konten tematik dalam satu bagian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949440" y="4983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pendukung: sidebar, iklan, info tambahan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949440" y="5559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43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bawah: hak cipta, kontak, tautan terkait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3" name="Image 0" descr="/home/claude/html5css3/icons/wpfo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WEB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&amp; Input Baru di HTML5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E34F2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Tipe Input Baru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2286000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type="email" — memvalidasi format alamat email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type="number" — hanya menerima input berupa angka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type="date" / "time" — menampilkan date &amp; time picker bawaan browser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type="range" — slider untuk memilih nilai dalam rentang tertentu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type="color" — color picker native browser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type="search", "tel", "url" — input khusus dengan keyboard virtual yang sesuai di mobile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 Validasi &amp; UX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2286000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field wajib diisi sebelum form dikirim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teks bantuan sementara di dalam field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— validasi menggunakan regular expression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max, step — batas nilai untuk input number/range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autofocus — otomatis fokus ke field saat halaman dimuat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datalist — menyediakan saran/autocomplete pada input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3" name="Image 0" descr="/home/claude/html5css3/icons/med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&amp; API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Multimedia &amp; Web API HTML5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E34F2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B1F3B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71907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171907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0" name="Shape 7"/>
          <p:cNvSpPr/>
          <p:nvPr/>
        </p:nvSpPr>
        <p:spPr>
          <a:xfrm>
            <a:off x="1280160" y="171907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96596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controls width="400"&gt;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src="film.mp4"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type="video/mp4"&gt;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&lt;/video&gt;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&lt;canvas id="chart"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width="300" height="150"&gt;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&lt;/canvas&gt;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9319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41879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 Multimedia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466344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&lt;audio&gt; &amp; &lt;video&gt; — pemutar media native tanpa plugin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&lt;canvas&gt; — kanvas untuk menggambar grafik &amp; animasi via JavaScript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&lt;svg&gt; — grafik vektor yang dapat diskalakan tanpa pecah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9360" y="155448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B1F3B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18105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PENTING HTML5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29400" y="2331720"/>
            <a:ext cx="502920" cy="50292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18" name="Image 1" descr="/home/claude/html5css3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2452421"/>
            <a:ext cx="261518" cy="26151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2313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Storage API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7269480" y="25877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&amp; sessionStorage untuk menyimpan data di sisi klien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629400" y="3264408"/>
            <a:ext cx="502920" cy="50292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22" name="Image 2" descr="/home/claude/html5css3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101" y="3385109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69480" y="3246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API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269480" y="3520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mendapatkan lokasi geografis pengguna secara real-time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629400" y="4197096"/>
            <a:ext cx="502920" cy="50292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26" name="Image 3" descr="/home/claude/html5css3/icons/rul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317797"/>
            <a:ext cx="261518" cy="26151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69480" y="4178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 API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269480" y="44531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interaksi seret &amp; lepas elemen secara native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629400" y="5129784"/>
            <a:ext cx="502920" cy="50292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30" name="Image 4" descr="/home/claude/html5css3/icons/circle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101" y="5250485"/>
            <a:ext cx="261518" cy="26151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69480" y="51114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Workers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7269480" y="53858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skrip di background thread tanpa blocking UI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2194560"/>
            <a:ext cx="2468880" cy="246888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4" name="Image 0" descr="/home/claude/html5css3/icons/css3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5353" y="2750058"/>
            <a:ext cx="1357884" cy="1357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7223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Menguasai CSS3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 level 3 — kumpulan modul independen yang mengatur tampilan visual: tata letak, warna, tipografi, animasi, hingga desain responsif lintas perangkat.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pal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CSS3?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CSS2 yang merupakan satu spesifikasi tunggal, CSS3 dipecah menjadi banyak modul independen (Selectors, Box Model, Flexbox, Grid, Animations, dll.) yang masing-masing berkembang dan diperbarui secara terpisah — inilah yang membuat CSS3 jauh lebih fleksibel dan powerful.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2542032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10" name="Image 1" descr="/home/claude/html5css3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33" y="2638593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" y="29992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Level 3/4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04672" y="327355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Penargetan elemen yang jauh lebih presisi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438144" y="2377440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02736" y="2542032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15" name="Image 2" descr="/home/claude/html5css3/icons/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297" y="2638593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02736" y="29992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&amp; Sizing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602736" y="327355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box-sizing, padding, border, margin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236208" y="2377440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0" y="2542032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20" name="Image 3" descr="/home/claude/html5css3/icons/griplin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361" y="2638593"/>
            <a:ext cx="209215" cy="20921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0" y="29992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Layout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400800" y="327355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letak satu dimensi yang fleksibel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9034272" y="2377440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98864" y="2542032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25" name="Image 4" descr="/home/claude/html5css3/icons/gr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5425" y="2638593"/>
            <a:ext cx="209215" cy="2092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98864" y="29992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Layout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9198864" y="327355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letak dua dimensi berbasis baris &amp; kolom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40080" y="3822192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04672" y="3986784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0" name="Image 5" descr="/home/claude/html5css3/icons/fo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233" y="4083345"/>
            <a:ext cx="209215" cy="20921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04672" y="44439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&amp; Web Fonts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804672" y="471830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@font-face, line-height, text-shadow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3438144" y="3822192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3602736" y="3986784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5" name="Image 6" descr="/home/claude/html5css3/icons/filldri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9297" y="4083345"/>
            <a:ext cx="209215" cy="20921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602736" y="44439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&amp; Backgrounds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3602736" y="471830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RGBA, HSL, gradient, multiple background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236208" y="3822192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400800" y="3986784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40" name="Image 7" descr="/home/claude/html5css3/icons/vectorsqua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7361" y="4083345"/>
            <a:ext cx="209215" cy="209215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400800" y="44439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&amp; Shadow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6400800" y="471830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border-radius, box-shadow, opacity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9034272" y="3822192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9198864" y="3986784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45" name="Image 8" descr="/home/claude/html5css3/icons/rota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5425" y="4083345"/>
            <a:ext cx="209215" cy="209215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198864" y="44439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Transition</a:t>
            </a:r>
            <a:endParaRPr lang="en-US" sz="1150" dirty="0"/>
          </a:p>
        </p:txBody>
      </p:sp>
      <p:sp>
        <p:nvSpPr>
          <p:cNvPr id="47" name="Text 36"/>
          <p:cNvSpPr/>
          <p:nvPr/>
        </p:nvSpPr>
        <p:spPr>
          <a:xfrm>
            <a:off x="9198864" y="471830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 perubahan bentuk &amp; perpindahan halus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640080" y="5266944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804672" y="5431536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50" name="Image 9" descr="/home/claude/html5css3/icons/fil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233" y="5528097"/>
            <a:ext cx="209215" cy="209215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804672" y="58887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150" dirty="0"/>
          </a:p>
        </p:txBody>
      </p:sp>
      <p:sp>
        <p:nvSpPr>
          <p:cNvPr id="52" name="Text 40"/>
          <p:cNvSpPr/>
          <p:nvPr/>
        </p:nvSpPr>
        <p:spPr>
          <a:xfrm>
            <a:off x="804672" y="616305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untuk animasi kompleks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3438144" y="5266944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3602736" y="5431536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55" name="Image 10" descr="/home/claude/html5css3/icons/mobi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9297" y="5528097"/>
            <a:ext cx="209215" cy="209215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3602736" y="58887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150" dirty="0"/>
          </a:p>
        </p:txBody>
      </p:sp>
      <p:sp>
        <p:nvSpPr>
          <p:cNvPr id="57" name="Text 44"/>
          <p:cNvSpPr/>
          <p:nvPr/>
        </p:nvSpPr>
        <p:spPr>
          <a:xfrm>
            <a:off x="3602736" y="616305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Adaptasi tampilan di berbagai ukuran layar</a:t>
            </a:r>
            <a:endParaRPr lang="en-US" sz="900" dirty="0"/>
          </a:p>
        </p:txBody>
      </p:sp>
      <p:sp>
        <p:nvSpPr>
          <p:cNvPr id="58" name="Shape 45"/>
          <p:cNvSpPr/>
          <p:nvPr/>
        </p:nvSpPr>
        <p:spPr>
          <a:xfrm>
            <a:off x="6236208" y="5266944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9" name="Shape 46"/>
          <p:cNvSpPr/>
          <p:nvPr/>
        </p:nvSpPr>
        <p:spPr>
          <a:xfrm>
            <a:off x="6400800" y="5431536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60" name="Image 11" descr="/home/claude/html5css3/icons/slider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7361" y="5528097"/>
            <a:ext cx="209215" cy="209215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6400800" y="58887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</a:t>
            </a:r>
            <a:endParaRPr lang="en-US" sz="1150" dirty="0"/>
          </a:p>
        </p:txBody>
      </p:sp>
      <p:sp>
        <p:nvSpPr>
          <p:cNvPr id="62" name="Text 48"/>
          <p:cNvSpPr/>
          <p:nvPr/>
        </p:nvSpPr>
        <p:spPr>
          <a:xfrm>
            <a:off x="6400800" y="616305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CSS (--nama-variabel)</a:t>
            </a:r>
            <a:endParaRPr lang="en-US" sz="900" dirty="0"/>
          </a:p>
        </p:txBody>
      </p:sp>
      <p:sp>
        <p:nvSpPr>
          <p:cNvPr id="63" name="Shape 49"/>
          <p:cNvSpPr/>
          <p:nvPr/>
        </p:nvSpPr>
        <p:spPr>
          <a:xfrm>
            <a:off x="9034272" y="5266944"/>
            <a:ext cx="268833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64" name="Shape 50"/>
          <p:cNvSpPr/>
          <p:nvPr/>
        </p:nvSpPr>
        <p:spPr>
          <a:xfrm>
            <a:off x="9198864" y="5431536"/>
            <a:ext cx="402336" cy="402336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65" name="Image 12" descr="/home/claude/html5css3/icons/layergrou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95425" y="5528097"/>
            <a:ext cx="209215" cy="209215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9198864" y="58887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Multi-column Layout</a:t>
            </a:r>
            <a:endParaRPr lang="en-US" sz="1150" dirty="0"/>
          </a:p>
        </p:txBody>
      </p:sp>
      <p:sp>
        <p:nvSpPr>
          <p:cNvPr id="67" name="Text 52"/>
          <p:cNvSpPr/>
          <p:nvPr/>
        </p:nvSpPr>
        <p:spPr>
          <a:xfrm>
            <a:off x="9198864" y="616305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letak berbasis kolom seperti koran</a:t>
            </a:r>
            <a:endParaRPr lang="en-US" sz="900" dirty="0"/>
          </a:p>
        </p:txBody>
      </p:sp>
      <p:sp>
        <p:nvSpPr>
          <p:cNvPr id="68" name="Text 5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69" name="Text 5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CSS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 CSS3 Tingkat Lanjut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70078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17007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&gt; li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" y="2139696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 anak langsung — memilih &lt;li&gt; yang merupakan anak langsung dari &lt;nav&gt;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688336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283464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28346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~ span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4672" y="3273552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sibling — memilih semua &lt;span&gt; setelah &lt;p&gt; pada level sama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3822192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3968496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39684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a:hover, a:focus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04672" y="4407408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 — gaya saat elemen dalam kondisi interaksi tertentu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4956048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" y="5102352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" y="51023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li:nth-child(2n)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04672" y="5541264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elemen berdasarkan urutan/posisi (misal baris genap)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355080" y="1554480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19672" y="170078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</p:sp>
      <p:sp>
        <p:nvSpPr>
          <p:cNvPr id="25" name="Text 22"/>
          <p:cNvSpPr/>
          <p:nvPr/>
        </p:nvSpPr>
        <p:spPr>
          <a:xfrm>
            <a:off x="6519672" y="17007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input:checked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519672" y="2139696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elemen berdasarkan state (checkbox/radio tercentang)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355080" y="2688336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19672" y="283464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</p:sp>
      <p:sp>
        <p:nvSpPr>
          <p:cNvPr id="29" name="Text 26"/>
          <p:cNvSpPr/>
          <p:nvPr/>
        </p:nvSpPr>
        <p:spPr>
          <a:xfrm>
            <a:off x="6519672" y="28346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p::first-line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519672" y="3273552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Pseudo-element — menargetkan bagian spesifik dari elemen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355080" y="3822192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19672" y="3968496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</p:sp>
      <p:sp>
        <p:nvSpPr>
          <p:cNvPr id="33" name="Text 30"/>
          <p:cNvSpPr/>
          <p:nvPr/>
        </p:nvSpPr>
        <p:spPr>
          <a:xfrm>
            <a:off x="6519672" y="39684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[type="email"]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519672" y="4407408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selector — memilih elemen berdasarkan atribut &amp; nilainya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55080" y="4956048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19672" y="5102352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</p:sp>
      <p:sp>
        <p:nvSpPr>
          <p:cNvPr id="37" name="Text 34"/>
          <p:cNvSpPr/>
          <p:nvPr/>
        </p:nvSpPr>
        <p:spPr>
          <a:xfrm>
            <a:off x="6519672" y="51023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div:not(.active)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519672" y="5541264"/>
            <a:ext cx="5065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— memilih elemen yang TIDAK memenuhi kondisi tertentu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CSS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 &amp; box-sizing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691640"/>
            <a:ext cx="5120640" cy="4297680"/>
          </a:xfrm>
          <a:prstGeom prst="rect">
            <a:avLst/>
          </a:prstGeom>
          <a:solidFill>
            <a:srgbClr val="FDF1D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465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280160" y="2068830"/>
            <a:ext cx="4114800" cy="3543300"/>
          </a:xfrm>
          <a:prstGeom prst="rect">
            <a:avLst/>
          </a:prstGeom>
          <a:solidFill>
            <a:srgbClr val="F4CE8E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212369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91640" y="2377440"/>
            <a:ext cx="3291840" cy="2926080"/>
          </a:xfrm>
          <a:prstGeom prst="rect">
            <a:avLst/>
          </a:prstGeom>
          <a:solidFill>
            <a:srgbClr val="BFE3D0"/>
          </a:solidFill>
          <a:ln/>
        </p:spPr>
      </p:sp>
      <p:sp>
        <p:nvSpPr>
          <p:cNvPr id="12" name="Text 9"/>
          <p:cNvSpPr/>
          <p:nvPr/>
        </p:nvSpPr>
        <p:spPr>
          <a:xfrm>
            <a:off x="1783080" y="2432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94560" y="3017520"/>
            <a:ext cx="2286000" cy="1645920"/>
          </a:xfrm>
          <a:prstGeom prst="rect">
            <a:avLst/>
          </a:prstGeom>
          <a:solidFill>
            <a:srgbClr val="1572B6"/>
          </a:solidFill>
          <a:ln/>
        </p:spPr>
      </p:sp>
      <p:sp>
        <p:nvSpPr>
          <p:cNvPr id="14" name="Text 11"/>
          <p:cNvSpPr/>
          <p:nvPr/>
        </p:nvSpPr>
        <p:spPr>
          <a:xfrm>
            <a:off x="2194560" y="36758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1691640"/>
            <a:ext cx="530352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83680" y="19476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Urutan dari Dalam ke Luar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83680" y="242316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— area tempat teks/gambar tampil, diatur width &amp; height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— jarak/ruang antara content dan border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— garis pembatas yang mengelilingi padding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— jarak antara border dengan elemen di luarnya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63640" y="393192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1B1F3B"/>
          </a:solidFill>
          <a:ln/>
        </p:spPr>
      </p:sp>
      <p:sp>
        <p:nvSpPr>
          <p:cNvPr id="19" name="Shape 16"/>
          <p:cNvSpPr/>
          <p:nvPr/>
        </p:nvSpPr>
        <p:spPr>
          <a:xfrm>
            <a:off x="6464808" y="409651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20" name="Shape 17"/>
          <p:cNvSpPr/>
          <p:nvPr/>
        </p:nvSpPr>
        <p:spPr>
          <a:xfrm>
            <a:off x="6684264" y="409651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21" name="Shape 18"/>
          <p:cNvSpPr/>
          <p:nvPr/>
        </p:nvSpPr>
        <p:spPr>
          <a:xfrm>
            <a:off x="6903720" y="409651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43434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300px; padding: 20px;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2px solid #1572B6;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object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CSS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Property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display menentukan bagaimana sebuah elemen diperlakukan dalam alur tata letak (layout flow) — ini adalah salah satu properti CSS paling fundamental.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26883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2267712"/>
            <a:ext cx="2359152" cy="365760"/>
          </a:xfrm>
          <a:prstGeom prst="roundRect">
            <a:avLst>
              <a:gd name="adj" fmla="val 12500"/>
            </a:avLst>
          </a:prstGeom>
          <a:solidFill>
            <a:srgbClr val="1B1F3B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26771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" y="2724912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mulai di baris baru, mengisi lebar penuh yang tersedia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4672" y="39319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div, p, h1, section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38144" y="2103120"/>
            <a:ext cx="26883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02736" y="2267712"/>
            <a:ext cx="2359152" cy="365760"/>
          </a:xfrm>
          <a:prstGeom prst="roundRect">
            <a:avLst>
              <a:gd name="adj" fmla="val 12500"/>
            </a:avLst>
          </a:prstGeom>
          <a:solidFill>
            <a:srgbClr val="1B1F3B"/>
          </a:solidFill>
          <a:ln/>
        </p:spPr>
      </p:sp>
      <p:sp>
        <p:nvSpPr>
          <p:cNvPr id="15" name="Text 12"/>
          <p:cNvSpPr/>
          <p:nvPr/>
        </p:nvSpPr>
        <p:spPr>
          <a:xfrm>
            <a:off x="3602736" y="226771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02736" y="2724912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Mengalir mengikuti teks, tidak bisa diatur width/height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602736" y="39319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span, a, strong, em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36208" y="2103120"/>
            <a:ext cx="26883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2267712"/>
            <a:ext cx="2359152" cy="365760"/>
          </a:xfrm>
          <a:prstGeom prst="roundRect">
            <a:avLst>
              <a:gd name="adj" fmla="val 12500"/>
            </a:avLst>
          </a:prstGeom>
          <a:solidFill>
            <a:srgbClr val="1B1F3B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226771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inline-block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2724912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Mengalir seperti inline namun width/height bisa diatur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0" y="39319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img, button, input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034272" y="2103120"/>
            <a:ext cx="26883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98864" y="2267712"/>
            <a:ext cx="2359152" cy="365760"/>
          </a:xfrm>
          <a:prstGeom prst="roundRect">
            <a:avLst>
              <a:gd name="adj" fmla="val 12500"/>
            </a:avLst>
          </a:prstGeom>
          <a:solidFill>
            <a:srgbClr val="1B1F3B"/>
          </a:solidFill>
          <a:ln/>
        </p:spPr>
      </p:sp>
      <p:sp>
        <p:nvSpPr>
          <p:cNvPr id="25" name="Text 22"/>
          <p:cNvSpPr/>
          <p:nvPr/>
        </p:nvSpPr>
        <p:spPr>
          <a:xfrm>
            <a:off x="9198864" y="226771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198864" y="2724912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dihilangkan sepenuhnya dari layout (tak memakan ruang)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198864" y="39319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dipakai lewat JS/CSS toggle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617720"/>
            <a:ext cx="10927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60120" y="4873752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Penting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60120" y="53492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dan display: grid mengubah elemen menjadi container flex/grid sekaligus tetap berperilaku seperti block pada elemen di sekitarnya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visibility: hidden menyembunyikan elemen namun ruangnya tetap dipertahankan — berbeda dengan display: none yang menghapus ruang sepenuhnya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crosshai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CSS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Positioning: Mengatur Posisi Elemen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1B1F3B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71907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171907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0" name="Shape 7"/>
          <p:cNvSpPr/>
          <p:nvPr/>
        </p:nvSpPr>
        <p:spPr>
          <a:xfrm>
            <a:off x="1280160" y="171907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96596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.tooltip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relative;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.tooltip .bubble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absolute;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-8px; left: 50%;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translateX(-50%);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z-index: 10;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43434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45994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z-index &amp; Stacking Context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5074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z-index hanya berlaku pada elemen dengan position selain static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lebih besar tampil lebih di atas dalam stacking order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elemen positioned membentuk stacking context baru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03520" cy="4937760"/>
          </a:xfrm>
          <a:prstGeom prst="roundRect">
            <a:avLst>
              <a:gd name="adj" fmla="val 1852"/>
            </a:avLst>
          </a:prstGeom>
          <a:solidFill>
            <a:srgbClr val="1B1F3B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0" y="17830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4A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POSITION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0" y="2240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83680" y="2514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mengikuti alur normal dokumen, top/left/right/bottom tidak berpengaruh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0" y="3081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0" y="33558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mengikuti alur normal, namun bisa digeser dari posisi aslinya via top/left/right/bottom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58368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absolute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0" y="41970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Dilepas dari alur normal, posisi relatif terhadap ancestor terdekat yang positioned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83680" y="47640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83680" y="50383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Dilepas dari alur normal, posisi relatif terhadap viewport — tetap di tempat saat scroll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83680" y="56052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sticky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583680" y="5879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relative &amp; fixed — menempel pada posisi tertentu saat scroll melewati ambang batas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grip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CSS3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Flexbox: Tata Letak Satu Dimensi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mengatur elemen dalam satu baris (row) atau satu kolom (column), sangat ideal untuk navbar, kartu sejajar, dan penataan konten secara proporsional.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B1F3B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222199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222199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1" name="Shape 8"/>
          <p:cNvSpPr/>
          <p:nvPr/>
        </p:nvSpPr>
        <p:spPr>
          <a:xfrm>
            <a:off x="1280160" y="222199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4688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16px;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1148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EAF3FB"/>
          </a:solidFill>
          <a:ln w="12700">
            <a:solidFill>
              <a:srgbClr val="1572B6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777240" y="4297680"/>
            <a:ext cx="1005840" cy="594360"/>
          </a:xfrm>
          <a:prstGeom prst="roundRect">
            <a:avLst>
              <a:gd name="adj" fmla="val 7692"/>
            </a:avLst>
          </a:prstGeom>
          <a:solidFill>
            <a:srgbClr val="1572B6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297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flex-item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148840" y="4297680"/>
            <a:ext cx="1005840" cy="594360"/>
          </a:xfrm>
          <a:prstGeom prst="roundRect">
            <a:avLst>
              <a:gd name="adj" fmla="val 7692"/>
            </a:avLst>
          </a:prstGeom>
          <a:solidFill>
            <a:srgbClr val="1572B6"/>
          </a:solidFill>
          <a:ln/>
        </p:spPr>
      </p:sp>
      <p:sp>
        <p:nvSpPr>
          <p:cNvPr id="17" name="Text 14"/>
          <p:cNvSpPr/>
          <p:nvPr/>
        </p:nvSpPr>
        <p:spPr>
          <a:xfrm>
            <a:off x="2148840" y="4297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flex-item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520440" y="4297680"/>
            <a:ext cx="1005840" cy="594360"/>
          </a:xfrm>
          <a:prstGeom prst="roundRect">
            <a:avLst>
              <a:gd name="adj" fmla="val 7692"/>
            </a:avLst>
          </a:prstGeom>
          <a:solidFill>
            <a:srgbClr val="1572B6"/>
          </a:solidFill>
          <a:ln/>
        </p:spPr>
      </p:sp>
      <p:sp>
        <p:nvSpPr>
          <p:cNvPr id="19" name="Text 16"/>
          <p:cNvSpPr/>
          <p:nvPr/>
        </p:nvSpPr>
        <p:spPr>
          <a:xfrm>
            <a:off x="3520440" y="4297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flex-item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92040" y="4297680"/>
            <a:ext cx="1005840" cy="594360"/>
          </a:xfrm>
          <a:prstGeom prst="roundRect">
            <a:avLst>
              <a:gd name="adj" fmla="val 7692"/>
            </a:avLst>
          </a:prstGeom>
          <a:solidFill>
            <a:srgbClr val="1572B6"/>
          </a:solidFill>
          <a:ln/>
        </p:spPr>
      </p:sp>
      <p:sp>
        <p:nvSpPr>
          <p:cNvPr id="21" name="Text 18"/>
          <p:cNvSpPr/>
          <p:nvPr/>
        </p:nvSpPr>
        <p:spPr>
          <a:xfrm>
            <a:off x="4892040" y="4297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flex-item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263640" y="205740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83680" y="2313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 Kunci Flexbox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83680" y="2788920"/>
            <a:ext cx="4663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— mengaktifkan flex container pada elemen induk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 — arah item: row, column, row-reverse, column-reverse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— perataan item sepanjang sumbu utama (main axis)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 — perataan item sepanjang sumbu silang (cross axis)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flex-wrap — mengizinkan item pindah baris saat ruang tidak cukup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jarak seragam antar item tanpa margin manual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flex-grow / flex-shrink / flex-basis — mengatur proporsi ukuran tiap item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CSS3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Grid: Tata Letak Dua Dimensi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mengatur elemen dalam baris DAN kolom sekaligus — pilihan terbaik untuk struktur halaman kompleks seperti dashboard, galeri, dan majalah digital.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F3B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222199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222199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1" name="Shape 8"/>
          <p:cNvSpPr/>
          <p:nvPr/>
        </p:nvSpPr>
        <p:spPr>
          <a:xfrm>
            <a:off x="1280160" y="222199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4688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.layout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250px 1fr 1fr;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grid-template-rows: auto 1fr;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434840"/>
            <a:ext cx="1437437" cy="626364"/>
          </a:xfrm>
          <a:prstGeom prst="roundRect">
            <a:avLst>
              <a:gd name="adj" fmla="val 7299"/>
            </a:avLst>
          </a:prstGeom>
          <a:solidFill>
            <a:srgbClr val="4AA3E0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434840"/>
            <a:ext cx="1437437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50669" y="4434840"/>
            <a:ext cx="1869034" cy="626364"/>
          </a:xfrm>
          <a:prstGeom prst="roundRect">
            <a:avLst>
              <a:gd name="adj" fmla="val 7299"/>
            </a:avLst>
          </a:prstGeom>
          <a:solidFill>
            <a:srgbClr val="BBD9F2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50669" y="4434840"/>
            <a:ext cx="186903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092854" y="4434840"/>
            <a:ext cx="1777594" cy="626364"/>
          </a:xfrm>
          <a:prstGeom prst="roundRect">
            <a:avLst>
              <a:gd name="adj" fmla="val 7299"/>
            </a:avLst>
          </a:prstGeom>
          <a:solidFill>
            <a:srgbClr val="BBD9F2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92854" y="4434840"/>
            <a:ext cx="177759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" y="5134356"/>
            <a:ext cx="1437437" cy="626364"/>
          </a:xfrm>
          <a:prstGeom prst="roundRect">
            <a:avLst>
              <a:gd name="adj" fmla="val 7299"/>
            </a:avLst>
          </a:prstGeom>
          <a:solidFill>
            <a:srgbClr val="4AA3E0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134356"/>
            <a:ext cx="1437437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150669" y="5134356"/>
            <a:ext cx="1869034" cy="626364"/>
          </a:xfrm>
          <a:prstGeom prst="roundRect">
            <a:avLst>
              <a:gd name="adj" fmla="val 7299"/>
            </a:avLst>
          </a:prstGeom>
          <a:solidFill>
            <a:srgbClr val="D9E9F7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50669" y="5134356"/>
            <a:ext cx="186903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092854" y="5134356"/>
            <a:ext cx="1777594" cy="626364"/>
          </a:xfrm>
          <a:prstGeom prst="roundRect">
            <a:avLst>
              <a:gd name="adj" fmla="val 7299"/>
            </a:avLst>
          </a:prstGeom>
          <a:solidFill>
            <a:srgbClr val="D9E9F7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92854" y="5134356"/>
            <a:ext cx="177759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63640" y="205740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583680" y="2313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 Kunci CSS Grid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583680" y="2788920"/>
            <a:ext cx="4663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grid — mengaktifkan grid container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grid-template-columns/rows — mendefinisikan ukuran kolom &amp; baris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unit — unit fraksi untuk membagi ruang tersisa secara proporsional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grid-gap / gap — jarak antar sel grid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 / grid-row — menentukan posisi &amp; rentang sebuah item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grid-template-areas — mendefinisikan layout dengan nama area yang mudah dibaca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repeat() &amp; minmax() — mempermudah pembuatan grid responsif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colum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CSS3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Multi-column Layout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Multi-column memecah konten teks panjang menjadi beberapa kolom secara otomatis, mirip tata letak koran atau majalah — tanpa perlu markup tambahan.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B1F3B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222199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222199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1" name="Shape 8"/>
          <p:cNvSpPr/>
          <p:nvPr/>
        </p:nvSpPr>
        <p:spPr>
          <a:xfrm>
            <a:off x="1280160" y="222199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468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.article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column-count: 3;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column-gap: 32px;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column-rule: 1px solid #ddd;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.judul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column-span: all;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434840"/>
            <a:ext cx="5394960" cy="320040"/>
          </a:xfrm>
          <a:prstGeom prst="roundRect">
            <a:avLst>
              <a:gd name="adj" fmla="val 11429"/>
            </a:avLst>
          </a:prstGeom>
          <a:solidFill>
            <a:srgbClr val="1572B6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434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(column-span: all)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4892040"/>
            <a:ext cx="1688592" cy="1143000"/>
          </a:xfrm>
          <a:prstGeom prst="roundRect">
            <a:avLst>
              <a:gd name="adj" fmla="val 3200"/>
            </a:avLst>
          </a:prstGeom>
          <a:solidFill>
            <a:srgbClr val="EAF3FB"/>
          </a:solidFill>
          <a:ln w="9525">
            <a:solidFill>
              <a:srgbClr val="1572B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5029200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17" name="Shape 14"/>
          <p:cNvSpPr/>
          <p:nvPr/>
        </p:nvSpPr>
        <p:spPr>
          <a:xfrm>
            <a:off x="749808" y="5248656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468112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19" name="Shape 16"/>
          <p:cNvSpPr/>
          <p:nvPr/>
        </p:nvSpPr>
        <p:spPr>
          <a:xfrm>
            <a:off x="749808" y="5687568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20" name="Shape 17"/>
          <p:cNvSpPr/>
          <p:nvPr/>
        </p:nvSpPr>
        <p:spPr>
          <a:xfrm>
            <a:off x="2493264" y="4892040"/>
            <a:ext cx="1688592" cy="1143000"/>
          </a:xfrm>
          <a:prstGeom prst="roundRect">
            <a:avLst>
              <a:gd name="adj" fmla="val 3200"/>
            </a:avLst>
          </a:prstGeom>
          <a:solidFill>
            <a:srgbClr val="EAF3FB"/>
          </a:solidFill>
          <a:ln w="9525">
            <a:solidFill>
              <a:srgbClr val="1572B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602992" y="5029200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22" name="Shape 19"/>
          <p:cNvSpPr/>
          <p:nvPr/>
        </p:nvSpPr>
        <p:spPr>
          <a:xfrm>
            <a:off x="2602992" y="5248656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23" name="Shape 20"/>
          <p:cNvSpPr/>
          <p:nvPr/>
        </p:nvSpPr>
        <p:spPr>
          <a:xfrm>
            <a:off x="2602992" y="5468112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24" name="Shape 21"/>
          <p:cNvSpPr/>
          <p:nvPr/>
        </p:nvSpPr>
        <p:spPr>
          <a:xfrm>
            <a:off x="2602992" y="5687568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25" name="Shape 22"/>
          <p:cNvSpPr/>
          <p:nvPr/>
        </p:nvSpPr>
        <p:spPr>
          <a:xfrm>
            <a:off x="4346448" y="4892040"/>
            <a:ext cx="1688592" cy="1143000"/>
          </a:xfrm>
          <a:prstGeom prst="roundRect">
            <a:avLst>
              <a:gd name="adj" fmla="val 3200"/>
            </a:avLst>
          </a:prstGeom>
          <a:solidFill>
            <a:srgbClr val="EAF3FB"/>
          </a:solidFill>
          <a:ln w="9525">
            <a:solidFill>
              <a:srgbClr val="1572B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56176" y="5029200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27" name="Shape 24"/>
          <p:cNvSpPr/>
          <p:nvPr/>
        </p:nvSpPr>
        <p:spPr>
          <a:xfrm>
            <a:off x="4456176" y="5248656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28" name="Shape 25"/>
          <p:cNvSpPr/>
          <p:nvPr/>
        </p:nvSpPr>
        <p:spPr>
          <a:xfrm>
            <a:off x="4456176" y="5468112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29" name="Shape 26"/>
          <p:cNvSpPr/>
          <p:nvPr/>
        </p:nvSpPr>
        <p:spPr>
          <a:xfrm>
            <a:off x="4456176" y="5687568"/>
            <a:ext cx="1469136" cy="73152"/>
          </a:xfrm>
          <a:prstGeom prst="rect">
            <a:avLst/>
          </a:prstGeom>
          <a:solidFill>
            <a:srgbClr val="BBD9F2"/>
          </a:solidFill>
          <a:ln/>
        </p:spPr>
      </p:sp>
      <p:sp>
        <p:nvSpPr>
          <p:cNvPr id="30" name="Shape 27"/>
          <p:cNvSpPr/>
          <p:nvPr/>
        </p:nvSpPr>
        <p:spPr>
          <a:xfrm>
            <a:off x="6263640" y="2057400"/>
            <a:ext cx="53035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583680" y="2313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 Kunci Multi-column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83680" y="27889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column-count — jumlah kolom yang diinginkan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column-width — lebar ideal tiap kolom (browser menyesuaikan jumlah)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column-gap — jarak antar kolom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column-rule — garis pemisah antar kolom (mirip border)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column-span: all — elemen (misal judul) melintasi semua kolom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break-inside: avoid — mencegah satu blok konten terpotong antar kolom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f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CSS3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Tipografi &amp; Web Font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B1F3B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71907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171907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0" name="Shape 7"/>
          <p:cNvSpPr/>
          <p:nvPr/>
        </p:nvSpPr>
        <p:spPr>
          <a:xfrm>
            <a:off x="1280160" y="171907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@font-face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"Poppins";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src: url("poppins.woff2")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format("woff2");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"Poppins", sans-serif;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text-shadow: 2px 2px 4px #0004;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443484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46908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 Umum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5166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font-family, font-size, font-weight, line-height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letter-spacing &amp; word-spacing untuk jarak antar karakter/kata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text-transform, text-decoration, text-align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1B1F3B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0" y="18105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4A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FONTS LEVEL 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0" y="2286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@font-face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83680" y="2560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Menyematkan font kustom (bukan hanya font sistem)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83680" y="3008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line-height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0" y="328269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jarak antar baris teks untuk keterbacaan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83680" y="3730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text-shadow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0" y="40050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bayangan pada teks (x, y, blur, warna)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583680" y="44531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word-wrap / overflow-wrap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83680" y="47274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Memaksa teks panjang membungkus baris baru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83680" y="51755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font-display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583680" y="544982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perilaku render selama font kustom dimuat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filld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CSS3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Warna &amp; Background Modern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2578608" cy="1234440"/>
          </a:xfrm>
          <a:prstGeom prst="roundRect">
            <a:avLst>
              <a:gd name="adj" fmla="val 5926"/>
            </a:avLst>
          </a:prstGeom>
          <a:solidFill>
            <a:srgbClr val="1572B6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#1572B6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01568" y="1554480"/>
            <a:ext cx="2578608" cy="1234440"/>
          </a:xfrm>
          <a:prstGeom prst="roundRect">
            <a:avLst>
              <a:gd name="adj" fmla="val 5926"/>
            </a:avLst>
          </a:prstGeom>
          <a:solidFill>
            <a:srgbClr val="2B7FC1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6616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rgb(21,114,182)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63056" y="1554480"/>
            <a:ext cx="2578608" cy="1234440"/>
          </a:xfrm>
          <a:prstGeom prst="roundRect">
            <a:avLst>
              <a:gd name="adj" fmla="val 5926"/>
            </a:avLst>
          </a:prstGeom>
          <a:solidFill>
            <a:srgbClr val="5B9BD5"/>
          </a:solidFill>
          <a:ln/>
        </p:spPr>
      </p:sp>
      <p:sp>
        <p:nvSpPr>
          <p:cNvPr id="14" name="Text 11"/>
          <p:cNvSpPr/>
          <p:nvPr/>
        </p:nvSpPr>
        <p:spPr>
          <a:xfrm>
            <a:off x="6327648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27648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rgba(21,114,182,.6)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924544" y="1554480"/>
            <a:ext cx="2578608" cy="1234440"/>
          </a:xfrm>
          <a:prstGeom prst="roundRect">
            <a:avLst>
              <a:gd name="adj" fmla="val 5926"/>
            </a:avLst>
          </a:prstGeom>
          <a:solidFill>
            <a:srgbClr val="1B6AA6"/>
          </a:solidFill>
          <a:ln/>
        </p:spPr>
      </p:sp>
      <p:sp>
        <p:nvSpPr>
          <p:cNvPr id="17" name="Text 14"/>
          <p:cNvSpPr/>
          <p:nvPr/>
        </p:nvSpPr>
        <p:spPr>
          <a:xfrm>
            <a:off x="9089136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089136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hsl(205,79%,40%)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0080" y="3017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mendukung linear-gradient &amp; radial-gradient untuk transisi warna yang halus: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33832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B1F3B"/>
          </a:solidFill>
          <a:ln/>
        </p:spPr>
      </p:sp>
      <p:sp>
        <p:nvSpPr>
          <p:cNvPr id="21" name="Shape 18"/>
          <p:cNvSpPr/>
          <p:nvPr/>
        </p:nvSpPr>
        <p:spPr>
          <a:xfrm>
            <a:off x="841248" y="354787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22" name="Shape 19"/>
          <p:cNvSpPr/>
          <p:nvPr/>
        </p:nvSpPr>
        <p:spPr>
          <a:xfrm>
            <a:off x="1060704" y="354787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23" name="Shape 20"/>
          <p:cNvSpPr/>
          <p:nvPr/>
        </p:nvSpPr>
        <p:spPr>
          <a:xfrm>
            <a:off x="1280160" y="354787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3794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linear-gradient(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135deg, #E34F26, #1572B6);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radial-gradient(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circle, #fff, #1572B6);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263640" y="338328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E34F26"/>
          </a:solidFill>
          <a:ln/>
        </p:spPr>
      </p:sp>
      <p:sp>
        <p:nvSpPr>
          <p:cNvPr id="26" name="Shape 23"/>
          <p:cNvSpPr/>
          <p:nvPr/>
        </p:nvSpPr>
        <p:spPr>
          <a:xfrm>
            <a:off x="6263640" y="338328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1572B6">
              <a:alpha val="65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263640" y="338328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linear-gradient(135deg, orange → blue)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" y="5166360"/>
            <a:ext cx="109270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60120" y="5422392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Lanjutan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60120" y="5897880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background — beberapa gambar/warna ditumpuk dalam satu elemen  •  background-size: cover/contain — mengatur skala gambar  •  background-blend-mode — mencampur lapisan background secara visual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vector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CSS3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 Radius &amp; Box Shadow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0432" y="1874520"/>
            <a:ext cx="1463040" cy="1005840"/>
          </a:xfrm>
          <a:prstGeom prst="roundRect">
            <a:avLst>
              <a:gd name="adj" fmla="val 16364"/>
            </a:avLst>
          </a:prstGeom>
          <a:solidFill>
            <a:srgbClr val="1572B6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035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33101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16px;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55848" y="1554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86200" y="187452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93008" y="3035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493008" y="33101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box-shadow: 0 8px 20px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rgba(0,0,0,.25);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71616" y="1554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01968" y="1874520"/>
            <a:ext cx="1005840" cy="1005840"/>
          </a:xfrm>
          <a:prstGeom prst="ellipse">
            <a:avLst/>
          </a:prstGeom>
          <a:solidFill>
            <a:srgbClr val="E34F26"/>
          </a:solidFill>
          <a:ln/>
        </p:spPr>
      </p:sp>
      <p:sp>
        <p:nvSpPr>
          <p:cNvPr id="17" name="Text 14"/>
          <p:cNvSpPr/>
          <p:nvPr/>
        </p:nvSpPr>
        <p:spPr>
          <a:xfrm>
            <a:off x="6208776" y="3035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(50%)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208776" y="33101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50%;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787384" y="1554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17736" y="1874520"/>
            <a:ext cx="1463040" cy="1005840"/>
          </a:xfrm>
          <a:prstGeom prst="roundRect">
            <a:avLst>
              <a:gd name="adj" fmla="val 4545"/>
            </a:avLst>
          </a:prstGeom>
          <a:solidFill>
            <a:srgbClr val="EAF3FB"/>
          </a:solidFill>
          <a:ln w="38100">
            <a:solidFill>
              <a:srgbClr val="1572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24544" y="3035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+ opacity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924544" y="33101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3px solid #1572B6;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0.85;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40080" y="4023360"/>
            <a:ext cx="109270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60120" y="4279392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 Detail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60120" y="4754880"/>
            <a:ext cx="10287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 menerima 1–4 nilai untuk mengatur tiap sudut secara independen, serta persentase (50%) untuk membentuk lingkaran/elips sempurna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box-shadow: offset-x offset-y blur-radius spread-radius warna — dapat ditumpuk beberapa shadow sekaligus dipisah koma, tambahkan "inset" untuk shadow ke dalam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 mengatur transparansi seluruh elemen (0 = tak terlihat, 1 = penuh) — berbeda dari rgba yang hanya mempengaruhi satu properti warna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— mirip border namun tidak memengaruhi ukuran box dan tidak mengikuti border-radius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ro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 VISUAL CSS3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&amp; Transition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mengubah bentuk/posisi elemen secara instan, sedangkan transition membuat perubahan properti CSS terjadi secara halus dalam durasi tertentu.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B1F3B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222199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222199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1" name="Shape 8"/>
          <p:cNvSpPr/>
          <p:nvPr/>
        </p:nvSpPr>
        <p:spPr>
          <a:xfrm>
            <a:off x="1280160" y="222199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4688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transform 0.3s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ease-in-out;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.button:hover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scale(1.1)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rotate(3deg);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572000"/>
            <a:ext cx="1005840" cy="914400"/>
          </a:xfrm>
          <a:prstGeom prst="roundRect">
            <a:avLst>
              <a:gd name="adj" fmla="val 5000"/>
            </a:avLst>
          </a:prstGeom>
          <a:solidFill>
            <a:srgbClr val="1572B6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translate()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 rot="1200000">
            <a:off x="2011680" y="4572000"/>
            <a:ext cx="1005840" cy="914400"/>
          </a:xfrm>
          <a:prstGeom prst="roundRect">
            <a:avLst>
              <a:gd name="adj" fmla="val 5000"/>
            </a:avLst>
          </a:prstGeom>
          <a:solidFill>
            <a:srgbClr val="1572B6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0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rotate()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83280" y="4572000"/>
            <a:ext cx="1005840" cy="914400"/>
          </a:xfrm>
          <a:prstGeom prst="roundRect">
            <a:avLst>
              <a:gd name="adj" fmla="val 5000"/>
            </a:avLst>
          </a:prstGeom>
          <a:solidFill>
            <a:srgbClr val="1572B6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0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scale()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54880" y="4572000"/>
            <a:ext cx="1005840" cy="914400"/>
          </a:xfrm>
          <a:prstGeom prst="roundRect">
            <a:avLst>
              <a:gd name="adj" fmla="val 5000"/>
            </a:avLst>
          </a:prstGeom>
          <a:solidFill>
            <a:srgbClr val="1572B6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0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skew()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63640" y="205740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583680" y="2313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&amp; Properti Kunci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83680" y="2788920"/>
            <a:ext cx="4663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translate(x,y) — memindahkan posisi elemen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rotate(deg) — memutar elemen sesuai sudut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scale(n) — memperbesar/memperkecil ukuran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skew(deg) — memiringkan elemen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transition-property, duration, timing-function, delay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timing-function: ease, linear, ease-in-out, cubic-bezier()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transform-origin — menentukan titik pusat transformasi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 VISUAL CSS3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Animasi dengan @keyframes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1B1F3B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71907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171907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0" name="Shape 7"/>
          <p:cNvSpPr/>
          <p:nvPr/>
        </p:nvSpPr>
        <p:spPr>
          <a:xfrm>
            <a:off x="1280160" y="171907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96596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bounce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0%   { transform: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translateY(0);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50%  { transform: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translateY(-30px);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100% { transform: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translateY(0);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.ball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bounce 1s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infinite ease-in-out;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0" y="155448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20840" y="18105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 Animasi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20840" y="2286000"/>
            <a:ext cx="4526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— mendefinisikan tahapan animasi (0% hingga 100%)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animation-name — nama keyframes yang digunakan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animation-duration — lama satu siklus animasi berjalan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animation-timing-function — kurva kecepatan animasi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animation-iteration-count — jumlah pengulangan (angka atau infinite)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animation-direction — arah animasi: normal, reverse, alternate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animation-fill-mode — kondisi elemen sebelum/sesudah animasi berjalan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animation-delay — jeda sebelum animasi dimulai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ADAPTIF &amp; MODERN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 &amp; Media Queries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1B1F3B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71907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171907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0" name="Shape 7"/>
          <p:cNvSpPr/>
          <p:nvPr/>
        </p:nvSpPr>
        <p:spPr>
          <a:xfrm>
            <a:off x="1280160" y="171907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9659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8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Mobile-first approach */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 width: 100%;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768px)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.container { width: 750px;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1024px)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.container { width: 980px;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4892040"/>
            <a:ext cx="777240" cy="1234440"/>
          </a:xfrm>
          <a:prstGeom prst="roundRect">
            <a:avLst>
              <a:gd name="adj" fmla="val 9412"/>
            </a:avLst>
          </a:prstGeom>
          <a:solidFill>
            <a:srgbClr val="1B1F3B"/>
          </a:solidFill>
          <a:ln/>
        </p:spPr>
      </p:sp>
      <p:sp>
        <p:nvSpPr>
          <p:cNvPr id="13" name="Shape 10"/>
          <p:cNvSpPr/>
          <p:nvPr/>
        </p:nvSpPr>
        <p:spPr>
          <a:xfrm>
            <a:off x="850392" y="5010912"/>
            <a:ext cx="630936" cy="868680"/>
          </a:xfrm>
          <a:prstGeom prst="roundRect">
            <a:avLst>
              <a:gd name="adj" fmla="val 4348"/>
            </a:avLst>
          </a:prstGeom>
          <a:solidFill>
            <a:srgbClr val="4AA3E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6177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7240" y="61996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768px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874520" y="4892040"/>
            <a:ext cx="1188720" cy="1234440"/>
          </a:xfrm>
          <a:prstGeom prst="roundRect">
            <a:avLst>
              <a:gd name="adj" fmla="val 6154"/>
            </a:avLst>
          </a:prstGeom>
          <a:solidFill>
            <a:srgbClr val="1B1F3B"/>
          </a:solidFill>
          <a:ln/>
        </p:spPr>
      </p:sp>
      <p:sp>
        <p:nvSpPr>
          <p:cNvPr id="17" name="Shape 14"/>
          <p:cNvSpPr/>
          <p:nvPr/>
        </p:nvSpPr>
        <p:spPr>
          <a:xfrm>
            <a:off x="1947672" y="5010912"/>
            <a:ext cx="1042416" cy="868680"/>
          </a:xfrm>
          <a:prstGeom prst="roundRect">
            <a:avLst>
              <a:gd name="adj" fmla="val 3158"/>
            </a:avLst>
          </a:prstGeom>
          <a:solidFill>
            <a:srgbClr val="4AA3E0"/>
          </a:solidFill>
          <a:ln/>
        </p:spPr>
      </p:sp>
      <p:sp>
        <p:nvSpPr>
          <p:cNvPr id="18" name="Text 15"/>
          <p:cNvSpPr/>
          <p:nvPr/>
        </p:nvSpPr>
        <p:spPr>
          <a:xfrm>
            <a:off x="1874520" y="4617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874520" y="61996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768–1023px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383280" y="489204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1B1F3B"/>
          </a:solidFill>
          <a:ln/>
        </p:spPr>
      </p:sp>
      <p:sp>
        <p:nvSpPr>
          <p:cNvPr id="21" name="Shape 18"/>
          <p:cNvSpPr/>
          <p:nvPr/>
        </p:nvSpPr>
        <p:spPr>
          <a:xfrm>
            <a:off x="3456432" y="5010912"/>
            <a:ext cx="1591056" cy="868680"/>
          </a:xfrm>
          <a:prstGeom prst="roundRect">
            <a:avLst>
              <a:gd name="adj" fmla="val 3158"/>
            </a:avLst>
          </a:prstGeom>
          <a:solidFill>
            <a:srgbClr val="4AA3E0"/>
          </a:solidFill>
          <a:ln/>
        </p:spPr>
      </p:sp>
      <p:sp>
        <p:nvSpPr>
          <p:cNvPr id="22" name="Text 19"/>
          <p:cNvSpPr/>
          <p:nvPr/>
        </p:nvSpPr>
        <p:spPr>
          <a:xfrm>
            <a:off x="3383280" y="4617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383280" y="6199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1024px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263640" y="155448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58368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Kunci Responsive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583680" y="2286000"/>
            <a:ext cx="4663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— menerapkan CSS berdasarkan kondisi perangkat (lebar layar, orientasi, resolusi)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— merancang tampilan mobile dahulu, lalu tambahkan gaya untuk layar lebih besar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relatif: %, em, rem, vw, vh — beradaptasi terhadap ukuran layar/induk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&amp; Grid — fondasi layout yang secara alami mudah dibuat responsif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responsif: max-width: 100%; height: auto;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 umum: 576px, 768px, 992px, 1200px (mengikuti kebutuhan konten, bukan device tertentu)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MODERN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Custom Properties (Variables)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1B1F3B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71907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171907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0" name="Shape 7"/>
          <p:cNvSpPr/>
          <p:nvPr/>
        </p:nvSpPr>
        <p:spPr>
          <a:xfrm>
            <a:off x="1280160" y="171907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965960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--primary-color: #1572B6;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--spacing: 16px;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--radius: 8px;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var(--primary-color);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var(--spacing);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var(--radius);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0" y="155448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20840" y="18105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CSS Variables Penting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20840" y="2286000"/>
            <a:ext cx="4526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Konsistensi — satu sumber nilai (warna, spacing) dipakai di seluruh stylesheet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dipelihara — ubah satu variabel, seluruh tampilan ikut berubah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diakses &amp; diubah lewat JavaScript secara dinamis (mis. dark mode)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cascade — dapat di-override pada scope/elemen tertentu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preprocessor (Sass) — CSS variable bekerja langsung di browser, real-time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berguna untuk membangun design system &amp; tema (theming)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MODERN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Functions: calc(), clamp(), min(), max()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CSS modern memungkinkan perhitungan nilai secara dinamis langsung di dalam stylesheet, mengurangi kebutuhan breakpoint manual yang berlebihan.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B1F3B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2221992"/>
            <a:ext cx="109728" cy="109728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2221992"/>
            <a:ext cx="109728" cy="109728"/>
          </a:xfrm>
          <a:prstGeom prst="ellipse">
            <a:avLst/>
          </a:prstGeom>
          <a:solidFill>
            <a:srgbClr val="ECC15E"/>
          </a:solidFill>
          <a:ln/>
        </p:spPr>
      </p:sp>
      <p:sp>
        <p:nvSpPr>
          <p:cNvPr id="11" name="Shape 8"/>
          <p:cNvSpPr/>
          <p:nvPr/>
        </p:nvSpPr>
        <p:spPr>
          <a:xfrm>
            <a:off x="1280160" y="2221992"/>
            <a:ext cx="109728" cy="109728"/>
          </a:xfrm>
          <a:prstGeom prst="ellipse">
            <a:avLst/>
          </a:prstGeom>
          <a:solidFill>
            <a:srgbClr val="5FB86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4688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calc(100% - 40px);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calc(1rem + 2vw);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clamp(1.5rem, 4vw, 3rem);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min(90%, 600px);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max(200px, 20vh);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0" y="2057400"/>
            <a:ext cx="516636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20840" y="23134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 Tiap Fungsi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20840" y="2788920"/>
            <a:ext cx="4526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calc() — melakukan operasi matematika (+, -, *, /) antar satuan berbeda, misal % dengan px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clamp(min, ideal, max) — nilai responsif dengan batas bawah &amp; atas, tanpa media query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min() — memilih nilai terkecil dari daftar argumen yang diberikan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max() — memilih nilai terbesar dari daftar argumen yang diberikan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fungsi ini dapat dikombinasikan &amp; bersarang (nested) satu sama lain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efektif dikombinasikan dengan unit relatif seperti vw dan rem untuk desain fluid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 VISUAL CSS3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Filter, Blend Mode &amp; Clip-path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182880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1572B6"/>
          </a:solidFill>
          <a:ln/>
        </p:spPr>
      </p:sp>
      <p:sp>
        <p:nvSpPr>
          <p:cNvPr id="9" name="Shape 6"/>
          <p:cNvSpPr/>
          <p:nvPr/>
        </p:nvSpPr>
        <p:spPr>
          <a:xfrm>
            <a:off x="1371600" y="1993392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1572B6">
              <a:alpha val="4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907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blur()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1638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blur(4px);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55848" y="155448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22776" y="182880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9C9C9C"/>
          </a:solidFill>
          <a:ln/>
        </p:spPr>
      </p:sp>
      <p:sp>
        <p:nvSpPr>
          <p:cNvPr id="14" name="Text 11"/>
          <p:cNvSpPr/>
          <p:nvPr/>
        </p:nvSpPr>
        <p:spPr>
          <a:xfrm>
            <a:off x="3493008" y="2907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grayscale()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93008" y="31638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grayscale(100%);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71616" y="155448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38544" y="1828800"/>
            <a:ext cx="1005840" cy="960120"/>
          </a:xfrm>
          <a:prstGeom prst="roundRect">
            <a:avLst>
              <a:gd name="adj" fmla="val 5714"/>
            </a:avLst>
          </a:prstGeom>
          <a:solidFill>
            <a:srgbClr val="E34F26"/>
          </a:solidFill>
          <a:ln/>
        </p:spPr>
      </p:sp>
      <p:sp>
        <p:nvSpPr>
          <p:cNvPr id="18" name="Shape 15"/>
          <p:cNvSpPr/>
          <p:nvPr/>
        </p:nvSpPr>
        <p:spPr>
          <a:xfrm>
            <a:off x="7095744" y="1828800"/>
            <a:ext cx="1005840" cy="960120"/>
          </a:xfrm>
          <a:prstGeom prst="roundRect">
            <a:avLst>
              <a:gd name="adj" fmla="val 5714"/>
            </a:avLst>
          </a:prstGeom>
          <a:solidFill>
            <a:srgbClr val="1572B6">
              <a:alpha val="7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208776" y="2907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mix-blend-mode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08776" y="31638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mix-blend-mode: multiply;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787384" y="155448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354312" y="1828800"/>
            <a:ext cx="1051560" cy="96012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23" name="Text 20"/>
          <p:cNvSpPr/>
          <p:nvPr/>
        </p:nvSpPr>
        <p:spPr>
          <a:xfrm>
            <a:off x="8924544" y="2907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clip-path: circle()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924544" y="31638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clip-path: circle(50%);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40080" y="3931920"/>
            <a:ext cx="109270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60120" y="4187952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 Detail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60120" y="4663440"/>
            <a:ext cx="10287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— menerapkan efek visual pada elemen: blur(), grayscale(), brightness(), contrast(), saturate(), drop-shadow()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 — menerapkan filter pada area DI BELAKANG elemen (efek kaca buram/glassmorphism)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mix-blend-mode — mencampur elemen dengan layer di belakangnya: multiply, screen, overlay, darken, lighten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clip-path — memotong elemen menjadi bentuk kustom: circle(), polygon(), ellipse(), inset()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filter + blend-mode + clip-path banyak dipakai untuk efek visual modern seperti hero section &amp; galeri interaktif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CSS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 &amp; Cascade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beberapa aturan CSS menargetkan elemen yang sama, browser menentukan aturan mana yang menang berdasarkan specificity (bobot selector) dan urutan cascade.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8961120" cy="457200"/>
          </a:xfrm>
          <a:prstGeom prst="roundRect">
            <a:avLst>
              <a:gd name="adj" fmla="val 12000"/>
            </a:avLst>
          </a:prstGeom>
          <a:solidFill>
            <a:srgbClr val="C43D1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9659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78408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style="color:red"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514600"/>
            <a:ext cx="7168896" cy="457200"/>
          </a:xfrm>
          <a:prstGeom prst="roundRect">
            <a:avLst>
              <a:gd name="adj" fmla="val 12000"/>
            </a:avLst>
          </a:prstGeom>
          <a:solidFill>
            <a:srgbClr val="E34F26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514600"/>
            <a:ext cx="680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selector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91856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#header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3063240"/>
            <a:ext cx="5376672" cy="457200"/>
          </a:xfrm>
          <a:prstGeom prst="roundRect">
            <a:avLst>
              <a:gd name="adj" fmla="val 12000"/>
            </a:avLst>
          </a:prstGeom>
          <a:solidFill>
            <a:srgbClr val="4AA3E0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06324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atribut / pseudo-class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99632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.card, [type="text"], :hover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3611880"/>
            <a:ext cx="3584448" cy="457200"/>
          </a:xfrm>
          <a:prstGeom prst="roundRect">
            <a:avLst>
              <a:gd name="adj" fmla="val 12000"/>
            </a:avLst>
          </a:prstGeom>
          <a:solidFill>
            <a:srgbClr val="1572B6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6118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/ pseudo-element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407408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div, p, ::before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" y="417880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ke atas &amp; semakin lebar, semakin tinggi prioritasnya saat terjadi konflik aturan CSS.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4480560"/>
            <a:ext cx="109270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60120" y="4736592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Aturan Cascade Lainnya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60120" y="521208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 — mengalahkan semua specificity normal (gunakan seminimal mungkin, sulit di-override)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deklarasi — jika specificity sama, aturan yang ditulis paling akhir dalam CSS yang menang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— beberapa properti (color, font-family) diwariskan otomatis ke elemen anak, sebagian lain tidak (misal margin, border)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circle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HTML5 &amp; CSS3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002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9" name="Image 1" descr="/home/claude/html5css3/icons/ta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195224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elemen semantik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68680" y="28620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&lt;nav&gt;, &lt;article&gt;, &lt;section&gt; dibanding &lt;div&gt; generik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43400" y="16002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14" name="Image 2" descr="/home/claude/html5css3/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444" y="195224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mobile-first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0" y="28620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layar kecil, kembangkan ke layar besar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046720" y="16002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75320" y="1828800"/>
            <a:ext cx="548640" cy="54864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19" name="Image 3" descr="/home/claude/html5css3/icons/rul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764" y="195224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753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 dalam satuan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275320" y="28620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rem/em untuk skalabilitas tipografi &amp; spacing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40080" y="3703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68680" y="3931920"/>
            <a:ext cx="548640" cy="54864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24" name="Image 4" descr="/home/claude/html5css3/icons/slid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4055364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868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Manfaatkan CSS Variables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868680" y="49651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Sentralisasi warna &amp; spacing untuk maintainability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343400" y="3703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72000" y="3931920"/>
            <a:ext cx="548640" cy="548640"/>
          </a:xfrm>
          <a:prstGeom prst="ellipse">
            <a:avLst/>
          </a:prstGeom>
          <a:solidFill>
            <a:srgbClr val="E34F26"/>
          </a:solidFill>
          <a:ln/>
        </p:spPr>
      </p:sp>
      <p:pic>
        <p:nvPicPr>
          <p:cNvPr id="29" name="Image 5" descr="/home/claude/html5css3/icons/gau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444" y="4055364"/>
            <a:ext cx="301752" cy="30175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57200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Optimalkan performa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572000" y="49651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Minify CSS, hindari selector berlebihan &amp; animasi berat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8046720" y="3703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275320" y="3931920"/>
            <a:ext cx="548640" cy="54864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4" name="Image 6" descr="/home/claude/html5css3/icons/circle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8764" y="4055364"/>
            <a:ext cx="301752" cy="30175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27532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&amp; aksesibilitas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275320" y="49651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atribut alt, label, dan validator W3C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4375" y="502920"/>
            <a:ext cx="685800" cy="685800"/>
          </a:xfrm>
          <a:prstGeom prst="ellipse">
            <a:avLst/>
          </a:prstGeom>
          <a:solidFill>
            <a:srgbClr val="1572B6"/>
          </a:solidFill>
          <a:ln/>
        </p:spPr>
      </p:sp>
      <p:pic>
        <p:nvPicPr>
          <p:cNvPr id="3" name="Image 0" descr="/home/claude/html5css3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680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&amp; CSS3: Dua Sisi yang Saling Melengkapi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38100">
            <a:solidFill>
              <a:srgbClr val="15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0020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FFF3EE"/>
          </a:solidFill>
          <a:ln w="15875">
            <a:solidFill>
              <a:srgbClr val="E34F26"/>
            </a:solidFill>
            <a:prstDash val="solid"/>
          </a:ln>
        </p:spPr>
      </p:sp>
      <p:pic>
        <p:nvPicPr>
          <p:cNvPr id="8" name="Image 1" descr="/home/claude/html5css3/icons/html5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3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— Struktur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14400" y="260604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&amp; konten halaman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semantik untuk makna &amp; aksesibilitas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native (audio, video, canvas)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modern dengan validasi bawaan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API: storage, geolocation, drag-drop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6364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EAF3FB"/>
          </a:solidFill>
          <a:ln w="15875">
            <a:solidFill>
              <a:srgbClr val="1572B6"/>
            </a:solidFill>
            <a:prstDash val="solid"/>
          </a:ln>
        </p:spPr>
      </p:sp>
      <p:pic>
        <p:nvPicPr>
          <p:cNvPr id="12" name="Image 2" descr="/home/claude/html5css3/icons/css3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288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— Presentasi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537960" y="2606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model, display &amp; positioning sebagai fondasi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 &amp; multi-column untuk layout modern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Warna, gradient &amp; tipografi yang kaya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Transisi, transform &amp; animasi interaktif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functions (calc, clamp) &amp; CSS variables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 untuk desain responsif penuh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E34F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743200"/>
            <a:ext cx="5943600" cy="5943600"/>
          </a:xfrm>
          <a:prstGeom prst="ellipse">
            <a:avLst/>
          </a:prstGeom>
          <a:solidFill>
            <a:srgbClr val="1572B6">
              <a:alpha val="14000"/>
            </a:srgbClr>
          </a:solidFill>
          <a:ln/>
        </p:spPr>
      </p:sp>
      <p:pic>
        <p:nvPicPr>
          <p:cNvPr id="4" name="Image 0" descr="/home/claude/html5css3/icons/html5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2103120"/>
            <a:ext cx="777240" cy="777240"/>
          </a:xfrm>
          <a:prstGeom prst="rect">
            <a:avLst/>
          </a:prstGeom>
        </p:spPr>
      </p:pic>
      <p:pic>
        <p:nvPicPr>
          <p:cNvPr id="5" name="Image 1" descr="/home/claude/html5css3/icons/css3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88" y="2103120"/>
            <a:ext cx="777240" cy="777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0" y="39776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Selamat berlatih membangun struktur HTML5 yang semantik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tampilan CSS3 yang modern &amp; responsif.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2026-09-01T17:18:24Z</dcterms:created>
  <dcterms:modified xsi:type="dcterms:W3CDTF">2026-09-01T17:18:24Z</dcterms:modified>
</cp:coreProperties>
</file>