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4.png"/><Relationship Id="rId5" Type="http://schemas.openxmlformats.org/officeDocument/2006/relationships/image" Target="../media/image-21-4.png"/><Relationship Id="rId6" Type="http://schemas.openxmlformats.org/officeDocument/2006/relationships/image" Target="../media/image-21-6.png"/><Relationship Id="rId7" Type="http://schemas.openxmlformats.org/officeDocument/2006/relationships/image" Target="../media/image-21-6.png"/><Relationship Id="rId8" Type="http://schemas.openxmlformats.org/officeDocument/2006/relationships/image" Target="../media/image-21-8.png"/><Relationship Id="rId9" Type="http://schemas.openxmlformats.org/officeDocument/2006/relationships/image" Target="../media/image-21-8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0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l_deck/icons/databas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321040" y="100584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37160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22D3EE"/>
          </a:solidFill>
          <a:ln/>
        </p:spPr>
      </p:sp>
      <p:pic>
        <p:nvPicPr>
          <p:cNvPr id="4" name="Image 1" descr="/home/claude/sql_deck/icons/datab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384048" cy="384048"/>
          </a:xfrm>
          <a:prstGeom prst="rect">
            <a:avLst/>
          </a:prstGeom>
        </p:spPr>
      </p:pic>
      <p:pic>
        <p:nvPicPr>
          <p:cNvPr id="5" name="Image 2" descr="/home/claude/sql_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91056"/>
            <a:ext cx="384048" cy="38404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· QUERY · MANAJEMEN DATA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521208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</a:t>
            </a:r>
            <a:endParaRPr lang="en-US" sz="3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800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komprehensif dari dasar hingga mahir — mengenal database relasional, menulis query, sampai teknik JOIN, agregasi, dan transaksi.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" y="5852160"/>
            <a:ext cx="3108960" cy="0"/>
          </a:xfrm>
          <a:prstGeom prst="line">
            <a:avLst/>
          </a:prstGeom>
          <a:noFill/>
          <a:ln w="19050">
            <a:solidFill>
              <a:srgbClr val="2A3B5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Pembelajaran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Saja yang Akan Dipelajari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44368" y="1764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187452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9" name="Image 1" descr="/home/claude/sql_deck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8" y="2010308"/>
            <a:ext cx="331927" cy="3319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877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95351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database relasional, tabel &amp; tipe data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187952" y="160020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1764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4462272" y="187452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2" descr="/home/claude/sql_deck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060" y="2010308"/>
            <a:ext cx="331927" cy="3319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62272" y="25877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SQL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462272" y="295351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DQL — CREATE, INSERT, SELECT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827264" y="160020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222992" y="1764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5"/>
          <p:cNvSpPr/>
          <p:nvPr/>
        </p:nvSpPr>
        <p:spPr>
          <a:xfrm>
            <a:off x="8101584" y="187452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1" name="Image 3" descr="/home/claude/sql_deck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372" y="2010308"/>
            <a:ext cx="331927" cy="3319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01584" y="25877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Filter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101584" y="295351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ORDER BY, LIMIT, operator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944368" y="4050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822960" y="416052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7" name="Image 4" descr="/home/claude/sql_deck/icons/cal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48" y="4296308"/>
            <a:ext cx="331927" cy="33192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2960" y="48737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523951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GROUP BY, HAVING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187952" y="388620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583680" y="4050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Shape 25"/>
          <p:cNvSpPr/>
          <p:nvPr/>
        </p:nvSpPr>
        <p:spPr>
          <a:xfrm>
            <a:off x="4462272" y="416052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3" name="Image 5" descr="/home/claude/sql_deck/icons/objec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060" y="4296308"/>
            <a:ext cx="331927" cy="33192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62272" y="48737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4462272" y="523951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(INNER/LEFT/RIGHT/FULL) &amp; subquery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7827264" y="388620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10222992" y="40507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38" name="Shape 30"/>
          <p:cNvSpPr/>
          <p:nvPr/>
        </p:nvSpPr>
        <p:spPr>
          <a:xfrm>
            <a:off x="8101584" y="416052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9" name="Image 6" descr="/home/claude/sql_deck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372" y="4296308"/>
            <a:ext cx="331927" cy="331927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101584" y="48737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Integritas &amp; Lanjutan</a:t>
            </a:r>
            <a:endParaRPr lang="en-US" sz="1700" dirty="0"/>
          </a:p>
        </p:txBody>
      </p:sp>
      <p:sp>
        <p:nvSpPr>
          <p:cNvPr id="41" name="Text 32"/>
          <p:cNvSpPr txBox="1"/>
          <p:nvPr/>
        </p:nvSpPr>
        <p:spPr>
          <a:xfrm>
            <a:off x="8101584" y="5239512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Constraint, index, view, transaksi ACID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SQL?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874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(Structured Query Language) adalah bahasa standar untuk </a:t>
            </a:r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dan memanipulasi</a:t>
            </a:r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di dalam </a:t>
            </a:r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relasional</a:t>
            </a:r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3063240"/>
            <a:ext cx="420624" cy="420624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9" name="Image 1" descr="/home/claude/sql_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316839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0175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data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Membaca / mencari data (SELECT)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3813048"/>
            <a:ext cx="420624" cy="420624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12" name="Image 2" descr="/home/claude/sql_deck/icons/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391820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7673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Menambah baris baru (INSERT)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14400" y="4562856"/>
            <a:ext cx="420624" cy="420624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15" name="Image 3" descr="/home/claude/sql_deck/icons/p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668012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51713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data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Memperbarui data lama (UPDATE)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914400" y="5312664"/>
            <a:ext cx="420624" cy="420624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18" name="Image 4" descr="/home/claude/sql_deck/icons/ge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5417820"/>
            <a:ext cx="210312" cy="21031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52669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struktur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Membuat &amp; mengatur tabel (DDL)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492240" y="160020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8122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Kunci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deklaratif — kita menyatakan APA yang diinginkan, bukan bagaimana caranya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standar ANSI/ISO sejak 1986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hampir semua RDBMS populer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92240" y="3886200"/>
            <a:ext cx="5532120" cy="2194560"/>
          </a:xfrm>
          <a:prstGeom prst="roundRect">
            <a:avLst>
              <a:gd name="adj" fmla="val 375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92240" y="4270248"/>
            <a:ext cx="553212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656832" y="402793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19"/>
          <p:cNvSpPr/>
          <p:nvPr/>
        </p:nvSpPr>
        <p:spPr>
          <a:xfrm>
            <a:off x="6858000" y="402793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0"/>
          <p:cNvSpPr/>
          <p:nvPr/>
        </p:nvSpPr>
        <p:spPr>
          <a:xfrm>
            <a:off x="7059168" y="402793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7360920" y="39410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query.sql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693408" y="43891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Contoh query SQL sederhana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pengguna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'Yogyakarta'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Relasional (RDBMS)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disimpan dalam tabel yang terdiri dari baris (records) dan kolom (fields). Antar tabel dapat saling berelasi.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463040" y="2240280"/>
            <a:ext cx="23774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0" y="2240280"/>
            <a:ext cx="33832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914400" cy="457200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463040" y="2697480"/>
            <a:ext cx="2377440" cy="457200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5448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Budi Santoso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840480" y="2697480"/>
            <a:ext cx="3383280" cy="457200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319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budi@mail.com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154680"/>
            <a:ext cx="91440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463040" y="3154680"/>
            <a:ext cx="237744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5448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Siti Aminah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840480" y="3154680"/>
            <a:ext cx="338328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3192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siti@mail.com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3611880"/>
            <a:ext cx="914400" cy="457200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463040" y="3611880"/>
            <a:ext cx="2377440" cy="457200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55448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Andi Wijaya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840480" y="3611880"/>
            <a:ext cx="3383280" cy="457200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319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andi@mail.com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1892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Tabel: pengguna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4297680"/>
            <a:ext cx="237744" cy="237744"/>
          </a:xfrm>
          <a:prstGeom prst="rect">
            <a:avLst>
              <a:gd name="adj" fmla="val 15385"/>
            </a:avLst>
          </a:prstGeom>
          <a:solidFill>
            <a:srgbClr val="FBBF2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77824" y="4270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= satu field (mis. nama, email)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114800" y="4297680"/>
            <a:ext cx="237744" cy="237744"/>
          </a:xfrm>
          <a:prstGeom prst="rect">
            <a:avLst>
              <a:gd name="adj" fmla="val 15385"/>
            </a:avLst>
          </a:prstGeom>
          <a:solidFill>
            <a:srgbClr val="4ADE8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443984" y="4270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= satu record (satu entri lengkap)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863840" y="2057400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65008" y="2231136"/>
            <a:ext cx="493776" cy="493776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8" name="Image 1" descr="/home/claude/sql_deck/icons/colum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08" y="2342236"/>
            <a:ext cx="271577" cy="271577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8732520" y="21762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/ Field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8732520" y="248716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data, mis. nama, email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7863840" y="3044952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065008" y="3218688"/>
            <a:ext cx="493776" cy="493776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3" name="Image 2" descr="/home/claude/sql_deck/icons/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108" y="3329788"/>
            <a:ext cx="271577" cy="271577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732520" y="31638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/ Record</a:t>
            </a:r>
            <a:endParaRPr lang="en-US" sz="1400" dirty="0"/>
          </a:p>
        </p:txBody>
      </p:sp>
      <p:sp>
        <p:nvSpPr>
          <p:cNvPr id="45" name="Text 40"/>
          <p:cNvSpPr txBox="1"/>
          <p:nvPr/>
        </p:nvSpPr>
        <p:spPr>
          <a:xfrm>
            <a:off x="8732520" y="34747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entri data lengkap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7863840" y="4032504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065008" y="4206240"/>
            <a:ext cx="493776" cy="493776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8" name="Image 3" descr="/home/claude/sql_deck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08" y="4317340"/>
            <a:ext cx="271577" cy="271577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8732520" y="41513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8732520" y="4462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pengenal unik tiap baris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7863840" y="5020056"/>
            <a:ext cx="4160520" cy="841248"/>
          </a:xfrm>
          <a:prstGeom prst="roundRect">
            <a:avLst>
              <a:gd name="adj" fmla="val 978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8065008" y="5193792"/>
            <a:ext cx="493776" cy="493776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3" name="Image 4" descr="/home/claude/sql_deck/icons/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108" y="5304892"/>
            <a:ext cx="271577" cy="271577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8732520" y="51389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55" name="Text 48"/>
          <p:cNvSpPr txBox="1"/>
          <p:nvPr/>
        </p:nvSpPr>
        <p:spPr>
          <a:xfrm>
            <a:off x="8732520" y="544982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Penghubung ke tabel lain</a:t>
            </a:r>
            <a:endParaRPr lang="en-US" sz="1150" dirty="0"/>
          </a:p>
        </p:txBody>
      </p:sp>
      <p:sp>
        <p:nvSpPr>
          <p:cNvPr id="56" name="Text 4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BAHASA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Perintah SQL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/home/claude/sql_deck/icons/gears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24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· ALTER · DROP · TRUNCATE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935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&amp; mengubah struktur objek database.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70832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45152" y="187452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5" name="Image 2" descr="/home/claude/sql_deck/icons/pen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011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30952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5330952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645152" y="2624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· UPDATE · DELETE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645152" y="2935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Memanipulasi isi/baris data di dalam tabel.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93024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67344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2" name="Image 3" descr="/home/claude/sql_deck/icons/search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2011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53144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9153144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8467344" y="2624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8467344" y="2935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&amp; menampilkan data dari database.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459736" y="3858768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34056" y="4133088"/>
            <a:ext cx="548640" cy="54864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29" name="Image 4" descr="/home/claude/sql_deck/icons/shield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216" y="427024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419856" y="4096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3419856" y="4462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2734056" y="4882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· REVOKE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2734056" y="51937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hak akses &amp; izin pengguna.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281928" y="3858768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556248" y="4133088"/>
            <a:ext cx="548640" cy="54864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36" name="Image 5" descr="/home/claude/sql_deck/icons/exchange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27024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242048" y="4096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7242048" y="4462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6556248" y="4882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· ROLLBACK · SAVEPOINT</a:t>
            </a:r>
            <a:endParaRPr lang="en-US" sz="1150" dirty="0"/>
          </a:p>
        </p:txBody>
      </p:sp>
      <p:sp>
        <p:nvSpPr>
          <p:cNvPr id="40" name="Text 32"/>
          <p:cNvSpPr txBox="1"/>
          <p:nvPr/>
        </p:nvSpPr>
        <p:spPr>
          <a:xfrm>
            <a:off x="6556248" y="51937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transaksi agar data konsisten.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Umum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kolom memiliki tipe data yang menentukan jenis nilai yang boleh disimpan.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94560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1" descr="/home/claude/sql_deck/icons/calc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2327148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1328" y="2194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04672" y="2971800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0120" y="3081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/ INTEGER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33924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bulat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" y="3904488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0120" y="4014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DECIMAL(p,s)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4325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desimal presisi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" y="4837176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0120" y="4946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/ DOUBLE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5257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pecahan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370832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45152" y="2194560"/>
            <a:ext cx="530352" cy="530352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2" name="Image 2" descr="/home/claude/sql_deck/icons/book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327148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03520" y="2194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626864" y="2971800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82312" y="3081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CHAR(n)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782312" y="33924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panjang tetap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626864" y="3904488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782312" y="4014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VARCHAR(n)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4782312" y="4325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panjang variabel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626864" y="4837176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782312" y="4946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4782312" y="5257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panjang / besar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193024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467344" y="2194560"/>
            <a:ext cx="530352" cy="53035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35" name="Image 3" descr="/home/claude/sql_deck/icons/sort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2" y="2327148"/>
            <a:ext cx="265176" cy="26517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125712" y="2194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&amp; Lain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8449056" y="2971800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604504" y="3081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8604504" y="33924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(YYYY-MM-DD)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8449056" y="3904488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604504" y="4014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8604504" y="4325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+ waktu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8449056" y="4837176"/>
            <a:ext cx="3054096" cy="786384"/>
          </a:xfrm>
          <a:prstGeom prst="roundRect">
            <a:avLst>
              <a:gd name="adj" fmla="val 814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604504" y="4946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8604504" y="5257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TRUE / FALSE</a:t>
            </a:r>
            <a:endParaRPr lang="en-US" sz="1150" dirty="0"/>
          </a:p>
        </p:txBody>
      </p:sp>
      <p:sp>
        <p:nvSpPr>
          <p:cNvPr id="46" name="Text 4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· DATA DEFINITION LANGUAGE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Struktur Tabel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943600" cy="4526280"/>
          </a:xfrm>
          <a:prstGeom prst="roundRect">
            <a:avLst>
              <a:gd name="adj" fmla="val 1818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38528"/>
            <a:ext cx="594360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69621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69621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69621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057400"/>
            <a:ext cx="5577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Membuat tabel baru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dibuat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Mengubah struktur tabel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Menghapus tabel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1554480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6600" y="1810512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5" name="Image 1" descr="/home/claude/sql_deck/icons/plus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193852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72400" y="17190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0" y="206654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objek baru (tabel, database, view, index).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58000" y="2706624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86600" y="2962656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0" name="Image 2" descr="/home/claude/sql_deck/icons/pen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309067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2400" y="28712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0" y="3218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struktur objek — menambah / mengubah kolom.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58000" y="3858768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86600" y="4114800"/>
            <a:ext cx="512064" cy="51206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5" name="Image 3" descr="/home/claude/sql_deck/icons/trash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424281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772400" y="4023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objek beserta seluruh datanya secara permanen.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858000" y="5010912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086600" y="5266944"/>
            <a:ext cx="512064" cy="512064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30" name="Image 4" descr="/home/claude/sql_deck/icons/ban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539496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772400" y="51755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0" y="55229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Mengosongkan semua isi tabel, struktur tetap ada.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· DATA MANIPULATION LANGUAGE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Menambah Data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126480" cy="4480560"/>
          </a:xfrm>
          <a:prstGeom prst="roundRect">
            <a:avLst>
              <a:gd name="adj" fmla="val 1837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84248"/>
            <a:ext cx="6126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4193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74193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74193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6550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10312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Menambah satu baris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'Kopi Arabika'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85000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Menambah beberapa baris sekaligus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'Teh Hijau'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'Gula Aren'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'Susu Kental'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40880" y="1600200"/>
            <a:ext cx="4983480" cy="2148840"/>
          </a:xfrm>
          <a:prstGeom prst="roundRect">
            <a:avLst>
              <a:gd name="adj" fmla="val 468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1783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Dasar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2194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(kolom1, kolom2)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(nilai1, nilai2);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3063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&amp; urutan VALUES harus cocok dengan daftar kolom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3931920"/>
            <a:ext cx="4983480" cy="2148840"/>
          </a:xfrm>
          <a:prstGeom prst="roundRect">
            <a:avLst>
              <a:gd name="adj" fmla="val 4681"/>
            </a:avLst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60920" y="4114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Penting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45720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teks &amp; tanggal ditulis dalam tanda kutip tunggal ( ’ ’ 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AUTO_INCREMENT tidak perlu diisi manual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dengan DEFAULT boleh dilewati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· DATA MANIPULATION LANGUAGE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— Ubah &amp; Hapus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</a:t>
            </a:r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Memperbarui data yang sudah ada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577840" cy="2011680"/>
          </a:xfrm>
          <a:prstGeom prst="roundRect">
            <a:avLst>
              <a:gd name="adj" fmla="val 4091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258568"/>
            <a:ext cx="557784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01625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01625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8"/>
          <p:cNvSpPr/>
          <p:nvPr/>
        </p:nvSpPr>
        <p:spPr>
          <a:xfrm>
            <a:off x="1115568" y="201625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417320" y="1929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update.sql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23774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90000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</a:t>
            </a:r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Menghapus baris data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462272"/>
            <a:ext cx="5577840" cy="1618488"/>
          </a:xfrm>
          <a:prstGeom prst="roundRect">
            <a:avLst>
              <a:gd name="adj" fmla="val 5085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846320"/>
            <a:ext cx="557784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" y="4604004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460400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6"/>
          <p:cNvSpPr/>
          <p:nvPr/>
        </p:nvSpPr>
        <p:spPr>
          <a:xfrm>
            <a:off x="1115568" y="4604004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417320" y="4517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delete.sql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4965192"/>
            <a:ext cx="5212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492240" y="187452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2A1418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12280" y="214884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4" name="Image 1" descr="/home/claude/sql_deck/icons/shield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230886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635240" y="21945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Gunakan WHERE!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3063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tanpa klausa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akan mengenai SELURUH baris di tabel.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6858000" y="3977640"/>
            <a:ext cx="4800600" cy="960120"/>
          </a:xfrm>
          <a:prstGeom prst="roundRect">
            <a:avLst>
              <a:gd name="adj" fmla="val 8571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858000" y="4361688"/>
            <a:ext cx="480060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022592" y="411937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6"/>
          <p:cNvSpPr/>
          <p:nvPr/>
        </p:nvSpPr>
        <p:spPr>
          <a:xfrm>
            <a:off x="7223760" y="411937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7"/>
          <p:cNvSpPr/>
          <p:nvPr/>
        </p:nvSpPr>
        <p:spPr>
          <a:xfrm>
            <a:off x="7424928" y="411937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059168" y="44805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BERBAHAYA: menghapus SEMUA data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6903720" y="50749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dulu dengan SELECT + WHERE yang sama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dalam transaksi agar bisa ROLLBACK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· DATA QUERY LANGUAGE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Mengambil Data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035040" cy="1920240"/>
          </a:xfrm>
          <a:prstGeom prst="roundRect">
            <a:avLst>
              <a:gd name="adj" fmla="val 4286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84248"/>
            <a:ext cx="603504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4193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74193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74193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655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1031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Query SELECT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0A0F1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1605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41605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apa yang ditampilkan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66344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0A0F1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6634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46634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tabel mana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51663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0A0F1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51663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560320" y="51663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syarat baris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6692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0A0F1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56692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560320" y="5669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hasil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49440" y="1600200"/>
            <a:ext cx="5074920" cy="1371600"/>
          </a:xfrm>
          <a:prstGeom prst="roundRect">
            <a:avLst>
              <a:gd name="adj" fmla="val 733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69480" y="17373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pPr indent="0" marL="0">
              <a:buNone/>
            </a:pPr>
            <a:r>
              <a:rPr lang="en-US" sz="1400" dirty="0">
                <a:solidFill>
                  <a:srgbClr val="E7EDF6"/>
                </a:solidFill>
              </a:rPr>
              <a:t>  mengambil SEMUA kolom.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22128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Sebaiknya sebutkan kolom yang dibutuhkan saja agar query lebih efisien &amp; jelas.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Hasil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49440" y="3520440"/>
            <a:ext cx="28346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59168" y="3520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784080" y="3520440"/>
            <a:ext cx="22402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93808" y="35204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949440" y="3995928"/>
            <a:ext cx="2834640" cy="475488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59168" y="3995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Kopi Arabika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784080" y="3995928"/>
            <a:ext cx="2240280" cy="475488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93808" y="39959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90000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949440" y="4471416"/>
            <a:ext cx="283464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9168" y="44714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Teh Hijau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784080" y="4471416"/>
            <a:ext cx="224028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893808" y="44714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949440" y="4946904"/>
            <a:ext cx="2834640" cy="475488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059168" y="49469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Gula Aren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9784080" y="4946904"/>
            <a:ext cx="2240280" cy="475488"/>
          </a:xfrm>
          <a:prstGeom prst="rect">
            <a:avLst/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893808" y="494690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949440" y="5422392"/>
            <a:ext cx="283464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9168" y="54223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Susu Kental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784080" y="5422392"/>
            <a:ext cx="224028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893808" y="54223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18000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FILTER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Menyaring Data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806440" cy="4480560"/>
          </a:xfrm>
          <a:prstGeom prst="roundRect">
            <a:avLst>
              <a:gd name="adj" fmla="val 1837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84248"/>
            <a:ext cx="580644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4193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74193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74193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6550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103120"/>
            <a:ext cx="5440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Operator perbandingan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Kombinasi AND / OR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Rentang nilai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90000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Pencocokan pola &amp; daftar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'K%'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yang Sering Dipakai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20840" y="210312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21031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&lt;&gt;  &lt;  &gt;  &lt;=  &gt;=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21031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nilai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2761488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27614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OR  NOT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2761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beberapa syarat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20840" y="341985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341985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a AND b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418320" y="34198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 dalam rentang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20840" y="4078224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03720" y="407822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(v1, v2, ...)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418320" y="40782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salah satu dari daftar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20840" y="4736592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03720" y="473659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’pola%’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9418320" y="47365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Pencocokan pola teks (% = wildcard)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20840" y="539496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03720" y="5394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 / IS NOT NULL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418320" y="5394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nilai kosong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s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FILTER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&amp; Membatasi Hasil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66160" cy="4297680"/>
          </a:xfrm>
          <a:prstGeom prst="roundRect">
            <a:avLst>
              <a:gd name="adj" fmla="val 282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/home/claude/sql_deck/icons/sor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57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hasil berdasar kolom.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4672" y="3337560"/>
            <a:ext cx="3054096" cy="1508760"/>
          </a:xfrm>
          <a:prstGeom prst="roundRect">
            <a:avLst>
              <a:gd name="adj" fmla="val 5455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3721608"/>
            <a:ext cx="3054096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69264" y="347929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0"/>
          <p:cNvSpPr/>
          <p:nvPr/>
        </p:nvSpPr>
        <p:spPr>
          <a:xfrm>
            <a:off x="1170432" y="347929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1"/>
          <p:cNvSpPr/>
          <p:nvPr/>
        </p:nvSpPr>
        <p:spPr>
          <a:xfrm>
            <a:off x="1371600" y="347929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05840" y="3840480"/>
            <a:ext cx="2688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= menaik (default) · DESC = menurun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370832" y="1645920"/>
            <a:ext cx="3566160" cy="4297680"/>
          </a:xfrm>
          <a:prstGeom prst="roundRect">
            <a:avLst>
              <a:gd name="adj" fmla="val 282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45152" y="192024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0" name="Image 2" descr="/home/claude/sql_deck/icons/sliders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0574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30952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645152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Membatasi jumlah baris hasil.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626864" y="3337560"/>
            <a:ext cx="3054096" cy="1508760"/>
          </a:xfrm>
          <a:prstGeom prst="roundRect">
            <a:avLst>
              <a:gd name="adj" fmla="val 5455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26864" y="3721608"/>
            <a:ext cx="3054096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91456" y="347929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1"/>
          <p:cNvSpPr/>
          <p:nvPr/>
        </p:nvSpPr>
        <p:spPr>
          <a:xfrm>
            <a:off x="4992624" y="347929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2"/>
          <p:cNvSpPr/>
          <p:nvPr/>
        </p:nvSpPr>
        <p:spPr>
          <a:xfrm>
            <a:off x="5193792" y="347929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828032" y="3840480"/>
            <a:ext cx="2688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645152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3 produk termahal · pakai OFFSET untuk paging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93024" y="1645920"/>
            <a:ext cx="3566160" cy="4297680"/>
          </a:xfrm>
          <a:prstGeom prst="roundRect">
            <a:avLst>
              <a:gd name="adj" fmla="val 282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67344" y="192024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2" name="Image 3" descr="/home/claude/sql_deck/icons/object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205740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153144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8467344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nilai duplikat.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449056" y="3337560"/>
            <a:ext cx="3054096" cy="1508760"/>
          </a:xfrm>
          <a:prstGeom prst="roundRect">
            <a:avLst>
              <a:gd name="adj" fmla="val 5455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449056" y="3721608"/>
            <a:ext cx="3054096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613648" y="347929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8" name="Shape 32"/>
          <p:cNvSpPr/>
          <p:nvPr/>
        </p:nvSpPr>
        <p:spPr>
          <a:xfrm>
            <a:off x="8814816" y="347929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9" name="Shape 33"/>
          <p:cNvSpPr/>
          <p:nvPr/>
        </p:nvSpPr>
        <p:spPr>
          <a:xfrm>
            <a:off x="9015984" y="347929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650224" y="3840480"/>
            <a:ext cx="2688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8467344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daftar kategori unik saja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Agregat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ringkasan dari sekumpulan baris menjadi satu nilai.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121408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48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jumlah baris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07208" y="1920240"/>
            <a:ext cx="2121408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98648" y="2148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Menjumlahkan nilai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65776" y="1920240"/>
            <a:ext cx="2121408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57216" y="2148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202936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rata-rata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24344" y="1920240"/>
            <a:ext cx="2121408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15784" y="2148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461504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terkecil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582912" y="1920240"/>
            <a:ext cx="2121408" cy="1600200"/>
          </a:xfrm>
          <a:prstGeom prst="roundRect">
            <a:avLst>
              <a:gd name="adj" fmla="val 5714"/>
            </a:avLst>
          </a:prstGeom>
          <a:solidFill>
            <a:srgbClr val="1B2740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74352" y="21488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720072" y="269748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terbesar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794760"/>
            <a:ext cx="5943600" cy="2286000"/>
          </a:xfrm>
          <a:prstGeom prst="roundRect">
            <a:avLst>
              <a:gd name="adj" fmla="val 360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4178808"/>
            <a:ext cx="594360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393649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393649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15568" y="393649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17320" y="3849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agregat.sql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" y="429768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jumlah_produk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total_stok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rata_harga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termahal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5800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78040" y="3977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Penting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223760" y="4407408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menghitung semua baris; COUNT(kolom) mengabaikan NULL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alias AS agar kolom hasil mudah dibaca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Umumnya dipadukan dengan GROUP BY untuk ringkasan per kelompok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126480" cy="4480560"/>
          </a:xfrm>
          <a:prstGeom prst="roundRect">
            <a:avLst>
              <a:gd name="adj" fmla="val 1837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84248"/>
            <a:ext cx="6126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4193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74193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74193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6550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10312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Ringkasan per kategori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rata_harga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Menyaring hasil AGREGAT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40880" y="1600200"/>
            <a:ext cx="4983480" cy="1965960"/>
          </a:xfrm>
          <a:prstGeom prst="roundRect">
            <a:avLst>
              <a:gd name="adj" fmla="val 4651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96912" y="185623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1" descr="/home/claude/sql_deck/icons/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471" y="1983791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001000" y="185623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0" y="253288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baris yang memiliki nilai sama, lalu menerapkan fungsi agregat pada tiap kelompok.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040880" y="3749040"/>
            <a:ext cx="4983480" cy="2331720"/>
          </a:xfrm>
          <a:prstGeom prst="roundRect">
            <a:avLst>
              <a:gd name="adj" fmla="val 3922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96912" y="400507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2" descr="/home/claude/sql_deck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471" y="4132631"/>
            <a:ext cx="311810" cy="31181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01000" y="400507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468172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 hasil setelah pengelompokan — mirip WHERE, tetapi khusus untuk kondisi pada nilai agregat.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7315200" y="50749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menyaring baris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dikelompokkan.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menyaring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dikelompokkan.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ob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Menggabungkan Tabel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834640" cy="2084832"/>
          </a:xfrm>
          <a:prstGeom prst="roundRect">
            <a:avLst>
              <a:gd name="adj" fmla="val 438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331720"/>
            <a:ext cx="566928" cy="566928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56232" y="2331720"/>
            <a:ext cx="566928" cy="566928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65376" y="2441448"/>
            <a:ext cx="201168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73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baris yang cocok di kedua tabel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11880" y="1645920"/>
            <a:ext cx="2834640" cy="2084832"/>
          </a:xfrm>
          <a:prstGeom prst="roundRect">
            <a:avLst>
              <a:gd name="adj" fmla="val 438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331720"/>
            <a:ext cx="566928" cy="566928"/>
          </a:xfrm>
          <a:prstGeom prst="ellipse">
            <a:avLst/>
          </a:prstGeom>
          <a:solidFill>
            <a:srgbClr val="22D3EE">
              <a:alpha val="6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9472" y="2331720"/>
            <a:ext cx="566928" cy="566928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3273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 tabel kiri + yang cocok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986784"/>
            <a:ext cx="2834640" cy="2084832"/>
          </a:xfrm>
          <a:prstGeom prst="roundRect">
            <a:avLst>
              <a:gd name="adj" fmla="val 438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08760" y="4672584"/>
            <a:ext cx="566928" cy="566928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56232" y="4672584"/>
            <a:ext cx="566928" cy="566928"/>
          </a:xfrm>
          <a:prstGeom prst="ellipse">
            <a:avLst/>
          </a:prstGeom>
          <a:solidFill>
            <a:srgbClr val="22D3EE">
              <a:alpha val="6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285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6144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 tabel kanan + yang cocok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11880" y="3986784"/>
            <a:ext cx="2834640" cy="2084832"/>
          </a:xfrm>
          <a:prstGeom prst="roundRect">
            <a:avLst>
              <a:gd name="adj" fmla="val 438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4672584"/>
            <a:ext cx="566928" cy="566928"/>
          </a:xfrm>
          <a:prstGeom prst="ellipse">
            <a:avLst/>
          </a:prstGeom>
          <a:solidFill>
            <a:srgbClr val="22D3EE">
              <a:alpha val="6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19472" y="4672584"/>
            <a:ext cx="566928" cy="566928"/>
          </a:xfrm>
          <a:prstGeom prst="ellipse">
            <a:avLst/>
          </a:prstGeom>
          <a:solidFill>
            <a:srgbClr val="22D3EE">
              <a:alpha val="6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49040" y="5285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JOIN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56144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baris dari kedua tabel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66560" y="1645920"/>
            <a:ext cx="4876495" cy="2651760"/>
          </a:xfrm>
          <a:prstGeom prst="roundRect">
            <a:avLst>
              <a:gd name="adj" fmla="val 3103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66560" y="2029968"/>
            <a:ext cx="4876495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31152" y="178765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7"/>
          <p:cNvSpPr/>
          <p:nvPr/>
        </p:nvSpPr>
        <p:spPr>
          <a:xfrm>
            <a:off x="7132320" y="178765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8"/>
          <p:cNvSpPr/>
          <p:nvPr/>
        </p:nvSpPr>
        <p:spPr>
          <a:xfrm>
            <a:off x="7333488" y="178765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635240" y="170078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join.sql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67728" y="2148840"/>
            <a:ext cx="45107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Gabungkan pesanan dgn data pelanggan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pesanan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pengguna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766560" y="4434840"/>
            <a:ext cx="4876495" cy="1645920"/>
          </a:xfrm>
          <a:prstGeom prst="roundRect">
            <a:avLst>
              <a:gd name="adj" fmla="val 6111"/>
            </a:avLst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86600" y="4590288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JOIN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7132320" y="4983480"/>
            <a:ext cx="4190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ON menentukan kolom penghubung antar tabel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tabel (AS p / AS u) membuat query lebih ringkas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ANTAR TABEL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— Query di Dalam Query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6309360" cy="4434840"/>
          </a:xfrm>
          <a:prstGeom prst="roundRect">
            <a:avLst>
              <a:gd name="adj" fmla="val 1856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029968"/>
            <a:ext cx="630936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8765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78765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78765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7007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subquery.sql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148840"/>
            <a:ext cx="59436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Produk dengan harga di atas rata-rata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Subquery dengan IN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pengguna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pesanan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1645920"/>
            <a:ext cx="4800600" cy="201168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43800" y="1828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Subquery?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22860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yang bersarang di dalam query lain. Query bagian dalam dijalankan lebih dulu, hasilnya dipakai oleh query luar.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223760" y="3840480"/>
            <a:ext cx="4800600" cy="2240280"/>
          </a:xfrm>
          <a:prstGeom prst="roundRect">
            <a:avLst>
              <a:gd name="adj" fmla="val 4490"/>
            </a:avLst>
          </a:prstGeom>
          <a:solidFill>
            <a:srgbClr val="162236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43800" y="4023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Dipakai Bersama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4462272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perbandingan ( = , &gt; , &lt; 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— mencocokkan daftar hasil subquery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— memeriksa keberadaan baris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INTEGRITAS DATA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Aturan Integritas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yang menjaga agar data yang masuk selalu valid dan konsisten.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2057400"/>
            <a:ext cx="530352" cy="53035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9" name="Image 1" descr="/home/claude/sql_deck/icons/key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189988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 unik tiap baris; tidak boleh kosong / ganda.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9976" y="173736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36008" y="2057400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4" name="Image 2" descr="/home/claude/sql_deck/icons/link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96" y="218998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0096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340096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ke primary key tabel lain.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11312" y="173736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67344" y="2057400"/>
            <a:ext cx="530352" cy="530352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9" name="Image 3" descr="/home/claude/sql_deck/icons/star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2" y="218998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71432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171432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nilai pada kolom harus berbeda.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292608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04672" y="3246120"/>
            <a:ext cx="530352" cy="530352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4" name="Image 4" descr="/home/claude/sql_deck/icons/ban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378708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0876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508760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wajib diisi, tidak boleh kosong.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79976" y="292608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636008" y="3246120"/>
            <a:ext cx="530352" cy="530352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29" name="Image 5" descr="/home/claude/sql_deck/icons/check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596" y="3378708"/>
            <a:ext cx="265176" cy="26517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40096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5340096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harus memenuhi syarat tertentu.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211312" y="292608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467344" y="3246120"/>
            <a:ext cx="530352" cy="530352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34" name="Image 6" descr="/home/claude/sql_deck/icons/gears_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932" y="3378708"/>
            <a:ext cx="265176" cy="26517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171432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9171432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otomatis bila tidak diisi.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548640" y="4133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penerapan dalam satu tabel: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548640" y="4425696"/>
            <a:ext cx="11094415" cy="1874520"/>
          </a:xfrm>
          <a:prstGeom prst="roundRect">
            <a:avLst>
              <a:gd name="adj" fmla="val 4390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548640" y="4809744"/>
            <a:ext cx="11094415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13232" y="4567428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1" name="Shape 32"/>
          <p:cNvSpPr/>
          <p:nvPr/>
        </p:nvSpPr>
        <p:spPr>
          <a:xfrm>
            <a:off x="914400" y="4567428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2" name="Shape 33"/>
          <p:cNvSpPr/>
          <p:nvPr/>
        </p:nvSpPr>
        <p:spPr>
          <a:xfrm>
            <a:off x="1115568" y="4567428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1417320" y="4480560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buat_tabel.sql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49808" y="4928616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pesanan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pengguna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kode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45" name="Text 3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LANJUTAN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&amp; View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20240"/>
            <a:ext cx="621792" cy="62179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/home/claude/sql_deck/icons/bol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756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938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untuk mempercepat pencarian data — seperti daftar isi pada buku.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338328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8680" y="3767328"/>
            <a:ext cx="489204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33272" y="352501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0"/>
          <p:cNvSpPr/>
          <p:nvPr/>
        </p:nvSpPr>
        <p:spPr>
          <a:xfrm>
            <a:off x="1234440" y="352501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1"/>
          <p:cNvSpPr/>
          <p:nvPr/>
        </p:nvSpPr>
        <p:spPr>
          <a:xfrm>
            <a:off x="1435608" y="352501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69848" y="38862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idx_nama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4800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 SELECT &amp; WHERE pada kolom terkait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memperlambat INSERT/UPDATE &amp; memakai ruang — pakai secukupnya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46520" y="164592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0" y="1920240"/>
            <a:ext cx="621792" cy="62179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2" descr="/home/claude/sql_deck/icons/ey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207568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89520" y="1938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766560" y="2697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virtual dari hasil sebuah query — menyederhanakan query rumit yang sering dipakai.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766560" y="3383280"/>
            <a:ext cx="4892040" cy="1417320"/>
          </a:xfrm>
          <a:prstGeom prst="roundRect">
            <a:avLst>
              <a:gd name="adj" fmla="val 5806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66560" y="3767328"/>
            <a:ext cx="489204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31152" y="352501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1"/>
          <p:cNvSpPr/>
          <p:nvPr/>
        </p:nvSpPr>
        <p:spPr>
          <a:xfrm>
            <a:off x="7132320" y="352501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2"/>
          <p:cNvSpPr/>
          <p:nvPr/>
        </p:nvSpPr>
        <p:spPr>
          <a:xfrm>
            <a:off x="7333488" y="352501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967728" y="3886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produk_aktif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stok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81228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Dipanggil seperti tabel biasa: SELECT * FROM produk_aktif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selalu mengikuti tabel aslinya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· TRANSACTION CONTROL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&amp; Prinsip ACID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0A0F1E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029968"/>
            <a:ext cx="548640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87652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78765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178765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transaksi.sql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148840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simpan permanen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A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 ROLLBACK; -- batalkan semua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17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mengelompokkan beberapa perintah menjadi satu kesatuan: semua berhasil, atau semua dibatalkan.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0" y="1645920"/>
            <a:ext cx="5577840" cy="969264"/>
          </a:xfrm>
          <a:prstGeom prst="roundRect">
            <a:avLst>
              <a:gd name="adj" fmla="val 943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18470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D3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01968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17922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213969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langkah berhasil, atau tidak sama sekali.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0" y="2761488"/>
            <a:ext cx="5577840" cy="969264"/>
          </a:xfrm>
          <a:prstGeom prst="roundRect">
            <a:avLst>
              <a:gd name="adj" fmla="val 943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01968" y="296265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DE8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01968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2907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325526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tetap valid sesuai aturan sebelum &amp; sesudah.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0" y="3877056"/>
            <a:ext cx="5577840" cy="969264"/>
          </a:xfrm>
          <a:prstGeom prst="roundRect">
            <a:avLst>
              <a:gd name="adj" fmla="val 943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01968" y="40782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BF2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01968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7360920" y="4023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360920" y="437083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berjalan tanpa saling mengganggu.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00800" y="4992624"/>
            <a:ext cx="5577840" cy="969264"/>
          </a:xfrm>
          <a:prstGeom prst="roundRect">
            <a:avLst>
              <a:gd name="adj" fmla="val 9434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01968" y="51937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C084F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601968" y="5193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5138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360920" y="5486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COMMIT, data tersimpan permanen.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Populer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didukung oleh banyak sistem manajemen basis data — sintaksnya mirip, dengan sedikit perbedaan fitur.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611880" cy="1874520"/>
          </a:xfrm>
          <a:prstGeom prst="roundRect">
            <a:avLst>
              <a:gd name="adj" fmla="val 536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258568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4479A1"/>
          </a:solidFill>
          <a:ln/>
        </p:spPr>
      </p:sp>
      <p:pic>
        <p:nvPicPr>
          <p:cNvPr id="9" name="Image 1" descr="/home/claude/sql_deck/icons/mysq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32644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paling populer untuk web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9976" y="1965960"/>
            <a:ext cx="3611880" cy="1874520"/>
          </a:xfrm>
          <a:prstGeom prst="roundRect">
            <a:avLst>
              <a:gd name="adj" fmla="val 536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54296" y="2258568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4169E1"/>
          </a:solidFill>
          <a:ln/>
        </p:spPr>
      </p:sp>
      <p:pic>
        <p:nvPicPr>
          <p:cNvPr id="14" name="Image 2" descr="/home/claude/sql_deck/icons/postgresq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441448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51576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4672584" y="32644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 fitur, standar-compliant, andal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11312" y="1965960"/>
            <a:ext cx="3611880" cy="1874520"/>
          </a:xfrm>
          <a:prstGeom prst="roundRect">
            <a:avLst>
              <a:gd name="adj" fmla="val 536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85632" y="2258568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0F80CC"/>
          </a:solidFill>
          <a:ln/>
        </p:spPr>
      </p:sp>
      <p:pic>
        <p:nvPicPr>
          <p:cNvPr id="19" name="Image 3" descr="/home/claude/sql_deck/icons/sqlit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2441448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82912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8503920" y="32644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Ringan, embedded, tanpa server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4096512"/>
            <a:ext cx="3611880" cy="1874520"/>
          </a:xfrm>
          <a:prstGeom prst="roundRect">
            <a:avLst>
              <a:gd name="adj" fmla="val 536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438912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1F7A8C"/>
          </a:solidFill>
          <a:ln/>
        </p:spPr>
      </p:sp>
      <p:pic>
        <p:nvPicPr>
          <p:cNvPr id="24" name="Image 4" descr="/home/claude/sql_deck/icons/mariadb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7200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920240" y="44622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841248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MySQL yang sepenuhnya open-source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379976" y="4096512"/>
            <a:ext cx="3611880" cy="1874520"/>
          </a:xfrm>
          <a:prstGeom prst="roundRect">
            <a:avLst>
              <a:gd name="adj" fmla="val 536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654296" y="438912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A4373A"/>
          </a:solidFill>
          <a:ln/>
        </p:spPr>
      </p:sp>
      <p:pic>
        <p:nvPicPr>
          <p:cNvPr id="29" name="Image 5" descr="/home/claude/sql_deck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4572000"/>
            <a:ext cx="548640" cy="5486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751576" y="44622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900" dirty="0"/>
          </a:p>
        </p:txBody>
      </p:sp>
      <p:sp>
        <p:nvSpPr>
          <p:cNvPr id="31" name="Text 23"/>
          <p:cNvSpPr txBox="1"/>
          <p:nvPr/>
        </p:nvSpPr>
        <p:spPr>
          <a:xfrm>
            <a:off x="4672584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enterprise dari Microsoft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211312" y="4096512"/>
            <a:ext cx="3611880" cy="1874520"/>
          </a:xfrm>
          <a:prstGeom prst="roundRect">
            <a:avLst>
              <a:gd name="adj" fmla="val 5366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485632" y="438912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C74634"/>
          </a:solidFill>
          <a:ln/>
        </p:spPr>
      </p:sp>
      <p:pic>
        <p:nvPicPr>
          <p:cNvPr id="34" name="Image 6" descr="/home/claude/sql_deck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4572000"/>
            <a:ext cx="548640" cy="5486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582912" y="44622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900" dirty="0"/>
          </a:p>
        </p:txBody>
      </p:sp>
      <p:sp>
        <p:nvSpPr>
          <p:cNvPr id="36" name="Text 27"/>
          <p:cNvSpPr txBox="1"/>
          <p:nvPr/>
        </p:nvSpPr>
        <p:spPr>
          <a:xfrm>
            <a:off x="8503920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enterprise skala besar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/home/claude/sql_deck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605333"/>
            <a:ext cx="362102" cy="362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PRAKTIK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713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Tips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2011680"/>
            <a:ext cx="530352" cy="530352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8" name="Image 1" descr="/home/claude/sql_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144268"/>
            <a:ext cx="265176" cy="265176"/>
          </a:xfrm>
          <a:prstGeom prst="rect">
            <a:avLst/>
          </a:prstGeom>
        </p:spPr>
      </p:pic>
      <p:pic>
        <p:nvPicPr>
          <p:cNvPr id="9" name="Image 2" descr="/home/claude/sql_dec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44268"/>
            <a:ext cx="265176" cy="26517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874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Sebut kolom secara eksplisit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1508760" y="225856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SELECT * di produksi — pilih kolom yang benar-benar dibutuhkan.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208776" y="1691640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64808" y="2011680"/>
            <a:ext cx="530352" cy="530352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14" name="Image 3" descr="/home/claude/sql_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2144268"/>
            <a:ext cx="265176" cy="265176"/>
          </a:xfrm>
          <a:prstGeom prst="rect">
            <a:avLst/>
          </a:prstGeom>
        </p:spPr>
      </p:pic>
      <p:pic>
        <p:nvPicPr>
          <p:cNvPr id="15" name="Image 4" descr="/home/claude/sql_dec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144268"/>
            <a:ext cx="265176" cy="26517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168896" y="1874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cek WHERE sebelum UPDATE/DELETE</a:t>
            </a:r>
            <a:endParaRPr lang="en-US" sz="1450" dirty="0"/>
          </a:p>
        </p:txBody>
      </p:sp>
      <p:sp>
        <p:nvSpPr>
          <p:cNvPr id="17" name="Text 10"/>
          <p:cNvSpPr txBox="1"/>
          <p:nvPr/>
        </p:nvSpPr>
        <p:spPr>
          <a:xfrm>
            <a:off x="7168896" y="225856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dengan SELECT terlebih dulu agar tidak mengubah data yang salah.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48640" y="3081528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04672" y="3401568"/>
            <a:ext cx="530352" cy="530352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20" name="Image 5" descr="/home/claude/sql_deck/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3534156"/>
            <a:ext cx="265176" cy="265176"/>
          </a:xfrm>
          <a:prstGeom prst="rect">
            <a:avLst/>
          </a:prstGeom>
        </p:spPr>
      </p:pic>
      <p:pic>
        <p:nvPicPr>
          <p:cNvPr id="21" name="Image 6" descr="/home/claude/sql_deck/icons/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3534156"/>
            <a:ext cx="265176" cy="26517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508760" y="326440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INDEX dengan bijak</a:t>
            </a:r>
            <a:endParaRPr lang="en-US" sz="1450" dirty="0"/>
          </a:p>
        </p:txBody>
      </p:sp>
      <p:sp>
        <p:nvSpPr>
          <p:cNvPr id="23" name="Text 14"/>
          <p:cNvSpPr txBox="1"/>
          <p:nvPr/>
        </p:nvSpPr>
        <p:spPr>
          <a:xfrm>
            <a:off x="1508760" y="36484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index pada kolom yang sering difilter atau di-JOIN.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6208776" y="3081528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6464808" y="3401568"/>
            <a:ext cx="530352" cy="530352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26" name="Image 7" descr="/home/claude/sql_deck/icons/k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7396" y="3534156"/>
            <a:ext cx="265176" cy="265176"/>
          </a:xfrm>
          <a:prstGeom prst="rect">
            <a:avLst/>
          </a:prstGeom>
        </p:spPr>
      </p:pic>
      <p:pic>
        <p:nvPicPr>
          <p:cNvPr id="27" name="Image 8" descr="/home/claude/sql_deck/icons/k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7396" y="3534156"/>
            <a:ext cx="265176" cy="265176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168896" y="326440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PRIMARY KEY di setiap tabel</a:t>
            </a:r>
            <a:endParaRPr lang="en-US" sz="1450" dirty="0"/>
          </a:p>
        </p:txBody>
      </p:sp>
      <p:sp>
        <p:nvSpPr>
          <p:cNvPr id="29" name="Text 18"/>
          <p:cNvSpPr txBox="1"/>
          <p:nvPr/>
        </p:nvSpPr>
        <p:spPr>
          <a:xfrm>
            <a:off x="7168896" y="36484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integritas &amp; relasi antar tabel terjaga.</a:t>
            </a:r>
            <a:endParaRPr lang="en-US" sz="1200" dirty="0"/>
          </a:p>
        </p:txBody>
      </p:sp>
      <p:sp>
        <p:nvSpPr>
          <p:cNvPr id="30" name="Shape 19"/>
          <p:cNvSpPr/>
          <p:nvPr/>
        </p:nvSpPr>
        <p:spPr>
          <a:xfrm>
            <a:off x="548640" y="4471416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804672" y="4791456"/>
            <a:ext cx="530352" cy="530352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32" name="Image 9" descr="/home/claude/sql_deck/icons/boo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" y="4924044"/>
            <a:ext cx="265176" cy="265176"/>
          </a:xfrm>
          <a:prstGeom prst="rect">
            <a:avLst/>
          </a:prstGeom>
        </p:spPr>
      </p:pic>
      <p:pic>
        <p:nvPicPr>
          <p:cNvPr id="33" name="Image 10" descr="/home/claude/sql_deck/icons/boo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" y="4924044"/>
            <a:ext cx="265176" cy="265176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508760" y="465429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penamaan yang konsisten</a:t>
            </a:r>
            <a:endParaRPr lang="en-US" sz="1450" dirty="0"/>
          </a:p>
        </p:txBody>
      </p:sp>
      <p:sp>
        <p:nvSpPr>
          <p:cNvPr id="35" name="Text 22"/>
          <p:cNvSpPr txBox="1"/>
          <p:nvPr/>
        </p:nvSpPr>
        <p:spPr>
          <a:xfrm>
            <a:off x="1508760" y="50383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tabel &amp; kolom jelas, seragam (mis. snake_case).</a:t>
            </a:r>
            <a:endParaRPr lang="en-US" sz="1200" dirty="0"/>
          </a:p>
        </p:txBody>
      </p:sp>
      <p:sp>
        <p:nvSpPr>
          <p:cNvPr id="36" name="Shape 23"/>
          <p:cNvSpPr/>
          <p:nvPr/>
        </p:nvSpPr>
        <p:spPr>
          <a:xfrm>
            <a:off x="6208776" y="4471416"/>
            <a:ext cx="5440680" cy="1170432"/>
          </a:xfrm>
          <a:prstGeom prst="roundRect">
            <a:avLst>
              <a:gd name="adj" fmla="val 7813"/>
            </a:avLst>
          </a:prstGeom>
          <a:solidFill>
            <a:srgbClr val="1B274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6464808" y="4791456"/>
            <a:ext cx="530352" cy="530352"/>
          </a:xfrm>
          <a:prstGeom prst="ellipse">
            <a:avLst/>
          </a:prstGeom>
          <a:solidFill>
            <a:srgbClr val="12324A"/>
          </a:solidFill>
          <a:ln/>
        </p:spPr>
      </p:sp>
      <p:pic>
        <p:nvPicPr>
          <p:cNvPr id="38" name="Image 11" descr="/home/claude/sql_deck/icons/exchan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7396" y="4924044"/>
            <a:ext cx="265176" cy="265176"/>
          </a:xfrm>
          <a:prstGeom prst="rect">
            <a:avLst/>
          </a:prstGeom>
        </p:spPr>
      </p:pic>
      <p:pic>
        <p:nvPicPr>
          <p:cNvPr id="39" name="Image 12" descr="/home/claude/sql_deck/icons/exchan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7396" y="4924044"/>
            <a:ext cx="265176" cy="265176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7168896" y="465429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operasi kritis dalam transaksi</a:t>
            </a:r>
            <a:endParaRPr lang="en-US" sz="1450" dirty="0"/>
          </a:p>
        </p:txBody>
      </p:sp>
      <p:sp>
        <p:nvSpPr>
          <p:cNvPr id="41" name="Text 26"/>
          <p:cNvSpPr txBox="1"/>
          <p:nvPr/>
        </p:nvSpPr>
        <p:spPr>
          <a:xfrm>
            <a:off x="7168896" y="50383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bisa ROLLBACK bila terjadi kesalahan.</a:t>
            </a:r>
            <a:endParaRPr lang="en-US" sz="1200" dirty="0"/>
          </a:p>
        </p:txBody>
      </p:sp>
      <p:sp>
        <p:nvSpPr>
          <p:cNvPr id="42" name="Text 2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3" name="Text 2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Panduan Komprehensif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l_deck/icons/databas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595360" y="118872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" name="Image 1" descr="/home/claude/sql_deck/icons/flag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760220"/>
            <a:ext cx="411480" cy="411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21208" y="2971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Telah Mengenal SQL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konsep database relasional, perintah DDL/DML/DQL, filter &amp; agregasi, JOIN, hingga constraint dan transaksi ACID — fondasi lengkap untuk mengelola data.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502920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292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682496" y="5029200"/>
            <a:ext cx="84582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682496" y="5029200"/>
            <a:ext cx="84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711196" y="5029200"/>
            <a:ext cx="740664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11196" y="502920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634740" y="502920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34740" y="50292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978908" y="5029200"/>
            <a:ext cx="84582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78908" y="5029200"/>
            <a:ext cx="84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07608" y="5029200"/>
            <a:ext cx="1476756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07608" y="5029200"/>
            <a:ext cx="1476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5806440"/>
            <a:ext cx="3108960" cy="0"/>
          </a:xfrm>
          <a:prstGeom prst="line">
            <a:avLst/>
          </a:prstGeom>
          <a:noFill/>
          <a:ln w="19050">
            <a:solidFill>
              <a:srgbClr val="2A3B5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selamat belajar &amp; bereksperimen dengan query!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2026-09-21T14:36:39Z</dcterms:created>
  <dcterms:modified xsi:type="dcterms:W3CDTF">2026-09-21T14:36:39Z</dcterms:modified>
</cp:coreProperties>
</file>