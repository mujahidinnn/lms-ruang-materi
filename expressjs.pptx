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8057a922-8792-4ec6-3c94-a8e5e8ca6677}">
          <p14:sldIdLst>
            <p14:sldId id="256"/>
            <p14:sldId id="257"/>
          </p14:sldIdLst>
        </p14:section>
        <p14:section name="01 · Pengenalan &amp; Setup" id="{6f03cfaa-dc03-b2d7-9eca-d4af1674dcf6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02 · Routing" id="{285c9329-74c4-9ef3-af30-c2a726ad0945}">
          <p14:sldIdLst>
            <p14:sldId id="265"/>
            <p14:sldId id="266"/>
            <p14:sldId id="267"/>
            <p14:sldId id="268"/>
            <p14:sldId id="269"/>
          </p14:sldIdLst>
        </p14:section>
        <p14:section name="03 · Middleware" id="{8feec0fd-753f-00ec-9db8-0742a0945be9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04 · Request, Response &amp; Error" id="{04c7e912-8946-4b34-bc28-556a6b3cfa93}">
          <p14:sldIdLst>
            <p14:sldId id="276"/>
            <p14:sldId id="277"/>
            <p14:sldId id="278"/>
            <p14:sldId id="279"/>
          </p14:sldIdLst>
        </p14:section>
        <p14:section name="05 · REST API" id="{e70e43f8-8b46-5e27-68ed-dfa8fb4ccf1f}">
          <p14:sldIdLst>
            <p14:sldId id="280"/>
            <p14:sldId id="281"/>
            <p14:sldId id="282"/>
            <p14:sldId id="283"/>
            <p14:sldId id="284"/>
          </p14:sldIdLst>
        </p14:section>
        <p14:section name="06 · Database &amp; ORM" id="{0f1b5ee7-b89e-add7-14cf-d0cd1685846e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07 · Autentikasi" id="{7832a2d9-ce87-1d94-8f8e-7f77fbec3416}">
          <p14:sldIdLst>
            <p14:sldId id="291"/>
            <p14:sldId id="292"/>
            <p14:sldId id="293"/>
            <p14:sldId id="294"/>
            <p14:sldId id="295"/>
          </p14:sldIdLst>
        </p14:section>
        <p14:section name="08 · TypeScript &amp; Docker" id="{1fbd5d2a-1f57-4536-7bef-c1f7743dcd74}">
          <p14:sldIdLst>
            <p14:sldId id="296"/>
            <p14:sldId id="297"/>
            <p14:sldId id="298"/>
            <p14:sldId id="299"/>
            <p14:sldId id="300"/>
          </p14:sldIdLst>
        </p14:section>
        <p14:section name="09 · Produksi &amp; Migrasi" id="{5693daa3-f9ff-43b0-0fc7-3fcb3b58783e}">
          <p14:sldIdLst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10 · Latihan" id="{082f7155-86f4-a6dc-9ceb-8af07c1e29fa}">
          <p14:sldIdLst>
            <p14:sldId id="307"/>
            <p14:sldId id="308"/>
            <p14:sldId id="309"/>
            <p14:sldId id="310"/>
          </p14:sldIdLst>
        </p14:section>
        <p14:section name="Penutup" id="{28c042b3-55bd-248c-eba6-6f59c585afeb}">
          <p14:sldIdLst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Pembukaan. Logo Express ditampilkan di sampul dan pojok kanan atas tiap slide 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Express 5, req.body bernilai undefined jika tidak ada body parser yang memprosesnya (v4: objek kosong).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Prisma 7: URL database dipindah ke prisma.config.ts, client di-generate ke folder output (TypeScript), dan driver adapter wajib. Buat satu instance PrismaClient untuk seluruh aplikasi.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Pesan error login sengaja dibuat sama untuk email salah maupun password salah, agar penyerang tidak bisa menebak email terdaftar.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tsx menjalankan TypeScript langsung saat development; untuk produksi, kompilasi dengan tsc lalu jalankan JavaScript hasil build. @types/express versi 5 sudah tersedia untuk Express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migrasi: naikkan Node.js ke 18+, npm install express@5, jalankan test, perbaiki pola path dan metode yang dihapus. Lihat panduan migrasi resmi di expressjs.com.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98755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/tmp/claude-0/-home-claude/b57cddaf-c2cf-5fb2-8d07-1749d644b2b9/scratchpad/logo/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384048"/>
            <a:ext cx="1188720" cy="4096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Express.js 5 · Materi Lengkap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image" Target="../media/image-51-9.png"/><Relationship Id="rId10" Type="http://schemas.openxmlformats.org/officeDocument/2006/relationships/image" Target="../media/image-51-10.pn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5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hyperlink" Target="https://expressjs.com" TargetMode="External"/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express" descr="/tmp/claude-0/-home-claude/b57cddaf-c2cf-5fb2-8d07-1749d644b2b9/scratchpad/logo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Express.js 5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Materi lengkap membangun web server &amp; REST API dengan Node.js — dari dasar, database, autentikasi, hingga produksi</a:t>
            </a:r>
            <a:endParaRPr lang="en-US" sz="2200" dirty="0"/>
          </a:p>
        </p:txBody>
      </p:sp>
      <p:sp>
        <p:nvSpPr>
          <p:cNvPr id="5" name="cover-rule"/>
          <p:cNvSpPr/>
          <p:nvPr/>
        </p:nvSpPr>
        <p:spPr>
          <a:xfrm>
            <a:off x="731520" y="4983480"/>
            <a:ext cx="274320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solid"/>
          </a:ln>
        </p:spPr>
      </p:sp>
      <p:sp>
        <p:nvSpPr>
          <p:cNvPr id="6" name="cover-meta"/>
          <p:cNvSpPr txBox="1"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Versi terbaru: 5.2.1</a:t>
            </a:r>
            <a:pPr indent="0" marL="0">
              <a:buNone/>
            </a:pPr>
            <a:r>
              <a:rPr lang="en-US" sz="1600" dirty="0">
                <a:solidFill>
                  <a:srgbClr val="A3A3A3"/>
                </a:solidFill>
              </a:rPr>
              <a:t>   ·   Node.js 18+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card-1"/>
          <p:cNvSpPr/>
          <p:nvPr/>
        </p:nvSpPr>
        <p:spPr>
          <a:xfrm>
            <a:off x="548640" y="132588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-2"/>
          <p:cNvSpPr txBox="1"/>
          <p:nvPr/>
        </p:nvSpPr>
        <p:spPr>
          <a:xfrm>
            <a:off x="777240" y="1508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icon-bg-3"/>
          <p:cNvSpPr/>
          <p:nvPr/>
        </p:nvSpPr>
        <p:spPr>
          <a:xfrm>
            <a:off x="141732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609344"/>
            <a:ext cx="256032" cy="256032"/>
          </a:xfrm>
          <a:prstGeom prst="rect">
            <a:avLst/>
          </a:prstGeom>
        </p:spPr>
      </p:pic>
      <p:sp>
        <p:nvSpPr>
          <p:cNvPr id="7" name="txt-5"/>
          <p:cNvSpPr txBox="1"/>
          <p:nvPr/>
        </p:nvSpPr>
        <p:spPr>
          <a:xfrm>
            <a:off x="21031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Pengenalan &amp; Setup</a:t>
            </a:r>
            <a:endParaRPr lang="en-US" sz="1600" dirty="0"/>
          </a:p>
        </p:txBody>
      </p:sp>
      <p:sp>
        <p:nvSpPr>
          <p:cNvPr id="8" name="txt-6"/>
          <p:cNvSpPr txBox="1"/>
          <p:nvPr/>
        </p:nvSpPr>
        <p:spPr>
          <a:xfrm>
            <a:off x="210312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Konsep, versi, instalasi, konfigurasi .env</a:t>
            </a:r>
            <a:endParaRPr lang="en-US" sz="1300" dirty="0"/>
          </a:p>
        </p:txBody>
      </p:sp>
      <p:sp>
        <p:nvSpPr>
          <p:cNvPr id="9" name="card-7"/>
          <p:cNvSpPr/>
          <p:nvPr/>
        </p:nvSpPr>
        <p:spPr>
          <a:xfrm>
            <a:off x="6172200" y="132588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-8"/>
          <p:cNvSpPr txBox="1"/>
          <p:nvPr/>
        </p:nvSpPr>
        <p:spPr>
          <a:xfrm>
            <a:off x="6400800" y="15087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icon-bg-9"/>
          <p:cNvSpPr/>
          <p:nvPr/>
        </p:nvSpPr>
        <p:spPr>
          <a:xfrm>
            <a:off x="704088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1609344"/>
            <a:ext cx="256032" cy="256032"/>
          </a:xfrm>
          <a:prstGeom prst="rect">
            <a:avLst/>
          </a:prstGeom>
        </p:spPr>
      </p:pic>
      <p:sp>
        <p:nvSpPr>
          <p:cNvPr id="13" name="txt-11"/>
          <p:cNvSpPr txBox="1"/>
          <p:nvPr/>
        </p:nvSpPr>
        <p:spPr>
          <a:xfrm>
            <a:off x="77266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Routing</a:t>
            </a:r>
            <a:endParaRPr lang="en-US" sz="1600" dirty="0"/>
          </a:p>
        </p:txBody>
      </p:sp>
      <p:sp>
        <p:nvSpPr>
          <p:cNvPr id="14" name="txt-12"/>
          <p:cNvSpPr txBox="1"/>
          <p:nvPr/>
        </p:nvSpPr>
        <p:spPr>
          <a:xfrm>
            <a:off x="772668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Metode, path v5, query &amp; pagination, Router</a:t>
            </a:r>
            <a:endParaRPr lang="en-US" sz="1300" dirty="0"/>
          </a:p>
        </p:txBody>
      </p:sp>
      <p:sp>
        <p:nvSpPr>
          <p:cNvPr id="15" name="card-13"/>
          <p:cNvSpPr/>
          <p:nvPr/>
        </p:nvSpPr>
        <p:spPr>
          <a:xfrm>
            <a:off x="548640" y="228600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14"/>
          <p:cNvSpPr txBox="1"/>
          <p:nvPr/>
        </p:nvSpPr>
        <p:spPr>
          <a:xfrm>
            <a:off x="77724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icon-bg-15"/>
          <p:cNvSpPr/>
          <p:nvPr/>
        </p:nvSpPr>
        <p:spPr>
          <a:xfrm>
            <a:off x="1417320" y="2441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36" y="2569464"/>
            <a:ext cx="256032" cy="256032"/>
          </a:xfrm>
          <a:prstGeom prst="rect">
            <a:avLst/>
          </a:prstGeom>
        </p:spPr>
      </p:pic>
      <p:sp>
        <p:nvSpPr>
          <p:cNvPr id="19" name="txt-17"/>
          <p:cNvSpPr txBox="1"/>
          <p:nvPr/>
        </p:nvSpPr>
        <p:spPr>
          <a:xfrm>
            <a:off x="21031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Middleware</a:t>
            </a:r>
            <a:endParaRPr lang="en-US" sz="1600" dirty="0"/>
          </a:p>
        </p:txBody>
      </p:sp>
      <p:sp>
        <p:nvSpPr>
          <p:cNvPr id="20" name="txt-18"/>
          <p:cNvSpPr txBox="1"/>
          <p:nvPr/>
        </p:nvSpPr>
        <p:spPr>
          <a:xfrm>
            <a:off x="2103120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Alur, jenis, cookie, CORS, upload file</a:t>
            </a:r>
            <a:endParaRPr lang="en-US" sz="1300" dirty="0"/>
          </a:p>
        </p:txBody>
      </p:sp>
      <p:sp>
        <p:nvSpPr>
          <p:cNvPr id="21" name="card-19"/>
          <p:cNvSpPr/>
          <p:nvPr/>
        </p:nvSpPr>
        <p:spPr>
          <a:xfrm>
            <a:off x="6172200" y="228600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-20"/>
          <p:cNvSpPr txBox="1"/>
          <p:nvPr/>
        </p:nvSpPr>
        <p:spPr>
          <a:xfrm>
            <a:off x="640080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icon-bg-21"/>
          <p:cNvSpPr/>
          <p:nvPr/>
        </p:nvSpPr>
        <p:spPr>
          <a:xfrm>
            <a:off x="7040880" y="24414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-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569464"/>
            <a:ext cx="256032" cy="256032"/>
          </a:xfrm>
          <a:prstGeom prst="rect">
            <a:avLst/>
          </a:prstGeom>
        </p:spPr>
      </p:pic>
      <p:sp>
        <p:nvSpPr>
          <p:cNvPr id="25" name="txt-23"/>
          <p:cNvSpPr txBox="1"/>
          <p:nvPr/>
        </p:nvSpPr>
        <p:spPr>
          <a:xfrm>
            <a:off x="77266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Request, Response &amp; Error</a:t>
            </a:r>
            <a:endParaRPr lang="en-US" sz="1600" dirty="0"/>
          </a:p>
        </p:txBody>
      </p:sp>
      <p:sp>
        <p:nvSpPr>
          <p:cNvPr id="26" name="txt-24"/>
          <p:cNvSpPr txBox="1"/>
          <p:nvPr/>
        </p:nvSpPr>
        <p:spPr>
          <a:xfrm>
            <a:off x="7726680" y="2715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Objek req/res, error async, template</a:t>
            </a:r>
            <a:endParaRPr lang="en-US" sz="1300" dirty="0"/>
          </a:p>
        </p:txBody>
      </p:sp>
      <p:sp>
        <p:nvSpPr>
          <p:cNvPr id="27" name="card-25"/>
          <p:cNvSpPr/>
          <p:nvPr/>
        </p:nvSpPr>
        <p:spPr>
          <a:xfrm>
            <a:off x="548640" y="324612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xt-26"/>
          <p:cNvSpPr txBox="1"/>
          <p:nvPr/>
        </p:nvSpPr>
        <p:spPr>
          <a:xfrm>
            <a:off x="777240" y="3429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05</a:t>
            </a:r>
            <a:endParaRPr lang="en-US" sz="2200" dirty="0"/>
          </a:p>
        </p:txBody>
      </p:sp>
      <p:sp>
        <p:nvSpPr>
          <p:cNvPr id="29" name="icon-bg-27"/>
          <p:cNvSpPr/>
          <p:nvPr/>
        </p:nvSpPr>
        <p:spPr>
          <a:xfrm>
            <a:off x="1417320" y="34015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336" y="3529584"/>
            <a:ext cx="256032" cy="256032"/>
          </a:xfrm>
          <a:prstGeom prst="rect">
            <a:avLst/>
          </a:prstGeom>
        </p:spPr>
      </p:pic>
      <p:sp>
        <p:nvSpPr>
          <p:cNvPr id="31" name="txt-29"/>
          <p:cNvSpPr txBox="1"/>
          <p:nvPr/>
        </p:nvSpPr>
        <p:spPr>
          <a:xfrm>
            <a:off x="21031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Membangun REST API</a:t>
            </a:r>
            <a:endParaRPr lang="en-US" sz="1600" dirty="0"/>
          </a:p>
        </p:txBody>
      </p:sp>
      <p:sp>
        <p:nvSpPr>
          <p:cNvPr id="32" name="txt-30"/>
          <p:cNvSpPr txBox="1"/>
          <p:nvPr/>
        </p:nvSpPr>
        <p:spPr>
          <a:xfrm>
            <a:off x="210312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Konvensi, CRUD, validasi, struktur</a:t>
            </a:r>
            <a:endParaRPr lang="en-US" sz="1300" dirty="0"/>
          </a:p>
        </p:txBody>
      </p:sp>
      <p:sp>
        <p:nvSpPr>
          <p:cNvPr id="33" name="card-31"/>
          <p:cNvSpPr/>
          <p:nvPr/>
        </p:nvSpPr>
        <p:spPr>
          <a:xfrm>
            <a:off x="6172200" y="324612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-32"/>
          <p:cNvSpPr txBox="1"/>
          <p:nvPr/>
        </p:nvSpPr>
        <p:spPr>
          <a:xfrm>
            <a:off x="6400800" y="3429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06</a:t>
            </a:r>
            <a:endParaRPr lang="en-US" sz="2200" dirty="0"/>
          </a:p>
        </p:txBody>
      </p:sp>
      <p:sp>
        <p:nvSpPr>
          <p:cNvPr id="35" name="icon-bg-33"/>
          <p:cNvSpPr/>
          <p:nvPr/>
        </p:nvSpPr>
        <p:spPr>
          <a:xfrm>
            <a:off x="7040880" y="34015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con-3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3529584"/>
            <a:ext cx="256032" cy="256032"/>
          </a:xfrm>
          <a:prstGeom prst="rect">
            <a:avLst/>
          </a:prstGeom>
        </p:spPr>
      </p:pic>
      <p:sp>
        <p:nvSpPr>
          <p:cNvPr id="37" name="txt-35"/>
          <p:cNvSpPr txBox="1"/>
          <p:nvPr/>
        </p:nvSpPr>
        <p:spPr>
          <a:xfrm>
            <a:off x="772668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 &amp; ORM</a:t>
            </a:r>
            <a:endParaRPr lang="en-US" sz="1600" dirty="0"/>
          </a:p>
        </p:txBody>
      </p:sp>
      <p:sp>
        <p:nvSpPr>
          <p:cNvPr id="38" name="txt-36"/>
          <p:cNvSpPr txBox="1"/>
          <p:nvPr/>
        </p:nvSpPr>
        <p:spPr>
          <a:xfrm>
            <a:off x="7726680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MongoDB + Mongoose, PostgreSQL + Prisma 7</a:t>
            </a:r>
            <a:endParaRPr lang="en-US" sz="1300" dirty="0"/>
          </a:p>
        </p:txBody>
      </p:sp>
      <p:sp>
        <p:nvSpPr>
          <p:cNvPr id="39" name="card-37"/>
          <p:cNvSpPr/>
          <p:nvPr/>
        </p:nvSpPr>
        <p:spPr>
          <a:xfrm>
            <a:off x="548640" y="420624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xt-38"/>
          <p:cNvSpPr txBox="1"/>
          <p:nvPr/>
        </p:nvSpPr>
        <p:spPr>
          <a:xfrm>
            <a:off x="777240" y="4389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07</a:t>
            </a:r>
            <a:endParaRPr lang="en-US" sz="2200" dirty="0"/>
          </a:p>
        </p:txBody>
      </p:sp>
      <p:sp>
        <p:nvSpPr>
          <p:cNvPr id="41" name="icon-bg-39"/>
          <p:cNvSpPr/>
          <p:nvPr/>
        </p:nvSpPr>
        <p:spPr>
          <a:xfrm>
            <a:off x="1417320" y="43616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2" name="icon-4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5336" y="4489704"/>
            <a:ext cx="256032" cy="256032"/>
          </a:xfrm>
          <a:prstGeom prst="rect">
            <a:avLst/>
          </a:prstGeom>
        </p:spPr>
      </p:pic>
      <p:sp>
        <p:nvSpPr>
          <p:cNvPr id="43" name="txt-41"/>
          <p:cNvSpPr txBox="1"/>
          <p:nvPr/>
        </p:nvSpPr>
        <p:spPr>
          <a:xfrm>
            <a:off x="210312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Autentikasi &amp; Otorisasi</a:t>
            </a:r>
            <a:endParaRPr lang="en-US" sz="1600" dirty="0"/>
          </a:p>
        </p:txBody>
      </p:sp>
      <p:sp>
        <p:nvSpPr>
          <p:cNvPr id="44" name="txt-42"/>
          <p:cNvSpPr txBox="1"/>
          <p:nvPr/>
        </p:nvSpPr>
        <p:spPr>
          <a:xfrm>
            <a:off x="2103120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bcrypt, JWT, role, session vs token</a:t>
            </a:r>
            <a:endParaRPr lang="en-US" sz="1300" dirty="0"/>
          </a:p>
        </p:txBody>
      </p:sp>
      <p:sp>
        <p:nvSpPr>
          <p:cNvPr id="45" name="card-43"/>
          <p:cNvSpPr/>
          <p:nvPr/>
        </p:nvSpPr>
        <p:spPr>
          <a:xfrm>
            <a:off x="6172200" y="420624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xt-44"/>
          <p:cNvSpPr txBox="1"/>
          <p:nvPr/>
        </p:nvSpPr>
        <p:spPr>
          <a:xfrm>
            <a:off x="6400800" y="4389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08</a:t>
            </a:r>
            <a:endParaRPr lang="en-US" sz="2200" dirty="0"/>
          </a:p>
        </p:txBody>
      </p:sp>
      <p:sp>
        <p:nvSpPr>
          <p:cNvPr id="47" name="icon-bg-45"/>
          <p:cNvSpPr/>
          <p:nvPr/>
        </p:nvSpPr>
        <p:spPr>
          <a:xfrm>
            <a:off x="7040880" y="43616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icon-4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8896" y="4489704"/>
            <a:ext cx="256032" cy="256032"/>
          </a:xfrm>
          <a:prstGeom prst="rect">
            <a:avLst/>
          </a:prstGeom>
        </p:spPr>
      </p:pic>
      <p:sp>
        <p:nvSpPr>
          <p:cNvPr id="49" name="txt-47"/>
          <p:cNvSpPr txBox="1"/>
          <p:nvPr/>
        </p:nvSpPr>
        <p:spPr>
          <a:xfrm>
            <a:off x="772668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TypeScript &amp; Docker</a:t>
            </a:r>
            <a:endParaRPr lang="en-US" sz="1600" dirty="0"/>
          </a:p>
        </p:txBody>
      </p:sp>
      <p:sp>
        <p:nvSpPr>
          <p:cNvPr id="50" name="txt-48"/>
          <p:cNvSpPr txBox="1"/>
          <p:nvPr/>
        </p:nvSpPr>
        <p:spPr>
          <a:xfrm>
            <a:off x="7726680" y="4636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Typed handler, Dockerfile, Compose</a:t>
            </a:r>
            <a:endParaRPr lang="en-US" sz="1300" dirty="0"/>
          </a:p>
        </p:txBody>
      </p:sp>
      <p:sp>
        <p:nvSpPr>
          <p:cNvPr id="51" name="card-49"/>
          <p:cNvSpPr/>
          <p:nvPr/>
        </p:nvSpPr>
        <p:spPr>
          <a:xfrm>
            <a:off x="548640" y="516636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xt-50"/>
          <p:cNvSpPr txBox="1"/>
          <p:nvPr/>
        </p:nvSpPr>
        <p:spPr>
          <a:xfrm>
            <a:off x="777240" y="5349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09</a:t>
            </a:r>
            <a:endParaRPr lang="en-US" sz="2200" dirty="0"/>
          </a:p>
        </p:txBody>
      </p:sp>
      <p:sp>
        <p:nvSpPr>
          <p:cNvPr id="53" name="icon-bg-51"/>
          <p:cNvSpPr/>
          <p:nvPr/>
        </p:nvSpPr>
        <p:spPr>
          <a:xfrm>
            <a:off x="1417320" y="5321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4" name="icon-5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45336" y="5449824"/>
            <a:ext cx="256032" cy="256032"/>
          </a:xfrm>
          <a:prstGeom prst="rect">
            <a:avLst/>
          </a:prstGeom>
        </p:spPr>
      </p:pic>
      <p:sp>
        <p:nvSpPr>
          <p:cNvPr id="55" name="txt-53"/>
          <p:cNvSpPr txBox="1"/>
          <p:nvPr/>
        </p:nvSpPr>
        <p:spPr>
          <a:xfrm>
            <a:off x="210312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Produksi &amp; Migrasi</a:t>
            </a:r>
            <a:endParaRPr lang="en-US" sz="1600" dirty="0"/>
          </a:p>
        </p:txBody>
      </p:sp>
      <p:sp>
        <p:nvSpPr>
          <p:cNvPr id="56" name="txt-54"/>
          <p:cNvSpPr txBox="1"/>
          <p:nvPr/>
        </p:nvSpPr>
        <p:spPr>
          <a:xfrm>
            <a:off x="2103120" y="5596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Keamanan, testing, deploy, v4 → v5</a:t>
            </a:r>
            <a:endParaRPr lang="en-US" sz="1300" dirty="0"/>
          </a:p>
        </p:txBody>
      </p:sp>
      <p:sp>
        <p:nvSpPr>
          <p:cNvPr id="57" name="card-55"/>
          <p:cNvSpPr/>
          <p:nvPr/>
        </p:nvSpPr>
        <p:spPr>
          <a:xfrm>
            <a:off x="6172200" y="5166360"/>
            <a:ext cx="53492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8" name="txt-56"/>
          <p:cNvSpPr txBox="1"/>
          <p:nvPr/>
        </p:nvSpPr>
        <p:spPr>
          <a:xfrm>
            <a:off x="6400800" y="53492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</a:t>
            </a:r>
            <a:endParaRPr lang="en-US" sz="2200" dirty="0"/>
          </a:p>
        </p:txBody>
      </p:sp>
      <p:sp>
        <p:nvSpPr>
          <p:cNvPr id="59" name="icon-bg-57"/>
          <p:cNvSpPr/>
          <p:nvPr/>
        </p:nvSpPr>
        <p:spPr>
          <a:xfrm>
            <a:off x="7040880" y="53218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0" name="icon-5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8896" y="5449824"/>
            <a:ext cx="256032" cy="256032"/>
          </a:xfrm>
          <a:prstGeom prst="rect">
            <a:avLst/>
          </a:prstGeom>
        </p:spPr>
      </p:pic>
      <p:sp>
        <p:nvSpPr>
          <p:cNvPr id="61" name="txt-59"/>
          <p:cNvSpPr txBox="1"/>
          <p:nvPr/>
        </p:nvSpPr>
        <p:spPr>
          <a:xfrm>
            <a:off x="772668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Latihan</a:t>
            </a:r>
            <a:endParaRPr lang="en-US" sz="1600" dirty="0"/>
          </a:p>
        </p:txBody>
      </p:sp>
      <p:sp>
        <p:nvSpPr>
          <p:cNvPr id="62" name="txt-60"/>
          <p:cNvSpPr txBox="1"/>
          <p:nvPr/>
        </p:nvSpPr>
        <p:spPr>
          <a:xfrm>
            <a:off x="7726680" y="5596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Studi kasus proyek akhir &amp; kuis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61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6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63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01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Pengenalan &amp; Setup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Mengenal Express dan menyiapkan proyek pertama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Apa itu Express.js?</a:t>
            </a:r>
            <a:endParaRPr lang="en-US" sz="3200" dirty="0"/>
          </a:p>
        </p:txBody>
      </p:sp>
      <p:sp>
        <p:nvSpPr>
          <p:cNvPr id="3" name="txt-64"/>
          <p:cNvSpPr txBox="1"/>
          <p:nvPr/>
        </p:nvSpPr>
        <p:spPr>
          <a:xfrm>
            <a:off x="54864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Express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adalah framework web untuk Node.js yang minimalis dan fleksibel. Ia menyediakan lapisan tipis di atas modul HTTP bawaan Node: routing, middleware, dan helper request/response — tanpa memaksakan struktur proyek tertentu.</a:t>
            </a:r>
            <a:endParaRPr lang="en-US" sz="1700" dirty="0"/>
          </a:p>
        </p:txBody>
      </p:sp>
      <p:sp>
        <p:nvSpPr>
          <p:cNvPr id="4" name="bullets-65"/>
          <p:cNvSpPr txBox="1"/>
          <p:nvPr/>
        </p:nvSpPr>
        <p:spPr>
          <a:xfrm>
            <a:off x="548640" y="297180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Minimalis: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inti kecil, fitur ditambah lewat middleware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Unopinionated: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bebas memilih database, template, arsitektur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Matang: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dipakai luas sejak 2010, ekosistem sangat besar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Fondasi: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banyak framework lain dibangun di atas atau terinspirasi Express</a:t>
            </a:r>
            <a:endParaRPr lang="en-US" sz="1600" dirty="0"/>
          </a:p>
        </p:txBody>
      </p:sp>
      <p:sp>
        <p:nvSpPr>
          <p:cNvPr id="5" name="card-66"/>
          <p:cNvSpPr/>
          <p:nvPr/>
        </p:nvSpPr>
        <p:spPr>
          <a:xfrm>
            <a:off x="7132320" y="1417320"/>
            <a:ext cx="4526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67"/>
          <p:cNvSpPr txBox="1"/>
          <p:nvPr/>
        </p:nvSpPr>
        <p:spPr>
          <a:xfrm>
            <a:off x="7452360" y="16002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5.2.1</a:t>
            </a:r>
            <a:endParaRPr lang="en-US" sz="4000" dirty="0"/>
          </a:p>
        </p:txBody>
      </p:sp>
      <p:sp>
        <p:nvSpPr>
          <p:cNvPr id="7" name="txt-68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versi terbaru di npm</a:t>
            </a:r>
            <a:endParaRPr lang="en-US" sz="1400" dirty="0"/>
          </a:p>
        </p:txBody>
      </p:sp>
      <p:sp>
        <p:nvSpPr>
          <p:cNvPr id="8" name="card-69"/>
          <p:cNvSpPr/>
          <p:nvPr/>
        </p:nvSpPr>
        <p:spPr>
          <a:xfrm>
            <a:off x="7132320" y="3017520"/>
            <a:ext cx="4526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70"/>
          <p:cNvSpPr txBox="1"/>
          <p:nvPr/>
        </p:nvSpPr>
        <p:spPr>
          <a:xfrm>
            <a:off x="7452360" y="3200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18+</a:t>
            </a:r>
            <a:endParaRPr lang="en-US" sz="4000" dirty="0"/>
          </a:p>
        </p:txBody>
      </p:sp>
      <p:sp>
        <p:nvSpPr>
          <p:cNvPr id="10" name="txt-71"/>
          <p:cNvSpPr txBox="1"/>
          <p:nvPr/>
        </p:nvSpPr>
        <p:spPr>
          <a:xfrm>
            <a:off x="745236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versi Node.js minimum</a:t>
            </a:r>
            <a:endParaRPr lang="en-US" sz="1400" dirty="0"/>
          </a:p>
        </p:txBody>
      </p:sp>
      <p:sp>
        <p:nvSpPr>
          <p:cNvPr id="11" name="card-72"/>
          <p:cNvSpPr/>
          <p:nvPr/>
        </p:nvSpPr>
        <p:spPr>
          <a:xfrm>
            <a:off x="7132320" y="4617720"/>
            <a:ext cx="45262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-73"/>
          <p:cNvSpPr txBox="1"/>
          <p:nvPr/>
        </p:nvSpPr>
        <p:spPr>
          <a:xfrm>
            <a:off x="7452360" y="4800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MIT</a:t>
            </a:r>
            <a:endParaRPr lang="en-US" sz="4000" dirty="0"/>
          </a:p>
        </p:txBody>
      </p:sp>
      <p:sp>
        <p:nvSpPr>
          <p:cNvPr id="13" name="txt-74"/>
          <p:cNvSpPr txBox="1"/>
          <p:nvPr/>
        </p:nvSpPr>
        <p:spPr>
          <a:xfrm>
            <a:off x="7452360" y="5486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lisensi · proyek OpenJS Foundation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Mengapa memilih Express?</a:t>
            </a:r>
            <a:endParaRPr lang="en-US" sz="3200" dirty="0"/>
          </a:p>
        </p:txBody>
      </p:sp>
      <p:sp>
        <p:nvSpPr>
          <p:cNvPr id="3" name="card-75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76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7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xt-78"/>
          <p:cNvSpPr txBox="1"/>
          <p:nvPr/>
        </p:nvSpPr>
        <p:spPr>
          <a:xfrm>
            <a:off x="82296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Ringan &amp; cepat dipelajari</a:t>
            </a:r>
            <a:endParaRPr lang="en-US" sz="1700" dirty="0"/>
          </a:p>
        </p:txBody>
      </p:sp>
      <p:sp>
        <p:nvSpPr>
          <p:cNvPr id="7" name="txt-79"/>
          <p:cNvSpPr txBox="1"/>
          <p:nvPr/>
        </p:nvSpPr>
        <p:spPr>
          <a:xfrm>
            <a:off x="82296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kecil dan konsisten; cukup beberapa baris untuk server pertama.</a:t>
            </a:r>
            <a:endParaRPr lang="en-US" sz="1400" dirty="0"/>
          </a:p>
        </p:txBody>
      </p:sp>
      <p:sp>
        <p:nvSpPr>
          <p:cNvPr id="8" name="card-80"/>
          <p:cNvSpPr/>
          <p:nvPr/>
        </p:nvSpPr>
        <p:spPr>
          <a:xfrm>
            <a:off x="429768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81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97380"/>
            <a:ext cx="320040" cy="320040"/>
          </a:xfrm>
          <a:prstGeom prst="rect">
            <a:avLst/>
          </a:prstGeom>
        </p:spPr>
      </p:pic>
      <p:sp>
        <p:nvSpPr>
          <p:cNvPr id="11" name="txt-83"/>
          <p:cNvSpPr txBox="1"/>
          <p:nvPr/>
        </p:nvSpPr>
        <p:spPr>
          <a:xfrm>
            <a:off x="457200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Ekosistem middleware</a:t>
            </a:r>
            <a:endParaRPr lang="en-US" sz="1700" dirty="0"/>
          </a:p>
        </p:txBody>
      </p:sp>
      <p:sp>
        <p:nvSpPr>
          <p:cNvPr id="12" name="txt-84"/>
          <p:cNvSpPr txBox="1"/>
          <p:nvPr/>
        </p:nvSpPr>
        <p:spPr>
          <a:xfrm>
            <a:off x="45720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Ribuan paket siap pakai: auth, upload, logging, keamanan.</a:t>
            </a:r>
            <a:endParaRPr lang="en-US" sz="1400" dirty="0"/>
          </a:p>
        </p:txBody>
      </p:sp>
      <p:sp>
        <p:nvSpPr>
          <p:cNvPr id="13" name="card-85"/>
          <p:cNvSpPr/>
          <p:nvPr/>
        </p:nvSpPr>
        <p:spPr>
          <a:xfrm>
            <a:off x="8046720" y="146304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86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8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97380"/>
            <a:ext cx="320040" cy="320040"/>
          </a:xfrm>
          <a:prstGeom prst="rect">
            <a:avLst/>
          </a:prstGeom>
        </p:spPr>
      </p:pic>
      <p:sp>
        <p:nvSpPr>
          <p:cNvPr id="16" name="txt-88"/>
          <p:cNvSpPr txBox="1"/>
          <p:nvPr/>
        </p:nvSpPr>
        <p:spPr>
          <a:xfrm>
            <a:off x="832104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Routing yang ekspresif</a:t>
            </a:r>
            <a:endParaRPr lang="en-US" sz="1700" dirty="0"/>
          </a:p>
        </p:txBody>
      </p:sp>
      <p:sp>
        <p:nvSpPr>
          <p:cNvPr id="17" name="txt-89"/>
          <p:cNvSpPr txBox="1"/>
          <p:nvPr/>
        </p:nvSpPr>
        <p:spPr>
          <a:xfrm>
            <a:off x="832104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Pemetaan URL dan metode HTTP yang mudah dibaca.</a:t>
            </a:r>
            <a:endParaRPr lang="en-US" sz="1400" dirty="0"/>
          </a:p>
        </p:txBody>
      </p:sp>
      <p:sp>
        <p:nvSpPr>
          <p:cNvPr id="18" name="card-90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91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9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274820"/>
            <a:ext cx="320040" cy="320040"/>
          </a:xfrm>
          <a:prstGeom prst="rect">
            <a:avLst/>
          </a:prstGeom>
        </p:spPr>
      </p:pic>
      <p:sp>
        <p:nvSpPr>
          <p:cNvPr id="21" name="txt-93"/>
          <p:cNvSpPr txBox="1"/>
          <p:nvPr/>
        </p:nvSpPr>
        <p:spPr>
          <a:xfrm>
            <a:off x="822960" y="4864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Komunitas besar</a:t>
            </a:r>
            <a:endParaRPr lang="en-US" sz="1700" dirty="0"/>
          </a:p>
        </p:txBody>
      </p:sp>
      <p:sp>
        <p:nvSpPr>
          <p:cNvPr id="22" name="txt-94"/>
          <p:cNvSpPr txBox="1"/>
          <p:nvPr/>
        </p:nvSpPr>
        <p:spPr>
          <a:xfrm>
            <a:off x="82296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Dokumentasi, tutorial, dan jawaban tersedia untuk hampir semua kasus.</a:t>
            </a:r>
            <a:endParaRPr lang="en-US" sz="1400" dirty="0"/>
          </a:p>
        </p:txBody>
      </p:sp>
      <p:sp>
        <p:nvSpPr>
          <p:cNvPr id="23" name="card-95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96"/>
          <p:cNvSpPr/>
          <p:nvPr/>
        </p:nvSpPr>
        <p:spPr>
          <a:xfrm>
            <a:off x="4572000" y="41148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con-9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274820"/>
            <a:ext cx="320040" cy="320040"/>
          </a:xfrm>
          <a:prstGeom prst="rect">
            <a:avLst/>
          </a:prstGeom>
        </p:spPr>
      </p:pic>
      <p:sp>
        <p:nvSpPr>
          <p:cNvPr id="26" name="txt-98"/>
          <p:cNvSpPr txBox="1"/>
          <p:nvPr/>
        </p:nvSpPr>
        <p:spPr>
          <a:xfrm>
            <a:off x="4572000" y="4864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Async-ready di v5</a:t>
            </a:r>
            <a:endParaRPr lang="en-US" sz="1700" dirty="0"/>
          </a:p>
        </p:txBody>
      </p:sp>
      <p:sp>
        <p:nvSpPr>
          <p:cNvPr id="27" name="txt-99"/>
          <p:cNvSpPr txBox="1"/>
          <p:nvPr/>
        </p:nvSpPr>
        <p:spPr>
          <a:xfrm>
            <a:off x="457200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Promise yang reject otomatis diteruskan ke error handler.</a:t>
            </a:r>
            <a:endParaRPr lang="en-US" sz="1400" dirty="0"/>
          </a:p>
        </p:txBody>
      </p:sp>
      <p:sp>
        <p:nvSpPr>
          <p:cNvPr id="28" name="card-100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101"/>
          <p:cNvSpPr/>
          <p:nvPr/>
        </p:nvSpPr>
        <p:spPr>
          <a:xfrm>
            <a:off x="8321040" y="41148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on-10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274820"/>
            <a:ext cx="320040" cy="320040"/>
          </a:xfrm>
          <a:prstGeom prst="rect">
            <a:avLst/>
          </a:prstGeom>
        </p:spPr>
      </p:pic>
      <p:sp>
        <p:nvSpPr>
          <p:cNvPr id="31" name="txt-103"/>
          <p:cNvSpPr txBox="1"/>
          <p:nvPr/>
        </p:nvSpPr>
        <p:spPr>
          <a:xfrm>
            <a:off x="8321040" y="4864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Serbaguna</a:t>
            </a:r>
            <a:endParaRPr lang="en-US" sz="1700" dirty="0"/>
          </a:p>
        </p:txBody>
      </p:sp>
      <p:sp>
        <p:nvSpPr>
          <p:cNvPr id="32" name="txt-104"/>
          <p:cNvSpPr txBox="1"/>
          <p:nvPr/>
        </p:nvSpPr>
        <p:spPr>
          <a:xfrm>
            <a:off x="8321040" y="5212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REST API, server-side rendering, proxy, hingga microservice.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Perjalanan versi Express</a:t>
            </a:r>
            <a:endParaRPr lang="en-US" sz="3200" dirty="0"/>
          </a:p>
        </p:txBody>
      </p:sp>
      <p:sp>
        <p:nvSpPr>
          <p:cNvPr id="3" name="tl-line"/>
          <p:cNvSpPr/>
          <p:nvPr/>
        </p:nvSpPr>
        <p:spPr>
          <a:xfrm>
            <a:off x="822960" y="2788920"/>
            <a:ext cx="10607040" cy="0"/>
          </a:xfrm>
          <a:prstGeom prst="line">
            <a:avLst/>
          </a:prstGeom>
          <a:noFill/>
          <a:ln w="25400">
            <a:solidFill>
              <a:srgbClr val="D4D4D4"/>
            </a:solidFill>
            <a:prstDash val="solid"/>
          </a:ln>
        </p:spPr>
      </p:sp>
      <p:sp>
        <p:nvSpPr>
          <p:cNvPr id="4" name="tl-dot-105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xt-106"/>
          <p:cNvSpPr txBox="1"/>
          <p:nvPr/>
        </p:nvSpPr>
        <p:spPr>
          <a:xfrm>
            <a:off x="54864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2010</a:t>
            </a:r>
            <a:endParaRPr lang="en-US" sz="1800" dirty="0"/>
          </a:p>
        </p:txBody>
      </p:sp>
      <p:sp>
        <p:nvSpPr>
          <p:cNvPr id="6" name="txt-107"/>
          <p:cNvSpPr txBox="1"/>
          <p:nvPr/>
        </p:nvSpPr>
        <p:spPr>
          <a:xfrm>
            <a:off x="5486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Rilis awal</a:t>
            </a:r>
            <a:endParaRPr lang="en-US" sz="1600" dirty="0"/>
          </a:p>
        </p:txBody>
      </p:sp>
      <p:sp>
        <p:nvSpPr>
          <p:cNvPr id="7" name="txt-108"/>
          <p:cNvSpPr txBox="1"/>
          <p:nvPr/>
        </p:nvSpPr>
        <p:spPr>
          <a:xfrm>
            <a:off x="54864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Dibuat oleh TJ Holowaychuk</a:t>
            </a:r>
            <a:endParaRPr lang="en-US" sz="1400" dirty="0"/>
          </a:p>
        </p:txBody>
      </p:sp>
      <p:sp>
        <p:nvSpPr>
          <p:cNvPr id="8" name="tl-dot-109"/>
          <p:cNvSpPr/>
          <p:nvPr/>
        </p:nvSpPr>
        <p:spPr>
          <a:xfrm>
            <a:off x="2560320" y="2606040"/>
            <a:ext cx="365760" cy="36576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xt-110"/>
          <p:cNvSpPr txBox="1"/>
          <p:nvPr/>
        </p:nvSpPr>
        <p:spPr>
          <a:xfrm>
            <a:off x="242316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2014</a:t>
            </a:r>
            <a:endParaRPr lang="en-US" sz="1800" dirty="0"/>
          </a:p>
        </p:txBody>
      </p:sp>
      <p:sp>
        <p:nvSpPr>
          <p:cNvPr id="10" name="txt-111"/>
          <p:cNvSpPr txBox="1"/>
          <p:nvPr/>
        </p:nvSpPr>
        <p:spPr>
          <a:xfrm>
            <a:off x="242316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 4</a:t>
            </a:r>
            <a:endParaRPr lang="en-US" sz="1600" dirty="0"/>
          </a:p>
        </p:txBody>
      </p:sp>
      <p:sp>
        <p:nvSpPr>
          <p:cNvPr id="11" name="txt-112"/>
          <p:cNvSpPr txBox="1"/>
          <p:nvPr/>
        </p:nvSpPr>
        <p:spPr>
          <a:xfrm>
            <a:off x="242316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Router baru, middleware dipisah dari inti</a:t>
            </a:r>
            <a:endParaRPr lang="en-US" sz="1400" dirty="0"/>
          </a:p>
        </p:txBody>
      </p:sp>
      <p:sp>
        <p:nvSpPr>
          <p:cNvPr id="12" name="tl-dot-113"/>
          <p:cNvSpPr/>
          <p:nvPr/>
        </p:nvSpPr>
        <p:spPr>
          <a:xfrm>
            <a:off x="4434840" y="2606040"/>
            <a:ext cx="365760" cy="365760"/>
          </a:xfrm>
          <a:prstGeom prst="ellipse">
            <a:avLst/>
          </a:prstGeom>
          <a:solidFill>
            <a:schemeClr val="accent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xt-114"/>
          <p:cNvSpPr txBox="1"/>
          <p:nvPr/>
        </p:nvSpPr>
        <p:spPr>
          <a:xfrm>
            <a:off x="429768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2016</a:t>
            </a:r>
            <a:endParaRPr lang="en-US" sz="1800" dirty="0"/>
          </a:p>
        </p:txBody>
      </p:sp>
      <p:sp>
        <p:nvSpPr>
          <p:cNvPr id="14" name="txt-115"/>
          <p:cNvSpPr txBox="1"/>
          <p:nvPr/>
        </p:nvSpPr>
        <p:spPr>
          <a:xfrm>
            <a:off x="42976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Yayasan</a:t>
            </a:r>
            <a:endParaRPr lang="en-US" sz="1600" dirty="0"/>
          </a:p>
        </p:txBody>
      </p:sp>
      <p:sp>
        <p:nvSpPr>
          <p:cNvPr id="15" name="txt-116"/>
          <p:cNvSpPr txBox="1"/>
          <p:nvPr/>
        </p:nvSpPr>
        <p:spPr>
          <a:xfrm>
            <a:off x="429768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Bergabung ke Node.js Foundation (kini OpenJS)</a:t>
            </a:r>
            <a:endParaRPr lang="en-US" sz="1400" dirty="0"/>
          </a:p>
        </p:txBody>
      </p:sp>
      <p:sp>
        <p:nvSpPr>
          <p:cNvPr id="16" name="tl-dot-117"/>
          <p:cNvSpPr/>
          <p:nvPr/>
        </p:nvSpPr>
        <p:spPr>
          <a:xfrm>
            <a:off x="6309360" y="26060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xt-118"/>
          <p:cNvSpPr txBox="1"/>
          <p:nvPr/>
        </p:nvSpPr>
        <p:spPr>
          <a:xfrm>
            <a:off x="617220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Sep 2024</a:t>
            </a:r>
            <a:endParaRPr lang="en-US" sz="1800" dirty="0"/>
          </a:p>
        </p:txBody>
      </p:sp>
      <p:sp>
        <p:nvSpPr>
          <p:cNvPr id="18" name="txt-119"/>
          <p:cNvSpPr txBox="1"/>
          <p:nvPr/>
        </p:nvSpPr>
        <p:spPr>
          <a:xfrm>
            <a:off x="61722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 5.0</a:t>
            </a:r>
            <a:endParaRPr lang="en-US" sz="1600" dirty="0"/>
          </a:p>
        </p:txBody>
      </p:sp>
      <p:sp>
        <p:nvSpPr>
          <p:cNvPr id="19" name="txt-120"/>
          <p:cNvSpPr txBox="1"/>
          <p:nvPr/>
        </p:nvSpPr>
        <p:spPr>
          <a:xfrm>
            <a:off x="617220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Major release pertama setelah ±10 tahun</a:t>
            </a:r>
            <a:endParaRPr lang="en-US" sz="1400" dirty="0"/>
          </a:p>
        </p:txBody>
      </p:sp>
      <p:sp>
        <p:nvSpPr>
          <p:cNvPr id="20" name="tl-dot-121"/>
          <p:cNvSpPr/>
          <p:nvPr/>
        </p:nvSpPr>
        <p:spPr>
          <a:xfrm>
            <a:off x="8183880" y="26060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xt-122"/>
          <p:cNvSpPr txBox="1"/>
          <p:nvPr/>
        </p:nvSpPr>
        <p:spPr>
          <a:xfrm>
            <a:off x="804672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 2025</a:t>
            </a:r>
            <a:endParaRPr lang="en-US" sz="1800" dirty="0"/>
          </a:p>
        </p:txBody>
      </p:sp>
      <p:sp>
        <p:nvSpPr>
          <p:cNvPr id="22" name="txt-123"/>
          <p:cNvSpPr txBox="1"/>
          <p:nvPr/>
        </p:nvSpPr>
        <p:spPr>
          <a:xfrm>
            <a:off x="80467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 5.1</a:t>
            </a:r>
            <a:endParaRPr lang="en-US" sz="1600" dirty="0"/>
          </a:p>
        </p:txBody>
      </p:sp>
      <p:sp>
        <p:nvSpPr>
          <p:cNvPr id="23" name="txt-124"/>
          <p:cNvSpPr txBox="1"/>
          <p:nvPr/>
        </p:nvSpPr>
        <p:spPr>
          <a:xfrm>
            <a:off x="804672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Menjadi versi default (tag latest) di npm</a:t>
            </a:r>
            <a:endParaRPr lang="en-US" sz="1400" dirty="0"/>
          </a:p>
        </p:txBody>
      </p:sp>
      <p:sp>
        <p:nvSpPr>
          <p:cNvPr id="24" name="tl-dot-125"/>
          <p:cNvSpPr/>
          <p:nvPr/>
        </p:nvSpPr>
        <p:spPr>
          <a:xfrm>
            <a:off x="10058400" y="260604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xt-126"/>
          <p:cNvSpPr txBox="1"/>
          <p:nvPr/>
        </p:nvSpPr>
        <p:spPr>
          <a:xfrm>
            <a:off x="992124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2026</a:t>
            </a:r>
            <a:endParaRPr lang="en-US" sz="1800" dirty="0"/>
          </a:p>
        </p:txBody>
      </p:sp>
      <p:sp>
        <p:nvSpPr>
          <p:cNvPr id="26" name="txt-127"/>
          <p:cNvSpPr txBox="1"/>
          <p:nvPr/>
        </p:nvSpPr>
        <p:spPr>
          <a:xfrm>
            <a:off x="992124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 5.2.x</a:t>
            </a:r>
            <a:endParaRPr lang="en-US" sz="1600" dirty="0"/>
          </a:p>
        </p:txBody>
      </p:sp>
      <p:sp>
        <p:nvSpPr>
          <p:cNvPr id="27" name="txt-128"/>
          <p:cNvSpPr txBox="1"/>
          <p:nvPr/>
        </p:nvSpPr>
        <p:spPr>
          <a:xfrm>
            <a:off x="9921240" y="3584448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Versi terbaru 5.2.1 + rilis keamanan rutin</a:t>
            </a:r>
            <a:endParaRPr lang="en-US" sz="1400" dirty="0"/>
          </a:p>
        </p:txBody>
      </p:sp>
      <p:sp>
        <p:nvSpPr>
          <p:cNvPr id="28" name="card-129"/>
          <p:cNvSpPr/>
          <p:nvPr/>
        </p:nvSpPr>
        <p:spPr>
          <a:xfrm>
            <a:off x="548640" y="4983480"/>
            <a:ext cx="11109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130"/>
          <p:cNvSpPr/>
          <p:nvPr/>
        </p:nvSpPr>
        <p:spPr>
          <a:xfrm>
            <a:off x="777240" y="5212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1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360670"/>
            <a:ext cx="297180" cy="297180"/>
          </a:xfrm>
          <a:prstGeom prst="rect">
            <a:avLst/>
          </a:prstGeom>
        </p:spPr>
      </p:pic>
      <p:sp>
        <p:nvSpPr>
          <p:cNvPr id="31" name="txt-132"/>
          <p:cNvSpPr txBox="1"/>
          <p:nvPr/>
        </p:nvSpPr>
        <p:spPr>
          <a:xfrm>
            <a:off x="1600200" y="5093208"/>
            <a:ext cx="9875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Rekomendasi: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gunakan Express 5 untuk proyek baru. Express 4 berada dalam mode maintenance — rencanakan migrasi (lihat bagian 09).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Instalasi &amp; persiapan proyek</a:t>
            </a:r>
            <a:endParaRPr lang="en-US" sz="3200" dirty="0"/>
          </a:p>
        </p:txBody>
      </p:sp>
      <p:sp>
        <p:nvSpPr>
          <p:cNvPr id="3" name="icon-bg-133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1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74320" cy="274320"/>
          </a:xfrm>
          <a:prstGeom prst="rect">
            <a:avLst/>
          </a:prstGeom>
        </p:spPr>
      </p:pic>
      <p:sp>
        <p:nvSpPr>
          <p:cNvPr id="5" name="txt-135"/>
          <p:cNvSpPr txBox="1"/>
          <p:nvPr/>
        </p:nvSpPr>
        <p:spPr>
          <a:xfrm>
            <a:off x="1280160" y="1444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Pastikan Node.js 18+</a:t>
            </a:r>
            <a:endParaRPr lang="en-US" sz="1600" dirty="0"/>
          </a:p>
        </p:txBody>
      </p:sp>
      <p:sp>
        <p:nvSpPr>
          <p:cNvPr id="6" name="txt-136"/>
          <p:cNvSpPr txBox="1"/>
          <p:nvPr/>
        </p:nvSpPr>
        <p:spPr>
          <a:xfrm>
            <a:off x="1280160" y="1755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Express 5 membutuhkan Node.js 18 ke atas. Disarankan versi LTS terbaru.</a:t>
            </a:r>
            <a:endParaRPr lang="en-US" sz="1400" dirty="0"/>
          </a:p>
        </p:txBody>
      </p:sp>
      <p:sp>
        <p:nvSpPr>
          <p:cNvPr id="7" name="icon-bg-137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1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274320" cy="274320"/>
          </a:xfrm>
          <a:prstGeom prst="rect">
            <a:avLst/>
          </a:prstGeom>
        </p:spPr>
      </p:pic>
      <p:sp>
        <p:nvSpPr>
          <p:cNvPr id="9" name="txt-139"/>
          <p:cNvSpPr txBox="1"/>
          <p:nvPr/>
        </p:nvSpPr>
        <p:spPr>
          <a:xfrm>
            <a:off x="1280160" y="2587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Inisialisasi proyek</a:t>
            </a:r>
            <a:endParaRPr lang="en-US" sz="1600" dirty="0"/>
          </a:p>
        </p:txBody>
      </p:sp>
      <p:sp>
        <p:nvSpPr>
          <p:cNvPr id="10" name="txt-140"/>
          <p:cNvSpPr txBox="1"/>
          <p:nvPr/>
        </p:nvSpPr>
        <p:spPr>
          <a:xfrm>
            <a:off x="1280160" y="2898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Buat folder, lalu npm init -y untuk membuat package.json.</a:t>
            </a:r>
            <a:endParaRPr lang="en-US" sz="1400" dirty="0"/>
          </a:p>
        </p:txBody>
      </p:sp>
      <p:sp>
        <p:nvSpPr>
          <p:cNvPr id="11" name="icon-bg-141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14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13" name="txt-143"/>
          <p:cNvSpPr txBox="1"/>
          <p:nvPr/>
        </p:nvSpPr>
        <p:spPr>
          <a:xfrm>
            <a:off x="1280160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Pasang Express</a:t>
            </a:r>
            <a:endParaRPr lang="en-US" sz="1600" dirty="0"/>
          </a:p>
        </p:txBody>
      </p:sp>
      <p:sp>
        <p:nvSpPr>
          <p:cNvPr id="14" name="txt-144"/>
          <p:cNvSpPr txBox="1"/>
          <p:nvPr/>
        </p:nvSpPr>
        <p:spPr>
          <a:xfrm>
            <a:off x="1280160" y="4041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npm install express — otomatis memasang versi 5.x.</a:t>
            </a:r>
            <a:endParaRPr lang="en-US" sz="1400" dirty="0"/>
          </a:p>
        </p:txBody>
      </p:sp>
      <p:sp>
        <p:nvSpPr>
          <p:cNvPr id="15" name="icon-bg-145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1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7" name="txt-147"/>
          <p:cNvSpPr txBox="1"/>
          <p:nvPr/>
        </p:nvSpPr>
        <p:spPr>
          <a:xfrm>
            <a:off x="1280160" y="4873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4. Aktifkan ES Modules</a:t>
            </a:r>
            <a:endParaRPr lang="en-US" sz="1600" dirty="0"/>
          </a:p>
        </p:txBody>
      </p:sp>
      <p:sp>
        <p:nvSpPr>
          <p:cNvPr id="18" name="txt-148"/>
          <p:cNvSpPr txBox="1"/>
          <p:nvPr/>
        </p:nvSpPr>
        <p:spPr>
          <a:xfrm>
            <a:off x="1280160" y="51846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Tambahkan "type": "module" agar bisa memakai import.</a:t>
            </a:r>
            <a:endParaRPr lang="en-US" sz="1400" dirty="0"/>
          </a:p>
        </p:txBody>
      </p:sp>
      <p:sp>
        <p:nvSpPr>
          <p:cNvPr id="19" name="code-bg-149"/>
          <p:cNvSpPr/>
          <p:nvPr/>
        </p:nvSpPr>
        <p:spPr>
          <a:xfrm>
            <a:off x="6400800" y="141732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0" name="code-label-150"/>
          <p:cNvSpPr txBox="1"/>
          <p:nvPr/>
        </p:nvSpPr>
        <p:spPr>
          <a:xfrm>
            <a:off x="6629400" y="1527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1" name="code-151"/>
          <p:cNvSpPr txBox="1"/>
          <p:nvPr/>
        </p:nvSpPr>
        <p:spPr>
          <a:xfrm>
            <a:off x="6629400" y="1856232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       # v18 atau lebih baru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belajar-express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belajar-express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express</a:t>
            </a:r>
            <a:endParaRPr lang="en-US" sz="1300" dirty="0"/>
          </a:p>
        </p:txBody>
      </p:sp>
      <p:sp>
        <p:nvSpPr>
          <p:cNvPr id="22" name="code-bg-152"/>
          <p:cNvSpPr/>
          <p:nvPr/>
        </p:nvSpPr>
        <p:spPr>
          <a:xfrm>
            <a:off x="6400800" y="370332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code-label-153"/>
          <p:cNvSpPr txBox="1"/>
          <p:nvPr/>
        </p:nvSpPr>
        <p:spPr>
          <a:xfrm>
            <a:off x="6629400" y="3813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24" name="code-154"/>
          <p:cNvSpPr txBox="1"/>
          <p:nvPr/>
        </p:nvSpPr>
        <p:spPr>
          <a:xfrm>
            <a:off x="6629400" y="4142232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"belajar-express",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"dev": "node --watch --env-file=.env src/server.js"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"dependencies": { "express": "^5.2.1"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Server pertama: Hello World</a:t>
            </a:r>
            <a:endParaRPr lang="en-US" sz="3200" dirty="0"/>
          </a:p>
        </p:txBody>
      </p:sp>
      <p:sp>
        <p:nvSpPr>
          <p:cNvPr id="3" name="code-bg-155"/>
          <p:cNvSpPr/>
          <p:nvPr/>
        </p:nvSpPr>
        <p:spPr>
          <a:xfrm>
            <a:off x="548640" y="1417320"/>
            <a:ext cx="6583680" cy="4526280"/>
          </a:xfrm>
          <a:prstGeom prst="roundRect">
            <a:avLst>
              <a:gd name="adj" fmla="val 202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156"/>
          <p:cNvSpPr txBox="1"/>
          <p:nvPr/>
        </p:nvSpPr>
        <p:spPr>
          <a:xfrm>
            <a:off x="777240" y="15270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src/server.js</a:t>
            </a:r>
            <a:endParaRPr lang="en-US" sz="1100" dirty="0"/>
          </a:p>
        </p:txBody>
      </p:sp>
      <p:sp>
        <p:nvSpPr>
          <p:cNvPr id="5" name="code-157"/>
          <p:cNvSpPr txBox="1"/>
          <p:nvPr/>
        </p:nvSpPr>
        <p:spPr>
          <a:xfrm>
            <a:off x="777240" y="1856232"/>
            <a:ext cx="6126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 from 'express';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PORT = process.env.PORT ?? 3000;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app.get('/', (req, res)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res.send('Halo dari Express 5!');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 v5, callback listen menerima error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app.listen(PORT, (error)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throw error;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console.log(`Server: http://localhost:${PORT}`);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card-158"/>
          <p:cNvSpPr/>
          <p:nvPr/>
        </p:nvSpPr>
        <p:spPr>
          <a:xfrm>
            <a:off x="7498080" y="1463040"/>
            <a:ext cx="4160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-159"/>
          <p:cNvSpPr txBox="1"/>
          <p:nvPr/>
        </p:nvSpPr>
        <p:spPr>
          <a:xfrm>
            <a:off x="7699248" y="1554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express()</a:t>
            </a:r>
            <a:endParaRPr lang="en-US" sz="1400" dirty="0"/>
          </a:p>
        </p:txBody>
      </p:sp>
      <p:sp>
        <p:nvSpPr>
          <p:cNvPr id="8" name="txt-160"/>
          <p:cNvSpPr txBox="1"/>
          <p:nvPr/>
        </p:nvSpPr>
        <p:spPr>
          <a:xfrm>
            <a:off x="7699248" y="1847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membuat instance aplikasi</a:t>
            </a:r>
            <a:endParaRPr lang="en-US" sz="1400" dirty="0"/>
          </a:p>
        </p:txBody>
      </p:sp>
      <p:sp>
        <p:nvSpPr>
          <p:cNvPr id="9" name="card-161"/>
          <p:cNvSpPr/>
          <p:nvPr/>
        </p:nvSpPr>
        <p:spPr>
          <a:xfrm>
            <a:off x="7498080" y="2331720"/>
            <a:ext cx="4160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-162"/>
          <p:cNvSpPr txBox="1"/>
          <p:nvPr/>
        </p:nvSpPr>
        <p:spPr>
          <a:xfrm>
            <a:off x="7699248" y="2423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app.get(path, handler)</a:t>
            </a:r>
            <a:endParaRPr lang="en-US" sz="1400" dirty="0"/>
          </a:p>
        </p:txBody>
      </p:sp>
      <p:sp>
        <p:nvSpPr>
          <p:cNvPr id="11" name="txt-163"/>
          <p:cNvSpPr txBox="1"/>
          <p:nvPr/>
        </p:nvSpPr>
        <p:spPr>
          <a:xfrm>
            <a:off x="7699248" y="27157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mendaftarkan route untuk GET</a:t>
            </a:r>
            <a:endParaRPr lang="en-US" sz="1400" dirty="0"/>
          </a:p>
        </p:txBody>
      </p:sp>
      <p:sp>
        <p:nvSpPr>
          <p:cNvPr id="12" name="card-164"/>
          <p:cNvSpPr/>
          <p:nvPr/>
        </p:nvSpPr>
        <p:spPr>
          <a:xfrm>
            <a:off x="7498080" y="3200400"/>
            <a:ext cx="4160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-165"/>
          <p:cNvSpPr txBox="1"/>
          <p:nvPr/>
        </p:nvSpPr>
        <p:spPr>
          <a:xfrm>
            <a:off x="7699248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</a:t>
            </a:r>
            <a:endParaRPr lang="en-US" sz="1400" dirty="0"/>
          </a:p>
        </p:txBody>
      </p:sp>
      <p:sp>
        <p:nvSpPr>
          <p:cNvPr id="14" name="txt-166"/>
          <p:cNvSpPr txBox="1"/>
          <p:nvPr/>
        </p:nvSpPr>
        <p:spPr>
          <a:xfrm>
            <a:off x="7699248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objek request &amp; response</a:t>
            </a:r>
            <a:endParaRPr lang="en-US" sz="1400" dirty="0"/>
          </a:p>
        </p:txBody>
      </p:sp>
      <p:sp>
        <p:nvSpPr>
          <p:cNvPr id="15" name="card-167"/>
          <p:cNvSpPr/>
          <p:nvPr/>
        </p:nvSpPr>
        <p:spPr>
          <a:xfrm>
            <a:off x="7498080" y="4069080"/>
            <a:ext cx="4160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168"/>
          <p:cNvSpPr txBox="1"/>
          <p:nvPr/>
        </p:nvSpPr>
        <p:spPr>
          <a:xfrm>
            <a:off x="7699248" y="41605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res.send()</a:t>
            </a:r>
            <a:endParaRPr lang="en-US" sz="1400" dirty="0"/>
          </a:p>
        </p:txBody>
      </p:sp>
      <p:sp>
        <p:nvSpPr>
          <p:cNvPr id="17" name="txt-169"/>
          <p:cNvSpPr txBox="1"/>
          <p:nvPr/>
        </p:nvSpPr>
        <p:spPr>
          <a:xfrm>
            <a:off x="7699248" y="4453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mengirim respons ke klien</a:t>
            </a:r>
            <a:endParaRPr lang="en-US" sz="1400" dirty="0"/>
          </a:p>
        </p:txBody>
      </p:sp>
      <p:sp>
        <p:nvSpPr>
          <p:cNvPr id="18" name="card-170"/>
          <p:cNvSpPr/>
          <p:nvPr/>
        </p:nvSpPr>
        <p:spPr>
          <a:xfrm>
            <a:off x="7498080" y="4937760"/>
            <a:ext cx="41605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-171"/>
          <p:cNvSpPr txBox="1"/>
          <p:nvPr/>
        </p:nvSpPr>
        <p:spPr>
          <a:xfrm>
            <a:off x="7699248" y="5029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app.listen()</a:t>
            </a:r>
            <a:endParaRPr lang="en-US" sz="1400" dirty="0"/>
          </a:p>
        </p:txBody>
      </p:sp>
      <p:sp>
        <p:nvSpPr>
          <p:cNvPr id="20" name="txt-172"/>
          <p:cNvSpPr txBox="1"/>
          <p:nvPr/>
        </p:nvSpPr>
        <p:spPr>
          <a:xfrm>
            <a:off x="7699248" y="5321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menjalankan server di port</a:t>
            </a:r>
            <a:endParaRPr lang="en-US" sz="1400" dirty="0"/>
          </a:p>
        </p:txBody>
      </p:sp>
      <p:sp>
        <p:nvSpPr>
          <p:cNvPr id="21" name="txt-173"/>
          <p:cNvSpPr txBox="1"/>
          <p:nvPr/>
        </p:nvSpPr>
        <p:spPr>
          <a:xfrm>
            <a:off x="54864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Jalankan: npm run dev → buka http://localhost:3000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Konfigurasi dengan environment variable</a:t>
            </a:r>
            <a:endParaRPr lang="en-US" sz="3200" dirty="0"/>
          </a:p>
        </p:txBody>
      </p:sp>
      <p:sp>
        <p:nvSpPr>
          <p:cNvPr id="3" name="code-bg-174"/>
          <p:cNvSpPr/>
          <p:nvPr/>
        </p:nvSpPr>
        <p:spPr>
          <a:xfrm>
            <a:off x="548640" y="1417320"/>
            <a:ext cx="4937760" cy="2011680"/>
          </a:xfrm>
          <a:prstGeom prst="roundRect">
            <a:avLst>
              <a:gd name="adj" fmla="val 454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175"/>
          <p:cNvSpPr txBox="1"/>
          <p:nvPr/>
        </p:nvSpPr>
        <p:spPr>
          <a:xfrm>
            <a:off x="777240" y="1527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00" dirty="0"/>
          </a:p>
        </p:txBody>
      </p:sp>
      <p:sp>
        <p:nvSpPr>
          <p:cNvPr id="5" name="code-176"/>
          <p:cNvSpPr txBox="1"/>
          <p:nvPr/>
        </p:nvSpPr>
        <p:spPr>
          <a:xfrm>
            <a:off x="777240" y="1856232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(jangan di-commit!)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PORT=3000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NODE_ENV=development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DATABASE_URL=postgresql://app:secret@db/appdb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JWT_SECRET=ganti-dengan-string-acak-panjang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COOKIE_SECRET=string-acak-lain</a:t>
            </a:r>
            <a:endParaRPr lang="en-US" sz="1100" dirty="0"/>
          </a:p>
        </p:txBody>
      </p:sp>
      <p:sp>
        <p:nvSpPr>
          <p:cNvPr id="6" name="code-bg-177"/>
          <p:cNvSpPr/>
          <p:nvPr/>
        </p:nvSpPr>
        <p:spPr>
          <a:xfrm>
            <a:off x="5715000" y="1417320"/>
            <a:ext cx="5943600" cy="3703320"/>
          </a:xfrm>
          <a:prstGeom prst="roundRect">
            <a:avLst>
              <a:gd name="adj" fmla="val 2469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178"/>
          <p:cNvSpPr txBox="1"/>
          <p:nvPr/>
        </p:nvSpPr>
        <p:spPr>
          <a:xfrm>
            <a:off x="5943600" y="1527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config/index.js</a:t>
            </a:r>
            <a:endParaRPr lang="en-US" sz="1100" dirty="0"/>
          </a:p>
        </p:txBody>
      </p:sp>
      <p:sp>
        <p:nvSpPr>
          <p:cNvPr id="8" name="code-179"/>
          <p:cNvSpPr txBox="1"/>
          <p:nvPr/>
        </p:nvSpPr>
        <p:spPr>
          <a:xfrm>
            <a:off x="5943600" y="1856232"/>
            <a:ext cx="5486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src/config/index.js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required = ['DATABASE_URL', 'JWT_SECRET'];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key of required)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(!process.env[key])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Error(`ENV ${key} belum di-set`);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port: Number(process.env.PORT ?? 3000),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env: process.env.NODE_ENV ?? 'development',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dbUrl: process.env.DATABASE_URL,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jwtSecret: process.env.JWT_SECRET,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9" name="icon-bg-180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49040"/>
            <a:ext cx="274320" cy="274320"/>
          </a:xfrm>
          <a:prstGeom prst="rect">
            <a:avLst/>
          </a:prstGeom>
        </p:spPr>
      </p:pic>
      <p:sp>
        <p:nvSpPr>
          <p:cNvPr id="11" name="txt-182"/>
          <p:cNvSpPr txBox="1"/>
          <p:nvPr/>
        </p:nvSpPr>
        <p:spPr>
          <a:xfrm>
            <a:off x="1280160" y="35935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Tanpa paket tambahan</a:t>
            </a:r>
            <a:endParaRPr lang="en-US" sz="1600" dirty="0"/>
          </a:p>
        </p:txBody>
      </p:sp>
      <p:sp>
        <p:nvSpPr>
          <p:cNvPr id="12" name="txt-183"/>
          <p:cNvSpPr txBox="1"/>
          <p:nvPr/>
        </p:nvSpPr>
        <p:spPr>
          <a:xfrm>
            <a:off x="1280160" y="39044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node --env-file=.env memuat .env (Node 20.6+)</a:t>
            </a:r>
            <a:endParaRPr lang="en-US" sz="1400" dirty="0"/>
          </a:p>
        </p:txBody>
      </p:sp>
      <p:sp>
        <p:nvSpPr>
          <p:cNvPr id="13" name="icon-bg-184"/>
          <p:cNvSpPr/>
          <p:nvPr/>
        </p:nvSpPr>
        <p:spPr>
          <a:xfrm>
            <a:off x="548640" y="44531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1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90288"/>
            <a:ext cx="274320" cy="274320"/>
          </a:xfrm>
          <a:prstGeom prst="rect">
            <a:avLst/>
          </a:prstGeom>
        </p:spPr>
      </p:pic>
      <p:sp>
        <p:nvSpPr>
          <p:cNvPr id="15" name="txt-186"/>
          <p:cNvSpPr txBox="1"/>
          <p:nvPr/>
        </p:nvSpPr>
        <p:spPr>
          <a:xfrm>
            <a:off x="1280160" y="44348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Aman</a:t>
            </a:r>
            <a:endParaRPr lang="en-US" sz="1600" dirty="0"/>
          </a:p>
        </p:txBody>
      </p:sp>
      <p:sp>
        <p:nvSpPr>
          <p:cNvPr id="16" name="txt-187"/>
          <p:cNvSpPr txBox="1"/>
          <p:nvPr/>
        </p:nvSpPr>
        <p:spPr>
          <a:xfrm>
            <a:off x="1280160" y="47457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Masukkan .env ke .gitignore; bagikan .env.example</a:t>
            </a:r>
            <a:endParaRPr lang="en-US" sz="1400" dirty="0"/>
          </a:p>
        </p:txBody>
      </p:sp>
      <p:sp>
        <p:nvSpPr>
          <p:cNvPr id="17" name="card-188"/>
          <p:cNvSpPr/>
          <p:nvPr/>
        </p:nvSpPr>
        <p:spPr>
          <a:xfrm>
            <a:off x="548640" y="5349240"/>
            <a:ext cx="111099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bg-189"/>
          <p:cNvSpPr/>
          <p:nvPr/>
        </p:nvSpPr>
        <p:spPr>
          <a:xfrm>
            <a:off x="777240" y="54178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1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5566410"/>
            <a:ext cx="297180" cy="297180"/>
          </a:xfrm>
          <a:prstGeom prst="rect">
            <a:avLst/>
          </a:prstGeom>
        </p:spPr>
      </p:pic>
      <p:sp>
        <p:nvSpPr>
          <p:cNvPr id="20" name="txt-191"/>
          <p:cNvSpPr txBox="1"/>
          <p:nvPr/>
        </p:nvSpPr>
        <p:spPr>
          <a:xfrm>
            <a:off x="1600200" y="545896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Prinsip: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satu modul config yang memvalidasi semua variabel saat start — gagal cepat lebih baik daripada error di tengah jalan.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192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19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194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02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Routing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Memetakan URL dan metode HTTP ke handler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Dasar routing</a:t>
            </a:r>
            <a:endParaRPr lang="en-US" sz="3200" dirty="0"/>
          </a:p>
        </p:txBody>
      </p:sp>
      <p:sp>
        <p:nvSpPr>
          <p:cNvPr id="3" name="txt-195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Route = metode HTTP + path + satu atau lebih handler. Express mencocokkan route sesuai urutan pendaftaran.</a:t>
            </a:r>
            <a:endParaRPr lang="en-US" sz="1600" dirty="0"/>
          </a:p>
        </p:txBody>
      </p:sp>
      <p:sp>
        <p:nvSpPr>
          <p:cNvPr id="4" name="code-bg-196"/>
          <p:cNvSpPr/>
          <p:nvPr/>
        </p:nvSpPr>
        <p:spPr>
          <a:xfrm>
            <a:off x="548640" y="196596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5" name="code-label-197"/>
          <p:cNvSpPr txBox="1"/>
          <p:nvPr/>
        </p:nvSpPr>
        <p:spPr>
          <a:xfrm>
            <a:off x="777240" y="2075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100" dirty="0"/>
          </a:p>
        </p:txBody>
      </p:sp>
      <p:sp>
        <p:nvSpPr>
          <p:cNvPr id="6" name="code-198"/>
          <p:cNvSpPr txBox="1"/>
          <p:nvPr/>
        </p:nvSpPr>
        <p:spPr>
          <a:xfrm>
            <a:off x="777240" y="2404872"/>
            <a:ext cx="5943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app.get('/products', listProducts);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app.post('/products', createProduct);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app.put('/products/:id', replaceProduct);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app.patch('/products/:id', updateProduct);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app.delete('/products/:id', deleteProduct);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Satu path, banyak metode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app.route('/cart')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.get(showCart)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.post(addToCart);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Semua metode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app.all('/admin', requireLogin);</a:t>
            </a:r>
            <a:endParaRPr lang="en-US" sz="1300" dirty="0"/>
          </a:p>
        </p:txBody>
      </p:sp>
      <p:sp>
        <p:nvSpPr>
          <p:cNvPr id="7" name="method-199"/>
          <p:cNvSpPr/>
          <p:nvPr/>
        </p:nvSpPr>
        <p:spPr>
          <a:xfrm>
            <a:off x="7315200" y="196596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ethod-t-200"/>
          <p:cNvSpPr txBox="1"/>
          <p:nvPr/>
        </p:nvSpPr>
        <p:spPr>
          <a:xfrm>
            <a:off x="7315200" y="1965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400" dirty="0"/>
          </a:p>
        </p:txBody>
      </p:sp>
      <p:sp>
        <p:nvSpPr>
          <p:cNvPr id="9" name="txt-201"/>
          <p:cNvSpPr txBox="1"/>
          <p:nvPr/>
        </p:nvSpPr>
        <p:spPr>
          <a:xfrm>
            <a:off x="89611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Ambil data</a:t>
            </a:r>
            <a:endParaRPr lang="en-US" sz="1600" dirty="0"/>
          </a:p>
        </p:txBody>
      </p:sp>
      <p:sp>
        <p:nvSpPr>
          <p:cNvPr id="10" name="method-202"/>
          <p:cNvSpPr/>
          <p:nvPr/>
        </p:nvSpPr>
        <p:spPr>
          <a:xfrm>
            <a:off x="731520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method-t-203"/>
          <p:cNvSpPr txBox="1"/>
          <p:nvPr/>
        </p:nvSpPr>
        <p:spPr>
          <a:xfrm>
            <a:off x="731520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xt-204"/>
          <p:cNvSpPr txBox="1"/>
          <p:nvPr/>
        </p:nvSpPr>
        <p:spPr>
          <a:xfrm>
            <a:off x="89611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Buat data baru</a:t>
            </a:r>
            <a:endParaRPr lang="en-US" sz="1600" dirty="0"/>
          </a:p>
        </p:txBody>
      </p:sp>
      <p:sp>
        <p:nvSpPr>
          <p:cNvPr id="13" name="method-205"/>
          <p:cNvSpPr/>
          <p:nvPr/>
        </p:nvSpPr>
        <p:spPr>
          <a:xfrm>
            <a:off x="7315200" y="361188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ethod-t-206"/>
          <p:cNvSpPr txBox="1"/>
          <p:nvPr/>
        </p:nvSpPr>
        <p:spPr>
          <a:xfrm>
            <a:off x="7315200" y="36118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400" dirty="0"/>
          </a:p>
        </p:txBody>
      </p:sp>
      <p:sp>
        <p:nvSpPr>
          <p:cNvPr id="15" name="txt-207"/>
          <p:cNvSpPr txBox="1"/>
          <p:nvPr/>
        </p:nvSpPr>
        <p:spPr>
          <a:xfrm>
            <a:off x="896112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Ganti data utuh</a:t>
            </a:r>
            <a:endParaRPr lang="en-US" sz="1600" dirty="0"/>
          </a:p>
        </p:txBody>
      </p:sp>
      <p:sp>
        <p:nvSpPr>
          <p:cNvPr id="16" name="method-208"/>
          <p:cNvSpPr/>
          <p:nvPr/>
        </p:nvSpPr>
        <p:spPr>
          <a:xfrm>
            <a:off x="7315200" y="443484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method-t-209"/>
          <p:cNvSpPr txBox="1"/>
          <p:nvPr/>
        </p:nvSpPr>
        <p:spPr>
          <a:xfrm>
            <a:off x="7315200" y="4434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400" dirty="0"/>
          </a:p>
        </p:txBody>
      </p:sp>
      <p:sp>
        <p:nvSpPr>
          <p:cNvPr id="18" name="txt-210"/>
          <p:cNvSpPr txBox="1"/>
          <p:nvPr/>
        </p:nvSpPr>
        <p:spPr>
          <a:xfrm>
            <a:off x="896112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Ubah sebagian</a:t>
            </a:r>
            <a:endParaRPr lang="en-US" sz="1600" dirty="0"/>
          </a:p>
        </p:txBody>
      </p:sp>
      <p:sp>
        <p:nvSpPr>
          <p:cNvPr id="19" name="method-211"/>
          <p:cNvSpPr/>
          <p:nvPr/>
        </p:nvSpPr>
        <p:spPr>
          <a:xfrm>
            <a:off x="7315200" y="5257800"/>
            <a:ext cx="141732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method-t-212"/>
          <p:cNvSpPr txBox="1"/>
          <p:nvPr/>
        </p:nvSpPr>
        <p:spPr>
          <a:xfrm>
            <a:off x="7315200" y="5257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txt-213"/>
          <p:cNvSpPr txBox="1"/>
          <p:nvPr/>
        </p:nvSpPr>
        <p:spPr>
          <a:xfrm>
            <a:off x="8961120" y="5394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Hapus data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Parameter &amp; sintaks path di Express 5</a:t>
            </a:r>
            <a:endParaRPr lang="en-US" sz="3200" dirty="0"/>
          </a:p>
        </p:txBody>
      </p:sp>
      <p:sp>
        <p:nvSpPr>
          <p:cNvPr id="3" name="txt-214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Express 5 memakai path-to-regexp v8: sintaks lebih ketat dan aman (mencegah ReDoS).</a:t>
            </a:r>
            <a:endParaRPr lang="en-US" sz="1600" dirty="0"/>
          </a:p>
        </p:txBody>
      </p:sp>
      <p:graphicFrame>
        <p:nvGraphicFramePr>
          <p:cNvPr id="13" name="table-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194560"/>
                <a:gridCol w="30175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Pola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Contoh URL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req.params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Keterangan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/users/42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id: '42'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Parameter wajib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/users{/:id}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Opsional (v4: /:id?)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/file{.:ext}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/file.pdf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ext: 'pdf'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Bagian opsional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/files/*splat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/files/a/b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splat: ['a','b']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Wildcard bernama (v4: /*)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/{*splat}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Wildcard yang juga cocok untuk root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-216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217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2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452110"/>
            <a:ext cx="297180" cy="297180"/>
          </a:xfrm>
          <a:prstGeom prst="rect">
            <a:avLst/>
          </a:prstGeom>
        </p:spPr>
      </p:pic>
      <p:sp>
        <p:nvSpPr>
          <p:cNvPr id="8" name="txt-219"/>
          <p:cNvSpPr txBox="1"/>
          <p:nvPr/>
        </p:nvSpPr>
        <p:spPr>
          <a:xfrm>
            <a:off x="1600200" y="5230368"/>
            <a:ext cx="9875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Perhatian: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karakter regex di string path (?, +, *, ( ) ) tidak lagi didukung. Untuk pola kompleks gunakan objek RegExp, mis. app.get(/^\/v\d+$/, h).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Query string, pencarian &amp; pagination</a:t>
            </a:r>
            <a:endParaRPr lang="en-US" sz="3200" dirty="0"/>
          </a:p>
        </p:txBody>
      </p:sp>
      <p:sp>
        <p:nvSpPr>
          <p:cNvPr id="3" name="code-bg-220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221"/>
          <p:cNvSpPr txBox="1"/>
          <p:nvPr/>
        </p:nvSpPr>
        <p:spPr>
          <a:xfrm>
            <a:off x="777240" y="15270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routes/products.js</a:t>
            </a:r>
            <a:endParaRPr lang="en-US" sz="1100" dirty="0"/>
          </a:p>
        </p:txBody>
      </p:sp>
      <p:sp>
        <p:nvSpPr>
          <p:cNvPr id="5" name="code-222"/>
          <p:cNvSpPr txBox="1"/>
          <p:nvPr/>
        </p:nvSpPr>
        <p:spPr>
          <a:xfrm>
            <a:off x="777240" y="1856232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/api/products?page=2&amp;limit=10&amp;q=kopi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app.get('/api/products',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page  = Math.max(1, Number(req.query.page) ||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limit = Math.min(100, Number(req.query.limit) || 10);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skip  = (page - 1) * limit;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items, total } = await productService.list({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q: req.query.q, skip, limit,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items,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meta: { page, limit, total,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pages: Math.ceil(total / limit)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icon-bg-223"/>
          <p:cNvSpPr/>
          <p:nvPr/>
        </p:nvSpPr>
        <p:spPr>
          <a:xfrm>
            <a:off x="78181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2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91640"/>
            <a:ext cx="274320" cy="274320"/>
          </a:xfrm>
          <a:prstGeom prst="rect">
            <a:avLst/>
          </a:prstGeom>
        </p:spPr>
      </p:pic>
      <p:sp>
        <p:nvSpPr>
          <p:cNvPr id="8" name="txt-225"/>
          <p:cNvSpPr txBox="1"/>
          <p:nvPr/>
        </p:nvSpPr>
        <p:spPr>
          <a:xfrm>
            <a:off x="854964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Selalu berupa string</a:t>
            </a:r>
            <a:endParaRPr lang="en-US" sz="1600" dirty="0"/>
          </a:p>
        </p:txBody>
      </p:sp>
      <p:sp>
        <p:nvSpPr>
          <p:cNvPr id="9" name="txt-226"/>
          <p:cNvSpPr txBox="1"/>
          <p:nvPr/>
        </p:nvSpPr>
        <p:spPr>
          <a:xfrm>
            <a:off x="854964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Konversi angka &amp; beri batas maksimum limit.</a:t>
            </a:r>
            <a:endParaRPr lang="en-US" sz="1400" dirty="0"/>
          </a:p>
        </p:txBody>
      </p:sp>
      <p:sp>
        <p:nvSpPr>
          <p:cNvPr id="10" name="icon-bg-227"/>
          <p:cNvSpPr/>
          <p:nvPr/>
        </p:nvSpPr>
        <p:spPr>
          <a:xfrm>
            <a:off x="7818120" y="3017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2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154680"/>
            <a:ext cx="274320" cy="274320"/>
          </a:xfrm>
          <a:prstGeom prst="rect">
            <a:avLst/>
          </a:prstGeom>
        </p:spPr>
      </p:pic>
      <p:sp>
        <p:nvSpPr>
          <p:cNvPr id="12" name="txt-229"/>
          <p:cNvSpPr txBox="1"/>
          <p:nvPr/>
        </p:nvSpPr>
        <p:spPr>
          <a:xfrm>
            <a:off x="854964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Parser default: simple</a:t>
            </a:r>
            <a:endParaRPr lang="en-US" sz="1600" dirty="0"/>
          </a:p>
        </p:txBody>
      </p:sp>
      <p:sp>
        <p:nvSpPr>
          <p:cNvPr id="13" name="txt-230"/>
          <p:cNvSpPr txBox="1"/>
          <p:nvPr/>
        </p:nvSpPr>
        <p:spPr>
          <a:xfrm>
            <a:off x="8549640" y="3310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Objek bersarang (?f[a]=1) butuh app.set('query parser', 'extended').</a:t>
            </a:r>
            <a:endParaRPr lang="en-US" sz="1400" dirty="0"/>
          </a:p>
        </p:txBody>
      </p:sp>
      <p:sp>
        <p:nvSpPr>
          <p:cNvPr id="14" name="icon-bg-231"/>
          <p:cNvSpPr/>
          <p:nvPr/>
        </p:nvSpPr>
        <p:spPr>
          <a:xfrm>
            <a:off x="7818120" y="44805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2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617720"/>
            <a:ext cx="274320" cy="274320"/>
          </a:xfrm>
          <a:prstGeom prst="rect">
            <a:avLst/>
          </a:prstGeom>
        </p:spPr>
      </p:pic>
      <p:sp>
        <p:nvSpPr>
          <p:cNvPr id="16" name="txt-233"/>
          <p:cNvSpPr txBox="1"/>
          <p:nvPr/>
        </p:nvSpPr>
        <p:spPr>
          <a:xfrm>
            <a:off x="8549640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req.query read-only</a:t>
            </a:r>
            <a:endParaRPr lang="en-US" sz="1600" dirty="0"/>
          </a:p>
        </p:txBody>
      </p:sp>
      <p:sp>
        <p:nvSpPr>
          <p:cNvPr id="17" name="txt-234"/>
          <p:cNvSpPr txBox="1"/>
          <p:nvPr/>
        </p:nvSpPr>
        <p:spPr>
          <a:xfrm>
            <a:off x="8549640" y="4773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 v5 tidak bisa ditimpa; salin ke variabel baru.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Router modular dengan express.Router()</a:t>
            </a:r>
            <a:endParaRPr lang="en-US" sz="3200" dirty="0"/>
          </a:p>
        </p:txBody>
      </p:sp>
      <p:sp>
        <p:nvSpPr>
          <p:cNvPr id="3" name="code-bg-235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236"/>
          <p:cNvSpPr txBox="1"/>
          <p:nvPr/>
        </p:nvSpPr>
        <p:spPr>
          <a:xfrm>
            <a:off x="777240" y="15270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routes/users.js</a:t>
            </a:r>
            <a:endParaRPr lang="en-US" sz="1100" dirty="0"/>
          </a:p>
        </p:txBody>
      </p:sp>
      <p:sp>
        <p:nvSpPr>
          <p:cNvPr id="5" name="code-237"/>
          <p:cNvSpPr txBox="1"/>
          <p:nvPr/>
        </p:nvSpPr>
        <p:spPr>
          <a:xfrm>
            <a:off x="777240" y="1856232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src/routes/users.js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Router } from 'express';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* as ctrl from '../controllers/users.js';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Router();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router.get('/', ctrl.list);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ctrl.create);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router.route('/:id')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.get(ctrl.detail)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.put(ctrl.update)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.delete(ctrl.remove);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router;</a:t>
            </a:r>
            <a:endParaRPr lang="en-US" sz="1300" dirty="0"/>
          </a:p>
        </p:txBody>
      </p:sp>
      <p:sp>
        <p:nvSpPr>
          <p:cNvPr id="6" name="code-bg-238"/>
          <p:cNvSpPr/>
          <p:nvPr/>
        </p:nvSpPr>
        <p:spPr>
          <a:xfrm>
            <a:off x="6583680" y="1417320"/>
            <a:ext cx="5074920" cy="2148840"/>
          </a:xfrm>
          <a:prstGeom prst="roundRect">
            <a:avLst>
              <a:gd name="adj" fmla="val 425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239"/>
          <p:cNvSpPr txBox="1"/>
          <p:nvPr/>
        </p:nvSpPr>
        <p:spPr>
          <a:xfrm>
            <a:off x="6812280" y="15270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8" name="code-240"/>
          <p:cNvSpPr txBox="1"/>
          <p:nvPr/>
        </p:nvSpPr>
        <p:spPr>
          <a:xfrm>
            <a:off x="6812280" y="185623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usersRouter from './routes/users.js';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app.use('/api/users', usersRouter);</a:t>
            </a:r>
            <a:endParaRPr lang="en-US" sz="1300" dirty="0"/>
          </a:p>
        </p:txBody>
      </p:sp>
      <p:sp>
        <p:nvSpPr>
          <p:cNvPr id="9" name="bullets-241"/>
          <p:cNvSpPr txBox="1"/>
          <p:nvPr/>
        </p:nvSpPr>
        <p:spPr>
          <a:xfrm>
            <a:off x="6583680" y="379476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Memecah route per fitur/resource agar mudah dirawat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Router punya middleware &amp; parameter sendiri (mini-app)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Prefix path cukup ditentukan sekali saat app.use()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Opsi Router({ mergeParams: true }) untuk mewarisi params induk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242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2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244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03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Middleware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Jantung Express: fungsi berantai yang memproses request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Alur request melalui middleware</a:t>
            </a:r>
            <a:endParaRPr lang="en-US" sz="3200" dirty="0"/>
          </a:p>
        </p:txBody>
      </p:sp>
      <p:sp>
        <p:nvSpPr>
          <p:cNvPr id="3" name="flow-245"/>
          <p:cNvSpPr/>
          <p:nvPr/>
        </p:nvSpPr>
        <p:spPr>
          <a:xfrm>
            <a:off x="548640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ow-t-246"/>
          <p:cNvSpPr txBox="1"/>
          <p:nvPr/>
        </p:nvSpPr>
        <p:spPr>
          <a:xfrm>
            <a:off x="548640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Request</a:t>
            </a:r>
            <a:endParaRPr lang="en-US" sz="1400" dirty="0"/>
          </a:p>
        </p:txBody>
      </p:sp>
      <p:sp>
        <p:nvSpPr>
          <p:cNvPr id="5" name="arrow-247"/>
          <p:cNvSpPr/>
          <p:nvPr/>
        </p:nvSpPr>
        <p:spPr>
          <a:xfrm>
            <a:off x="2202180" y="17419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6" name="flow-248"/>
          <p:cNvSpPr/>
          <p:nvPr/>
        </p:nvSpPr>
        <p:spPr>
          <a:xfrm>
            <a:off x="2449068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flow-t-249"/>
          <p:cNvSpPr txBox="1"/>
          <p:nvPr/>
        </p:nvSpPr>
        <p:spPr>
          <a:xfrm>
            <a:off x="2449068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Logger</a:t>
            </a:r>
            <a:endParaRPr lang="en-US" sz="1400" dirty="0"/>
          </a:p>
        </p:txBody>
      </p:sp>
      <p:sp>
        <p:nvSpPr>
          <p:cNvPr id="8" name="arrow-250"/>
          <p:cNvSpPr/>
          <p:nvPr/>
        </p:nvSpPr>
        <p:spPr>
          <a:xfrm>
            <a:off x="4102608" y="17419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9" name="flow-251"/>
          <p:cNvSpPr/>
          <p:nvPr/>
        </p:nvSpPr>
        <p:spPr>
          <a:xfrm>
            <a:off x="4349496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flow-t-252"/>
          <p:cNvSpPr txBox="1"/>
          <p:nvPr/>
        </p:nvSpPr>
        <p:spPr>
          <a:xfrm>
            <a:off x="4349496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express.json()</a:t>
            </a:r>
            <a:endParaRPr lang="en-US" sz="1400" dirty="0"/>
          </a:p>
        </p:txBody>
      </p:sp>
      <p:sp>
        <p:nvSpPr>
          <p:cNvPr id="11" name="arrow-253"/>
          <p:cNvSpPr/>
          <p:nvPr/>
        </p:nvSpPr>
        <p:spPr>
          <a:xfrm>
            <a:off x="6003036" y="17419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2" name="flow-254"/>
          <p:cNvSpPr/>
          <p:nvPr/>
        </p:nvSpPr>
        <p:spPr>
          <a:xfrm>
            <a:off x="6249924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flow-t-255"/>
          <p:cNvSpPr txBox="1"/>
          <p:nvPr/>
        </p:nvSpPr>
        <p:spPr>
          <a:xfrm>
            <a:off x="6249924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Auth</a:t>
            </a:r>
            <a:endParaRPr lang="en-US" sz="1400" dirty="0"/>
          </a:p>
        </p:txBody>
      </p:sp>
      <p:sp>
        <p:nvSpPr>
          <p:cNvPr id="14" name="arrow-256"/>
          <p:cNvSpPr/>
          <p:nvPr/>
        </p:nvSpPr>
        <p:spPr>
          <a:xfrm>
            <a:off x="7903464" y="17419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5" name="flow-257"/>
          <p:cNvSpPr/>
          <p:nvPr/>
        </p:nvSpPr>
        <p:spPr>
          <a:xfrm>
            <a:off x="8150352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flow-t-258"/>
          <p:cNvSpPr txBox="1"/>
          <p:nvPr/>
        </p:nvSpPr>
        <p:spPr>
          <a:xfrm>
            <a:off x="8150352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 handler</a:t>
            </a:r>
            <a:endParaRPr lang="en-US" sz="1400" dirty="0"/>
          </a:p>
        </p:txBody>
      </p:sp>
      <p:sp>
        <p:nvSpPr>
          <p:cNvPr id="17" name="arrow-259"/>
          <p:cNvSpPr/>
          <p:nvPr/>
        </p:nvSpPr>
        <p:spPr>
          <a:xfrm>
            <a:off x="9803892" y="17419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18" name="flow-260"/>
          <p:cNvSpPr/>
          <p:nvPr/>
        </p:nvSpPr>
        <p:spPr>
          <a:xfrm>
            <a:off x="10050780" y="1463040"/>
            <a:ext cx="160782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flow-t-261"/>
          <p:cNvSpPr txBox="1"/>
          <p:nvPr/>
        </p:nvSpPr>
        <p:spPr>
          <a:xfrm>
            <a:off x="10050780" y="1463040"/>
            <a:ext cx="160782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Response</a:t>
            </a:r>
            <a:endParaRPr lang="en-US" sz="1400" dirty="0"/>
          </a:p>
        </p:txBody>
      </p:sp>
      <p:sp>
        <p:nvSpPr>
          <p:cNvPr id="20" name="txt-262"/>
          <p:cNvSpPr txBox="1"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Setiap middleware menerima (req, res, next). Ia bisa membaca/mengubah req &amp; res, mengakhiri siklus dengan mengirim respons, atau memanggil next() untuk melanjutkan.</a:t>
            </a:r>
            <a:endParaRPr lang="en-US" sz="1600" dirty="0"/>
          </a:p>
        </p:txBody>
      </p:sp>
      <p:sp>
        <p:nvSpPr>
          <p:cNvPr id="21" name="code-bg-263"/>
          <p:cNvSpPr/>
          <p:nvPr/>
        </p:nvSpPr>
        <p:spPr>
          <a:xfrm>
            <a:off x="548640" y="3246120"/>
            <a:ext cx="6949440" cy="2834640"/>
          </a:xfrm>
          <a:prstGeom prst="roundRect">
            <a:avLst>
              <a:gd name="adj" fmla="val 322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2" name="code-label-264"/>
          <p:cNvSpPr txBox="1"/>
          <p:nvPr/>
        </p:nvSpPr>
        <p:spPr>
          <a:xfrm>
            <a:off x="777240" y="33558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kustom</a:t>
            </a:r>
            <a:endParaRPr lang="en-US" sz="1100" dirty="0"/>
          </a:p>
        </p:txBody>
      </p:sp>
      <p:sp>
        <p:nvSpPr>
          <p:cNvPr id="23" name="code-265"/>
          <p:cNvSpPr txBox="1"/>
          <p:nvPr/>
        </p:nvSpPr>
        <p:spPr>
          <a:xfrm>
            <a:off x="777240" y="3685032"/>
            <a:ext cx="6492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logger = (req, res, next)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start = Date.now();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res.on('finish',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 = Date.now() - start;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console.log(req.method, req.url, res.statusCode, ms + 'ms');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 // lanjut ke middleware berikutnya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app.use(logger);</a:t>
            </a:r>
            <a:endParaRPr lang="en-US" sz="1300" dirty="0"/>
          </a:p>
        </p:txBody>
      </p:sp>
      <p:sp>
        <p:nvSpPr>
          <p:cNvPr id="24" name="icon-bg-266"/>
          <p:cNvSpPr/>
          <p:nvPr/>
        </p:nvSpPr>
        <p:spPr>
          <a:xfrm>
            <a:off x="7818120" y="3291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2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3429000"/>
            <a:ext cx="274320" cy="274320"/>
          </a:xfrm>
          <a:prstGeom prst="rect">
            <a:avLst/>
          </a:prstGeom>
        </p:spPr>
      </p:pic>
      <p:sp>
        <p:nvSpPr>
          <p:cNvPr id="26" name="txt-268"/>
          <p:cNvSpPr txBox="1"/>
          <p:nvPr/>
        </p:nvSpPr>
        <p:spPr>
          <a:xfrm>
            <a:off x="8549640" y="32735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Urutan penting</a:t>
            </a:r>
            <a:endParaRPr lang="en-US" sz="1600" dirty="0"/>
          </a:p>
        </p:txBody>
      </p:sp>
      <p:sp>
        <p:nvSpPr>
          <p:cNvPr id="27" name="txt-269"/>
          <p:cNvSpPr txBox="1"/>
          <p:nvPr/>
        </p:nvSpPr>
        <p:spPr>
          <a:xfrm>
            <a:off x="8549640" y="3584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Didaftarkan = dieksekusi berurutan</a:t>
            </a:r>
            <a:endParaRPr lang="en-US" sz="1400" dirty="0"/>
          </a:p>
        </p:txBody>
      </p:sp>
      <p:sp>
        <p:nvSpPr>
          <p:cNvPr id="28" name="icon-bg-270"/>
          <p:cNvSpPr/>
          <p:nvPr/>
        </p:nvSpPr>
        <p:spPr>
          <a:xfrm>
            <a:off x="7818120" y="4251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con-2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4389120"/>
            <a:ext cx="274320" cy="274320"/>
          </a:xfrm>
          <a:prstGeom prst="rect">
            <a:avLst/>
          </a:prstGeom>
        </p:spPr>
      </p:pic>
      <p:sp>
        <p:nvSpPr>
          <p:cNvPr id="30" name="txt-272"/>
          <p:cNvSpPr txBox="1"/>
          <p:nvPr/>
        </p:nvSpPr>
        <p:spPr>
          <a:xfrm>
            <a:off x="8549640" y="4233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Wajib next()</a:t>
            </a:r>
            <a:endParaRPr lang="en-US" sz="1600" dirty="0"/>
          </a:p>
        </p:txBody>
      </p:sp>
      <p:sp>
        <p:nvSpPr>
          <p:cNvPr id="31" name="txt-273"/>
          <p:cNvSpPr txBox="1"/>
          <p:nvPr/>
        </p:nvSpPr>
        <p:spPr>
          <a:xfrm>
            <a:off x="8549640" y="4544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Lupa next() → request menggantung</a:t>
            </a:r>
            <a:endParaRPr lang="en-US" sz="1400" dirty="0"/>
          </a:p>
        </p:txBody>
      </p:sp>
      <p:sp>
        <p:nvSpPr>
          <p:cNvPr id="32" name="icon-bg-274"/>
          <p:cNvSpPr/>
          <p:nvPr/>
        </p:nvSpPr>
        <p:spPr>
          <a:xfrm>
            <a:off x="7818120" y="5212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3" name="icon-2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349240"/>
            <a:ext cx="274320" cy="274320"/>
          </a:xfrm>
          <a:prstGeom prst="rect">
            <a:avLst/>
          </a:prstGeom>
        </p:spPr>
      </p:pic>
      <p:sp>
        <p:nvSpPr>
          <p:cNvPr id="34" name="txt-276"/>
          <p:cNvSpPr txBox="1"/>
          <p:nvPr/>
        </p:nvSpPr>
        <p:spPr>
          <a:xfrm>
            <a:off x="8549640" y="51937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next(err)</a:t>
            </a:r>
            <a:endParaRPr lang="en-US" sz="1600" dirty="0"/>
          </a:p>
        </p:txBody>
      </p:sp>
      <p:sp>
        <p:nvSpPr>
          <p:cNvPr id="35" name="txt-277"/>
          <p:cNvSpPr txBox="1"/>
          <p:nvPr/>
        </p:nvSpPr>
        <p:spPr>
          <a:xfrm>
            <a:off x="8549640" y="55046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Lompat langsung ke error handler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Lima jenis middleware</a:t>
            </a:r>
            <a:endParaRPr lang="en-US" sz="3200" dirty="0"/>
          </a:p>
        </p:txBody>
      </p:sp>
      <p:sp>
        <p:nvSpPr>
          <p:cNvPr id="3" name="card-278"/>
          <p:cNvSpPr/>
          <p:nvPr/>
        </p:nvSpPr>
        <p:spPr>
          <a:xfrm>
            <a:off x="548640" y="1463040"/>
            <a:ext cx="2057400" cy="4023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279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2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63090"/>
            <a:ext cx="342900" cy="342900"/>
          </a:xfrm>
          <a:prstGeom prst="rect">
            <a:avLst/>
          </a:prstGeom>
        </p:spPr>
      </p:pic>
      <p:sp>
        <p:nvSpPr>
          <p:cNvPr id="6" name="txt-281"/>
          <p:cNvSpPr txBox="1"/>
          <p:nvPr/>
        </p:nvSpPr>
        <p:spPr>
          <a:xfrm>
            <a:off x="777240" y="2560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Application-level</a:t>
            </a:r>
            <a:endParaRPr lang="en-US" sz="1700" dirty="0"/>
          </a:p>
        </p:txBody>
      </p:sp>
      <p:sp>
        <p:nvSpPr>
          <p:cNvPr id="7" name="txt-282"/>
          <p:cNvSpPr txBox="1"/>
          <p:nvPr/>
        </p:nvSpPr>
        <p:spPr>
          <a:xfrm>
            <a:off x="77724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app.use(fn)</a:t>
            </a:r>
            <a:endParaRPr lang="en-US" sz="1200" dirty="0"/>
          </a:p>
        </p:txBody>
      </p:sp>
      <p:sp>
        <p:nvSpPr>
          <p:cNvPr id="8" name="txt-283"/>
          <p:cNvSpPr txBox="1"/>
          <p:nvPr/>
        </p:nvSpPr>
        <p:spPr>
          <a:xfrm>
            <a:off x="777240" y="4023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Berlaku untuk seluruh aplikasi atau path tertentu</a:t>
            </a:r>
            <a:endParaRPr lang="en-US" sz="1400" dirty="0"/>
          </a:p>
        </p:txBody>
      </p:sp>
      <p:sp>
        <p:nvSpPr>
          <p:cNvPr id="9" name="card-284"/>
          <p:cNvSpPr/>
          <p:nvPr/>
        </p:nvSpPr>
        <p:spPr>
          <a:xfrm>
            <a:off x="2788920" y="1463040"/>
            <a:ext cx="2057400" cy="4023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285"/>
          <p:cNvSpPr/>
          <p:nvPr/>
        </p:nvSpPr>
        <p:spPr>
          <a:xfrm>
            <a:off x="301752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2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70" y="1863090"/>
            <a:ext cx="342900" cy="342900"/>
          </a:xfrm>
          <a:prstGeom prst="rect">
            <a:avLst/>
          </a:prstGeom>
        </p:spPr>
      </p:pic>
      <p:sp>
        <p:nvSpPr>
          <p:cNvPr id="12" name="txt-287"/>
          <p:cNvSpPr txBox="1"/>
          <p:nvPr/>
        </p:nvSpPr>
        <p:spPr>
          <a:xfrm>
            <a:off x="3017520" y="2560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Router-level</a:t>
            </a:r>
            <a:endParaRPr lang="en-US" sz="1700" dirty="0"/>
          </a:p>
        </p:txBody>
      </p:sp>
      <p:sp>
        <p:nvSpPr>
          <p:cNvPr id="13" name="txt-288"/>
          <p:cNvSpPr txBox="1"/>
          <p:nvPr/>
        </p:nvSpPr>
        <p:spPr>
          <a:xfrm>
            <a:off x="301752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router.use(fn)</a:t>
            </a:r>
            <a:endParaRPr lang="en-US" sz="1200" dirty="0"/>
          </a:p>
        </p:txBody>
      </p:sp>
      <p:sp>
        <p:nvSpPr>
          <p:cNvPr id="14" name="txt-289"/>
          <p:cNvSpPr txBox="1"/>
          <p:nvPr/>
        </p:nvSpPr>
        <p:spPr>
          <a:xfrm>
            <a:off x="3017520" y="4023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Hanya untuk route di dalam router itu</a:t>
            </a:r>
            <a:endParaRPr lang="en-US" sz="1400" dirty="0"/>
          </a:p>
        </p:txBody>
      </p:sp>
      <p:sp>
        <p:nvSpPr>
          <p:cNvPr id="15" name="card-290"/>
          <p:cNvSpPr/>
          <p:nvPr/>
        </p:nvSpPr>
        <p:spPr>
          <a:xfrm>
            <a:off x="5029200" y="1463040"/>
            <a:ext cx="2057400" cy="4023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291"/>
          <p:cNvSpPr/>
          <p:nvPr/>
        </p:nvSpPr>
        <p:spPr>
          <a:xfrm>
            <a:off x="525780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29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863090"/>
            <a:ext cx="342900" cy="342900"/>
          </a:xfrm>
          <a:prstGeom prst="rect">
            <a:avLst/>
          </a:prstGeom>
        </p:spPr>
      </p:pic>
      <p:sp>
        <p:nvSpPr>
          <p:cNvPr id="18" name="txt-293"/>
          <p:cNvSpPr txBox="1"/>
          <p:nvPr/>
        </p:nvSpPr>
        <p:spPr>
          <a:xfrm>
            <a:off x="5257800" y="2560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Error-handling</a:t>
            </a:r>
            <a:endParaRPr lang="en-US" sz="1700" dirty="0"/>
          </a:p>
        </p:txBody>
      </p:sp>
      <p:sp>
        <p:nvSpPr>
          <p:cNvPr id="19" name="txt-294"/>
          <p:cNvSpPr txBox="1"/>
          <p:nvPr/>
        </p:nvSpPr>
        <p:spPr>
          <a:xfrm>
            <a:off x="525780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(err, req, res, next)</a:t>
            </a:r>
            <a:endParaRPr lang="en-US" sz="1200" dirty="0"/>
          </a:p>
        </p:txBody>
      </p:sp>
      <p:sp>
        <p:nvSpPr>
          <p:cNvPr id="20" name="txt-295"/>
          <p:cNvSpPr txBox="1"/>
          <p:nvPr/>
        </p:nvSpPr>
        <p:spPr>
          <a:xfrm>
            <a:off x="5257800" y="4023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Empat argumen; menangani semua error</a:t>
            </a:r>
            <a:endParaRPr lang="en-US" sz="1400" dirty="0"/>
          </a:p>
        </p:txBody>
      </p:sp>
      <p:sp>
        <p:nvSpPr>
          <p:cNvPr id="21" name="card-296"/>
          <p:cNvSpPr/>
          <p:nvPr/>
        </p:nvSpPr>
        <p:spPr>
          <a:xfrm>
            <a:off x="7269480" y="1463040"/>
            <a:ext cx="2057400" cy="4023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-bg-297"/>
          <p:cNvSpPr/>
          <p:nvPr/>
        </p:nvSpPr>
        <p:spPr>
          <a:xfrm>
            <a:off x="7498080" y="16916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con-2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1863090"/>
            <a:ext cx="342900" cy="342900"/>
          </a:xfrm>
          <a:prstGeom prst="rect">
            <a:avLst/>
          </a:prstGeom>
        </p:spPr>
      </p:pic>
      <p:sp>
        <p:nvSpPr>
          <p:cNvPr id="24" name="txt-299"/>
          <p:cNvSpPr txBox="1"/>
          <p:nvPr/>
        </p:nvSpPr>
        <p:spPr>
          <a:xfrm>
            <a:off x="7498080" y="2560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Built-in</a:t>
            </a:r>
            <a:endParaRPr lang="en-US" sz="1700" dirty="0"/>
          </a:p>
        </p:txBody>
      </p:sp>
      <p:sp>
        <p:nvSpPr>
          <p:cNvPr id="25" name="txt-300"/>
          <p:cNvSpPr txBox="1"/>
          <p:nvPr/>
        </p:nvSpPr>
        <p:spPr>
          <a:xfrm>
            <a:off x="749808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endParaRPr lang="en-US" sz="1200" dirty="0"/>
          </a:p>
        </p:txBody>
      </p:sp>
      <p:sp>
        <p:nvSpPr>
          <p:cNvPr id="26" name="txt-301"/>
          <p:cNvSpPr txBox="1"/>
          <p:nvPr/>
        </p:nvSpPr>
        <p:spPr>
          <a:xfrm>
            <a:off x="7498080" y="4023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Disediakan Express: json, urlencoded, static, raw, text</a:t>
            </a:r>
            <a:endParaRPr lang="en-US" sz="1400" dirty="0"/>
          </a:p>
        </p:txBody>
      </p:sp>
      <p:sp>
        <p:nvSpPr>
          <p:cNvPr id="27" name="card-302"/>
          <p:cNvSpPr/>
          <p:nvPr/>
        </p:nvSpPr>
        <p:spPr>
          <a:xfrm>
            <a:off x="9509760" y="1463040"/>
            <a:ext cx="2057400" cy="4023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-bg-303"/>
          <p:cNvSpPr/>
          <p:nvPr/>
        </p:nvSpPr>
        <p:spPr>
          <a:xfrm>
            <a:off x="9738360" y="1691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-30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810" y="1863090"/>
            <a:ext cx="342900" cy="342900"/>
          </a:xfrm>
          <a:prstGeom prst="rect">
            <a:avLst/>
          </a:prstGeom>
        </p:spPr>
      </p:pic>
      <p:sp>
        <p:nvSpPr>
          <p:cNvPr id="30" name="txt-305"/>
          <p:cNvSpPr txBox="1"/>
          <p:nvPr/>
        </p:nvSpPr>
        <p:spPr>
          <a:xfrm>
            <a:off x="9738360" y="2560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Third-party</a:t>
            </a:r>
            <a:endParaRPr lang="en-US" sz="1700" dirty="0"/>
          </a:p>
        </p:txBody>
      </p:sp>
      <p:sp>
        <p:nvSpPr>
          <p:cNvPr id="31" name="txt-306"/>
          <p:cNvSpPr txBox="1"/>
          <p:nvPr/>
        </p:nvSpPr>
        <p:spPr>
          <a:xfrm>
            <a:off x="973836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</a:t>
            </a:r>
            <a:endParaRPr lang="en-US" sz="1200" dirty="0"/>
          </a:p>
        </p:txBody>
      </p:sp>
      <p:sp>
        <p:nvSpPr>
          <p:cNvPr id="32" name="txt-307"/>
          <p:cNvSpPr txBox="1"/>
          <p:nvPr/>
        </p:nvSpPr>
        <p:spPr>
          <a:xfrm>
            <a:off x="9738360" y="40233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Paket npm: helmet, cors, morgan, multer, dll.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Middleware bawaan &amp; file statis</a:t>
            </a:r>
            <a:endParaRPr lang="en-US" sz="3200" dirty="0"/>
          </a:p>
        </p:txBody>
      </p:sp>
      <p:sp>
        <p:nvSpPr>
          <p:cNvPr id="3" name="code-bg-308"/>
          <p:cNvSpPr/>
          <p:nvPr/>
        </p:nvSpPr>
        <p:spPr>
          <a:xfrm>
            <a:off x="548640" y="1417320"/>
            <a:ext cx="63093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309"/>
          <p:cNvSpPr txBox="1"/>
          <p:nvPr/>
        </p:nvSpPr>
        <p:spPr>
          <a:xfrm>
            <a:off x="777240" y="1527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5" name="code-310"/>
          <p:cNvSpPr txBox="1"/>
          <p:nvPr/>
        </p:nvSpPr>
        <p:spPr>
          <a:xfrm>
            <a:off x="777240" y="1856232"/>
            <a:ext cx="5852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Parsing body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app.use(express.json({ limit: '1mb' }));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app.use(express.urlencoded({ extended: false }));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app.use(express.text());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app.use(express.raw({ type: 'application/pdf' }));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statis dari folder public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app.use(express.static('public',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maxAge: '1d',      // cache browser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Prefix virtual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app.use('/assets', express.static('uploads'));</a:t>
            </a:r>
            <a:endParaRPr lang="en-US" sz="1300" dirty="0"/>
          </a:p>
        </p:txBody>
      </p:sp>
      <p:sp>
        <p:nvSpPr>
          <p:cNvPr id="6" name="card-311"/>
          <p:cNvSpPr/>
          <p:nvPr/>
        </p:nvSpPr>
        <p:spPr>
          <a:xfrm>
            <a:off x="7178040" y="1463040"/>
            <a:ext cx="4480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-312"/>
          <p:cNvSpPr txBox="1"/>
          <p:nvPr/>
        </p:nvSpPr>
        <p:spPr>
          <a:xfrm>
            <a:off x="7379208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express.json()</a:t>
            </a:r>
            <a:endParaRPr lang="en-US" sz="1400" dirty="0"/>
          </a:p>
        </p:txBody>
      </p:sp>
      <p:sp>
        <p:nvSpPr>
          <p:cNvPr id="8" name="txt-313"/>
          <p:cNvSpPr txBox="1"/>
          <p:nvPr/>
        </p:nvSpPr>
        <p:spPr>
          <a:xfrm>
            <a:off x="7379208" y="1847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Body JSON → req.body</a:t>
            </a:r>
            <a:endParaRPr lang="en-US" sz="1400" dirty="0"/>
          </a:p>
        </p:txBody>
      </p:sp>
      <p:sp>
        <p:nvSpPr>
          <p:cNvPr id="9" name="card-314"/>
          <p:cNvSpPr/>
          <p:nvPr/>
        </p:nvSpPr>
        <p:spPr>
          <a:xfrm>
            <a:off x="7178040" y="2624328"/>
            <a:ext cx="4480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-315"/>
          <p:cNvSpPr txBox="1"/>
          <p:nvPr/>
        </p:nvSpPr>
        <p:spPr>
          <a:xfrm>
            <a:off x="7379208" y="2715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express.urlencoded()</a:t>
            </a:r>
            <a:endParaRPr lang="en-US" sz="1400" dirty="0"/>
          </a:p>
        </p:txBody>
      </p:sp>
      <p:sp>
        <p:nvSpPr>
          <p:cNvPr id="11" name="txt-316"/>
          <p:cNvSpPr txBox="1"/>
          <p:nvPr/>
        </p:nvSpPr>
        <p:spPr>
          <a:xfrm>
            <a:off x="7379208" y="300837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 HTML → req.body (v5: extended default false)</a:t>
            </a:r>
            <a:endParaRPr lang="en-US" sz="1400" dirty="0"/>
          </a:p>
        </p:txBody>
      </p:sp>
      <p:sp>
        <p:nvSpPr>
          <p:cNvPr id="12" name="card-317"/>
          <p:cNvSpPr/>
          <p:nvPr/>
        </p:nvSpPr>
        <p:spPr>
          <a:xfrm>
            <a:off x="7178040" y="3785616"/>
            <a:ext cx="4480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-318"/>
          <p:cNvSpPr txBox="1"/>
          <p:nvPr/>
        </p:nvSpPr>
        <p:spPr>
          <a:xfrm>
            <a:off x="7379208" y="3877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express.static()</a:t>
            </a:r>
            <a:endParaRPr lang="en-US" sz="1400" dirty="0"/>
          </a:p>
        </p:txBody>
      </p:sp>
      <p:sp>
        <p:nvSpPr>
          <p:cNvPr id="14" name="txt-319"/>
          <p:cNvSpPr txBox="1"/>
          <p:nvPr/>
        </p:nvSpPr>
        <p:spPr>
          <a:xfrm>
            <a:off x="7379208" y="416966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Melayani HTML, CSS, JS, gambar; dotfiles diabaikan</a:t>
            </a:r>
            <a:endParaRPr lang="en-US" sz="1400" dirty="0"/>
          </a:p>
        </p:txBody>
      </p:sp>
      <p:sp>
        <p:nvSpPr>
          <p:cNvPr id="15" name="card-320"/>
          <p:cNvSpPr/>
          <p:nvPr/>
        </p:nvSpPr>
        <p:spPr>
          <a:xfrm>
            <a:off x="7178040" y="4946904"/>
            <a:ext cx="448056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321"/>
          <p:cNvSpPr txBox="1"/>
          <p:nvPr/>
        </p:nvSpPr>
        <p:spPr>
          <a:xfrm>
            <a:off x="7379208" y="5038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express.raw() / text()</a:t>
            </a:r>
            <a:endParaRPr lang="en-US" sz="1400" dirty="0"/>
          </a:p>
        </p:txBody>
      </p:sp>
      <p:sp>
        <p:nvSpPr>
          <p:cNvPr id="17" name="txt-322"/>
          <p:cNvSpPr txBox="1"/>
          <p:nvPr/>
        </p:nvSpPr>
        <p:spPr>
          <a:xfrm>
            <a:off x="7379208" y="5330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Body sebagai Buffer / string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Cookie &amp; CORS</a:t>
            </a:r>
            <a:endParaRPr lang="en-US" sz="3200" dirty="0"/>
          </a:p>
        </p:txBody>
      </p:sp>
      <p:sp>
        <p:nvSpPr>
          <p:cNvPr id="3" name="code-bg-323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324"/>
          <p:cNvSpPr txBox="1"/>
          <p:nvPr/>
        </p:nvSpPr>
        <p:spPr>
          <a:xfrm>
            <a:off x="777240" y="1527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5" name="code-325"/>
          <p:cNvSpPr txBox="1"/>
          <p:nvPr/>
        </p:nvSpPr>
        <p:spPr>
          <a:xfrm>
            <a:off x="777240" y="1856232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cookieParser from 'cookie-parser';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cors from 'cors';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app.use(cookieParser(process.env.COOKIE_SECRET));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['http://localhost:5173', 'https://app.contoh.id'],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credentials: true,   // izinkan cookie lintas origin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app.post('/login',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res.cookie('token', token,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httpOnly: true,    // tak bisa dibaca JavaScript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secure: true,      // hanya via HTTPS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sameSite: 'lax',   // mitigasi CSRF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maxAge: 24 * 60 * 60 * 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ok: true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app.get('/me', (req, res) =&gt; res.json(req.cookies));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app.post('/logout', (req, res) =&gt; res.clearCookie('token').end());</a:t>
            </a:r>
            <a:endParaRPr lang="en-US" sz="1100" dirty="0"/>
          </a:p>
        </p:txBody>
      </p:sp>
      <p:sp>
        <p:nvSpPr>
          <p:cNvPr id="6" name="icon-bg-326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274320" cy="274320"/>
          </a:xfrm>
          <a:prstGeom prst="rect">
            <a:avLst/>
          </a:prstGeom>
        </p:spPr>
      </p:pic>
      <p:sp>
        <p:nvSpPr>
          <p:cNvPr id="8" name="txt-328"/>
          <p:cNvSpPr txBox="1"/>
          <p:nvPr/>
        </p:nvSpPr>
        <p:spPr>
          <a:xfrm>
            <a:off x="8366760" y="1536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cookie-parser</a:t>
            </a:r>
            <a:endParaRPr lang="en-US" sz="1600" dirty="0"/>
          </a:p>
        </p:txBody>
      </p:sp>
      <p:sp>
        <p:nvSpPr>
          <p:cNvPr id="9" name="txt-329"/>
          <p:cNvSpPr txBox="1"/>
          <p:nvPr/>
        </p:nvSpPr>
        <p:spPr>
          <a:xfrm>
            <a:off x="8366760" y="1847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Mengisi req.cookies &amp; req.signedCookies</a:t>
            </a:r>
            <a:endParaRPr lang="en-US" sz="1400" dirty="0"/>
          </a:p>
        </p:txBody>
      </p:sp>
      <p:sp>
        <p:nvSpPr>
          <p:cNvPr id="10" name="icon-bg-330"/>
          <p:cNvSpPr/>
          <p:nvPr/>
        </p:nvSpPr>
        <p:spPr>
          <a:xfrm>
            <a:off x="7635240" y="26700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33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07208"/>
            <a:ext cx="274320" cy="274320"/>
          </a:xfrm>
          <a:prstGeom prst="rect">
            <a:avLst/>
          </a:prstGeom>
        </p:spPr>
      </p:pic>
      <p:sp>
        <p:nvSpPr>
          <p:cNvPr id="12" name="txt-332"/>
          <p:cNvSpPr txBox="1"/>
          <p:nvPr/>
        </p:nvSpPr>
        <p:spPr>
          <a:xfrm>
            <a:off x="8366760" y="2651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CORS</a:t>
            </a:r>
            <a:endParaRPr lang="en-US" sz="1600" dirty="0"/>
          </a:p>
        </p:txBody>
      </p:sp>
      <p:sp>
        <p:nvSpPr>
          <p:cNvPr id="13" name="txt-333"/>
          <p:cNvSpPr txBox="1"/>
          <p:nvPr/>
        </p:nvSpPr>
        <p:spPr>
          <a:xfrm>
            <a:off x="8366760" y="29626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Izin browser memanggil API dari origin lain</a:t>
            </a:r>
            <a:endParaRPr lang="en-US" sz="1400" dirty="0"/>
          </a:p>
        </p:txBody>
      </p:sp>
      <p:sp>
        <p:nvSpPr>
          <p:cNvPr id="14" name="icon-bg-334"/>
          <p:cNvSpPr/>
          <p:nvPr/>
        </p:nvSpPr>
        <p:spPr>
          <a:xfrm>
            <a:off x="7635240" y="378561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33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922776"/>
            <a:ext cx="274320" cy="274320"/>
          </a:xfrm>
          <a:prstGeom prst="rect">
            <a:avLst/>
          </a:prstGeom>
        </p:spPr>
      </p:pic>
      <p:sp>
        <p:nvSpPr>
          <p:cNvPr id="16" name="txt-336"/>
          <p:cNvSpPr txBox="1"/>
          <p:nvPr/>
        </p:nvSpPr>
        <p:spPr>
          <a:xfrm>
            <a:off x="8366760" y="37673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 spesifik</a:t>
            </a:r>
            <a:endParaRPr lang="en-US" sz="1600" dirty="0"/>
          </a:p>
        </p:txBody>
      </p:sp>
      <p:sp>
        <p:nvSpPr>
          <p:cNvPr id="17" name="txt-337"/>
          <p:cNvSpPr txBox="1"/>
          <p:nvPr/>
        </p:nvSpPr>
        <p:spPr>
          <a:xfrm>
            <a:off x="8366760" y="40782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origin: '*' bila credentials: true</a:t>
            </a:r>
            <a:endParaRPr lang="en-US" sz="1400" dirty="0"/>
          </a:p>
        </p:txBody>
      </p:sp>
      <p:sp>
        <p:nvSpPr>
          <p:cNvPr id="18" name="icon-bg-338"/>
          <p:cNvSpPr/>
          <p:nvPr/>
        </p:nvSpPr>
        <p:spPr>
          <a:xfrm>
            <a:off x="7635240" y="490118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33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5038344"/>
            <a:ext cx="274320" cy="274320"/>
          </a:xfrm>
          <a:prstGeom prst="rect">
            <a:avLst/>
          </a:prstGeom>
        </p:spPr>
      </p:pic>
      <p:sp>
        <p:nvSpPr>
          <p:cNvPr id="20" name="txt-340"/>
          <p:cNvSpPr txBox="1"/>
          <p:nvPr/>
        </p:nvSpPr>
        <p:spPr>
          <a:xfrm>
            <a:off x="8366760" y="4882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Preflight</a:t>
            </a:r>
            <a:endParaRPr lang="en-US" sz="1600" dirty="0"/>
          </a:p>
        </p:txBody>
      </p:sp>
      <p:sp>
        <p:nvSpPr>
          <p:cNvPr id="21" name="txt-341"/>
          <p:cNvSpPr txBox="1"/>
          <p:nvPr/>
        </p:nvSpPr>
        <p:spPr>
          <a:xfrm>
            <a:off x="8366760" y="51937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Browser kirim OPTIONS dulu; cors() menanganinya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Upload file dengan Multer</a:t>
            </a:r>
            <a:endParaRPr lang="en-US" sz="3200" dirty="0"/>
          </a:p>
        </p:txBody>
      </p:sp>
      <p:sp>
        <p:nvSpPr>
          <p:cNvPr id="3" name="code-bg-342"/>
          <p:cNvSpPr/>
          <p:nvPr/>
        </p:nvSpPr>
        <p:spPr>
          <a:xfrm>
            <a:off x="548640" y="141732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343"/>
          <p:cNvSpPr txBox="1"/>
          <p:nvPr/>
        </p:nvSpPr>
        <p:spPr>
          <a:xfrm>
            <a:off x="777240" y="1527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middleware/upload.js</a:t>
            </a:r>
            <a:endParaRPr lang="en-US" sz="1100" dirty="0"/>
          </a:p>
        </p:txBody>
      </p:sp>
      <p:sp>
        <p:nvSpPr>
          <p:cNvPr id="5" name="code-344"/>
          <p:cNvSpPr txBox="1"/>
          <p:nvPr/>
        </p:nvSpPr>
        <p:spPr>
          <a:xfrm>
            <a:off x="777240" y="1856232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multer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multer from 'multer';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path from 'node:path';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crypto from 'node:crypto';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storage = multer.diskStorage({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destination: 'uploads/',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filename: (req, file, cb)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ext = path.extname(file.originalname);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cb(null, crypto.randomUUID() + ext);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code-bg-345"/>
          <p:cNvSpPr/>
          <p:nvPr/>
        </p:nvSpPr>
        <p:spPr>
          <a:xfrm>
            <a:off x="6217920" y="1417320"/>
            <a:ext cx="5440680" cy="3657600"/>
          </a:xfrm>
          <a:prstGeom prst="roundRect">
            <a:avLst>
              <a:gd name="adj" fmla="val 25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346"/>
          <p:cNvSpPr txBox="1"/>
          <p:nvPr/>
        </p:nvSpPr>
        <p:spPr>
          <a:xfrm>
            <a:off x="6446520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routes/avatar.js</a:t>
            </a:r>
            <a:endParaRPr lang="en-US" sz="1100" dirty="0"/>
          </a:p>
        </p:txBody>
      </p:sp>
      <p:sp>
        <p:nvSpPr>
          <p:cNvPr id="8" name="code-347"/>
          <p:cNvSpPr txBox="1"/>
          <p:nvPr/>
        </p:nvSpPr>
        <p:spPr>
          <a:xfrm>
            <a:off x="6446520" y="1856232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upload = multer({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 { fileSize: 2 * 1024 * 1024 }, // 2MB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fileFilter: (req, file, cb)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ok = ['image/png', 'image/jpeg']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.includes(file.mimetype);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cb(null, ok);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app.post('/api/avatar', upload.single('avatar'),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(!req.file) return res.sendStatus(400);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file: req.file.filename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</p:txBody>
      </p:sp>
      <p:sp>
        <p:nvSpPr>
          <p:cNvPr id="9" name="card-348"/>
          <p:cNvSpPr/>
          <p:nvPr/>
        </p:nvSpPr>
        <p:spPr>
          <a:xfrm>
            <a:off x="548640" y="53035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-349"/>
          <p:cNvSpPr txBox="1"/>
          <p:nvPr/>
        </p:nvSpPr>
        <p:spPr>
          <a:xfrm>
            <a:off x="749808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upload.single('f')</a:t>
            </a:r>
            <a:endParaRPr lang="en-US" sz="1400" dirty="0"/>
          </a:p>
        </p:txBody>
      </p:sp>
      <p:sp>
        <p:nvSpPr>
          <p:cNvPr id="11" name="txt-350"/>
          <p:cNvSpPr txBox="1"/>
          <p:nvPr/>
        </p:nvSpPr>
        <p:spPr>
          <a:xfrm>
            <a:off x="749808" y="5687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satu file → req.file</a:t>
            </a:r>
            <a:endParaRPr lang="en-US" sz="1400" dirty="0"/>
          </a:p>
        </p:txBody>
      </p:sp>
      <p:sp>
        <p:nvSpPr>
          <p:cNvPr id="12" name="card-351"/>
          <p:cNvSpPr/>
          <p:nvPr/>
        </p:nvSpPr>
        <p:spPr>
          <a:xfrm>
            <a:off x="4297680" y="53035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-352"/>
          <p:cNvSpPr txBox="1"/>
          <p:nvPr/>
        </p:nvSpPr>
        <p:spPr>
          <a:xfrm>
            <a:off x="4498848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upload.array('f', 5)</a:t>
            </a:r>
            <a:endParaRPr lang="en-US" sz="1400" dirty="0"/>
          </a:p>
        </p:txBody>
      </p:sp>
      <p:sp>
        <p:nvSpPr>
          <p:cNvPr id="14" name="txt-353"/>
          <p:cNvSpPr txBox="1"/>
          <p:nvPr/>
        </p:nvSpPr>
        <p:spPr>
          <a:xfrm>
            <a:off x="4498848" y="5687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banyak file → req.files</a:t>
            </a:r>
            <a:endParaRPr lang="en-US" sz="1400" dirty="0"/>
          </a:p>
        </p:txBody>
      </p:sp>
      <p:sp>
        <p:nvSpPr>
          <p:cNvPr id="15" name="card-354"/>
          <p:cNvSpPr/>
          <p:nvPr/>
        </p:nvSpPr>
        <p:spPr>
          <a:xfrm>
            <a:off x="8046720" y="5303520"/>
            <a:ext cx="3520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355"/>
          <p:cNvSpPr txBox="1"/>
          <p:nvPr/>
        </p:nvSpPr>
        <p:spPr>
          <a:xfrm>
            <a:off x="8247888" y="5394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upload.fields([...])</a:t>
            </a:r>
            <a:endParaRPr lang="en-US" sz="1400" dirty="0"/>
          </a:p>
        </p:txBody>
      </p:sp>
      <p:sp>
        <p:nvSpPr>
          <p:cNvPr id="17" name="txt-356"/>
          <p:cNvSpPr txBox="1"/>
          <p:nvPr/>
        </p:nvSpPr>
        <p:spPr>
          <a:xfrm>
            <a:off x="8247888" y="5687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beberapa field 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357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35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359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04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Request, Response &amp; Error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Membaca input, mengirim output, menangani kegagalan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Objek req dan res yang paling sering dipakai</a:t>
            </a:r>
            <a:endParaRPr lang="en-US" sz="3200" dirty="0"/>
          </a:p>
        </p:txBody>
      </p:sp>
      <p:sp>
        <p:nvSpPr>
          <p:cNvPr id="3" name="icon-bg-360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36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5" name="txt-362"/>
          <p:cNvSpPr txBox="1"/>
          <p:nvPr/>
        </p:nvSpPr>
        <p:spPr>
          <a:xfrm>
            <a:off x="128016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Request (req)</a:t>
            </a:r>
            <a:endParaRPr lang="en-US" sz="2000" dirty="0"/>
          </a:p>
        </p:txBody>
      </p:sp>
      <p:sp>
        <p:nvSpPr>
          <p:cNvPr id="6" name="card-363"/>
          <p:cNvSpPr/>
          <p:nvPr/>
        </p:nvSpPr>
        <p:spPr>
          <a:xfrm>
            <a:off x="548640" y="2103120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xt-364"/>
          <p:cNvSpPr txBox="1"/>
          <p:nvPr/>
        </p:nvSpPr>
        <p:spPr>
          <a:xfrm>
            <a:off x="73152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req.params</a:t>
            </a:r>
            <a:endParaRPr lang="en-US" sz="1300" dirty="0"/>
          </a:p>
        </p:txBody>
      </p:sp>
      <p:sp>
        <p:nvSpPr>
          <p:cNvPr id="8" name="txt-365"/>
          <p:cNvSpPr txBox="1"/>
          <p:nvPr/>
        </p:nvSpPr>
        <p:spPr>
          <a:xfrm>
            <a:off x="3246120" y="2221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Parameter path /users/:id</a:t>
            </a:r>
            <a:endParaRPr lang="en-US" sz="1400" dirty="0"/>
          </a:p>
        </p:txBody>
      </p:sp>
      <p:sp>
        <p:nvSpPr>
          <p:cNvPr id="9" name="card-366"/>
          <p:cNvSpPr/>
          <p:nvPr/>
        </p:nvSpPr>
        <p:spPr>
          <a:xfrm>
            <a:off x="548640" y="2770632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xt-367"/>
          <p:cNvSpPr txBox="1"/>
          <p:nvPr/>
        </p:nvSpPr>
        <p:spPr>
          <a:xfrm>
            <a:off x="731520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req.query</a:t>
            </a:r>
            <a:endParaRPr lang="en-US" sz="1300" dirty="0"/>
          </a:p>
        </p:txBody>
      </p:sp>
      <p:sp>
        <p:nvSpPr>
          <p:cNvPr id="11" name="txt-368"/>
          <p:cNvSpPr txBox="1"/>
          <p:nvPr/>
        </p:nvSpPr>
        <p:spPr>
          <a:xfrm>
            <a:off x="3246120" y="2889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?page=2 · read-only di v5</a:t>
            </a:r>
            <a:endParaRPr lang="en-US" sz="1400" dirty="0"/>
          </a:p>
        </p:txBody>
      </p:sp>
      <p:sp>
        <p:nvSpPr>
          <p:cNvPr id="12" name="card-369"/>
          <p:cNvSpPr/>
          <p:nvPr/>
        </p:nvSpPr>
        <p:spPr>
          <a:xfrm>
            <a:off x="548640" y="3438144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xt-370"/>
          <p:cNvSpPr txBox="1"/>
          <p:nvPr/>
        </p:nvSpPr>
        <p:spPr>
          <a:xfrm>
            <a:off x="731520" y="3575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endParaRPr lang="en-US" sz="1300" dirty="0"/>
          </a:p>
        </p:txBody>
      </p:sp>
      <p:sp>
        <p:nvSpPr>
          <p:cNvPr id="14" name="txt-371"/>
          <p:cNvSpPr txBox="1"/>
          <p:nvPr/>
        </p:nvSpPr>
        <p:spPr>
          <a:xfrm>
            <a:off x="3246120" y="35570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Isi body (butuh parser)</a:t>
            </a:r>
            <a:endParaRPr lang="en-US" sz="1400" dirty="0"/>
          </a:p>
        </p:txBody>
      </p:sp>
      <p:sp>
        <p:nvSpPr>
          <p:cNvPr id="15" name="card-372"/>
          <p:cNvSpPr/>
          <p:nvPr/>
        </p:nvSpPr>
        <p:spPr>
          <a:xfrm>
            <a:off x="548640" y="4105656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373"/>
          <p:cNvSpPr txBox="1"/>
          <p:nvPr/>
        </p:nvSpPr>
        <p:spPr>
          <a:xfrm>
            <a:off x="731520" y="4242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req.get('Header')</a:t>
            </a:r>
            <a:endParaRPr lang="en-US" sz="1300" dirty="0"/>
          </a:p>
        </p:txBody>
      </p:sp>
      <p:sp>
        <p:nvSpPr>
          <p:cNvPr id="17" name="txt-374"/>
          <p:cNvSpPr txBox="1"/>
          <p:nvPr/>
        </p:nvSpPr>
        <p:spPr>
          <a:xfrm>
            <a:off x="3246120" y="4224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Membaca header</a:t>
            </a:r>
            <a:endParaRPr lang="en-US" sz="1400" dirty="0"/>
          </a:p>
        </p:txBody>
      </p:sp>
      <p:sp>
        <p:nvSpPr>
          <p:cNvPr id="18" name="card-375"/>
          <p:cNvSpPr/>
          <p:nvPr/>
        </p:nvSpPr>
        <p:spPr>
          <a:xfrm>
            <a:off x="548640" y="4773168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xt-376"/>
          <p:cNvSpPr txBox="1"/>
          <p:nvPr/>
        </p:nvSpPr>
        <p:spPr>
          <a:xfrm>
            <a:off x="731520" y="4910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req.ip / req.path</a:t>
            </a:r>
            <a:endParaRPr lang="en-US" sz="1300" dirty="0"/>
          </a:p>
        </p:txBody>
      </p:sp>
      <p:sp>
        <p:nvSpPr>
          <p:cNvPr id="20" name="txt-377"/>
          <p:cNvSpPr txBox="1"/>
          <p:nvPr/>
        </p:nvSpPr>
        <p:spPr>
          <a:xfrm>
            <a:off x="3246120" y="4892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Alamat IP &amp; path request</a:t>
            </a:r>
            <a:endParaRPr lang="en-US" sz="1400" dirty="0"/>
          </a:p>
        </p:txBody>
      </p:sp>
      <p:sp>
        <p:nvSpPr>
          <p:cNvPr id="21" name="card-378"/>
          <p:cNvSpPr/>
          <p:nvPr/>
        </p:nvSpPr>
        <p:spPr>
          <a:xfrm>
            <a:off x="548640" y="5440680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xt-379"/>
          <p:cNvSpPr txBox="1"/>
          <p:nvPr/>
        </p:nvSpPr>
        <p:spPr>
          <a:xfrm>
            <a:off x="731520" y="5577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req.cookies</a:t>
            </a:r>
            <a:endParaRPr lang="en-US" sz="1300" dirty="0"/>
          </a:p>
        </p:txBody>
      </p:sp>
      <p:sp>
        <p:nvSpPr>
          <p:cNvPr id="23" name="txt-380"/>
          <p:cNvSpPr txBox="1"/>
          <p:nvPr/>
        </p:nvSpPr>
        <p:spPr>
          <a:xfrm>
            <a:off x="3246120" y="5559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Cookie (via cookie-parser)</a:t>
            </a:r>
            <a:endParaRPr lang="en-US" sz="1400" dirty="0"/>
          </a:p>
        </p:txBody>
      </p:sp>
      <p:sp>
        <p:nvSpPr>
          <p:cNvPr id="24" name="icon-bg-381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3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274320" cy="274320"/>
          </a:xfrm>
          <a:prstGeom prst="rect">
            <a:avLst/>
          </a:prstGeom>
        </p:spPr>
      </p:pic>
      <p:sp>
        <p:nvSpPr>
          <p:cNvPr id="26" name="txt-383"/>
          <p:cNvSpPr txBox="1"/>
          <p:nvPr/>
        </p:nvSpPr>
        <p:spPr>
          <a:xfrm>
            <a:off x="694944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Response (res)</a:t>
            </a:r>
            <a:endParaRPr lang="en-US" sz="2000" dirty="0"/>
          </a:p>
        </p:txBody>
      </p:sp>
      <p:sp>
        <p:nvSpPr>
          <p:cNvPr id="27" name="card-384"/>
          <p:cNvSpPr/>
          <p:nvPr/>
        </p:nvSpPr>
        <p:spPr>
          <a:xfrm>
            <a:off x="6217920" y="2103120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xt-385"/>
          <p:cNvSpPr txBox="1"/>
          <p:nvPr/>
        </p:nvSpPr>
        <p:spPr>
          <a:xfrm>
            <a:off x="640080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res.status(code)</a:t>
            </a:r>
            <a:endParaRPr lang="en-US" sz="1300" dirty="0"/>
          </a:p>
        </p:txBody>
      </p:sp>
      <p:sp>
        <p:nvSpPr>
          <p:cNvPr id="29" name="txt-386"/>
          <p:cNvSpPr txBox="1"/>
          <p:nvPr/>
        </p:nvSpPr>
        <p:spPr>
          <a:xfrm>
            <a:off x="8915400" y="2221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Mengatur status HTTP</a:t>
            </a:r>
            <a:endParaRPr lang="en-US" sz="1400" dirty="0"/>
          </a:p>
        </p:txBody>
      </p:sp>
      <p:sp>
        <p:nvSpPr>
          <p:cNvPr id="30" name="card-387"/>
          <p:cNvSpPr/>
          <p:nvPr/>
        </p:nvSpPr>
        <p:spPr>
          <a:xfrm>
            <a:off x="6217920" y="2770632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xt-388"/>
          <p:cNvSpPr txBox="1"/>
          <p:nvPr/>
        </p:nvSpPr>
        <p:spPr>
          <a:xfrm>
            <a:off x="6400800" y="29077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res.json(obj)</a:t>
            </a:r>
            <a:endParaRPr lang="en-US" sz="1300" dirty="0"/>
          </a:p>
        </p:txBody>
      </p:sp>
      <p:sp>
        <p:nvSpPr>
          <p:cNvPr id="32" name="txt-389"/>
          <p:cNvSpPr txBox="1"/>
          <p:nvPr/>
        </p:nvSpPr>
        <p:spPr>
          <a:xfrm>
            <a:off x="8915400" y="28895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Kirim JSON</a:t>
            </a:r>
            <a:endParaRPr lang="en-US" sz="1400" dirty="0"/>
          </a:p>
        </p:txBody>
      </p:sp>
      <p:sp>
        <p:nvSpPr>
          <p:cNvPr id="33" name="card-390"/>
          <p:cNvSpPr/>
          <p:nvPr/>
        </p:nvSpPr>
        <p:spPr>
          <a:xfrm>
            <a:off x="6217920" y="3438144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xt-391"/>
          <p:cNvSpPr txBox="1"/>
          <p:nvPr/>
        </p:nvSpPr>
        <p:spPr>
          <a:xfrm>
            <a:off x="6400800" y="3575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res.send(data)</a:t>
            </a:r>
            <a:endParaRPr lang="en-US" sz="1300" dirty="0"/>
          </a:p>
        </p:txBody>
      </p:sp>
      <p:sp>
        <p:nvSpPr>
          <p:cNvPr id="35" name="txt-392"/>
          <p:cNvSpPr txBox="1"/>
          <p:nvPr/>
        </p:nvSpPr>
        <p:spPr>
          <a:xfrm>
            <a:off x="8915400" y="35570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Kirim teks/HTML/Buffer</a:t>
            </a:r>
            <a:endParaRPr lang="en-US" sz="1400" dirty="0"/>
          </a:p>
        </p:txBody>
      </p:sp>
      <p:sp>
        <p:nvSpPr>
          <p:cNvPr id="36" name="card-393"/>
          <p:cNvSpPr/>
          <p:nvPr/>
        </p:nvSpPr>
        <p:spPr>
          <a:xfrm>
            <a:off x="6217920" y="4105656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xt-394"/>
          <p:cNvSpPr txBox="1"/>
          <p:nvPr/>
        </p:nvSpPr>
        <p:spPr>
          <a:xfrm>
            <a:off x="6400800" y="42428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res.redirect(url)</a:t>
            </a:r>
            <a:endParaRPr lang="en-US" sz="1300" dirty="0"/>
          </a:p>
        </p:txBody>
      </p:sp>
      <p:sp>
        <p:nvSpPr>
          <p:cNvPr id="38" name="txt-395"/>
          <p:cNvSpPr txBox="1"/>
          <p:nvPr/>
        </p:nvSpPr>
        <p:spPr>
          <a:xfrm>
            <a:off x="8915400" y="4224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Alihkan ke URL lain</a:t>
            </a:r>
            <a:endParaRPr lang="en-US" sz="1400" dirty="0"/>
          </a:p>
        </p:txBody>
      </p:sp>
      <p:sp>
        <p:nvSpPr>
          <p:cNvPr id="39" name="card-396"/>
          <p:cNvSpPr/>
          <p:nvPr/>
        </p:nvSpPr>
        <p:spPr>
          <a:xfrm>
            <a:off x="6217920" y="4773168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xt-397"/>
          <p:cNvSpPr txBox="1"/>
          <p:nvPr/>
        </p:nvSpPr>
        <p:spPr>
          <a:xfrm>
            <a:off x="6400800" y="49103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res.sendFile(path)</a:t>
            </a:r>
            <a:endParaRPr lang="en-US" sz="1300" dirty="0"/>
          </a:p>
        </p:txBody>
      </p:sp>
      <p:sp>
        <p:nvSpPr>
          <p:cNvPr id="41" name="txt-398"/>
          <p:cNvSpPr txBox="1"/>
          <p:nvPr/>
        </p:nvSpPr>
        <p:spPr>
          <a:xfrm>
            <a:off x="8915400" y="4892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Kirim file (path absolut)</a:t>
            </a:r>
            <a:endParaRPr lang="en-US" sz="1400" dirty="0"/>
          </a:p>
        </p:txBody>
      </p:sp>
      <p:sp>
        <p:nvSpPr>
          <p:cNvPr id="42" name="card-399"/>
          <p:cNvSpPr/>
          <p:nvPr/>
        </p:nvSpPr>
        <p:spPr>
          <a:xfrm>
            <a:off x="6217920" y="5440680"/>
            <a:ext cx="54406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txt-400"/>
          <p:cNvSpPr txBox="1"/>
          <p:nvPr/>
        </p:nvSpPr>
        <p:spPr>
          <a:xfrm>
            <a:off x="6400800" y="5577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res.set() / res.cookie()</a:t>
            </a:r>
            <a:endParaRPr lang="en-US" sz="1300" dirty="0"/>
          </a:p>
        </p:txBody>
      </p:sp>
      <p:sp>
        <p:nvSpPr>
          <p:cNvPr id="44" name="txt-401"/>
          <p:cNvSpPr txBox="1"/>
          <p:nvPr/>
        </p:nvSpPr>
        <p:spPr>
          <a:xfrm>
            <a:off x="8915400" y="5559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Header &amp; cookie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Error handling async di Express 5</a:t>
            </a:r>
            <a:endParaRPr lang="en-US" sz="3200" dirty="0"/>
          </a:p>
        </p:txBody>
      </p:sp>
      <p:sp>
        <p:nvSpPr>
          <p:cNvPr id="3" name="code-bg-402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403"/>
          <p:cNvSpPr txBox="1"/>
          <p:nvPr/>
        </p:nvSpPr>
        <p:spPr>
          <a:xfrm>
            <a:off x="777240" y="1527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5" name="code-404"/>
          <p:cNvSpPr txBox="1"/>
          <p:nvPr/>
        </p:nvSpPr>
        <p:spPr>
          <a:xfrm>
            <a:off x="777240" y="1856232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Promise yang reject otomatis diteruskan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 error handler — tanpa try/catch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app.get('/users/:id',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db.findUser(req.params.id);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throw new AppError(404, 'User tidak ditemukan');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404 untuk route yang tidak ada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app.use((req, res) =&gt; res.status(404).json({ error: 'Not Found' }));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 handler: 4 argumen, didaftarkan paling akhir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app.use((err, req, res, next)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status = err.status ?? 500;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&gt;= 500) console.error(err);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res.status(status).json({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error: status &gt;= 500 ? 'Terjadi kesalahan server' : err.message,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code-bg-405"/>
          <p:cNvSpPr/>
          <p:nvPr/>
        </p:nvSpPr>
        <p:spPr>
          <a:xfrm>
            <a:off x="7589520" y="1417320"/>
            <a:ext cx="4069080" cy="2103120"/>
          </a:xfrm>
          <a:prstGeom prst="roundRect">
            <a:avLst>
              <a:gd name="adj" fmla="val 434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406"/>
          <p:cNvSpPr txBox="1"/>
          <p:nvPr/>
        </p:nvSpPr>
        <p:spPr>
          <a:xfrm>
            <a:off x="7818120" y="1527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AppError.js</a:t>
            </a:r>
            <a:endParaRPr lang="en-US" sz="1100" dirty="0"/>
          </a:p>
        </p:txBody>
      </p:sp>
      <p:sp>
        <p:nvSpPr>
          <p:cNvPr id="8" name="code-407"/>
          <p:cNvSpPr txBox="1"/>
          <p:nvPr/>
        </p:nvSpPr>
        <p:spPr>
          <a:xfrm>
            <a:off x="7818120" y="1856232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src/utils/AppError.js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AppError extends Error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constructor(status, message)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super(message);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status;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icon-bg-408"/>
          <p:cNvSpPr/>
          <p:nvPr/>
        </p:nvSpPr>
        <p:spPr>
          <a:xfrm>
            <a:off x="75895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40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931920"/>
            <a:ext cx="274320" cy="274320"/>
          </a:xfrm>
          <a:prstGeom prst="rect">
            <a:avLst/>
          </a:prstGeom>
        </p:spPr>
      </p:pic>
      <p:sp>
        <p:nvSpPr>
          <p:cNvPr id="11" name="txt-410"/>
          <p:cNvSpPr txBox="1"/>
          <p:nvPr/>
        </p:nvSpPr>
        <p:spPr>
          <a:xfrm>
            <a:off x="8321040" y="37764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Fitur utama v5</a:t>
            </a:r>
            <a:endParaRPr lang="en-US" sz="1600" dirty="0"/>
          </a:p>
        </p:txBody>
      </p:sp>
      <p:sp>
        <p:nvSpPr>
          <p:cNvPr id="12" name="txt-411"/>
          <p:cNvSpPr txBox="1"/>
          <p:nvPr/>
        </p:nvSpPr>
        <p:spPr>
          <a:xfrm>
            <a:off x="8321040" y="4087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 v4 error async harus ditangkap manual &amp; next(err).</a:t>
            </a:r>
            <a:endParaRPr lang="en-US" sz="1400" dirty="0"/>
          </a:p>
        </p:txBody>
      </p:sp>
      <p:sp>
        <p:nvSpPr>
          <p:cNvPr id="13" name="icon-bg-412"/>
          <p:cNvSpPr/>
          <p:nvPr/>
        </p:nvSpPr>
        <p:spPr>
          <a:xfrm>
            <a:off x="7589520" y="4937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4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5074920"/>
            <a:ext cx="274320" cy="274320"/>
          </a:xfrm>
          <a:prstGeom prst="rect">
            <a:avLst/>
          </a:prstGeom>
        </p:spPr>
      </p:pic>
      <p:sp>
        <p:nvSpPr>
          <p:cNvPr id="15" name="txt-414"/>
          <p:cNvSpPr txBox="1"/>
          <p:nvPr/>
        </p:nvSpPr>
        <p:spPr>
          <a:xfrm>
            <a:off x="8321040" y="49194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Jangan bocorkan stack</a:t>
            </a:r>
            <a:endParaRPr lang="en-US" sz="1600" dirty="0"/>
          </a:p>
        </p:txBody>
      </p:sp>
      <p:sp>
        <p:nvSpPr>
          <p:cNvPr id="16" name="txt-415"/>
          <p:cNvSpPr txBox="1"/>
          <p:nvPr/>
        </p:nvSpPr>
        <p:spPr>
          <a:xfrm>
            <a:off x="8321040" y="523036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Pesan umum untuk 5xx; detail di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Server-side rendering dengan template engine</a:t>
            </a:r>
            <a:endParaRPr lang="en-US" sz="3200" dirty="0"/>
          </a:p>
        </p:txBody>
      </p:sp>
      <p:sp>
        <p:nvSpPr>
          <p:cNvPr id="3" name="code-bg-416"/>
          <p:cNvSpPr/>
          <p:nvPr/>
        </p:nvSpPr>
        <p:spPr>
          <a:xfrm>
            <a:off x="548640" y="1417320"/>
            <a:ext cx="5669280" cy="3291840"/>
          </a:xfrm>
          <a:prstGeom prst="roundRect">
            <a:avLst>
              <a:gd name="adj" fmla="val 277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417"/>
          <p:cNvSpPr txBox="1"/>
          <p:nvPr/>
        </p:nvSpPr>
        <p:spPr>
          <a:xfrm>
            <a:off x="777240" y="1527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5" name="code-418"/>
          <p:cNvSpPr txBox="1"/>
          <p:nvPr/>
        </p:nvSpPr>
        <p:spPr>
          <a:xfrm>
            <a:off x="777240" y="1856232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ejs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app.set('view engine', 'ejs');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app.set('views', './views');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app.get('/profil', (req, res)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res.render('profil',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nama: 'Budi',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hobi: ['coding', 'futsal'],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code-bg-419"/>
          <p:cNvSpPr/>
          <p:nvPr/>
        </p:nvSpPr>
        <p:spPr>
          <a:xfrm>
            <a:off x="6492240" y="141732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420"/>
          <p:cNvSpPr txBox="1"/>
          <p:nvPr/>
        </p:nvSpPr>
        <p:spPr>
          <a:xfrm>
            <a:off x="6720840" y="152704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views/profil.ejs</a:t>
            </a:r>
            <a:endParaRPr lang="en-US" sz="1100" dirty="0"/>
          </a:p>
        </p:txBody>
      </p:sp>
      <p:sp>
        <p:nvSpPr>
          <p:cNvPr id="8" name="code-421"/>
          <p:cNvSpPr txBox="1"/>
          <p:nvPr/>
        </p:nvSpPr>
        <p:spPr>
          <a:xfrm>
            <a:off x="6720840" y="1856232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&lt;h1&gt;Halo, &lt;%= nama %&gt;!&lt;/h1&gt;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 hobi.forEach(h =&gt; { %&gt;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&lt;li&gt;&lt;%= h %&gt;&lt;/li&gt;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&lt;% }) %&gt;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9" name="card-422"/>
          <p:cNvSpPr/>
          <p:nvPr/>
        </p:nvSpPr>
        <p:spPr>
          <a:xfrm>
            <a:off x="548640" y="4983480"/>
            <a:ext cx="35204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423"/>
          <p:cNvSpPr/>
          <p:nvPr/>
        </p:nvSpPr>
        <p:spPr>
          <a:xfrm>
            <a:off x="777240" y="5212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4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5360670"/>
            <a:ext cx="297180" cy="297180"/>
          </a:xfrm>
          <a:prstGeom prst="rect">
            <a:avLst/>
          </a:prstGeom>
        </p:spPr>
      </p:pic>
      <p:sp>
        <p:nvSpPr>
          <p:cNvPr id="12" name="txt-425"/>
          <p:cNvSpPr txBox="1"/>
          <p:nvPr/>
        </p:nvSpPr>
        <p:spPr>
          <a:xfrm>
            <a:off x="1554480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EJS</a:t>
            </a:r>
            <a:endParaRPr lang="en-US" sz="1600" dirty="0"/>
          </a:p>
        </p:txBody>
      </p:sp>
      <p:sp>
        <p:nvSpPr>
          <p:cNvPr id="13" name="txt-426"/>
          <p:cNvSpPr txBox="1"/>
          <p:nvPr/>
        </p:nvSpPr>
        <p:spPr>
          <a:xfrm>
            <a:off x="1554480" y="5468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Sintaks mirip HTML + JS</a:t>
            </a:r>
            <a:endParaRPr lang="en-US" sz="1400" dirty="0"/>
          </a:p>
        </p:txBody>
      </p:sp>
      <p:sp>
        <p:nvSpPr>
          <p:cNvPr id="14" name="card-427"/>
          <p:cNvSpPr/>
          <p:nvPr/>
        </p:nvSpPr>
        <p:spPr>
          <a:xfrm>
            <a:off x="4297680" y="4983480"/>
            <a:ext cx="35204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-bg-428"/>
          <p:cNvSpPr/>
          <p:nvPr/>
        </p:nvSpPr>
        <p:spPr>
          <a:xfrm>
            <a:off x="4526280" y="521208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-4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5360670"/>
            <a:ext cx="297180" cy="297180"/>
          </a:xfrm>
          <a:prstGeom prst="rect">
            <a:avLst/>
          </a:prstGeom>
        </p:spPr>
      </p:pic>
      <p:sp>
        <p:nvSpPr>
          <p:cNvPr id="17" name="txt-430"/>
          <p:cNvSpPr txBox="1"/>
          <p:nvPr/>
        </p:nvSpPr>
        <p:spPr>
          <a:xfrm>
            <a:off x="5303520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Pug</a:t>
            </a:r>
            <a:endParaRPr lang="en-US" sz="1600" dirty="0"/>
          </a:p>
        </p:txBody>
      </p:sp>
      <p:sp>
        <p:nvSpPr>
          <p:cNvPr id="18" name="txt-431"/>
          <p:cNvSpPr txBox="1"/>
          <p:nvPr/>
        </p:nvSpPr>
        <p:spPr>
          <a:xfrm>
            <a:off x="5303520" y="5468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Ringkas berbasis indentasi</a:t>
            </a:r>
            <a:endParaRPr lang="en-US" sz="1400" dirty="0"/>
          </a:p>
        </p:txBody>
      </p:sp>
      <p:sp>
        <p:nvSpPr>
          <p:cNvPr id="19" name="card-432"/>
          <p:cNvSpPr/>
          <p:nvPr/>
        </p:nvSpPr>
        <p:spPr>
          <a:xfrm>
            <a:off x="8046720" y="4983480"/>
            <a:ext cx="35204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-bg-433"/>
          <p:cNvSpPr/>
          <p:nvPr/>
        </p:nvSpPr>
        <p:spPr>
          <a:xfrm>
            <a:off x="8275320" y="52120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on-4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5360670"/>
            <a:ext cx="297180" cy="297180"/>
          </a:xfrm>
          <a:prstGeom prst="rect">
            <a:avLst/>
          </a:prstGeom>
        </p:spPr>
      </p:pic>
      <p:sp>
        <p:nvSpPr>
          <p:cNvPr id="22" name="txt-435"/>
          <p:cNvSpPr txBox="1"/>
          <p:nvPr/>
        </p:nvSpPr>
        <p:spPr>
          <a:xfrm>
            <a:off x="9052560" y="5138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Handlebars</a:t>
            </a:r>
            <a:endParaRPr lang="en-US" sz="1600" dirty="0"/>
          </a:p>
        </p:txBody>
      </p:sp>
      <p:sp>
        <p:nvSpPr>
          <p:cNvPr id="23" name="txt-436"/>
          <p:cNvSpPr txBox="1"/>
          <p:nvPr/>
        </p:nvSpPr>
        <p:spPr>
          <a:xfrm>
            <a:off x="9052560" y="5468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Logic-less, cocok untuk email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437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4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439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05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Membangun REST API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Konvensi REST, CRUD lengkap, validasi, struktur proyek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Konvensi REST &amp; status code</a:t>
            </a:r>
            <a:endParaRPr lang="en-US" sz="3200" dirty="0"/>
          </a:p>
        </p:txBody>
      </p:sp>
      <p:graphicFrame>
        <p:nvGraphicFramePr>
          <p:cNvPr id="27" name="table-4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14600"/>
                <a:gridCol w="1965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Metode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Aksi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Daftar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Detail satu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Buat user baru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PUT / PATCH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Perbarui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/api/users/:id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Hapus user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441"/>
          <p:cNvSpPr/>
          <p:nvPr/>
        </p:nvSpPr>
        <p:spPr>
          <a:xfrm>
            <a:off x="6858000" y="146304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-442"/>
          <p:cNvSpPr txBox="1"/>
          <p:nvPr/>
        </p:nvSpPr>
        <p:spPr>
          <a:xfrm>
            <a:off x="704088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200</a:t>
            </a:r>
            <a:endParaRPr lang="en-US" sz="2400" dirty="0"/>
          </a:p>
        </p:txBody>
      </p:sp>
      <p:sp>
        <p:nvSpPr>
          <p:cNvPr id="6" name="txt-443"/>
          <p:cNvSpPr txBox="1"/>
          <p:nvPr/>
        </p:nvSpPr>
        <p:spPr>
          <a:xfrm>
            <a:off x="704088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OK</a:t>
            </a:r>
            <a:endParaRPr lang="en-US" sz="1300" dirty="0"/>
          </a:p>
        </p:txBody>
      </p:sp>
      <p:sp>
        <p:nvSpPr>
          <p:cNvPr id="7" name="card-444"/>
          <p:cNvSpPr/>
          <p:nvPr/>
        </p:nvSpPr>
        <p:spPr>
          <a:xfrm>
            <a:off x="9281160" y="146304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-445"/>
          <p:cNvSpPr txBox="1"/>
          <p:nvPr/>
        </p:nvSpPr>
        <p:spPr>
          <a:xfrm>
            <a:off x="94640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201</a:t>
            </a:r>
            <a:endParaRPr lang="en-US" sz="2400" dirty="0"/>
          </a:p>
        </p:txBody>
      </p:sp>
      <p:sp>
        <p:nvSpPr>
          <p:cNvPr id="9" name="txt-446"/>
          <p:cNvSpPr txBox="1"/>
          <p:nvPr/>
        </p:nvSpPr>
        <p:spPr>
          <a:xfrm>
            <a:off x="94640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Created</a:t>
            </a:r>
            <a:endParaRPr lang="en-US" sz="1300" dirty="0"/>
          </a:p>
        </p:txBody>
      </p:sp>
      <p:sp>
        <p:nvSpPr>
          <p:cNvPr id="10" name="card-447"/>
          <p:cNvSpPr/>
          <p:nvPr/>
        </p:nvSpPr>
        <p:spPr>
          <a:xfrm>
            <a:off x="6858000" y="256032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xt-448"/>
          <p:cNvSpPr txBox="1"/>
          <p:nvPr/>
        </p:nvSpPr>
        <p:spPr>
          <a:xfrm>
            <a:off x="70408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204</a:t>
            </a:r>
            <a:endParaRPr lang="en-US" sz="2400" dirty="0"/>
          </a:p>
        </p:txBody>
      </p:sp>
      <p:sp>
        <p:nvSpPr>
          <p:cNvPr id="12" name="txt-449"/>
          <p:cNvSpPr txBox="1"/>
          <p:nvPr/>
        </p:nvSpPr>
        <p:spPr>
          <a:xfrm>
            <a:off x="704088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Content</a:t>
            </a:r>
            <a:endParaRPr lang="en-US" sz="1300" dirty="0"/>
          </a:p>
        </p:txBody>
      </p:sp>
      <p:sp>
        <p:nvSpPr>
          <p:cNvPr id="13" name="card-450"/>
          <p:cNvSpPr/>
          <p:nvPr/>
        </p:nvSpPr>
        <p:spPr>
          <a:xfrm>
            <a:off x="9281160" y="256032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xt-451"/>
          <p:cNvSpPr txBox="1"/>
          <p:nvPr/>
        </p:nvSpPr>
        <p:spPr>
          <a:xfrm>
            <a:off x="94640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400</a:t>
            </a:r>
            <a:endParaRPr lang="en-US" sz="2400" dirty="0"/>
          </a:p>
        </p:txBody>
      </p:sp>
      <p:sp>
        <p:nvSpPr>
          <p:cNvPr id="15" name="txt-452"/>
          <p:cNvSpPr txBox="1"/>
          <p:nvPr/>
        </p:nvSpPr>
        <p:spPr>
          <a:xfrm>
            <a:off x="94640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Bad Request</a:t>
            </a:r>
            <a:endParaRPr lang="en-US" sz="1300" dirty="0"/>
          </a:p>
        </p:txBody>
      </p:sp>
      <p:sp>
        <p:nvSpPr>
          <p:cNvPr id="16" name="card-453"/>
          <p:cNvSpPr/>
          <p:nvPr/>
        </p:nvSpPr>
        <p:spPr>
          <a:xfrm>
            <a:off x="6858000" y="365760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-454"/>
          <p:cNvSpPr txBox="1"/>
          <p:nvPr/>
        </p:nvSpPr>
        <p:spPr>
          <a:xfrm>
            <a:off x="704088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401</a:t>
            </a:r>
            <a:endParaRPr lang="en-US" sz="2400" dirty="0"/>
          </a:p>
        </p:txBody>
      </p:sp>
      <p:sp>
        <p:nvSpPr>
          <p:cNvPr id="18" name="txt-455"/>
          <p:cNvSpPr txBox="1"/>
          <p:nvPr/>
        </p:nvSpPr>
        <p:spPr>
          <a:xfrm>
            <a:off x="70408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Unauthorized</a:t>
            </a:r>
            <a:endParaRPr lang="en-US" sz="1300" dirty="0"/>
          </a:p>
        </p:txBody>
      </p:sp>
      <p:sp>
        <p:nvSpPr>
          <p:cNvPr id="19" name="card-456"/>
          <p:cNvSpPr/>
          <p:nvPr/>
        </p:nvSpPr>
        <p:spPr>
          <a:xfrm>
            <a:off x="9281160" y="365760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-457"/>
          <p:cNvSpPr txBox="1"/>
          <p:nvPr/>
        </p:nvSpPr>
        <p:spPr>
          <a:xfrm>
            <a:off x="946404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403</a:t>
            </a:r>
            <a:endParaRPr lang="en-US" sz="2400" dirty="0"/>
          </a:p>
        </p:txBody>
      </p:sp>
      <p:sp>
        <p:nvSpPr>
          <p:cNvPr id="21" name="txt-458"/>
          <p:cNvSpPr txBox="1"/>
          <p:nvPr/>
        </p:nvSpPr>
        <p:spPr>
          <a:xfrm>
            <a:off x="94640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Forbidden</a:t>
            </a:r>
            <a:endParaRPr lang="en-US" sz="1300" dirty="0"/>
          </a:p>
        </p:txBody>
      </p:sp>
      <p:sp>
        <p:nvSpPr>
          <p:cNvPr id="22" name="card-459"/>
          <p:cNvSpPr/>
          <p:nvPr/>
        </p:nvSpPr>
        <p:spPr>
          <a:xfrm>
            <a:off x="6858000" y="475488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xt-460"/>
          <p:cNvSpPr txBox="1"/>
          <p:nvPr/>
        </p:nvSpPr>
        <p:spPr>
          <a:xfrm>
            <a:off x="704088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404</a:t>
            </a:r>
            <a:endParaRPr lang="en-US" sz="2400" dirty="0"/>
          </a:p>
        </p:txBody>
      </p:sp>
      <p:sp>
        <p:nvSpPr>
          <p:cNvPr id="24" name="txt-461"/>
          <p:cNvSpPr txBox="1"/>
          <p:nvPr/>
        </p:nvSpPr>
        <p:spPr>
          <a:xfrm>
            <a:off x="7040880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 Found</a:t>
            </a:r>
            <a:endParaRPr lang="en-US" sz="1300" dirty="0"/>
          </a:p>
        </p:txBody>
      </p:sp>
      <p:sp>
        <p:nvSpPr>
          <p:cNvPr id="25" name="card-462"/>
          <p:cNvSpPr/>
          <p:nvPr/>
        </p:nvSpPr>
        <p:spPr>
          <a:xfrm>
            <a:off x="9281160" y="4754880"/>
            <a:ext cx="22402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xt-463"/>
          <p:cNvSpPr txBox="1"/>
          <p:nvPr/>
        </p:nvSpPr>
        <p:spPr>
          <a:xfrm>
            <a:off x="946404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500</a:t>
            </a:r>
            <a:endParaRPr lang="en-US" sz="2400" dirty="0"/>
          </a:p>
        </p:txBody>
      </p:sp>
      <p:sp>
        <p:nvSpPr>
          <p:cNvPr id="27" name="txt-464"/>
          <p:cNvSpPr txBox="1"/>
          <p:nvPr/>
        </p:nvSpPr>
        <p:spPr>
          <a:xfrm>
            <a:off x="9464040" y="5303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Server Error</a:t>
            </a:r>
            <a:endParaRPr lang="en-US" sz="1300" dirty="0"/>
          </a:p>
        </p:txBody>
      </p:sp>
      <p:sp>
        <p:nvSpPr>
          <p:cNvPr id="28" name="txt-465"/>
          <p:cNvSpPr txBox="1"/>
          <p:nvPr/>
        </p:nvSpPr>
        <p:spPr>
          <a:xfrm>
            <a:off x="548640" y="5623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Gunakan kata benda jamak untuk resource, metode HTTP untuk aksi, dan status code yang tepat.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Contoh CRUD lengkap</a:t>
            </a:r>
            <a:endParaRPr lang="en-US" sz="3200" dirty="0"/>
          </a:p>
        </p:txBody>
      </p:sp>
      <p:sp>
        <p:nvSpPr>
          <p:cNvPr id="3" name="code-bg-466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467"/>
          <p:cNvSpPr txBox="1"/>
          <p:nvPr/>
        </p:nvSpPr>
        <p:spPr>
          <a:xfrm>
            <a:off x="77724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(GET)</a:t>
            </a:r>
            <a:endParaRPr lang="en-US" sz="1100" dirty="0"/>
          </a:p>
        </p:txBody>
      </p:sp>
      <p:sp>
        <p:nvSpPr>
          <p:cNvPr id="5" name="code-468"/>
          <p:cNvSpPr txBox="1"/>
          <p:nvPr/>
        </p:nvSpPr>
        <p:spPr>
          <a:xfrm>
            <a:off x="777240" y="1810512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[];      // demo: data di memori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find = (id) =&gt; users.find(u =&gt; u.id === +id);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app.get('/api/users',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app.get('/api/users/:id',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find(req.params.id);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res.sendStatus(404);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code-bg-469"/>
          <p:cNvSpPr/>
          <p:nvPr/>
        </p:nvSpPr>
        <p:spPr>
          <a:xfrm>
            <a:off x="6217920" y="137160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470"/>
          <p:cNvSpPr txBox="1"/>
          <p:nvPr/>
        </p:nvSpPr>
        <p:spPr>
          <a:xfrm>
            <a:off x="644652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Update, Delete</a:t>
            </a:r>
            <a:endParaRPr lang="en-US" sz="1100" dirty="0"/>
          </a:p>
        </p:txBody>
      </p:sp>
      <p:sp>
        <p:nvSpPr>
          <p:cNvPr id="8" name="code-471"/>
          <p:cNvSpPr txBox="1"/>
          <p:nvPr/>
        </p:nvSpPr>
        <p:spPr>
          <a:xfrm>
            <a:off x="6446520" y="1810512"/>
            <a:ext cx="4983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app.post('/api/users',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{ id: nextId++, ...req.body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users.push(user);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res.status(201).json(user);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app.patch('/api/users/:id',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find(req.params.id);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res.sendStatus(404);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Object.assign(user, req.body);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app.delete('/api/users/:id',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 = users.indexOf(find(req.params.id));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=== -1) return res.sendStatus(404);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users.splice(i, 1);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res.sendStatus(204);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Validasi input dengan skema</a:t>
            </a:r>
            <a:endParaRPr lang="en-US" sz="3200" dirty="0"/>
          </a:p>
        </p:txBody>
      </p:sp>
      <p:sp>
        <p:nvSpPr>
          <p:cNvPr id="3" name="code-bg-472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473"/>
          <p:cNvSpPr txBox="1"/>
          <p:nvPr/>
        </p:nvSpPr>
        <p:spPr>
          <a:xfrm>
            <a:off x="777240" y="1527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middleware/validate.js</a:t>
            </a:r>
            <a:endParaRPr lang="en-US" sz="1100" dirty="0"/>
          </a:p>
        </p:txBody>
      </p:sp>
      <p:sp>
        <p:nvSpPr>
          <p:cNvPr id="5" name="code-474"/>
          <p:cNvSpPr txBox="1"/>
          <p:nvPr/>
        </p:nvSpPr>
        <p:spPr>
          <a:xfrm>
            <a:off x="777240" y="1856232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zod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'zod';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UserSchema = z.object({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z.string().min(2),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z.email(),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z.number().int().positive().optional(),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validate = (schema) =&gt; (req, res, next)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 = schema.safeParse(req.body);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(!result.success)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res.status(422).json({ errors: result.error.issues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req.body = result.data;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app.post('/api/users', validate(UserSchema), createUser);</a:t>
            </a:r>
            <a:endParaRPr lang="en-US" sz="1200" dirty="0"/>
          </a:p>
        </p:txBody>
      </p:sp>
      <p:sp>
        <p:nvSpPr>
          <p:cNvPr id="6" name="icon-bg-475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47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91640"/>
            <a:ext cx="274320" cy="274320"/>
          </a:xfrm>
          <a:prstGeom prst="rect">
            <a:avLst/>
          </a:prstGeom>
        </p:spPr>
      </p:pic>
      <p:sp>
        <p:nvSpPr>
          <p:cNvPr id="8" name="txt-477"/>
          <p:cNvSpPr txBox="1"/>
          <p:nvPr/>
        </p:nvSpPr>
        <p:spPr>
          <a:xfrm>
            <a:off x="8366760" y="15361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Jangan percaya input</a:t>
            </a:r>
            <a:endParaRPr lang="en-US" sz="1600" dirty="0"/>
          </a:p>
        </p:txBody>
      </p:sp>
      <p:sp>
        <p:nvSpPr>
          <p:cNvPr id="9" name="txt-478"/>
          <p:cNvSpPr txBox="1"/>
          <p:nvPr/>
        </p:nvSpPr>
        <p:spPr>
          <a:xfrm>
            <a:off x="8366760" y="1847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Semua data dari klien wajib divalidasi di server.</a:t>
            </a:r>
            <a:endParaRPr lang="en-US" sz="1400" dirty="0"/>
          </a:p>
        </p:txBody>
      </p:sp>
      <p:sp>
        <p:nvSpPr>
          <p:cNvPr id="10" name="icon-bg-479"/>
          <p:cNvSpPr/>
          <p:nvPr/>
        </p:nvSpPr>
        <p:spPr>
          <a:xfrm>
            <a:off x="7635240" y="3017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48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154680"/>
            <a:ext cx="274320" cy="274320"/>
          </a:xfrm>
          <a:prstGeom prst="rect">
            <a:avLst/>
          </a:prstGeom>
        </p:spPr>
      </p:pic>
      <p:sp>
        <p:nvSpPr>
          <p:cNvPr id="12" name="txt-481"/>
          <p:cNvSpPr txBox="1"/>
          <p:nvPr/>
        </p:nvSpPr>
        <p:spPr>
          <a:xfrm>
            <a:off x="8366760" y="2999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Reusable</a:t>
            </a:r>
            <a:endParaRPr lang="en-US" sz="1600" dirty="0"/>
          </a:p>
        </p:txBody>
      </p:sp>
      <p:sp>
        <p:nvSpPr>
          <p:cNvPr id="13" name="txt-482"/>
          <p:cNvSpPr txBox="1"/>
          <p:nvPr/>
        </p:nvSpPr>
        <p:spPr>
          <a:xfrm>
            <a:off x="8366760" y="33101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Satu middleware validate() untuk semua route.</a:t>
            </a:r>
            <a:endParaRPr lang="en-US" sz="1400" dirty="0"/>
          </a:p>
        </p:txBody>
      </p:sp>
      <p:sp>
        <p:nvSpPr>
          <p:cNvPr id="14" name="icon-bg-483"/>
          <p:cNvSpPr/>
          <p:nvPr/>
        </p:nvSpPr>
        <p:spPr>
          <a:xfrm>
            <a:off x="7635240" y="44805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4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617720"/>
            <a:ext cx="274320" cy="274320"/>
          </a:xfrm>
          <a:prstGeom prst="rect">
            <a:avLst/>
          </a:prstGeom>
        </p:spPr>
      </p:pic>
      <p:sp>
        <p:nvSpPr>
          <p:cNvPr id="16" name="txt-485"/>
          <p:cNvSpPr txBox="1"/>
          <p:nvPr/>
        </p:nvSpPr>
        <p:spPr>
          <a:xfrm>
            <a:off x="8366760" y="4462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Pilihan library</a:t>
            </a:r>
            <a:endParaRPr lang="en-US" sz="1600" dirty="0"/>
          </a:p>
        </p:txBody>
      </p:sp>
      <p:sp>
        <p:nvSpPr>
          <p:cNvPr id="17" name="txt-486"/>
          <p:cNvSpPr txBox="1"/>
          <p:nvPr/>
        </p:nvSpPr>
        <p:spPr>
          <a:xfrm>
            <a:off x="836676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zod, joi, yup, atau express-validator.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Struktur proyek yang rapi</a:t>
            </a:r>
            <a:endParaRPr lang="en-US" sz="3200" dirty="0"/>
          </a:p>
        </p:txBody>
      </p:sp>
      <p:sp>
        <p:nvSpPr>
          <p:cNvPr id="3" name="code-bg-487"/>
          <p:cNvSpPr/>
          <p:nvPr/>
        </p:nvSpPr>
        <p:spPr>
          <a:xfrm>
            <a:off x="548640" y="1417320"/>
            <a:ext cx="49377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488"/>
          <p:cNvSpPr txBox="1"/>
          <p:nvPr/>
        </p:nvSpPr>
        <p:spPr>
          <a:xfrm>
            <a:off x="777240" y="1527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 folder</a:t>
            </a:r>
            <a:endParaRPr lang="en-US" sz="1100" dirty="0"/>
          </a:p>
        </p:txBody>
      </p:sp>
      <p:sp>
        <p:nvSpPr>
          <p:cNvPr id="5" name="code-489"/>
          <p:cNvSpPr txBox="1"/>
          <p:nvPr/>
        </p:nvSpPr>
        <p:spPr>
          <a:xfrm>
            <a:off x="777240" y="1856232"/>
            <a:ext cx="4480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belajar-express/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app.js          # konfigurasi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server.js       # app.listen()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services/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middleware/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uploads/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package.json</a:t>
            </a:r>
            <a:endParaRPr lang="en-US" sz="1300" dirty="0"/>
          </a:p>
        </p:txBody>
      </p:sp>
      <p:sp>
        <p:nvSpPr>
          <p:cNvPr id="6" name="icon-bg-490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4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600200"/>
            <a:ext cx="274320" cy="274320"/>
          </a:xfrm>
          <a:prstGeom prst="rect">
            <a:avLst/>
          </a:prstGeom>
        </p:spPr>
      </p:pic>
      <p:sp>
        <p:nvSpPr>
          <p:cNvPr id="8" name="txt-492"/>
          <p:cNvSpPr txBox="1"/>
          <p:nvPr/>
        </p:nvSpPr>
        <p:spPr>
          <a:xfrm>
            <a:off x="6675120" y="1444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routes</a:t>
            </a:r>
            <a:endParaRPr lang="en-US" sz="1600" dirty="0"/>
          </a:p>
        </p:txBody>
      </p:sp>
      <p:sp>
        <p:nvSpPr>
          <p:cNvPr id="9" name="txt-493"/>
          <p:cNvSpPr txBox="1"/>
          <p:nvPr/>
        </p:nvSpPr>
        <p:spPr>
          <a:xfrm>
            <a:off x="6675120" y="17556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Memetakan URL ke controller</a:t>
            </a:r>
            <a:endParaRPr lang="en-US" sz="1400" dirty="0"/>
          </a:p>
        </p:txBody>
      </p:sp>
      <p:sp>
        <p:nvSpPr>
          <p:cNvPr id="10" name="icon-bg-494"/>
          <p:cNvSpPr/>
          <p:nvPr/>
        </p:nvSpPr>
        <p:spPr>
          <a:xfrm>
            <a:off x="5943600" y="239572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-49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32888"/>
            <a:ext cx="274320" cy="274320"/>
          </a:xfrm>
          <a:prstGeom prst="rect">
            <a:avLst/>
          </a:prstGeom>
        </p:spPr>
      </p:pic>
      <p:sp>
        <p:nvSpPr>
          <p:cNvPr id="12" name="txt-496"/>
          <p:cNvSpPr txBox="1"/>
          <p:nvPr/>
        </p:nvSpPr>
        <p:spPr>
          <a:xfrm>
            <a:off x="6675120" y="23774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controllers</a:t>
            </a:r>
            <a:endParaRPr lang="en-US" sz="1600" dirty="0"/>
          </a:p>
        </p:txBody>
      </p:sp>
      <p:sp>
        <p:nvSpPr>
          <p:cNvPr id="13" name="txt-497"/>
          <p:cNvSpPr txBox="1"/>
          <p:nvPr/>
        </p:nvSpPr>
        <p:spPr>
          <a:xfrm>
            <a:off x="6675120" y="26883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Membaca req, memanggil service, mengirim res</a:t>
            </a:r>
            <a:endParaRPr lang="en-US" sz="1400" dirty="0"/>
          </a:p>
        </p:txBody>
      </p:sp>
      <p:sp>
        <p:nvSpPr>
          <p:cNvPr id="14" name="icon-bg-498"/>
          <p:cNvSpPr/>
          <p:nvPr/>
        </p:nvSpPr>
        <p:spPr>
          <a:xfrm>
            <a:off x="5943600" y="332841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49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465576"/>
            <a:ext cx="274320" cy="274320"/>
          </a:xfrm>
          <a:prstGeom prst="rect">
            <a:avLst/>
          </a:prstGeom>
        </p:spPr>
      </p:pic>
      <p:sp>
        <p:nvSpPr>
          <p:cNvPr id="16" name="txt-500"/>
          <p:cNvSpPr txBox="1"/>
          <p:nvPr/>
        </p:nvSpPr>
        <p:spPr>
          <a:xfrm>
            <a:off x="6675120" y="33101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services</a:t>
            </a:r>
            <a:endParaRPr lang="en-US" sz="1600" dirty="0"/>
          </a:p>
        </p:txBody>
      </p:sp>
      <p:sp>
        <p:nvSpPr>
          <p:cNvPr id="17" name="txt-501"/>
          <p:cNvSpPr txBox="1"/>
          <p:nvPr/>
        </p:nvSpPr>
        <p:spPr>
          <a:xfrm>
            <a:off x="6675120" y="36210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Logika bisnis, bebas dari Express</a:t>
            </a:r>
            <a:endParaRPr lang="en-US" sz="1400" dirty="0"/>
          </a:p>
        </p:txBody>
      </p:sp>
      <p:sp>
        <p:nvSpPr>
          <p:cNvPr id="18" name="icon-bg-502"/>
          <p:cNvSpPr/>
          <p:nvPr/>
        </p:nvSpPr>
        <p:spPr>
          <a:xfrm>
            <a:off x="5943600" y="42611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5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4398264"/>
            <a:ext cx="274320" cy="274320"/>
          </a:xfrm>
          <a:prstGeom prst="rect">
            <a:avLst/>
          </a:prstGeom>
        </p:spPr>
      </p:pic>
      <p:sp>
        <p:nvSpPr>
          <p:cNvPr id="20" name="txt-504"/>
          <p:cNvSpPr txBox="1"/>
          <p:nvPr/>
        </p:nvSpPr>
        <p:spPr>
          <a:xfrm>
            <a:off x="6675120" y="424281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models</a:t>
            </a:r>
            <a:endParaRPr lang="en-US" sz="1600" dirty="0"/>
          </a:p>
        </p:txBody>
      </p:sp>
      <p:sp>
        <p:nvSpPr>
          <p:cNvPr id="21" name="txt-505"/>
          <p:cNvSpPr txBox="1"/>
          <p:nvPr/>
        </p:nvSpPr>
        <p:spPr>
          <a:xfrm>
            <a:off x="6675120" y="45537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Akses data / ORM</a:t>
            </a:r>
            <a:endParaRPr lang="en-US" sz="1400" dirty="0"/>
          </a:p>
        </p:txBody>
      </p:sp>
      <p:sp>
        <p:nvSpPr>
          <p:cNvPr id="22" name="icon-bg-506"/>
          <p:cNvSpPr/>
          <p:nvPr/>
        </p:nvSpPr>
        <p:spPr>
          <a:xfrm>
            <a:off x="5943600" y="519379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con-50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5330952"/>
            <a:ext cx="274320" cy="274320"/>
          </a:xfrm>
          <a:prstGeom prst="rect">
            <a:avLst/>
          </a:prstGeom>
        </p:spPr>
      </p:pic>
      <p:sp>
        <p:nvSpPr>
          <p:cNvPr id="24" name="txt-508"/>
          <p:cNvSpPr txBox="1"/>
          <p:nvPr/>
        </p:nvSpPr>
        <p:spPr>
          <a:xfrm>
            <a:off x="6675120" y="517550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middleware</a:t>
            </a:r>
            <a:endParaRPr lang="en-US" sz="1600" dirty="0"/>
          </a:p>
        </p:txBody>
      </p:sp>
      <p:sp>
        <p:nvSpPr>
          <p:cNvPr id="25" name="txt-509"/>
          <p:cNvSpPr txBox="1"/>
          <p:nvPr/>
        </p:nvSpPr>
        <p:spPr>
          <a:xfrm>
            <a:off x="6675120" y="5486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Auth, validasi, upload, error handler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510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5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512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06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Database &amp; ORM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Menghubungkan Express ke MongoDB dan PostgreSQL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Memilih database &amp; ORM</a:t>
            </a:r>
            <a:endParaRPr lang="en-US" sz="3200" dirty="0"/>
          </a:p>
        </p:txBody>
      </p:sp>
      <p:sp>
        <p:nvSpPr>
          <p:cNvPr id="3" name="card-513"/>
          <p:cNvSpPr/>
          <p:nvPr/>
        </p:nvSpPr>
        <p:spPr>
          <a:xfrm>
            <a:off x="548640" y="1417320"/>
            <a:ext cx="5440680" cy="2971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514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5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xt-516"/>
          <p:cNvSpPr txBox="1"/>
          <p:nvPr/>
        </p:nvSpPr>
        <p:spPr>
          <a:xfrm>
            <a:off x="1691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SQL (relasional)</a:t>
            </a:r>
            <a:endParaRPr lang="en-US" sz="2000" dirty="0"/>
          </a:p>
        </p:txBody>
      </p:sp>
      <p:sp>
        <p:nvSpPr>
          <p:cNvPr id="7" name="txt-517"/>
          <p:cNvSpPr txBox="1"/>
          <p:nvPr/>
        </p:nvSpPr>
        <p:spPr>
          <a:xfrm>
            <a:off x="169164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PostgreSQL, MySQL, SQLite</a:t>
            </a:r>
            <a:endParaRPr lang="en-US" sz="1400" dirty="0"/>
          </a:p>
        </p:txBody>
      </p:sp>
      <p:sp>
        <p:nvSpPr>
          <p:cNvPr id="8" name="txt-518"/>
          <p:cNvSpPr txBox="1"/>
          <p:nvPr/>
        </p:nvSpPr>
        <p:spPr>
          <a:xfrm>
            <a:off x="82296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 terstruktur, relasi kuat, transaksi ACID.</a:t>
            </a:r>
            <a:endParaRPr lang="en-US" sz="1500" dirty="0"/>
          </a:p>
        </p:txBody>
      </p:sp>
      <p:sp>
        <p:nvSpPr>
          <p:cNvPr id="9" name="txt-519"/>
          <p:cNvSpPr txBox="1"/>
          <p:nvPr/>
        </p:nvSpPr>
        <p:spPr>
          <a:xfrm>
            <a:off x="82296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Library: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Prisma · Drizzle · Sequelize · Knex</a:t>
            </a:r>
            <a:endParaRPr lang="en-US" sz="1500" dirty="0"/>
          </a:p>
        </p:txBody>
      </p:sp>
      <p:sp>
        <p:nvSpPr>
          <p:cNvPr id="10" name="card-520"/>
          <p:cNvSpPr/>
          <p:nvPr/>
        </p:nvSpPr>
        <p:spPr>
          <a:xfrm>
            <a:off x="6172200" y="1417320"/>
            <a:ext cx="5440680" cy="2971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521"/>
          <p:cNvSpPr/>
          <p:nvPr/>
        </p:nvSpPr>
        <p:spPr>
          <a:xfrm>
            <a:off x="644652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5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817370"/>
            <a:ext cx="342900" cy="342900"/>
          </a:xfrm>
          <a:prstGeom prst="rect">
            <a:avLst/>
          </a:prstGeom>
        </p:spPr>
      </p:pic>
      <p:sp>
        <p:nvSpPr>
          <p:cNvPr id="13" name="txt-523"/>
          <p:cNvSpPr txBox="1"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NoSQL (dokumen)</a:t>
            </a:r>
            <a:endParaRPr lang="en-US" sz="2000" dirty="0"/>
          </a:p>
        </p:txBody>
      </p:sp>
      <p:sp>
        <p:nvSpPr>
          <p:cNvPr id="14" name="txt-524"/>
          <p:cNvSpPr txBox="1"/>
          <p:nvPr/>
        </p:nvSpPr>
        <p:spPr>
          <a:xfrm>
            <a:off x="731520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MongoDB</a:t>
            </a:r>
            <a:endParaRPr lang="en-US" sz="1400" dirty="0"/>
          </a:p>
        </p:txBody>
      </p:sp>
      <p:sp>
        <p:nvSpPr>
          <p:cNvPr id="15" name="txt-525"/>
          <p:cNvSpPr txBox="1"/>
          <p:nvPr/>
        </p:nvSpPr>
        <p:spPr>
          <a:xfrm>
            <a:off x="644652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Skema fleksibel, data bersarang, iterasi cepat.</a:t>
            </a:r>
            <a:endParaRPr lang="en-US" sz="1500" dirty="0"/>
          </a:p>
        </p:txBody>
      </p:sp>
      <p:sp>
        <p:nvSpPr>
          <p:cNvPr id="16" name="txt-526"/>
          <p:cNvSpPr txBox="1"/>
          <p:nvPr/>
        </p:nvSpPr>
        <p:spPr>
          <a:xfrm>
            <a:off x="644652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Library: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Mongoose (ODM) · MongoDB driver</a:t>
            </a:r>
            <a:endParaRPr lang="en-US" sz="1500" dirty="0"/>
          </a:p>
        </p:txBody>
      </p:sp>
      <p:sp>
        <p:nvSpPr>
          <p:cNvPr id="17" name="txt-527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Alur akses data yang disarankan</a:t>
            </a:r>
            <a:endParaRPr lang="en-US" sz="1600" dirty="0"/>
          </a:p>
        </p:txBody>
      </p:sp>
      <p:sp>
        <p:nvSpPr>
          <p:cNvPr id="18" name="flow-528"/>
          <p:cNvSpPr/>
          <p:nvPr/>
        </p:nvSpPr>
        <p:spPr>
          <a:xfrm>
            <a:off x="548640" y="5074920"/>
            <a:ext cx="1987906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flow-t-529"/>
          <p:cNvSpPr txBox="1"/>
          <p:nvPr/>
        </p:nvSpPr>
        <p:spPr>
          <a:xfrm>
            <a:off x="548640" y="5074920"/>
            <a:ext cx="198790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</a:t>
            </a:r>
            <a:endParaRPr lang="en-US" sz="1400" dirty="0"/>
          </a:p>
        </p:txBody>
      </p:sp>
      <p:sp>
        <p:nvSpPr>
          <p:cNvPr id="20" name="arrow-530"/>
          <p:cNvSpPr/>
          <p:nvPr/>
        </p:nvSpPr>
        <p:spPr>
          <a:xfrm>
            <a:off x="2582266" y="533095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1" name="flow-531"/>
          <p:cNvSpPr/>
          <p:nvPr/>
        </p:nvSpPr>
        <p:spPr>
          <a:xfrm>
            <a:off x="2829154" y="5074920"/>
            <a:ext cx="1987906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flow-t-532"/>
          <p:cNvSpPr txBox="1"/>
          <p:nvPr/>
        </p:nvSpPr>
        <p:spPr>
          <a:xfrm>
            <a:off x="2829154" y="5074920"/>
            <a:ext cx="198790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Controller</a:t>
            </a:r>
            <a:endParaRPr lang="en-US" sz="1400" dirty="0"/>
          </a:p>
        </p:txBody>
      </p:sp>
      <p:sp>
        <p:nvSpPr>
          <p:cNvPr id="23" name="arrow-533"/>
          <p:cNvSpPr/>
          <p:nvPr/>
        </p:nvSpPr>
        <p:spPr>
          <a:xfrm>
            <a:off x="4862779" y="533095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4" name="flow-534"/>
          <p:cNvSpPr/>
          <p:nvPr/>
        </p:nvSpPr>
        <p:spPr>
          <a:xfrm>
            <a:off x="5109667" y="5074920"/>
            <a:ext cx="1987906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low-t-535"/>
          <p:cNvSpPr txBox="1"/>
          <p:nvPr/>
        </p:nvSpPr>
        <p:spPr>
          <a:xfrm>
            <a:off x="5109667" y="5074920"/>
            <a:ext cx="198790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</a:t>
            </a:r>
            <a:endParaRPr lang="en-US" sz="1400" dirty="0"/>
          </a:p>
        </p:txBody>
      </p:sp>
      <p:sp>
        <p:nvSpPr>
          <p:cNvPr id="26" name="arrow-536"/>
          <p:cNvSpPr/>
          <p:nvPr/>
        </p:nvSpPr>
        <p:spPr>
          <a:xfrm>
            <a:off x="7143293" y="533095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7" name="flow-537"/>
          <p:cNvSpPr/>
          <p:nvPr/>
        </p:nvSpPr>
        <p:spPr>
          <a:xfrm>
            <a:off x="7390181" y="5074920"/>
            <a:ext cx="1987906" cy="731520"/>
          </a:xfrm>
          <a:prstGeom prst="roundRect">
            <a:avLst>
              <a:gd name="adj" fmla="val 12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flow-t-538"/>
          <p:cNvSpPr txBox="1"/>
          <p:nvPr/>
        </p:nvSpPr>
        <p:spPr>
          <a:xfrm>
            <a:off x="7390181" y="5074920"/>
            <a:ext cx="198790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 / ORM</a:t>
            </a:r>
            <a:endParaRPr lang="en-US" sz="1400" dirty="0"/>
          </a:p>
        </p:txBody>
      </p:sp>
      <p:sp>
        <p:nvSpPr>
          <p:cNvPr id="29" name="arrow-539"/>
          <p:cNvSpPr/>
          <p:nvPr/>
        </p:nvSpPr>
        <p:spPr>
          <a:xfrm>
            <a:off x="9423806" y="533095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30" name="flow-540"/>
          <p:cNvSpPr/>
          <p:nvPr/>
        </p:nvSpPr>
        <p:spPr>
          <a:xfrm>
            <a:off x="9670694" y="5074920"/>
            <a:ext cx="1987906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flow-t-541"/>
          <p:cNvSpPr txBox="1"/>
          <p:nvPr/>
        </p:nvSpPr>
        <p:spPr>
          <a:xfrm>
            <a:off x="9670694" y="5074920"/>
            <a:ext cx="1987906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MongoDB + Mongoose: koneksi &amp; model</a:t>
            </a:r>
            <a:endParaRPr lang="en-US" sz="3200" dirty="0"/>
          </a:p>
        </p:txBody>
      </p:sp>
      <p:sp>
        <p:nvSpPr>
          <p:cNvPr id="3" name="code-bg-542"/>
          <p:cNvSpPr/>
          <p:nvPr/>
        </p:nvSpPr>
        <p:spPr>
          <a:xfrm>
            <a:off x="548640" y="1417320"/>
            <a:ext cx="658368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543"/>
          <p:cNvSpPr txBox="1"/>
          <p:nvPr/>
        </p:nvSpPr>
        <p:spPr>
          <a:xfrm>
            <a:off x="777240" y="15270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models/book.js</a:t>
            </a:r>
            <a:endParaRPr lang="en-US" sz="1100" dirty="0"/>
          </a:p>
        </p:txBody>
      </p:sp>
      <p:sp>
        <p:nvSpPr>
          <p:cNvPr id="5" name="code-544"/>
          <p:cNvSpPr txBox="1"/>
          <p:nvPr/>
        </p:nvSpPr>
        <p:spPr>
          <a:xfrm>
            <a:off x="777240" y="1856232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mongoose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src/models/book.js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mongoose from 'mongoose';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bookSchema = new mongoose.Schema({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 { type: String, required: true, trim: true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author: { type: String, required: true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year:   { type: Number, min: 1000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stock:  { type: Number, default: 0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timestamps: true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Book = mongoose.model('Book', bookSchema);</a:t>
            </a:r>
            <a:endParaRPr lang="en-US" sz="1300" dirty="0"/>
          </a:p>
        </p:txBody>
      </p:sp>
      <p:sp>
        <p:nvSpPr>
          <p:cNvPr id="6" name="code-bg-545"/>
          <p:cNvSpPr/>
          <p:nvPr/>
        </p:nvSpPr>
        <p:spPr>
          <a:xfrm>
            <a:off x="7406640" y="1417320"/>
            <a:ext cx="4251960" cy="2834640"/>
          </a:xfrm>
          <a:prstGeom prst="roundRect">
            <a:avLst>
              <a:gd name="adj" fmla="val 322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546"/>
          <p:cNvSpPr txBox="1"/>
          <p:nvPr/>
        </p:nvSpPr>
        <p:spPr>
          <a:xfrm>
            <a:off x="7635240" y="1527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8" name="code-547"/>
          <p:cNvSpPr txBox="1"/>
          <p:nvPr/>
        </p:nvSpPr>
        <p:spPr>
          <a:xfrm>
            <a:off x="7635240" y="1856232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src/server.js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mongoose from 'mongoose';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'./app.js';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mongoose.connect(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process.env.MONGODB_URI);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app.listen(process.env.PORT);</a:t>
            </a:r>
            <a:endParaRPr lang="en-US" sz="1200" dirty="0"/>
          </a:p>
        </p:txBody>
      </p:sp>
      <p:sp>
        <p:nvSpPr>
          <p:cNvPr id="9" name="icon-bg-548"/>
          <p:cNvSpPr/>
          <p:nvPr/>
        </p:nvSpPr>
        <p:spPr>
          <a:xfrm>
            <a:off x="7406640" y="4526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5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4663440"/>
            <a:ext cx="274320" cy="274320"/>
          </a:xfrm>
          <a:prstGeom prst="rect">
            <a:avLst/>
          </a:prstGeom>
        </p:spPr>
      </p:pic>
      <p:sp>
        <p:nvSpPr>
          <p:cNvPr id="11" name="txt-550"/>
          <p:cNvSpPr txBox="1"/>
          <p:nvPr/>
        </p:nvSpPr>
        <p:spPr>
          <a:xfrm>
            <a:off x="8138160" y="45079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Validasi skema</a:t>
            </a:r>
            <a:endParaRPr lang="en-US" sz="1600" dirty="0"/>
          </a:p>
        </p:txBody>
      </p:sp>
      <p:sp>
        <p:nvSpPr>
          <p:cNvPr id="12" name="txt-551"/>
          <p:cNvSpPr txBox="1"/>
          <p:nvPr/>
        </p:nvSpPr>
        <p:spPr>
          <a:xfrm>
            <a:off x="8138160" y="48188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required, min, enum, match</a:t>
            </a:r>
            <a:endParaRPr lang="en-US" sz="1400" dirty="0"/>
          </a:p>
        </p:txBody>
      </p:sp>
      <p:sp>
        <p:nvSpPr>
          <p:cNvPr id="13" name="icon-bg-552"/>
          <p:cNvSpPr/>
          <p:nvPr/>
        </p:nvSpPr>
        <p:spPr>
          <a:xfrm>
            <a:off x="7406640" y="5394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5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5532120"/>
            <a:ext cx="274320" cy="274320"/>
          </a:xfrm>
          <a:prstGeom prst="rect">
            <a:avLst/>
          </a:prstGeom>
        </p:spPr>
      </p:pic>
      <p:sp>
        <p:nvSpPr>
          <p:cNvPr id="15" name="txt-554"/>
          <p:cNvSpPr txBox="1"/>
          <p:nvPr/>
        </p:nvSpPr>
        <p:spPr>
          <a:xfrm>
            <a:off x="8138160" y="5376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timestamps</a:t>
            </a:r>
            <a:endParaRPr lang="en-US" sz="1600" dirty="0"/>
          </a:p>
        </p:txBody>
      </p:sp>
      <p:sp>
        <p:nvSpPr>
          <p:cNvPr id="16" name="txt-555"/>
          <p:cNvSpPr txBox="1"/>
          <p:nvPr/>
        </p:nvSpPr>
        <p:spPr>
          <a:xfrm>
            <a:off x="8138160" y="56875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createdAt &amp; updatedAt otomatis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Mongoose: CRUD di controller</a:t>
            </a:r>
            <a:endParaRPr lang="en-US" sz="3200" dirty="0"/>
          </a:p>
        </p:txBody>
      </p:sp>
      <p:sp>
        <p:nvSpPr>
          <p:cNvPr id="3" name="code-bg-556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557"/>
          <p:cNvSpPr txBox="1"/>
          <p:nvPr/>
        </p:nvSpPr>
        <p:spPr>
          <a:xfrm>
            <a:off x="77724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controllers/books.js (1/2)</a:t>
            </a:r>
            <a:endParaRPr lang="en-US" sz="1100" dirty="0"/>
          </a:p>
        </p:txBody>
      </p:sp>
      <p:sp>
        <p:nvSpPr>
          <p:cNvPr id="5" name="code-558"/>
          <p:cNvSpPr txBox="1"/>
          <p:nvPr/>
        </p:nvSpPr>
        <p:spPr>
          <a:xfrm>
            <a:off x="777240" y="1810512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Book } from '../models/book.js';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list =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books = await Book.find()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.sort({ createdAt: -1 }).limit(20);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res.json(books);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detail =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await Book.findById(req.params.id);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(!book) return res.sendStatus(404);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res.json(book);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create =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await Book.create(req.body);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res.status(201).json(book);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</p:txBody>
      </p:sp>
      <p:sp>
        <p:nvSpPr>
          <p:cNvPr id="6" name="code-bg-559"/>
          <p:cNvSpPr/>
          <p:nvPr/>
        </p:nvSpPr>
        <p:spPr>
          <a:xfrm>
            <a:off x="6217920" y="137160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560"/>
          <p:cNvSpPr txBox="1"/>
          <p:nvPr/>
        </p:nvSpPr>
        <p:spPr>
          <a:xfrm>
            <a:off x="6446520" y="148132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controllers/books.js (2/2)</a:t>
            </a:r>
            <a:endParaRPr lang="en-US" sz="1100" dirty="0"/>
          </a:p>
        </p:txBody>
      </p:sp>
      <p:sp>
        <p:nvSpPr>
          <p:cNvPr id="8" name="code-561"/>
          <p:cNvSpPr txBox="1"/>
          <p:nvPr/>
        </p:nvSpPr>
        <p:spPr>
          <a:xfrm>
            <a:off x="6446520" y="1810512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update = async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await Book.findByIdAndUpdate(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req.params.id, req.body,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new: true, runValidators: true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(!book) return res.sendStatus(404);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res.json(book);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remove = async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book = await Book.findByIdAndDelete(req.params.id);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(!book) return res.sendStatus(404);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res.sendStatus(204);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9" name="card-562"/>
          <p:cNvSpPr/>
          <p:nvPr/>
        </p:nvSpPr>
        <p:spPr>
          <a:xfrm>
            <a:off x="6217920" y="4846320"/>
            <a:ext cx="544068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563"/>
          <p:cNvSpPr/>
          <p:nvPr/>
        </p:nvSpPr>
        <p:spPr>
          <a:xfrm>
            <a:off x="6446520" y="5193792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56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110" y="5342382"/>
            <a:ext cx="297180" cy="297180"/>
          </a:xfrm>
          <a:prstGeom prst="rect">
            <a:avLst/>
          </a:prstGeom>
        </p:spPr>
      </p:pic>
      <p:sp>
        <p:nvSpPr>
          <p:cNvPr id="12" name="txt-565"/>
          <p:cNvSpPr txBox="1"/>
          <p:nvPr/>
        </p:nvSpPr>
        <p:spPr>
          <a:xfrm>
            <a:off x="7223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Tanpa try/catch: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error validasi atau koneksi otomatis diteruskan ke error handler berkat Express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PostgreSQL + Prisma 7: setup</a:t>
            </a:r>
            <a:endParaRPr lang="en-US" sz="3200" dirty="0"/>
          </a:p>
        </p:txBody>
      </p:sp>
      <p:sp>
        <p:nvSpPr>
          <p:cNvPr id="3" name="code-bg-566"/>
          <p:cNvSpPr/>
          <p:nvPr/>
        </p:nvSpPr>
        <p:spPr>
          <a:xfrm>
            <a:off x="548640" y="1417320"/>
            <a:ext cx="566928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567"/>
          <p:cNvSpPr txBox="1"/>
          <p:nvPr/>
        </p:nvSpPr>
        <p:spPr>
          <a:xfrm>
            <a:off x="777240" y="15270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prisma/schema.prisma</a:t>
            </a:r>
            <a:endParaRPr lang="en-US" sz="1100" dirty="0"/>
          </a:p>
        </p:txBody>
      </p:sp>
      <p:sp>
        <p:nvSpPr>
          <p:cNvPr id="5" name="code-568"/>
          <p:cNvSpPr txBox="1"/>
          <p:nvPr/>
        </p:nvSpPr>
        <p:spPr>
          <a:xfrm>
            <a:off x="777240" y="1856232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 client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 = "prisma-client"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  = "../src/generated/prisma"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datasource db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 = "postgresql"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Int      @id @default(autoincrement())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    String   @unique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     String   @default("user")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posts     Post[]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 DateTime @default(now())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Post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Int    @id @default(autoincrement())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   User   @relation(fields: [authorId], references: [id])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authorId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code-bg-569"/>
          <p:cNvSpPr/>
          <p:nvPr/>
        </p:nvSpPr>
        <p:spPr>
          <a:xfrm>
            <a:off x="6446520" y="141732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570"/>
          <p:cNvSpPr txBox="1"/>
          <p:nvPr/>
        </p:nvSpPr>
        <p:spPr>
          <a:xfrm>
            <a:off x="6675120" y="1527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code-571"/>
          <p:cNvSpPr txBox="1"/>
          <p:nvPr/>
        </p:nvSpPr>
        <p:spPr>
          <a:xfrm>
            <a:off x="6675120" y="1856232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prisma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@prisma/client @prisma/adapter-pg 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prisma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prisma migrate dev --name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prisma generate</a:t>
            </a:r>
            <a:endParaRPr lang="en-US" sz="1200" dirty="0"/>
          </a:p>
        </p:txBody>
      </p:sp>
      <p:sp>
        <p:nvSpPr>
          <p:cNvPr id="9" name="code-bg-572"/>
          <p:cNvSpPr/>
          <p:nvPr/>
        </p:nvSpPr>
        <p:spPr>
          <a:xfrm>
            <a:off x="6446520" y="361188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code-label-573"/>
          <p:cNvSpPr txBox="1"/>
          <p:nvPr/>
        </p:nvSpPr>
        <p:spPr>
          <a:xfrm>
            <a:off x="6675120" y="3721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db.ts</a:t>
            </a:r>
            <a:endParaRPr lang="en-US" sz="1100" dirty="0"/>
          </a:p>
        </p:txBody>
      </p:sp>
      <p:sp>
        <p:nvSpPr>
          <p:cNvPr id="11" name="code-574"/>
          <p:cNvSpPr txBox="1"/>
          <p:nvPr/>
        </p:nvSpPr>
        <p:spPr>
          <a:xfrm>
            <a:off x="6675120" y="40507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src/db.ts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PrismaClient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'./generated/prisma/client';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PrismaPg } from '@prisma/adapter-pg';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adapter = new PrismaPg({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connectionString: process.env.DATABASE_URL!,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prisma = new PrismaClient({ adapter });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Prisma: query di route</a:t>
            </a:r>
            <a:endParaRPr lang="en-US" sz="3200" dirty="0"/>
          </a:p>
        </p:txBody>
      </p:sp>
      <p:sp>
        <p:nvSpPr>
          <p:cNvPr id="3" name="code-bg-575"/>
          <p:cNvSpPr/>
          <p:nvPr/>
        </p:nvSpPr>
        <p:spPr>
          <a:xfrm>
            <a:off x="548640" y="1417320"/>
            <a:ext cx="55778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576"/>
          <p:cNvSpPr txBox="1"/>
          <p:nvPr/>
        </p:nvSpPr>
        <p:spPr>
          <a:xfrm>
            <a:off x="777240" y="1527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contoh query</a:t>
            </a:r>
            <a:endParaRPr lang="en-US" sz="1100" dirty="0"/>
          </a:p>
        </p:txBody>
      </p:sp>
      <p:sp>
        <p:nvSpPr>
          <p:cNvPr id="5" name="code-577"/>
          <p:cNvSpPr txBox="1"/>
          <p:nvPr/>
        </p:nvSpPr>
        <p:spPr>
          <a:xfrm>
            <a:off x="777240" y="1856232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Daftar + pagination + relasi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 = await prisma.user.findMany({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skip: 0, take: 10,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orderBy: { createdAt: 'desc'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include: { posts: true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Buat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prisma.user.create({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{ email, name, password: hash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&amp; hapus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prisma.user.update({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where: { id }, data: { name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prisma.user.delete({ where: { id } });</a:t>
            </a:r>
            <a:endParaRPr lang="en-US" sz="1200" dirty="0"/>
          </a:p>
        </p:txBody>
      </p:sp>
      <p:sp>
        <p:nvSpPr>
          <p:cNvPr id="6" name="code-bg-578"/>
          <p:cNvSpPr/>
          <p:nvPr/>
        </p:nvSpPr>
        <p:spPr>
          <a:xfrm>
            <a:off x="6355080" y="141732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579"/>
          <p:cNvSpPr txBox="1"/>
          <p:nvPr/>
        </p:nvSpPr>
        <p:spPr>
          <a:xfrm>
            <a:off x="6583680" y="1527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routes/users.ts</a:t>
            </a:r>
            <a:endParaRPr lang="en-US" sz="1100" dirty="0"/>
          </a:p>
        </p:txBody>
      </p:sp>
      <p:sp>
        <p:nvSpPr>
          <p:cNvPr id="8" name="code-580"/>
          <p:cNvSpPr txBox="1"/>
          <p:nvPr/>
        </p:nvSpPr>
        <p:spPr>
          <a:xfrm>
            <a:off x="6583680" y="1856232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app.get('/api/users/:id', async (req, res)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prisma.user.findUnique({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where: { id: Number(req.params.id)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select: { id: true, email: true, name: true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return res.sendStatus(404);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res.json(user);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9" name="icon-bg-581"/>
          <p:cNvSpPr/>
          <p:nvPr/>
        </p:nvSpPr>
        <p:spPr>
          <a:xfrm>
            <a:off x="6355080" y="4709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5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4846320"/>
            <a:ext cx="274320" cy="274320"/>
          </a:xfrm>
          <a:prstGeom prst="rect">
            <a:avLst/>
          </a:prstGeom>
        </p:spPr>
      </p:pic>
      <p:sp>
        <p:nvSpPr>
          <p:cNvPr id="11" name="txt-583"/>
          <p:cNvSpPr txBox="1"/>
          <p:nvPr/>
        </p:nvSpPr>
        <p:spPr>
          <a:xfrm>
            <a:off x="7086600" y="4690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Gunakan select</a:t>
            </a:r>
            <a:endParaRPr lang="en-US" sz="1600" dirty="0"/>
          </a:p>
        </p:txBody>
      </p:sp>
      <p:sp>
        <p:nvSpPr>
          <p:cNvPr id="12" name="txt-584"/>
          <p:cNvSpPr txBox="1"/>
          <p:nvPr/>
        </p:nvSpPr>
        <p:spPr>
          <a:xfrm>
            <a:off x="7086600" y="5001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pernah mengirim kolom password ke klien.</a:t>
            </a:r>
            <a:endParaRPr lang="en-US" sz="1400" dirty="0"/>
          </a:p>
        </p:txBody>
      </p:sp>
      <p:sp>
        <p:nvSpPr>
          <p:cNvPr id="13" name="icon-bg-585"/>
          <p:cNvSpPr/>
          <p:nvPr/>
        </p:nvSpPr>
        <p:spPr>
          <a:xfrm>
            <a:off x="6355080" y="5486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5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623560"/>
            <a:ext cx="274320" cy="274320"/>
          </a:xfrm>
          <a:prstGeom prst="rect">
            <a:avLst/>
          </a:prstGeom>
        </p:spPr>
      </p:pic>
      <p:sp>
        <p:nvSpPr>
          <p:cNvPr id="15" name="txt-587"/>
          <p:cNvSpPr txBox="1"/>
          <p:nvPr/>
        </p:nvSpPr>
        <p:spPr>
          <a:xfrm>
            <a:off x="7086600" y="5468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Transaksi</a:t>
            </a:r>
            <a:endParaRPr lang="en-US" sz="1600" dirty="0"/>
          </a:p>
        </p:txBody>
      </p:sp>
      <p:sp>
        <p:nvSpPr>
          <p:cNvPr id="16" name="txt-588"/>
          <p:cNvSpPr txBox="1"/>
          <p:nvPr/>
        </p:nvSpPr>
        <p:spPr>
          <a:xfrm>
            <a:off x="7086600" y="57790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prisma.$transaction([...]) untuk operasi atomik.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589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59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591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07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Autentikasi &amp; Otorisasi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Hash password, JWT, proteksi route, dan role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Konsep: autentikasi vs otorisasi</a:t>
            </a:r>
            <a:endParaRPr lang="en-US" sz="3200" dirty="0"/>
          </a:p>
        </p:txBody>
      </p:sp>
      <p:sp>
        <p:nvSpPr>
          <p:cNvPr id="3" name="card-592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593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5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xt-595"/>
          <p:cNvSpPr txBox="1"/>
          <p:nvPr/>
        </p:nvSpPr>
        <p:spPr>
          <a:xfrm>
            <a:off x="1691640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Autentikasi</a:t>
            </a:r>
            <a:endParaRPr lang="en-US" sz="2000" dirty="0"/>
          </a:p>
        </p:txBody>
      </p:sp>
      <p:sp>
        <p:nvSpPr>
          <p:cNvPr id="7" name="txt-596"/>
          <p:cNvSpPr txBox="1"/>
          <p:nvPr/>
        </p:nvSpPr>
        <p:spPr>
          <a:xfrm>
            <a:off x="169164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"Siapa kamu?"</a:t>
            </a:r>
            <a:endParaRPr lang="en-US" sz="1500" dirty="0"/>
          </a:p>
        </p:txBody>
      </p:sp>
      <p:sp>
        <p:nvSpPr>
          <p:cNvPr id="8" name="txt-597"/>
          <p:cNvSpPr txBox="1"/>
          <p:nvPr/>
        </p:nvSpPr>
        <p:spPr>
          <a:xfrm>
            <a:off x="822960" y="2560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Memverifikasi identitas: login dengan email &amp; password, lalu menerbitkan token/session.</a:t>
            </a:r>
            <a:endParaRPr lang="en-US" sz="1500" dirty="0"/>
          </a:p>
        </p:txBody>
      </p:sp>
      <p:sp>
        <p:nvSpPr>
          <p:cNvPr id="9" name="txt-598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Gagal → 401 Unauthorized</a:t>
            </a:r>
            <a:endParaRPr lang="en-US" sz="1400" dirty="0"/>
          </a:p>
        </p:txBody>
      </p:sp>
      <p:sp>
        <p:nvSpPr>
          <p:cNvPr id="10" name="card-599"/>
          <p:cNvSpPr/>
          <p:nvPr/>
        </p:nvSpPr>
        <p:spPr>
          <a:xfrm>
            <a:off x="617220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600"/>
          <p:cNvSpPr/>
          <p:nvPr/>
        </p:nvSpPr>
        <p:spPr>
          <a:xfrm>
            <a:off x="644652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60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817370"/>
            <a:ext cx="342900" cy="342900"/>
          </a:xfrm>
          <a:prstGeom prst="rect">
            <a:avLst/>
          </a:prstGeom>
        </p:spPr>
      </p:pic>
      <p:sp>
        <p:nvSpPr>
          <p:cNvPr id="13" name="txt-602"/>
          <p:cNvSpPr txBox="1"/>
          <p:nvPr/>
        </p:nvSpPr>
        <p:spPr>
          <a:xfrm>
            <a:off x="7315200" y="16642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Otorisasi</a:t>
            </a:r>
            <a:endParaRPr lang="en-US" sz="2000" dirty="0"/>
          </a:p>
        </p:txBody>
      </p:sp>
      <p:sp>
        <p:nvSpPr>
          <p:cNvPr id="14" name="txt-603"/>
          <p:cNvSpPr txBox="1"/>
          <p:nvPr/>
        </p:nvSpPr>
        <p:spPr>
          <a:xfrm>
            <a:off x="731520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"Boleh melakukan apa?"</a:t>
            </a:r>
            <a:endParaRPr lang="en-US" sz="1500" dirty="0"/>
          </a:p>
        </p:txBody>
      </p:sp>
      <p:sp>
        <p:nvSpPr>
          <p:cNvPr id="15" name="txt-604"/>
          <p:cNvSpPr txBox="1"/>
          <p:nvPr/>
        </p:nvSpPr>
        <p:spPr>
          <a:xfrm>
            <a:off x="6446520" y="25603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Memeriksa hak akses berdasarkan role atau kepemilikan data.</a:t>
            </a:r>
            <a:endParaRPr lang="en-US" sz="1500" dirty="0"/>
          </a:p>
        </p:txBody>
      </p:sp>
      <p:sp>
        <p:nvSpPr>
          <p:cNvPr id="16" name="txt-605"/>
          <p:cNvSpPr txBox="1"/>
          <p:nvPr/>
        </p:nvSpPr>
        <p:spPr>
          <a:xfrm>
            <a:off x="644652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Gagal → 403 Forbidden</a:t>
            </a:r>
            <a:endParaRPr lang="en-US" sz="1400" dirty="0"/>
          </a:p>
        </p:txBody>
      </p:sp>
      <p:sp>
        <p:nvSpPr>
          <p:cNvPr id="17" name="txt-606"/>
          <p:cNvSpPr txBox="1"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Alur autentikasi JWT</a:t>
            </a:r>
            <a:endParaRPr lang="en-US" sz="1600" dirty="0"/>
          </a:p>
        </p:txBody>
      </p:sp>
      <p:sp>
        <p:nvSpPr>
          <p:cNvPr id="18" name="flow-607"/>
          <p:cNvSpPr/>
          <p:nvPr/>
        </p:nvSpPr>
        <p:spPr>
          <a:xfrm>
            <a:off x="548640" y="4389120"/>
            <a:ext cx="198790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flow-t-608"/>
          <p:cNvSpPr txBox="1"/>
          <p:nvPr/>
        </p:nvSpPr>
        <p:spPr>
          <a:xfrm>
            <a:off x="548640" y="4389120"/>
            <a:ext cx="198790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 /auth/login</a:t>
            </a:r>
            <a:endParaRPr lang="en-US" sz="1400" dirty="0"/>
          </a:p>
        </p:txBody>
      </p:sp>
      <p:sp>
        <p:nvSpPr>
          <p:cNvPr id="20" name="arrow-609"/>
          <p:cNvSpPr/>
          <p:nvPr/>
        </p:nvSpPr>
        <p:spPr>
          <a:xfrm>
            <a:off x="2582266" y="47137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1" name="flow-610"/>
          <p:cNvSpPr/>
          <p:nvPr/>
        </p:nvSpPr>
        <p:spPr>
          <a:xfrm>
            <a:off x="2829154" y="4389120"/>
            <a:ext cx="1987906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flow-t-611"/>
          <p:cNvSpPr txBox="1"/>
          <p:nvPr/>
        </p:nvSpPr>
        <p:spPr>
          <a:xfrm>
            <a:off x="2829154" y="4389120"/>
            <a:ext cx="198790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Cek password (bcrypt)</a:t>
            </a:r>
            <a:endParaRPr lang="en-US" sz="1400" dirty="0"/>
          </a:p>
        </p:txBody>
      </p:sp>
      <p:sp>
        <p:nvSpPr>
          <p:cNvPr id="23" name="arrow-612"/>
          <p:cNvSpPr/>
          <p:nvPr/>
        </p:nvSpPr>
        <p:spPr>
          <a:xfrm>
            <a:off x="4862779" y="47137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4" name="flow-613"/>
          <p:cNvSpPr/>
          <p:nvPr/>
        </p:nvSpPr>
        <p:spPr>
          <a:xfrm>
            <a:off x="5109667" y="4389120"/>
            <a:ext cx="1987906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low-t-614"/>
          <p:cNvSpPr txBox="1"/>
          <p:nvPr/>
        </p:nvSpPr>
        <p:spPr>
          <a:xfrm>
            <a:off x="5109667" y="4389120"/>
            <a:ext cx="198790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Terbitkan JWT</a:t>
            </a:r>
            <a:endParaRPr lang="en-US" sz="1400" dirty="0"/>
          </a:p>
        </p:txBody>
      </p:sp>
      <p:sp>
        <p:nvSpPr>
          <p:cNvPr id="26" name="arrow-615"/>
          <p:cNvSpPr/>
          <p:nvPr/>
        </p:nvSpPr>
        <p:spPr>
          <a:xfrm>
            <a:off x="7143293" y="47137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27" name="flow-616"/>
          <p:cNvSpPr/>
          <p:nvPr/>
        </p:nvSpPr>
        <p:spPr>
          <a:xfrm>
            <a:off x="7390181" y="4389120"/>
            <a:ext cx="1987906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flow-t-617"/>
          <p:cNvSpPr txBox="1"/>
          <p:nvPr/>
        </p:nvSpPr>
        <p:spPr>
          <a:xfrm>
            <a:off x="7390181" y="4389120"/>
            <a:ext cx="198790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Klien kirim Bearer token</a:t>
            </a:r>
            <a:endParaRPr lang="en-US" sz="1400" dirty="0"/>
          </a:p>
        </p:txBody>
      </p:sp>
      <p:sp>
        <p:nvSpPr>
          <p:cNvPr id="29" name="arrow-618"/>
          <p:cNvSpPr/>
          <p:nvPr/>
        </p:nvSpPr>
        <p:spPr>
          <a:xfrm>
            <a:off x="9423806" y="4713732"/>
            <a:ext cx="201168" cy="219456"/>
          </a:xfrm>
          <a:prstGeom prst="rightArrow">
            <a:avLst/>
          </a:prstGeom>
          <a:solidFill>
            <a:srgbClr val="A3A3A3"/>
          </a:solidFill>
          <a:ln w="12700">
            <a:solidFill>
              <a:srgbClr val="A3A3A3"/>
            </a:solidFill>
            <a:prstDash val="solid"/>
          </a:ln>
        </p:spPr>
      </p:sp>
      <p:sp>
        <p:nvSpPr>
          <p:cNvPr id="30" name="flow-619"/>
          <p:cNvSpPr/>
          <p:nvPr/>
        </p:nvSpPr>
        <p:spPr>
          <a:xfrm>
            <a:off x="9670694" y="4389120"/>
            <a:ext cx="1987906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flow-t-620"/>
          <p:cNvSpPr txBox="1"/>
          <p:nvPr/>
        </p:nvSpPr>
        <p:spPr>
          <a:xfrm>
            <a:off x="9670694" y="4389120"/>
            <a:ext cx="1987906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Middleware verifikasi</a:t>
            </a:r>
            <a:endParaRPr lang="en-US" sz="1400" dirty="0"/>
          </a:p>
        </p:txBody>
      </p:sp>
      <p:sp>
        <p:nvSpPr>
          <p:cNvPr id="32" name="txt-621"/>
          <p:cNvSpPr txBox="1"/>
          <p:nvPr/>
        </p:nvSpPr>
        <p:spPr>
          <a:xfrm>
            <a:off x="548640" y="54864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 berisi klaim (id, role) yang ditandatangani server; setiap request membawa token, server cukup memverifikasi tanda tangannya.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Register &amp; login: bcrypt + JWT</a:t>
            </a:r>
            <a:endParaRPr lang="en-US" sz="3200" dirty="0"/>
          </a:p>
        </p:txBody>
      </p:sp>
      <p:sp>
        <p:nvSpPr>
          <p:cNvPr id="3" name="code-bg-622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23"/>
          <p:cNvSpPr txBox="1"/>
          <p:nvPr/>
        </p:nvSpPr>
        <p:spPr>
          <a:xfrm>
            <a:off x="77724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routes/auth.js (register)</a:t>
            </a:r>
            <a:endParaRPr lang="en-US" sz="1100" dirty="0"/>
          </a:p>
        </p:txBody>
      </p:sp>
      <p:sp>
        <p:nvSpPr>
          <p:cNvPr id="5" name="code-624"/>
          <p:cNvSpPr txBox="1"/>
          <p:nvPr/>
        </p:nvSpPr>
        <p:spPr>
          <a:xfrm>
            <a:off x="777240" y="1856232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bcrypt jsonwebtoken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bcrypt from 'bcrypt';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jwt from 'jsonwebtoken';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app.post('/auth/register',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email, name, password } = req.body;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hash = await bcrypt.hash(password, 12);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email, name, password: hash,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res.status(201).json({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user.id, email: user.email,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code-bg-625"/>
          <p:cNvSpPr/>
          <p:nvPr/>
        </p:nvSpPr>
        <p:spPr>
          <a:xfrm>
            <a:off x="6126480" y="141732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26"/>
          <p:cNvSpPr txBox="1"/>
          <p:nvPr/>
        </p:nvSpPr>
        <p:spPr>
          <a:xfrm>
            <a:off x="6355080" y="15270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routes/auth.js (login)</a:t>
            </a:r>
            <a:endParaRPr lang="en-US" sz="1100" dirty="0"/>
          </a:p>
        </p:txBody>
      </p:sp>
      <p:sp>
        <p:nvSpPr>
          <p:cNvPr id="8" name="code-627"/>
          <p:cNvSpPr txBox="1"/>
          <p:nvPr/>
        </p:nvSpPr>
        <p:spPr>
          <a:xfrm>
            <a:off x="6355080" y="1856232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app.post('/auth/login', async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email, password } = req.body;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User.findOne({ email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ok = user &amp;&amp;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bcrypt.compare(password, user.password);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(!ok)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.json({ error: 'Email atau password salah'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jwt.sign(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sub: user.id, role: user.role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process.env.JWT_SECRET,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expiresIn: '1h'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res.json({ token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Middleware proteksi route &amp; role</a:t>
            </a:r>
            <a:endParaRPr lang="en-US" sz="3200" dirty="0"/>
          </a:p>
        </p:txBody>
      </p:sp>
      <p:sp>
        <p:nvSpPr>
          <p:cNvPr id="3" name="code-bg-628"/>
          <p:cNvSpPr/>
          <p:nvPr/>
        </p:nvSpPr>
        <p:spPr>
          <a:xfrm>
            <a:off x="548640" y="1417320"/>
            <a:ext cx="640080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29"/>
          <p:cNvSpPr txBox="1"/>
          <p:nvPr/>
        </p:nvSpPr>
        <p:spPr>
          <a:xfrm>
            <a:off x="777240" y="1527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middleware/auth.js</a:t>
            </a:r>
            <a:endParaRPr lang="en-US" sz="1100" dirty="0"/>
          </a:p>
        </p:txBody>
      </p:sp>
      <p:sp>
        <p:nvSpPr>
          <p:cNvPr id="5" name="code-630"/>
          <p:cNvSpPr txBox="1"/>
          <p:nvPr/>
        </p:nvSpPr>
        <p:spPr>
          <a:xfrm>
            <a:off x="777240" y="1856232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src/middleware/auth.js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jwt from 'jsonwebtoken';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authenticate = (req, res, next)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[type, token] = (req.get('Authorization') ?? '')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.split(' ');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(type !== 'Bearer' || !token)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res.status(401).json({ error: 'Token tidak ada'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req.user = jwt.verify(token, process.env.JWT_SECRET);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res.status(401).json({ error: 'Token tidak valid'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authorize = (...roles) =&gt; (req, res, next)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(!roles.includes(req.user.role)) return res.sendStatus(403);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code-bg-631"/>
          <p:cNvSpPr/>
          <p:nvPr/>
        </p:nvSpPr>
        <p:spPr>
          <a:xfrm>
            <a:off x="7178040" y="1417320"/>
            <a:ext cx="4480560" cy="3017520"/>
          </a:xfrm>
          <a:prstGeom prst="roundRect">
            <a:avLst>
              <a:gd name="adj" fmla="val 303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32"/>
          <p:cNvSpPr txBox="1"/>
          <p:nvPr/>
        </p:nvSpPr>
        <p:spPr>
          <a:xfrm>
            <a:off x="7406640" y="1527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pemakaian</a:t>
            </a:r>
            <a:endParaRPr lang="en-US" sz="1100" dirty="0"/>
          </a:p>
        </p:txBody>
      </p:sp>
      <p:sp>
        <p:nvSpPr>
          <p:cNvPr id="8" name="code-633"/>
          <p:cNvSpPr txBox="1"/>
          <p:nvPr/>
        </p:nvSpPr>
        <p:spPr>
          <a:xfrm>
            <a:off x="7406640" y="1856232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app.get('/api/profile', authenticate,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res)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userId: req.user.sub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app.delete('/api/books/:id',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authorize('admin'),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removeBook);</a:t>
            </a:r>
            <a:endParaRPr lang="en-US" sz="1200" dirty="0"/>
          </a:p>
        </p:txBody>
      </p:sp>
      <p:sp>
        <p:nvSpPr>
          <p:cNvPr id="9" name="icon-bg-634"/>
          <p:cNvSpPr/>
          <p:nvPr/>
        </p:nvSpPr>
        <p:spPr>
          <a:xfrm>
            <a:off x="717804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63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4800600"/>
            <a:ext cx="274320" cy="274320"/>
          </a:xfrm>
          <a:prstGeom prst="rect">
            <a:avLst/>
          </a:prstGeom>
        </p:spPr>
      </p:pic>
      <p:sp>
        <p:nvSpPr>
          <p:cNvPr id="11" name="txt-636"/>
          <p:cNvSpPr txBox="1"/>
          <p:nvPr/>
        </p:nvSpPr>
        <p:spPr>
          <a:xfrm>
            <a:off x="7909560" y="4645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 yang kuat</a:t>
            </a:r>
            <a:endParaRPr lang="en-US" sz="1600" dirty="0"/>
          </a:p>
        </p:txBody>
      </p:sp>
      <p:sp>
        <p:nvSpPr>
          <p:cNvPr id="12" name="txt-637"/>
          <p:cNvSpPr txBox="1"/>
          <p:nvPr/>
        </p:nvSpPr>
        <p:spPr>
          <a:xfrm>
            <a:off x="7909560" y="495604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JWT_SECRET acak &amp; panjang, di .env</a:t>
            </a:r>
            <a:endParaRPr lang="en-US" sz="1400" dirty="0"/>
          </a:p>
        </p:txBody>
      </p:sp>
      <p:sp>
        <p:nvSpPr>
          <p:cNvPr id="13" name="icon-bg-638"/>
          <p:cNvSpPr/>
          <p:nvPr/>
        </p:nvSpPr>
        <p:spPr>
          <a:xfrm>
            <a:off x="7178040" y="54406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6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577840"/>
            <a:ext cx="274320" cy="274320"/>
          </a:xfrm>
          <a:prstGeom prst="rect">
            <a:avLst/>
          </a:prstGeom>
        </p:spPr>
      </p:pic>
      <p:sp>
        <p:nvSpPr>
          <p:cNvPr id="15" name="txt-640"/>
          <p:cNvSpPr txBox="1"/>
          <p:nvPr/>
        </p:nvSpPr>
        <p:spPr>
          <a:xfrm>
            <a:off x="7909560" y="5422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Masa berlaku pendek</a:t>
            </a:r>
            <a:endParaRPr lang="en-US" sz="1600" dirty="0"/>
          </a:p>
        </p:txBody>
      </p:sp>
      <p:sp>
        <p:nvSpPr>
          <p:cNvPr id="16" name="txt-641"/>
          <p:cNvSpPr txBox="1"/>
          <p:nvPr/>
        </p:nvSpPr>
        <p:spPr>
          <a:xfrm>
            <a:off x="7909560" y="57332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expiresIn 15m–1h + refresh token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Session vs JWT: kapan memakai yang mana?</a:t>
            </a:r>
            <a:endParaRPr lang="en-US" sz="3200" dirty="0"/>
          </a:p>
        </p:txBody>
      </p:sp>
      <p:graphicFrame>
        <p:nvGraphicFramePr>
          <p:cNvPr id="41" name="table-6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43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Aspek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Session + cookie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JWT (token)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Penyimpanan state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server (memori/Redis)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 klien (stateless)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Logout / cabut akses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Mudah, hapus session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Sulit; andalkan expiry pendek / blacklist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Skala horizontal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Butuh shared store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Mudah, cukup verifikasi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Cocok untuk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app SSR satu domain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API, aplikasi mobile, microservice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Paket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express-session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jsonwebtoken / jose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icon-bg-643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6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6" name="txt-645"/>
          <p:cNvSpPr txBox="1"/>
          <p:nvPr/>
        </p:nvSpPr>
        <p:spPr>
          <a:xfrm>
            <a:off x="1280160" y="48737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Simpan token di cookie httpOnly</a:t>
            </a:r>
            <a:endParaRPr lang="en-US" sz="1600" dirty="0"/>
          </a:p>
        </p:txBody>
      </p:sp>
      <p:sp>
        <p:nvSpPr>
          <p:cNvPr id="7" name="txt-646"/>
          <p:cNvSpPr txBox="1"/>
          <p:nvPr/>
        </p:nvSpPr>
        <p:spPr>
          <a:xfrm>
            <a:off x="1280160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Lebih aman dari XSS dibanding localStorage.</a:t>
            </a:r>
            <a:endParaRPr lang="en-US" sz="1400" dirty="0"/>
          </a:p>
        </p:txBody>
      </p:sp>
      <p:sp>
        <p:nvSpPr>
          <p:cNvPr id="8" name="icon-bg-647"/>
          <p:cNvSpPr/>
          <p:nvPr/>
        </p:nvSpPr>
        <p:spPr>
          <a:xfrm>
            <a:off x="4297680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-6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5029200"/>
            <a:ext cx="274320" cy="274320"/>
          </a:xfrm>
          <a:prstGeom prst="rect">
            <a:avLst/>
          </a:prstGeom>
        </p:spPr>
      </p:pic>
      <p:sp>
        <p:nvSpPr>
          <p:cNvPr id="10" name="txt-649"/>
          <p:cNvSpPr txBox="1"/>
          <p:nvPr/>
        </p:nvSpPr>
        <p:spPr>
          <a:xfrm>
            <a:off x="5029200" y="48737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Batasi percobaan login</a:t>
            </a:r>
            <a:endParaRPr lang="en-US" sz="1600" dirty="0"/>
          </a:p>
        </p:txBody>
      </p:sp>
      <p:sp>
        <p:nvSpPr>
          <p:cNvPr id="11" name="txt-650"/>
          <p:cNvSpPr txBox="1"/>
          <p:nvPr/>
        </p:nvSpPr>
        <p:spPr>
          <a:xfrm>
            <a:off x="5029200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express-rate-limit pada /auth/login.</a:t>
            </a:r>
            <a:endParaRPr lang="en-US" sz="1400" dirty="0"/>
          </a:p>
        </p:txBody>
      </p:sp>
      <p:sp>
        <p:nvSpPr>
          <p:cNvPr id="12" name="icon-bg-651"/>
          <p:cNvSpPr/>
          <p:nvPr/>
        </p:nvSpPr>
        <p:spPr>
          <a:xfrm>
            <a:off x="8046720" y="48920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con-65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5029200"/>
            <a:ext cx="274320" cy="274320"/>
          </a:xfrm>
          <a:prstGeom prst="rect">
            <a:avLst/>
          </a:prstGeom>
        </p:spPr>
      </p:pic>
      <p:sp>
        <p:nvSpPr>
          <p:cNvPr id="14" name="txt-653"/>
          <p:cNvSpPr txBox="1"/>
          <p:nvPr/>
        </p:nvSpPr>
        <p:spPr>
          <a:xfrm>
            <a:off x="8778240" y="487375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Selalu HTTPS</a:t>
            </a:r>
            <a:endParaRPr lang="en-US" sz="1600" dirty="0"/>
          </a:p>
        </p:txBody>
      </p:sp>
      <p:sp>
        <p:nvSpPr>
          <p:cNvPr id="15" name="txt-654"/>
          <p:cNvSpPr txBox="1"/>
          <p:nvPr/>
        </p:nvSpPr>
        <p:spPr>
          <a:xfrm>
            <a:off x="8778240" y="51846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Token &amp; cookie tidak boleh lewat HTTP biasa.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655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6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657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08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TypeScript &amp; Docker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Kode yang lebih aman dan deployment yang konsisten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Setup Express dengan TypeScript</a:t>
            </a:r>
            <a:endParaRPr lang="en-US" sz="3200" dirty="0"/>
          </a:p>
        </p:txBody>
      </p:sp>
      <p:sp>
        <p:nvSpPr>
          <p:cNvPr id="3" name="code-bg-658"/>
          <p:cNvSpPr/>
          <p:nvPr/>
        </p:nvSpPr>
        <p:spPr>
          <a:xfrm>
            <a:off x="548640" y="1417320"/>
            <a:ext cx="5303520" cy="2103120"/>
          </a:xfrm>
          <a:prstGeom prst="roundRect">
            <a:avLst>
              <a:gd name="adj" fmla="val 4348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59"/>
          <p:cNvSpPr txBox="1"/>
          <p:nvPr/>
        </p:nvSpPr>
        <p:spPr>
          <a:xfrm>
            <a:off x="777240" y="1527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5" name="code-660"/>
          <p:cNvSpPr txBox="1"/>
          <p:nvPr/>
        </p:nvSpPr>
        <p:spPr>
          <a:xfrm>
            <a:off x="777240" y="185623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express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 -D typescript tsx @types/node @types/express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tsc --init</a:t>
            </a:r>
            <a:endParaRPr lang="en-US" sz="1200" dirty="0"/>
          </a:p>
        </p:txBody>
      </p:sp>
      <p:sp>
        <p:nvSpPr>
          <p:cNvPr id="6" name="code-bg-661"/>
          <p:cNvSpPr/>
          <p:nvPr/>
        </p:nvSpPr>
        <p:spPr>
          <a:xfrm>
            <a:off x="548640" y="370332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62"/>
          <p:cNvSpPr txBox="1"/>
          <p:nvPr/>
        </p:nvSpPr>
        <p:spPr>
          <a:xfrm>
            <a:off x="777240" y="3813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endParaRPr lang="en-US" sz="1100" dirty="0"/>
          </a:p>
        </p:txBody>
      </p:sp>
      <p:sp>
        <p:nvSpPr>
          <p:cNvPr id="8" name="code-663"/>
          <p:cNvSpPr txBox="1"/>
          <p:nvPr/>
        </p:nvSpPr>
        <p:spPr>
          <a:xfrm>
            <a:off x="777240" y="414223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"dev":   "tsx watch src/server.ts",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"build": "tsc",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"start": "node dist/server.js"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code-bg-664"/>
          <p:cNvSpPr/>
          <p:nvPr/>
        </p:nvSpPr>
        <p:spPr>
          <a:xfrm>
            <a:off x="6080760" y="1417320"/>
            <a:ext cx="55778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0" name="code-label-665"/>
          <p:cNvSpPr txBox="1"/>
          <p:nvPr/>
        </p:nvSpPr>
        <p:spPr>
          <a:xfrm>
            <a:off x="6309360" y="1527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tsconfig.json</a:t>
            </a:r>
            <a:endParaRPr lang="en-US" sz="1100" dirty="0"/>
          </a:p>
        </p:txBody>
      </p:sp>
      <p:sp>
        <p:nvSpPr>
          <p:cNvPr id="11" name="code-666"/>
          <p:cNvSpPr txBox="1"/>
          <p:nvPr/>
        </p:nvSpPr>
        <p:spPr>
          <a:xfrm>
            <a:off x="6309360" y="1856232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"compilerOptions":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"target": "ES2023",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"module": "NodeNext",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"moduleResolution": "NodeNext",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"rootDir": "src",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"outDir": "dist",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"esModuleInterop":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"skipLibCheck":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"include": ["src"]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Handler bertipe &amp; memperluas Request</a:t>
            </a:r>
            <a:endParaRPr lang="en-US" sz="3200" dirty="0"/>
          </a:p>
        </p:txBody>
      </p:sp>
      <p:sp>
        <p:nvSpPr>
          <p:cNvPr id="3" name="code-bg-667"/>
          <p:cNvSpPr/>
          <p:nvPr/>
        </p:nvSpPr>
        <p:spPr>
          <a:xfrm>
            <a:off x="548640" y="1417320"/>
            <a:ext cx="667512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68"/>
          <p:cNvSpPr txBox="1"/>
          <p:nvPr/>
        </p:nvSpPr>
        <p:spPr>
          <a:xfrm>
            <a:off x="777240" y="15270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src/app.ts</a:t>
            </a:r>
            <a:endParaRPr lang="en-US" sz="1100" dirty="0"/>
          </a:p>
        </p:txBody>
      </p:sp>
      <p:sp>
        <p:nvSpPr>
          <p:cNvPr id="5" name="code-669"/>
          <p:cNvSpPr txBox="1"/>
          <p:nvPr/>
        </p:nvSpPr>
        <p:spPr>
          <a:xfrm>
            <a:off x="777240" y="1856232"/>
            <a:ext cx="6217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express, { type Request, type Response } from 'express';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BookParams { id: string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CreateBookBody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author: string;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year?: number;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app = express();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app.get('/api/books/:id',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(req: Request&lt;BookParams&gt;, res: Response)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res.json({ id: req.params.id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app.post('/api/books',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(req: Request&lt;{}, {}, CreateBookBody&gt;, res: Response)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{ title, author } = req.body; // ter-type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res.status(201).json({ title, author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100" dirty="0"/>
          </a:p>
        </p:txBody>
      </p:sp>
      <p:sp>
        <p:nvSpPr>
          <p:cNvPr id="6" name="code-bg-670"/>
          <p:cNvSpPr/>
          <p:nvPr/>
        </p:nvSpPr>
        <p:spPr>
          <a:xfrm>
            <a:off x="7452360" y="1417320"/>
            <a:ext cx="4206240" cy="2834640"/>
          </a:xfrm>
          <a:prstGeom prst="roundRect">
            <a:avLst>
              <a:gd name="adj" fmla="val 322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71"/>
          <p:cNvSpPr txBox="1"/>
          <p:nvPr/>
        </p:nvSpPr>
        <p:spPr>
          <a:xfrm>
            <a:off x="7680960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express.d.ts</a:t>
            </a:r>
            <a:endParaRPr lang="en-US" sz="1100" dirty="0"/>
          </a:p>
        </p:txBody>
      </p:sp>
      <p:sp>
        <p:nvSpPr>
          <p:cNvPr id="8" name="code-672"/>
          <p:cNvSpPr txBox="1"/>
          <p:nvPr/>
        </p:nvSpPr>
        <p:spPr>
          <a:xfrm>
            <a:off x="7680960" y="1856232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src/types/express.d.ts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global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Express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interface Request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user?: { sub: number; role: string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{};</a:t>
            </a:r>
            <a:endParaRPr lang="en-US" sz="1100" dirty="0"/>
          </a:p>
        </p:txBody>
      </p:sp>
      <p:sp>
        <p:nvSpPr>
          <p:cNvPr id="9" name="txt-673"/>
          <p:cNvSpPr txBox="1"/>
          <p:nvPr/>
        </p:nvSpPr>
        <p:spPr>
          <a:xfrm>
            <a:off x="745236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Request&lt;Params, ResBody, ReqBody, Query&gt;</a:t>
            </a:r>
            <a:endParaRPr lang="en-US" sz="1300" dirty="0"/>
          </a:p>
        </p:txBody>
      </p:sp>
      <p:sp>
        <p:nvSpPr>
          <p:cNvPr id="10" name="txt-674"/>
          <p:cNvSpPr txBox="1"/>
          <p:nvPr/>
        </p:nvSpPr>
        <p:spPr>
          <a:xfrm>
            <a:off x="7452360" y="4846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Urutan generic pada tipe Request. Deklarasi global membuat req.user dikenali di semua middleware.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Containerisasi dengan Docker</a:t>
            </a:r>
            <a:endParaRPr lang="en-US" sz="3200" dirty="0"/>
          </a:p>
        </p:txBody>
      </p:sp>
      <p:sp>
        <p:nvSpPr>
          <p:cNvPr id="3" name="code-bg-675"/>
          <p:cNvSpPr/>
          <p:nvPr/>
        </p:nvSpPr>
        <p:spPr>
          <a:xfrm>
            <a:off x="548640" y="141732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76"/>
          <p:cNvSpPr txBox="1"/>
          <p:nvPr/>
        </p:nvSpPr>
        <p:spPr>
          <a:xfrm>
            <a:off x="777240" y="1527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5" name="code-677"/>
          <p:cNvSpPr txBox="1"/>
          <p:nvPr/>
        </p:nvSpPr>
        <p:spPr>
          <a:xfrm>
            <a:off x="777240" y="1856232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Tahap 1: dependensi produksi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node:24-alpine AS deps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 --omit=dev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Tahap 2: image akhir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node:24-alpine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NODE_ENV=production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--from=deps /app/node_modules ./node_modules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3000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"src/server.js"]</a:t>
            </a:r>
            <a:endParaRPr lang="en-US" sz="1200" dirty="0"/>
          </a:p>
        </p:txBody>
      </p:sp>
      <p:sp>
        <p:nvSpPr>
          <p:cNvPr id="6" name="code-bg-678"/>
          <p:cNvSpPr/>
          <p:nvPr/>
        </p:nvSpPr>
        <p:spPr>
          <a:xfrm>
            <a:off x="6812280" y="1417320"/>
            <a:ext cx="4846320" cy="1737360"/>
          </a:xfrm>
          <a:prstGeom prst="roundRect">
            <a:avLst>
              <a:gd name="adj" fmla="val 5263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79"/>
          <p:cNvSpPr txBox="1"/>
          <p:nvPr/>
        </p:nvSpPr>
        <p:spPr>
          <a:xfrm>
            <a:off x="7040880" y="1527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.dockerignore</a:t>
            </a:r>
            <a:endParaRPr lang="en-US" sz="1100" dirty="0"/>
          </a:p>
        </p:txBody>
      </p:sp>
      <p:sp>
        <p:nvSpPr>
          <p:cNvPr id="8" name="code-680"/>
          <p:cNvSpPr txBox="1"/>
          <p:nvPr/>
        </p:nvSpPr>
        <p:spPr>
          <a:xfrm>
            <a:off x="7040880" y="185623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</a:t>
            </a:r>
            <a:endParaRPr lang="en-US" sz="1200" dirty="0"/>
          </a:p>
        </p:txBody>
      </p:sp>
      <p:sp>
        <p:nvSpPr>
          <p:cNvPr id="9" name="icon-bg-681"/>
          <p:cNvSpPr/>
          <p:nvPr/>
        </p:nvSpPr>
        <p:spPr>
          <a:xfrm>
            <a:off x="681228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6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566160"/>
            <a:ext cx="274320" cy="274320"/>
          </a:xfrm>
          <a:prstGeom prst="rect">
            <a:avLst/>
          </a:prstGeom>
        </p:spPr>
      </p:pic>
      <p:sp>
        <p:nvSpPr>
          <p:cNvPr id="11" name="txt-683"/>
          <p:cNvSpPr txBox="1"/>
          <p:nvPr/>
        </p:nvSpPr>
        <p:spPr>
          <a:xfrm>
            <a:off x="7543800" y="3410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Multi-stage build</a:t>
            </a:r>
            <a:endParaRPr lang="en-US" sz="1600" dirty="0"/>
          </a:p>
        </p:txBody>
      </p:sp>
      <p:sp>
        <p:nvSpPr>
          <p:cNvPr id="12" name="txt-684"/>
          <p:cNvSpPr txBox="1"/>
          <p:nvPr/>
        </p:nvSpPr>
        <p:spPr>
          <a:xfrm>
            <a:off x="7543800" y="3721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 kecil, tanpa devDependencies</a:t>
            </a:r>
            <a:endParaRPr lang="en-US" sz="1400" dirty="0"/>
          </a:p>
        </p:txBody>
      </p:sp>
      <p:sp>
        <p:nvSpPr>
          <p:cNvPr id="13" name="icon-bg-685"/>
          <p:cNvSpPr/>
          <p:nvPr/>
        </p:nvSpPr>
        <p:spPr>
          <a:xfrm>
            <a:off x="6812280" y="4343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6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480560"/>
            <a:ext cx="274320" cy="274320"/>
          </a:xfrm>
          <a:prstGeom prst="rect">
            <a:avLst/>
          </a:prstGeom>
        </p:spPr>
      </p:pic>
      <p:sp>
        <p:nvSpPr>
          <p:cNvPr id="15" name="txt-687"/>
          <p:cNvSpPr txBox="1"/>
          <p:nvPr/>
        </p:nvSpPr>
        <p:spPr>
          <a:xfrm>
            <a:off x="7543800" y="4325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node</a:t>
            </a:r>
            <a:endParaRPr lang="en-US" sz="1600" dirty="0"/>
          </a:p>
        </p:txBody>
      </p:sp>
      <p:sp>
        <p:nvSpPr>
          <p:cNvPr id="16" name="txt-688"/>
          <p:cNvSpPr txBox="1"/>
          <p:nvPr/>
        </p:nvSpPr>
        <p:spPr>
          <a:xfrm>
            <a:off x="7543800" y="46360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jalankan sebagai root</a:t>
            </a:r>
            <a:endParaRPr lang="en-US" sz="1400" dirty="0"/>
          </a:p>
        </p:txBody>
      </p:sp>
      <p:sp>
        <p:nvSpPr>
          <p:cNvPr id="17" name="icon-bg-689"/>
          <p:cNvSpPr/>
          <p:nvPr/>
        </p:nvSpPr>
        <p:spPr>
          <a:xfrm>
            <a:off x="6812280" y="5257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-6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5394960"/>
            <a:ext cx="274320" cy="274320"/>
          </a:xfrm>
          <a:prstGeom prst="rect">
            <a:avLst/>
          </a:prstGeom>
        </p:spPr>
      </p:pic>
      <p:sp>
        <p:nvSpPr>
          <p:cNvPr id="19" name="txt-691"/>
          <p:cNvSpPr txBox="1"/>
          <p:nvPr/>
        </p:nvSpPr>
        <p:spPr>
          <a:xfrm>
            <a:off x="7543800" y="5239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Rahasia via env</a:t>
            </a:r>
            <a:endParaRPr lang="en-US" sz="1600" dirty="0"/>
          </a:p>
        </p:txBody>
      </p:sp>
      <p:sp>
        <p:nvSpPr>
          <p:cNvPr id="20" name="txt-692"/>
          <p:cNvSpPr txBox="1"/>
          <p:nvPr/>
        </p:nvSpPr>
        <p:spPr>
          <a:xfrm>
            <a:off x="7543800" y="5550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COPY file .env ke image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Docker Compose: API + PostgreSQL</a:t>
            </a:r>
            <a:endParaRPr lang="en-US" sz="3200" dirty="0"/>
          </a:p>
        </p:txBody>
      </p:sp>
      <p:sp>
        <p:nvSpPr>
          <p:cNvPr id="3" name="code-bg-693"/>
          <p:cNvSpPr/>
          <p:nvPr/>
        </p:nvSpPr>
        <p:spPr>
          <a:xfrm>
            <a:off x="548640" y="141732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694"/>
          <p:cNvSpPr txBox="1"/>
          <p:nvPr/>
        </p:nvSpPr>
        <p:spPr>
          <a:xfrm>
            <a:off x="777240" y="1527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100" dirty="0"/>
          </a:p>
        </p:txBody>
      </p:sp>
      <p:sp>
        <p:nvSpPr>
          <p:cNvPr id="5" name="code-695"/>
          <p:cNvSpPr txBox="1"/>
          <p:nvPr/>
        </p:nvSpPr>
        <p:spPr>
          <a:xfrm>
            <a:off x="777240" y="1856232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["3000:3000"]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env_file: 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[db]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POSTGRES_USER: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 secret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 appdb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pgdata:/var/lib/postgresql/data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pgdata:</a:t>
            </a:r>
            <a:endParaRPr lang="en-US" sz="1200" dirty="0"/>
          </a:p>
        </p:txBody>
      </p:sp>
      <p:sp>
        <p:nvSpPr>
          <p:cNvPr id="6" name="code-bg-696"/>
          <p:cNvSpPr/>
          <p:nvPr/>
        </p:nvSpPr>
        <p:spPr>
          <a:xfrm>
            <a:off x="6812280" y="1417320"/>
            <a:ext cx="4846320" cy="2377440"/>
          </a:xfrm>
          <a:prstGeom prst="roundRect">
            <a:avLst>
              <a:gd name="adj" fmla="val 3846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label-697"/>
          <p:cNvSpPr txBox="1"/>
          <p:nvPr/>
        </p:nvSpPr>
        <p:spPr>
          <a:xfrm>
            <a:off x="7040880" y="1527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code-698"/>
          <p:cNvSpPr txBox="1"/>
          <p:nvPr/>
        </p:nvSpPr>
        <p:spPr>
          <a:xfrm>
            <a:off x="7040880" y="1856232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-f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api 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200" dirty="0"/>
          </a:p>
        </p:txBody>
      </p:sp>
      <p:sp>
        <p:nvSpPr>
          <p:cNvPr id="9" name="card-699"/>
          <p:cNvSpPr/>
          <p:nvPr/>
        </p:nvSpPr>
        <p:spPr>
          <a:xfrm>
            <a:off x="6812280" y="4023360"/>
            <a:ext cx="4846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-bg-700"/>
          <p:cNvSpPr/>
          <p:nvPr/>
        </p:nvSpPr>
        <p:spPr>
          <a:xfrm>
            <a:off x="7040880" y="42519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7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9470" y="4400550"/>
            <a:ext cx="297180" cy="297180"/>
          </a:xfrm>
          <a:prstGeom prst="rect">
            <a:avLst/>
          </a:prstGeom>
        </p:spPr>
      </p:pic>
      <p:sp>
        <p:nvSpPr>
          <p:cNvPr id="12" name="txt-702"/>
          <p:cNvSpPr txBox="1"/>
          <p:nvPr/>
        </p:nvSpPr>
        <p:spPr>
          <a:xfrm>
            <a:off x="78181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Tip</a:t>
            </a:r>
            <a:endParaRPr lang="en-US" sz="1600" dirty="0"/>
          </a:p>
        </p:txBody>
      </p:sp>
      <p:sp>
        <p:nvSpPr>
          <p:cNvPr id="13" name="txt-703"/>
          <p:cNvSpPr txBox="1"/>
          <p:nvPr/>
        </p:nvSpPr>
        <p:spPr>
          <a:xfrm>
            <a:off x="7040880" y="4983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 dalam Compose, host database adalah nama service:</a:t>
            </a:r>
            <a:endParaRPr lang="en-US" sz="1400" dirty="0"/>
          </a:p>
        </p:txBody>
      </p:sp>
      <p:sp>
        <p:nvSpPr>
          <p:cNvPr id="14" name="txt-704"/>
          <p:cNvSpPr txBox="1"/>
          <p:nvPr/>
        </p:nvSpPr>
        <p:spPr>
          <a:xfrm>
            <a:off x="7040880" y="5486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postgresql://app:secret@db:5432/appdb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705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7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707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09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Produksi, Testing &amp; Migrasi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Mengamankan, menguji, men-deploy, dan upgrade ke v5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Keamanan: checklist wajib</a:t>
            </a:r>
            <a:endParaRPr lang="en-US" sz="3200" dirty="0"/>
          </a:p>
        </p:txBody>
      </p:sp>
      <p:sp>
        <p:nvSpPr>
          <p:cNvPr id="3" name="icon-bg-708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70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45920"/>
            <a:ext cx="274320" cy="274320"/>
          </a:xfrm>
          <a:prstGeom prst="rect">
            <a:avLst/>
          </a:prstGeom>
        </p:spPr>
      </p:pic>
      <p:sp>
        <p:nvSpPr>
          <p:cNvPr id="5" name="txt-710"/>
          <p:cNvSpPr txBox="1"/>
          <p:nvPr/>
        </p:nvSpPr>
        <p:spPr>
          <a:xfrm>
            <a:off x="1280160" y="1490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helmet()</a:t>
            </a:r>
            <a:endParaRPr lang="en-US" sz="1600" dirty="0"/>
          </a:p>
        </p:txBody>
      </p:sp>
      <p:sp>
        <p:nvSpPr>
          <p:cNvPr id="6" name="txt-711"/>
          <p:cNvSpPr txBox="1"/>
          <p:nvPr/>
        </p:nvSpPr>
        <p:spPr>
          <a:xfrm>
            <a:off x="1280160" y="1801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 header keamanan HTTP (CSP, HSTS, dll.)</a:t>
            </a:r>
            <a:endParaRPr lang="en-US" sz="1400" dirty="0"/>
          </a:p>
        </p:txBody>
      </p:sp>
      <p:sp>
        <p:nvSpPr>
          <p:cNvPr id="7" name="icon-bg-712"/>
          <p:cNvSpPr/>
          <p:nvPr/>
        </p:nvSpPr>
        <p:spPr>
          <a:xfrm>
            <a:off x="3840480" y="1508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7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645920"/>
            <a:ext cx="274320" cy="274320"/>
          </a:xfrm>
          <a:prstGeom prst="rect">
            <a:avLst/>
          </a:prstGeom>
        </p:spPr>
      </p:pic>
      <p:sp>
        <p:nvSpPr>
          <p:cNvPr id="9" name="txt-714"/>
          <p:cNvSpPr txBox="1"/>
          <p:nvPr/>
        </p:nvSpPr>
        <p:spPr>
          <a:xfrm>
            <a:off x="4572000" y="1490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cors()</a:t>
            </a:r>
            <a:endParaRPr lang="en-US" sz="1600" dirty="0"/>
          </a:p>
        </p:txBody>
      </p:sp>
      <p:sp>
        <p:nvSpPr>
          <p:cNvPr id="10" name="txt-715"/>
          <p:cNvSpPr txBox="1"/>
          <p:nvPr/>
        </p:nvSpPr>
        <p:spPr>
          <a:xfrm>
            <a:off x="4572000" y="1801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Batasi origin yang boleh memanggil API</a:t>
            </a:r>
            <a:endParaRPr lang="en-US" sz="1400" dirty="0"/>
          </a:p>
        </p:txBody>
      </p:sp>
      <p:sp>
        <p:nvSpPr>
          <p:cNvPr id="11" name="icon-bg-71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7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13" name="txt-718"/>
          <p:cNvSpPr txBox="1"/>
          <p:nvPr/>
        </p:nvSpPr>
        <p:spPr>
          <a:xfrm>
            <a:off x="128016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express-rate-limit</a:t>
            </a:r>
            <a:endParaRPr lang="en-US" sz="1600" dirty="0"/>
          </a:p>
        </p:txBody>
      </p:sp>
      <p:sp>
        <p:nvSpPr>
          <p:cNvPr id="14" name="txt-719"/>
          <p:cNvSpPr txBox="1"/>
          <p:nvPr/>
        </p:nvSpPr>
        <p:spPr>
          <a:xfrm>
            <a:off x="1280160" y="3264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Cegah brute force &amp; penyalahgunaan</a:t>
            </a:r>
            <a:endParaRPr lang="en-US" sz="1400" dirty="0"/>
          </a:p>
        </p:txBody>
      </p:sp>
      <p:sp>
        <p:nvSpPr>
          <p:cNvPr id="15" name="icon-bg-720"/>
          <p:cNvSpPr/>
          <p:nvPr/>
        </p:nvSpPr>
        <p:spPr>
          <a:xfrm>
            <a:off x="384048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7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108960"/>
            <a:ext cx="274320" cy="274320"/>
          </a:xfrm>
          <a:prstGeom prst="rect">
            <a:avLst/>
          </a:prstGeom>
        </p:spPr>
      </p:pic>
      <p:sp>
        <p:nvSpPr>
          <p:cNvPr id="17" name="txt-722"/>
          <p:cNvSpPr txBox="1"/>
          <p:nvPr/>
        </p:nvSpPr>
        <p:spPr>
          <a:xfrm>
            <a:off x="4572000" y="2953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Validasi input</a:t>
            </a:r>
            <a:endParaRPr lang="en-US" sz="1600" dirty="0"/>
          </a:p>
        </p:txBody>
      </p:sp>
      <p:sp>
        <p:nvSpPr>
          <p:cNvPr id="18" name="txt-723"/>
          <p:cNvSpPr txBox="1"/>
          <p:nvPr/>
        </p:nvSpPr>
        <p:spPr>
          <a:xfrm>
            <a:off x="4572000" y="32644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Skema zod/joi; tolak data tidak valid</a:t>
            </a:r>
            <a:endParaRPr lang="en-US" sz="1400" dirty="0"/>
          </a:p>
        </p:txBody>
      </p:sp>
      <p:sp>
        <p:nvSpPr>
          <p:cNvPr id="19" name="icon-bg-724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72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572000"/>
            <a:ext cx="274320" cy="274320"/>
          </a:xfrm>
          <a:prstGeom prst="rect">
            <a:avLst/>
          </a:prstGeom>
        </p:spPr>
      </p:pic>
      <p:sp>
        <p:nvSpPr>
          <p:cNvPr id="21" name="txt-726"/>
          <p:cNvSpPr txBox="1"/>
          <p:nvPr/>
        </p:nvSpPr>
        <p:spPr>
          <a:xfrm>
            <a:off x="1280160" y="4416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Rahasia di .env</a:t>
            </a:r>
            <a:endParaRPr lang="en-US" sz="1600" dirty="0"/>
          </a:p>
        </p:txBody>
      </p:sp>
      <p:sp>
        <p:nvSpPr>
          <p:cNvPr id="22" name="txt-727"/>
          <p:cNvSpPr txBox="1"/>
          <p:nvPr/>
        </p:nvSpPr>
        <p:spPr>
          <a:xfrm>
            <a:off x="1280160" y="4727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Jangan pernah commit ke git</a:t>
            </a:r>
            <a:endParaRPr lang="en-US" sz="1400" dirty="0"/>
          </a:p>
        </p:txBody>
      </p:sp>
      <p:sp>
        <p:nvSpPr>
          <p:cNvPr id="23" name="icon-bg-728"/>
          <p:cNvSpPr/>
          <p:nvPr/>
        </p:nvSpPr>
        <p:spPr>
          <a:xfrm>
            <a:off x="3840480" y="44348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4" name="icon-72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4572000"/>
            <a:ext cx="274320" cy="274320"/>
          </a:xfrm>
          <a:prstGeom prst="rect">
            <a:avLst/>
          </a:prstGeom>
        </p:spPr>
      </p:pic>
      <p:sp>
        <p:nvSpPr>
          <p:cNvPr id="25" name="txt-730"/>
          <p:cNvSpPr txBox="1"/>
          <p:nvPr/>
        </p:nvSpPr>
        <p:spPr>
          <a:xfrm>
            <a:off x="4572000" y="4416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Update dependensi</a:t>
            </a:r>
            <a:endParaRPr lang="en-US" sz="1600" dirty="0"/>
          </a:p>
        </p:txBody>
      </p:sp>
      <p:sp>
        <p:nvSpPr>
          <p:cNvPr id="26" name="txt-731"/>
          <p:cNvSpPr txBox="1"/>
          <p:nvPr/>
        </p:nvSpPr>
        <p:spPr>
          <a:xfrm>
            <a:off x="4572000" y="4727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npm audit &amp; ikuti rilis keamanan</a:t>
            </a:r>
            <a:endParaRPr lang="en-US" sz="1400" dirty="0"/>
          </a:p>
        </p:txBody>
      </p:sp>
      <p:sp>
        <p:nvSpPr>
          <p:cNvPr id="27" name="code-bg-732"/>
          <p:cNvSpPr/>
          <p:nvPr/>
        </p:nvSpPr>
        <p:spPr>
          <a:xfrm>
            <a:off x="7223760" y="1417320"/>
            <a:ext cx="4434840" cy="4663440"/>
          </a:xfrm>
          <a:prstGeom prst="roundRect">
            <a:avLst>
              <a:gd name="adj" fmla="val 2062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8" name="code-label-733"/>
          <p:cNvSpPr txBox="1"/>
          <p:nvPr/>
        </p:nvSpPr>
        <p:spPr>
          <a:xfrm>
            <a:off x="7452360" y="15270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security.js</a:t>
            </a:r>
            <a:endParaRPr lang="en-US" sz="1100" dirty="0"/>
          </a:p>
        </p:txBody>
      </p:sp>
      <p:sp>
        <p:nvSpPr>
          <p:cNvPr id="29" name="code-734"/>
          <p:cNvSpPr txBox="1"/>
          <p:nvPr/>
        </p:nvSpPr>
        <p:spPr>
          <a:xfrm>
            <a:off x="7452360" y="1856232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helmet from 'helmet';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cors from 'cors';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rateLimit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'express-rate-limit';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app.disable('x-powered-by');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app.use(helmet());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app.use(cors({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['https://app.id'],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app.use(rateLimit({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15 * 60 * 1000,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limit: 100,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API dengan Supertest</a:t>
            </a:r>
            <a:endParaRPr lang="en-US" sz="3200" dirty="0"/>
          </a:p>
        </p:txBody>
      </p:sp>
      <p:sp>
        <p:nvSpPr>
          <p:cNvPr id="3" name="code-bg-735"/>
          <p:cNvSpPr/>
          <p:nvPr/>
        </p:nvSpPr>
        <p:spPr>
          <a:xfrm>
            <a:off x="548640" y="1417320"/>
            <a:ext cx="6949440" cy="3657600"/>
          </a:xfrm>
          <a:prstGeom prst="roundRect">
            <a:avLst>
              <a:gd name="adj" fmla="val 2500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4" name="code-label-736"/>
          <p:cNvSpPr txBox="1"/>
          <p:nvPr/>
        </p:nvSpPr>
        <p:spPr>
          <a:xfrm>
            <a:off x="777240" y="15270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tests/health.test.js</a:t>
            </a:r>
            <a:endParaRPr lang="en-US" sz="1100" dirty="0"/>
          </a:p>
        </p:txBody>
      </p:sp>
      <p:sp>
        <p:nvSpPr>
          <p:cNvPr id="5" name="code-737"/>
          <p:cNvSpPr txBox="1"/>
          <p:nvPr/>
        </p:nvSpPr>
        <p:spPr>
          <a:xfrm>
            <a:off x="777240" y="1856232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npm install -D supertest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test } from 'node:test';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assert from 'node:assert/strict';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 from 'supertest';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'../src/app.js';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test('GET /api/health → 200', async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request(app).get('/api/health');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assert.equal(res.status, 200);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assert.deepEqual(res.body, { status: 'ok'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code-bg-738"/>
          <p:cNvSpPr/>
          <p:nvPr/>
        </p:nvSpPr>
        <p:spPr>
          <a:xfrm>
            <a:off x="548640" y="5257800"/>
            <a:ext cx="6949440" cy="822960"/>
          </a:xfrm>
          <a:prstGeom prst="roundRect">
            <a:avLst>
              <a:gd name="adj" fmla="val 1111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7" name="code-739"/>
          <p:cNvSpPr txBox="1"/>
          <p:nvPr/>
        </p:nvSpPr>
        <p:spPr>
          <a:xfrm>
            <a:off x="777240" y="5422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--test</a:t>
            </a:r>
            <a:endParaRPr lang="en-US" sz="1400" dirty="0"/>
          </a:p>
        </p:txBody>
      </p:sp>
      <p:sp>
        <p:nvSpPr>
          <p:cNvPr id="8" name="icon-bg-740"/>
          <p:cNvSpPr/>
          <p:nvPr/>
        </p:nvSpPr>
        <p:spPr>
          <a:xfrm>
            <a:off x="781812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-7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91640"/>
            <a:ext cx="274320" cy="274320"/>
          </a:xfrm>
          <a:prstGeom prst="rect">
            <a:avLst/>
          </a:prstGeom>
        </p:spPr>
      </p:pic>
      <p:sp>
        <p:nvSpPr>
          <p:cNvPr id="10" name="txt-742"/>
          <p:cNvSpPr txBox="1"/>
          <p:nvPr/>
        </p:nvSpPr>
        <p:spPr>
          <a:xfrm>
            <a:off x="8549640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Tanpa membuka port</a:t>
            </a:r>
            <a:endParaRPr lang="en-US" sz="1600" dirty="0"/>
          </a:p>
        </p:txBody>
      </p:sp>
      <p:sp>
        <p:nvSpPr>
          <p:cNvPr id="11" name="txt-743"/>
          <p:cNvSpPr txBox="1"/>
          <p:nvPr/>
        </p:nvSpPr>
        <p:spPr>
          <a:xfrm>
            <a:off x="854964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Supertest memanggil app langsung — cepat &amp; terisolasi.</a:t>
            </a:r>
            <a:endParaRPr lang="en-US" sz="1400" dirty="0"/>
          </a:p>
        </p:txBody>
      </p:sp>
      <p:sp>
        <p:nvSpPr>
          <p:cNvPr id="12" name="icon-bg-744"/>
          <p:cNvSpPr/>
          <p:nvPr/>
        </p:nvSpPr>
        <p:spPr>
          <a:xfrm>
            <a:off x="7818120" y="3017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7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154680"/>
            <a:ext cx="274320" cy="274320"/>
          </a:xfrm>
          <a:prstGeom prst="rect">
            <a:avLst/>
          </a:prstGeom>
        </p:spPr>
      </p:pic>
      <p:sp>
        <p:nvSpPr>
          <p:cNvPr id="14" name="txt-746"/>
          <p:cNvSpPr txBox="1"/>
          <p:nvPr/>
        </p:nvSpPr>
        <p:spPr>
          <a:xfrm>
            <a:off x="854964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Uji kontrak API</a:t>
            </a:r>
            <a:endParaRPr lang="en-US" sz="1600" dirty="0"/>
          </a:p>
        </p:txBody>
      </p:sp>
      <p:sp>
        <p:nvSpPr>
          <p:cNvPr id="15" name="txt-747"/>
          <p:cNvSpPr txBox="1"/>
          <p:nvPr/>
        </p:nvSpPr>
        <p:spPr>
          <a:xfrm>
            <a:off x="8549640" y="33101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Status code, body, header, dan kasus error.</a:t>
            </a:r>
            <a:endParaRPr lang="en-US" sz="1400" dirty="0"/>
          </a:p>
        </p:txBody>
      </p:sp>
      <p:sp>
        <p:nvSpPr>
          <p:cNvPr id="16" name="icon-bg-748"/>
          <p:cNvSpPr/>
          <p:nvPr/>
        </p:nvSpPr>
        <p:spPr>
          <a:xfrm>
            <a:off x="7818120" y="44805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on-74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617720"/>
            <a:ext cx="274320" cy="274320"/>
          </a:xfrm>
          <a:prstGeom prst="rect">
            <a:avLst/>
          </a:prstGeom>
        </p:spPr>
      </p:pic>
      <p:sp>
        <p:nvSpPr>
          <p:cNvPr id="18" name="txt-750"/>
          <p:cNvSpPr txBox="1"/>
          <p:nvPr/>
        </p:nvSpPr>
        <p:spPr>
          <a:xfrm>
            <a:off x="8549640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Runner bebas</a:t>
            </a:r>
            <a:endParaRPr lang="en-US" sz="1600" dirty="0"/>
          </a:p>
        </p:txBody>
      </p:sp>
      <p:sp>
        <p:nvSpPr>
          <p:cNvPr id="19" name="txt-751"/>
          <p:cNvSpPr txBox="1"/>
          <p:nvPr/>
        </p:nvSpPr>
        <p:spPr>
          <a:xfrm>
            <a:off x="8549640" y="4773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node:test bawaan, Jest, atau Vitest.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Siap produksi: performa &amp; deployment</a:t>
            </a:r>
            <a:endParaRPr lang="en-US" sz="3200" dirty="0"/>
          </a:p>
        </p:txBody>
      </p:sp>
      <p:sp>
        <p:nvSpPr>
          <p:cNvPr id="3" name="icon-bg-75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-7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74320" cy="274320"/>
          </a:xfrm>
          <a:prstGeom prst="rect">
            <a:avLst/>
          </a:prstGeom>
        </p:spPr>
      </p:pic>
      <p:sp>
        <p:nvSpPr>
          <p:cNvPr id="5" name="txt-754"/>
          <p:cNvSpPr txBox="1"/>
          <p:nvPr/>
        </p:nvSpPr>
        <p:spPr>
          <a:xfrm>
            <a:off x="1280160" y="14447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NODE_ENV=production</a:t>
            </a:r>
            <a:endParaRPr lang="en-US" sz="1600" dirty="0"/>
          </a:p>
        </p:txBody>
      </p:sp>
      <p:sp>
        <p:nvSpPr>
          <p:cNvPr id="6" name="txt-755"/>
          <p:cNvSpPr txBox="1"/>
          <p:nvPr/>
        </p:nvSpPr>
        <p:spPr>
          <a:xfrm>
            <a:off x="1280160" y="1755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Mengaktifkan cache view &amp; pesan error ringkas.</a:t>
            </a:r>
            <a:endParaRPr lang="en-US" sz="1400" dirty="0"/>
          </a:p>
        </p:txBody>
      </p:sp>
      <p:sp>
        <p:nvSpPr>
          <p:cNvPr id="7" name="icon-bg-756"/>
          <p:cNvSpPr/>
          <p:nvPr/>
        </p:nvSpPr>
        <p:spPr>
          <a:xfrm>
            <a:off x="548640" y="239572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7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32888"/>
            <a:ext cx="274320" cy="274320"/>
          </a:xfrm>
          <a:prstGeom prst="rect">
            <a:avLst/>
          </a:prstGeom>
        </p:spPr>
      </p:pic>
      <p:sp>
        <p:nvSpPr>
          <p:cNvPr id="9" name="txt-758"/>
          <p:cNvSpPr txBox="1"/>
          <p:nvPr/>
        </p:nvSpPr>
        <p:spPr>
          <a:xfrm>
            <a:off x="1280160" y="2377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Reverse proxy</a:t>
            </a:r>
            <a:endParaRPr lang="en-US" sz="1600" dirty="0"/>
          </a:p>
        </p:txBody>
      </p:sp>
      <p:sp>
        <p:nvSpPr>
          <p:cNvPr id="10" name="txt-759"/>
          <p:cNvSpPr txBox="1"/>
          <p:nvPr/>
        </p:nvSpPr>
        <p:spPr>
          <a:xfrm>
            <a:off x="1280160" y="26883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Nginx/Caddy; set app.set('trust proxy', 1).</a:t>
            </a:r>
            <a:endParaRPr lang="en-US" sz="1400" dirty="0"/>
          </a:p>
        </p:txBody>
      </p:sp>
      <p:sp>
        <p:nvSpPr>
          <p:cNvPr id="11" name="icon-bg-760"/>
          <p:cNvSpPr/>
          <p:nvPr/>
        </p:nvSpPr>
        <p:spPr>
          <a:xfrm>
            <a:off x="548640" y="3328416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76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65576"/>
            <a:ext cx="274320" cy="274320"/>
          </a:xfrm>
          <a:prstGeom prst="rect">
            <a:avLst/>
          </a:prstGeom>
        </p:spPr>
      </p:pic>
      <p:sp>
        <p:nvSpPr>
          <p:cNvPr id="13" name="txt-762"/>
          <p:cNvSpPr txBox="1"/>
          <p:nvPr/>
        </p:nvSpPr>
        <p:spPr>
          <a:xfrm>
            <a:off x="1280160" y="3310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Process manager</a:t>
            </a:r>
            <a:endParaRPr lang="en-US" sz="1600" dirty="0"/>
          </a:p>
        </p:txBody>
      </p:sp>
      <p:sp>
        <p:nvSpPr>
          <p:cNvPr id="14" name="txt-763"/>
          <p:cNvSpPr txBox="1"/>
          <p:nvPr/>
        </p:nvSpPr>
        <p:spPr>
          <a:xfrm>
            <a:off x="1280160" y="36210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PM2, systemd, atau container (Docker/Kubernetes).</a:t>
            </a:r>
            <a:endParaRPr lang="en-US" sz="1400" dirty="0"/>
          </a:p>
        </p:txBody>
      </p:sp>
      <p:sp>
        <p:nvSpPr>
          <p:cNvPr id="15" name="icon-bg-764"/>
          <p:cNvSpPr/>
          <p:nvPr/>
        </p:nvSpPr>
        <p:spPr>
          <a:xfrm>
            <a:off x="548640" y="42611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76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98264"/>
            <a:ext cx="274320" cy="274320"/>
          </a:xfrm>
          <a:prstGeom prst="rect">
            <a:avLst/>
          </a:prstGeom>
        </p:spPr>
      </p:pic>
      <p:sp>
        <p:nvSpPr>
          <p:cNvPr id="17" name="txt-766"/>
          <p:cNvSpPr txBox="1"/>
          <p:nvPr/>
        </p:nvSpPr>
        <p:spPr>
          <a:xfrm>
            <a:off x="1280160" y="4242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Logging terstruktur</a:t>
            </a:r>
            <a:endParaRPr lang="en-US" sz="1600" dirty="0"/>
          </a:p>
        </p:txBody>
      </p:sp>
      <p:sp>
        <p:nvSpPr>
          <p:cNvPr id="18" name="txt-767"/>
          <p:cNvSpPr txBox="1"/>
          <p:nvPr/>
        </p:nvSpPr>
        <p:spPr>
          <a:xfrm>
            <a:off x="1280160" y="45537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pino atau morgan; kirim ke log terpusat.</a:t>
            </a:r>
            <a:endParaRPr lang="en-US" sz="1400" dirty="0"/>
          </a:p>
        </p:txBody>
      </p:sp>
      <p:sp>
        <p:nvSpPr>
          <p:cNvPr id="19" name="icon-bg-768"/>
          <p:cNvSpPr/>
          <p:nvPr/>
        </p:nvSpPr>
        <p:spPr>
          <a:xfrm>
            <a:off x="548640" y="5193792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76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30952"/>
            <a:ext cx="274320" cy="274320"/>
          </a:xfrm>
          <a:prstGeom prst="rect">
            <a:avLst/>
          </a:prstGeom>
        </p:spPr>
      </p:pic>
      <p:sp>
        <p:nvSpPr>
          <p:cNvPr id="21" name="txt-770"/>
          <p:cNvSpPr txBox="1"/>
          <p:nvPr/>
        </p:nvSpPr>
        <p:spPr>
          <a:xfrm>
            <a:off x="1280160" y="51755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Kompresi &amp; cache</a:t>
            </a:r>
            <a:endParaRPr lang="en-US" sz="1600" dirty="0"/>
          </a:p>
        </p:txBody>
      </p:sp>
      <p:sp>
        <p:nvSpPr>
          <p:cNvPr id="22" name="txt-771"/>
          <p:cNvSpPr txBox="1"/>
          <p:nvPr/>
        </p:nvSpPr>
        <p:spPr>
          <a:xfrm>
            <a:off x="1280160" y="5486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compression() dan header cache untuk aset statis.</a:t>
            </a:r>
            <a:endParaRPr lang="en-US" sz="1400" dirty="0"/>
          </a:p>
        </p:txBody>
      </p:sp>
      <p:sp>
        <p:nvSpPr>
          <p:cNvPr id="23" name="code-bg-772"/>
          <p:cNvSpPr/>
          <p:nvPr/>
        </p:nvSpPr>
        <p:spPr>
          <a:xfrm>
            <a:off x="6766560" y="1417320"/>
            <a:ext cx="4892040" cy="4663440"/>
          </a:xfrm>
          <a:prstGeom prst="roundRect">
            <a:avLst>
              <a:gd name="adj" fmla="val 1961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4" name="code-label-773"/>
          <p:cNvSpPr txBox="1"/>
          <p:nvPr/>
        </p:nvSpPr>
        <p:spPr>
          <a:xfrm>
            <a:off x="6995160" y="15270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25" name="code-774"/>
          <p:cNvSpPr txBox="1"/>
          <p:nvPr/>
        </p:nvSpPr>
        <p:spPr>
          <a:xfrm>
            <a:off x="6995160" y="1856232"/>
            <a:ext cx="4434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Graceful shutdown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app.listen(PORT);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shutdown =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console.log('Menutup server...');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server.close(async ()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mongoose.disconnect();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process.exit(0);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process.on('SIGTERM', shutdown);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process.on('SIGINT', shutdown);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Migrasi Express 4 → 5: perubahan penting</a:t>
            </a:r>
            <a:endParaRPr lang="en-US" sz="3200" dirty="0"/>
          </a:p>
        </p:txBody>
      </p:sp>
      <p:graphicFrame>
        <p:nvGraphicFramePr>
          <p:cNvPr id="51" name="table-7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886200"/>
                <a:gridCol w="4572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Topik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Express 4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Express 5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Versi Node.js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≥ 0.10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≥ 18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Error async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Tangkap manual + next(err)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Otomatis ke error handler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Wildcard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/files/*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/files/*splat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Param opsional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/users/:id?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/users{/:id}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Metode dihapus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app.del(), req.param()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app.delete(), req.params/query/body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Signature lama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res.json(obj, 201)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res.status(201).json(obj)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Nama metode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res.sendfile()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res.sendFile()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req.body tanpa parser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{}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undefined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urlencoded extended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Default true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Default false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req.query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Bisa ditulis ulang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Getter read-only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Ekosistem middleware populer</a:t>
            </a:r>
            <a:endParaRPr lang="en-US" sz="3200" dirty="0"/>
          </a:p>
        </p:txBody>
      </p:sp>
      <p:sp>
        <p:nvSpPr>
          <p:cNvPr id="3" name="card-776"/>
          <p:cNvSpPr/>
          <p:nvPr/>
        </p:nvSpPr>
        <p:spPr>
          <a:xfrm>
            <a:off x="548640" y="150876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777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7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97380"/>
            <a:ext cx="320040" cy="320040"/>
          </a:xfrm>
          <a:prstGeom prst="rect">
            <a:avLst/>
          </a:prstGeom>
        </p:spPr>
      </p:pic>
      <p:sp>
        <p:nvSpPr>
          <p:cNvPr id="6" name="txt-779"/>
          <p:cNvSpPr txBox="1"/>
          <p:nvPr/>
        </p:nvSpPr>
        <p:spPr>
          <a:xfrm>
            <a:off x="77724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helmet</a:t>
            </a:r>
            <a:endParaRPr lang="en-US" sz="1500" dirty="0"/>
          </a:p>
        </p:txBody>
      </p:sp>
      <p:sp>
        <p:nvSpPr>
          <p:cNvPr id="7" name="txt-780"/>
          <p:cNvSpPr txBox="1"/>
          <p:nvPr/>
        </p:nvSpPr>
        <p:spPr>
          <a:xfrm>
            <a:off x="77724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Header keamanan</a:t>
            </a:r>
            <a:endParaRPr lang="en-US" sz="1400" dirty="0"/>
          </a:p>
        </p:txBody>
      </p:sp>
      <p:sp>
        <p:nvSpPr>
          <p:cNvPr id="8" name="card-781"/>
          <p:cNvSpPr/>
          <p:nvPr/>
        </p:nvSpPr>
        <p:spPr>
          <a:xfrm>
            <a:off x="2788920" y="150876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782"/>
          <p:cNvSpPr/>
          <p:nvPr/>
        </p:nvSpPr>
        <p:spPr>
          <a:xfrm>
            <a:off x="301752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-78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" y="1897380"/>
            <a:ext cx="320040" cy="320040"/>
          </a:xfrm>
          <a:prstGeom prst="rect">
            <a:avLst/>
          </a:prstGeom>
        </p:spPr>
      </p:pic>
      <p:sp>
        <p:nvSpPr>
          <p:cNvPr id="11" name="txt-784"/>
          <p:cNvSpPr txBox="1"/>
          <p:nvPr/>
        </p:nvSpPr>
        <p:spPr>
          <a:xfrm>
            <a:off x="301752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cors</a:t>
            </a:r>
            <a:endParaRPr lang="en-US" sz="1500" dirty="0"/>
          </a:p>
        </p:txBody>
      </p:sp>
      <p:sp>
        <p:nvSpPr>
          <p:cNvPr id="12" name="txt-785"/>
          <p:cNvSpPr txBox="1"/>
          <p:nvPr/>
        </p:nvSpPr>
        <p:spPr>
          <a:xfrm>
            <a:off x="301752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Cross-origin</a:t>
            </a:r>
            <a:endParaRPr lang="en-US" sz="1400" dirty="0"/>
          </a:p>
        </p:txBody>
      </p:sp>
      <p:sp>
        <p:nvSpPr>
          <p:cNvPr id="13" name="card-786"/>
          <p:cNvSpPr/>
          <p:nvPr/>
        </p:nvSpPr>
        <p:spPr>
          <a:xfrm>
            <a:off x="5029200" y="150876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787"/>
          <p:cNvSpPr/>
          <p:nvPr/>
        </p:nvSpPr>
        <p:spPr>
          <a:xfrm>
            <a:off x="5257800" y="17373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78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897380"/>
            <a:ext cx="320040" cy="320040"/>
          </a:xfrm>
          <a:prstGeom prst="rect">
            <a:avLst/>
          </a:prstGeom>
        </p:spPr>
      </p:pic>
      <p:sp>
        <p:nvSpPr>
          <p:cNvPr id="16" name="txt-789"/>
          <p:cNvSpPr txBox="1"/>
          <p:nvPr/>
        </p:nvSpPr>
        <p:spPr>
          <a:xfrm>
            <a:off x="52578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morgan / pino-http</a:t>
            </a:r>
            <a:endParaRPr lang="en-US" sz="1500" dirty="0"/>
          </a:p>
        </p:txBody>
      </p:sp>
      <p:sp>
        <p:nvSpPr>
          <p:cNvPr id="17" name="txt-790"/>
          <p:cNvSpPr txBox="1"/>
          <p:nvPr/>
        </p:nvSpPr>
        <p:spPr>
          <a:xfrm>
            <a:off x="525780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Logging HTTP</a:t>
            </a:r>
            <a:endParaRPr lang="en-US" sz="1400" dirty="0"/>
          </a:p>
        </p:txBody>
      </p:sp>
      <p:sp>
        <p:nvSpPr>
          <p:cNvPr id="18" name="card-791"/>
          <p:cNvSpPr/>
          <p:nvPr/>
        </p:nvSpPr>
        <p:spPr>
          <a:xfrm>
            <a:off x="7269480" y="150876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792"/>
          <p:cNvSpPr/>
          <p:nvPr/>
        </p:nvSpPr>
        <p:spPr>
          <a:xfrm>
            <a:off x="749808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79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897380"/>
            <a:ext cx="320040" cy="320040"/>
          </a:xfrm>
          <a:prstGeom prst="rect">
            <a:avLst/>
          </a:prstGeom>
        </p:spPr>
      </p:pic>
      <p:sp>
        <p:nvSpPr>
          <p:cNvPr id="21" name="txt-794"/>
          <p:cNvSpPr txBox="1"/>
          <p:nvPr/>
        </p:nvSpPr>
        <p:spPr>
          <a:xfrm>
            <a:off x="749808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express-rate-limit</a:t>
            </a:r>
            <a:endParaRPr lang="en-US" sz="1500" dirty="0"/>
          </a:p>
        </p:txBody>
      </p:sp>
      <p:sp>
        <p:nvSpPr>
          <p:cNvPr id="22" name="txt-795"/>
          <p:cNvSpPr txBox="1"/>
          <p:nvPr/>
        </p:nvSpPr>
        <p:spPr>
          <a:xfrm>
            <a:off x="749808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Pembatasan request</a:t>
            </a:r>
            <a:endParaRPr lang="en-US" sz="1400" dirty="0"/>
          </a:p>
        </p:txBody>
      </p:sp>
      <p:sp>
        <p:nvSpPr>
          <p:cNvPr id="23" name="card-796"/>
          <p:cNvSpPr/>
          <p:nvPr/>
        </p:nvSpPr>
        <p:spPr>
          <a:xfrm>
            <a:off x="9509760" y="150876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797"/>
          <p:cNvSpPr/>
          <p:nvPr/>
        </p:nvSpPr>
        <p:spPr>
          <a:xfrm>
            <a:off x="9738360" y="1737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con-79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1897380"/>
            <a:ext cx="320040" cy="320040"/>
          </a:xfrm>
          <a:prstGeom prst="rect">
            <a:avLst/>
          </a:prstGeom>
        </p:spPr>
      </p:pic>
      <p:sp>
        <p:nvSpPr>
          <p:cNvPr id="26" name="txt-799"/>
          <p:cNvSpPr txBox="1"/>
          <p:nvPr/>
        </p:nvSpPr>
        <p:spPr>
          <a:xfrm>
            <a:off x="973836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multer</a:t>
            </a:r>
            <a:endParaRPr lang="en-US" sz="1500" dirty="0"/>
          </a:p>
        </p:txBody>
      </p:sp>
      <p:sp>
        <p:nvSpPr>
          <p:cNvPr id="27" name="txt-800"/>
          <p:cNvSpPr txBox="1"/>
          <p:nvPr/>
        </p:nvSpPr>
        <p:spPr>
          <a:xfrm>
            <a:off x="9738360" y="30175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Upload file</a:t>
            </a:r>
            <a:endParaRPr lang="en-US" sz="1400" dirty="0"/>
          </a:p>
        </p:txBody>
      </p:sp>
      <p:sp>
        <p:nvSpPr>
          <p:cNvPr id="28" name="card-801"/>
          <p:cNvSpPr/>
          <p:nvPr/>
        </p:nvSpPr>
        <p:spPr>
          <a:xfrm>
            <a:off x="548640" y="384048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802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-80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31" name="txt-804"/>
          <p:cNvSpPr txBox="1"/>
          <p:nvPr/>
        </p:nvSpPr>
        <p:spPr>
          <a:xfrm>
            <a:off x="77724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cookie-parser</a:t>
            </a:r>
            <a:endParaRPr lang="en-US" sz="1500" dirty="0"/>
          </a:p>
        </p:txBody>
      </p:sp>
      <p:sp>
        <p:nvSpPr>
          <p:cNvPr id="32" name="txt-805"/>
          <p:cNvSpPr txBox="1"/>
          <p:nvPr/>
        </p:nvSpPr>
        <p:spPr>
          <a:xfrm>
            <a:off x="777240" y="5349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Membaca cookie</a:t>
            </a:r>
            <a:endParaRPr lang="en-US" sz="1400" dirty="0"/>
          </a:p>
        </p:txBody>
      </p:sp>
      <p:sp>
        <p:nvSpPr>
          <p:cNvPr id="33" name="card-806"/>
          <p:cNvSpPr/>
          <p:nvPr/>
        </p:nvSpPr>
        <p:spPr>
          <a:xfrm>
            <a:off x="2788920" y="384048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icon-bg-807"/>
          <p:cNvSpPr/>
          <p:nvPr/>
        </p:nvSpPr>
        <p:spPr>
          <a:xfrm>
            <a:off x="3017520" y="4069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con-808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7540" y="4229100"/>
            <a:ext cx="320040" cy="320040"/>
          </a:xfrm>
          <a:prstGeom prst="rect">
            <a:avLst/>
          </a:prstGeom>
        </p:spPr>
      </p:pic>
      <p:sp>
        <p:nvSpPr>
          <p:cNvPr id="36" name="txt-809"/>
          <p:cNvSpPr txBox="1"/>
          <p:nvPr/>
        </p:nvSpPr>
        <p:spPr>
          <a:xfrm>
            <a:off x="301752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express-session</a:t>
            </a:r>
            <a:endParaRPr lang="en-US" sz="1500" dirty="0"/>
          </a:p>
        </p:txBody>
      </p:sp>
      <p:sp>
        <p:nvSpPr>
          <p:cNvPr id="37" name="txt-810"/>
          <p:cNvSpPr txBox="1"/>
          <p:nvPr/>
        </p:nvSpPr>
        <p:spPr>
          <a:xfrm>
            <a:off x="3017520" y="5349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Session</a:t>
            </a:r>
            <a:endParaRPr lang="en-US" sz="1400" dirty="0"/>
          </a:p>
        </p:txBody>
      </p:sp>
      <p:sp>
        <p:nvSpPr>
          <p:cNvPr id="38" name="card-811"/>
          <p:cNvSpPr/>
          <p:nvPr/>
        </p:nvSpPr>
        <p:spPr>
          <a:xfrm>
            <a:off x="5029200" y="384048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icon-bg-812"/>
          <p:cNvSpPr/>
          <p:nvPr/>
        </p:nvSpPr>
        <p:spPr>
          <a:xfrm>
            <a:off x="5257800" y="40690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0" name="icon-81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820" y="4229100"/>
            <a:ext cx="320040" cy="320040"/>
          </a:xfrm>
          <a:prstGeom prst="rect">
            <a:avLst/>
          </a:prstGeom>
        </p:spPr>
      </p:pic>
      <p:sp>
        <p:nvSpPr>
          <p:cNvPr id="41" name="txt-814"/>
          <p:cNvSpPr txBox="1"/>
          <p:nvPr/>
        </p:nvSpPr>
        <p:spPr>
          <a:xfrm>
            <a:off x="525780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passport</a:t>
            </a:r>
            <a:endParaRPr lang="en-US" sz="1500" dirty="0"/>
          </a:p>
        </p:txBody>
      </p:sp>
      <p:sp>
        <p:nvSpPr>
          <p:cNvPr id="42" name="txt-815"/>
          <p:cNvSpPr txBox="1"/>
          <p:nvPr/>
        </p:nvSpPr>
        <p:spPr>
          <a:xfrm>
            <a:off x="5257800" y="5349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Strategi autentikasi</a:t>
            </a:r>
            <a:endParaRPr lang="en-US" sz="1400" dirty="0"/>
          </a:p>
        </p:txBody>
      </p:sp>
      <p:sp>
        <p:nvSpPr>
          <p:cNvPr id="43" name="card-816"/>
          <p:cNvSpPr/>
          <p:nvPr/>
        </p:nvSpPr>
        <p:spPr>
          <a:xfrm>
            <a:off x="7269480" y="384048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icon-bg-817"/>
          <p:cNvSpPr/>
          <p:nvPr/>
        </p:nvSpPr>
        <p:spPr>
          <a:xfrm>
            <a:off x="749808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con-81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8100" y="4229100"/>
            <a:ext cx="320040" cy="320040"/>
          </a:xfrm>
          <a:prstGeom prst="rect">
            <a:avLst/>
          </a:prstGeom>
        </p:spPr>
      </p:pic>
      <p:sp>
        <p:nvSpPr>
          <p:cNvPr id="46" name="txt-819"/>
          <p:cNvSpPr txBox="1"/>
          <p:nvPr/>
        </p:nvSpPr>
        <p:spPr>
          <a:xfrm>
            <a:off x="749808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zod / joi</a:t>
            </a:r>
            <a:endParaRPr lang="en-US" sz="1500" dirty="0"/>
          </a:p>
        </p:txBody>
      </p:sp>
      <p:sp>
        <p:nvSpPr>
          <p:cNvPr id="47" name="txt-820"/>
          <p:cNvSpPr txBox="1"/>
          <p:nvPr/>
        </p:nvSpPr>
        <p:spPr>
          <a:xfrm>
            <a:off x="7498080" y="5349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Validasi data</a:t>
            </a:r>
            <a:endParaRPr lang="en-US" sz="1400" dirty="0"/>
          </a:p>
        </p:txBody>
      </p:sp>
      <p:sp>
        <p:nvSpPr>
          <p:cNvPr id="48" name="card-821"/>
          <p:cNvSpPr/>
          <p:nvPr/>
        </p:nvSpPr>
        <p:spPr>
          <a:xfrm>
            <a:off x="9509760" y="3840480"/>
            <a:ext cx="205740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icon-bg-822"/>
          <p:cNvSpPr/>
          <p:nvPr/>
        </p:nvSpPr>
        <p:spPr>
          <a:xfrm>
            <a:off x="9738360" y="40690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0" name="icon-823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8380" y="4229100"/>
            <a:ext cx="320040" cy="320040"/>
          </a:xfrm>
          <a:prstGeom prst="rect">
            <a:avLst/>
          </a:prstGeom>
        </p:spPr>
      </p:pic>
      <p:sp>
        <p:nvSpPr>
          <p:cNvPr id="51" name="txt-824"/>
          <p:cNvSpPr txBox="1"/>
          <p:nvPr/>
        </p:nvSpPr>
        <p:spPr>
          <a:xfrm>
            <a:off x="973836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compression</a:t>
            </a:r>
            <a:endParaRPr lang="en-US" sz="1500" dirty="0"/>
          </a:p>
        </p:txBody>
      </p:sp>
      <p:sp>
        <p:nvSpPr>
          <p:cNvPr id="52" name="txt-825"/>
          <p:cNvSpPr txBox="1"/>
          <p:nvPr/>
        </p:nvSpPr>
        <p:spPr>
          <a:xfrm>
            <a:off x="9738360" y="5349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Kompresi gzip/brotli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bg-826"/>
          <p:cNvSpPr/>
          <p:nvPr/>
        </p:nvSpPr>
        <p:spPr>
          <a:xfrm>
            <a:off x="731520" y="2514600"/>
            <a:ext cx="1280160" cy="12801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con-8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834640"/>
            <a:ext cx="640080" cy="640080"/>
          </a:xfrm>
          <a:prstGeom prst="rect">
            <a:avLst/>
          </a:prstGeom>
        </p:spPr>
      </p:pic>
      <p:sp>
        <p:nvSpPr>
          <p:cNvPr id="4" name="sec-num-828"/>
          <p:cNvSpPr txBox="1"/>
          <p:nvPr/>
        </p:nvSpPr>
        <p:spPr>
          <a:xfrm>
            <a:off x="23774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BAGIAN 10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377440" y="25146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Latihan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2377440" y="36118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Studi kasus proyek akhir dan kuis pemahaman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Studi kasus: API Perpustakaan Mini</a:t>
            </a:r>
            <a:endParaRPr lang="en-US" sz="3200" dirty="0"/>
          </a:p>
        </p:txBody>
      </p:sp>
      <p:graphicFrame>
        <p:nvGraphicFramePr>
          <p:cNvPr id="54" name="table-8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108960"/>
                <a:gridCol w="17830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Metode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Endpoint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Akses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/auth/register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/api/books?q=&amp;page=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PATCH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/api/books/:id/cover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Admin (upload)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/api/loans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 login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/api/loans/me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 login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xt-830"/>
          <p:cNvSpPr txBox="1"/>
          <p:nvPr/>
        </p:nvSpPr>
        <p:spPr>
          <a:xfrm>
            <a:off x="69494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Kriteria selesai</a:t>
            </a:r>
            <a:endParaRPr lang="en-US" sz="1800" dirty="0"/>
          </a:p>
        </p:txBody>
      </p:sp>
      <p:sp>
        <p:nvSpPr>
          <p:cNvPr id="5" name="bullets-831"/>
          <p:cNvSpPr txBox="1"/>
          <p:nvPr/>
        </p:nvSpPr>
        <p:spPr>
          <a:xfrm>
            <a:off x="6949440" y="1874520"/>
            <a:ext cx="4709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Struktur routes → controllers → services → models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Database: MongoDB (Mongoose) atau PostgreSQL (Prisma)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Login JWT + role admin/user dengan authorize()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Validasi semua body dengan zod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Upload sampul buku via multer (maks 2MB)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Pagination &amp; pencarian pada daftar buku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Error handler terpusat + respons 404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Minimal 5 test Supertest; jalan via Docker Compose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Kuis pemahaman</a:t>
            </a:r>
            <a:endParaRPr lang="en-US" sz="3200" dirty="0"/>
          </a:p>
        </p:txBody>
      </p:sp>
      <p:sp>
        <p:nvSpPr>
          <p:cNvPr id="3" name="card-832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-83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8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xt-835"/>
          <p:cNvSpPr txBox="1"/>
          <p:nvPr/>
        </p:nvSpPr>
        <p:spPr>
          <a:xfrm>
            <a:off x="169164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1</a:t>
            </a:r>
            <a:endParaRPr lang="en-US" sz="1400" dirty="0"/>
          </a:p>
        </p:txBody>
      </p:sp>
      <p:sp>
        <p:nvSpPr>
          <p:cNvPr id="7" name="txt-836"/>
          <p:cNvSpPr txBox="1"/>
          <p:nvPr/>
        </p:nvSpPr>
        <p:spPr>
          <a:xfrm>
            <a:off x="1691640" y="1892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 Express 5, apa yang terjadi bila handler async melempar error?</a:t>
            </a:r>
            <a:endParaRPr lang="en-US" sz="1500" dirty="0"/>
          </a:p>
        </p:txBody>
      </p:sp>
      <p:sp>
        <p:nvSpPr>
          <p:cNvPr id="8" name="card-837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-838"/>
          <p:cNvSpPr/>
          <p:nvPr/>
        </p:nvSpPr>
        <p:spPr>
          <a:xfrm>
            <a:off x="644652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8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943100"/>
            <a:ext cx="320040" cy="320040"/>
          </a:xfrm>
          <a:prstGeom prst="rect">
            <a:avLst/>
          </a:prstGeom>
        </p:spPr>
      </p:pic>
      <p:sp>
        <p:nvSpPr>
          <p:cNvPr id="11" name="txt-840"/>
          <p:cNvSpPr txBox="1"/>
          <p:nvPr/>
        </p:nvSpPr>
        <p:spPr>
          <a:xfrm>
            <a:off x="7315200" y="1600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2</a:t>
            </a:r>
            <a:endParaRPr lang="en-US" sz="1400" dirty="0"/>
          </a:p>
        </p:txBody>
      </p:sp>
      <p:sp>
        <p:nvSpPr>
          <p:cNvPr id="12" name="txt-841"/>
          <p:cNvSpPr txBox="1"/>
          <p:nvPr/>
        </p:nvSpPr>
        <p:spPr>
          <a:xfrm>
            <a:off x="7315200" y="18928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Bagaimana menulis parameter :id yang opsional pada sintaks path v5?</a:t>
            </a:r>
            <a:endParaRPr lang="en-US" sz="1500" dirty="0"/>
          </a:p>
        </p:txBody>
      </p:sp>
      <p:sp>
        <p:nvSpPr>
          <p:cNvPr id="13" name="card-842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-843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8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497580"/>
            <a:ext cx="320040" cy="320040"/>
          </a:xfrm>
          <a:prstGeom prst="rect">
            <a:avLst/>
          </a:prstGeom>
        </p:spPr>
      </p:pic>
      <p:sp>
        <p:nvSpPr>
          <p:cNvPr id="16" name="txt-845"/>
          <p:cNvSpPr txBox="1"/>
          <p:nvPr/>
        </p:nvSpPr>
        <p:spPr>
          <a:xfrm>
            <a:off x="169164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3</a:t>
            </a:r>
            <a:endParaRPr lang="en-US" sz="1400" dirty="0"/>
          </a:p>
        </p:txBody>
      </p:sp>
      <p:sp>
        <p:nvSpPr>
          <p:cNvPr id="17" name="txt-846"/>
          <p:cNvSpPr txBox="1"/>
          <p:nvPr/>
        </p:nvSpPr>
        <p:spPr>
          <a:xfrm>
            <a:off x="1691640" y="34472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Mengapa error handler memiliki 4 argumen dan didaftarkan paling akhir?</a:t>
            </a:r>
            <a:endParaRPr lang="en-US" sz="1500" dirty="0"/>
          </a:p>
        </p:txBody>
      </p:sp>
      <p:sp>
        <p:nvSpPr>
          <p:cNvPr id="18" name="card-847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-848"/>
          <p:cNvSpPr/>
          <p:nvPr/>
        </p:nvSpPr>
        <p:spPr>
          <a:xfrm>
            <a:off x="6446520" y="33375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-84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3497580"/>
            <a:ext cx="320040" cy="320040"/>
          </a:xfrm>
          <a:prstGeom prst="rect">
            <a:avLst/>
          </a:prstGeom>
        </p:spPr>
      </p:pic>
      <p:sp>
        <p:nvSpPr>
          <p:cNvPr id="21" name="txt-850"/>
          <p:cNvSpPr txBox="1"/>
          <p:nvPr/>
        </p:nvSpPr>
        <p:spPr>
          <a:xfrm>
            <a:off x="731520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4</a:t>
            </a:r>
            <a:endParaRPr lang="en-US" sz="1400" dirty="0"/>
          </a:p>
        </p:txBody>
      </p:sp>
      <p:sp>
        <p:nvSpPr>
          <p:cNvPr id="22" name="txt-851"/>
          <p:cNvSpPr txBox="1"/>
          <p:nvPr/>
        </p:nvSpPr>
        <p:spPr>
          <a:xfrm>
            <a:off x="7315200" y="34472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Opsi cookie apa yang mencegah token dibaca oleh JavaScript di browser?</a:t>
            </a:r>
            <a:endParaRPr lang="en-US" sz="1500" dirty="0"/>
          </a:p>
        </p:txBody>
      </p:sp>
      <p:sp>
        <p:nvSpPr>
          <p:cNvPr id="23" name="card-852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853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icon-85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052060"/>
            <a:ext cx="320040" cy="320040"/>
          </a:xfrm>
          <a:prstGeom prst="rect">
            <a:avLst/>
          </a:prstGeom>
        </p:spPr>
      </p:pic>
      <p:sp>
        <p:nvSpPr>
          <p:cNvPr id="26" name="txt-855"/>
          <p:cNvSpPr txBox="1"/>
          <p:nvPr/>
        </p:nvSpPr>
        <p:spPr>
          <a:xfrm>
            <a:off x="1691640" y="4709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5</a:t>
            </a:r>
            <a:endParaRPr lang="en-US" sz="1400" dirty="0"/>
          </a:p>
        </p:txBody>
      </p:sp>
      <p:sp>
        <p:nvSpPr>
          <p:cNvPr id="27" name="txt-856"/>
          <p:cNvSpPr txBox="1"/>
          <p:nvPr/>
        </p:nvSpPr>
        <p:spPr>
          <a:xfrm>
            <a:off x="1691640" y="50017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Status code apa yang tepat setelah berhasil membuat resource baru?</a:t>
            </a:r>
            <a:endParaRPr lang="en-US" sz="1500" dirty="0"/>
          </a:p>
        </p:txBody>
      </p:sp>
      <p:sp>
        <p:nvSpPr>
          <p:cNvPr id="28" name="card-857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-bg-858"/>
          <p:cNvSpPr/>
          <p:nvPr/>
        </p:nvSpPr>
        <p:spPr>
          <a:xfrm>
            <a:off x="6446520" y="4892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on-85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5052060"/>
            <a:ext cx="320040" cy="320040"/>
          </a:xfrm>
          <a:prstGeom prst="rect">
            <a:avLst/>
          </a:prstGeom>
        </p:spPr>
      </p:pic>
      <p:sp>
        <p:nvSpPr>
          <p:cNvPr id="31" name="txt-860"/>
          <p:cNvSpPr txBox="1"/>
          <p:nvPr/>
        </p:nvSpPr>
        <p:spPr>
          <a:xfrm>
            <a:off x="7315200" y="4709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Soal 6</a:t>
            </a:r>
            <a:endParaRPr lang="en-US" sz="1400" dirty="0"/>
          </a:p>
        </p:txBody>
      </p:sp>
      <p:sp>
        <p:nvSpPr>
          <p:cNvPr id="32" name="txt-861"/>
          <p:cNvSpPr txBox="1"/>
          <p:nvPr/>
        </p:nvSpPr>
        <p:spPr>
          <a:xfrm>
            <a:off x="7315200" y="50017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Apa beda status 401 dan 403?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Kunci jawaban</a:t>
            </a:r>
            <a:endParaRPr lang="en-US" sz="3200" dirty="0"/>
          </a:p>
        </p:txBody>
      </p:sp>
      <p:sp>
        <p:nvSpPr>
          <p:cNvPr id="3" name="card-862"/>
          <p:cNvSpPr/>
          <p:nvPr/>
        </p:nvSpPr>
        <p:spPr>
          <a:xfrm>
            <a:off x="54864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xt-863"/>
          <p:cNvSpPr txBox="1"/>
          <p:nvPr/>
        </p:nvSpPr>
        <p:spPr>
          <a:xfrm>
            <a:off x="82296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xt-864"/>
          <p:cNvSpPr txBox="1"/>
          <p:nvPr/>
        </p:nvSpPr>
        <p:spPr>
          <a:xfrm>
            <a:off x="160020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Diteruskan otomatis ke error handler</a:t>
            </a:r>
            <a:endParaRPr lang="en-US" sz="1500" dirty="0"/>
          </a:p>
        </p:txBody>
      </p:sp>
      <p:sp>
        <p:nvSpPr>
          <p:cNvPr id="6" name="txt-865"/>
          <p:cNvSpPr txBox="1"/>
          <p:nvPr/>
        </p:nvSpPr>
        <p:spPr>
          <a:xfrm>
            <a:off x="160020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tidak perlu try/catch maupun next(err) manual.</a:t>
            </a:r>
            <a:endParaRPr lang="en-US" sz="1400" dirty="0"/>
          </a:p>
        </p:txBody>
      </p:sp>
      <p:sp>
        <p:nvSpPr>
          <p:cNvPr id="7" name="card-866"/>
          <p:cNvSpPr/>
          <p:nvPr/>
        </p:nvSpPr>
        <p:spPr>
          <a:xfrm>
            <a:off x="6172200" y="141732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xt-867"/>
          <p:cNvSpPr txBox="1"/>
          <p:nvPr/>
        </p:nvSpPr>
        <p:spPr>
          <a:xfrm>
            <a:off x="6446520" y="1737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txt-868"/>
          <p:cNvSpPr txBox="1"/>
          <p:nvPr/>
        </p:nvSpPr>
        <p:spPr>
          <a:xfrm>
            <a:off x="722376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/users{/:id}</a:t>
            </a:r>
            <a:endParaRPr lang="en-US" sz="1500" dirty="0"/>
          </a:p>
        </p:txBody>
      </p:sp>
      <p:sp>
        <p:nvSpPr>
          <p:cNvPr id="10" name="txt-869"/>
          <p:cNvSpPr txBox="1"/>
          <p:nvPr/>
        </p:nvSpPr>
        <p:spPr>
          <a:xfrm>
            <a:off x="722376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sintaks /:id? dari v4 tidak lagi didukung.</a:t>
            </a:r>
            <a:endParaRPr lang="en-US" sz="1400" dirty="0"/>
          </a:p>
        </p:txBody>
      </p:sp>
      <p:sp>
        <p:nvSpPr>
          <p:cNvPr id="11" name="card-870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xt-871"/>
          <p:cNvSpPr txBox="1"/>
          <p:nvPr/>
        </p:nvSpPr>
        <p:spPr>
          <a:xfrm>
            <a:off x="82296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xt-872"/>
          <p:cNvSpPr txBox="1"/>
          <p:nvPr/>
        </p:nvSpPr>
        <p:spPr>
          <a:xfrm>
            <a:off x="160020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Express mengenali error handler dari 4 argumennya</a:t>
            </a:r>
            <a:endParaRPr lang="en-US" sz="1500" dirty="0"/>
          </a:p>
        </p:txBody>
      </p:sp>
      <p:sp>
        <p:nvSpPr>
          <p:cNvPr id="14" name="txt-873"/>
          <p:cNvSpPr txBox="1"/>
          <p:nvPr/>
        </p:nvSpPr>
        <p:spPr>
          <a:xfrm>
            <a:off x="160020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dan ia harus menangkap error dari semua route di atasnya.</a:t>
            </a:r>
            <a:endParaRPr lang="en-US" sz="1400" dirty="0"/>
          </a:p>
        </p:txBody>
      </p:sp>
      <p:sp>
        <p:nvSpPr>
          <p:cNvPr id="15" name="card-874"/>
          <p:cNvSpPr/>
          <p:nvPr/>
        </p:nvSpPr>
        <p:spPr>
          <a:xfrm>
            <a:off x="617220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xt-875"/>
          <p:cNvSpPr txBox="1"/>
          <p:nvPr/>
        </p:nvSpPr>
        <p:spPr>
          <a:xfrm>
            <a:off x="6446520" y="32918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</a:t>
            </a:r>
            <a:endParaRPr lang="en-US" sz="3600" dirty="0"/>
          </a:p>
        </p:txBody>
      </p:sp>
      <p:sp>
        <p:nvSpPr>
          <p:cNvPr id="17" name="txt-876"/>
          <p:cNvSpPr txBox="1"/>
          <p:nvPr/>
        </p:nvSpPr>
        <p:spPr>
          <a:xfrm>
            <a:off x="722376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httpOnly: true</a:t>
            </a:r>
            <a:endParaRPr lang="en-US" sz="1500" dirty="0"/>
          </a:p>
        </p:txBody>
      </p:sp>
      <p:sp>
        <p:nvSpPr>
          <p:cNvPr id="18" name="txt-877"/>
          <p:cNvSpPr txBox="1"/>
          <p:nvPr/>
        </p:nvSpPr>
        <p:spPr>
          <a:xfrm>
            <a:off x="7223760" y="3657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ditambah secure dan sameSite untuk keamanan lebih.</a:t>
            </a:r>
            <a:endParaRPr lang="en-US" sz="1400" dirty="0"/>
          </a:p>
        </p:txBody>
      </p:sp>
      <p:sp>
        <p:nvSpPr>
          <p:cNvPr id="19" name="card-878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xt-879"/>
          <p:cNvSpPr txBox="1"/>
          <p:nvPr/>
        </p:nvSpPr>
        <p:spPr>
          <a:xfrm>
            <a:off x="822960" y="4846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5</a:t>
            </a:r>
            <a:endParaRPr lang="en-US" sz="3600" dirty="0"/>
          </a:p>
        </p:txBody>
      </p:sp>
      <p:sp>
        <p:nvSpPr>
          <p:cNvPr id="21" name="txt-880"/>
          <p:cNvSpPr txBox="1"/>
          <p:nvPr/>
        </p:nvSpPr>
        <p:spPr>
          <a:xfrm>
            <a:off x="160020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201 Created</a:t>
            </a:r>
            <a:endParaRPr lang="en-US" sz="1500" dirty="0"/>
          </a:p>
        </p:txBody>
      </p:sp>
      <p:sp>
        <p:nvSpPr>
          <p:cNvPr id="22" name="txt-881"/>
          <p:cNvSpPr txBox="1"/>
          <p:nvPr/>
        </p:nvSpPr>
        <p:spPr>
          <a:xfrm>
            <a:off x="1600200" y="5212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biasanya disertai data resource yang baru dibuat.</a:t>
            </a:r>
            <a:endParaRPr lang="en-US" sz="1400" dirty="0"/>
          </a:p>
        </p:txBody>
      </p:sp>
      <p:sp>
        <p:nvSpPr>
          <p:cNvPr id="23" name="card-882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xt-883"/>
          <p:cNvSpPr txBox="1"/>
          <p:nvPr/>
        </p:nvSpPr>
        <p:spPr>
          <a:xfrm>
            <a:off x="6446520" y="4846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6</a:t>
            </a:r>
            <a:endParaRPr lang="en-US" sz="3600" dirty="0"/>
          </a:p>
        </p:txBody>
      </p:sp>
      <p:sp>
        <p:nvSpPr>
          <p:cNvPr id="25" name="txt-884"/>
          <p:cNvSpPr txBox="1"/>
          <p:nvPr/>
        </p:nvSpPr>
        <p:spPr>
          <a:xfrm>
            <a:off x="722376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401 = belum/gagal autentikasi</a:t>
            </a:r>
            <a:endParaRPr lang="en-US" sz="1500" dirty="0"/>
          </a:p>
        </p:txBody>
      </p:sp>
      <p:sp>
        <p:nvSpPr>
          <p:cNvPr id="26" name="txt-885"/>
          <p:cNvSpPr txBox="1"/>
          <p:nvPr/>
        </p:nvSpPr>
        <p:spPr>
          <a:xfrm>
            <a:off x="7223760" y="5212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403 = sudah login tetapi tidak punya hak akses.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Ringkasan &amp; langkah berikutnya</a:t>
            </a:r>
            <a:endParaRPr lang="en-US" sz="4000" dirty="0"/>
          </a:p>
        </p:txBody>
      </p:sp>
      <p:pic>
        <p:nvPicPr>
          <p:cNvPr id="3" name="logo-express-end" descr="/tmp/claude-0/-home-claude/b57cddaf-c2cf-5fb2-8d07-1749d644b2b9/scratchpad/logo/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02920"/>
            <a:ext cx="1005840" cy="1005840"/>
          </a:xfrm>
          <a:prstGeom prst="rect">
            <a:avLst/>
          </a:prstGeom>
        </p:spPr>
      </p:pic>
      <p:sp>
        <p:nvSpPr>
          <p:cNvPr id="4" name="icon-bg-886"/>
          <p:cNvSpPr/>
          <p:nvPr/>
        </p:nvSpPr>
        <p:spPr>
          <a:xfrm>
            <a:off x="731520" y="178308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icon-8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1931670"/>
            <a:ext cx="297180" cy="297180"/>
          </a:xfrm>
          <a:prstGeom prst="rect">
            <a:avLst/>
          </a:prstGeom>
        </p:spPr>
      </p:pic>
      <p:sp>
        <p:nvSpPr>
          <p:cNvPr id="6" name="sum-h-888"/>
          <p:cNvSpPr txBox="1"/>
          <p:nvPr/>
        </p:nvSpPr>
        <p:spPr>
          <a:xfrm>
            <a:off x="1554480" y="1764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Routing &amp; middleware</a:t>
            </a:r>
            <a:endParaRPr lang="en-US" sz="1800" dirty="0"/>
          </a:p>
        </p:txBody>
      </p:sp>
      <p:sp>
        <p:nvSpPr>
          <p:cNvPr id="7" name="sum-b-889"/>
          <p:cNvSpPr txBox="1"/>
          <p:nvPr/>
        </p:nvSpPr>
        <p:spPr>
          <a:xfrm>
            <a:off x="1554480" y="20848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</a:rPr>
              <a:t>Sintaks path v5, Router modular, rantai next()</a:t>
            </a:r>
            <a:endParaRPr lang="en-US" sz="1500" dirty="0"/>
          </a:p>
        </p:txBody>
      </p:sp>
      <p:sp>
        <p:nvSpPr>
          <p:cNvPr id="8" name="icon-bg-890"/>
          <p:cNvSpPr/>
          <p:nvPr/>
        </p:nvSpPr>
        <p:spPr>
          <a:xfrm>
            <a:off x="731520" y="269748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9" name="icon-89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846070"/>
            <a:ext cx="297180" cy="297180"/>
          </a:xfrm>
          <a:prstGeom prst="rect">
            <a:avLst/>
          </a:prstGeom>
        </p:spPr>
      </p:pic>
      <p:sp>
        <p:nvSpPr>
          <p:cNvPr id="10" name="sum-h-892"/>
          <p:cNvSpPr txBox="1"/>
          <p:nvPr/>
        </p:nvSpPr>
        <p:spPr>
          <a:xfrm>
            <a:off x="155448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Error async</a:t>
            </a:r>
            <a:endParaRPr lang="en-US" sz="1800" dirty="0"/>
          </a:p>
        </p:txBody>
      </p:sp>
      <p:sp>
        <p:nvSpPr>
          <p:cNvPr id="11" name="sum-b-893"/>
          <p:cNvSpPr txBox="1"/>
          <p:nvPr/>
        </p:nvSpPr>
        <p:spPr>
          <a:xfrm>
            <a:off x="1554480" y="2999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</a:rPr>
              <a:t>Throw/reject langsung ditangani di v5</a:t>
            </a:r>
            <a:endParaRPr lang="en-US" sz="1500" dirty="0"/>
          </a:p>
        </p:txBody>
      </p:sp>
      <p:sp>
        <p:nvSpPr>
          <p:cNvPr id="12" name="icon-bg-894"/>
          <p:cNvSpPr/>
          <p:nvPr/>
        </p:nvSpPr>
        <p:spPr>
          <a:xfrm>
            <a:off x="731520" y="361188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icon-89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3760470"/>
            <a:ext cx="297180" cy="297180"/>
          </a:xfrm>
          <a:prstGeom prst="rect">
            <a:avLst/>
          </a:prstGeom>
        </p:spPr>
      </p:pic>
      <p:sp>
        <p:nvSpPr>
          <p:cNvPr id="14" name="sum-h-896"/>
          <p:cNvSpPr txBox="1"/>
          <p:nvPr/>
        </p:nvSpPr>
        <p:spPr>
          <a:xfrm>
            <a:off x="1554480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&amp; auth</a:t>
            </a:r>
            <a:endParaRPr lang="en-US" sz="1800" dirty="0"/>
          </a:p>
        </p:txBody>
      </p:sp>
      <p:sp>
        <p:nvSpPr>
          <p:cNvPr id="15" name="sum-b-897"/>
          <p:cNvSpPr txBox="1"/>
          <p:nvPr/>
        </p:nvSpPr>
        <p:spPr>
          <a:xfrm>
            <a:off x="1554480" y="3913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</a:rPr>
              <a:t>Mongoose / Prisma 7, bcrypt, JWT, role</a:t>
            </a:r>
            <a:endParaRPr lang="en-US" sz="1500" dirty="0"/>
          </a:p>
        </p:txBody>
      </p:sp>
      <p:sp>
        <p:nvSpPr>
          <p:cNvPr id="16" name="icon-bg-898"/>
          <p:cNvSpPr/>
          <p:nvPr/>
        </p:nvSpPr>
        <p:spPr>
          <a:xfrm>
            <a:off x="731520" y="452628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icon-89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674870"/>
            <a:ext cx="297180" cy="297180"/>
          </a:xfrm>
          <a:prstGeom prst="rect">
            <a:avLst/>
          </a:prstGeom>
        </p:spPr>
      </p:pic>
      <p:sp>
        <p:nvSpPr>
          <p:cNvPr id="18" name="sum-h-900"/>
          <p:cNvSpPr txBox="1"/>
          <p:nvPr/>
        </p:nvSpPr>
        <p:spPr>
          <a:xfrm>
            <a:off x="1554480" y="4507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Produksi</a:t>
            </a:r>
            <a:endParaRPr lang="en-US" sz="1800" dirty="0"/>
          </a:p>
        </p:txBody>
      </p:sp>
      <p:sp>
        <p:nvSpPr>
          <p:cNvPr id="19" name="sum-b-901"/>
          <p:cNvSpPr txBox="1"/>
          <p:nvPr/>
        </p:nvSpPr>
        <p:spPr>
          <a:xfrm>
            <a:off x="1554480" y="4828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A3"/>
                </a:solidFill>
              </a:rPr>
              <a:t>helmet, cors, rate limit, test, Docker</a:t>
            </a:r>
            <a:endParaRPr lang="en-US" sz="1500" dirty="0"/>
          </a:p>
        </p:txBody>
      </p:sp>
      <p:sp>
        <p:nvSpPr>
          <p:cNvPr id="20" name="next-card"/>
          <p:cNvSpPr/>
          <p:nvPr/>
        </p:nvSpPr>
        <p:spPr>
          <a:xfrm>
            <a:off x="6675120" y="178308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next-h"/>
          <p:cNvSpPr txBox="1"/>
          <p:nvPr/>
        </p:nvSpPr>
        <p:spPr>
          <a:xfrm>
            <a:off x="694944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Eksplorasi selanjutnya</a:t>
            </a:r>
            <a:endParaRPr lang="en-US" sz="1800" dirty="0"/>
          </a:p>
        </p:txBody>
      </p:sp>
      <p:sp>
        <p:nvSpPr>
          <p:cNvPr id="22" name="next-list"/>
          <p:cNvSpPr txBox="1"/>
          <p:nvPr/>
        </p:nvSpPr>
        <p:spPr>
          <a:xfrm>
            <a:off x="6949440" y="25146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5E5"/>
                </a:solidFill>
              </a:rPr>
              <a:t>Dokumentasi API dengan OpenAPI/Swagger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5E5"/>
                </a:solidFill>
              </a:rPr>
              <a:t>Realtime dengan WebSocket (Socket.IO)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5E5"/>
                </a:solidFill>
              </a:rPr>
              <a:t>Caching dengan Redis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5E5E5"/>
                </a:solidFill>
              </a:rPr>
              <a:t>CI/CD: test &amp; deploy otomatis</a:t>
            </a:r>
            <a:endParaRPr lang="en-US" sz="1600" dirty="0"/>
          </a:p>
        </p:txBody>
      </p:sp>
      <p:sp>
        <p:nvSpPr>
          <p:cNvPr id="23" name="docs-link">
            <a:hlinkClick r:id="rId6" tooltip=""/>
          </p:cNvPr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FFFFF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Dokumentasi resmi: expressjs.com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press Mono">
  <a:themeElements>
    <a:clrScheme name="Express Mono">
      <a:dk1>
        <a:srgbClr val="0A0A0A"/>
      </a:dk1>
      <a:lt1>
        <a:srgbClr val="FFFFFF"/>
      </a:lt1>
      <a:dk2>
        <a:srgbClr val="525252"/>
      </a:dk2>
      <a:lt2>
        <a:srgbClr val="F4F4F4"/>
      </a:lt2>
      <a:accent1>
        <a:srgbClr val="0A0A0A"/>
      </a:accent1>
      <a:accent2>
        <a:srgbClr val="262626"/>
      </a:accent2>
      <a:accent3>
        <a:srgbClr val="404040"/>
      </a:accent3>
      <a:accent4>
        <a:srgbClr val="737373"/>
      </a:accent4>
      <a:accent5>
        <a:srgbClr val="A3A3A3"/>
      </a:accent5>
      <a:accent6>
        <a:srgbClr val="D4D4D4"/>
      </a:accent6>
      <a:hlink>
        <a:srgbClr val="0A0A0A"/>
      </a:hlink>
      <a:folHlink>
        <a:srgbClr val="525252"/>
      </a:folHlink>
    </a:clrScheme>
    <a:fontScheme name="Express Mo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Express.js 5 — Materi Lengkap</dc:title>
  <dc:subject>PptxGenJS Presentation</dc:subject>
  <dc:creator>Materi Express.js</dc:creator>
  <cp:lastModifiedBy>Materi Express.js</cp:lastModifiedBy>
  <cp:revision>1</cp:revision>
  <dcterms:created xsi:type="dcterms:W3CDTF">2026-10-10T02:59:19Z</dcterms:created>
  <dcterms:modified xsi:type="dcterms:W3CDTF">2026-10-10T02:59:19Z</dcterms:modified>
</cp:coreProperties>
</file>