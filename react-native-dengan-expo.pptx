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pembuka. Perkenalkan tujuan materi: peserta mampu memahami konsep React Native, menggunakan Expo untuk membangun aplikasi, dan merilisnya ke Play Store maupun App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alur materi: dimulai dari konsep, lalu praktik membuat proyek, dasar pemrograman, navigasi, fitur perangkat, hingga proses rilis aplikasi ke toko aplikasi.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pertama membahas fondasi konsep. Peserta perlu paham dulu 'apa' dan 'mengapa' sebelum masuk ke 'bagaimana'.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perbedaan React Native dengan aplikasi hybrid berbasis WebView: React Native memakai komponen antarmuka asli sistem operasi sehingga tampilan dan performanya mendekati aplikasi native.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Ingatkan bahwa 'satu basis kode' tidak berarti 100% kode sama. Biasanya 85-95% kode dapat dipakai bersama, sisanya penyesuaian khusus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Cukup jelaskan konsepnya secara garis besar. Poin penting: sejak versi 0.76 arsitektur baru menjadi bawaan, dan Expo SDK modern sudah mendukungnya.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Tidak ada teknologi yang unggul di semua aspek. Pilihan bergantung pada kebutuhan performa, ketersediaan tim, dan anggaran proyek.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Diskusikan bersama peserta: kapan sebaiknya memilih React Native, dan kapan lebih baik memakai pengembangan native murni.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ini memperkenalkan Expo sebagai platform pendamping React Native yang menghilangkan banyak kerumitan konfigurasi native.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sederhana: React Native adalah mesinnya, Expo adalah mobil lengkap dengan dasbor, AC, dan bengkel resminya.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Sebutkan bahwa seluruh perkakas ini gratis untuk dipakai; hanya EAS Build yang memiliki kuota gratis terbatas dengan opsi berbayar.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Kesalahan umum pemula: memasang pustaka native lalu bingung karena error di Expo Go. Jelaskan bahwa solusinya adalah membuat development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memilih Expo tidak berarti terkunci. Perintah npx expo prebuild dapat menghasilkan folder android dan ios bila suatu saat dibutuhkan kendali penuh.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praktik dimulai. Pastikan peserta sudah memasang Node.js sebelum sesi agar waktu tidak habis untuk instalasi.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Android Studio dan Xcode bersifat opsional karena pengujian bisa dilakukan lewat Expo Go di ponsel, dan build produksi dapat dijalankan di cloud melalui 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Praktikkan langsung di depan peserta. Waktu unduhan template sekitar satu sampai dua menit tergantung koneksi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aturan Expo Router: nama berkas di dalam folder app menentukan alamat layar. Berkas index.tsx selalu menjadi halaman awal.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Ajak peserta mengubah satu baris teks lalu menyimpannya, agar mereka merasakan sendiri kecepatan Fast Refresh.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ini adalah inti keterampilan. Sediakan waktu lebih banyak dan perbanyak praktik langsung.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bahwa JSX pada akhirnya dikompilasi menjadi pemanggilan fungsi biasa. Kurung kurawal dipakai untuk menyisipkan nilai JavaScript ke dalam JSX.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Analogi: props seperti parameter fungsi atau seperti mengisi formulir. Komponen anak hanya membaca, tidak boleh mengubah isi formulir tersebut.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Bedakan props dan state: props datang dari luar dan bersifat hanya-baca, sedangkan state dimiliki serta dikelola oleh komponen itu sendiri.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Sebutkan bahwa daftar lengkap komponen dan propertinya tersedia di dokumentasi resmi reactnative.dev — peserta tidak perlu menghafal semuanya.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StyleSheet.create memberi keuntungan validasi dan optimasi. Untuk proyek besar, pertimbangkan menyimpan warna serta ukuran di satu berkas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Latihan singkat: minta peserta membuat baris berisi avatar di kiri dan tombol di kanan menggunakan flexDirection row serta justifyContent space-between.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Ingatkan bahwa aplikasi akan dipakai pada layar kecil sampai tablet. Hindari menuliskan ukuran tetap dalam piksel untuk lebar elemen utama.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 kustom dan ikon konsisten adalah pembeda terbesar antara aplikasi yang terlihat amatir dan profesional, meski logikanya sama persis.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Reanimated dan Gesture Handler sudah termasuk dalam template Expo. Tekankan bahwa animasi berbasis Animated API lama berjalan di thread JS sehingga lebih mudah tersendat.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Navigasi adalah kebutuhan hampir semua aplikasi. Expo Router dibangun di atas React Navigation, jadi konsepnya tetap 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Bandingkan dengan cara lama React Navigation yang mengharuskan pendaftaran layar secara manual. Expo Router memangkas banyak kode berulang.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bahwa Link cocok untuk tautan biasa, sedangkan useRouter dipakai ketika navigasi terjadi setelah proses tertentu, misalnya sesudah login berhasil.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ini menunjukkan kekuatan Expo: fitur perangkat yang biasanya rumit menjadi cukup beberapa baris kode.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Setiap modul yang mengakses data sensitif memerlukan izin. Izin dideklarasikan di app.json dan diminta ke pengguna saat aplikasi berjalan.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Ingatkan pentingnya menampilkan indikator memuat dan pesan kesalahan yang ramah, bukan layar kosong ketika jaringan bermasalah.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Sebutkan juga bahwa data server sebaiknya dikelola dengan TanStack Query, bukan disimpan manual di dalam state global.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perbedaan SecureStore dan AsyncStorage: AsyncStorage tidak terenkripsi sehingga tidak layak untuk token maupun data rahasia.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Pola ini disebut route guard. Peserta sering lupa menahan splash screen sehingga layar login sempat berkedip walau pengguna sebenarnya sudah masuk.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Beri tahu peserta bahwa notifikasi push memerlukan konfigurasi kredensial FCM untuk Android, dan EAS dapat mengurusnya secara otomatis saat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Tahap ini sering dianggap paling rumit pada React Native murni. Expo menyederhanakannya lewat berkas app.json dan layanan 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Berkas app.json adalah pengganti pengaturan native manual. Untuk konfigurasi dinamis, berkas ini bisa diganti menjadi app.config.js.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kesalahan keamanan paling sering: menaruh kunci API berbayar langsung di kode aplikasi mobile, lalu tagihan membengkak karena disalahgunakan.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bahwa prebuild bukan pintu satu arah yang menakutkan, tetapi selama bisa dihindari, alur terkelola membuat proses upgrade jauh lebih mudah.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Sebutkan bahwa EAS memiliki kuota build gratis setiap bulan. Antrean gratis lebih panjang, sedangkan paket berbayar memberi prioritas.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Manfaat terbesar OTA adalah perbaikan bug kritis bisa sampai ke pengguna dalam hitungan menit, bukan menunggu peninjauan toko aplikasi selama berhari-hari.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Pengenal paket seperti com.namaperusahaan.namaaplikasi tidak dapat diubah setelah aplikasi terbit, jadi tentukan sejak awal dengan hati-hati.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Ajarkan alur debugging yang runtut: baca pesan error, periksa berkas dan baris yang disebut, lalu uji hipotesis satu per satu.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Optimasi dini justru membuat kode sulit dibaca. Prioritaskan kejelasan kode, lalu optimalkan bagian yang terbukti bermasalah.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Dorong peserta menentukan satu ide aplikasi sederhana di awal, lalu mengembangkannya bertahap mengikuti materi setiap minggu.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ini menutup rasa penasaran peserta tentang apa yang belum dibahas, sekaligus memberi arah belajar mandiri setelah pelatihan selesai.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Ingatkan bahwa versi Expo SDK berganti beberapa kali setahun, sehingga dokumentasi resmi jauh lebih dapat dipercaya daripada tutorial lama.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mengajak peserta langsung membuat proyek pertama mereka hari ini juga, sekecil apa pun idenya.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image" Target="../media/image-4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image" Target="../media/image-4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image" Target="../media/image-4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6" Type="http://schemas.openxmlformats.org/officeDocument/2006/relationships/image" Target="../media/image-4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image" Target="../media/image-49-6.png"/><Relationship Id="rId7" Type="http://schemas.openxmlformats.org/officeDocument/2006/relationships/image" Target="../media/image-49-7.png"/><Relationship Id="rId8" Type="http://schemas.openxmlformats.org/officeDocument/2006/relationships/image" Target="../media/image-4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image" Target="../media/image-5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image" Target="../media/image-51-6.png"/><Relationship Id="rId7" Type="http://schemas.openxmlformats.org/officeDocument/2006/relationships/image" Target="../media/image-5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1B2C52">
              <a:alpha val="55000"/>
            </a:srgbClr>
          </a:solidFill>
          <a:ln w="12700">
            <a:solidFill>
              <a:srgbClr val="1B2C5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6C4CF1">
              <a:alpha val="18000"/>
            </a:srgbClr>
          </a:solidFill>
          <a:ln w="12700">
            <a:solidFill>
              <a:srgbClr val="6C4CF1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PEMBELAJARAN · PEMROGRAMAN MOBILE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52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dengan Expo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57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B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aplikasi Android, iOS, dan Web dari satu basis kode JavaScript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4160520" cy="566928"/>
          </a:xfrm>
          <a:prstGeom prst="roundRect">
            <a:avLst>
              <a:gd name="adj" fmla="val 48387"/>
            </a:avLst>
          </a:prstGeom>
          <a:solidFill>
            <a:srgbClr val="1B2C52"/>
          </a:solidFill>
          <a:ln w="12700">
            <a:solidFill>
              <a:srgbClr val="3A53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70916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lengkap: dari nol sampai rilis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783080"/>
            <a:ext cx="2286000" cy="2286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331720"/>
            <a:ext cx="1188720" cy="1188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464040" y="3429000"/>
            <a:ext cx="2286000" cy="2286000"/>
          </a:xfrm>
          <a:prstGeom prst="ellipse">
            <a:avLst/>
          </a:prstGeom>
          <a:solidFill>
            <a:srgbClr val="1B2C52"/>
          </a:solidFill>
          <a:ln w="19050">
            <a:solidFill>
              <a:srgbClr val="61DAF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3977640"/>
            <a:ext cx="1188720" cy="11887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8952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9235440" y="5806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Materi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1737360"/>
          </a:xfrm>
          <a:prstGeom prst="roundRect">
            <a:avLst>
              <a:gd name="adj" fmla="val 7368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29968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112264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204825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EB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7249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React Native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3108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Konsep, arsitektur, dan posisinya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1828800"/>
            <a:ext cx="2514600" cy="1737360"/>
          </a:xfrm>
          <a:prstGeom prst="roundRect">
            <a:avLst>
              <a:gd name="adj" fmla="val 7368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0168" y="2029968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11226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66360" y="204825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EB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630168" y="27249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Expo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630168" y="3108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SDK, Expo Go, Router, dan EAS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828800"/>
            <a:ext cx="2514600" cy="1737360"/>
          </a:xfrm>
          <a:prstGeom prst="roundRect">
            <a:avLst>
              <a:gd name="adj" fmla="val 7368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19088" y="2029968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2112264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955280" y="204825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EB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419088" y="27249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Proyek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419088" y="3108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Instalasi sampai aplikasi berjalan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006840" y="1828800"/>
            <a:ext cx="2514600" cy="1737360"/>
          </a:xfrm>
          <a:prstGeom prst="roundRect">
            <a:avLst>
              <a:gd name="adj" fmla="val 7368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08008" y="2029968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2112264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744200" y="204825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EB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9208008" y="27249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 Pemrograman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9208008" y="3108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JSX, state, styling, animasi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40080" y="3794760"/>
            <a:ext cx="2514600" cy="1737360"/>
          </a:xfrm>
          <a:prstGeom prst="roundRect">
            <a:avLst>
              <a:gd name="adj" fmla="val 7368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41248" y="3995928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078224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2377440" y="401421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EB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25"/>
          <p:cNvSpPr txBox="1"/>
          <p:nvPr/>
        </p:nvSpPr>
        <p:spPr>
          <a:xfrm>
            <a:off x="841248" y="46908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Navigasi Antar Layar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841248" y="5074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Router: Stack, Tabs, Drawer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3429000" y="3794760"/>
            <a:ext cx="2514600" cy="1737360"/>
          </a:xfrm>
          <a:prstGeom prst="roundRect">
            <a:avLst>
              <a:gd name="adj" fmla="val 7368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630168" y="3995928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2464" y="4078224"/>
            <a:ext cx="384048" cy="384048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5166360" y="401421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EB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38" name="Text 30"/>
          <p:cNvSpPr txBox="1"/>
          <p:nvPr/>
        </p:nvSpPr>
        <p:spPr>
          <a:xfrm>
            <a:off x="3630168" y="46908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Perangkat &amp; Data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3630168" y="5074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Kamera, API, login, notifikasi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6217920" y="3794760"/>
            <a:ext cx="2514600" cy="1737360"/>
          </a:xfrm>
          <a:prstGeom prst="roundRect">
            <a:avLst>
              <a:gd name="adj" fmla="val 7368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419088" y="3995928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1384" y="4078224"/>
            <a:ext cx="384048" cy="384048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7955280" y="401421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EB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44" name="Text 35"/>
          <p:cNvSpPr txBox="1"/>
          <p:nvPr/>
        </p:nvSpPr>
        <p:spPr>
          <a:xfrm>
            <a:off x="6419088" y="46908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&amp; Rilis</a:t>
            </a:r>
            <a:endParaRPr lang="en-US" sz="1400" dirty="0"/>
          </a:p>
        </p:txBody>
      </p:sp>
      <p:sp>
        <p:nvSpPr>
          <p:cNvPr id="45" name="Text 36"/>
          <p:cNvSpPr txBox="1"/>
          <p:nvPr/>
        </p:nvSpPr>
        <p:spPr>
          <a:xfrm>
            <a:off x="6419088" y="5074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app.json, EAS Build, dan Update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9006840" y="3794760"/>
            <a:ext cx="2514600" cy="1737360"/>
          </a:xfrm>
          <a:prstGeom prst="roundRect">
            <a:avLst>
              <a:gd name="adj" fmla="val 7368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9208008" y="3995928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304" y="4078224"/>
            <a:ext cx="384048" cy="384048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10744200" y="401421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EB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50" name="Text 40"/>
          <p:cNvSpPr txBox="1"/>
          <p:nvPr/>
        </p:nvSpPr>
        <p:spPr>
          <a:xfrm>
            <a:off x="9208008" y="46908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Terbaik &amp; Roadmap</a:t>
            </a:r>
            <a:endParaRPr lang="en-US" sz="1400" dirty="0"/>
          </a:p>
        </p:txBody>
      </p:sp>
      <p:sp>
        <p:nvSpPr>
          <p:cNvPr id="51" name="Text 41"/>
          <p:cNvSpPr txBox="1"/>
          <p:nvPr/>
        </p:nvSpPr>
        <p:spPr>
          <a:xfrm>
            <a:off x="9208008" y="5074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Optimasi, pengujian, langkah lanjut</a:t>
            </a:r>
            <a:endParaRPr lang="en-US" sz="1100" dirty="0"/>
          </a:p>
        </p:txBody>
      </p:sp>
      <p:sp>
        <p:nvSpPr>
          <p:cNvPr id="52" name="Text 42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1B2C52">
              <a:alpha val="55000"/>
            </a:srgbClr>
          </a:solidFill>
          <a:ln w="12700">
            <a:solidFill>
              <a:srgbClr val="1B2C5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6C4CF1">
              <a:alpha val="18000"/>
            </a:srgbClr>
          </a:solidFill>
          <a:ln w="12700">
            <a:solidFill>
              <a:srgbClr val="6C4CF1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Pengantar React Native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apa itu React Native, cara kerjanya di balik layar,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mengapa banyak perusahaan memakainya.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52560" y="2286000"/>
            <a:ext cx="2286000" cy="2286000"/>
          </a:xfrm>
          <a:prstGeom prst="ellipse">
            <a:avLst/>
          </a:prstGeom>
          <a:solidFill>
            <a:srgbClr val="1B2C52"/>
          </a:solidFill>
          <a:ln w="15875">
            <a:solidFill>
              <a:srgbClr val="61DAF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8346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React Native?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adalah framework open-source buatan Meta untuk membangun aplikasi mobile native menggunakan JavaScript/TypeScript dan pustaka React.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12064" cy="512064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90" y="2591410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53312" y="249631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Benar-benar native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353312" y="278892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React diterjemahkan menjadi widget asli Android (View) dan iOS (UIView), bukan halaman web.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447288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90" y="352409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53312" y="34290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kode, banyak platform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353312" y="372160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besar kode dipakai ulang di Android, iOS, dan web.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379976"/>
            <a:ext cx="512064" cy="512064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0" y="4456786"/>
            <a:ext cx="358445" cy="35844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53312" y="43616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Refresh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353312" y="465429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kode langsung terlihat di perangkat tanpa kompilasi ulang.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5312664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90" y="5389474"/>
            <a:ext cx="358445" cy="35844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53312" y="529437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Ekosistem besar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1353312" y="558698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Ribuan pustaka npm siap pakai serta komunitas yang aktif.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772400" y="1463040"/>
            <a:ext cx="3794760" cy="4617720"/>
          </a:xfrm>
          <a:prstGeom prst="roundRect">
            <a:avLst>
              <a:gd name="adj" fmla="val 3373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052560" y="1828800"/>
            <a:ext cx="1234440" cy="12344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5168" y="2121408"/>
            <a:ext cx="649224" cy="64922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955280" y="3200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7955280" y="352958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Rilis pertama 2015 oleh Facebook (Meta)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7955280" y="41148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OLEH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7955280" y="443484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  ·   Facebook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7955280" y="481888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  ·   Shopify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7955280" y="5202936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Office   ·   Coinbase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Basis Kode, Banyak Platform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React yang sama dijalankan oleh JavaScript engine di perangkat, lalu diterjemahkan menjadi komponen antarmuka asli tiap platform.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017520" cy="2926080"/>
          </a:xfrm>
          <a:prstGeom prst="roundRect">
            <a:avLst>
              <a:gd name="adj" fmla="val 4375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5146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4015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Anda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6732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/ TypeScript</a:t>
            </a:r>
            <a:endParaRPr lang="en-US" sz="12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React + JSX</a:t>
            </a:r>
            <a:endParaRPr lang="en-US" sz="12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proyek saja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858768" y="3429000"/>
            <a:ext cx="777240" cy="411480"/>
          </a:xfrm>
          <a:prstGeom prst="rightArrow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03320" y="39502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Hermes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92040" y="2194560"/>
            <a:ext cx="2240280" cy="2926080"/>
          </a:xfrm>
          <a:prstGeom prst="roundRect">
            <a:avLst>
              <a:gd name="adj" fmla="val 5714"/>
            </a:avLst>
          </a:prstGeom>
          <a:solidFill>
            <a:srgbClr val="E6F5EC"/>
          </a:solidFill>
          <a:ln w="12700">
            <a:solidFill>
              <a:srgbClr val="E6F5E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2542032"/>
            <a:ext cx="566928" cy="56692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983480" y="32735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983480" y="363931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/ AAB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Store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360920" y="2194560"/>
            <a:ext cx="2240280" cy="2926080"/>
          </a:xfrm>
          <a:prstGeom prst="roundRect">
            <a:avLst>
              <a:gd name="adj" fmla="val 5714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2542032"/>
            <a:ext cx="566928" cy="56692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452360" y="32735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52360" y="363931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829800" y="2194560"/>
            <a:ext cx="2240280" cy="2926080"/>
          </a:xfrm>
          <a:prstGeom prst="roundRect">
            <a:avLst>
              <a:gd name="adj" fmla="val 5714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1048" y="2542032"/>
            <a:ext cx="566928" cy="56692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921240" y="32735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921240" y="363931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40080" y="5394960"/>
            <a:ext cx="10881360" cy="685800"/>
          </a:xfrm>
          <a:prstGeom prst="roundRect">
            <a:avLst>
              <a:gd name="adj" fmla="val 1866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41248" y="5486400"/>
            <a:ext cx="502920" cy="5029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686" y="5561838"/>
            <a:ext cx="352044" cy="3520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08760" y="551383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Motto React Native: "Learn once, write anywhere" — pelajari React sekali, gunakan untuk banyak platform. Kode khusus per platform tetap mungkin ditulis bila diperlukan.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di Balik Layar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303520" cy="3977640"/>
          </a:xfrm>
          <a:prstGeom prst="roundRect">
            <a:avLst>
              <a:gd name="adj" fmla="val 3218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737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LAMA (BRIDGE)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96112" y="2148840"/>
            <a:ext cx="4791456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2585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Thread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5511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logika React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63240" y="2935224"/>
            <a:ext cx="274320" cy="128016"/>
          </a:xfrm>
          <a:prstGeom prst="downArrow">
            <a:avLst/>
          </a:prstGeom>
          <a:solidFill>
            <a:srgbClr val="AEBED6"/>
          </a:solidFill>
          <a:ln w="12700">
            <a:solidFill>
              <a:srgbClr val="AEBE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3081528"/>
            <a:ext cx="4791456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1912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(JSON, asinkron)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4838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Jembatan pesan antar dunia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063240" y="3867912"/>
            <a:ext cx="274320" cy="128016"/>
          </a:xfrm>
          <a:prstGeom prst="downArrow">
            <a:avLst/>
          </a:prstGeom>
          <a:solidFill>
            <a:srgbClr val="AEBED6"/>
          </a:solidFill>
          <a:ln w="12700">
            <a:solidFill>
              <a:srgbClr val="AEBE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4014216"/>
            <a:ext cx="4791456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41239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Thread (UI)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4165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Merender komponen asli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956048"/>
            <a:ext cx="4791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Kelemahan: setiap komunikasi harus melewati bridge sehingga bisa menjadi hambatan performa.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1481328"/>
            <a:ext cx="5303520" cy="3977640"/>
          </a:xfrm>
          <a:prstGeom prst="roundRect">
            <a:avLst>
              <a:gd name="adj" fmla="val 3218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19672" y="1737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BARU (SEJAK 0.76)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19672" y="2157984"/>
            <a:ext cx="457200" cy="457200"/>
          </a:xfrm>
          <a:prstGeom prst="ellipse">
            <a:avLst/>
          </a:prstGeom>
          <a:solidFill>
            <a:srgbClr val="1B2C52"/>
          </a:solidFill>
          <a:ln w="12700">
            <a:solidFill>
              <a:srgbClr val="1B2C52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8252" y="2226564"/>
            <a:ext cx="320040" cy="32004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114032" y="21214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JSI (JavaScript Interface)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7114032" y="24048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memanggil fungsi native langsung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19672" y="2944368"/>
            <a:ext cx="457200" cy="457200"/>
          </a:xfrm>
          <a:prstGeom prst="ellipse">
            <a:avLst/>
          </a:prstGeom>
          <a:solidFill>
            <a:srgbClr val="1B2C52"/>
          </a:solidFill>
          <a:ln w="12700">
            <a:solidFill>
              <a:srgbClr val="1B2C52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52" y="3012948"/>
            <a:ext cx="320040" cy="32004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114032" y="2907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TurboModules</a:t>
            </a:r>
            <a:endParaRPr 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7114032" y="31912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native dimuat saat dibutuhkan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519672" y="3730752"/>
            <a:ext cx="457200" cy="457200"/>
          </a:xfrm>
          <a:prstGeom prst="ellipse">
            <a:avLst/>
          </a:prstGeom>
          <a:solidFill>
            <a:srgbClr val="1B2C52"/>
          </a:solidFill>
          <a:ln w="12700">
            <a:solidFill>
              <a:srgbClr val="1B2C52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52" y="3799332"/>
            <a:ext cx="320040" cy="32004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7114032" y="36941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Renderer</a:t>
            </a:r>
            <a:endParaRPr lang="en-US" sz="1350" dirty="0"/>
          </a:p>
        </p:txBody>
      </p:sp>
      <p:sp>
        <p:nvSpPr>
          <p:cNvPr id="31" name="Text 26"/>
          <p:cNvSpPr txBox="1"/>
          <p:nvPr/>
        </p:nvSpPr>
        <p:spPr>
          <a:xfrm>
            <a:off x="7114032" y="39776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UI lebih cepat &amp; sinkron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519672" y="4517136"/>
            <a:ext cx="457200" cy="457200"/>
          </a:xfrm>
          <a:prstGeom prst="ellipse">
            <a:avLst/>
          </a:prstGeom>
          <a:solidFill>
            <a:srgbClr val="1B2C52"/>
          </a:solidFill>
          <a:ln w="12700">
            <a:solidFill>
              <a:srgbClr val="1B2C52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4585716"/>
            <a:ext cx="320040" cy="32004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114032" y="4480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Engine</a:t>
            </a:r>
            <a:endParaRPr lang="en-US" sz="1350" dirty="0"/>
          </a:p>
        </p:txBody>
      </p:sp>
      <p:sp>
        <p:nvSpPr>
          <p:cNvPr id="35" name="Text 29"/>
          <p:cNvSpPr txBox="1"/>
          <p:nvPr/>
        </p:nvSpPr>
        <p:spPr>
          <a:xfrm>
            <a:off x="7114032" y="476402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 JS ringan, start-up lebih cepat</a:t>
            </a:r>
            <a:endParaRPr lang="en-US" sz="1150" dirty="0"/>
          </a:p>
        </p:txBody>
      </p:sp>
      <p:sp>
        <p:nvSpPr>
          <p:cNvPr id="36" name="Text 30"/>
          <p:cNvSpPr txBox="1"/>
          <p:nvPr/>
        </p:nvSpPr>
        <p:spPr>
          <a:xfrm>
            <a:off x="6519672" y="5074920"/>
            <a:ext cx="4791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Hasilnya: bridge dihapus, aplikasi lebih responsif dan hemat memori.</a:t>
            </a:r>
            <a:endParaRPr lang="en-US" sz="1150" dirty="0"/>
          </a:p>
        </p:txBody>
      </p:sp>
      <p:sp>
        <p:nvSpPr>
          <p:cNvPr id="37" name="Text 31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Posisi React Native di Antara Pilihan Lain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14600" cy="4160520"/>
          </a:xfrm>
          <a:prstGeom prst="roundRect">
            <a:avLst>
              <a:gd name="adj" fmla="val 5091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776" y="1828800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871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(Kotlin/Swift)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297180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 maksimal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API paling awal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tim &amp; dua basis kode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paling mahal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29000" y="1600200"/>
            <a:ext cx="2514600" cy="4160520"/>
          </a:xfrm>
          <a:prstGeom prst="roundRect">
            <a:avLst>
              <a:gd name="adj" fmla="val 5091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29000" y="1600200"/>
            <a:ext cx="2514600" cy="4160520"/>
          </a:xfrm>
          <a:prstGeom prst="roundRect">
            <a:avLst>
              <a:gd name="adj" fmla="val 5091"/>
            </a:avLst>
          </a:prstGeom>
          <a:solidFill>
            <a:srgbClr val="E7EEFA"/>
          </a:solidFill>
          <a:ln w="25400">
            <a:solidFill>
              <a:srgbClr val="0E749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1828800"/>
            <a:ext cx="530352" cy="5303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4871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3630168" y="297180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basis kode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JavaScript/TS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UI asli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modul native untuk kasus khusus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17920" y="1600200"/>
            <a:ext cx="2514600" cy="4160520"/>
          </a:xfrm>
          <a:prstGeom prst="roundRect">
            <a:avLst>
              <a:gd name="adj" fmla="val 5091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1828800"/>
            <a:ext cx="530352" cy="53035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55080" y="24871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6419088" y="297180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basis kode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Dart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digambar sendiri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Ekosistem lebih muda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9006840" y="1600200"/>
            <a:ext cx="2514600" cy="4160520"/>
          </a:xfrm>
          <a:prstGeom prst="roundRect">
            <a:avLst>
              <a:gd name="adj" fmla="val 5091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536" y="1828800"/>
            <a:ext cx="530352" cy="53035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44000" y="24871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(WebView)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9208008" y="297180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Berbasis HTML/CSS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mudah dibuat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Terasa seperti web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 paling terbatas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menawarkan keseimbangan terbaik antara kecepatan pengembangan, pengalaman pengguna, dan biaya.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Kelebihan dan Keterbatasan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03520" cy="4434840"/>
          </a:xfrm>
          <a:prstGeom prst="roundRect">
            <a:avLst>
              <a:gd name="adj" fmla="val 2887"/>
            </a:avLst>
          </a:prstGeom>
          <a:solidFill>
            <a:srgbClr val="E6F5EC"/>
          </a:solidFill>
          <a:ln w="12700">
            <a:solidFill>
              <a:srgbClr val="E6F5E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10512"/>
            <a:ext cx="530352" cy="53035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953" y="1890065"/>
            <a:ext cx="371246" cy="37124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72768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Kelebihan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4871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 waktu &amp; biaya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614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tim mengerjakan Android dan iOS sekaligus.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1821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cepat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456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Refresh menampilkan perubahan seketika.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8770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Pustaka melimpah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1513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Manfaatkan seluruh ekosistem npm dan React.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4572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Mudah dipelajari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4846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Bekal JavaScript dan React sudah cukup untuk memulai.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52669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Dukungan jangka panjang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55412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Dikembangkan Meta dan dipakai aplikasi berskala besar.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63640" y="1554480"/>
            <a:ext cx="5303520" cy="4434840"/>
          </a:xfrm>
          <a:prstGeom prst="roundRect">
            <a:avLst>
              <a:gd name="adj" fmla="val 2887"/>
            </a:avLst>
          </a:prstGeom>
          <a:solidFill>
            <a:srgbClr val="FBEBEB"/>
          </a:solidFill>
          <a:ln w="12700">
            <a:solidFill>
              <a:srgbClr val="FBEBEB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37960" y="1810512"/>
            <a:ext cx="530352" cy="5303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513" y="1890065"/>
            <a:ext cx="371246" cy="37124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196328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Keterbatasan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6537960" y="24871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untuk semua kasus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6537960" y="27614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grafis berat (game 3D, AR) lebih cocok native.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6537960" y="31821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Ketergantungan pustaka pihak ketiga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6537960" y="3456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modul jarang diperbarui pemiliknya.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6537960" y="38770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aplikasi lebih besar</a:t>
            </a:r>
            <a:endParaRPr 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6537960" y="41513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runtime JavaScript yang ikut dipaketkan.</a:t>
            </a:r>
            <a:endParaRPr lang="en-US" sz="1150" dirty="0"/>
          </a:p>
        </p:txBody>
      </p:sp>
      <p:sp>
        <p:nvSpPr>
          <p:cNvPr id="28" name="Text 24"/>
          <p:cNvSpPr txBox="1"/>
          <p:nvPr/>
        </p:nvSpPr>
        <p:spPr>
          <a:xfrm>
            <a:off x="6537960" y="4572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 perlu paham native</a:t>
            </a:r>
            <a:endParaRPr lang="en-US" sz="1350" dirty="0"/>
          </a:p>
        </p:txBody>
      </p:sp>
      <p:sp>
        <p:nvSpPr>
          <p:cNvPr id="29" name="Text 25"/>
          <p:cNvSpPr txBox="1"/>
          <p:nvPr/>
        </p:nvSpPr>
        <p:spPr>
          <a:xfrm>
            <a:off x="6537960" y="4846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debugging mendalam dan modul khusus.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6537960" y="52669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macOS untuk iOS</a:t>
            </a:r>
            <a:endParaRPr lang="en-US" sz="1350" dirty="0"/>
          </a:p>
        </p:txBody>
      </p:sp>
      <p:sp>
        <p:nvSpPr>
          <p:cNvPr id="31" name="Text 27"/>
          <p:cNvSpPr txBox="1"/>
          <p:nvPr/>
        </p:nvSpPr>
        <p:spPr>
          <a:xfrm>
            <a:off x="6537960" y="55412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lokal iOS wajib Xcode (bisa diatasi dengan EAS Build).</a:t>
            </a:r>
            <a:endParaRPr lang="en-US" sz="1150" dirty="0"/>
          </a:p>
        </p:txBody>
      </p:sp>
      <p:sp>
        <p:nvSpPr>
          <p:cNvPr id="32" name="Text 28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1B2C52">
              <a:alpha val="55000"/>
            </a:srgbClr>
          </a:solidFill>
          <a:ln w="12700">
            <a:solidFill>
              <a:srgbClr val="1B2C5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6C4CF1">
              <a:alpha val="18000"/>
            </a:srgbClr>
          </a:solidFill>
          <a:ln w="12700">
            <a:solidFill>
              <a:srgbClr val="6C4CF1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Mengenal Expo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 yang membuat React Native jauh lebih mudah dipakai: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siap pakai, alat bantu, hingga layanan build di cloud.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52560" y="2286000"/>
            <a:ext cx="2286000" cy="2286000"/>
          </a:xfrm>
          <a:prstGeom prst="ellipse">
            <a:avLst/>
          </a:prstGeom>
          <a:solidFill>
            <a:srgbClr val="1B2C52"/>
          </a:solidFill>
          <a:ln w="15875">
            <a:solidFill>
              <a:srgbClr val="61DAF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8346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Expo?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657600" cy="4617720"/>
          </a:xfrm>
          <a:prstGeom prst="roundRect">
            <a:avLst>
              <a:gd name="adj" fmla="val 3500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73352" y="1828800"/>
            <a:ext cx="1417320" cy="1417320"/>
          </a:xfrm>
          <a:prstGeom prst="ellipse">
            <a:avLst/>
          </a:prstGeom>
          <a:solidFill>
            <a:srgbClr val="1B2C52"/>
          </a:solidFill>
          <a:ln w="19050">
            <a:solidFill>
              <a:srgbClr val="61DAF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185416"/>
            <a:ext cx="704088" cy="7040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840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kerja dan platform layanan open-source untuk React Native.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800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"Buat aplikasi tanpa harus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membuka Xcode atau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Studio."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17720" y="1463040"/>
            <a:ext cx="6949440" cy="1033272"/>
          </a:xfrm>
          <a:prstGeom prst="roundRect">
            <a:avLst>
              <a:gd name="adj" fmla="val 12389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28032" y="1719072"/>
            <a:ext cx="530352" cy="530352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585" y="1798625"/>
            <a:ext cx="371246" cy="37124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32120" y="16459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siap pakai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532120" y="195681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Puluhan modul resmi (kamera, lokasi, notifikasi) yang sudah teruji dan terdokumentasi dengan baik.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17720" y="2642616"/>
            <a:ext cx="6949440" cy="1033272"/>
          </a:xfrm>
          <a:prstGeom prst="roundRect">
            <a:avLst>
              <a:gd name="adj" fmla="val 12389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28032" y="2898648"/>
            <a:ext cx="530352" cy="530352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585" y="2978201"/>
            <a:ext cx="371246" cy="37124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532120" y="282549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otomatis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532120" y="313639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Pengaturan native diurus lewat berkas app.json, tanpa menyunting kode Android/iOS secara manual.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617720" y="3822192"/>
            <a:ext cx="6949440" cy="1033272"/>
          </a:xfrm>
          <a:prstGeom prst="roundRect">
            <a:avLst>
              <a:gd name="adj" fmla="val 12389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28032" y="4078224"/>
            <a:ext cx="530352" cy="530352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585" y="4157777"/>
            <a:ext cx="371246" cy="37124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532120" y="400507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coba instan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532120" y="431596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Pindai QR code dengan aplikasi Expo Go, aplikasi langsung berjalan di HP Anda.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617720" y="5001768"/>
            <a:ext cx="6949440" cy="1033272"/>
          </a:xfrm>
          <a:prstGeom prst="roundRect">
            <a:avLst>
              <a:gd name="adj" fmla="val 12389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828032" y="5257800"/>
            <a:ext cx="530352" cy="530352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7585" y="5337353"/>
            <a:ext cx="371246" cy="37124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532120" y="518464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update di cloud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5532120" y="549554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membangun file APK/IPA di server Expo — Windows pun bisa membuat aplikasi iOS.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Ekosistem dan Perkakas Expo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74720" cy="2011680"/>
          </a:xfrm>
          <a:prstGeom prst="roundRect">
            <a:avLst>
              <a:gd name="adj" fmla="val 6364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19110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SDK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Kumpulan pustaka resmi untuk mengakses fitur perangkat: kamera, lokasi, notifikasi, sensor, dan lainnya.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474720" cy="2011680"/>
          </a:xfrm>
          <a:prstGeom prst="roundRect">
            <a:avLst>
              <a:gd name="adj" fmla="val 6364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828800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19110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85232" y="19110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CLI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Perkakas baris perintah untuk membuat proyek, menjalankan server pengembangan, dan mengelola konfigurasi.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474720" cy="2011680"/>
          </a:xfrm>
          <a:prstGeom prst="roundRect">
            <a:avLst>
              <a:gd name="adj" fmla="val 6364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828800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191109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34272" y="19110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Go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di Play Store/App Store untuk menjalankan proyek Anda langsung di perangkat nyata tanpa build.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813048"/>
            <a:ext cx="3474720" cy="2011680"/>
          </a:xfrm>
          <a:prstGeom prst="roundRect">
            <a:avLst>
              <a:gd name="adj" fmla="val 6364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041648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123944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36192" y="41239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Router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47731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navigasi berbasis struktur berkas — nama berkas otomatis menjadi alamat layar.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89120" y="3813048"/>
            <a:ext cx="3474720" cy="2011680"/>
          </a:xfrm>
          <a:prstGeom prst="roundRect">
            <a:avLst>
              <a:gd name="adj" fmla="val 6364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041648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4123944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85232" y="41239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47731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Application Services: build, submit ke toko aplikasi, dan update over-the-air di cloud.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38160" y="3813048"/>
            <a:ext cx="3474720" cy="2011680"/>
          </a:xfrm>
          <a:prstGeom prst="roundRect">
            <a:avLst>
              <a:gd name="adj" fmla="val 6364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041648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4123944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34272" y="41239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Snack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366760" y="47731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React Native di peramban untuk mencoba kode dan berbagi contoh tanpa instalasi apa pun.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MENJALANKAN APLIKASI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Go vs Development Build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03520" cy="3703320"/>
          </a:xfrm>
          <a:prstGeom prst="roundRect">
            <a:avLst>
              <a:gd name="adj" fmla="val 345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10512"/>
            <a:ext cx="530352" cy="530352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953" y="1890065"/>
            <a:ext cx="371246" cy="37124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72768" y="1856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Go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72768" y="22128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wadah siap pakai dari toko aplikasi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269748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800"/>
              </a:spcAft>
              <a:buSzPct val="100000"/>
              <a:buChar char="▪"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proses build — langsung pindai QR code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800"/>
              </a:spcAft>
              <a:buSzPct val="100000"/>
              <a:buChar char="▪"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Sempurna untuk belajar, demo, dan prototipe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800"/>
              </a:spcAft>
              <a:buSzPct val="100000"/>
              <a:buChar char="▪"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mendukung pustaka yang ada di Expo SDK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800"/>
              </a:spcAft>
              <a:buSzPct val="100000"/>
              <a:buChar char="▪"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bisa memuat modul native pihak ketiga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303520" cy="3703320"/>
          </a:xfrm>
          <a:prstGeom prst="roundRect">
            <a:avLst>
              <a:gd name="adj" fmla="val 3457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1810512"/>
            <a:ext cx="530352" cy="530352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513" y="1890065"/>
            <a:ext cx="371246" cy="37124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96328" y="1856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Build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7196328" y="22128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Expo Go versi milik proyek Anda sendiri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556248" y="269748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800"/>
              </a:spcAft>
              <a:buSzPct val="100000"/>
              <a:buChar char="▪"/>
            </a:pPr>
            <a:r>
              <a:rPr lang="en-US" sz="1350" dirty="0">
                <a:solidFill>
                  <a:srgbClr val="E4E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Dibuat sekali dengan perintah eas build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800"/>
              </a:spcAft>
              <a:buSzPct val="100000"/>
              <a:buChar char="▪"/>
            </a:pPr>
            <a:r>
              <a:rPr lang="en-US" sz="1350" dirty="0">
                <a:solidFill>
                  <a:srgbClr val="E4E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Bebas memakai pustaka native apa pun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800"/>
              </a:spcAft>
              <a:buSzPct val="100000"/>
              <a:buChar char="▪"/>
            </a:pPr>
            <a:r>
              <a:rPr lang="en-US" sz="1350" dirty="0">
                <a:solidFill>
                  <a:srgbClr val="E4E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untuk aplikasi produksi yang kompleks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800"/>
              </a:spcAft>
              <a:buSzPct val="100000"/>
              <a:buChar char="▪"/>
            </a:pPr>
            <a:r>
              <a:rPr lang="en-US" sz="1350" dirty="0">
                <a:solidFill>
                  <a:srgbClr val="E4E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 menikmati Fast Refresh dan Expo CLI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5440680"/>
            <a:ext cx="10881360" cy="658368"/>
          </a:xfrm>
          <a:prstGeom prst="roundRect">
            <a:avLst>
              <a:gd name="adj" fmla="val 19444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" y="5522976"/>
            <a:ext cx="502920" cy="5029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5598414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08760" y="55778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Mulailah dengan Expo Go saat belajar. Beralihlah ke development build ketika proyek membutuhkan pustaka di luar Expo SDK.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PILIHAN ALUR KERJA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atau React Native CLI?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572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ASPEK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703320" y="1572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(DIREKOMENDASIKAN)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863840" y="1572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CLI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10881360" cy="566928"/>
          </a:xfrm>
          <a:prstGeom prst="roundRect">
            <a:avLst>
              <a:gd name="adj" fmla="val 22581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1122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Penyiapan awal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21122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perintah, siap dalam menit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21122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Android Studio &amp; Xcode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624328"/>
            <a:ext cx="1088136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7706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native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7706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 lewat app.json &amp; plugin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27706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Sunting manual berkas Gradle &amp; Xcode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282696"/>
            <a:ext cx="10881360" cy="566928"/>
          </a:xfrm>
          <a:prstGeom prst="roundRect">
            <a:avLst>
              <a:gd name="adj" fmla="val 22581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429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iOS di Windows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703320" y="3429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Bisa, melalui EAS Build (cloud)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3429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bisa, wajib perangkat macOS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941064"/>
            <a:ext cx="1088136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0873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Pembaruan cepat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703320" y="40873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Update tanpa lewat toko aplikasi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40873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konfigurasi tambahan sendiri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599432"/>
            <a:ext cx="10881360" cy="566928"/>
          </a:xfrm>
          <a:prstGeom prst="roundRect">
            <a:avLst>
              <a:gd name="adj" fmla="val 22581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47457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Kebebasan penuh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703320" y="474573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 bisa lewat prebuild / config plugin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47457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Kendali penuh sejak awal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257800"/>
            <a:ext cx="1088136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54041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703320" y="54041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Mayoritas proyek dan pemula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54041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native yang sangat khusus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Sejak 2024 dokumentasi resmi React Native pun menyarankan Expo sebagai titik awal membangun aplikasi baru.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1B2C52">
              <a:alpha val="55000"/>
            </a:srgbClr>
          </a:solidFill>
          <a:ln w="12700">
            <a:solidFill>
              <a:srgbClr val="1B2C5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6C4CF1">
              <a:alpha val="18000"/>
            </a:srgbClr>
          </a:solidFill>
          <a:ln w="12700">
            <a:solidFill>
              <a:srgbClr val="6C4CF1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Persiapan dan Proyek Pertama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lingkungan kerja, membuat proyek Expo,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menjalankannya di perangkat sungguhan.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52560" y="2286000"/>
            <a:ext cx="2286000" cy="2286000"/>
          </a:xfrm>
          <a:prstGeom prst="ellipse">
            <a:avLst/>
          </a:prstGeom>
          <a:solidFill>
            <a:srgbClr val="1B2C52"/>
          </a:solidFill>
          <a:ln w="15875">
            <a:solidFill>
              <a:srgbClr val="61DAF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8346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PRASYARAT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Menyiapkan Lingkungan Kerja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1298448"/>
          </a:xfrm>
          <a:prstGeom prst="roundRect">
            <a:avLst>
              <a:gd name="adj" fmla="val 9859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9384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66544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89280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LTS (v18+)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2585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perkakas dan pengelola paket npm.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64608" y="187452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64608" y="18745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1600200"/>
            <a:ext cx="5303520" cy="1298448"/>
          </a:xfrm>
          <a:prstGeom prst="roundRect">
            <a:avLst>
              <a:gd name="adj" fmla="val 9859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1929384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66544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23760" y="189280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223760" y="22585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kode dengan ekstensi React Native Tools.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10442448" y="187452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442448" y="18745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40080" y="3081528"/>
            <a:ext cx="5303520" cy="1298448"/>
          </a:xfrm>
          <a:prstGeom prst="roundRect">
            <a:avLst>
              <a:gd name="adj" fmla="val 9859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341071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47872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45920" y="33741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Expo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645920" y="373989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Gratis, dibutuhkan untuk EAS Build dan Update.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864608" y="33558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864608" y="33558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217920" y="3081528"/>
            <a:ext cx="5303520" cy="1298448"/>
          </a:xfrm>
          <a:prstGeom prst="roundRect">
            <a:avLst>
              <a:gd name="adj" fmla="val 9859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46520" y="341071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547872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223760" y="33741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Go di ponsel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7223760" y="373989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aplikasi langsung di HP Android atau iPhone.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10442448" y="33558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10442448" y="33558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40080" y="4562856"/>
            <a:ext cx="5303520" cy="1298448"/>
          </a:xfrm>
          <a:prstGeom prst="roundRect">
            <a:avLst>
              <a:gd name="adj" fmla="val 9859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68680" y="48920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029200"/>
            <a:ext cx="365760" cy="36576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645920" y="48554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1645920" y="522122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Emulator Android dan Android SDK.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4864608" y="483717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C9D6E8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4864608" y="483717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Opsional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6217920" y="4562856"/>
            <a:ext cx="5303520" cy="1298448"/>
          </a:xfrm>
          <a:prstGeom prst="roundRect">
            <a:avLst>
              <a:gd name="adj" fmla="val 9859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446520" y="48920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5029200"/>
            <a:ext cx="365760" cy="36576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7223760" y="48554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(macOS)</a:t>
            </a:r>
            <a:endParaRPr lang="en-US" sz="1500" dirty="0"/>
          </a:p>
        </p:txBody>
      </p:sp>
      <p:sp>
        <p:nvSpPr>
          <p:cNvPr id="43" name="Text 35"/>
          <p:cNvSpPr txBox="1"/>
          <p:nvPr/>
        </p:nvSpPr>
        <p:spPr>
          <a:xfrm>
            <a:off x="7223760" y="522122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iOS — hanya tersedia di komputer Mac.</a:t>
            </a:r>
            <a:endParaRPr lang="en-US" sz="1200" dirty="0"/>
          </a:p>
        </p:txBody>
      </p:sp>
      <p:sp>
        <p:nvSpPr>
          <p:cNvPr id="44" name="Shape 36"/>
          <p:cNvSpPr/>
          <p:nvPr/>
        </p:nvSpPr>
        <p:spPr>
          <a:xfrm>
            <a:off x="10442448" y="483717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C9D6E8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10442448" y="483717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Opsional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640080" y="5989320"/>
            <a:ext cx="10332720" cy="502920"/>
          </a:xfrm>
          <a:prstGeom prst="roundRect">
            <a:avLst>
              <a:gd name="adj" fmla="val 25455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868680" y="59893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Periksa instalasi dengan perintah:   node -v     npm -v     npx expo --version</a:t>
            </a:r>
            <a:endParaRPr lang="en-US" sz="1250" dirty="0"/>
          </a:p>
        </p:txBody>
      </p:sp>
      <p:sp>
        <p:nvSpPr>
          <p:cNvPr id="48" name="Text 40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PRAKTIK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Proyek Pertama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309360" cy="3332861"/>
          </a:xfrm>
          <a:prstGeom prst="roundRect">
            <a:avLst>
              <a:gd name="adj" fmla="val 2744"/>
            </a:avLst>
          </a:prstGeom>
          <a:solidFill>
            <a:srgbClr val="12203F"/>
          </a:solidFill>
          <a:ln w="12700">
            <a:solidFill>
              <a:srgbClr val="12203F"/>
            </a:solidFill>
            <a:prstDash val="solid"/>
          </a:ln>
          <a:effectLst>
            <a:outerShdw sx="100000" sy="100000" kx="0" ky="0" algn="bl" rotWithShape="0" blurRad="127000" dist="25400" dir="5400000">
              <a:srgbClr val="6C7C99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37360"/>
            <a:ext cx="5943600" cy="2967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Buat proyek baru dari template resmi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create-expo-app@latest AplikasiPertama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Masuk ke folder proyek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AplikasiPertama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Jalankan server pengembangan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 start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Opsional: langsung ke emulator/simulator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 start --android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 start --ios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 start --web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554480"/>
            <a:ext cx="4297680" cy="1316736"/>
          </a:xfrm>
          <a:prstGeom prst="roundRect">
            <a:avLst>
              <a:gd name="adj" fmla="val 9722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79792" y="1783080"/>
            <a:ext cx="512064" cy="512064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602" y="1859890"/>
            <a:ext cx="358445" cy="3584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138160" y="18288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create-expo-app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479792" y="226771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bawaan sudah dilengkapi TypeScript, Expo Router, dan struktur folder yang rapi.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269480" y="3035808"/>
            <a:ext cx="4297680" cy="1316736"/>
          </a:xfrm>
          <a:prstGeom prst="roundRect">
            <a:avLst>
              <a:gd name="adj" fmla="val 9722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79792" y="3264408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602" y="334121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138160" y="3310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Bundler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479792" y="37490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expo start menyalakan bundler yang menyatukan seluruh kode JavaScript proyek Anda.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269480" y="4517136"/>
            <a:ext cx="4297680" cy="1316736"/>
          </a:xfrm>
          <a:prstGeom prst="roundRect">
            <a:avLst>
              <a:gd name="adj" fmla="val 9722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479792" y="4745736"/>
            <a:ext cx="512064" cy="512064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602" y="4822546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138160" y="4791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479792" y="523036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Pindai QR yang muncul di terminal memakai Expo Go — pastikan HP dan komputer satu jaringan Wi-Fi.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jaringan kantor/kampus memblokir koneksi, jalankan  npx expo start --tunnel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 PROYEK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Folder Proyek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126480" cy="2999232"/>
          </a:xfrm>
          <a:prstGeom prst="roundRect">
            <a:avLst>
              <a:gd name="adj" fmla="val 3049"/>
            </a:avLst>
          </a:prstGeom>
          <a:solidFill>
            <a:srgbClr val="12203F"/>
          </a:solidFill>
          <a:ln w="12700">
            <a:solidFill>
              <a:srgbClr val="12203F"/>
            </a:solidFill>
            <a:prstDash val="solid"/>
          </a:ln>
          <a:effectLst>
            <a:outerShdw sx="100000" sy="100000" kx="0" ky="0" algn="bl" rotWithShape="0" blurRad="127000" dist="25400" dir="5400000">
              <a:srgbClr val="6C7C99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37360"/>
            <a:ext cx="576072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AplikasiPertama/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app/              # layar &amp; rute aplikasi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_layout.tsx    # kerangka navigasi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index.tsx      # layar utama  "/"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detail.tsx     # layar        "/detail"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assets/           # gambar, font, ikon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components/       # komponen dipakai ulang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constants/        # warna, ukuran, konstanta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hooks/            # custom hooks buatan sendiri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app.json          # konfigurasi aplikasi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package.json      # daftar dependensi proyek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tsconfig.json     # konfigurasi TypeScript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086600" y="1554480"/>
            <a:ext cx="4480560" cy="969264"/>
          </a:xfrm>
          <a:prstGeom prst="roundRect">
            <a:avLst>
              <a:gd name="adj" fmla="val 13208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87768" y="1773936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3206" y="1849374"/>
            <a:ext cx="352044" cy="3520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927848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927848" y="201168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Jantung aplikasi. Setiap berkas di sini otomatis menjadi satu layar/rute.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086600" y="2670048"/>
            <a:ext cx="4480560" cy="969264"/>
          </a:xfrm>
          <a:prstGeom prst="roundRect">
            <a:avLst>
              <a:gd name="adj" fmla="val 13208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287768" y="2889504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206" y="2964942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927848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927848" y="3127248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statis: ikon aplikasi, splash screen, gambar, dan font kustom.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086600" y="3785616"/>
            <a:ext cx="4480560" cy="969264"/>
          </a:xfrm>
          <a:prstGeom prst="roundRect">
            <a:avLst>
              <a:gd name="adj" fmla="val 13208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87768" y="4005072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206" y="4080510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927848" y="3950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927848" y="4242816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Potongan antarmuka yang dipakai berulang, misalnya tombol dan kartu.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086600" y="4901184"/>
            <a:ext cx="4480560" cy="969264"/>
          </a:xfrm>
          <a:prstGeom prst="roundRect">
            <a:avLst>
              <a:gd name="adj" fmla="val 13208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287768" y="5120640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206" y="5196078"/>
            <a:ext cx="352044" cy="3520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927848" y="5065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app.json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927848" y="535838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aplikasi, ikon, versi, izin, dan pengaturan native lainnya.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 HARIAN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Menjalankan dan Menguji Aplikasi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3063240"/>
          </a:xfrm>
          <a:prstGeom prst="roundRect">
            <a:avLst>
              <a:gd name="adj" fmla="val 5091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18488" y="1965960"/>
            <a:ext cx="566928" cy="566928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527" y="2050999"/>
            <a:ext cx="396850" cy="3968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697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Nyalakan bundler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06324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 start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35204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menyiapkan kode dan menampilkan QR code di terminal.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18688" y="3035808"/>
            <a:ext cx="201168" cy="219456"/>
          </a:xfrm>
          <a:prstGeom prst="rightArrow">
            <a:avLst/>
          </a:prstGeom>
          <a:solidFill>
            <a:srgbClr val="AEBED6"/>
          </a:solidFill>
          <a:ln w="12700">
            <a:solidFill>
              <a:srgbClr val="AEBE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29000" y="1691640"/>
            <a:ext cx="2514600" cy="3063240"/>
          </a:xfrm>
          <a:prstGeom prst="roundRect">
            <a:avLst>
              <a:gd name="adj" fmla="val 5091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07408" y="1965960"/>
            <a:ext cx="566928" cy="56692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447" y="2050999"/>
            <a:ext cx="396850" cy="39685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93592" y="2697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Buka di perangkat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703320" y="306324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Pindai QR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630168" y="35204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Go (Android) atau aplikasi Kamera (iOS) memuat aplikasi Anda.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07608" y="3035808"/>
            <a:ext cx="201168" cy="219456"/>
          </a:xfrm>
          <a:prstGeom prst="rightArrow">
            <a:avLst/>
          </a:prstGeom>
          <a:solidFill>
            <a:srgbClr val="AEBED6"/>
          </a:solidFill>
          <a:ln w="12700">
            <a:solidFill>
              <a:srgbClr val="AEBED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1691640"/>
            <a:ext cx="2514600" cy="3063240"/>
          </a:xfrm>
          <a:prstGeom prst="roundRect">
            <a:avLst>
              <a:gd name="adj" fmla="val 5091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96328" y="1965960"/>
            <a:ext cx="566928" cy="566928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67" y="2050999"/>
            <a:ext cx="396850" cy="39685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82512" y="2697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Sunting kode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492240" y="306324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Simpan berkas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419088" y="35204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Refresh memperbarui layar dalam hitungan detik tanpa hilang state.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796528" y="3035808"/>
            <a:ext cx="201168" cy="219456"/>
          </a:xfrm>
          <a:prstGeom prst="rightArrow">
            <a:avLst/>
          </a:prstGeom>
          <a:solidFill>
            <a:srgbClr val="AEBED6"/>
          </a:solidFill>
          <a:ln w="12700">
            <a:solidFill>
              <a:srgbClr val="AEBED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006840" y="1691640"/>
            <a:ext cx="2514600" cy="3063240"/>
          </a:xfrm>
          <a:prstGeom prst="roundRect">
            <a:avLst>
              <a:gd name="adj" fmla="val 5091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985248" y="1965960"/>
            <a:ext cx="566928" cy="56692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0287" y="2050999"/>
            <a:ext cx="396850" cy="39685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171432" y="2697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Periksa kesalahan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9281160" y="306324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Lihat LogBox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9208008" y="35204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error tampil di layar dan terminal, lengkap dengan lokasi baris.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640080" y="5029200"/>
            <a:ext cx="10881360" cy="1097280"/>
          </a:xfrm>
          <a:prstGeom prst="roundRect">
            <a:avLst>
              <a:gd name="adj" fmla="val 11667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32" name="Text 26"/>
          <p:cNvSpPr txBox="1"/>
          <p:nvPr/>
        </p:nvSpPr>
        <p:spPr>
          <a:xfrm>
            <a:off x="960120" y="5193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PINTASAN PENTING DI TERMINAL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960120" y="55321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B2C52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960120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1435608" y="55961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Android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2743200" y="55321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B2C52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2743200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400" dirty="0"/>
          </a:p>
        </p:txBody>
      </p:sp>
      <p:sp>
        <p:nvSpPr>
          <p:cNvPr id="38" name="Text 32"/>
          <p:cNvSpPr txBox="1"/>
          <p:nvPr/>
        </p:nvSpPr>
        <p:spPr>
          <a:xfrm>
            <a:off x="3218688" y="55961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iOS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4526280" y="55321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B2C52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4526280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400" dirty="0"/>
          </a:p>
        </p:txBody>
      </p:sp>
      <p:sp>
        <p:nvSpPr>
          <p:cNvPr id="41" name="Text 35"/>
          <p:cNvSpPr txBox="1"/>
          <p:nvPr/>
        </p:nvSpPr>
        <p:spPr>
          <a:xfrm>
            <a:off x="5001768" y="55961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web</a:t>
            </a:r>
            <a:endParaRPr lang="en-US" sz="1150" dirty="0"/>
          </a:p>
        </p:txBody>
      </p:sp>
      <p:sp>
        <p:nvSpPr>
          <p:cNvPr id="42" name="Shape 36"/>
          <p:cNvSpPr/>
          <p:nvPr/>
        </p:nvSpPr>
        <p:spPr>
          <a:xfrm>
            <a:off x="6309360" y="55321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B2C52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6309360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400" dirty="0"/>
          </a:p>
        </p:txBody>
      </p:sp>
      <p:sp>
        <p:nvSpPr>
          <p:cNvPr id="44" name="Text 38"/>
          <p:cNvSpPr txBox="1"/>
          <p:nvPr/>
        </p:nvSpPr>
        <p:spPr>
          <a:xfrm>
            <a:off x="6784848" y="55961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muat ulang</a:t>
            </a:r>
            <a:endParaRPr lang="en-US" sz="1150" dirty="0"/>
          </a:p>
        </p:txBody>
      </p:sp>
      <p:sp>
        <p:nvSpPr>
          <p:cNvPr id="45" name="Shape 39"/>
          <p:cNvSpPr/>
          <p:nvPr/>
        </p:nvSpPr>
        <p:spPr>
          <a:xfrm>
            <a:off x="8092440" y="55321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B2C52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8092440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endParaRPr lang="en-US" sz="1400" dirty="0"/>
          </a:p>
        </p:txBody>
      </p:sp>
      <p:sp>
        <p:nvSpPr>
          <p:cNvPr id="47" name="Text 41"/>
          <p:cNvSpPr txBox="1"/>
          <p:nvPr/>
        </p:nvSpPr>
        <p:spPr>
          <a:xfrm>
            <a:off x="8567928" y="55961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debugger</a:t>
            </a:r>
            <a:endParaRPr lang="en-US" sz="1150" dirty="0"/>
          </a:p>
        </p:txBody>
      </p:sp>
      <p:sp>
        <p:nvSpPr>
          <p:cNvPr id="48" name="Shape 42"/>
          <p:cNvSpPr/>
          <p:nvPr/>
        </p:nvSpPr>
        <p:spPr>
          <a:xfrm>
            <a:off x="9875520" y="55321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B2C52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9875520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400" dirty="0"/>
          </a:p>
        </p:txBody>
      </p:sp>
      <p:sp>
        <p:nvSpPr>
          <p:cNvPr id="50" name="Text 44"/>
          <p:cNvSpPr txBox="1"/>
          <p:nvPr/>
        </p:nvSpPr>
        <p:spPr>
          <a:xfrm>
            <a:off x="10351008" y="55961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dev</a:t>
            </a:r>
            <a:endParaRPr lang="en-US" sz="1150" dirty="0"/>
          </a:p>
        </p:txBody>
      </p:sp>
      <p:sp>
        <p:nvSpPr>
          <p:cNvPr id="51" name="Text 45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1B2C52">
              <a:alpha val="55000"/>
            </a:srgbClr>
          </a:solidFill>
          <a:ln w="12700">
            <a:solidFill>
              <a:srgbClr val="1B2C5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6C4CF1">
              <a:alpha val="18000"/>
            </a:srgbClr>
          </a:solidFill>
          <a:ln w="12700">
            <a:solidFill>
              <a:srgbClr val="6C4CF1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Dasar Pemrograman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JSX, komponen, props, state, styling, hingga animasi —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yang dipakai di setiap layar aplikasi.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52560" y="2286000"/>
            <a:ext cx="2286000" cy="2286000"/>
          </a:xfrm>
          <a:prstGeom prst="ellipse">
            <a:avLst/>
          </a:prstGeom>
          <a:solidFill>
            <a:srgbClr val="1B2C52"/>
          </a:solidFill>
          <a:ln w="15875">
            <a:solidFill>
              <a:srgbClr val="61DAF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8346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 dan Komponen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035040" cy="2656586"/>
          </a:xfrm>
          <a:prstGeom prst="roundRect">
            <a:avLst>
              <a:gd name="adj" fmla="val 3442"/>
            </a:avLst>
          </a:prstGeom>
          <a:solidFill>
            <a:srgbClr val="12203F"/>
          </a:solidFill>
          <a:ln w="12700">
            <a:solidFill>
              <a:srgbClr val="12203F"/>
            </a:solidFill>
            <a:prstDash val="solid"/>
          </a:ln>
          <a:effectLst>
            <a:outerShdw sx="100000" sy="100000" kx="0" ky="0" algn="bl" rotWithShape="0" blurRad="127000" dist="25400" dir="5400000">
              <a:srgbClr val="6C7C99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37360"/>
            <a:ext cx="5669280" cy="229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Text, View } from 'react-native';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Komponen = fungsi yang mengembalikan UI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Sapaan() 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&lt;View style={{ padding: 24 }}&gt;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&lt;Text&gt;Halo, React Native!&lt;/Text&gt;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&lt;/View&gt;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95160" y="1554480"/>
            <a:ext cx="4572000" cy="1005840"/>
          </a:xfrm>
          <a:prstGeom prst="roundRect">
            <a:avLst>
              <a:gd name="adj" fmla="val 1272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96328" y="1792224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1766" y="1867662"/>
            <a:ext cx="352044" cy="3520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836408" y="1719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836408" y="20116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mirip HTML di dalam JavaScript. Setiap tag adalah komponen React, bukan elemen web.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95160" y="2697480"/>
            <a:ext cx="4572000" cy="1005840"/>
          </a:xfrm>
          <a:prstGeom prst="roundRect">
            <a:avLst>
              <a:gd name="adj" fmla="val 1272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96328" y="2935224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766" y="3010662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36408" y="2862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836408" y="31546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JavaScript yang mengembalikan JSX. Nama komponen wajib diawali huruf kapital.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995160" y="3840480"/>
            <a:ext cx="4572000" cy="1005840"/>
          </a:xfrm>
          <a:prstGeom prst="roundRect">
            <a:avLst>
              <a:gd name="adj" fmla="val 1272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96328" y="4078224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766" y="4153662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836408" y="4005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Komposisi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836408" y="42976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Layar dibangun dengan menyusun komponen kecil menjadi komponen yang lebih besar.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995160" y="4983480"/>
            <a:ext cx="4572000" cy="1005840"/>
          </a:xfrm>
          <a:prstGeom prst="roundRect">
            <a:avLst>
              <a:gd name="adj" fmla="val 1272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196328" y="5221224"/>
            <a:ext cx="502920" cy="5029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1766" y="5296662"/>
            <a:ext cx="352044" cy="3520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836408" y="5148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836408" y="54406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&lt;div&gt; atau &lt;p&gt;. Gunakan &lt;View&gt; sebagai wadah dan &lt;Text&gt; untuk semua teks.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ALIRAN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Props: Mengirim Data ke Komponen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035040" cy="3332861"/>
          </a:xfrm>
          <a:prstGeom prst="roundRect">
            <a:avLst>
              <a:gd name="adj" fmla="val 2744"/>
            </a:avLst>
          </a:prstGeom>
          <a:solidFill>
            <a:srgbClr val="12203F"/>
          </a:solidFill>
          <a:ln w="12700">
            <a:solidFill>
              <a:srgbClr val="12203F"/>
            </a:solidFill>
            <a:prstDash val="solid"/>
          </a:ln>
          <a:effectLst>
            <a:outerShdw sx="100000" sy="100000" kx="0" ky="0" algn="bl" rotWithShape="0" blurRad="127000" dist="25400" dir="5400000">
              <a:srgbClr val="6C7C99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37360"/>
            <a:ext cx="5669280" cy="2967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Komponen anak menerima props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Kartu({ judul, harga }) 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&lt;View style={styles.kartu}&gt;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&lt;Text style={styles.judul}&gt;{judul}&lt;/Text&gt;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&lt;Text&gt;Rp {harga.toLocaleString('id-ID')}&lt;/Text&gt;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&lt;/View&gt;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Komponen induk mengirim props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&lt;Kartu judul="Kopi Susu" harga={18000} /&gt;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&lt;Kartu judul="Teh Tarik" harga={15000} /&gt;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95160" y="1554480"/>
            <a:ext cx="4572000" cy="2331720"/>
          </a:xfrm>
          <a:prstGeom prst="roundRect">
            <a:avLst>
              <a:gd name="adj" fmla="val 5490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223760" y="17556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Aliran data satu arah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63840" y="2240280"/>
            <a:ext cx="2834640" cy="411480"/>
          </a:xfrm>
          <a:prstGeom prst="roundRect">
            <a:avLst>
              <a:gd name="adj" fmla="val 22222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0" y="2240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0" y="2788920"/>
            <a:ext cx="274320" cy="320040"/>
          </a:xfrm>
          <a:prstGeom prst="downArrow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(hanya-baca)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3246120"/>
            <a:ext cx="2834640" cy="411480"/>
          </a:xfrm>
          <a:prstGeom prst="roundRect">
            <a:avLst>
              <a:gd name="adj" fmla="val 22222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0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95160" y="4069080"/>
            <a:ext cx="4572000" cy="2011680"/>
          </a:xfrm>
          <a:prstGeom prst="roundRect">
            <a:avLst>
              <a:gd name="adj" fmla="val 6364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223760" y="4251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 penting tentang props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466344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tidak boleh diubah oleh komponen anak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berisi teks, angka, objek, bahkan fungsi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menampung isi di antara tag pembuka-penutup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TypeScript, tipe props dapat divalidasi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YANG BERUBAH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dan Hooks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309360" cy="4009136"/>
          </a:xfrm>
          <a:prstGeom prst="roundRect">
            <a:avLst>
              <a:gd name="adj" fmla="val 2281"/>
            </a:avLst>
          </a:prstGeom>
          <a:solidFill>
            <a:srgbClr val="12203F"/>
          </a:solidFill>
          <a:ln w="12700">
            <a:solidFill>
              <a:srgbClr val="12203F"/>
            </a:solidFill>
            <a:prstDash val="solid"/>
          </a:ln>
          <a:effectLst>
            <a:outerShdw sx="100000" sy="100000" kx="0" ky="0" algn="bl" rotWithShape="0" blurRad="127000" dist="25400" dir="5400000">
              <a:srgbClr val="6C7C99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37360"/>
            <a:ext cx="5943600" cy="36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useState, useEffect } from 'react';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Pressable, Text } from 'react-native';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Penghitung() 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[jumlah, setJumlah] = useState(0);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console.log('Nilai terbaru:', jumlah);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[jumlah]);   // jalan saat jumlah berubah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&lt;Pressable onPress={() =&gt; setJumlah(jumlah + 1)}&gt;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&lt;Text&gt;Ditekan {jumlah} kali&lt;/Text&gt;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&lt;/Pressable&gt;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554480"/>
            <a:ext cx="4297680" cy="1005840"/>
          </a:xfrm>
          <a:prstGeom prst="roundRect">
            <a:avLst>
              <a:gd name="adj" fmla="val 1272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70648" y="1792224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6086" y="1867662"/>
            <a:ext cx="352044" cy="3520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110728" y="1700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110728" y="19933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data yang berubah. Saat diperbarui, layar otomatis dirender ulang.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269480" y="2697480"/>
            <a:ext cx="4297680" cy="1005840"/>
          </a:xfrm>
          <a:prstGeom prst="roundRect">
            <a:avLst>
              <a:gd name="adj" fmla="val 1272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70648" y="2935224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086" y="3010662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110728" y="2843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8110728" y="31363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efek samping: memanggil API, memasang timer, atau berlangganan event.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269480" y="3840480"/>
            <a:ext cx="4297680" cy="1005840"/>
          </a:xfrm>
          <a:prstGeom prst="roundRect">
            <a:avLst>
              <a:gd name="adj" fmla="val 1272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470648" y="4078224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086" y="4153662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110728" y="3986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useMemo &amp; useCallback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8110728" y="42793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hasil perhitungan agar tidak dihitung ulang setiap render.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269480" y="4983480"/>
            <a:ext cx="4297680" cy="1005840"/>
          </a:xfrm>
          <a:prstGeom prst="roundRect">
            <a:avLst>
              <a:gd name="adj" fmla="val 1272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70648" y="5221224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086" y="5296662"/>
            <a:ext cx="352044" cy="3520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110728" y="5129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useContext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8110728" y="54223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Berbagi data lintas komponen tanpa mengoper props berlapis-lapis.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Hooks: hanya boleh dipanggil di tingkat teratas komponen, tidak di dalam kondisi atau perulangan.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BANGUNAN UI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Komponen Inti React Native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14600" cy="1920240"/>
          </a:xfrm>
          <a:prstGeom prst="roundRect">
            <a:avLst>
              <a:gd name="adj" fmla="val 666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5681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560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077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Wadah dasar tata letak, setara &lt;div&gt; di web.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1645920"/>
            <a:ext cx="2514600" cy="1920240"/>
          </a:xfrm>
          <a:prstGeom prst="roundRect">
            <a:avLst>
              <a:gd name="adj" fmla="val 666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1874520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96" y="195681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2560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29077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teks. Semua teks wajib di dalamnya.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1645920"/>
            <a:ext cx="2514600" cy="1920240"/>
          </a:xfrm>
          <a:prstGeom prst="roundRect">
            <a:avLst>
              <a:gd name="adj" fmla="val 666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46520" y="1874520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95681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46520" y="2560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6446520" y="29077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gambar lokal maupun dari URL.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06840" y="1645920"/>
            <a:ext cx="2514600" cy="1920240"/>
          </a:xfrm>
          <a:prstGeom prst="roundRect">
            <a:avLst>
              <a:gd name="adj" fmla="val 666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35440" y="1874520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195681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35440" y="2560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ScrollView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9235440" y="29077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yang bisa digulir, untuk daftar pendek.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3794760"/>
            <a:ext cx="2514600" cy="1920240"/>
          </a:xfrm>
          <a:prstGeom prst="roundRect">
            <a:avLst>
              <a:gd name="adj" fmla="val 666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68680" y="4023360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10565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68680" y="4709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FlatList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868680" y="50566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panjang yang efisien, render sesuai layar.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3429000" y="3794760"/>
            <a:ext cx="2514600" cy="1920240"/>
          </a:xfrm>
          <a:prstGeom prst="roundRect">
            <a:avLst>
              <a:gd name="adj" fmla="val 666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57600" y="4023360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4105656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657600" y="4709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TextInput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3657600" y="50566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isian teks untuk formulir dan pencarian.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6217920" y="3794760"/>
            <a:ext cx="2514600" cy="1920240"/>
          </a:xfrm>
          <a:prstGeom prst="roundRect">
            <a:avLst>
              <a:gd name="adj" fmla="val 666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46520" y="4023360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816" y="4105656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46520" y="4709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Pressable</a:t>
            </a:r>
            <a:endParaRPr lang="en-US" sz="1450" dirty="0"/>
          </a:p>
        </p:txBody>
      </p:sp>
      <p:sp>
        <p:nvSpPr>
          <p:cNvPr id="38" name="Text 29"/>
          <p:cNvSpPr txBox="1"/>
          <p:nvPr/>
        </p:nvSpPr>
        <p:spPr>
          <a:xfrm>
            <a:off x="6446520" y="50566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Menangkap sentuhan; pengganti Button modern.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9006840" y="3794760"/>
            <a:ext cx="2514600" cy="1920240"/>
          </a:xfrm>
          <a:prstGeom prst="roundRect">
            <a:avLst>
              <a:gd name="adj" fmla="val 666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235440" y="4023360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7736" y="4105656"/>
            <a:ext cx="384048" cy="384048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235440" y="4709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Modal</a:t>
            </a:r>
            <a:endParaRPr lang="en-US" sz="1450" dirty="0"/>
          </a:p>
        </p:txBody>
      </p:sp>
      <p:sp>
        <p:nvSpPr>
          <p:cNvPr id="43" name="Text 33"/>
          <p:cNvSpPr txBox="1"/>
          <p:nvPr/>
        </p:nvSpPr>
        <p:spPr>
          <a:xfrm>
            <a:off x="9235440" y="50566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Jendela melayang di atas layar; padu dengan SafeAreaView.</a:t>
            </a:r>
            <a:endParaRPr lang="en-US" sz="1150" dirty="0"/>
          </a:p>
        </p:txBody>
      </p:sp>
      <p:sp>
        <p:nvSpPr>
          <p:cNvPr id="44" name="Text 34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FlatList, bukan ScrollView, untuk daftar dengan banyak data agar aplikasi tetap ringan.</a:t>
            </a:r>
            <a:endParaRPr lang="en-US" sz="1250" dirty="0"/>
          </a:p>
        </p:txBody>
      </p:sp>
      <p:sp>
        <p:nvSpPr>
          <p:cNvPr id="45" name="Text 35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 dengan StyleSheet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035040" cy="3783711"/>
          </a:xfrm>
          <a:prstGeom prst="roundRect">
            <a:avLst>
              <a:gd name="adj" fmla="val 2417"/>
            </a:avLst>
          </a:prstGeom>
          <a:solidFill>
            <a:srgbClr val="12203F"/>
          </a:solidFill>
          <a:ln w="12700">
            <a:solidFill>
              <a:srgbClr val="12203F"/>
            </a:solidFill>
            <a:prstDash val="solid"/>
          </a:ln>
          <a:effectLst>
            <a:outerShdw sx="100000" sy="100000" kx="0" ky="0" algn="bl" rotWithShape="0" blurRad="127000" dist="25400" dir="5400000">
              <a:srgbClr val="6C7C99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37360"/>
            <a:ext cx="5669280" cy="341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StyleSheet } from 'react-native';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styles = StyleSheet.create({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kartu: 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backgroundColor: '#FFFFFF',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borderRadius: 12,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padding: 16,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marginBottom: 12,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judul: 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fontSize: 18,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fontWeight: '600',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'#16203A',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95160" y="1554480"/>
            <a:ext cx="4572000" cy="1005840"/>
          </a:xfrm>
          <a:prstGeom prst="roundRect">
            <a:avLst>
              <a:gd name="adj" fmla="val 1272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96328" y="1792224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1766" y="1867662"/>
            <a:ext cx="352044" cy="3520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836408" y="1700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CSS, tapi objek JS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836408" y="19933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properti memakai camelCase: backgroundColor, bukan background-color.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95160" y="2697480"/>
            <a:ext cx="4572000" cy="1005840"/>
          </a:xfrm>
          <a:prstGeom prst="roundRect">
            <a:avLst>
              <a:gd name="adj" fmla="val 1272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96328" y="2935224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766" y="3010662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36408" y="2843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tanpa satuan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836408" y="31363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padding: 16 berarti 16 density-independent pixel, otomatis menyesuaikan kerapatan layar.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995160" y="3840480"/>
            <a:ext cx="4572000" cy="1005840"/>
          </a:xfrm>
          <a:prstGeom prst="roundRect">
            <a:avLst>
              <a:gd name="adj" fmla="val 1272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96328" y="4078224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766" y="4153662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836408" y="3986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 dapat digabung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7836408" y="42793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style={[styles.kartu, aktif &amp;&amp; styles.aktif]} untuk gaya bersyarat.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995160" y="4983480"/>
            <a:ext cx="4572000" cy="1005840"/>
          </a:xfrm>
          <a:prstGeom prst="roundRect">
            <a:avLst>
              <a:gd name="adj" fmla="val 1272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196328" y="5221224"/>
            <a:ext cx="502920" cy="5029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1766" y="5296662"/>
            <a:ext cx="352044" cy="3520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836408" y="5129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pewarisan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7836408" y="54223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 tidak menurun ke komponen anak, kecuali sebagian properti teks.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 populer: NativeWind (Tailwind untuk React Native), Tamagui, dan Restyle.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Letak dengan Flexbox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tata letak React Native memakai Flexbox. Berbeda dengan web, arah utama (flexDirection) bawaannya adalah column.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246120" cy="2743200"/>
          </a:xfrm>
          <a:prstGeom prst="roundRect">
            <a:avLst>
              <a:gd name="adj" fmla="val 466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1762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flexDirection: 'column'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5059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bawaan React Native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788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392424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39242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995928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9959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011680"/>
            <a:ext cx="3246120" cy="2743200"/>
          </a:xfrm>
          <a:prstGeom prst="roundRect">
            <a:avLst>
              <a:gd name="adj" fmla="val 466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343400" y="21762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flexDirection: 'row'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245059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berjajar mendatar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2788920"/>
            <a:ext cx="868680" cy="1664208"/>
          </a:xfrm>
          <a:prstGeom prst="roundRect">
            <a:avLst>
              <a:gd name="adj" fmla="val 8421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43400" y="2788920"/>
            <a:ext cx="8686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0" y="2788920"/>
            <a:ext cx="868680" cy="1664208"/>
          </a:xfrm>
          <a:prstGeom prst="roundRect">
            <a:avLst>
              <a:gd name="adj" fmla="val 8421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03520" y="2788920"/>
            <a:ext cx="8686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2788920"/>
            <a:ext cx="868680" cy="1664208"/>
          </a:xfrm>
          <a:prstGeom prst="roundRect">
            <a:avLst>
              <a:gd name="adj" fmla="val 8421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63640" y="2788920"/>
            <a:ext cx="8686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0" y="2011680"/>
            <a:ext cx="3794760" cy="2743200"/>
          </a:xfrm>
          <a:prstGeom prst="roundRect">
            <a:avLst>
              <a:gd name="adj" fmla="val 4667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973568" y="2176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 YANG SERING DIPAKAI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973568" y="2542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flex: 1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418320" y="25603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Mengisi seluruh ruang yang tersisa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973568" y="2971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justifyContent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418320" y="29900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Perataan searah sumbu utama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973568" y="3401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alignItems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418320" y="341985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Perataan searah sumbu silang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973568" y="38313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gap: 12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418320" y="384962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Jarak antar elemen anak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973568" y="42611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flexWrap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418320" y="42793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Membungkus item ke baris berikutnya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4983480"/>
            <a:ext cx="10881360" cy="1078611"/>
          </a:xfrm>
          <a:prstGeom prst="roundRect">
            <a:avLst>
              <a:gd name="adj" fmla="val 8478"/>
            </a:avLst>
          </a:prstGeom>
          <a:solidFill>
            <a:srgbClr val="12203F"/>
          </a:solidFill>
          <a:ln w="12700">
            <a:solidFill>
              <a:srgbClr val="12203F"/>
            </a:solidFill>
            <a:prstDash val="solid"/>
          </a:ln>
          <a:effectLst>
            <a:outerShdw sx="100000" sy="100000" kx="0" ky="0" algn="bl" rotWithShape="0" blurRad="127000" dist="25400" dir="5400000">
              <a:srgbClr val="6C7C99">
                <a:alpha val="2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41248" y="5166360"/>
            <a:ext cx="10515600" cy="712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styles = StyleSheet.create({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wadah: { flex: 1, flexDirection: 'row', justifyContent: 'space-between', alignItems: 'center', gap: 12 },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Tampilan Responsif dan Khusus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035040" cy="3783711"/>
          </a:xfrm>
          <a:prstGeom prst="roundRect">
            <a:avLst>
              <a:gd name="adj" fmla="val 2417"/>
            </a:avLst>
          </a:prstGeom>
          <a:solidFill>
            <a:srgbClr val="12203F"/>
          </a:solidFill>
          <a:ln w="12700">
            <a:solidFill>
              <a:srgbClr val="12203F"/>
            </a:solidFill>
            <a:prstDash val="solid"/>
          </a:ln>
          <a:effectLst>
            <a:outerShdw sx="100000" sy="100000" kx="0" ky="0" algn="bl" rotWithShape="0" blurRad="127000" dist="25400" dir="5400000">
              <a:srgbClr val="6C7C99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37360"/>
            <a:ext cx="5669280" cy="341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Platform, useWindowDimensions } from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'react-native';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width } = useWindowDimensions();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kolom = width &gt; 700 ? 3 : 2;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styles = StyleSheet.create({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header: 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paddingTop: Platform.select({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ios: 20,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android: 12,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default: 0,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}),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95160" y="1554480"/>
            <a:ext cx="4572000" cy="1005840"/>
          </a:xfrm>
          <a:prstGeom prst="roundRect">
            <a:avLst>
              <a:gd name="adj" fmla="val 1272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96328" y="1792224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1766" y="1867662"/>
            <a:ext cx="352044" cy="3520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836408" y="1700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useWindowDimensions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836408" y="19933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yang mengembalikan ukuran layar terkini dan ikut berubah saat perangkat diputar.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95160" y="2697480"/>
            <a:ext cx="4572000" cy="1005840"/>
          </a:xfrm>
          <a:prstGeom prst="roundRect">
            <a:avLst>
              <a:gd name="adj" fmla="val 1272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96328" y="2935224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766" y="3010662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36408" y="2843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SafeAreaView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836408" y="31363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Menjaga konten agar tidak tertutup notch, status bar, atau tombol navigasi.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995160" y="3840480"/>
            <a:ext cx="4572000" cy="1005840"/>
          </a:xfrm>
          <a:prstGeom prst="roundRect">
            <a:avLst>
              <a:gd name="adj" fmla="val 1272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96328" y="4078224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766" y="4153662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836408" y="3986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Platform.OS &amp; select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7836408" y="42793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Menyesuaikan perilaku atau gaya khusus untuk ios, android, dan web.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995160" y="4983480"/>
            <a:ext cx="4572000" cy="1005840"/>
          </a:xfrm>
          <a:prstGeom prst="roundRect">
            <a:avLst>
              <a:gd name="adj" fmla="val 1272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196328" y="5221224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1766" y="5296662"/>
            <a:ext cx="352044" cy="3520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836408" y="5129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per platform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7836408" y="54223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Tombol.ios.tsx dan Tombol.android.tsx dipilih otomatis oleh bundler.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 VISUAL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Ikon, Font Kustom, dan Tema Gelap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035040" cy="3215640"/>
          </a:xfrm>
          <a:prstGeom prst="roundRect">
            <a:avLst>
              <a:gd name="adj" fmla="val 2844"/>
            </a:avLst>
          </a:prstGeom>
          <a:solidFill>
            <a:srgbClr val="12203F"/>
          </a:solidFill>
          <a:ln w="12700">
            <a:solidFill>
              <a:srgbClr val="12203F"/>
            </a:solidFill>
            <a:prstDash val="solid"/>
          </a:ln>
          <a:effectLst>
            <a:outerShdw sx="100000" sy="100000" kx="0" ky="0" algn="bl" rotWithShape="0" blurRad="127000" dist="25400" dir="5400000">
              <a:srgbClr val="6C7C99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37360"/>
            <a:ext cx="5669280" cy="284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Ionicons } from '@expo/vector-icons';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useFonts } from 'expo-font';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useColorScheme } from 'react-native';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[siap] = useFonts({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Poppins: require('../assets/Poppins.ttf'),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skema = useColorScheme();  // 'light'|'dark'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(!siap) return null;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&lt;Ionicons name="cart-outline" size={24}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color={skema === 'dark' ? '#FFF' : '#16203A'} /&gt;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995160" y="1554480"/>
            <a:ext cx="4572000" cy="1005840"/>
          </a:xfrm>
          <a:prstGeom prst="roundRect">
            <a:avLst>
              <a:gd name="adj" fmla="val 1272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96328" y="1805940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1766" y="1881378"/>
            <a:ext cx="352044" cy="3520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836408" y="170078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@expo/vector-icons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836408" y="1993392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Ribuan ikon siap pakai (Ionicons, Material, Feather) tanpa perlu unduh berkas apa pun.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95160" y="2697480"/>
            <a:ext cx="4572000" cy="1005840"/>
          </a:xfrm>
          <a:prstGeom prst="roundRect">
            <a:avLst>
              <a:gd name="adj" fmla="val 1272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96328" y="2948940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766" y="3024378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36408" y="284378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expo-font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836408" y="3136392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Memuat font kustom dengan hook useFonts; tampilkan layar kosong sampai font selesai dimuat.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995160" y="3840480"/>
            <a:ext cx="4572000" cy="1005840"/>
          </a:xfrm>
          <a:prstGeom prst="roundRect">
            <a:avLst>
              <a:gd name="adj" fmla="val 1272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96328" y="4091940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766" y="4167378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836408" y="398678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useColorScheme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7836408" y="4279392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preferensi terang/gelap perangkat, lalu pilih warna dari satu berkas tema.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995160" y="4983480"/>
            <a:ext cx="4572000" cy="1005840"/>
          </a:xfrm>
          <a:prstGeom prst="roundRect">
            <a:avLst>
              <a:gd name="adj" fmla="val 1272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196328" y="5234940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1766" y="5310378"/>
            <a:ext cx="352044" cy="3520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836408" y="512978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expo-splash-screen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7836408" y="5422392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Menahan splash screen tetap tampil hingga font dan data awal siap.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seluruh warna, ukuran, dan jenis huruf di satu berkas tema agar mudah diganti serentak.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Animasi dan Gestur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309360" cy="3648456"/>
          </a:xfrm>
          <a:prstGeom prst="roundRect">
            <a:avLst>
              <a:gd name="adj" fmla="val 2506"/>
            </a:avLst>
          </a:prstGeom>
          <a:solidFill>
            <a:srgbClr val="12203F"/>
          </a:solidFill>
          <a:ln w="12700">
            <a:solidFill>
              <a:srgbClr val="12203F"/>
            </a:solidFill>
            <a:prstDash val="solid"/>
          </a:ln>
          <a:effectLst>
            <a:outerShdw sx="100000" sy="100000" kx="0" ky="0" algn="bl" rotWithShape="0" blurRad="127000" dist="25400" dir="5400000">
              <a:srgbClr val="6C7C99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37360"/>
            <a:ext cx="5943600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Animated, { useSharedValue,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useAnimatedStyle, withSpring }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'react-native-reanimated';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skala = useSharedValue(1);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gaya = useAnimatedStyle(() =&gt; ({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 [{ scale: skala.value }],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&lt;Pressable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onPressIn={() =&gt; (skala.value = withSpring(1.1))}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onPressOut={() =&gt; (skala.value = withSpring(1))}&gt;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&lt;Animated.View style={[styles.kartu, gaya]} /&gt;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&lt;/Pressable&gt;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269480" y="1554480"/>
            <a:ext cx="4297680" cy="1005840"/>
          </a:xfrm>
          <a:prstGeom prst="roundRect">
            <a:avLst>
              <a:gd name="adj" fmla="val 1272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70648" y="1805940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6086" y="1881378"/>
            <a:ext cx="352044" cy="3520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110728" y="1700784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Reanimated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110728" y="1993392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Animasi berjalan di thread UI, tetap 60 fps walau thread JavaScript sedang sibuk.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269480" y="2697480"/>
            <a:ext cx="4297680" cy="1005840"/>
          </a:xfrm>
          <a:prstGeom prst="roundRect">
            <a:avLst>
              <a:gd name="adj" fmla="val 1272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70648" y="2948940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086" y="3024378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110728" y="2843784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Handler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8110728" y="3136392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Menangani geser, cubit, dan tarik-lepas secara mulus; jadi fondasi navigasi bawaan.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269480" y="3840480"/>
            <a:ext cx="4297680" cy="1005840"/>
          </a:xfrm>
          <a:prstGeom prst="roundRect">
            <a:avLst>
              <a:gd name="adj" fmla="val 1272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470648" y="4091940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086" y="4167378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110728" y="3986784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Entering &amp; Layout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8110728" y="4279392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Animasi masuk-keluar siap pakai seperti FadeIn dan SlideInRight, cukup satu properti.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269480" y="4983480"/>
            <a:ext cx="4297680" cy="1005840"/>
          </a:xfrm>
          <a:prstGeom prst="roundRect">
            <a:avLst>
              <a:gd name="adj" fmla="val 1272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70648" y="5234940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086" y="5310378"/>
            <a:ext cx="352044" cy="3520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110728" y="5129784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Lottie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8110728" y="5422392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animasi rancangan desainer berformat JSON untuk onboarding dan status kosong.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animasi untuk memberi umpan balik, bukan sekadar hiasan. Durasi 150–300 ms terasa paling alami.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1B2C52">
              <a:alpha val="55000"/>
            </a:srgbClr>
          </a:solidFill>
          <a:ln w="12700">
            <a:solidFill>
              <a:srgbClr val="1B2C5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6C4CF1">
              <a:alpha val="18000"/>
            </a:srgbClr>
          </a:solidFill>
          <a:ln w="12700">
            <a:solidFill>
              <a:srgbClr val="6C4CF1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Navigasi Antar Layar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 mengubah struktur folder menjadi peta rute: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sederhana, konsisten, dan mudah dibaca tim.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52560" y="2286000"/>
            <a:ext cx="2286000" cy="2286000"/>
          </a:xfrm>
          <a:prstGeom prst="ellipse">
            <a:avLst/>
          </a:prstGeom>
          <a:solidFill>
            <a:srgbClr val="1B2C52"/>
          </a:solidFill>
          <a:ln w="15875">
            <a:solidFill>
              <a:srgbClr val="61DAF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8346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Router: Rute Berbasis Berkas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Letakkan berkas di dalam folder app/, maka Expo Router otomatis membuatkan rutenya. Tidak perlu mendaftarkan layar satu per satu.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760720" cy="2566416"/>
          </a:xfrm>
          <a:prstGeom prst="roundRect">
            <a:avLst>
              <a:gd name="adj" fmla="val 3563"/>
            </a:avLst>
          </a:prstGeom>
          <a:solidFill>
            <a:srgbClr val="12203F"/>
          </a:solidFill>
          <a:ln w="12700">
            <a:solidFill>
              <a:srgbClr val="12203F"/>
            </a:solidFill>
            <a:prstDash val="solid"/>
          </a:ln>
          <a:effectLst>
            <a:outerShdw sx="100000" sy="100000" kx="0" ky="0" algn="bl" rotWithShape="0" blurRad="127000" dist="25400" dir="5400000">
              <a:srgbClr val="6C7C99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2148840"/>
            <a:ext cx="5394960" cy="220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_layout.tsx        # kerangka umum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index.tsx          # "/"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tentang.tsx        # "/tentang"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(tabs)/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_layout.tsx     # navigasi tab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beranda.tsx     # tab Beranda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profil.tsx      # tab Profil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produk/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[id].tsx        # "/produk/12"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20840" y="1965960"/>
            <a:ext cx="4846320" cy="960120"/>
          </a:xfrm>
          <a:prstGeom prst="roundRect">
            <a:avLst>
              <a:gd name="adj" fmla="val 13333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22008" y="2185416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7446" y="2260854"/>
            <a:ext cx="352044" cy="3520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562088" y="2093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berkas = alamat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562088" y="2377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index.tsx menjadi halaman awal, tentang.tsx menjadi rute /tentang.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720840" y="3063240"/>
            <a:ext cx="4846320" cy="960120"/>
          </a:xfrm>
          <a:prstGeom prst="roundRect">
            <a:avLst>
              <a:gd name="adj" fmla="val 13333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922008" y="3282696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446" y="3358134"/>
            <a:ext cx="352044" cy="3520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562088" y="31912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_layout.tsx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7562088" y="3474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kerangka navigasi (Stack/Tabs) dan bagian yang tampil di semua layar di bawahnya.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720840" y="4160520"/>
            <a:ext cx="4846320" cy="960120"/>
          </a:xfrm>
          <a:prstGeom prst="roundRect">
            <a:avLst>
              <a:gd name="adj" fmla="val 13333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22008" y="4379976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446" y="4455414"/>
            <a:ext cx="352044" cy="3520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562088" y="4288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(tanda kurung)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7562088" y="4572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seperti (tabs) hanya untuk pengelompokan, namanya tidak muncul di alamat rute.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720840" y="5257800"/>
            <a:ext cx="4846320" cy="960120"/>
          </a:xfrm>
          <a:prstGeom prst="roundRect">
            <a:avLst>
              <a:gd name="adj" fmla="val 13333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922008" y="5477256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7446" y="5552694"/>
            <a:ext cx="352044" cy="3520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62088" y="5385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[id].tsx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7562088" y="5669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Rute dinamis. Nilai id dibaca dengan hook useLocalSearchParams().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Navigasi dan Pengiriman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74720" cy="1783080"/>
          </a:xfrm>
          <a:prstGeom prst="roundRect">
            <a:avLst>
              <a:gd name="adj" fmla="val 7179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10512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892808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92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14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Layar bertumpuk seperti kartu. Ada tombol kembali otomatis. Untuk alur daftar → detail.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474720" cy="1783080"/>
          </a:xfrm>
          <a:prstGeom prst="roundRect">
            <a:avLst>
              <a:gd name="adj" fmla="val 7179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810512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189280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1892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514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di bagian bawah layar. Untuk berpindah antar bagian utama aplikasi.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474720" cy="1783080"/>
          </a:xfrm>
          <a:prstGeom prst="roundRect">
            <a:avLst>
              <a:gd name="adj" fmla="val 7179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810512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189280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0" y="1892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Drawer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514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geser dari sisi kiri. Cocok untuk aplikasi dengan banyak menu.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611880"/>
            <a:ext cx="5760720" cy="2350008"/>
          </a:xfrm>
          <a:prstGeom prst="roundRect">
            <a:avLst>
              <a:gd name="adj" fmla="val 3891"/>
            </a:avLst>
          </a:prstGeom>
          <a:solidFill>
            <a:srgbClr val="12203F"/>
          </a:solidFill>
          <a:ln w="12700">
            <a:solidFill>
              <a:srgbClr val="12203F"/>
            </a:solidFill>
            <a:prstDash val="solid"/>
          </a:ln>
          <a:effectLst>
            <a:outerShdw sx="100000" sy="100000" kx="0" ky="0" algn="bl" rotWithShape="0" blurRad="127000" dist="25400" dir="5400000">
              <a:srgbClr val="6C7C99">
                <a:alpha val="28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841248" y="3794760"/>
            <a:ext cx="539496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Link, useRouter } from 'expo-router';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Cara 1: komponen Link (deklaratif)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href="/produk/12"&gt;Lihat produk&lt;/Link&gt;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Cara 2: router (imperatif, di dalam fungsi)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router = useRouter();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router.push('/produk/12');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router.back();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720840" y="3611880"/>
            <a:ext cx="4846320" cy="2133600"/>
          </a:xfrm>
          <a:prstGeom prst="roundRect">
            <a:avLst>
              <a:gd name="adj" fmla="val 4286"/>
            </a:avLst>
          </a:prstGeom>
          <a:solidFill>
            <a:srgbClr val="12203F"/>
          </a:solidFill>
          <a:ln w="12700">
            <a:solidFill>
              <a:srgbClr val="12203F"/>
            </a:solidFill>
            <a:prstDash val="solid"/>
          </a:ln>
          <a:effectLst>
            <a:outerShdw sx="100000" sy="100000" kx="0" ky="0" algn="bl" rotWithShape="0" blurRad="127000" dist="25400" dir="5400000">
              <a:srgbClr val="6C7C99">
                <a:alpha val="28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6922008" y="3794760"/>
            <a:ext cx="4480560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app/produk/[id].tsx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useLocalSearchParams }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'expo-router';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Detail() {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id } = useLocalSearchParams();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&lt;Text&gt;Produk ke-{id}&lt;/Text&gt;;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1B2C52">
              <a:alpha val="55000"/>
            </a:srgbClr>
          </a:solidFill>
          <a:ln w="12700">
            <a:solidFill>
              <a:srgbClr val="1B2C5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6C4CF1">
              <a:alpha val="18000"/>
            </a:srgbClr>
          </a:solidFill>
          <a:ln w="12700">
            <a:solidFill>
              <a:srgbClr val="6C4CF1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Perangkat dan Data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Kamera, lokasi, dan sensor; mengambil serta menyimpan data;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sampai autentikasi pengguna dan notifikasi push.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52560" y="2286000"/>
            <a:ext cx="2286000" cy="2286000"/>
          </a:xfrm>
          <a:prstGeom prst="ellipse">
            <a:avLst/>
          </a:prstGeom>
          <a:solidFill>
            <a:srgbClr val="1B2C52"/>
          </a:solidFill>
          <a:ln w="15875">
            <a:solidFill>
              <a:srgbClr val="61DAF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8346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Mengakses Fitur Perangkat dengan Expo SDK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14600" cy="1874520"/>
          </a:xfrm>
          <a:prstGeom prst="roundRect">
            <a:avLst>
              <a:gd name="adj" fmla="val 6829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65376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476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expo-camera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85292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Memotret dan merekam video, termasuk pemindai kode QR.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1645920"/>
            <a:ext cx="2514600" cy="1874520"/>
          </a:xfrm>
          <a:prstGeom prst="roundRect">
            <a:avLst>
              <a:gd name="adj" fmla="val 6829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1865376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96" y="194767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30168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expo-location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3630168" y="285292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koordinat GPS dan memantau posisi pengguna.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1645920"/>
            <a:ext cx="2514600" cy="1874520"/>
          </a:xfrm>
          <a:prstGeom prst="roundRect">
            <a:avLst>
              <a:gd name="adj" fmla="val 6829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46520" y="1865376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94767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19088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expo-notifications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419088" y="285292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 lokal maupun push ke perangkat pengguna.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06840" y="1645920"/>
            <a:ext cx="2514600" cy="1874520"/>
          </a:xfrm>
          <a:prstGeom prst="roundRect">
            <a:avLst>
              <a:gd name="adj" fmla="val 6829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35440" y="1865376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194767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08008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expo-image-picker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9208008" y="285292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foto dan video dari galeri perangkat.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3749040"/>
            <a:ext cx="2514600" cy="1874520"/>
          </a:xfrm>
          <a:prstGeom prst="roundRect">
            <a:avLst>
              <a:gd name="adj" fmla="val 6829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68680" y="3968496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050792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41248" y="4645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expo-file-system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841248" y="49560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Membaca, menulis, mengunduh, dan mengelola berkas.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3429000" y="3749040"/>
            <a:ext cx="2514600" cy="1874520"/>
          </a:xfrm>
          <a:prstGeom prst="roundRect">
            <a:avLst>
              <a:gd name="adj" fmla="val 6829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57600" y="3968496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4050792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630168" y="4645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expo-sensors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3630168" y="49560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Akselerometer, giroskop, magnetometer, dan barometer.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6217920" y="3749040"/>
            <a:ext cx="2514600" cy="1874520"/>
          </a:xfrm>
          <a:prstGeom prst="roundRect">
            <a:avLst>
              <a:gd name="adj" fmla="val 6829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46520" y="3968496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816" y="4050792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19088" y="4645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expo-local-authentication</a:t>
            </a:r>
            <a:endParaRPr lang="en-US" sz="1100" dirty="0"/>
          </a:p>
        </p:txBody>
      </p:sp>
      <p:sp>
        <p:nvSpPr>
          <p:cNvPr id="38" name="Text 29"/>
          <p:cNvSpPr txBox="1"/>
          <p:nvPr/>
        </p:nvSpPr>
        <p:spPr>
          <a:xfrm>
            <a:off x="6419088" y="49560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sidik jari dan pengenalan wajah.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9006840" y="3749040"/>
            <a:ext cx="2514600" cy="1874520"/>
          </a:xfrm>
          <a:prstGeom prst="roundRect">
            <a:avLst>
              <a:gd name="adj" fmla="val 6829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235440" y="3968496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7736" y="4050792"/>
            <a:ext cx="384048" cy="384048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208008" y="4645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expo-av / expo-audio</a:t>
            </a:r>
            <a:endParaRPr lang="en-US" sz="1100" dirty="0"/>
          </a:p>
        </p:txBody>
      </p:sp>
      <p:sp>
        <p:nvSpPr>
          <p:cNvPr id="43" name="Text 33"/>
          <p:cNvSpPr txBox="1"/>
          <p:nvPr/>
        </p:nvSpPr>
        <p:spPr>
          <a:xfrm>
            <a:off x="9208008" y="49560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Memutar audio dan video di dalam aplikasi.</a:t>
            </a:r>
            <a:endParaRPr lang="en-US" sz="1150" dirty="0"/>
          </a:p>
        </p:txBody>
      </p:sp>
      <p:sp>
        <p:nvSpPr>
          <p:cNvPr id="44" name="Shape 34"/>
          <p:cNvSpPr/>
          <p:nvPr/>
        </p:nvSpPr>
        <p:spPr>
          <a:xfrm>
            <a:off x="640080" y="5897880"/>
            <a:ext cx="10332720" cy="594360"/>
          </a:xfrm>
          <a:prstGeom prst="roundRect">
            <a:avLst>
              <a:gd name="adj" fmla="val 21538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45" name="Text 35"/>
          <p:cNvSpPr txBox="1"/>
          <p:nvPr/>
        </p:nvSpPr>
        <p:spPr>
          <a:xfrm>
            <a:off x="914400" y="58978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 modul dengan:</a:t>
            </a:r>
            <a:endParaRPr lang="en-US" sz="1250" dirty="0"/>
          </a:p>
        </p:txBody>
      </p:sp>
      <p:sp>
        <p:nvSpPr>
          <p:cNvPr id="46" name="Text 36"/>
          <p:cNvSpPr txBox="1"/>
          <p:nvPr/>
        </p:nvSpPr>
        <p:spPr>
          <a:xfrm>
            <a:off x="2926080" y="58978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 install expo-camera expo-location</a:t>
            </a:r>
            <a:endParaRPr lang="en-US" sz="1250" dirty="0"/>
          </a:p>
        </p:txBody>
      </p:sp>
      <p:sp>
        <p:nvSpPr>
          <p:cNvPr id="47" name="Text 37"/>
          <p:cNvSpPr txBox="1"/>
          <p:nvPr/>
        </p:nvSpPr>
        <p:spPr>
          <a:xfrm>
            <a:off x="7589520" y="58978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pakai npm install — expo install memilih versi yang cocok.</a:t>
            </a:r>
            <a:endParaRPr lang="en-US" sz="1050" dirty="0"/>
          </a:p>
        </p:txBody>
      </p:sp>
      <p:sp>
        <p:nvSpPr>
          <p:cNvPr id="48" name="Text 38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Mengambil Data dari API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400800" cy="4297680"/>
          </a:xfrm>
          <a:prstGeom prst="roundRect">
            <a:avLst>
              <a:gd name="adj" fmla="val 2128"/>
            </a:avLst>
          </a:prstGeom>
          <a:solidFill>
            <a:srgbClr val="12203F"/>
          </a:solidFill>
          <a:ln w="12700">
            <a:solidFill>
              <a:srgbClr val="12203F"/>
            </a:solidFill>
            <a:prstDash val="solid"/>
          </a:ln>
          <a:effectLst>
            <a:outerShdw sx="100000" sy="100000" kx="0" ky="0" algn="bl" rotWithShape="0" blurRad="127000" dist="25400" dir="5400000">
              <a:srgbClr val="6C7C99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3736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[data, setData] = useState([]);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[muat, setMuat] = useState(true);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function ambilData() {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res = await fetch('https://api.contoh.id/produk');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setData(await res.json());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(e) {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console.warn('Gagal memuat data', e);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finally {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setMuat(false);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ambilData();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(muat) return &lt;ActivityIndicator /&gt;;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60920" y="1554480"/>
            <a:ext cx="4206240" cy="1005840"/>
          </a:xfrm>
          <a:prstGeom prst="roundRect">
            <a:avLst>
              <a:gd name="adj" fmla="val 1272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62088" y="1792224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526" y="1867662"/>
            <a:ext cx="352044" cy="3520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02168" y="1682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tangani 3 keadaan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02168" y="197510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Sedang memuat, berhasil, dan gagal. Pengguna harus tahu apa yang sedang terjadi.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60920" y="2697480"/>
            <a:ext cx="4206240" cy="1005840"/>
          </a:xfrm>
          <a:prstGeom prst="roundRect">
            <a:avLst>
              <a:gd name="adj" fmla="val 1272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562088" y="2935224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526" y="3010662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202168" y="2825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HTTPS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202168" y="311810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dan iOS memblokir koneksi HTTP biasa demi keamanan pengguna.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60920" y="3840480"/>
            <a:ext cx="4206240" cy="1005840"/>
          </a:xfrm>
          <a:prstGeom prst="roundRect">
            <a:avLst>
              <a:gd name="adj" fmla="val 1272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562088" y="4078224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526" y="4153662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02168" y="3968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202168" y="426110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Pustaka populer untuk caching, muat ulang otomatis, dan status permintaan.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360920" y="4983480"/>
            <a:ext cx="4206240" cy="1005840"/>
          </a:xfrm>
          <a:prstGeom prst="roundRect">
            <a:avLst>
              <a:gd name="adj" fmla="val 1272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562088" y="5221224"/>
            <a:ext cx="502920" cy="5029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526" y="5296662"/>
            <a:ext cx="352044" cy="3520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202168" y="5111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API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8202168" y="540410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di variabel lingkungan, jangan ditulis langsung di dalam kode.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hasilnya dengan  &lt;FlatList data={data} keyExtractor={(i) =&gt; i.id} renderItem={...} /&gt;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PENGELOLAAN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Penyimpanan Data dan Manajemen State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03520" cy="4480560"/>
          </a:xfrm>
          <a:prstGeom prst="roundRect">
            <a:avLst>
              <a:gd name="adj" fmla="val 285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10512"/>
            <a:ext cx="530352" cy="530352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953" y="1890065"/>
            <a:ext cx="371246" cy="37124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72768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Menyimpan Data di Perangkat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AsyncStorage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8072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Penyimpanan sederhana pasangan kunci-nilai, cocok untuk preferensi pengguna.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383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expo-secure-store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6758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Terenkripsi. Untuk token login dan data rahasia lainnya.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251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expo-sqlite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5445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data relasional lokal untuk data terstruktur dan mode luring.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5120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MMKV / Drizzle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54132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 modern dengan kecepatan baca-tulis lebih tinggi.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63640" y="1554480"/>
            <a:ext cx="5303520" cy="4480560"/>
          </a:xfrm>
          <a:prstGeom prst="roundRect">
            <a:avLst>
              <a:gd name="adj" fmla="val 2857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37960" y="1810512"/>
            <a:ext cx="530352" cy="530352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513" y="1890065"/>
            <a:ext cx="371246" cy="37124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196328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Mengelola State Aplikasi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6537960" y="2514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6537960" y="28072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lokal satu komponen. Selalu mulai dari sini.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6537960" y="3383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useContext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6537960" y="36758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Berbagi data ringan seperti tema dan status login.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6537960" y="4251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Zustand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6537960" y="45445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Pustaka ringan untuk state global, sintaksnya sederhana.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6537960" y="5120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Redux Toolkit</a:t>
            </a:r>
            <a:endParaRPr 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6537960" y="54132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aplikasi besar dengan alur data kompleks dan tim besar.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Prinsipnya: pakai solusi paling sederhana yang sudah cukup. Jangan langsung memakai Redux untuk aplikasi kecil.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Autentikasi dan Sesi Pengguna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Hampir setiap aplikasi butuh login. Expo tidak menyediakan server autentikasi sendiri, jadi pilih salah satu layanan berikut.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14600" cy="1920240"/>
          </a:xfrm>
          <a:prstGeom prst="roundRect">
            <a:avLst>
              <a:gd name="adj" fmla="val 666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18488" y="219456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23317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8803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cepat disiapkan. Mendukung email, Google, Apple, dan nomor telepon.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29000" y="1965960"/>
            <a:ext cx="2514600" cy="1920240"/>
          </a:xfrm>
          <a:prstGeom prst="roundRect">
            <a:avLst>
              <a:gd name="adj" fmla="val 666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07408" y="2194560"/>
            <a:ext cx="566928" cy="56692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447" y="2279599"/>
            <a:ext cx="396850" cy="39685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28803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 open-source dengan basis data PostgreSQL sekaligus.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1965960"/>
            <a:ext cx="2514600" cy="1920240"/>
          </a:xfrm>
          <a:prstGeom prst="roundRect">
            <a:avLst>
              <a:gd name="adj" fmla="val 666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96328" y="2194560"/>
            <a:ext cx="566928" cy="566928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67" y="2279599"/>
            <a:ext cx="396850" cy="39685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55080" y="28803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sendiri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0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Anda menerbitkan JWT; paling fleksibel dan penuh kendali.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06840" y="1965960"/>
            <a:ext cx="2514600" cy="1920240"/>
          </a:xfrm>
          <a:prstGeom prst="roundRect">
            <a:avLst>
              <a:gd name="adj" fmla="val 666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985248" y="2194560"/>
            <a:ext cx="566928" cy="56692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0287" y="2279599"/>
            <a:ext cx="396850" cy="39685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44000" y="28803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expo-auth-session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189720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OAuth ke Google, Apple, atau GitHub langsung dari aplikasi.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40080" y="4023360"/>
            <a:ext cx="5943600" cy="2476246"/>
          </a:xfrm>
          <a:prstGeom prst="roundRect">
            <a:avLst>
              <a:gd name="adj" fmla="val 3693"/>
            </a:avLst>
          </a:prstGeom>
          <a:solidFill>
            <a:srgbClr val="12203F"/>
          </a:solidFill>
          <a:ln w="12700">
            <a:solidFill>
              <a:srgbClr val="12203F"/>
            </a:solidFill>
            <a:prstDash val="solid"/>
          </a:ln>
          <a:effectLst>
            <a:outerShdw sx="100000" sy="100000" kx="0" ky="0" algn="bl" rotWithShape="0" blurRad="127000" dist="25400" dir="5400000">
              <a:srgbClr val="6C7C99">
                <a:alpha val="28000"/>
              </a:srgbClr>
            </a:outerShdw>
          </a:effectLst>
        </p:spPr>
      </p:sp>
      <p:sp>
        <p:nvSpPr>
          <p:cNvPr id="26" name="Text 20"/>
          <p:cNvSpPr txBox="1"/>
          <p:nvPr/>
        </p:nvSpPr>
        <p:spPr>
          <a:xfrm>
            <a:off x="841248" y="4206240"/>
            <a:ext cx="5577840" cy="2110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* as SecureStore from 'expo-secure-store';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Simpan token setelah login berhasil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SecureStore.setItemAsync('token', data.token);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Baca kembali saat aplikasi dibuka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token = await SecureStore.getItemAsync('token');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Hapus saat pengguna keluar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SecureStore.deleteItemAsync('token');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903720" y="4023360"/>
            <a:ext cx="4663440" cy="2240280"/>
          </a:xfrm>
          <a:prstGeom prst="roundRect">
            <a:avLst>
              <a:gd name="adj" fmla="val 5714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7132320" y="4224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PENTING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7178040" y="4672584"/>
            <a:ext cx="146304" cy="146304"/>
          </a:xfrm>
          <a:prstGeom prst="ellipse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452360" y="46268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2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disimpan di SecureStore, bukan AsyncStorage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7178040" y="5074920"/>
            <a:ext cx="146304" cy="146304"/>
          </a:xfrm>
          <a:prstGeom prst="ellipse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452360" y="5029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2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sandi tidak pernah disimpan di perangkat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7178040" y="5477256"/>
            <a:ext cx="146304" cy="146304"/>
          </a:xfrm>
          <a:prstGeom prst="ellipse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452360" y="54315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2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Sediakan alur refresh token agar sesi tidak putus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7178040" y="5879592"/>
            <a:ext cx="146304" cy="146304"/>
          </a:xfrm>
          <a:prstGeom prst="ellipse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7452360" y="5833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2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verifikasi ulang token di sisi server</a:t>
            </a:r>
            <a:endParaRPr lang="en-US" sz="1150" dirty="0"/>
          </a:p>
        </p:txBody>
      </p:sp>
      <p:sp>
        <p:nvSpPr>
          <p:cNvPr id="37" name="Text 31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LOGIN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Rute Terproteksi dengan Expo Router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400800" cy="4081272"/>
          </a:xfrm>
          <a:prstGeom prst="roundRect">
            <a:avLst>
              <a:gd name="adj" fmla="val 2240"/>
            </a:avLst>
          </a:prstGeom>
          <a:solidFill>
            <a:srgbClr val="12203F"/>
          </a:solidFill>
          <a:ln w="12700">
            <a:solidFill>
              <a:srgbClr val="12203F"/>
            </a:solidFill>
            <a:prstDash val="solid"/>
          </a:ln>
          <a:effectLst>
            <a:outerShdw sx="100000" sy="100000" kx="0" ky="0" algn="bl" rotWithShape="0" blurRad="127000" dist="25400" dir="5400000">
              <a:srgbClr val="6C7C99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37360"/>
            <a:ext cx="6035040" cy="3715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app/_layout.tsx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Redirect, Stack } from 'expo-router';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RootLayout() {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token, memuat } = useAuth();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(memuat) return &lt;SplashScreen /&gt;;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Belum login -&gt; paksa ke halaman masuk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(!token) return &lt;Redirect href="/masuk" /&gt;;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&lt;Stack&gt;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&lt;Stack.Screen name="(tabs)" /&gt;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&lt;/Stack&gt;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60920" y="1554480"/>
            <a:ext cx="4206240" cy="1005840"/>
          </a:xfrm>
          <a:prstGeom prst="roundRect">
            <a:avLst>
              <a:gd name="adj" fmla="val 1272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62088" y="1805940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526" y="1881378"/>
            <a:ext cx="352044" cy="3520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02168" y="170078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Kelompokkan rute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202168" y="1993392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(auth) untuk layar masuk dan daftar, (tabs) untuk isi aplikasi setelah login.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60920" y="2697480"/>
            <a:ext cx="4206240" cy="1005840"/>
          </a:xfrm>
          <a:prstGeom prst="roundRect">
            <a:avLst>
              <a:gd name="adj" fmla="val 1272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562088" y="2948940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526" y="3024378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202168" y="284378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8202168" y="3136392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status login di satu Context agar semua layar membacanya dari sumber yang sama.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360920" y="3840480"/>
            <a:ext cx="4206240" cy="1005840"/>
          </a:xfrm>
          <a:prstGeom prst="roundRect">
            <a:avLst>
              <a:gd name="adj" fmla="val 1272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562088" y="4091940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526" y="4167378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02168" y="398678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saat mulai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8202168" y="4279392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token dari SecureStore sekali di awal, tahan splash screen selama pengecekan.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360920" y="4983480"/>
            <a:ext cx="4206240" cy="1005840"/>
          </a:xfrm>
          <a:prstGeom prst="roundRect">
            <a:avLst>
              <a:gd name="adj" fmla="val 1272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562088" y="5234940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526" y="5310378"/>
            <a:ext cx="352044" cy="3520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202168" y="512978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Arahkan ulang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8202168" y="5422392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Redirect memindahkan pengguna tanpa layar sempat berkedip.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Ingat: pemeriksaan di aplikasi hanya soal kenyamanan tampilan. Keamanan sesungguhnya tetap ada di server.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Notifikasi Push dari Awal sampai Terkirim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14600" cy="2057400"/>
          </a:xfrm>
          <a:prstGeom prst="roundRect">
            <a:avLst>
              <a:gd name="adj" fmla="val 6222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18488" y="1828800"/>
            <a:ext cx="566928" cy="566928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527" y="1913839"/>
            <a:ext cx="396850" cy="3968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420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Minta izin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077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meminta izin notifikasi kepada pengguna saat dibutuhkan.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18688" y="2011680"/>
            <a:ext cx="201168" cy="201168"/>
          </a:xfrm>
          <a:prstGeom prst="rightArrow">
            <a:avLst/>
          </a:prstGeom>
          <a:solidFill>
            <a:srgbClr val="AEBED6"/>
          </a:solidFill>
          <a:ln w="12700">
            <a:solidFill>
              <a:srgbClr val="AEBE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29000" y="1600200"/>
            <a:ext cx="2514600" cy="2057400"/>
          </a:xfrm>
          <a:prstGeom prst="roundRect">
            <a:avLst>
              <a:gd name="adj" fmla="val 6222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07408" y="1828800"/>
            <a:ext cx="566928" cy="56692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447" y="1913839"/>
            <a:ext cx="396850" cy="39685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25420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Ambil token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29077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 memperoleh Expo push token yang unik untuk aplikasi itu.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07608" y="2011680"/>
            <a:ext cx="201168" cy="201168"/>
          </a:xfrm>
          <a:prstGeom prst="rightArrow">
            <a:avLst/>
          </a:prstGeom>
          <a:solidFill>
            <a:srgbClr val="AEBED6"/>
          </a:solidFill>
          <a:ln w="12700">
            <a:solidFill>
              <a:srgbClr val="AEBED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7920" y="1600200"/>
            <a:ext cx="2514600" cy="2057400"/>
          </a:xfrm>
          <a:prstGeom prst="roundRect">
            <a:avLst>
              <a:gd name="adj" fmla="val 6222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96328" y="1828800"/>
            <a:ext cx="566928" cy="566928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67" y="1913839"/>
            <a:ext cx="396850" cy="39685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55080" y="25420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Simpan di server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0" y="29077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dikirim dan disimpan bersama data akun pengguna.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796528" y="2011680"/>
            <a:ext cx="201168" cy="201168"/>
          </a:xfrm>
          <a:prstGeom prst="rightArrow">
            <a:avLst/>
          </a:prstGeom>
          <a:solidFill>
            <a:srgbClr val="AEBED6"/>
          </a:solidFill>
          <a:ln w="12700">
            <a:solidFill>
              <a:srgbClr val="AEBED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006840" y="1600200"/>
            <a:ext cx="2514600" cy="2057400"/>
          </a:xfrm>
          <a:prstGeom prst="roundRect">
            <a:avLst>
              <a:gd name="adj" fmla="val 6222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85248" y="1828800"/>
            <a:ext cx="566928" cy="56692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0287" y="1913839"/>
            <a:ext cx="396850" cy="39685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44000" y="25420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Kirim pesan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9189720" y="29077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memanggil Expo Push API; Expo meneruskan ke FCM dan APNs.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40080" y="3886200"/>
            <a:ext cx="5943600" cy="2476246"/>
          </a:xfrm>
          <a:prstGeom prst="roundRect">
            <a:avLst>
              <a:gd name="adj" fmla="val 3693"/>
            </a:avLst>
          </a:prstGeom>
          <a:solidFill>
            <a:srgbClr val="12203F"/>
          </a:solidFill>
          <a:ln w="12700">
            <a:solidFill>
              <a:srgbClr val="12203F"/>
            </a:solidFill>
            <a:prstDash val="solid"/>
          </a:ln>
          <a:effectLst>
            <a:outerShdw sx="100000" sy="100000" kx="0" ky="0" algn="bl" rotWithShape="0" blurRad="127000" dist="25400" dir="5400000">
              <a:srgbClr val="6C7C99">
                <a:alpha val="28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841248" y="4069080"/>
            <a:ext cx="5577840" cy="2110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* as Notifications from 'expo-notifications';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status } =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Notifications.requestPermissionsAsync();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token = (await Notifications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.getExpoPushTokenAsync({ projectId })).data;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contoh: ExponentPushToken[xxxxxxxxxxxxxx]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kirimKeServer(token);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903720" y="3886200"/>
            <a:ext cx="4663440" cy="2331720"/>
          </a:xfrm>
          <a:prstGeom prst="roundRect">
            <a:avLst>
              <a:gd name="adj" fmla="val 5490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30" name="Text 24"/>
          <p:cNvSpPr txBox="1"/>
          <p:nvPr/>
        </p:nvSpPr>
        <p:spPr>
          <a:xfrm>
            <a:off x="7132320" y="40690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penting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7132320" y="4480560"/>
            <a:ext cx="4251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tidak berfungsi di Expo Go — perlu development build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iOS tidak menerima push, uji di perangkat nyata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 lokal (pengingat, alarm) tidak butuh server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Push API gratis dan menangani FCM serta APNs sekaligus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1B2C52">
              <a:alpha val="55000"/>
            </a:srgbClr>
          </a:solidFill>
          <a:ln w="12700">
            <a:solidFill>
              <a:srgbClr val="1B2C5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6C4CF1">
              <a:alpha val="18000"/>
            </a:srgbClr>
          </a:solidFill>
          <a:ln w="12700">
            <a:solidFill>
              <a:srgbClr val="6C4CF1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Konfigurasi, Build, dan Rilis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konfigurasi aplikasi, mengubah kode menjadi berkas aplikasi,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lalu mengirim dan memperbaruinya sampai ke tangan pengguna.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52560" y="2286000"/>
            <a:ext cx="2286000" cy="2286000"/>
          </a:xfrm>
          <a:prstGeom prst="ellipse">
            <a:avLst/>
          </a:prstGeom>
          <a:solidFill>
            <a:srgbClr val="1B2C52"/>
          </a:solidFill>
          <a:ln w="15875">
            <a:solidFill>
              <a:srgbClr val="61DAF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8346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Konfigurasi Aplikasi: app.json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400800" cy="4135374"/>
          </a:xfrm>
          <a:prstGeom prst="roundRect">
            <a:avLst>
              <a:gd name="adj" fmla="val 2211"/>
            </a:avLst>
          </a:prstGeom>
          <a:solidFill>
            <a:srgbClr val="12203F"/>
          </a:solidFill>
          <a:ln w="12700">
            <a:solidFill>
              <a:srgbClr val="12203F"/>
            </a:solidFill>
            <a:prstDash val="solid"/>
          </a:ln>
          <a:effectLst>
            <a:outerShdw sx="100000" sy="100000" kx="0" ky="0" algn="bl" rotWithShape="0" blurRad="127000" dist="25400" dir="5400000">
              <a:srgbClr val="6C7C99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37360"/>
            <a:ext cx="6035040" cy="376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"expo": {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"Aplikasi Saya",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"slug": "aplikasi-saya",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"version": "1.0.0",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"orientation": "portrait",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"icon": "./assets/icon.png",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"splash": { "image": "./assets/splash.png" },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"android": {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"package": "id.namaanda.aplikasisaya",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"permissions": ["CAMERA"]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"ios": {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"bundleIdentifier": "id.namaanda.aplikasisaya"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"plugins": ["expo-router", "expo-camera"]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60920" y="1554480"/>
            <a:ext cx="4206240" cy="1005840"/>
          </a:xfrm>
          <a:prstGeom prst="roundRect">
            <a:avLst>
              <a:gd name="adj" fmla="val 1272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62088" y="1805940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526" y="1881378"/>
            <a:ext cx="352044" cy="3520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02168" y="170078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 aplikasi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202168" y="1993392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tampil di layar HP, slug dipakai Expo, version wajib naik setiap rilis ke toko.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60920" y="2697480"/>
            <a:ext cx="4206240" cy="1005840"/>
          </a:xfrm>
          <a:prstGeom prst="roundRect">
            <a:avLst>
              <a:gd name="adj" fmla="val 1272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562088" y="2948940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526" y="3024378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202168" y="284378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 &amp; splash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8202168" y="3136392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 1024×1024 tanpa transparansi; splash sebaiknya sederhana dan berlatar polos.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360920" y="3840480"/>
            <a:ext cx="4206240" cy="1005840"/>
          </a:xfrm>
          <a:prstGeom prst="roundRect">
            <a:avLst>
              <a:gd name="adj" fmla="val 1272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562088" y="4091940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526" y="4167378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02168" y="398678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&amp; bundleIdentifier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8202168" y="4279392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Pengenal unik aplikasi. Tidak bisa diubah setelah terbit di toko aplikasi.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360920" y="4983480"/>
            <a:ext cx="4206240" cy="1005840"/>
          </a:xfrm>
          <a:prstGeom prst="roundRect">
            <a:avLst>
              <a:gd name="adj" fmla="val 1272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562088" y="5234940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526" y="5310378"/>
            <a:ext cx="352044" cy="3520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202168" y="512978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8202168" y="5422392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plugin mengubah pengaturan native otomatis saat build dijalankan.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KONFIGURASI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Variabel Lingkungan dan Data Rahasia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035040" cy="2999232"/>
          </a:xfrm>
          <a:prstGeom prst="roundRect">
            <a:avLst>
              <a:gd name="adj" fmla="val 3049"/>
            </a:avLst>
          </a:prstGeom>
          <a:solidFill>
            <a:srgbClr val="12203F"/>
          </a:solidFill>
          <a:ln w="12700">
            <a:solidFill>
              <a:srgbClr val="12203F"/>
            </a:solidFill>
            <a:prstDash val="solid"/>
          </a:ln>
          <a:effectLst>
            <a:outerShdw sx="100000" sy="100000" kx="0" ky="0" algn="bl" rotWithShape="0" blurRad="127000" dist="25400" dir="5400000">
              <a:srgbClr val="6C7C99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37360"/>
            <a:ext cx="56692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  (jangan diunggah ke repositori)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EXPO_PUBLIC_API_URL=https://api.contoh.id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Dipakai di dalam kode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url = process.env.EXPO_PUBLIC_API_URL;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Rahasia untuk proses build di cloud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 secret:create --name API_KEY --value rahasia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 secret:list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Pastikan tidak pernah ikut ke repositori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".env" &gt;&gt; .gitignore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2926080" cy="1234440"/>
          </a:xfrm>
          <a:prstGeom prst="roundRect">
            <a:avLst>
              <a:gd name="adj" fmla="val 10370"/>
            </a:avLst>
          </a:prstGeom>
          <a:solidFill>
            <a:srgbClr val="FBEBEB"/>
          </a:solidFill>
          <a:ln w="12700">
            <a:solidFill>
              <a:srgbClr val="FBEBEB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489204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49606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4937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5394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pembayaran atau AI ditulis langsung di kode aplikasi.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749040" y="4709160"/>
            <a:ext cx="2926080" cy="1234440"/>
          </a:xfrm>
          <a:prstGeom prst="roundRect">
            <a:avLst>
              <a:gd name="adj" fmla="val 10370"/>
            </a:avLst>
          </a:prstGeom>
          <a:solidFill>
            <a:srgbClr val="E6F5EC"/>
          </a:solidFill>
          <a:ln w="12700">
            <a:solidFill>
              <a:srgbClr val="E6F5E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950208" y="4892040"/>
            <a:ext cx="457200" cy="4572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788" y="49606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26280" y="4937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Benar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3950208" y="5394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memanggil server Anda; server yang menyimpan kuncinya.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995160" y="1554480"/>
            <a:ext cx="4572000" cy="1005840"/>
          </a:xfrm>
          <a:prstGeom prst="roundRect">
            <a:avLst>
              <a:gd name="adj" fmla="val 1272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96328" y="1805940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766" y="1881378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836408" y="170078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Awalan EXPO_PUBLIC_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7836408" y="1993392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variabel berawalan ini yang terbaca di aplikasi — dan ikut terpaket, jadi bukan rahasia.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995160" y="2697480"/>
            <a:ext cx="4572000" cy="1005840"/>
          </a:xfrm>
          <a:prstGeom prst="roundRect">
            <a:avLst>
              <a:gd name="adj" fmla="val 1272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196328" y="2948940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1766" y="3024378"/>
            <a:ext cx="352044" cy="3520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836408" y="284378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sesungguhnya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7836408" y="3136392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API pribadi disimpan di EAS Secrets atau di server, tidak pernah di dalam aplikasi.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995160" y="3840480"/>
            <a:ext cx="4572000" cy="1005840"/>
          </a:xfrm>
          <a:prstGeom prst="roundRect">
            <a:avLst>
              <a:gd name="adj" fmla="val 1272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196328" y="4091940"/>
            <a:ext cx="502920" cy="50292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1766" y="4167378"/>
            <a:ext cx="352044" cy="35204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836408" y="398678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abaikan .env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7836408" y="4279392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.env ke .gitignore; sediakan .env.example sebagai contoh bagi tim.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995160" y="4983480"/>
            <a:ext cx="4572000" cy="1005840"/>
          </a:xfrm>
          <a:prstGeom prst="roundRect">
            <a:avLst>
              <a:gd name="adj" fmla="val 12727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7196328" y="5234940"/>
            <a:ext cx="502920" cy="50292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1766" y="5310378"/>
            <a:ext cx="352044" cy="35204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836408" y="512978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 per lingkungan</a:t>
            </a:r>
            <a:endParaRPr lang="en-US" sz="1350" dirty="0"/>
          </a:p>
        </p:txBody>
      </p:sp>
      <p:sp>
        <p:nvSpPr>
          <p:cNvPr id="35" name="Text 27"/>
          <p:cNvSpPr txBox="1"/>
          <p:nvPr/>
        </p:nvSpPr>
        <p:spPr>
          <a:xfrm>
            <a:off x="7836408" y="5422392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eas.json dapat menetapkan nilai berbeda untuk profil development, preview, dan production.</a:t>
            </a:r>
            <a:endParaRPr lang="en-US" sz="1150" dirty="0"/>
          </a:p>
        </p:txBody>
      </p:sp>
      <p:sp>
        <p:nvSpPr>
          <p:cNvPr id="36" name="Text 28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Ingat: apa pun yang ikut dipaketkan ke dalam aplikasi bisa dibongkar oleh pengguna. Rahasia yang benar-benar penting tetap di server.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PERAWATAN PROYEK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Prebuild, Config Plugin, dan Naik Versi SDK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74720" cy="1965960"/>
          </a:xfrm>
          <a:prstGeom prst="roundRect">
            <a:avLst>
              <a:gd name="adj" fmla="val 6512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5681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6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 prebuild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Menghasilkan folder android dan ios sungguhan dari app.json bila Anda butuh kendali penuh.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645920"/>
            <a:ext cx="3474720" cy="1965960"/>
          </a:xfrm>
          <a:prstGeom prst="roundRect">
            <a:avLst>
              <a:gd name="adj" fmla="val 6512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874520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195681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85232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plugin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606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 yang menyunting berkas native saat build — cara menambah pustaka native tanpa keluar dari alur Expo.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45920"/>
            <a:ext cx="3474720" cy="1965960"/>
          </a:xfrm>
          <a:prstGeom prst="roundRect">
            <a:avLst>
              <a:gd name="adj" fmla="val 6512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874520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195681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34272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6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 install --fix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606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Menyelaraskan seluruh versi pustaka agar cocok dengan Expo SDK yang dipakai.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840480"/>
            <a:ext cx="3474720" cy="1965960"/>
          </a:xfrm>
          <a:prstGeom prst="roundRect">
            <a:avLst>
              <a:gd name="adj" fmla="val 6512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069080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15137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36192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6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expo-doctor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4800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Memeriksa proyek dan melaporkan ketidakcocokan versi atau konfigurasi yang keliru.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3840480"/>
            <a:ext cx="3474720" cy="1965960"/>
          </a:xfrm>
          <a:prstGeom prst="roundRect">
            <a:avLst>
              <a:gd name="adj" fmla="val 6512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069080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415137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85232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Naik versi SDK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4800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merilis SDK baru beberapa kali setahun; ikuti panduan upgrade resmi satu versi demi satu versi.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840480"/>
            <a:ext cx="3474720" cy="1965960"/>
          </a:xfrm>
          <a:prstGeom prst="roundRect">
            <a:avLst>
              <a:gd name="adj" fmla="val 6512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069080"/>
            <a:ext cx="548640" cy="5486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4151376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34272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native = tanggung jawab Anda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366760" y="4800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prebuild dijalankan manual, pengaturan app.json tidak lagi otomatis diterapkan.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 tidak ada kebutuhan native khusus, tetaplah di alur terkelola Expo — perawatannya jauh lebih ringan.</a:t>
            </a:r>
            <a:endParaRPr lang="en-US" sz="1250" dirty="0"/>
          </a:p>
        </p:txBody>
      </p:sp>
      <p:sp>
        <p:nvSpPr>
          <p:cNvPr id="35" name="Text 27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 Build: Membangun di Cloud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Application Services mengompilasi aplikasi di server Expo, sehingga Anda tidak perlu Xcode maupun Android Studio di komputer sendiri.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14600" cy="1965960"/>
          </a:xfrm>
          <a:prstGeom prst="roundRect">
            <a:avLst>
              <a:gd name="adj" fmla="val 6512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18488" y="2194560"/>
            <a:ext cx="566928" cy="566928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527" y="2279599"/>
            <a:ext cx="396850" cy="3968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9260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proyek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27355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Expo di komputer Anda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18688" y="2880360"/>
            <a:ext cx="201168" cy="219456"/>
          </a:xfrm>
          <a:prstGeom prst="rightArrow">
            <a:avLst/>
          </a:prstGeom>
          <a:solidFill>
            <a:srgbClr val="AEBED6"/>
          </a:solidFill>
          <a:ln w="12700">
            <a:solidFill>
              <a:srgbClr val="AEBE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29000" y="1965960"/>
            <a:ext cx="2514600" cy="1965960"/>
          </a:xfrm>
          <a:prstGeom prst="roundRect">
            <a:avLst>
              <a:gd name="adj" fmla="val 6512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07408" y="2194560"/>
            <a:ext cx="566928" cy="56692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447" y="2279599"/>
            <a:ext cx="396850" cy="39685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66160" y="29260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EAS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593592" y="327355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Kompilasi di mesin macOS &amp; Linux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07608" y="2880360"/>
            <a:ext cx="201168" cy="219456"/>
          </a:xfrm>
          <a:prstGeom prst="rightArrow">
            <a:avLst/>
          </a:prstGeom>
          <a:solidFill>
            <a:srgbClr val="AEBED6"/>
          </a:solidFill>
          <a:ln w="12700">
            <a:solidFill>
              <a:srgbClr val="AEBED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0" y="1965960"/>
            <a:ext cx="2514600" cy="1965960"/>
          </a:xfrm>
          <a:prstGeom prst="roundRect">
            <a:avLst>
              <a:gd name="adj" fmla="val 6512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96328" y="2194560"/>
            <a:ext cx="566928" cy="566928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67" y="2279599"/>
            <a:ext cx="396850" cy="39685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55080" y="29260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aplikasi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382512" y="327355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Android: .aab / .apk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iOS: .ipa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796528" y="2880360"/>
            <a:ext cx="201168" cy="219456"/>
          </a:xfrm>
          <a:prstGeom prst="rightArrow">
            <a:avLst/>
          </a:prstGeom>
          <a:solidFill>
            <a:srgbClr val="AEBED6"/>
          </a:solidFill>
          <a:ln w="12700">
            <a:solidFill>
              <a:srgbClr val="AEBED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006840" y="1965960"/>
            <a:ext cx="2514600" cy="1965960"/>
          </a:xfrm>
          <a:prstGeom prst="roundRect">
            <a:avLst>
              <a:gd name="adj" fmla="val 6512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985248" y="2194560"/>
            <a:ext cx="566928" cy="56692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0287" y="2279599"/>
            <a:ext cx="396850" cy="39685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144000" y="29260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 aplikasi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9171432" y="327355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Store &amp; App Store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40080" y="4069080"/>
            <a:ext cx="5943600" cy="2350008"/>
          </a:xfrm>
          <a:prstGeom prst="roundRect">
            <a:avLst>
              <a:gd name="adj" fmla="val 3891"/>
            </a:avLst>
          </a:prstGeom>
          <a:solidFill>
            <a:srgbClr val="12203F"/>
          </a:solidFill>
          <a:ln w="12700">
            <a:solidFill>
              <a:srgbClr val="12203F"/>
            </a:solidFill>
            <a:prstDash val="solid"/>
          </a:ln>
          <a:effectLst>
            <a:outerShdw sx="100000" sy="100000" kx="0" ky="0" algn="bl" rotWithShape="0" blurRad="127000" dist="25400" dir="5400000">
              <a:srgbClr val="6C7C99">
                <a:alpha val="28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841248" y="4251960"/>
            <a:ext cx="557784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Sekali saja: pasang CLI &amp; masuk akun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eas-cli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 login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 build:configure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Membangun lalu mengirim aplikasi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 build --platform android --profile preview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 build --platform ios --profile production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 submit --platform android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903720" y="4069080"/>
            <a:ext cx="4663440" cy="2194560"/>
          </a:xfrm>
          <a:prstGeom prst="roundRect">
            <a:avLst>
              <a:gd name="adj" fmla="val 5833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7132320" y="42519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build di eas.json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7132320" y="46817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8549640" y="466344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development build yang dipakai selama proses pengembangan.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7132320" y="51846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8549640" y="516636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APK untuk diuji tim internal atau klien sebelum rilis.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7132320" y="56875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8549640" y="566928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final yang diunggah ke Play Store dan App Store.</a:t>
            </a:r>
            <a:endParaRPr lang="en-US" sz="1050" dirty="0"/>
          </a:p>
        </p:txBody>
      </p:sp>
      <p:sp>
        <p:nvSpPr>
          <p:cNvPr id="38" name="Text 32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PEMBARUAN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 Update: Perbarui Tanpa Lewat Toko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03520" cy="2286000"/>
          </a:xfrm>
          <a:prstGeom prst="roundRect">
            <a:avLst>
              <a:gd name="adj" fmla="val 5600"/>
            </a:avLst>
          </a:prstGeom>
          <a:solidFill>
            <a:srgbClr val="E6F5EC"/>
          </a:solidFill>
          <a:ln w="12700">
            <a:solidFill>
              <a:srgbClr val="E6F5E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83080"/>
            <a:ext cx="502920" cy="5029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38" y="1858518"/>
            <a:ext cx="352044" cy="3520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28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diperbarui lewat OTA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2395728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kode JavaScript dan JSX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 bug logika dan tampilan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Teks, warna, gaya, dan gambar di assets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4023360"/>
            <a:ext cx="5303520" cy="2286000"/>
          </a:xfrm>
          <a:prstGeom prst="roundRect">
            <a:avLst>
              <a:gd name="adj" fmla="val 5600"/>
            </a:avLst>
          </a:prstGeom>
          <a:solidFill>
            <a:srgbClr val="FBEBEB"/>
          </a:solidFill>
          <a:ln w="12700">
            <a:solidFill>
              <a:srgbClr val="FBEBEB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38" y="432739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4297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Harus build ulang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932688" y="4864608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pustaka dengan kode native baru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izin, nama, atau ikon aplikasi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Menaikkan versi Expo SDK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63640" y="1554480"/>
            <a:ext cx="5303520" cy="1700784"/>
          </a:xfrm>
          <a:prstGeom prst="roundRect">
            <a:avLst>
              <a:gd name="adj" fmla="val 5376"/>
            </a:avLst>
          </a:prstGeom>
          <a:solidFill>
            <a:srgbClr val="12203F"/>
          </a:solidFill>
          <a:ln w="12700">
            <a:solidFill>
              <a:srgbClr val="12203F"/>
            </a:solidFill>
            <a:prstDash val="solid"/>
          </a:ln>
          <a:effectLst>
            <a:outerShdw sx="100000" sy="100000" kx="0" ky="0" algn="bl" rotWithShape="0" blurRad="127000" dist="25400" dir="5400000">
              <a:srgbClr val="6C7C99">
                <a:alpha val="2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6464808" y="1737360"/>
            <a:ext cx="49377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Menyiapkan pembaruan OTA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 update:configure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Mengirim pembaruan ke pengguna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 update --branch production \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8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--message "Perbaikan tampilan daftar"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63640" y="3383280"/>
            <a:ext cx="5303520" cy="2926080"/>
          </a:xfrm>
          <a:prstGeom prst="roundRect">
            <a:avLst>
              <a:gd name="adj" fmla="val 4375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6537960" y="35844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537960" y="3977640"/>
            <a:ext cx="310896" cy="310896"/>
          </a:xfrm>
          <a:prstGeom prst="ellipse">
            <a:avLst/>
          </a:prstGeom>
          <a:solidFill>
            <a:srgbClr val="1B2C52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537960" y="3977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6967728" y="399592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mengirim bundel JavaScript baru ke server Expo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537960" y="4544568"/>
            <a:ext cx="310896" cy="310896"/>
          </a:xfrm>
          <a:prstGeom prst="ellipse">
            <a:avLst/>
          </a:prstGeom>
          <a:solidFill>
            <a:srgbClr val="1B2C52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537960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6967728" y="456285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memeriksa pembaruan saat dibuka pengguna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537960" y="5111496"/>
            <a:ext cx="310896" cy="310896"/>
          </a:xfrm>
          <a:prstGeom prst="ellipse">
            <a:avLst/>
          </a:prstGeom>
          <a:solidFill>
            <a:srgbClr val="1B2C52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537960" y="5111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6967728" y="512978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Bundel baru diunduh diam-diam di latar belakang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537960" y="5678424"/>
            <a:ext cx="310896" cy="310896"/>
          </a:xfrm>
          <a:prstGeom prst="ellipse">
            <a:avLst/>
          </a:prstGeom>
          <a:solidFill>
            <a:srgbClr val="1B2C52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537960" y="5678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6967728" y="569671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Pembaruan aktif saat aplikasi dibuka berikutnya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Publikasi ke Toko Aplikasi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03520" cy="4114800"/>
          </a:xfrm>
          <a:prstGeom prst="roundRect">
            <a:avLst>
              <a:gd name="adj" fmla="val 3111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8308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9110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56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Play Store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251460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2000"/>
              </a:spcAft>
              <a:buSzPct val="100000"/>
              <a:buChar char="▪"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pendaftaran USD 25, sekali seumur hidup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2000"/>
              </a:spcAft>
              <a:buSzPct val="100000"/>
              <a:buChar char="▪"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Unggah berkas .aab hasil eas build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2000"/>
              </a:spcAft>
              <a:buSzPct val="100000"/>
              <a:buChar char="▪"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Siapkan ikon, tangkapan layar, dan deskripsi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2000"/>
              </a:spcAft>
              <a:buSzPct val="100000"/>
              <a:buChar char="▪"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melampirkan kebijakan privasi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2000"/>
              </a:spcAft>
              <a:buSzPct val="100000"/>
              <a:buChar char="▪"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Peninjauan umumnya 1–3 hari kerja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303520" cy="4114800"/>
          </a:xfrm>
          <a:prstGeom prst="roundRect">
            <a:avLst>
              <a:gd name="adj" fmla="val 3111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78308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191109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856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App Store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556248" y="251460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2000"/>
              </a:spcAft>
              <a:buSzPct val="100000"/>
              <a:buChar char="▪"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keanggotaan USD 99 per tahun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2000"/>
              </a:spcAft>
              <a:buSzPct val="100000"/>
              <a:buChar char="▪"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Unggah berkas .ipa melalui eas submit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2000"/>
              </a:spcAft>
              <a:buSzPct val="100000"/>
              <a:buChar char="▪"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coba internal memakai TestFlight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2000"/>
              </a:spcAft>
              <a:buSzPct val="100000"/>
              <a:buChar char="▪"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Pedoman peninjauan lebih ketat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2000"/>
              </a:spcAft>
              <a:buSzPct val="100000"/>
              <a:buChar char="▪"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Peninjauan umumnya 1–3 hari kerja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5852160"/>
            <a:ext cx="10332720" cy="685800"/>
          </a:xfrm>
          <a:prstGeom prst="roundRect">
            <a:avLst>
              <a:gd name="adj" fmla="val 18667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914400" y="5852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rilis, lengkapi app.json: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3703320" y="585216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· slug · version · icon · splash · android.package ·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ios.bundleIdentifier · permissions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dan Pengujian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74720" cy="1965960"/>
          </a:xfrm>
          <a:prstGeom prst="roundRect">
            <a:avLst>
              <a:gd name="adj" fmla="val 6512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5681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LogBox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Peringatan kuning dan layar merah langsung menunjukkan berkas serta baris penyebab kesalahan.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645920"/>
            <a:ext cx="3474720" cy="1965960"/>
          </a:xfrm>
          <a:prstGeom prst="roundRect">
            <a:avLst>
              <a:gd name="adj" fmla="val 6512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874520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195681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85232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DevTools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606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Tekan j di terminal untuk membuka debugger: console, jaringan, dan pemeriksa komponen.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45920"/>
            <a:ext cx="3474720" cy="1965960"/>
          </a:xfrm>
          <a:prstGeom prst="roundRect">
            <a:avLst>
              <a:gd name="adj" fmla="val 6512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874520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195681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34272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Dev Menu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606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Goyangkan perangkat untuk memuat ulang, membuka pemeriksa elemen, dan memantau performa.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840480"/>
            <a:ext cx="3474720" cy="1965960"/>
          </a:xfrm>
          <a:prstGeom prst="roundRect">
            <a:avLst>
              <a:gd name="adj" fmla="val 6512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069080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15137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36192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4800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unit untuk fungsi dan logika bisnis aplikasi.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3840480"/>
            <a:ext cx="3474720" cy="1965960"/>
          </a:xfrm>
          <a:prstGeom prst="roundRect">
            <a:avLst>
              <a:gd name="adj" fmla="val 6512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069080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415137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85232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Testing Library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4800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Menguji komponen sebagaimana pengguna memakainya: mencari teks, menekan tombol.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840480"/>
            <a:ext cx="3474720" cy="1965960"/>
          </a:xfrm>
          <a:prstGeom prst="roundRect">
            <a:avLst>
              <a:gd name="adj" fmla="val 6512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069080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4151376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34272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di perangkat nyata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366760" y="4800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Emulator tidak mewakili performa, kamera, dan kondisi jaringan sesungguhnya.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Biasakan membaca pesan kesalahan sampai selesai — sebagian besar sudah menjelaskan penyebab dan solusinya.</a:t>
            </a:r>
            <a:endParaRPr lang="en-US" sz="1250" dirty="0"/>
          </a:p>
        </p:txBody>
      </p:sp>
      <p:sp>
        <p:nvSpPr>
          <p:cNvPr id="35" name="Text 27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TERBAIK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Praktik Terbaik dan Optimasi Performa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74720" cy="1965960"/>
          </a:xfrm>
          <a:prstGeom prst="roundRect">
            <a:avLst>
              <a:gd name="adj" fmla="val 6512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5681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FlatList untuk daftar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Sertakan keyExtractor dan hindari fungsi anonim berat di renderItem.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645920"/>
            <a:ext cx="3474720" cy="1965960"/>
          </a:xfrm>
          <a:prstGeom prst="roundRect">
            <a:avLst>
              <a:gd name="adj" fmla="val 6512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874520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195681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85232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Optimalkan gambar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606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expo-image, kompres berkas, dan sediakan ukuran secukupnya.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45920"/>
            <a:ext cx="3474720" cy="1965960"/>
          </a:xfrm>
          <a:prstGeom prst="roundRect">
            <a:avLst>
              <a:gd name="adj" fmla="val 6512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874520"/>
            <a:ext cx="548640" cy="54864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195681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34272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Hindari render berlebih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606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Manfaatkan React.memo, useMemo, dan useCallback pada komponen berat.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840480"/>
            <a:ext cx="3474720" cy="1965960"/>
          </a:xfrm>
          <a:prstGeom prst="roundRect">
            <a:avLst>
              <a:gd name="adj" fmla="val 6512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069080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15137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36192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kecil &amp; fokus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4800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komponen satu tanggung jawab agar mudah diuji dan dipakai ulang.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3840480"/>
            <a:ext cx="3474720" cy="1965960"/>
          </a:xfrm>
          <a:prstGeom prst="roundRect">
            <a:avLst>
              <a:gd name="adj" fmla="val 6512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0690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18795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85232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TypeScript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4800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tipe terdeteksi saat menulis kode, bukan saat aplikasi berjalan.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840480"/>
            <a:ext cx="3474720" cy="1965960"/>
          </a:xfrm>
          <a:prstGeom prst="roundRect">
            <a:avLst>
              <a:gd name="adj" fmla="val 6512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069080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4151376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34272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Jaga keamanan data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366760" y="4800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disimpan di SecureStore, rahasia tidak pernah masuk ke repositori.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 dulu, baru optimalkan. Gunakan profiler untuk menemukan bagian yang benar-benar lambat.</a:t>
            </a:r>
            <a:endParaRPr lang="en-US" sz="1250" dirty="0"/>
          </a:p>
        </p:txBody>
      </p:sp>
      <p:sp>
        <p:nvSpPr>
          <p:cNvPr id="35" name="Text 27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BELAJAR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Belajar 8 Minggu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640080"/>
          </a:xfrm>
          <a:prstGeom prst="roundRect">
            <a:avLst>
              <a:gd name="adj" fmla="val 20000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64792"/>
            <a:ext cx="868680" cy="402336"/>
          </a:xfrm>
          <a:prstGeom prst="roundRect">
            <a:avLst>
              <a:gd name="adj" fmla="val 22727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6479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8288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 JavaScript &amp; React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8470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ES6+, fungsi panah, destructuring, komponen, props, state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95728"/>
            <a:ext cx="10881360" cy="640080"/>
          </a:xfrm>
          <a:prstGeom prst="roundRect">
            <a:avLst>
              <a:gd name="adj" fmla="val 20000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514600"/>
            <a:ext cx="868680" cy="402336"/>
          </a:xfrm>
          <a:prstGeom prst="roundRect">
            <a:avLst>
              <a:gd name="adj" fmla="val 22727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51460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578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&amp; Styling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25968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inti, Flexbox, StyleSheet, formulir, daftar 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10881360" cy="640080"/>
          </a:xfrm>
          <a:prstGeom prst="roundRect">
            <a:avLst>
              <a:gd name="adj" fmla="val 20000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264408"/>
            <a:ext cx="868680" cy="402336"/>
          </a:xfrm>
          <a:prstGeom prst="roundRect">
            <a:avLst>
              <a:gd name="adj" fmla="val 22727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26440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3328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Navigasi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34670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Router: Stack, Tabs, rute dinamis, dan parameter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895344"/>
            <a:ext cx="10881360" cy="640080"/>
          </a:xfrm>
          <a:prstGeom prst="roundRect">
            <a:avLst>
              <a:gd name="adj" fmla="val 20000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014216"/>
            <a:ext cx="868680" cy="402336"/>
          </a:xfrm>
          <a:prstGeom prst="roundRect">
            <a:avLst>
              <a:gd name="adj" fmla="val 22727"/>
            </a:avLst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01421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40782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API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4096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fetch, async/await, AsyncStorage, manajemen state global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645152"/>
            <a:ext cx="10881360" cy="640080"/>
          </a:xfrm>
          <a:prstGeom prst="roundRect">
            <a:avLst>
              <a:gd name="adj" fmla="val 20000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4764024"/>
            <a:ext cx="868680" cy="402336"/>
          </a:xfrm>
          <a:prstGeom prst="roundRect">
            <a:avLst>
              <a:gd name="adj" fmla="val 22727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764024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874520" y="48280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Perangkat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0" y="48463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Kamera, lokasi, notifikasi, izin, dan penyimpanan berkas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394960"/>
            <a:ext cx="10881360" cy="640080"/>
          </a:xfrm>
          <a:prstGeom prst="roundRect">
            <a:avLst>
              <a:gd name="adj" fmla="val 20000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" y="5513832"/>
            <a:ext cx="868680" cy="402336"/>
          </a:xfrm>
          <a:prstGeom prst="roundRect">
            <a:avLst>
              <a:gd name="adj" fmla="val 22727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551383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874520" y="5577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Rilis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0" y="55961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Build, EAS Update, publikasi ke toko aplikasi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6172200"/>
            <a:ext cx="1088136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61996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keberhasilan: bangun satu proyek nyata sambil belajar, misalnya aplikasi catatan, daftar tugas, atau cuaca.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MATERI INI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Topik Lanjutan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447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ini sudah cukup untuk membangun dan merilis aplikasi utuh. Topik berikut dipelajari saat kebutuhan proyek menuntutnya.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BERIKUTNYA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05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PROYEK MENUNTUT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2514600" cy="1737360"/>
          </a:xfrm>
          <a:prstGeom prst="roundRect">
            <a:avLst>
              <a:gd name="adj" fmla="val 7368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441448"/>
            <a:ext cx="530352" cy="530352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233" y="2521001"/>
            <a:ext cx="371246" cy="37124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8680" y="30815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Formulir &amp; validasi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4015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TextInput terkontrol, penanganan keyboard, react-hook-form dan zod.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29000" y="2212848"/>
            <a:ext cx="2514600" cy="1737360"/>
          </a:xfrm>
          <a:prstGeom prst="roundRect">
            <a:avLst>
              <a:gd name="adj" fmla="val 7368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0" y="2441448"/>
            <a:ext cx="530352" cy="530352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153" y="2521001"/>
            <a:ext cx="371246" cy="37124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57600" y="30815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linking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3657600" y="34015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Membuka layar tertentu langsung dari tautan web atau notifikasi.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7920" y="2212848"/>
            <a:ext cx="2514600" cy="1737360"/>
          </a:xfrm>
          <a:prstGeom prst="roundRect">
            <a:avLst>
              <a:gd name="adj" fmla="val 7368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46520" y="2441448"/>
            <a:ext cx="530352" cy="530352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073" y="2521001"/>
            <a:ext cx="371246" cy="37124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46520" y="30815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kode tim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6446520" y="34015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ESLint, Prettier, struktur folder proyek besar, dan alur kerja Git.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006840" y="2212848"/>
            <a:ext cx="2514600" cy="1737360"/>
          </a:xfrm>
          <a:prstGeom prst="roundRect">
            <a:avLst>
              <a:gd name="adj" fmla="val 7368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35440" y="2441448"/>
            <a:ext cx="530352" cy="530352"/>
          </a:xfrm>
          <a:prstGeom prst="ellipse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4993" y="2521001"/>
            <a:ext cx="371246" cy="37124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35440" y="30815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end-to-end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9235440" y="34015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atau Detox menjalankan aplikasi seperti pengguna sungguhan.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0080" y="4297680"/>
            <a:ext cx="2514600" cy="1737360"/>
          </a:xfrm>
          <a:prstGeom prst="roundRect">
            <a:avLst>
              <a:gd name="adj" fmla="val 7368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68680" y="4526280"/>
            <a:ext cx="530352" cy="530352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233" y="4605833"/>
            <a:ext cx="371246" cy="37124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68680" y="51663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Aksesibilitas &amp; i18n</a:t>
            </a:r>
            <a:endParaRPr lang="en-US" sz="1350" dirty="0"/>
          </a:p>
        </p:txBody>
      </p:sp>
      <p:sp>
        <p:nvSpPr>
          <p:cNvPr id="31" name="Text 24"/>
          <p:cNvSpPr txBox="1"/>
          <p:nvPr/>
        </p:nvSpPr>
        <p:spPr>
          <a:xfrm>
            <a:off x="868680" y="5486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pembaca layar, teks adaptif, dan banyak bahasa.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3429000" y="4297680"/>
            <a:ext cx="2514600" cy="1737360"/>
          </a:xfrm>
          <a:prstGeom prst="roundRect">
            <a:avLst>
              <a:gd name="adj" fmla="val 7368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657600" y="4526280"/>
            <a:ext cx="530352" cy="530352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7153" y="4605833"/>
            <a:ext cx="371246" cy="371246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3657600" y="51663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luring &amp; sinkronisasi</a:t>
            </a:r>
            <a:endParaRPr lang="en-US" sz="1350" dirty="0"/>
          </a:p>
        </p:txBody>
      </p:sp>
      <p:sp>
        <p:nvSpPr>
          <p:cNvPr id="36" name="Text 28"/>
          <p:cNvSpPr txBox="1"/>
          <p:nvPr/>
        </p:nvSpPr>
        <p:spPr>
          <a:xfrm>
            <a:off x="3657600" y="5486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tetap berfungsi tanpa jaringan, lalu menyelaraskan data.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6217920" y="4297680"/>
            <a:ext cx="2514600" cy="1737360"/>
          </a:xfrm>
          <a:prstGeom prst="roundRect">
            <a:avLst>
              <a:gd name="adj" fmla="val 7368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6446520" y="4526280"/>
            <a:ext cx="530352" cy="530352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6073" y="4605833"/>
            <a:ext cx="371246" cy="371246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446520" y="51663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Pemantauan &amp; analitik</a:t>
            </a:r>
            <a:endParaRPr lang="en-US" sz="1350" dirty="0"/>
          </a:p>
        </p:txBody>
      </p:sp>
      <p:sp>
        <p:nvSpPr>
          <p:cNvPr id="41" name="Text 32"/>
          <p:cNvSpPr txBox="1"/>
          <p:nvPr/>
        </p:nvSpPr>
        <p:spPr>
          <a:xfrm>
            <a:off x="6446520" y="5486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untuk laporan crash, analitik untuk memahami perilaku pengguna.</a:t>
            </a:r>
            <a:endParaRPr lang="en-US" sz="1100" dirty="0"/>
          </a:p>
        </p:txBody>
      </p:sp>
      <p:sp>
        <p:nvSpPr>
          <p:cNvPr id="42" name="Shape 33"/>
          <p:cNvSpPr/>
          <p:nvPr/>
        </p:nvSpPr>
        <p:spPr>
          <a:xfrm>
            <a:off x="9006840" y="4297680"/>
            <a:ext cx="2514600" cy="1737360"/>
          </a:xfrm>
          <a:prstGeom prst="roundRect">
            <a:avLst>
              <a:gd name="adj" fmla="val 7368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9235440" y="4526280"/>
            <a:ext cx="530352" cy="530352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4993" y="4605833"/>
            <a:ext cx="371246" cy="371246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9235440" y="51663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bisnis</a:t>
            </a:r>
            <a:endParaRPr lang="en-US" sz="1350" dirty="0"/>
          </a:p>
        </p:txBody>
      </p:sp>
      <p:sp>
        <p:nvSpPr>
          <p:cNvPr id="46" name="Text 36"/>
          <p:cNvSpPr txBox="1"/>
          <p:nvPr/>
        </p:nvSpPr>
        <p:spPr>
          <a:xfrm>
            <a:off x="9235440" y="5486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Peta, pembayaran dalam aplikasi, langganan, dan iklan.</a:t>
            </a:r>
            <a:endParaRPr lang="en-US" sz="1100" dirty="0"/>
          </a:p>
        </p:txBody>
      </p:sp>
      <p:sp>
        <p:nvSpPr>
          <p:cNvPr id="47" name="Text 37"/>
          <p:cNvSpPr txBox="1"/>
          <p:nvPr/>
        </p:nvSpPr>
        <p:spPr>
          <a:xfrm>
            <a:off x="640080" y="61447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pelajari semuanya sekaligus. Ambil satu topik ketika aplikasi Anda benar-benar membutuhkannya.</a:t>
            </a:r>
            <a:endParaRPr lang="en-US" sz="1250" dirty="0"/>
          </a:p>
        </p:txBody>
      </p:sp>
      <p:sp>
        <p:nvSpPr>
          <p:cNvPr id="48" name="Text 38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 Belajar dan Referensi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1298448"/>
          </a:xfrm>
          <a:prstGeom prst="roundRect">
            <a:avLst>
              <a:gd name="adj" fmla="val 9859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75104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12264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385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reactnative.dev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32257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resmi React Native: komponen, API, dan panduan arsitektur.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303520" cy="1298448"/>
          </a:xfrm>
          <a:prstGeom prst="roundRect">
            <a:avLst>
              <a:gd name="adj" fmla="val 9859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975104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1226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9385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docs.expo.dev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223760" y="232257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Expo lengkap dengan contoh kode untuk setiap modul SDK.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127248"/>
            <a:ext cx="5303520" cy="1298448"/>
          </a:xfrm>
          <a:prstGeom prst="roundRect">
            <a:avLst>
              <a:gd name="adj" fmla="val 9859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45643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9359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341985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expo.dev/snack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38039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daring untuk mencoba kode React Native langsung dari peramban.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127248"/>
            <a:ext cx="5303520" cy="1298448"/>
          </a:xfrm>
          <a:prstGeom prst="roundRect">
            <a:avLst>
              <a:gd name="adj" fmla="val 9859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345643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59359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341985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github.com/expo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223760" y="38039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sumber, contoh proyek, dan diskusi masalah bersama komunitas.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4608576"/>
            <a:ext cx="5303520" cy="1298448"/>
          </a:xfrm>
          <a:prstGeom prst="roundRect">
            <a:avLst>
              <a:gd name="adj" fmla="val 9859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68680" y="493776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07492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45920" y="49011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npmjs.com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645920" y="52852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Mencari pustaka pihak ketiga beserta jumlah unduhan dan pemeliharaannya.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217920" y="4608576"/>
            <a:ext cx="5303520" cy="1298448"/>
          </a:xfrm>
          <a:prstGeom prst="roundRect">
            <a:avLst>
              <a:gd name="adj" fmla="val 9859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  <a:effectLst>
            <a:outerShdw sx="100000" sy="100000" kx="0" ky="0" algn="bl" rotWithShape="0" blurRad="127000" dist="25400" dir="5400000">
              <a:srgbClr val="94A9C9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46520" y="493776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507492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223760" y="49011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Komunitas Indonesia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7223760" y="52852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Telegram, Discord Reactiflux, dan forum diskusi berbahasa Indonesia.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Biasakan membaca dokumentasi resmi lebih dahulu sebelum mencari jawaban di forum — informasinya paling mutakhir dan akurat.</a:t>
            </a:r>
            <a:endParaRPr lang="en-US" sz="1250" dirty="0"/>
          </a:p>
        </p:txBody>
      </p:sp>
      <p:sp>
        <p:nvSpPr>
          <p:cNvPr id="35" name="Text 27"/>
          <p:cNvSpPr txBox="1"/>
          <p:nvPr/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1B2C52">
              <a:alpha val="55000"/>
            </a:srgbClr>
          </a:solidFill>
          <a:ln w="12700">
            <a:solidFill>
              <a:srgbClr val="1B2C5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6C4CF1">
              <a:alpha val="18000"/>
            </a:srgbClr>
          </a:solidFill>
          <a:ln w="12700">
            <a:solidFill>
              <a:srgbClr val="6C4CF1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7043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Ide Menjadi Aplikasi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493776" cy="493776"/>
          </a:xfrm>
          <a:prstGeom prst="ellipse">
            <a:avLst/>
          </a:prstGeom>
          <a:solidFill>
            <a:srgbClr val="1B2C52"/>
          </a:solidFill>
          <a:ln w="12700">
            <a:solidFill>
              <a:srgbClr val="1B2C5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146" y="2222906"/>
            <a:ext cx="345643" cy="34564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220370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memungkinkan satu basis kode berjalan sebagai aplikasi asli Android dan iOS.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862072"/>
            <a:ext cx="493776" cy="493776"/>
          </a:xfrm>
          <a:prstGeom prst="ellipse">
            <a:avLst/>
          </a:prstGeom>
          <a:solidFill>
            <a:srgbClr val="1B2C52"/>
          </a:solidFill>
          <a:ln w="12700">
            <a:solidFill>
              <a:srgbClr val="1B2C5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46" y="2936138"/>
            <a:ext cx="345643" cy="34564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2916936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menghilangkan kerumitan konfigurasi native dan menyediakan SDK yang lengkap.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575304"/>
            <a:ext cx="493776" cy="493776"/>
          </a:xfrm>
          <a:prstGeom prst="ellipse">
            <a:avLst/>
          </a:prstGeom>
          <a:solidFill>
            <a:srgbClr val="1B2C52"/>
          </a:solidFill>
          <a:ln w="12700">
            <a:solidFill>
              <a:srgbClr val="1B2C5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46" y="3649370"/>
            <a:ext cx="345643" cy="3456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6301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Kuasai JSX, komponen, props, state, dan Flexbox sebagai fondasi setiap layar.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4288536"/>
            <a:ext cx="493776" cy="493776"/>
          </a:xfrm>
          <a:prstGeom prst="ellipse">
            <a:avLst/>
          </a:prstGeom>
          <a:solidFill>
            <a:srgbClr val="1B2C52"/>
          </a:solidFill>
          <a:ln w="12700">
            <a:solidFill>
              <a:srgbClr val="1B2C52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6" y="4362602"/>
            <a:ext cx="345643" cy="34564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4343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 menjadikan navigasi sesederhana menyusun berkas dalam folder app/.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40080" y="5001768"/>
            <a:ext cx="493776" cy="493776"/>
          </a:xfrm>
          <a:prstGeom prst="ellipse">
            <a:avLst/>
          </a:prstGeom>
          <a:solidFill>
            <a:srgbClr val="1B2C52"/>
          </a:solidFill>
          <a:ln w="12700">
            <a:solidFill>
              <a:srgbClr val="1B2C52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46" y="5075834"/>
            <a:ext cx="345643" cy="345643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25880" y="50566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Build dan EAS Update menuntaskan proses rilis hingga sampai ke tangan pengguna.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640080" y="5806440"/>
            <a:ext cx="5852160" cy="621792"/>
          </a:xfrm>
          <a:prstGeom prst="roundRect">
            <a:avLst>
              <a:gd name="adj" fmla="val 50000"/>
            </a:avLst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640080" y="5806440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11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Langkah berikutnya: npx create-expo-app AplikasiSaya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8915400" y="1965960"/>
            <a:ext cx="2103120" cy="2103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08" y="2487168"/>
            <a:ext cx="1051560" cy="105156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915400" y="4206240"/>
            <a:ext cx="2103120" cy="2103120"/>
          </a:xfrm>
          <a:prstGeom prst="ellipse">
            <a:avLst/>
          </a:prstGeom>
          <a:solidFill>
            <a:srgbClr val="1B2C52"/>
          </a:solidFill>
          <a:ln w="19050">
            <a:solidFill>
              <a:srgbClr val="61DAFB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6608" y="4727448"/>
            <a:ext cx="1051560" cy="105156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863840" y="1234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— selamat mencoba!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Native dengan Expo</dc:title>
  <dc:subject>Pengembangan Aplikasi Mobile Lintas Platform</dc:subject>
  <dc:creator>Materi Pembelajaran</dc:creator>
  <cp:lastModifiedBy>Materi Pembelajaran</cp:lastModifiedBy>
  <cp:revision>1</cp:revision>
  <dcterms:created xsi:type="dcterms:W3CDTF">2026-09-04T00:50:42Z</dcterms:created>
  <dcterms:modified xsi:type="dcterms:W3CDTF">2026-09-04T00:50:42Z</dcterms:modified>
</cp:coreProperties>
</file>