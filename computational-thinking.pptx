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d1d66f0c-f8d9-495f-5c93-c7b662e354c7}">
          <p14:sldIdLst>
            <p14:sldId id="256"/>
            <p14:sldId id="257"/>
            <p14:sldId id="258"/>
          </p14:sldIdLst>
        </p14:section>
        <p14:section name="Pengertian CT" id="{c229dea5-a175-5be1-d3ee-d747ec05f998}">
          <p14:sldIdLst>
            <p14:sldId id="259"/>
            <p14:sldId id="260"/>
            <p14:sldId id="261"/>
            <p14:sldId id="262"/>
          </p14:sldIdLst>
        </p14:section>
        <p14:section name="Empat Pilar" id="{38b160a6-e5be-ba6f-6cd8-fe4fa74d3881}">
          <p14:sldIdLst>
            <p14:sldId id="263"/>
            <p14:sldId id="264"/>
            <p14:sldId id="265"/>
            <p14:sldId id="266"/>
            <p14:sldId id="267"/>
            <p14:sldId id="268"/>
          </p14:sldIdLst>
        </p14:section>
        <p14:section name="Algoritma" id="{06739211-17ee-037d-7ab5-0ea9ff69ff69}">
          <p14:sldIdLst>
            <p14:sldId id="269"/>
            <p14:sldId id="270"/>
            <p14:sldId id="271"/>
            <p14:sldId id="272"/>
            <p14:sldId id="273"/>
          </p14:sldIdLst>
        </p14:section>
        <p14:section name="Penerapan" id="{17861ebc-8991-00b4-2177-d1104abd72c8}">
          <p14:sldIdLst>
            <p14:sldId id="274"/>
            <p14:sldId id="275"/>
            <p14:sldId id="276"/>
            <p14:sldId id="277"/>
          </p14:sldIdLst>
        </p14:section>
        <p14:section name="Latihan" id="{5386379c-92b5-8bb1-edbc-ff8d38f35a65}">
          <p14:sldIdLst>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Pembukaan. Sapa peserta, perkenalkan topik Computational Thinking (berpikir komputasional) sebagai keterampilan memecahkan masalah yang berguna bagi semua orang, bukan hanya programmer. Tanyakan: siapa yang pernah mendengar istilah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alur sesi: dimulai dari pengertian, lalu empat pilar, pendalaman algoritma, penerapan, dan ditutup dengan latihan serta rangkuman.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Bacakan empat tujuan. Tekankan bahwa di akhir sesi peserta tidak hanya paham konsep, tetapi juga bisa menyusun algoritma dan menerapkannya.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Masuk ke bagian pertama: memahami apa itu 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Jeannette Wing mempopulerkan istilah ini lewat artikelnya di Communications of the ACM tahun 2006. Ia berpendapat CT adalah keterampilan dasar yang perlu dimiliki semua orang, sama seperti membaca, menulis, dan berhitung. Tekankan: CT adalah cara berpikir manusia, bukan cara berpikir mesin.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Bahas empat manfaat. Tambahkan konteks lokal: dalam Kurikulum Merdeka, Berpikir Komputasional adalah salah satu elemen Capaian Pembelajaran mata pelajaran Informatika. Ajak peserta memberi contoh masalah sehari-hari yang bisa dibantu 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Gunakan slide ini secara interaktif: bacakan mitos, minta peserta menebak benar atau salah sebelum menampilkan fakta.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Masuk ke inti materi: empat pilar 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Berikan gambaran umum. Analogi: menyiapkan liburan keluarga — dipecah menjadi transportasi, penginapan, makanan (dekomposisi); belajar dari liburan sebelumnya (pola); fokus pada anggaran dan tanggal (abstraksi); lalu menyusun rencana langkah demi langkah (algoritma).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panitia pentas seni tidak bisa langsung 'membuat acara'. Masalah besar dipecah menjadi acara, konsumsi, dekorasi, publikasi, lalu dipecah lagi menjadi tugas-tugas kecil. Setiap tugas kecil mudah dikerjakan dan dibagikan. Tanyakan: bagaimana kalian memecah tugas 'belajar untuk ujian'?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Pengenalan pola membuat kita tidak perlu memulai dari nol. Contoh barisan 2, 5, 8, 11: selisihnya selalu 3. Minta peserta menebak suku berikutnya (14) dan menemukan rumusnya (3n − 1). Diskusikan pola lain di sekitar mereka.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Abstraksi = membuat model yang cukup sederhana namun tetap berguna. Peta jalur kereta tidak menampilkan gedung, jalan, atau jarak sebenarnya; penumpang hanya butuh urutan stasiun dan titik transit. Pada kasus keramik, yang relevan hanya ukuran lantai dan keramik.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Lima ciri algoritma (input, output, jelas/definiteness, berhingga/finiteness, efektif) dikenal luas dari Donald Knuth. Contoh menyeberang jalan memuat urutan, keputusan (jika aman), dan pengulangan (tunggu sampai aman). Minta peserta menulis algoritma memakai seragam sekolah.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Mendalami pilar algoritma karena paling dekat dengan pemrograman.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representasi untuk satu masalah. MOD adalah operasi sisa bagi. Tanyakan kelebihan dan kekurangan masing-masing. Pseudocode tidak punya aturan baku, yang penting konsisten dan jelas.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Simbol-simbol ini merupakan simbol standar flowchart. Semua simbol di slide ini adalah bentuk asli PowerPoint, sehingga bisa disalin untuk latihan. Tekankan bahwa setiap flowchart harus punya satu Mulai dan minimal satu Selesai.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algoritma, sekompleks apa pun, dibangun dari tiga struktur ini: sekuensial, percabangan, dan perulangan. Minta peserta mencari contoh lain untuk setiap struktur.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Bandingkan pseudocode dan flowchart. Kondisi 'Mendidih?' dan 'Cukup manis?' adalah percabangan; panah 'Tidak' yang kembali ke atas membentuk perulangan. Ajak peserta menambah langkah, misalnya menyiapkan gelas dan kantong teh.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lihat CT di dunia nyata.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Tunjukkan bahwa tanpa sadar kita sudah memakai CT setiap hari. Minta tiap peserta menyebutkan satu aktivitas dan pilar CT apa yang dipakai.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CT menjadi fondasi banyak inovasi. Contoh pertanian: algoritmanya sederhana — JIKA kelembapan di bawah batas MAKA nyalakan pompa. Tanyakan profesi impian peserta dan bagaimana CT berperan di sana.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Studi kasus ini menyatukan keempat pilar. Ajak peserta, dalam kelompok, menerapkan pola yang sama untuk masalah lain: menyelenggarakan lomba 17 Agustus atau membuat jadwal piket kelas.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praktik dan rangkuman materi.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Kunci jawaban (robot di pojok kiri bawah, menghadap atas): MAJU, MAJU, BELOK KANAN, MAJU, MAJU, MAJU, BELOK KIRI, MAJU, MAJU, BELOK KANAN, MAJU. Ada rute lain yang juga benar; minta kelompok membandingkan rute mana yang paling pendek. Variasi: tambahkan perintah ULANGI n KALI untuk memperkenalkan perulangan.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Ulangi empat pilar dan pesan utama. Ajak peserta menyebutkan satu hal baru yang mereka pelajari hari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Sumber untuk pendalaman. Soal-soal Bebras sangat cocok untuk latihan CT tanpa komputer.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sesi. Berikan tugas lanjutan: tuliskan algoritma (pseudocode dan flowchart) untuk satu kegiatan rutin di rumah.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3D3E"/>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F3D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240280"/>
            <a:ext cx="5669280" cy="118872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1" type="body" hasCustomPrompt="1"/>
          </p:nvPr>
        </p:nvSpPr>
        <p:spPr>
          <a:xfrm>
            <a:off x="548640" y="3520440"/>
            <a:ext cx="5669280" cy="731520"/>
          </a:xfrm>
          <a:prstGeom prst="rect">
            <a:avLst/>
          </a:prstGeom>
          <a:noFill/>
          <a:ln/>
        </p:spPr>
        <p:txBody>
          <a:bodyPr wrap="square" rtlCol="0"/>
          <a:lstStyle>
            <a:lvl1pPr indent="0" marL="0">
              <a:buNone/>
              <a:defRPr lang="en-US" sz="1600" dirty="0">
                <a:solidFill>
                  <a:schemeClr val="bg2"/>
                </a:solidFill>
                <a:latin typeface="Calibri" pitchFamily="34" charset="0"/>
                <a:ea typeface="Calibri" pitchFamily="34" charset="-122"/>
                <a:cs typeface="Calibri" pitchFamily="34" charset="-120"/>
              </a:defRPr>
            </a:lvl1pPr>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pic>
        <p:nvPicPr>
          <p:cNvPr id="3" name="Image 0" descr="preencoded.png">    </p:cNvPr>
          <p:cNvPicPr>
            <a:picLocks noChangeAspect="1"/>
          </p:cNvPicPr>
          <p:nvPr/>
        </p:nvPicPr>
        <p:blipFill>
          <a:blip r:embed="rId1"/>
          <a:stretch>
            <a:fillRect/>
          </a:stretch>
        </p:blipFill>
        <p:spPr>
          <a:xfrm>
            <a:off x="457200" y="4754880"/>
            <a:ext cx="201168" cy="201168"/>
          </a:xfrm>
          <a:prstGeom prst="rect">
            <a:avLst/>
          </a:prstGeom>
        </p:spPr>
      </p:pic>
      <p:sp>
        <p:nvSpPr>
          <p:cNvPr id="4" name="Text 0"/>
          <p:cNvSpPr/>
          <p:nvPr/>
        </p:nvSpPr>
        <p:spPr>
          <a:xfrm>
            <a:off x="731520" y="4718304"/>
            <a:ext cx="27432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Computational Thinking</a:t>
            </a:r>
            <a:endParaRPr lang="en-US" sz="10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4.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4.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4.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4.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slideLayout" Target="../slideLayouts/slideLayout4.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4.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4.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lustrasi jaringan" descr="preencoded.png">    </p:cNvPr>
          <p:cNvPicPr>
            <a:picLocks noChangeAspect="1"/>
          </p:cNvPicPr>
          <p:nvPr/>
        </p:nvPicPr>
        <p:blipFill>
          <a:blip r:embed="rId1"/>
          <a:stretch>
            <a:fillRect/>
          </a:stretch>
        </p:blipFill>
        <p:spPr>
          <a:xfrm>
            <a:off x="4892040" y="502920"/>
            <a:ext cx="4023360" cy="3755136"/>
          </a:xfrm>
          <a:prstGeom prst="rect">
            <a:avLst/>
          </a:prstGeom>
        </p:spPr>
      </p:pic>
      <p:pic>
        <p:nvPicPr>
          <p:cNvPr id="3" name="Logo" descr="preencoded.png">    </p:cNvPr>
          <p:cNvPicPr>
            <a:picLocks noChangeAspect="1"/>
          </p:cNvPicPr>
          <p:nvPr/>
        </p:nvPicPr>
        <p:blipFill>
          <a:blip r:embed="rId2"/>
          <a:stretch>
            <a:fillRect/>
          </a:stretch>
        </p:blipFill>
        <p:spPr>
          <a:xfrm>
            <a:off x="548640" y="548640"/>
            <a:ext cx="548640" cy="548640"/>
          </a:xfrm>
          <a:prstGeom prst="rect">
            <a:avLst/>
          </a:prstGeom>
        </p:spPr>
      </p:pic>
      <p:sp>
        <p:nvSpPr>
          <p:cNvPr id="4" name="Text 0"/>
          <p:cNvSpPr txBox="1"/>
          <p:nvPr/>
        </p:nvSpPr>
        <p:spPr>
          <a:xfrm>
            <a:off x="1234440" y="621792"/>
            <a:ext cx="3200400" cy="41148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BERPIKIR KOMPUTASIONAL</a:t>
            </a:r>
            <a:endParaRPr lang="en-US" sz="1200" dirty="0"/>
          </a:p>
        </p:txBody>
      </p:sp>
      <p:sp>
        <p:nvSpPr>
          <p:cNvPr id="5" name="Text 1"/>
          <p:cNvSpPr txBox="1"/>
          <p:nvPr/>
        </p:nvSpPr>
        <p:spPr>
          <a:xfrm>
            <a:off x="548640" y="1508760"/>
            <a:ext cx="4572000" cy="137160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Computational Thinking</a:t>
            </a:r>
            <a:endParaRPr lang="en-US" sz="4400" dirty="0"/>
          </a:p>
        </p:txBody>
      </p:sp>
      <p:sp>
        <p:nvSpPr>
          <p:cNvPr id="6" name="Text 2"/>
          <p:cNvSpPr txBox="1"/>
          <p:nvPr/>
        </p:nvSpPr>
        <p:spPr>
          <a:xfrm>
            <a:off x="548640" y="2926080"/>
            <a:ext cx="4206240" cy="822960"/>
          </a:xfrm>
          <a:prstGeom prst="rect">
            <a:avLst/>
          </a:prstGeom>
          <a:noFill/>
          <a:ln/>
        </p:spPr>
        <p:txBody>
          <a:bodyPr wrap="square" lIns="0" tIns="0" rIns="0" bIns="0" rtlCol="0" anchor="t"/>
          <a:lstStyle/>
          <a:p>
            <a:pPr indent="0" marL="0">
              <a:buNone/>
            </a:pPr>
            <a:r>
              <a:rPr lang="en-US" sz="1600" dirty="0">
                <a:solidFill>
                  <a:schemeClr val="bg2"/>
                </a:solidFill>
                <a:latin typeface="Calibri" pitchFamily="34" charset="0"/>
                <a:ea typeface="Calibri" pitchFamily="34" charset="-122"/>
                <a:cs typeface="Calibri" pitchFamily="34" charset="-120"/>
              </a:rPr>
              <a:t>Cara cerdas memecahkan masalah dengan dekomposisi, pengenalan pola, abstraksi, dan algoritma</a:t>
            </a:r>
            <a:endParaRPr lang="en-US" sz="1600" dirty="0"/>
          </a:p>
        </p:txBody>
      </p:sp>
      <p:sp>
        <p:nvSpPr>
          <p:cNvPr id="7" name="Text 3"/>
          <p:cNvSpPr txBox="1"/>
          <p:nvPr/>
        </p:nvSpPr>
        <p:spPr>
          <a:xfrm>
            <a:off x="548640" y="4206240"/>
            <a:ext cx="4114800" cy="32004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Materi Pembelajaran Informatika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Agenda Pembelajaran</a:t>
            </a:r>
            <a:endParaRPr lang="en-US" sz="2800" dirty="0"/>
          </a:p>
        </p:txBody>
      </p:sp>
      <p:sp>
        <p:nvSpPr>
          <p:cNvPr id="3" name="Agenda 1"/>
          <p:cNvSpPr/>
          <p:nvPr/>
        </p:nvSpPr>
        <p:spPr>
          <a:xfrm>
            <a:off x="457200" y="1097280"/>
            <a:ext cx="5120640" cy="566928"/>
          </a:xfrm>
          <a:prstGeom prst="roundRect">
            <a:avLst>
              <a:gd name="adj" fmla="val 19355"/>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4" name="Shape 2"/>
          <p:cNvSpPr/>
          <p:nvPr/>
        </p:nvSpPr>
        <p:spPr>
          <a:xfrm>
            <a:off x="566928" y="1179576"/>
            <a:ext cx="402336" cy="402336"/>
          </a:xfrm>
          <a:prstGeom prst="ellipse">
            <a:avLst/>
          </a:prstGeom>
          <a:solidFill>
            <a:schemeClr val="accent3"/>
          </a:solidFill>
          <a:ln w="12700">
            <a:solidFill>
              <a:schemeClr val="accent3"/>
            </a:solidFill>
            <a:prstDash val="solid"/>
          </a:ln>
        </p:spPr>
      </p:sp>
      <p:sp>
        <p:nvSpPr>
          <p:cNvPr id="5" name="Text 3"/>
          <p:cNvSpPr txBox="1"/>
          <p:nvPr/>
        </p:nvSpPr>
        <p:spPr>
          <a:xfrm>
            <a:off x="566928" y="1179576"/>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161288"/>
            <a:ext cx="4297680" cy="256032"/>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Pengertian &amp; pentingnya CT</a:t>
            </a:r>
            <a:endParaRPr lang="en-US" sz="1500" dirty="0"/>
          </a:p>
        </p:txBody>
      </p:sp>
      <p:sp>
        <p:nvSpPr>
          <p:cNvPr id="7" name="Text 5"/>
          <p:cNvSpPr txBox="1"/>
          <p:nvPr/>
        </p:nvSpPr>
        <p:spPr>
          <a:xfrm>
            <a:off x="1143000" y="1399032"/>
            <a:ext cx="4297680" cy="219456"/>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Definisi, manfaat, mitos dan fakta</a:t>
            </a:r>
            <a:endParaRPr lang="en-US" sz="1200" dirty="0"/>
          </a:p>
        </p:txBody>
      </p:sp>
      <p:sp>
        <p:nvSpPr>
          <p:cNvPr id="8" name="Agenda 2"/>
          <p:cNvSpPr/>
          <p:nvPr/>
        </p:nvSpPr>
        <p:spPr>
          <a:xfrm>
            <a:off x="457200" y="1792224"/>
            <a:ext cx="5120640" cy="566928"/>
          </a:xfrm>
          <a:prstGeom prst="roundRect">
            <a:avLst>
              <a:gd name="adj" fmla="val 19355"/>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9" name="Shape 7"/>
          <p:cNvSpPr/>
          <p:nvPr/>
        </p:nvSpPr>
        <p:spPr>
          <a:xfrm>
            <a:off x="566928" y="1874520"/>
            <a:ext cx="402336" cy="402336"/>
          </a:xfrm>
          <a:prstGeom prst="ellipse">
            <a:avLst/>
          </a:prstGeom>
          <a:solidFill>
            <a:schemeClr val="accent2"/>
          </a:solidFill>
          <a:ln w="12700">
            <a:solidFill>
              <a:schemeClr val="accent2"/>
            </a:solidFill>
            <a:prstDash val="solid"/>
          </a:ln>
        </p:spPr>
      </p:sp>
      <p:sp>
        <p:nvSpPr>
          <p:cNvPr id="10" name="Text 8"/>
          <p:cNvSpPr txBox="1"/>
          <p:nvPr/>
        </p:nvSpPr>
        <p:spPr>
          <a:xfrm>
            <a:off x="566928" y="187452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1143000" y="1856232"/>
            <a:ext cx="4297680" cy="256032"/>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Empat pilar CT</a:t>
            </a:r>
            <a:endParaRPr lang="en-US" sz="1500" dirty="0"/>
          </a:p>
        </p:txBody>
      </p:sp>
      <p:sp>
        <p:nvSpPr>
          <p:cNvPr id="12" name="Text 10"/>
          <p:cNvSpPr txBox="1"/>
          <p:nvPr/>
        </p:nvSpPr>
        <p:spPr>
          <a:xfrm>
            <a:off x="1143000" y="2093976"/>
            <a:ext cx="4297680" cy="219456"/>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Dekomposisi, pola, abstraksi, algoritma</a:t>
            </a:r>
            <a:endParaRPr lang="en-US" sz="1200" dirty="0"/>
          </a:p>
        </p:txBody>
      </p:sp>
      <p:sp>
        <p:nvSpPr>
          <p:cNvPr id="13" name="Agenda 3"/>
          <p:cNvSpPr/>
          <p:nvPr/>
        </p:nvSpPr>
        <p:spPr>
          <a:xfrm>
            <a:off x="457200" y="2487168"/>
            <a:ext cx="5120640" cy="566928"/>
          </a:xfrm>
          <a:prstGeom prst="roundRect">
            <a:avLst>
              <a:gd name="adj" fmla="val 19355"/>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14" name="Shape 12"/>
          <p:cNvSpPr/>
          <p:nvPr/>
        </p:nvSpPr>
        <p:spPr>
          <a:xfrm>
            <a:off x="566928" y="2569464"/>
            <a:ext cx="402336" cy="402336"/>
          </a:xfrm>
          <a:prstGeom prst="ellipse">
            <a:avLst/>
          </a:prstGeom>
          <a:solidFill>
            <a:schemeClr val="accent4"/>
          </a:solidFill>
          <a:ln w="12700">
            <a:solidFill>
              <a:schemeClr val="accent4"/>
            </a:solidFill>
            <a:prstDash val="solid"/>
          </a:ln>
        </p:spPr>
      </p:sp>
      <p:sp>
        <p:nvSpPr>
          <p:cNvPr id="15" name="Text 13"/>
          <p:cNvSpPr txBox="1"/>
          <p:nvPr/>
        </p:nvSpPr>
        <p:spPr>
          <a:xfrm>
            <a:off x="566928" y="2569464"/>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1143000" y="2551176"/>
            <a:ext cx="4297680" cy="256032"/>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Algoritma lebih dalam</a:t>
            </a:r>
            <a:endParaRPr lang="en-US" sz="1500" dirty="0"/>
          </a:p>
        </p:txBody>
      </p:sp>
      <p:sp>
        <p:nvSpPr>
          <p:cNvPr id="17" name="Text 15"/>
          <p:cNvSpPr txBox="1"/>
          <p:nvPr/>
        </p:nvSpPr>
        <p:spPr>
          <a:xfrm>
            <a:off x="1143000" y="2788920"/>
            <a:ext cx="4297680" cy="219456"/>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Pseudocode, flowchart, struktur kontrol</a:t>
            </a:r>
            <a:endParaRPr lang="en-US" sz="1200" dirty="0"/>
          </a:p>
        </p:txBody>
      </p:sp>
      <p:sp>
        <p:nvSpPr>
          <p:cNvPr id="18" name="Agenda 4"/>
          <p:cNvSpPr/>
          <p:nvPr/>
        </p:nvSpPr>
        <p:spPr>
          <a:xfrm>
            <a:off x="457200" y="3182112"/>
            <a:ext cx="5120640" cy="566928"/>
          </a:xfrm>
          <a:prstGeom prst="roundRect">
            <a:avLst>
              <a:gd name="adj" fmla="val 19355"/>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19" name="Shape 17"/>
          <p:cNvSpPr/>
          <p:nvPr/>
        </p:nvSpPr>
        <p:spPr>
          <a:xfrm>
            <a:off x="566928" y="3264408"/>
            <a:ext cx="402336" cy="402336"/>
          </a:xfrm>
          <a:prstGeom prst="ellipse">
            <a:avLst/>
          </a:prstGeom>
          <a:solidFill>
            <a:schemeClr val="accent1"/>
          </a:solidFill>
          <a:ln w="12700">
            <a:solidFill>
              <a:schemeClr val="accent1"/>
            </a:solidFill>
            <a:prstDash val="solid"/>
          </a:ln>
        </p:spPr>
      </p:sp>
      <p:sp>
        <p:nvSpPr>
          <p:cNvPr id="20" name="Text 18"/>
          <p:cNvSpPr txBox="1"/>
          <p:nvPr/>
        </p:nvSpPr>
        <p:spPr>
          <a:xfrm>
            <a:off x="566928" y="3264408"/>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1143000" y="3246120"/>
            <a:ext cx="4297680" cy="256032"/>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Penerapan &amp; studi kasus</a:t>
            </a:r>
            <a:endParaRPr lang="en-US" sz="1500" dirty="0"/>
          </a:p>
        </p:txBody>
      </p:sp>
      <p:sp>
        <p:nvSpPr>
          <p:cNvPr id="22" name="Text 20"/>
          <p:cNvSpPr txBox="1"/>
          <p:nvPr/>
        </p:nvSpPr>
        <p:spPr>
          <a:xfrm>
            <a:off x="1143000" y="3483864"/>
            <a:ext cx="4297680" cy="219456"/>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Kehidupan sehari-hari dan berbagai bidang</a:t>
            </a:r>
            <a:endParaRPr lang="en-US" sz="1200" dirty="0"/>
          </a:p>
        </p:txBody>
      </p:sp>
      <p:sp>
        <p:nvSpPr>
          <p:cNvPr id="23" name="Agenda 5"/>
          <p:cNvSpPr/>
          <p:nvPr/>
        </p:nvSpPr>
        <p:spPr>
          <a:xfrm>
            <a:off x="457200" y="3877056"/>
            <a:ext cx="5120640" cy="566928"/>
          </a:xfrm>
          <a:prstGeom prst="roundRect">
            <a:avLst>
              <a:gd name="adj" fmla="val 19355"/>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24" name="Shape 22"/>
          <p:cNvSpPr/>
          <p:nvPr/>
        </p:nvSpPr>
        <p:spPr>
          <a:xfrm>
            <a:off x="566928" y="3959352"/>
            <a:ext cx="402336" cy="402336"/>
          </a:xfrm>
          <a:prstGeom prst="ellipse">
            <a:avLst/>
          </a:prstGeom>
          <a:solidFill>
            <a:schemeClr val="tx2"/>
          </a:solidFill>
          <a:ln w="12700">
            <a:solidFill>
              <a:schemeClr val="tx2"/>
            </a:solidFill>
            <a:prstDash val="solid"/>
          </a:ln>
        </p:spPr>
      </p:sp>
      <p:sp>
        <p:nvSpPr>
          <p:cNvPr id="25" name="Text 23"/>
          <p:cNvSpPr txBox="1"/>
          <p:nvPr/>
        </p:nvSpPr>
        <p:spPr>
          <a:xfrm>
            <a:off x="566928" y="3959352"/>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Text 24"/>
          <p:cNvSpPr txBox="1"/>
          <p:nvPr/>
        </p:nvSpPr>
        <p:spPr>
          <a:xfrm>
            <a:off x="1143000" y="3941064"/>
            <a:ext cx="4297680" cy="256032"/>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Latihan &amp; rangkuman</a:t>
            </a:r>
            <a:endParaRPr lang="en-US" sz="1500" dirty="0"/>
          </a:p>
        </p:txBody>
      </p:sp>
      <p:sp>
        <p:nvSpPr>
          <p:cNvPr id="27" name="Text 25"/>
          <p:cNvSpPr txBox="1"/>
          <p:nvPr/>
        </p:nvSpPr>
        <p:spPr>
          <a:xfrm>
            <a:off x="1143000" y="4178808"/>
            <a:ext cx="4297680" cy="219456"/>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Aktivitas unplugged dan rangkuman</a:t>
            </a:r>
            <a:endParaRPr lang="en-US" sz="1200" dirty="0"/>
          </a:p>
        </p:txBody>
      </p:sp>
      <p:sp>
        <p:nvSpPr>
          <p:cNvPr id="28" name="Panel durasi"/>
          <p:cNvSpPr/>
          <p:nvPr/>
        </p:nvSpPr>
        <p:spPr>
          <a:xfrm>
            <a:off x="5943600" y="1097280"/>
            <a:ext cx="2743200" cy="3346704"/>
          </a:xfrm>
          <a:prstGeom prst="roundRect">
            <a:avLst>
              <a:gd name="adj" fmla="val 4000"/>
            </a:avLst>
          </a:prstGeom>
          <a:solidFill>
            <a:schemeClr val="tx2"/>
          </a:solidFill>
          <a:ln w="12700">
            <a:solidFill>
              <a:schemeClr val="tx2"/>
            </a:solidFill>
            <a:prstDash val="solid"/>
          </a:ln>
        </p:spPr>
      </p:sp>
      <p:pic>
        <p:nvPicPr>
          <p:cNvPr id="29" name="Image 0" descr="preencoded.png">    </p:cNvPr>
          <p:cNvPicPr>
            <a:picLocks noChangeAspect="1"/>
          </p:cNvPicPr>
          <p:nvPr/>
        </p:nvPicPr>
        <p:blipFill>
          <a:blip r:embed="rId1"/>
          <a:stretch>
            <a:fillRect/>
          </a:stretch>
        </p:blipFill>
        <p:spPr>
          <a:xfrm>
            <a:off x="6217920" y="1371600"/>
            <a:ext cx="548640" cy="548640"/>
          </a:xfrm>
          <a:prstGeom prst="rect">
            <a:avLst/>
          </a:prstGeom>
        </p:spPr>
      </p:pic>
      <p:sp>
        <p:nvSpPr>
          <p:cNvPr id="30" name="Text 27"/>
          <p:cNvSpPr txBox="1"/>
          <p:nvPr/>
        </p:nvSpPr>
        <p:spPr>
          <a:xfrm>
            <a:off x="6217920" y="2057400"/>
            <a:ext cx="2286000" cy="32004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Format sesi</a:t>
            </a:r>
            <a:endParaRPr lang="en-US" sz="1600" dirty="0"/>
          </a:p>
        </p:txBody>
      </p:sp>
      <p:sp>
        <p:nvSpPr>
          <p:cNvPr id="31" name="Text 28"/>
          <p:cNvSpPr txBox="1"/>
          <p:nvPr/>
        </p:nvSpPr>
        <p:spPr>
          <a:xfrm>
            <a:off x="6217920" y="2468880"/>
            <a:ext cx="228600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2"/>
                </a:solidFill>
                <a:latin typeface="Calibri" pitchFamily="34" charset="0"/>
                <a:ea typeface="Calibri" pitchFamily="34" charset="-122"/>
                <a:cs typeface="Calibri" pitchFamily="34" charset="-120"/>
              </a:rPr>
              <a:t>Penjelasan konsep</a:t>
            </a:r>
            <a:endParaRPr lang="en-US" sz="1400" dirty="0"/>
          </a:p>
          <a:p>
            <a:pPr marL="342900" indent="-342900">
              <a:spcAft>
                <a:spcPts val="600"/>
              </a:spcAft>
              <a:buSzPct val="100000"/>
              <a:buChar char="•"/>
            </a:pPr>
            <a:r>
              <a:rPr lang="en-US" sz="1400" dirty="0">
                <a:solidFill>
                  <a:schemeClr val="bg2"/>
                </a:solidFill>
                <a:latin typeface="Calibri" pitchFamily="34" charset="0"/>
                <a:ea typeface="Calibri" pitchFamily="34" charset="-122"/>
                <a:cs typeface="Calibri" pitchFamily="34" charset="-120"/>
              </a:rPr>
              <a:t>Contoh dan studi kasus</a:t>
            </a:r>
            <a:endParaRPr lang="en-US" sz="1400" dirty="0"/>
          </a:p>
          <a:p>
            <a:pPr marL="342900" indent="-342900">
              <a:spcAft>
                <a:spcPts val="600"/>
              </a:spcAft>
              <a:buSzPct val="100000"/>
              <a:buChar char="•"/>
            </a:pPr>
            <a:r>
              <a:rPr lang="en-US" sz="1400" dirty="0">
                <a:solidFill>
                  <a:schemeClr val="bg2"/>
                </a:solidFill>
                <a:latin typeface="Calibri" pitchFamily="34" charset="0"/>
                <a:ea typeface="Calibri" pitchFamily="34" charset="-122"/>
                <a:cs typeface="Calibri" pitchFamily="34" charset="-120"/>
              </a:rPr>
              <a:t>Aktivitas kelompok</a:t>
            </a:r>
            <a:endParaRPr lang="en-US" sz="14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Tujuan Pembelajaran</a:t>
            </a:r>
            <a:endParaRPr lang="en-US" sz="2800" dirty="0"/>
          </a:p>
        </p:txBody>
      </p:sp>
      <p:sp>
        <p:nvSpPr>
          <p:cNvPr id="3" name="Text 1"/>
          <p:cNvSpPr txBox="1"/>
          <p:nvPr/>
        </p:nvSpPr>
        <p:spPr>
          <a:xfrm>
            <a:off x="457200" y="1005840"/>
            <a:ext cx="8229600" cy="320040"/>
          </a:xfrm>
          <a:prstGeom prst="rect">
            <a:avLst/>
          </a:prstGeom>
          <a:noFill/>
          <a:ln/>
        </p:spPr>
        <p:txBody>
          <a:bodyPr wrap="square" lIns="0" tIns="0" rIns="0" bIns="0" rtlCol="0" anchor="t"/>
          <a:lstStyle/>
          <a:p>
            <a:pPr indent="0" marL="0">
              <a:buNone/>
            </a:pPr>
            <a:r>
              <a:rPr lang="en-US" sz="1500" i="1" dirty="0">
                <a:solidFill>
                  <a:schemeClr val="accent5"/>
                </a:solidFill>
                <a:latin typeface="Calibri" pitchFamily="34" charset="0"/>
                <a:ea typeface="Calibri" pitchFamily="34" charset="-122"/>
                <a:cs typeface="Calibri" pitchFamily="34" charset="-120"/>
              </a:rPr>
              <a:t>Setelah sesi ini, peserta mampu:</a:t>
            </a:r>
            <a:endParaRPr lang="en-US" sz="1500" dirty="0"/>
          </a:p>
        </p:txBody>
      </p:sp>
      <p:sp>
        <p:nvSpPr>
          <p:cNvPr id="4" name="Tujuan 1"/>
          <p:cNvSpPr/>
          <p:nvPr/>
        </p:nvSpPr>
        <p:spPr>
          <a:xfrm>
            <a:off x="457200" y="1508760"/>
            <a:ext cx="4023360" cy="1234440"/>
          </a:xfrm>
          <a:prstGeom prst="roundRect">
            <a:avLst>
              <a:gd name="adj" fmla="val 8889"/>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5" name="icon circle"/>
          <p:cNvSpPr/>
          <p:nvPr/>
        </p:nvSpPr>
        <p:spPr>
          <a:xfrm>
            <a:off x="685800" y="1783080"/>
            <a:ext cx="685800" cy="685800"/>
          </a:xfrm>
          <a:prstGeom prst="ellipse">
            <a:avLst/>
          </a:prstGeom>
          <a:solidFill>
            <a:schemeClr val="accent3"/>
          </a:solidFill>
          <a:ln w="12700">
            <a:solidFill>
              <a:schemeClr val="accent3"/>
            </a:solidFill>
            <a:prstDash val="solid"/>
          </a:ln>
        </p:spPr>
      </p:sp>
      <p:pic>
        <p:nvPicPr>
          <p:cNvPr id="6" name="icon" descr="preencoded.png">    </p:cNvPr>
          <p:cNvPicPr>
            <a:picLocks noChangeAspect="1"/>
          </p:cNvPicPr>
          <p:nvPr/>
        </p:nvPicPr>
        <p:blipFill>
          <a:blip r:embed="rId1"/>
          <a:stretch>
            <a:fillRect/>
          </a:stretch>
        </p:blipFill>
        <p:spPr>
          <a:xfrm>
            <a:off x="870966" y="1968246"/>
            <a:ext cx="315468" cy="315468"/>
          </a:xfrm>
          <a:prstGeom prst="rect">
            <a:avLst/>
          </a:prstGeom>
        </p:spPr>
      </p:pic>
      <p:sp>
        <p:nvSpPr>
          <p:cNvPr id="7" name="Text 4"/>
          <p:cNvSpPr txBox="1"/>
          <p:nvPr/>
        </p:nvSpPr>
        <p:spPr>
          <a:xfrm>
            <a:off x="1554480" y="1709928"/>
            <a:ext cx="2743200" cy="32004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Menjelaskan</a:t>
            </a:r>
            <a:endParaRPr lang="en-US" sz="1700" dirty="0"/>
          </a:p>
        </p:txBody>
      </p:sp>
      <p:sp>
        <p:nvSpPr>
          <p:cNvPr id="8" name="Text 5"/>
          <p:cNvSpPr txBox="1"/>
          <p:nvPr/>
        </p:nvSpPr>
        <p:spPr>
          <a:xfrm>
            <a:off x="1554480" y="2039112"/>
            <a:ext cx="2743200" cy="594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pengertian Computational Thinking dan alasan pentingnya.</a:t>
            </a:r>
            <a:endParaRPr lang="en-US" sz="1400" dirty="0"/>
          </a:p>
        </p:txBody>
      </p:sp>
      <p:sp>
        <p:nvSpPr>
          <p:cNvPr id="9" name="Tujuan 2"/>
          <p:cNvSpPr/>
          <p:nvPr/>
        </p:nvSpPr>
        <p:spPr>
          <a:xfrm>
            <a:off x="4663440" y="1508760"/>
            <a:ext cx="4023360" cy="1234440"/>
          </a:xfrm>
          <a:prstGeom prst="roundRect">
            <a:avLst>
              <a:gd name="adj" fmla="val 8889"/>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10" name="icon circle"/>
          <p:cNvSpPr/>
          <p:nvPr/>
        </p:nvSpPr>
        <p:spPr>
          <a:xfrm>
            <a:off x="4892040" y="1783080"/>
            <a:ext cx="685800" cy="685800"/>
          </a:xfrm>
          <a:prstGeom prst="ellipse">
            <a:avLst/>
          </a:prstGeom>
          <a:solidFill>
            <a:schemeClr val="accent2"/>
          </a:solidFill>
          <a:ln w="12700">
            <a:solidFill>
              <a:schemeClr val="accent2"/>
            </a:solidFill>
            <a:prstDash val="solid"/>
          </a:ln>
        </p:spPr>
      </p:sp>
      <p:pic>
        <p:nvPicPr>
          <p:cNvPr id="11" name="icon" descr="preencoded.png">    </p:cNvPr>
          <p:cNvPicPr>
            <a:picLocks noChangeAspect="1"/>
          </p:cNvPicPr>
          <p:nvPr/>
        </p:nvPicPr>
        <p:blipFill>
          <a:blip r:embed="rId2"/>
          <a:stretch>
            <a:fillRect/>
          </a:stretch>
        </p:blipFill>
        <p:spPr>
          <a:xfrm>
            <a:off x="5077206" y="1968246"/>
            <a:ext cx="315468" cy="315468"/>
          </a:xfrm>
          <a:prstGeom prst="rect">
            <a:avLst/>
          </a:prstGeom>
        </p:spPr>
      </p:pic>
      <p:sp>
        <p:nvSpPr>
          <p:cNvPr id="12" name="Text 8"/>
          <p:cNvSpPr txBox="1"/>
          <p:nvPr/>
        </p:nvSpPr>
        <p:spPr>
          <a:xfrm>
            <a:off x="5760720" y="1709928"/>
            <a:ext cx="2743200" cy="32004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Mengidentifikasi</a:t>
            </a:r>
            <a:endParaRPr lang="en-US" sz="1700" dirty="0"/>
          </a:p>
        </p:txBody>
      </p:sp>
      <p:sp>
        <p:nvSpPr>
          <p:cNvPr id="13" name="Text 9"/>
          <p:cNvSpPr txBox="1"/>
          <p:nvPr/>
        </p:nvSpPr>
        <p:spPr>
          <a:xfrm>
            <a:off x="5760720" y="2039112"/>
            <a:ext cx="2743200" cy="594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empat pilar CT dan contohnya dalam kehidupan nyata.</a:t>
            </a:r>
            <a:endParaRPr lang="en-US" sz="1400" dirty="0"/>
          </a:p>
        </p:txBody>
      </p:sp>
      <p:sp>
        <p:nvSpPr>
          <p:cNvPr id="14" name="Tujuan 3"/>
          <p:cNvSpPr/>
          <p:nvPr/>
        </p:nvSpPr>
        <p:spPr>
          <a:xfrm>
            <a:off x="457200" y="2971800"/>
            <a:ext cx="4023360" cy="1234440"/>
          </a:xfrm>
          <a:prstGeom prst="roundRect">
            <a:avLst>
              <a:gd name="adj" fmla="val 8889"/>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15" name="icon circle"/>
          <p:cNvSpPr/>
          <p:nvPr/>
        </p:nvSpPr>
        <p:spPr>
          <a:xfrm>
            <a:off x="685800" y="3246120"/>
            <a:ext cx="685800" cy="685800"/>
          </a:xfrm>
          <a:prstGeom prst="ellipse">
            <a:avLst/>
          </a:prstGeom>
          <a:solidFill>
            <a:schemeClr val="accent4"/>
          </a:solidFill>
          <a:ln w="12700">
            <a:solidFill>
              <a:schemeClr val="accent4"/>
            </a:solidFill>
            <a:prstDash val="solid"/>
          </a:ln>
        </p:spPr>
      </p:sp>
      <p:pic>
        <p:nvPicPr>
          <p:cNvPr id="16" name="icon" descr="preencoded.png">    </p:cNvPr>
          <p:cNvPicPr>
            <a:picLocks noChangeAspect="1"/>
          </p:cNvPicPr>
          <p:nvPr/>
        </p:nvPicPr>
        <p:blipFill>
          <a:blip r:embed="rId3"/>
          <a:stretch>
            <a:fillRect/>
          </a:stretch>
        </p:blipFill>
        <p:spPr>
          <a:xfrm>
            <a:off x="870966" y="3431286"/>
            <a:ext cx="315468" cy="315468"/>
          </a:xfrm>
          <a:prstGeom prst="rect">
            <a:avLst/>
          </a:prstGeom>
        </p:spPr>
      </p:pic>
      <p:sp>
        <p:nvSpPr>
          <p:cNvPr id="17" name="Text 12"/>
          <p:cNvSpPr txBox="1"/>
          <p:nvPr/>
        </p:nvSpPr>
        <p:spPr>
          <a:xfrm>
            <a:off x="1554480" y="3172968"/>
            <a:ext cx="2743200" cy="32004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Menyusun</a:t>
            </a:r>
            <a:endParaRPr lang="en-US" sz="1700" dirty="0"/>
          </a:p>
        </p:txBody>
      </p:sp>
      <p:sp>
        <p:nvSpPr>
          <p:cNvPr id="18" name="Text 13"/>
          <p:cNvSpPr txBox="1"/>
          <p:nvPr/>
        </p:nvSpPr>
        <p:spPr>
          <a:xfrm>
            <a:off x="1554480" y="3502152"/>
            <a:ext cx="2743200" cy="594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algoritma sederhana dalam pseudocode dan flowchart.</a:t>
            </a:r>
            <a:endParaRPr lang="en-US" sz="1400" dirty="0"/>
          </a:p>
        </p:txBody>
      </p:sp>
      <p:sp>
        <p:nvSpPr>
          <p:cNvPr id="19" name="Tujuan 4"/>
          <p:cNvSpPr/>
          <p:nvPr/>
        </p:nvSpPr>
        <p:spPr>
          <a:xfrm>
            <a:off x="4663440" y="2971800"/>
            <a:ext cx="4023360" cy="1234440"/>
          </a:xfrm>
          <a:prstGeom prst="roundRect">
            <a:avLst>
              <a:gd name="adj" fmla="val 8889"/>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20" name="icon circle"/>
          <p:cNvSpPr/>
          <p:nvPr/>
        </p:nvSpPr>
        <p:spPr>
          <a:xfrm>
            <a:off x="4892040" y="3246120"/>
            <a:ext cx="685800" cy="685800"/>
          </a:xfrm>
          <a:prstGeom prst="ellipse">
            <a:avLst/>
          </a:prstGeom>
          <a:solidFill>
            <a:schemeClr val="accent1"/>
          </a:solidFill>
          <a:ln w="12700">
            <a:solidFill>
              <a:schemeClr val="accent1"/>
            </a:solidFill>
            <a:prstDash val="solid"/>
          </a:ln>
        </p:spPr>
      </p:sp>
      <p:pic>
        <p:nvPicPr>
          <p:cNvPr id="21" name="icon" descr="preencoded.png">    </p:cNvPr>
          <p:cNvPicPr>
            <a:picLocks noChangeAspect="1"/>
          </p:cNvPicPr>
          <p:nvPr/>
        </p:nvPicPr>
        <p:blipFill>
          <a:blip r:embed="rId4"/>
          <a:stretch>
            <a:fillRect/>
          </a:stretch>
        </p:blipFill>
        <p:spPr>
          <a:xfrm>
            <a:off x="5077206" y="3431286"/>
            <a:ext cx="315468" cy="315468"/>
          </a:xfrm>
          <a:prstGeom prst="rect">
            <a:avLst/>
          </a:prstGeom>
        </p:spPr>
      </p:pic>
      <p:sp>
        <p:nvSpPr>
          <p:cNvPr id="22" name="Text 16"/>
          <p:cNvSpPr txBox="1"/>
          <p:nvPr/>
        </p:nvSpPr>
        <p:spPr>
          <a:xfrm>
            <a:off x="5760720" y="3172968"/>
            <a:ext cx="2743200" cy="32004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Menerapkan</a:t>
            </a:r>
            <a:endParaRPr lang="en-US" sz="1700" dirty="0"/>
          </a:p>
        </p:txBody>
      </p:sp>
      <p:sp>
        <p:nvSpPr>
          <p:cNvPr id="23" name="Text 17"/>
          <p:cNvSpPr txBox="1"/>
          <p:nvPr/>
        </p:nvSpPr>
        <p:spPr>
          <a:xfrm>
            <a:off x="5760720" y="3502152"/>
            <a:ext cx="2743200" cy="594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langkah-langkah CT untuk memecahkan masalah sehari-hari.</a:t>
            </a:r>
            <a:endParaRPr lang="en-US" sz="14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1325880"/>
            <a:ext cx="2743200" cy="82296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01</a:t>
            </a:r>
            <a:endParaRPr lang="en-US" sz="5400" dirty="0"/>
          </a:p>
        </p:txBody>
      </p:sp>
      <p:sp>
        <p:nvSpPr>
          <p:cNvPr id="3" name="Text 0"/>
          <p:cNvSpPr/>
          <p:nvPr>
            <p:ph idx="100" type="title" hasCustomPrompt="1"/>
          </p:nvPr>
        </p:nvSpPr>
        <p:spPr>
          <a:xfrm>
            <a:off x="548640" y="2240280"/>
            <a:ext cx="5669280" cy="118872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Apa Itu Computational Thinking?</a:t>
            </a:r>
            <a:endParaRPr lang="en-US" sz="3600" dirty="0"/>
          </a:p>
        </p:txBody>
      </p:sp>
      <p:sp>
        <p:nvSpPr>
          <p:cNvPr id="4" name="Text 0"/>
          <p:cNvSpPr/>
          <p:nvPr>
            <p:ph idx="101" type="body" hasCustomPrompt="1"/>
          </p:nvPr>
        </p:nvSpPr>
        <p:spPr>
          <a:xfrm>
            <a:off x="548640" y="3520440"/>
            <a:ext cx="5669280" cy="731520"/>
          </a:xfrm>
          <a:prstGeom prst="rect">
            <a:avLst/>
          </a:prstGeom>
          <a:noFill/>
          <a:ln/>
        </p:spPr>
        <p:txBody>
          <a:bodyPr wrap="square" lIns="0" tIns="0" rIns="0" bIns="0" rtlCol="0" anchor="t"/>
          <a:lstStyle/>
          <a:p>
            <a:pPr indent="0" marL="0">
              <a:buNone/>
            </a:pPr>
            <a:r>
              <a:rPr lang="en-US" sz="1600" dirty="0">
                <a:solidFill>
                  <a:schemeClr val="bg2"/>
                </a:solidFill>
                <a:latin typeface="Calibri" pitchFamily="34" charset="0"/>
                <a:ea typeface="Calibri" pitchFamily="34" charset="-122"/>
                <a:cs typeface="Calibri" pitchFamily="34" charset="-120"/>
              </a:rPr>
              <a:t>Definisi, manfaat, serta mitos dan fakta</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Definisi Computational Thinking</a:t>
            </a:r>
            <a:endParaRPr lang="en-US" sz="2800" dirty="0"/>
          </a:p>
        </p:txBody>
      </p:sp>
      <p:sp>
        <p:nvSpPr>
          <p:cNvPr id="3" name="Kotak definisi"/>
          <p:cNvSpPr/>
          <p:nvPr/>
        </p:nvSpPr>
        <p:spPr>
          <a:xfrm>
            <a:off x="457200" y="1097280"/>
            <a:ext cx="5029200" cy="1874520"/>
          </a:xfrm>
          <a:prstGeom prst="roundRect">
            <a:avLst>
              <a:gd name="adj" fmla="val 5854"/>
            </a:avLst>
          </a:prstGeom>
          <a:solidFill>
            <a:schemeClr val="bg2"/>
          </a:solidFill>
          <a:ln w="12700">
            <a:solidFill>
              <a:schemeClr val="bg2"/>
            </a:solidFill>
            <a:prstDash val="solid"/>
          </a:ln>
        </p:spPr>
      </p:sp>
      <p:sp>
        <p:nvSpPr>
          <p:cNvPr id="4" name="Text 2"/>
          <p:cNvSpPr txBox="1"/>
          <p:nvPr/>
        </p:nvSpPr>
        <p:spPr>
          <a:xfrm>
            <a:off x="640080" y="1051560"/>
            <a:ext cx="548640" cy="64008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1097280" y="1280160"/>
            <a:ext cx="4206240" cy="114300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Computational Thinking adalah proses berpikir untuk merumuskan masalah dan solusinya, sehingga solusi tersebut dapat dijalankan secara efektif oleh manusia, komputer, atau keduanya.</a:t>
            </a:r>
            <a:endParaRPr lang="en-US" sz="1600" dirty="0"/>
          </a:p>
        </p:txBody>
      </p:sp>
      <p:sp>
        <p:nvSpPr>
          <p:cNvPr id="6" name="Text 4"/>
          <p:cNvSpPr txBox="1"/>
          <p:nvPr/>
        </p:nvSpPr>
        <p:spPr>
          <a:xfrm>
            <a:off x="1097280" y="2514600"/>
            <a:ext cx="4206240" cy="274320"/>
          </a:xfrm>
          <a:prstGeom prst="rect">
            <a:avLst/>
          </a:prstGeom>
          <a:noFill/>
          <a:ln/>
        </p:spPr>
        <p:txBody>
          <a:bodyPr wrap="square" lIns="0" tIns="0" rIns="0" bIns="0" rtlCol="0" anchor="t"/>
          <a:lstStyle/>
          <a:p>
            <a:pPr indent="0" marL="0">
              <a:buNone/>
            </a:pPr>
            <a:r>
              <a:rPr lang="en-US" sz="1200" i="1" dirty="0">
                <a:solidFill>
                  <a:schemeClr val="accent5"/>
                </a:solidFill>
                <a:latin typeface="Calibri" pitchFamily="34" charset="0"/>
                <a:ea typeface="Calibri" pitchFamily="34" charset="-122"/>
                <a:cs typeface="Calibri" pitchFamily="34" charset="-120"/>
              </a:rPr>
              <a:t>Dirangkum dari Jeannette M. Wing (2006, 2011)</a:t>
            </a:r>
            <a:endParaRPr lang="en-US" sz="1200" dirty="0"/>
          </a:p>
        </p:txBody>
      </p:sp>
      <p:sp>
        <p:nvSpPr>
          <p:cNvPr id="7" name="Poin 1"/>
          <p:cNvSpPr/>
          <p:nvPr/>
        </p:nvSpPr>
        <p:spPr>
          <a:xfrm>
            <a:off x="457200" y="3200400"/>
            <a:ext cx="1591056" cy="1280160"/>
          </a:xfrm>
          <a:prstGeom prst="roundRect">
            <a:avLst>
              <a:gd name="adj" fmla="val 8571"/>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8" name="icon circle"/>
          <p:cNvSpPr/>
          <p:nvPr/>
        </p:nvSpPr>
        <p:spPr>
          <a:xfrm>
            <a:off x="1024128" y="3337560"/>
            <a:ext cx="457200" cy="457200"/>
          </a:xfrm>
          <a:prstGeom prst="ellipse">
            <a:avLst/>
          </a:prstGeom>
          <a:solidFill>
            <a:schemeClr val="accent3"/>
          </a:solidFill>
          <a:ln w="12700">
            <a:solidFill>
              <a:schemeClr val="accent3"/>
            </a:solidFill>
            <a:prstDash val="solid"/>
          </a:ln>
        </p:spPr>
      </p:sp>
      <p:pic>
        <p:nvPicPr>
          <p:cNvPr id="9" name="icon" descr="preencoded.png">    </p:cNvPr>
          <p:cNvPicPr>
            <a:picLocks noChangeAspect="1"/>
          </p:cNvPicPr>
          <p:nvPr/>
        </p:nvPicPr>
        <p:blipFill>
          <a:blip r:embed="rId1"/>
          <a:stretch>
            <a:fillRect/>
          </a:stretch>
        </p:blipFill>
        <p:spPr>
          <a:xfrm>
            <a:off x="1147572" y="3461004"/>
            <a:ext cx="210312" cy="210312"/>
          </a:xfrm>
          <a:prstGeom prst="rect">
            <a:avLst/>
          </a:prstGeom>
        </p:spPr>
      </p:pic>
      <p:sp>
        <p:nvSpPr>
          <p:cNvPr id="10" name="Text 7"/>
          <p:cNvSpPr txBox="1"/>
          <p:nvPr/>
        </p:nvSpPr>
        <p:spPr>
          <a:xfrm>
            <a:off x="566928" y="3858768"/>
            <a:ext cx="1371600" cy="548640"/>
          </a:xfrm>
          <a:prstGeom prst="rect">
            <a:avLst/>
          </a:prstGeom>
          <a:noFill/>
          <a:ln/>
        </p:spPr>
        <p:txBody>
          <a:bodyPr wrap="square" lIns="0" tIns="0" rIns="0" bIns="0" rtlCol="0" anchor="t"/>
          <a:lstStyle/>
          <a:p>
            <a:pPr algn="ctr" indent="0" marL="0">
              <a:buNone/>
            </a:pPr>
            <a:r>
              <a:rPr lang="en-US" sz="1200" b="1" dirty="0">
                <a:solidFill>
                  <a:schemeClr val="tx2"/>
                </a:solidFill>
                <a:latin typeface="Calibri" pitchFamily="34" charset="0"/>
                <a:ea typeface="Calibri" pitchFamily="34" charset="-122"/>
                <a:cs typeface="Calibri" pitchFamily="34" charset="-120"/>
              </a:rPr>
              <a:t>Keterampilan dasar untuk semua orang</a:t>
            </a:r>
            <a:endParaRPr lang="en-US" sz="1200" dirty="0"/>
          </a:p>
        </p:txBody>
      </p:sp>
      <p:sp>
        <p:nvSpPr>
          <p:cNvPr id="11" name="Poin 2"/>
          <p:cNvSpPr/>
          <p:nvPr/>
        </p:nvSpPr>
        <p:spPr>
          <a:xfrm>
            <a:off x="2176272" y="3200400"/>
            <a:ext cx="1591056" cy="1280160"/>
          </a:xfrm>
          <a:prstGeom prst="roundRect">
            <a:avLst>
              <a:gd name="adj" fmla="val 8571"/>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12" name="icon circle"/>
          <p:cNvSpPr/>
          <p:nvPr/>
        </p:nvSpPr>
        <p:spPr>
          <a:xfrm>
            <a:off x="2743200" y="3337560"/>
            <a:ext cx="457200" cy="457200"/>
          </a:xfrm>
          <a:prstGeom prst="ellipse">
            <a:avLst/>
          </a:prstGeom>
          <a:solidFill>
            <a:schemeClr val="accent4"/>
          </a:solidFill>
          <a:ln w="12700">
            <a:solidFill>
              <a:schemeClr val="accent4"/>
            </a:solidFill>
            <a:prstDash val="solid"/>
          </a:ln>
        </p:spPr>
      </p:sp>
      <p:pic>
        <p:nvPicPr>
          <p:cNvPr id="13" name="icon" descr="preencoded.png">    </p:cNvPr>
          <p:cNvPicPr>
            <a:picLocks noChangeAspect="1"/>
          </p:cNvPicPr>
          <p:nvPr/>
        </p:nvPicPr>
        <p:blipFill>
          <a:blip r:embed="rId2"/>
          <a:stretch>
            <a:fillRect/>
          </a:stretch>
        </p:blipFill>
        <p:spPr>
          <a:xfrm>
            <a:off x="2866644" y="3461004"/>
            <a:ext cx="210312" cy="210312"/>
          </a:xfrm>
          <a:prstGeom prst="rect">
            <a:avLst/>
          </a:prstGeom>
        </p:spPr>
      </p:pic>
      <p:sp>
        <p:nvSpPr>
          <p:cNvPr id="14" name="Text 10"/>
          <p:cNvSpPr txBox="1"/>
          <p:nvPr/>
        </p:nvSpPr>
        <p:spPr>
          <a:xfrm>
            <a:off x="2286000" y="3858768"/>
            <a:ext cx="1371600" cy="548640"/>
          </a:xfrm>
          <a:prstGeom prst="rect">
            <a:avLst/>
          </a:prstGeom>
          <a:noFill/>
          <a:ln/>
        </p:spPr>
        <p:txBody>
          <a:bodyPr wrap="square" lIns="0" tIns="0" rIns="0" bIns="0" rtlCol="0" anchor="t"/>
          <a:lstStyle/>
          <a:p>
            <a:pPr algn="ctr" indent="0" marL="0">
              <a:buNone/>
            </a:pPr>
            <a:r>
              <a:rPr lang="en-US" sz="1200" b="1" dirty="0">
                <a:solidFill>
                  <a:schemeClr val="tx2"/>
                </a:solidFill>
                <a:latin typeface="Calibri" pitchFamily="34" charset="0"/>
                <a:ea typeface="Calibri" pitchFamily="34" charset="-122"/>
                <a:cs typeface="Calibri" pitchFamily="34" charset="-120"/>
              </a:rPr>
              <a:t>Lebih luas dari sekadar coding</a:t>
            </a:r>
            <a:endParaRPr lang="en-US" sz="1200" dirty="0"/>
          </a:p>
        </p:txBody>
      </p:sp>
      <p:sp>
        <p:nvSpPr>
          <p:cNvPr id="15" name="Poin 3"/>
          <p:cNvSpPr/>
          <p:nvPr/>
        </p:nvSpPr>
        <p:spPr>
          <a:xfrm>
            <a:off x="3895344" y="3200400"/>
            <a:ext cx="1591056" cy="1280160"/>
          </a:xfrm>
          <a:prstGeom prst="roundRect">
            <a:avLst>
              <a:gd name="adj" fmla="val 8571"/>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16" name="icon circle"/>
          <p:cNvSpPr/>
          <p:nvPr/>
        </p:nvSpPr>
        <p:spPr>
          <a:xfrm>
            <a:off x="4462272" y="3337560"/>
            <a:ext cx="457200" cy="457200"/>
          </a:xfrm>
          <a:prstGeom prst="ellipse">
            <a:avLst/>
          </a:prstGeom>
          <a:solidFill>
            <a:schemeClr val="accent1"/>
          </a:solidFill>
          <a:ln w="12700">
            <a:solidFill>
              <a:schemeClr val="accent1"/>
            </a:solidFill>
            <a:prstDash val="solid"/>
          </a:ln>
        </p:spPr>
      </p:sp>
      <p:pic>
        <p:nvPicPr>
          <p:cNvPr id="17" name="icon" descr="preencoded.png">    </p:cNvPr>
          <p:cNvPicPr>
            <a:picLocks noChangeAspect="1"/>
          </p:cNvPicPr>
          <p:nvPr/>
        </p:nvPicPr>
        <p:blipFill>
          <a:blip r:embed="rId3"/>
          <a:stretch>
            <a:fillRect/>
          </a:stretch>
        </p:blipFill>
        <p:spPr>
          <a:xfrm>
            <a:off x="4585716" y="3461004"/>
            <a:ext cx="210312" cy="210312"/>
          </a:xfrm>
          <a:prstGeom prst="rect">
            <a:avLst/>
          </a:prstGeom>
        </p:spPr>
      </p:pic>
      <p:sp>
        <p:nvSpPr>
          <p:cNvPr id="18" name="Text 13"/>
          <p:cNvSpPr txBox="1"/>
          <p:nvPr/>
        </p:nvSpPr>
        <p:spPr>
          <a:xfrm>
            <a:off x="4005072" y="3858768"/>
            <a:ext cx="1371600" cy="548640"/>
          </a:xfrm>
          <a:prstGeom prst="rect">
            <a:avLst/>
          </a:prstGeom>
          <a:noFill/>
          <a:ln/>
        </p:spPr>
        <p:txBody>
          <a:bodyPr wrap="square" lIns="0" tIns="0" rIns="0" bIns="0" rtlCol="0" anchor="t"/>
          <a:lstStyle/>
          <a:p>
            <a:pPr algn="ctr" indent="0" marL="0">
              <a:buNone/>
            </a:pPr>
            <a:r>
              <a:rPr lang="en-US" sz="1200" b="1" dirty="0">
                <a:solidFill>
                  <a:schemeClr val="tx2"/>
                </a:solidFill>
                <a:latin typeface="Calibri" pitchFamily="34" charset="0"/>
                <a:ea typeface="Calibri" pitchFamily="34" charset="-122"/>
                <a:cs typeface="Calibri" pitchFamily="34" charset="-120"/>
              </a:rPr>
              <a:t>Berfokus pada proses berpikir</a:t>
            </a:r>
            <a:endParaRPr lang="en-US" sz="1200" dirty="0"/>
          </a:p>
        </p:txBody>
      </p:sp>
      <p:pic>
        <p:nvPicPr>
          <p:cNvPr id="19" name="Ilustrasi ide" descr="preencoded.png">    </p:cNvPr>
          <p:cNvPicPr>
            <a:picLocks noChangeAspect="1"/>
          </p:cNvPicPr>
          <p:nvPr/>
        </p:nvPicPr>
        <p:blipFill>
          <a:blip r:embed="rId4"/>
          <a:stretch>
            <a:fillRect/>
          </a:stretch>
        </p:blipFill>
        <p:spPr>
          <a:xfrm>
            <a:off x="5852160" y="1143000"/>
            <a:ext cx="2834640" cy="2834640"/>
          </a:xfrm>
          <a:prstGeom prst="rect">
            <a:avLst/>
          </a:prstGeom>
        </p:spPr>
      </p:pic>
      <p:sp>
        <p:nvSpPr>
          <p:cNvPr id="20" name="Text 14"/>
          <p:cNvSpPr txBox="1"/>
          <p:nvPr/>
        </p:nvSpPr>
        <p:spPr>
          <a:xfrm>
            <a:off x="5760720" y="4069080"/>
            <a:ext cx="3017520" cy="320040"/>
          </a:xfrm>
          <a:prstGeom prst="rect">
            <a:avLst/>
          </a:prstGeom>
          <a:noFill/>
          <a:ln/>
        </p:spPr>
        <p:txBody>
          <a:bodyPr wrap="square" lIns="0" tIns="0" rIns="0" bIns="0" rtlCol="0" anchor="t"/>
          <a:lstStyle/>
          <a:p>
            <a:pPr algn="ctr" indent="0" marL="0">
              <a:buNone/>
            </a:pPr>
            <a:r>
              <a:rPr lang="en-US" sz="1300" i="1" dirty="0">
                <a:solidFill>
                  <a:schemeClr val="accent5"/>
                </a:solidFill>
                <a:latin typeface="Calibri" pitchFamily="34" charset="0"/>
                <a:ea typeface="Calibri" pitchFamily="34" charset="-122"/>
                <a:cs typeface="Calibri" pitchFamily="34" charset="-120"/>
              </a:rPr>
              <a:t>Berpikir terstruktur → solusi yang jelas</a:t>
            </a:r>
            <a:endParaRPr lang="en-US" sz="13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Mengapa Computational Thinking Penting?</a:t>
            </a:r>
            <a:endParaRPr lang="en-US" sz="2800" dirty="0"/>
          </a:p>
        </p:txBody>
      </p:sp>
      <p:sp>
        <p:nvSpPr>
          <p:cNvPr id="3" name="icon circle"/>
          <p:cNvSpPr/>
          <p:nvPr/>
        </p:nvSpPr>
        <p:spPr>
          <a:xfrm>
            <a:off x="457200" y="1143000"/>
            <a:ext cx="548640" cy="548640"/>
          </a:xfrm>
          <a:prstGeom prst="ellipse">
            <a:avLst/>
          </a:prstGeom>
          <a:solidFill>
            <a:schemeClr val="accent3"/>
          </a:solidFill>
          <a:ln w="12700">
            <a:solidFill>
              <a:schemeClr val="accent3"/>
            </a:solidFill>
            <a:prstDash val="solid"/>
          </a:ln>
        </p:spPr>
      </p:sp>
      <p:pic>
        <p:nvPicPr>
          <p:cNvPr id="4" name="icon" descr="preencoded.png">    </p:cNvPr>
          <p:cNvPicPr>
            <a:picLocks noChangeAspect="1"/>
          </p:cNvPicPr>
          <p:nvPr/>
        </p:nvPicPr>
        <p:blipFill>
          <a:blip r:embed="rId1"/>
          <a:stretch>
            <a:fillRect/>
          </a:stretch>
        </p:blipFill>
        <p:spPr>
          <a:xfrm>
            <a:off x="605333" y="1291133"/>
            <a:ext cx="252374" cy="252374"/>
          </a:xfrm>
          <a:prstGeom prst="rect">
            <a:avLst/>
          </a:prstGeom>
        </p:spPr>
      </p:pic>
      <p:sp>
        <p:nvSpPr>
          <p:cNvPr id="5" name="Text 2"/>
          <p:cNvSpPr txBox="1"/>
          <p:nvPr/>
        </p:nvSpPr>
        <p:spPr>
          <a:xfrm>
            <a:off x="1143000" y="1097280"/>
            <a:ext cx="2057400" cy="54864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Memecahkan masalah secara sistematis</a:t>
            </a:r>
            <a:endParaRPr lang="en-US" sz="1400" dirty="0"/>
          </a:p>
        </p:txBody>
      </p:sp>
      <p:sp>
        <p:nvSpPr>
          <p:cNvPr id="6" name="Text 3"/>
          <p:cNvSpPr txBox="1"/>
          <p:nvPr/>
        </p:nvSpPr>
        <p:spPr>
          <a:xfrm>
            <a:off x="1143000" y="1691640"/>
            <a:ext cx="205740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Masalah rumit menjadi lebih mudah ditangani langkah demi langkah.</a:t>
            </a:r>
            <a:endParaRPr lang="en-US" sz="1200" dirty="0"/>
          </a:p>
        </p:txBody>
      </p:sp>
      <p:sp>
        <p:nvSpPr>
          <p:cNvPr id="7" name="icon circle"/>
          <p:cNvSpPr/>
          <p:nvPr/>
        </p:nvSpPr>
        <p:spPr>
          <a:xfrm>
            <a:off x="3337560" y="1143000"/>
            <a:ext cx="548640" cy="548640"/>
          </a:xfrm>
          <a:prstGeom prst="ellipse">
            <a:avLst/>
          </a:prstGeom>
          <a:solidFill>
            <a:schemeClr val="accent2"/>
          </a:solidFill>
          <a:ln w="12700">
            <a:solidFill>
              <a:schemeClr val="accent2"/>
            </a:solidFill>
            <a:prstDash val="solid"/>
          </a:ln>
        </p:spPr>
      </p:sp>
      <p:pic>
        <p:nvPicPr>
          <p:cNvPr id="8" name="icon" descr="preencoded.png">    </p:cNvPr>
          <p:cNvPicPr>
            <a:picLocks noChangeAspect="1"/>
          </p:cNvPicPr>
          <p:nvPr/>
        </p:nvPicPr>
        <p:blipFill>
          <a:blip r:embed="rId2"/>
          <a:stretch>
            <a:fillRect/>
          </a:stretch>
        </p:blipFill>
        <p:spPr>
          <a:xfrm>
            <a:off x="3485693" y="1291133"/>
            <a:ext cx="252374" cy="252374"/>
          </a:xfrm>
          <a:prstGeom prst="rect">
            <a:avLst/>
          </a:prstGeom>
        </p:spPr>
      </p:pic>
      <p:sp>
        <p:nvSpPr>
          <p:cNvPr id="9" name="Text 5"/>
          <p:cNvSpPr txBox="1"/>
          <p:nvPr/>
        </p:nvSpPr>
        <p:spPr>
          <a:xfrm>
            <a:off x="4023360" y="1097280"/>
            <a:ext cx="2057400" cy="54864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Melatih berpikir logis &amp; kritis</a:t>
            </a:r>
            <a:endParaRPr lang="en-US" sz="1400" dirty="0"/>
          </a:p>
        </p:txBody>
      </p:sp>
      <p:sp>
        <p:nvSpPr>
          <p:cNvPr id="10" name="Text 6"/>
          <p:cNvSpPr txBox="1"/>
          <p:nvPr/>
        </p:nvSpPr>
        <p:spPr>
          <a:xfrm>
            <a:off x="4023360" y="1691640"/>
            <a:ext cx="205740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Membiasakan menimbang sebab-akibat dan mengevaluasi solusi.</a:t>
            </a:r>
            <a:endParaRPr lang="en-US" sz="1200" dirty="0"/>
          </a:p>
        </p:txBody>
      </p:sp>
      <p:sp>
        <p:nvSpPr>
          <p:cNvPr id="11" name="icon circle"/>
          <p:cNvSpPr/>
          <p:nvPr/>
        </p:nvSpPr>
        <p:spPr>
          <a:xfrm>
            <a:off x="457200" y="2560320"/>
            <a:ext cx="548640" cy="548640"/>
          </a:xfrm>
          <a:prstGeom prst="ellipse">
            <a:avLst/>
          </a:prstGeom>
          <a:solidFill>
            <a:schemeClr val="accent4"/>
          </a:solidFill>
          <a:ln w="12700">
            <a:solidFill>
              <a:schemeClr val="accent4"/>
            </a:solidFill>
            <a:prstDash val="solid"/>
          </a:ln>
        </p:spPr>
      </p:sp>
      <p:pic>
        <p:nvPicPr>
          <p:cNvPr id="12" name="icon" descr="preencoded.png">    </p:cNvPr>
          <p:cNvPicPr>
            <a:picLocks noChangeAspect="1"/>
          </p:cNvPicPr>
          <p:nvPr/>
        </p:nvPicPr>
        <p:blipFill>
          <a:blip r:embed="rId3"/>
          <a:stretch>
            <a:fillRect/>
          </a:stretch>
        </p:blipFill>
        <p:spPr>
          <a:xfrm>
            <a:off x="605333" y="2708453"/>
            <a:ext cx="252374" cy="252374"/>
          </a:xfrm>
          <a:prstGeom prst="rect">
            <a:avLst/>
          </a:prstGeom>
        </p:spPr>
      </p:pic>
      <p:sp>
        <p:nvSpPr>
          <p:cNvPr id="13" name="Text 8"/>
          <p:cNvSpPr txBox="1"/>
          <p:nvPr/>
        </p:nvSpPr>
        <p:spPr>
          <a:xfrm>
            <a:off x="1143000" y="2514600"/>
            <a:ext cx="2057400" cy="54864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Berlaku di semua bidang</a:t>
            </a:r>
            <a:endParaRPr lang="en-US" sz="1400" dirty="0"/>
          </a:p>
        </p:txBody>
      </p:sp>
      <p:sp>
        <p:nvSpPr>
          <p:cNvPr id="14" name="Text 9"/>
          <p:cNvSpPr txBox="1"/>
          <p:nvPr/>
        </p:nvSpPr>
        <p:spPr>
          <a:xfrm>
            <a:off x="1143000" y="3108960"/>
            <a:ext cx="205740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Dipakai di sains, bisnis, kesehatan, seni, hingga kehidupan rumah tangga.</a:t>
            </a:r>
            <a:endParaRPr lang="en-US" sz="1200" dirty="0"/>
          </a:p>
        </p:txBody>
      </p:sp>
      <p:sp>
        <p:nvSpPr>
          <p:cNvPr id="15" name="icon circle"/>
          <p:cNvSpPr/>
          <p:nvPr/>
        </p:nvSpPr>
        <p:spPr>
          <a:xfrm>
            <a:off x="3337560" y="2560320"/>
            <a:ext cx="548640" cy="548640"/>
          </a:xfrm>
          <a:prstGeom prst="ellipse">
            <a:avLst/>
          </a:prstGeom>
          <a:solidFill>
            <a:schemeClr val="accent1"/>
          </a:solidFill>
          <a:ln w="12700">
            <a:solidFill>
              <a:schemeClr val="accent1"/>
            </a:solidFill>
            <a:prstDash val="solid"/>
          </a:ln>
        </p:spPr>
      </p:sp>
      <p:pic>
        <p:nvPicPr>
          <p:cNvPr id="16" name="icon" descr="preencoded.png">    </p:cNvPr>
          <p:cNvPicPr>
            <a:picLocks noChangeAspect="1"/>
          </p:cNvPicPr>
          <p:nvPr/>
        </p:nvPicPr>
        <p:blipFill>
          <a:blip r:embed="rId4"/>
          <a:stretch>
            <a:fillRect/>
          </a:stretch>
        </p:blipFill>
        <p:spPr>
          <a:xfrm>
            <a:off x="3485693" y="2708453"/>
            <a:ext cx="252374" cy="252374"/>
          </a:xfrm>
          <a:prstGeom prst="rect">
            <a:avLst/>
          </a:prstGeom>
        </p:spPr>
      </p:pic>
      <p:sp>
        <p:nvSpPr>
          <p:cNvPr id="17" name="Text 11"/>
          <p:cNvSpPr txBox="1"/>
          <p:nvPr/>
        </p:nvSpPr>
        <p:spPr>
          <a:xfrm>
            <a:off x="4023360" y="2514600"/>
            <a:ext cx="2057400" cy="54864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Bekal era digital &amp; AI</a:t>
            </a:r>
            <a:endParaRPr lang="en-US" sz="1400" dirty="0"/>
          </a:p>
        </p:txBody>
      </p:sp>
      <p:sp>
        <p:nvSpPr>
          <p:cNvPr id="18" name="Text 12"/>
          <p:cNvSpPr txBox="1"/>
          <p:nvPr/>
        </p:nvSpPr>
        <p:spPr>
          <a:xfrm>
            <a:off x="4023360" y="3108960"/>
            <a:ext cx="205740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Membantu memahami cara kerja teknologi dan memanfaatkannya dengan bijak.</a:t>
            </a:r>
            <a:endParaRPr lang="en-US" sz="1200" dirty="0"/>
          </a:p>
        </p:txBody>
      </p:sp>
      <p:sp>
        <p:nvSpPr>
          <p:cNvPr id="19" name="Kurikulum"/>
          <p:cNvSpPr/>
          <p:nvPr/>
        </p:nvSpPr>
        <p:spPr>
          <a:xfrm>
            <a:off x="6355080" y="1097280"/>
            <a:ext cx="2331720" cy="3346704"/>
          </a:xfrm>
          <a:prstGeom prst="roundRect">
            <a:avLst>
              <a:gd name="adj" fmla="val 4706"/>
            </a:avLst>
          </a:prstGeom>
          <a:solidFill>
            <a:schemeClr val="tx2"/>
          </a:solidFill>
          <a:ln w="12700">
            <a:solidFill>
              <a:schemeClr val="tx2"/>
            </a:solidFill>
            <a:prstDash val="solid"/>
          </a:ln>
        </p:spPr>
      </p:sp>
      <p:pic>
        <p:nvPicPr>
          <p:cNvPr id="20" name="Image 4" descr="preencoded.png">    </p:cNvPr>
          <p:cNvPicPr>
            <a:picLocks noChangeAspect="1"/>
          </p:cNvPicPr>
          <p:nvPr/>
        </p:nvPicPr>
        <p:blipFill>
          <a:blip r:embed="rId5"/>
          <a:stretch>
            <a:fillRect/>
          </a:stretch>
        </p:blipFill>
        <p:spPr>
          <a:xfrm>
            <a:off x="6583680" y="1325880"/>
            <a:ext cx="502920" cy="502920"/>
          </a:xfrm>
          <a:prstGeom prst="rect">
            <a:avLst/>
          </a:prstGeom>
        </p:spPr>
      </p:pic>
      <p:sp>
        <p:nvSpPr>
          <p:cNvPr id="21" name="Text 14"/>
          <p:cNvSpPr txBox="1"/>
          <p:nvPr/>
        </p:nvSpPr>
        <p:spPr>
          <a:xfrm>
            <a:off x="6583680" y="1965960"/>
            <a:ext cx="1920240" cy="548640"/>
          </a:xfrm>
          <a:prstGeom prst="rect">
            <a:avLst/>
          </a:prstGeom>
          <a:noFill/>
          <a:ln/>
        </p:spPr>
        <p:txBody>
          <a:bodyPr wrap="square" lIns="0" tIns="0" rIns="0" bIns="0" rtlCol="0" anchor="t"/>
          <a:lstStyle/>
          <a:p>
            <a:pPr indent="0" marL="0">
              <a:buNone/>
            </a:pPr>
            <a:r>
              <a:rPr lang="en-US" sz="1500" b="1" dirty="0">
                <a:solidFill>
                  <a:schemeClr val="bg1"/>
                </a:solidFill>
                <a:latin typeface="Calibri" pitchFamily="34" charset="0"/>
                <a:ea typeface="Calibri" pitchFamily="34" charset="-122"/>
                <a:cs typeface="Calibri" pitchFamily="34" charset="-120"/>
              </a:rPr>
              <a:t>Dalam Kurikulum Merdeka</a:t>
            </a:r>
            <a:endParaRPr lang="en-US" sz="1500" dirty="0"/>
          </a:p>
        </p:txBody>
      </p:sp>
      <p:sp>
        <p:nvSpPr>
          <p:cNvPr id="22" name="Text 15"/>
          <p:cNvSpPr txBox="1"/>
          <p:nvPr/>
        </p:nvSpPr>
        <p:spPr>
          <a:xfrm>
            <a:off x="6583680" y="2560320"/>
            <a:ext cx="1920240" cy="1737360"/>
          </a:xfrm>
          <a:prstGeom prst="rect">
            <a:avLst/>
          </a:prstGeom>
          <a:noFill/>
          <a:ln/>
        </p:spPr>
        <p:txBody>
          <a:bodyPr wrap="square" lIns="0" tIns="0" rIns="0" bIns="0" rtlCol="0" anchor="t"/>
          <a:lstStyle/>
          <a:p>
            <a:pPr indent="0" marL="0">
              <a:buNone/>
            </a:pPr>
            <a:r>
              <a:rPr lang="en-US" sz="1200" dirty="0">
                <a:solidFill>
                  <a:schemeClr val="bg2"/>
                </a:solidFill>
                <a:latin typeface="Calibri" pitchFamily="34" charset="0"/>
                <a:ea typeface="Calibri" pitchFamily="34" charset="-122"/>
                <a:cs typeface="Calibri" pitchFamily="34" charset="-120"/>
              </a:rPr>
              <a:t>Berpikir komputasional menjadi salah satu elemen mata pelajaran Informatika, berdampingan dengan elemen seperti algoritma &amp; pemrograman dan analisis data.</a:t>
            </a:r>
            <a:endParaRPr lang="en-US" sz="12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Mitos vs Fakta</a:t>
            </a:r>
            <a:endParaRPr lang="en-US" sz="2800" dirty="0"/>
          </a:p>
        </p:txBody>
      </p:sp>
      <p:sp>
        <p:nvSpPr>
          <p:cNvPr id="3" name="Header mitos"/>
          <p:cNvSpPr/>
          <p:nvPr/>
        </p:nvSpPr>
        <p:spPr>
          <a:xfrm>
            <a:off x="457200" y="1051560"/>
            <a:ext cx="3977640" cy="457200"/>
          </a:xfrm>
          <a:prstGeom prst="roundRect">
            <a:avLst>
              <a:gd name="adj" fmla="val 24000"/>
            </a:avLst>
          </a:prstGeom>
          <a:solidFill>
            <a:srgbClr val="FCE4DE"/>
          </a:solidFill>
          <a:ln w="12700">
            <a:solidFill>
              <a:srgbClr val="FCE4DE"/>
            </a:solidFill>
            <a:prstDash val="solid"/>
          </a:ln>
        </p:spPr>
      </p:sp>
      <p:pic>
        <p:nvPicPr>
          <p:cNvPr id="4" name="Image 0" descr="preencoded.png">    </p:cNvPr>
          <p:cNvPicPr>
            <a:picLocks noChangeAspect="1"/>
          </p:cNvPicPr>
          <p:nvPr/>
        </p:nvPicPr>
        <p:blipFill>
          <a:blip r:embed="rId1"/>
          <a:stretch>
            <a:fillRect/>
          </a:stretch>
        </p:blipFill>
        <p:spPr>
          <a:xfrm>
            <a:off x="621792" y="1143000"/>
            <a:ext cx="274320" cy="274320"/>
          </a:xfrm>
          <a:prstGeom prst="rect">
            <a:avLst/>
          </a:prstGeom>
        </p:spPr>
      </p:pic>
      <p:sp>
        <p:nvSpPr>
          <p:cNvPr id="5" name="Text 2"/>
          <p:cNvSpPr txBox="1"/>
          <p:nvPr/>
        </p:nvSpPr>
        <p:spPr>
          <a:xfrm>
            <a:off x="1005840" y="1051560"/>
            <a:ext cx="2743200" cy="457200"/>
          </a:xfrm>
          <a:prstGeom prst="rect">
            <a:avLst/>
          </a:prstGeom>
          <a:noFill/>
          <a:ln/>
        </p:spPr>
        <p:txBody>
          <a:bodyPr wrap="square" lIns="0" tIns="0" rIns="0" bIns="0" rtlCol="0" anchor="ctr"/>
          <a:lstStyle/>
          <a:p>
            <a:pPr indent="0" marL="0">
              <a:buNone/>
            </a:pPr>
            <a:r>
              <a:rPr lang="en-US" sz="1500" b="1" spc="200" kern="0" dirty="0">
                <a:solidFill>
                  <a:schemeClr val="accent3"/>
                </a:solidFill>
                <a:latin typeface="Calibri" pitchFamily="34" charset="0"/>
                <a:ea typeface="Calibri" pitchFamily="34" charset="-122"/>
                <a:cs typeface="Calibri" pitchFamily="34" charset="-120"/>
              </a:rPr>
              <a:t>MITOS</a:t>
            </a:r>
            <a:endParaRPr lang="en-US" sz="1500" dirty="0"/>
          </a:p>
        </p:txBody>
      </p:sp>
      <p:sp>
        <p:nvSpPr>
          <p:cNvPr id="6" name="Header fakta"/>
          <p:cNvSpPr/>
          <p:nvPr/>
        </p:nvSpPr>
        <p:spPr>
          <a:xfrm>
            <a:off x="4709160" y="1051560"/>
            <a:ext cx="3977640" cy="457200"/>
          </a:xfrm>
          <a:prstGeom prst="roundRect">
            <a:avLst>
              <a:gd name="adj" fmla="val 24000"/>
            </a:avLst>
          </a:prstGeom>
          <a:solidFill>
            <a:srgbClr val="DDF2E3"/>
          </a:solidFill>
          <a:ln w="12700">
            <a:solidFill>
              <a:srgbClr val="DDF2E3"/>
            </a:solidFill>
            <a:prstDash val="solid"/>
          </a:ln>
        </p:spPr>
      </p:sp>
      <p:pic>
        <p:nvPicPr>
          <p:cNvPr id="7" name="Image 1" descr="preencoded.png">    </p:cNvPr>
          <p:cNvPicPr>
            <a:picLocks noChangeAspect="1"/>
          </p:cNvPicPr>
          <p:nvPr/>
        </p:nvPicPr>
        <p:blipFill>
          <a:blip r:embed="rId2"/>
          <a:stretch>
            <a:fillRect/>
          </a:stretch>
        </p:blipFill>
        <p:spPr>
          <a:xfrm>
            <a:off x="4873752" y="1143000"/>
            <a:ext cx="274320" cy="274320"/>
          </a:xfrm>
          <a:prstGeom prst="rect">
            <a:avLst/>
          </a:prstGeom>
        </p:spPr>
      </p:pic>
      <p:sp>
        <p:nvSpPr>
          <p:cNvPr id="8" name="Text 4"/>
          <p:cNvSpPr txBox="1"/>
          <p:nvPr/>
        </p:nvSpPr>
        <p:spPr>
          <a:xfrm>
            <a:off x="5257800" y="1051560"/>
            <a:ext cx="2743200" cy="457200"/>
          </a:xfrm>
          <a:prstGeom prst="rect">
            <a:avLst/>
          </a:prstGeom>
          <a:noFill/>
          <a:ln/>
        </p:spPr>
        <p:txBody>
          <a:bodyPr wrap="square" lIns="0" tIns="0" rIns="0" bIns="0" rtlCol="0" anchor="ctr"/>
          <a:lstStyle/>
          <a:p>
            <a:pPr indent="0" marL="0">
              <a:buNone/>
            </a:pPr>
            <a:r>
              <a:rPr lang="en-US" sz="1500" b="1" spc="200" kern="0" dirty="0">
                <a:solidFill>
                  <a:schemeClr val="accent6"/>
                </a:solidFill>
                <a:latin typeface="Calibri" pitchFamily="34" charset="0"/>
                <a:ea typeface="Calibri" pitchFamily="34" charset="-122"/>
                <a:cs typeface="Calibri" pitchFamily="34" charset="-120"/>
              </a:rPr>
              <a:t>FAKTA</a:t>
            </a:r>
            <a:endParaRPr lang="en-US" sz="1500" dirty="0"/>
          </a:p>
        </p:txBody>
      </p:sp>
      <p:sp>
        <p:nvSpPr>
          <p:cNvPr id="9" name="Shape 5"/>
          <p:cNvSpPr/>
          <p:nvPr/>
        </p:nvSpPr>
        <p:spPr>
          <a:xfrm>
            <a:off x="457200" y="1645920"/>
            <a:ext cx="3977640" cy="603504"/>
          </a:xfrm>
          <a:prstGeom prst="roundRect">
            <a:avLst>
              <a:gd name="adj" fmla="val 18182"/>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10" name="Text 6"/>
          <p:cNvSpPr txBox="1"/>
          <p:nvPr/>
        </p:nvSpPr>
        <p:spPr>
          <a:xfrm>
            <a:off x="640080" y="1645920"/>
            <a:ext cx="3657600" cy="60350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CT hanya untuk programmer</a:t>
            </a:r>
            <a:endParaRPr lang="en-US" sz="1400" dirty="0"/>
          </a:p>
        </p:txBody>
      </p:sp>
      <p:pic>
        <p:nvPicPr>
          <p:cNvPr id="11" name="Image 2" descr="preencoded.png">    </p:cNvPr>
          <p:cNvPicPr>
            <a:picLocks noChangeAspect="1"/>
          </p:cNvPicPr>
          <p:nvPr/>
        </p:nvPicPr>
        <p:blipFill>
          <a:blip r:embed="rId3"/>
          <a:stretch>
            <a:fillRect/>
          </a:stretch>
        </p:blipFill>
        <p:spPr>
          <a:xfrm>
            <a:off x="4480560" y="1837944"/>
            <a:ext cx="201168" cy="219456"/>
          </a:xfrm>
          <a:prstGeom prst="rect">
            <a:avLst/>
          </a:prstGeom>
        </p:spPr>
      </p:pic>
      <p:sp>
        <p:nvSpPr>
          <p:cNvPr id="12" name="Shape 7"/>
          <p:cNvSpPr/>
          <p:nvPr/>
        </p:nvSpPr>
        <p:spPr>
          <a:xfrm>
            <a:off x="4709160" y="1645920"/>
            <a:ext cx="3977640" cy="603504"/>
          </a:xfrm>
          <a:prstGeom prst="roundRect">
            <a:avLst>
              <a:gd name="adj" fmla="val 18182"/>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13" name="Text 8"/>
          <p:cNvSpPr txBox="1"/>
          <p:nvPr/>
        </p:nvSpPr>
        <p:spPr>
          <a:xfrm>
            <a:off x="4892040" y="1645920"/>
            <a:ext cx="3657600" cy="603504"/>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CT berguna bagi siapa saja: guru, dokter, petani, pedagang</a:t>
            </a:r>
            <a:endParaRPr lang="en-US" sz="1400" dirty="0"/>
          </a:p>
        </p:txBody>
      </p:sp>
      <p:sp>
        <p:nvSpPr>
          <p:cNvPr id="14" name="Shape 9"/>
          <p:cNvSpPr/>
          <p:nvPr/>
        </p:nvSpPr>
        <p:spPr>
          <a:xfrm>
            <a:off x="457200" y="2359152"/>
            <a:ext cx="3977640" cy="603504"/>
          </a:xfrm>
          <a:prstGeom prst="roundRect">
            <a:avLst>
              <a:gd name="adj" fmla="val 18182"/>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15" name="Text 10"/>
          <p:cNvSpPr txBox="1"/>
          <p:nvPr/>
        </p:nvSpPr>
        <p:spPr>
          <a:xfrm>
            <a:off x="640080" y="2359152"/>
            <a:ext cx="3657600" cy="60350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CT berarti berpikir seperti komputer</a:t>
            </a:r>
            <a:endParaRPr lang="en-US" sz="1400" dirty="0"/>
          </a:p>
        </p:txBody>
      </p:sp>
      <p:pic>
        <p:nvPicPr>
          <p:cNvPr id="16" name="Image 3" descr="preencoded.png">    </p:cNvPr>
          <p:cNvPicPr>
            <a:picLocks noChangeAspect="1"/>
          </p:cNvPicPr>
          <p:nvPr/>
        </p:nvPicPr>
        <p:blipFill>
          <a:blip r:embed="rId4"/>
          <a:stretch>
            <a:fillRect/>
          </a:stretch>
        </p:blipFill>
        <p:spPr>
          <a:xfrm>
            <a:off x="4480560" y="2551176"/>
            <a:ext cx="201168" cy="219456"/>
          </a:xfrm>
          <a:prstGeom prst="rect">
            <a:avLst/>
          </a:prstGeom>
        </p:spPr>
      </p:pic>
      <p:sp>
        <p:nvSpPr>
          <p:cNvPr id="17" name="Shape 11"/>
          <p:cNvSpPr/>
          <p:nvPr/>
        </p:nvSpPr>
        <p:spPr>
          <a:xfrm>
            <a:off x="4709160" y="2359152"/>
            <a:ext cx="3977640" cy="603504"/>
          </a:xfrm>
          <a:prstGeom prst="roundRect">
            <a:avLst>
              <a:gd name="adj" fmla="val 18182"/>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18" name="Text 12"/>
          <p:cNvSpPr txBox="1"/>
          <p:nvPr/>
        </p:nvSpPr>
        <p:spPr>
          <a:xfrm>
            <a:off x="4892040" y="2359152"/>
            <a:ext cx="3657600" cy="603504"/>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CT adalah cara manusia berpikir agar solusinya bisa dijalankan</a:t>
            </a:r>
            <a:endParaRPr lang="en-US" sz="1400" dirty="0"/>
          </a:p>
        </p:txBody>
      </p:sp>
      <p:sp>
        <p:nvSpPr>
          <p:cNvPr id="19" name="Shape 13"/>
          <p:cNvSpPr/>
          <p:nvPr/>
        </p:nvSpPr>
        <p:spPr>
          <a:xfrm>
            <a:off x="457200" y="3072384"/>
            <a:ext cx="3977640" cy="603504"/>
          </a:xfrm>
          <a:prstGeom prst="roundRect">
            <a:avLst>
              <a:gd name="adj" fmla="val 18182"/>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20" name="Text 14"/>
          <p:cNvSpPr txBox="1"/>
          <p:nvPr/>
        </p:nvSpPr>
        <p:spPr>
          <a:xfrm>
            <a:off x="640080" y="3072384"/>
            <a:ext cx="3657600" cy="60350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Belajar CT harus memakai komputer</a:t>
            </a:r>
            <a:endParaRPr lang="en-US" sz="1400" dirty="0"/>
          </a:p>
        </p:txBody>
      </p:sp>
      <p:pic>
        <p:nvPicPr>
          <p:cNvPr id="21" name="Image 4" descr="preencoded.png">    </p:cNvPr>
          <p:cNvPicPr>
            <a:picLocks noChangeAspect="1"/>
          </p:cNvPicPr>
          <p:nvPr/>
        </p:nvPicPr>
        <p:blipFill>
          <a:blip r:embed="rId5"/>
          <a:stretch>
            <a:fillRect/>
          </a:stretch>
        </p:blipFill>
        <p:spPr>
          <a:xfrm>
            <a:off x="4480560" y="3264408"/>
            <a:ext cx="201168" cy="219456"/>
          </a:xfrm>
          <a:prstGeom prst="rect">
            <a:avLst/>
          </a:prstGeom>
        </p:spPr>
      </p:pic>
      <p:sp>
        <p:nvSpPr>
          <p:cNvPr id="22" name="Shape 15"/>
          <p:cNvSpPr/>
          <p:nvPr/>
        </p:nvSpPr>
        <p:spPr>
          <a:xfrm>
            <a:off x="4709160" y="3072384"/>
            <a:ext cx="3977640" cy="603504"/>
          </a:xfrm>
          <a:prstGeom prst="roundRect">
            <a:avLst>
              <a:gd name="adj" fmla="val 18182"/>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23" name="Text 16"/>
          <p:cNvSpPr txBox="1"/>
          <p:nvPr/>
        </p:nvSpPr>
        <p:spPr>
          <a:xfrm>
            <a:off x="4892040" y="3072384"/>
            <a:ext cx="3657600" cy="603504"/>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Banyak aktivitas CT bisa dilakukan tanpa komputer (unplugged)</a:t>
            </a:r>
            <a:endParaRPr lang="en-US" sz="1400" dirty="0"/>
          </a:p>
        </p:txBody>
      </p:sp>
      <p:sp>
        <p:nvSpPr>
          <p:cNvPr id="24" name="Shape 17"/>
          <p:cNvSpPr/>
          <p:nvPr/>
        </p:nvSpPr>
        <p:spPr>
          <a:xfrm>
            <a:off x="457200" y="3785616"/>
            <a:ext cx="3977640" cy="603504"/>
          </a:xfrm>
          <a:prstGeom prst="roundRect">
            <a:avLst>
              <a:gd name="adj" fmla="val 18182"/>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25" name="Text 18"/>
          <p:cNvSpPr txBox="1"/>
          <p:nvPr/>
        </p:nvSpPr>
        <p:spPr>
          <a:xfrm>
            <a:off x="640080" y="3785616"/>
            <a:ext cx="3657600" cy="60350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CT sama dengan coding</a:t>
            </a:r>
            <a:endParaRPr lang="en-US" sz="1400" dirty="0"/>
          </a:p>
        </p:txBody>
      </p:sp>
      <p:pic>
        <p:nvPicPr>
          <p:cNvPr id="26" name="Image 5" descr="preencoded.png">    </p:cNvPr>
          <p:cNvPicPr>
            <a:picLocks noChangeAspect="1"/>
          </p:cNvPicPr>
          <p:nvPr/>
        </p:nvPicPr>
        <p:blipFill>
          <a:blip r:embed="rId6"/>
          <a:stretch>
            <a:fillRect/>
          </a:stretch>
        </p:blipFill>
        <p:spPr>
          <a:xfrm>
            <a:off x="4480560" y="3977640"/>
            <a:ext cx="201168" cy="219456"/>
          </a:xfrm>
          <a:prstGeom prst="rect">
            <a:avLst/>
          </a:prstGeom>
        </p:spPr>
      </p:pic>
      <p:sp>
        <p:nvSpPr>
          <p:cNvPr id="27" name="Shape 19"/>
          <p:cNvSpPr/>
          <p:nvPr/>
        </p:nvSpPr>
        <p:spPr>
          <a:xfrm>
            <a:off x="4709160" y="3785616"/>
            <a:ext cx="3977640" cy="603504"/>
          </a:xfrm>
          <a:prstGeom prst="roundRect">
            <a:avLst>
              <a:gd name="adj" fmla="val 18182"/>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28" name="Text 20"/>
          <p:cNvSpPr txBox="1"/>
          <p:nvPr/>
        </p:nvSpPr>
        <p:spPr>
          <a:xfrm>
            <a:off x="4892040" y="3785616"/>
            <a:ext cx="3657600" cy="603504"/>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Coding adalah salah satu cara mewujudkan hasil berpikir CT</a:t>
            </a:r>
            <a:endParaRPr lang="en-US" sz="14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1325880"/>
            <a:ext cx="2743200" cy="82296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02</a:t>
            </a:r>
            <a:endParaRPr lang="en-US" sz="5400" dirty="0"/>
          </a:p>
        </p:txBody>
      </p:sp>
      <p:sp>
        <p:nvSpPr>
          <p:cNvPr id="3" name="Text 0"/>
          <p:cNvSpPr/>
          <p:nvPr>
            <p:ph idx="100" type="title" hasCustomPrompt="1"/>
          </p:nvPr>
        </p:nvSpPr>
        <p:spPr>
          <a:xfrm>
            <a:off x="548640" y="2240280"/>
            <a:ext cx="5669280" cy="118872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Empat Pilar Computational Thinking</a:t>
            </a:r>
            <a:endParaRPr lang="en-US" sz="3600" dirty="0"/>
          </a:p>
        </p:txBody>
      </p:sp>
      <p:sp>
        <p:nvSpPr>
          <p:cNvPr id="4" name="Text 0"/>
          <p:cNvSpPr/>
          <p:nvPr>
            <p:ph idx="101" type="body" hasCustomPrompt="1"/>
          </p:nvPr>
        </p:nvSpPr>
        <p:spPr>
          <a:xfrm>
            <a:off x="548640" y="3520440"/>
            <a:ext cx="5669280" cy="731520"/>
          </a:xfrm>
          <a:prstGeom prst="rect">
            <a:avLst/>
          </a:prstGeom>
          <a:noFill/>
          <a:ln/>
        </p:spPr>
        <p:txBody>
          <a:bodyPr wrap="square" lIns="0" tIns="0" rIns="0" bIns="0" rtlCol="0" anchor="t"/>
          <a:lstStyle/>
          <a:p>
            <a:pPr indent="0" marL="0">
              <a:buNone/>
            </a:pPr>
            <a:r>
              <a:rPr lang="en-US" sz="1600" dirty="0">
                <a:solidFill>
                  <a:schemeClr val="bg2"/>
                </a:solidFill>
                <a:latin typeface="Calibri" pitchFamily="34" charset="0"/>
                <a:ea typeface="Calibri" pitchFamily="34" charset="-122"/>
                <a:cs typeface="Calibri" pitchFamily="34" charset="-120"/>
              </a:rPr>
              <a:t>Dekomposisi · Pengenalan Pola · Abstraksi · Algoritma</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Empat Pilar dalam Satu Gambaran</a:t>
            </a:r>
            <a:endParaRPr lang="en-US" sz="2800" dirty="0"/>
          </a:p>
        </p:txBody>
      </p:sp>
      <p:sp>
        <p:nvSpPr>
          <p:cNvPr id="3" name="Pilar Dekomposisi"/>
          <p:cNvSpPr/>
          <p:nvPr/>
        </p:nvSpPr>
        <p:spPr>
          <a:xfrm>
            <a:off x="457200" y="1143000"/>
            <a:ext cx="1920240" cy="2743200"/>
          </a:xfrm>
          <a:prstGeom prst="roundRect">
            <a:avLst>
              <a:gd name="adj" fmla="val 5714"/>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4" name="icon circle"/>
          <p:cNvSpPr/>
          <p:nvPr/>
        </p:nvSpPr>
        <p:spPr>
          <a:xfrm>
            <a:off x="1005840" y="1371600"/>
            <a:ext cx="822960" cy="822960"/>
          </a:xfrm>
          <a:prstGeom prst="ellipse">
            <a:avLst/>
          </a:prstGeom>
          <a:solidFill>
            <a:schemeClr val="accent3"/>
          </a:solidFill>
          <a:ln w="12700">
            <a:solidFill>
              <a:schemeClr val="accent3"/>
            </a:solidFill>
            <a:prstDash val="solid"/>
          </a:ln>
        </p:spPr>
      </p:sp>
      <p:pic>
        <p:nvPicPr>
          <p:cNvPr id="5" name="icon" descr="preencoded.png">    </p:cNvPr>
          <p:cNvPicPr>
            <a:picLocks noChangeAspect="1"/>
          </p:cNvPicPr>
          <p:nvPr/>
        </p:nvPicPr>
        <p:blipFill>
          <a:blip r:embed="rId1"/>
          <a:stretch>
            <a:fillRect/>
          </a:stretch>
        </p:blipFill>
        <p:spPr>
          <a:xfrm>
            <a:off x="1228039" y="1593799"/>
            <a:ext cx="378562" cy="378562"/>
          </a:xfrm>
          <a:prstGeom prst="rect">
            <a:avLst/>
          </a:prstGeom>
        </p:spPr>
      </p:pic>
      <p:sp>
        <p:nvSpPr>
          <p:cNvPr id="6" name="Text 3"/>
          <p:cNvSpPr txBox="1"/>
          <p:nvPr/>
        </p:nvSpPr>
        <p:spPr>
          <a:xfrm>
            <a:off x="594360" y="1234440"/>
            <a:ext cx="548640" cy="274320"/>
          </a:xfrm>
          <a:prstGeom prst="rect">
            <a:avLst/>
          </a:prstGeom>
          <a:noFill/>
          <a:ln/>
        </p:spPr>
        <p:txBody>
          <a:bodyPr wrap="square" lIns="0" tIns="0" rIns="0" bIns="0" rtlCol="0" anchor="t"/>
          <a:lstStyle/>
          <a:p>
            <a:pPr indent="0" marL="0">
              <a:buNone/>
            </a:pPr>
            <a:r>
              <a:rPr lang="en-US" sz="1200" b="1" dirty="0">
                <a:solidFill>
                  <a:schemeClr val="accent3"/>
                </a:solidFill>
                <a:latin typeface="Calibri" pitchFamily="34" charset="0"/>
                <a:ea typeface="Calibri" pitchFamily="34" charset="-122"/>
                <a:cs typeface="Calibri" pitchFamily="34" charset="-120"/>
              </a:rPr>
              <a:t>01</a:t>
            </a:r>
            <a:endParaRPr lang="en-US" sz="1200" dirty="0"/>
          </a:p>
        </p:txBody>
      </p:sp>
      <p:sp>
        <p:nvSpPr>
          <p:cNvPr id="7" name="Text 4"/>
          <p:cNvSpPr txBox="1"/>
          <p:nvPr/>
        </p:nvSpPr>
        <p:spPr>
          <a:xfrm>
            <a:off x="548640" y="2331720"/>
            <a:ext cx="1737360" cy="36576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Dekomposisi</a:t>
            </a:r>
            <a:endParaRPr lang="en-US" sz="1600" dirty="0"/>
          </a:p>
        </p:txBody>
      </p:sp>
      <p:sp>
        <p:nvSpPr>
          <p:cNvPr id="8" name="Text 5"/>
          <p:cNvSpPr txBox="1"/>
          <p:nvPr/>
        </p:nvSpPr>
        <p:spPr>
          <a:xfrm>
            <a:off x="621792" y="2743200"/>
            <a:ext cx="1591056" cy="105156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Memecah masalah besar menjadi bagian-bagian kecil yang lebih mudah dikelola.</a:t>
            </a:r>
            <a:endParaRPr lang="en-US" sz="1200" dirty="0"/>
          </a:p>
        </p:txBody>
      </p:sp>
      <p:pic>
        <p:nvPicPr>
          <p:cNvPr id="9" name="Image 1" descr="preencoded.png">    </p:cNvPr>
          <p:cNvPicPr>
            <a:picLocks noChangeAspect="1"/>
          </p:cNvPicPr>
          <p:nvPr/>
        </p:nvPicPr>
        <p:blipFill>
          <a:blip r:embed="rId2"/>
          <a:stretch>
            <a:fillRect/>
          </a:stretch>
        </p:blipFill>
        <p:spPr>
          <a:xfrm>
            <a:off x="2404872" y="2423160"/>
            <a:ext cx="137160" cy="146304"/>
          </a:xfrm>
          <a:prstGeom prst="rect">
            <a:avLst/>
          </a:prstGeom>
        </p:spPr>
      </p:pic>
      <p:sp>
        <p:nvSpPr>
          <p:cNvPr id="10" name="Pilar Pengenalan Pola"/>
          <p:cNvSpPr/>
          <p:nvPr/>
        </p:nvSpPr>
        <p:spPr>
          <a:xfrm>
            <a:off x="2560320" y="1143000"/>
            <a:ext cx="1920240" cy="2743200"/>
          </a:xfrm>
          <a:prstGeom prst="roundRect">
            <a:avLst>
              <a:gd name="adj" fmla="val 5714"/>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11" name="icon circle"/>
          <p:cNvSpPr/>
          <p:nvPr/>
        </p:nvSpPr>
        <p:spPr>
          <a:xfrm>
            <a:off x="3108960" y="1371600"/>
            <a:ext cx="822960" cy="822960"/>
          </a:xfrm>
          <a:prstGeom prst="ellipse">
            <a:avLst/>
          </a:prstGeom>
          <a:solidFill>
            <a:schemeClr val="accent2"/>
          </a:solidFill>
          <a:ln w="12700">
            <a:solidFill>
              <a:schemeClr val="accent2"/>
            </a:solidFill>
            <a:prstDash val="solid"/>
          </a:ln>
        </p:spPr>
      </p:sp>
      <p:pic>
        <p:nvPicPr>
          <p:cNvPr id="12" name="icon" descr="preencoded.png">    </p:cNvPr>
          <p:cNvPicPr>
            <a:picLocks noChangeAspect="1"/>
          </p:cNvPicPr>
          <p:nvPr/>
        </p:nvPicPr>
        <p:blipFill>
          <a:blip r:embed="rId3"/>
          <a:stretch>
            <a:fillRect/>
          </a:stretch>
        </p:blipFill>
        <p:spPr>
          <a:xfrm>
            <a:off x="3331159" y="1593799"/>
            <a:ext cx="378562" cy="378562"/>
          </a:xfrm>
          <a:prstGeom prst="rect">
            <a:avLst/>
          </a:prstGeom>
        </p:spPr>
      </p:pic>
      <p:sp>
        <p:nvSpPr>
          <p:cNvPr id="13" name="Text 8"/>
          <p:cNvSpPr txBox="1"/>
          <p:nvPr/>
        </p:nvSpPr>
        <p:spPr>
          <a:xfrm>
            <a:off x="2697480" y="1234440"/>
            <a:ext cx="548640" cy="27432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02</a:t>
            </a:r>
            <a:endParaRPr lang="en-US" sz="1200" dirty="0"/>
          </a:p>
        </p:txBody>
      </p:sp>
      <p:sp>
        <p:nvSpPr>
          <p:cNvPr id="14" name="Text 9"/>
          <p:cNvSpPr txBox="1"/>
          <p:nvPr/>
        </p:nvSpPr>
        <p:spPr>
          <a:xfrm>
            <a:off x="2651760" y="2331720"/>
            <a:ext cx="1737360" cy="36576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Pengenalan Pola</a:t>
            </a:r>
            <a:endParaRPr lang="en-US" sz="1600" dirty="0"/>
          </a:p>
        </p:txBody>
      </p:sp>
      <p:sp>
        <p:nvSpPr>
          <p:cNvPr id="15" name="Text 10"/>
          <p:cNvSpPr txBox="1"/>
          <p:nvPr/>
        </p:nvSpPr>
        <p:spPr>
          <a:xfrm>
            <a:off x="2724912" y="2743200"/>
            <a:ext cx="1591056" cy="105156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Menemukan kesamaan atau keteraturan antarbagian masalah.</a:t>
            </a:r>
            <a:endParaRPr lang="en-US" sz="1200" dirty="0"/>
          </a:p>
        </p:txBody>
      </p:sp>
      <p:pic>
        <p:nvPicPr>
          <p:cNvPr id="16" name="Image 3" descr="preencoded.png">    </p:cNvPr>
          <p:cNvPicPr>
            <a:picLocks noChangeAspect="1"/>
          </p:cNvPicPr>
          <p:nvPr/>
        </p:nvPicPr>
        <p:blipFill>
          <a:blip r:embed="rId4"/>
          <a:stretch>
            <a:fillRect/>
          </a:stretch>
        </p:blipFill>
        <p:spPr>
          <a:xfrm>
            <a:off x="4507992" y="2423160"/>
            <a:ext cx="137160" cy="146304"/>
          </a:xfrm>
          <a:prstGeom prst="rect">
            <a:avLst/>
          </a:prstGeom>
        </p:spPr>
      </p:pic>
      <p:sp>
        <p:nvSpPr>
          <p:cNvPr id="17" name="Pilar Abstraksi"/>
          <p:cNvSpPr/>
          <p:nvPr/>
        </p:nvSpPr>
        <p:spPr>
          <a:xfrm>
            <a:off x="4663440" y="1143000"/>
            <a:ext cx="1920240" cy="2743200"/>
          </a:xfrm>
          <a:prstGeom prst="roundRect">
            <a:avLst>
              <a:gd name="adj" fmla="val 5714"/>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18" name="icon circle"/>
          <p:cNvSpPr/>
          <p:nvPr/>
        </p:nvSpPr>
        <p:spPr>
          <a:xfrm>
            <a:off x="5212080" y="1371600"/>
            <a:ext cx="822960" cy="822960"/>
          </a:xfrm>
          <a:prstGeom prst="ellipse">
            <a:avLst/>
          </a:prstGeom>
          <a:solidFill>
            <a:schemeClr val="accent4"/>
          </a:solidFill>
          <a:ln w="12700">
            <a:solidFill>
              <a:schemeClr val="accent4"/>
            </a:solidFill>
            <a:prstDash val="solid"/>
          </a:ln>
        </p:spPr>
      </p:sp>
      <p:pic>
        <p:nvPicPr>
          <p:cNvPr id="19" name="icon" descr="preencoded.png">    </p:cNvPr>
          <p:cNvPicPr>
            <a:picLocks noChangeAspect="1"/>
          </p:cNvPicPr>
          <p:nvPr/>
        </p:nvPicPr>
        <p:blipFill>
          <a:blip r:embed="rId5"/>
          <a:stretch>
            <a:fillRect/>
          </a:stretch>
        </p:blipFill>
        <p:spPr>
          <a:xfrm>
            <a:off x="5434279" y="1593799"/>
            <a:ext cx="378562" cy="378562"/>
          </a:xfrm>
          <a:prstGeom prst="rect">
            <a:avLst/>
          </a:prstGeom>
        </p:spPr>
      </p:pic>
      <p:sp>
        <p:nvSpPr>
          <p:cNvPr id="20" name="Text 13"/>
          <p:cNvSpPr txBox="1"/>
          <p:nvPr/>
        </p:nvSpPr>
        <p:spPr>
          <a:xfrm>
            <a:off x="4800600" y="1234440"/>
            <a:ext cx="548640" cy="274320"/>
          </a:xfrm>
          <a:prstGeom prst="rect">
            <a:avLst/>
          </a:prstGeom>
          <a:noFill/>
          <a:ln/>
        </p:spPr>
        <p:txBody>
          <a:bodyPr wrap="square" lIns="0" tIns="0" rIns="0" bIns="0" rtlCol="0" anchor="t"/>
          <a:lstStyle/>
          <a:p>
            <a:pPr indent="0" marL="0">
              <a:buNone/>
            </a:pPr>
            <a:r>
              <a:rPr lang="en-US" sz="1200" b="1" dirty="0">
                <a:solidFill>
                  <a:schemeClr val="accent4"/>
                </a:solidFill>
                <a:latin typeface="Calibri" pitchFamily="34" charset="0"/>
                <a:ea typeface="Calibri" pitchFamily="34" charset="-122"/>
                <a:cs typeface="Calibri" pitchFamily="34" charset="-120"/>
              </a:rPr>
              <a:t>03</a:t>
            </a:r>
            <a:endParaRPr lang="en-US" sz="1200" dirty="0"/>
          </a:p>
        </p:txBody>
      </p:sp>
      <p:sp>
        <p:nvSpPr>
          <p:cNvPr id="21" name="Text 14"/>
          <p:cNvSpPr txBox="1"/>
          <p:nvPr/>
        </p:nvSpPr>
        <p:spPr>
          <a:xfrm>
            <a:off x="4754880" y="2331720"/>
            <a:ext cx="1737360" cy="36576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Abstraksi</a:t>
            </a:r>
            <a:endParaRPr lang="en-US" sz="1600" dirty="0"/>
          </a:p>
        </p:txBody>
      </p:sp>
      <p:sp>
        <p:nvSpPr>
          <p:cNvPr id="22" name="Text 15"/>
          <p:cNvSpPr txBox="1"/>
          <p:nvPr/>
        </p:nvSpPr>
        <p:spPr>
          <a:xfrm>
            <a:off x="4828032" y="2743200"/>
            <a:ext cx="1591056" cy="105156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Berfokus pada informasi penting dan mengabaikan detail yang tidak relevan.</a:t>
            </a:r>
            <a:endParaRPr lang="en-US" sz="1200" dirty="0"/>
          </a:p>
        </p:txBody>
      </p:sp>
      <p:pic>
        <p:nvPicPr>
          <p:cNvPr id="23" name="Image 5" descr="preencoded.png">    </p:cNvPr>
          <p:cNvPicPr>
            <a:picLocks noChangeAspect="1"/>
          </p:cNvPicPr>
          <p:nvPr/>
        </p:nvPicPr>
        <p:blipFill>
          <a:blip r:embed="rId6"/>
          <a:stretch>
            <a:fillRect/>
          </a:stretch>
        </p:blipFill>
        <p:spPr>
          <a:xfrm>
            <a:off x="6611112" y="2423160"/>
            <a:ext cx="137160" cy="146304"/>
          </a:xfrm>
          <a:prstGeom prst="rect">
            <a:avLst/>
          </a:prstGeom>
        </p:spPr>
      </p:pic>
      <p:sp>
        <p:nvSpPr>
          <p:cNvPr id="24" name="Pilar Algoritma"/>
          <p:cNvSpPr/>
          <p:nvPr/>
        </p:nvSpPr>
        <p:spPr>
          <a:xfrm>
            <a:off x="6766560" y="1143000"/>
            <a:ext cx="1920240" cy="2743200"/>
          </a:xfrm>
          <a:prstGeom prst="roundRect">
            <a:avLst>
              <a:gd name="adj" fmla="val 5714"/>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25" name="icon circle"/>
          <p:cNvSpPr/>
          <p:nvPr/>
        </p:nvSpPr>
        <p:spPr>
          <a:xfrm>
            <a:off x="7315200" y="1371600"/>
            <a:ext cx="822960" cy="822960"/>
          </a:xfrm>
          <a:prstGeom prst="ellipse">
            <a:avLst/>
          </a:prstGeom>
          <a:solidFill>
            <a:schemeClr val="accent1"/>
          </a:solidFill>
          <a:ln w="12700">
            <a:solidFill>
              <a:schemeClr val="accent1"/>
            </a:solidFill>
            <a:prstDash val="solid"/>
          </a:ln>
        </p:spPr>
      </p:sp>
      <p:pic>
        <p:nvPicPr>
          <p:cNvPr id="26" name="icon" descr="preencoded.png">    </p:cNvPr>
          <p:cNvPicPr>
            <a:picLocks noChangeAspect="1"/>
          </p:cNvPicPr>
          <p:nvPr/>
        </p:nvPicPr>
        <p:blipFill>
          <a:blip r:embed="rId7"/>
          <a:stretch>
            <a:fillRect/>
          </a:stretch>
        </p:blipFill>
        <p:spPr>
          <a:xfrm>
            <a:off x="7537399" y="1593799"/>
            <a:ext cx="378562" cy="378562"/>
          </a:xfrm>
          <a:prstGeom prst="rect">
            <a:avLst/>
          </a:prstGeom>
        </p:spPr>
      </p:pic>
      <p:sp>
        <p:nvSpPr>
          <p:cNvPr id="27" name="Text 18"/>
          <p:cNvSpPr txBox="1"/>
          <p:nvPr/>
        </p:nvSpPr>
        <p:spPr>
          <a:xfrm>
            <a:off x="6903720" y="1234440"/>
            <a:ext cx="548640" cy="27432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04</a:t>
            </a:r>
            <a:endParaRPr lang="en-US" sz="1200" dirty="0"/>
          </a:p>
        </p:txBody>
      </p:sp>
      <p:sp>
        <p:nvSpPr>
          <p:cNvPr id="28" name="Text 19"/>
          <p:cNvSpPr txBox="1"/>
          <p:nvPr/>
        </p:nvSpPr>
        <p:spPr>
          <a:xfrm>
            <a:off x="6858000" y="2331720"/>
            <a:ext cx="1737360" cy="36576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Algoritma</a:t>
            </a:r>
            <a:endParaRPr lang="en-US" sz="1600" dirty="0"/>
          </a:p>
        </p:txBody>
      </p:sp>
      <p:sp>
        <p:nvSpPr>
          <p:cNvPr id="29" name="Text 20"/>
          <p:cNvSpPr txBox="1"/>
          <p:nvPr/>
        </p:nvSpPr>
        <p:spPr>
          <a:xfrm>
            <a:off x="6931152" y="2743200"/>
            <a:ext cx="1591056" cy="105156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Menyusun langkah-langkah penyelesaian yang runtut dan jelas.</a:t>
            </a:r>
            <a:endParaRPr lang="en-US" sz="1200" dirty="0"/>
          </a:p>
        </p:txBody>
      </p:sp>
      <p:sp>
        <p:nvSpPr>
          <p:cNvPr id="30" name="Catatan"/>
          <p:cNvSpPr/>
          <p:nvPr/>
        </p:nvSpPr>
        <p:spPr>
          <a:xfrm>
            <a:off x="457200" y="4069080"/>
            <a:ext cx="8229600" cy="457200"/>
          </a:xfrm>
          <a:prstGeom prst="roundRect">
            <a:avLst>
              <a:gd name="adj" fmla="val 24000"/>
            </a:avLst>
          </a:prstGeom>
          <a:solidFill>
            <a:schemeClr val="bg2"/>
          </a:solidFill>
          <a:ln w="12700">
            <a:solidFill>
              <a:schemeClr val="bg2"/>
            </a:solidFill>
            <a:prstDash val="solid"/>
          </a:ln>
        </p:spPr>
      </p:sp>
      <p:sp>
        <p:nvSpPr>
          <p:cNvPr id="31" name="Text 22"/>
          <p:cNvSpPr txBox="1"/>
          <p:nvPr/>
        </p:nvSpPr>
        <p:spPr>
          <a:xfrm>
            <a:off x="685800" y="4069080"/>
            <a:ext cx="7772400" cy="457200"/>
          </a:xfrm>
          <a:prstGeom prst="rect">
            <a:avLst/>
          </a:prstGeom>
          <a:noFill/>
          <a:ln/>
        </p:spPr>
        <p:txBody>
          <a:bodyPr wrap="square" lIns="0" tIns="0" rIns="0" bIns="0" rtlCol="0" anchor="ctr"/>
          <a:lstStyle/>
          <a:p>
            <a:pPr indent="0" marL="0">
              <a:buNone/>
            </a:pPr>
            <a:r>
              <a:rPr lang="en-US" sz="1400" i="1" dirty="0">
                <a:solidFill>
                  <a:schemeClr val="tx2"/>
                </a:solidFill>
                <a:latin typeface="Calibri" pitchFamily="34" charset="0"/>
                <a:ea typeface="Calibri" pitchFamily="34" charset="-122"/>
                <a:cs typeface="Calibri" pitchFamily="34" charset="-120"/>
              </a:rPr>
              <a:t>Keempat pilar saling melengkapi dan tidak harus selalu dipakai berurutan.</a:t>
            </a:r>
            <a:endParaRPr lang="en-US" sz="14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Pilar 1 · Dekomposisi</a:t>
            </a:r>
            <a:endParaRPr lang="en-US" sz="2800" dirty="0"/>
          </a:p>
        </p:txBody>
      </p:sp>
      <p:sp>
        <p:nvSpPr>
          <p:cNvPr id="3" name="icon circle"/>
          <p:cNvSpPr/>
          <p:nvPr/>
        </p:nvSpPr>
        <p:spPr>
          <a:xfrm>
            <a:off x="457200" y="1097280"/>
            <a:ext cx="548640" cy="548640"/>
          </a:xfrm>
          <a:prstGeom prst="ellipse">
            <a:avLst/>
          </a:prstGeom>
          <a:solidFill>
            <a:schemeClr val="accent3"/>
          </a:solidFill>
          <a:ln w="12700">
            <a:solidFill>
              <a:schemeClr val="accent3"/>
            </a:solidFill>
            <a:prstDash val="solid"/>
          </a:ln>
        </p:spPr>
      </p:sp>
      <p:pic>
        <p:nvPicPr>
          <p:cNvPr id="4" name="icon" descr="preencoded.png">    </p:cNvPr>
          <p:cNvPicPr>
            <a:picLocks noChangeAspect="1"/>
          </p:cNvPicPr>
          <p:nvPr/>
        </p:nvPicPr>
        <p:blipFill>
          <a:blip r:embed="rId1"/>
          <a:stretch>
            <a:fillRect/>
          </a:stretch>
        </p:blipFill>
        <p:spPr>
          <a:xfrm>
            <a:off x="605333" y="1245413"/>
            <a:ext cx="252374" cy="252374"/>
          </a:xfrm>
          <a:prstGeom prst="rect">
            <a:avLst/>
          </a:prstGeom>
        </p:spPr>
      </p:pic>
      <p:sp>
        <p:nvSpPr>
          <p:cNvPr id="5" name="Text 2"/>
          <p:cNvSpPr txBox="1"/>
          <p:nvPr/>
        </p:nvSpPr>
        <p:spPr>
          <a:xfrm>
            <a:off x="1143000" y="1051560"/>
            <a:ext cx="269748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Memecah masalah kompleks menjadi sub-masalah yang lebih kecil, sehingga setiap bagian bisa diselesaikan satu per satu.</a:t>
            </a:r>
            <a:endParaRPr lang="en-US" sz="1400" dirty="0"/>
          </a:p>
        </p:txBody>
      </p:sp>
      <p:sp>
        <p:nvSpPr>
          <p:cNvPr id="6" name="Text 3"/>
          <p:cNvSpPr txBox="1"/>
          <p:nvPr/>
        </p:nvSpPr>
        <p:spPr>
          <a:xfrm>
            <a:off x="457200" y="2148840"/>
            <a:ext cx="3383280" cy="27432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Manfaat</a:t>
            </a:r>
            <a:endParaRPr lang="en-US" sz="1500" dirty="0"/>
          </a:p>
        </p:txBody>
      </p:sp>
      <p:sp>
        <p:nvSpPr>
          <p:cNvPr id="7" name="Text 4"/>
          <p:cNvSpPr txBox="1"/>
          <p:nvPr/>
        </p:nvSpPr>
        <p:spPr>
          <a:xfrm>
            <a:off x="457200" y="2468880"/>
            <a:ext cx="3383280" cy="10972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Masalah terasa tidak menakutkan</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Tugas mudah dibagi ke anggota tim</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Kesalahan lebih cepat ditemukan</a:t>
            </a:r>
            <a:endParaRPr lang="en-US" sz="1400" dirty="0"/>
          </a:p>
        </p:txBody>
      </p:sp>
      <p:sp>
        <p:nvSpPr>
          <p:cNvPr id="8" name="Contoh lain"/>
          <p:cNvSpPr/>
          <p:nvPr/>
        </p:nvSpPr>
        <p:spPr>
          <a:xfrm>
            <a:off x="457200" y="3703320"/>
            <a:ext cx="3383280" cy="777240"/>
          </a:xfrm>
          <a:prstGeom prst="roundRect">
            <a:avLst>
              <a:gd name="adj" fmla="val 14118"/>
            </a:avLst>
          </a:prstGeom>
          <a:solidFill>
            <a:srgbClr val="FCE4DE"/>
          </a:solidFill>
          <a:ln w="12700">
            <a:solidFill>
              <a:srgbClr val="FCE4DE"/>
            </a:solidFill>
            <a:prstDash val="solid"/>
          </a:ln>
        </p:spPr>
      </p:sp>
      <p:sp>
        <p:nvSpPr>
          <p:cNvPr id="9" name="Text 6"/>
          <p:cNvSpPr txBox="1"/>
          <p:nvPr/>
        </p:nvSpPr>
        <p:spPr>
          <a:xfrm>
            <a:off x="594360" y="3749040"/>
            <a:ext cx="3154680" cy="685800"/>
          </a:xfrm>
          <a:prstGeom prst="rect">
            <a:avLst/>
          </a:prstGeom>
          <a:noFill/>
          <a:ln/>
        </p:spPr>
        <p:txBody>
          <a:bodyPr wrap="square" lIns="0" tIns="0" rIns="0" bIns="0" rtlCol="0" anchor="ctr"/>
          <a:lstStyle/>
          <a:p>
            <a:pPr indent="0" marL="0">
              <a:buNone/>
            </a:pPr>
            <a:r>
              <a:rPr lang="en-US" sz="1300" b="1" dirty="0">
                <a:solidFill>
                  <a:schemeClr val="accent3"/>
                </a:solidFill>
                <a:latin typeface="Calibri" pitchFamily="34" charset="0"/>
                <a:ea typeface="Calibri" pitchFamily="34" charset="-122"/>
                <a:cs typeface="Calibri" pitchFamily="34" charset="-120"/>
              </a:rPr>
              <a:t>Contoh lain: </a:t>
            </a:r>
            <a:pPr indent="0" marL="0">
              <a:buNone/>
            </a:pPr>
            <a:r>
              <a:rPr lang="en-US" sz="1300" dirty="0">
                <a:solidFill>
                  <a:schemeClr val="tx1"/>
                </a:solidFill>
                <a:latin typeface="Calibri" pitchFamily="34" charset="0"/>
                <a:ea typeface="Calibri" pitchFamily="34" charset="-122"/>
                <a:cs typeface="Calibri" pitchFamily="34" charset="-120"/>
              </a:rPr>
              <a:t>menulis laporan dipecah menjadi pendahuluan, isi, dan penutup.</a:t>
            </a:r>
            <a:endParaRPr lang="en-US" sz="1300" dirty="0"/>
          </a:p>
        </p:txBody>
      </p:sp>
      <p:sp>
        <p:nvSpPr>
          <p:cNvPr id="10" name="Akar"/>
          <p:cNvSpPr/>
          <p:nvPr/>
        </p:nvSpPr>
        <p:spPr>
          <a:xfrm>
            <a:off x="5349240" y="1097280"/>
            <a:ext cx="2194560" cy="502920"/>
          </a:xfrm>
          <a:prstGeom prst="roundRect">
            <a:avLst>
              <a:gd name="adj" fmla="val 18182"/>
            </a:avLst>
          </a:prstGeom>
          <a:solidFill>
            <a:schemeClr val="accent3"/>
          </a:solidFill>
          <a:ln w="12700">
            <a:solidFill>
              <a:schemeClr val="accent3"/>
            </a:solidFill>
            <a:prstDash val="solid"/>
          </a:ln>
        </p:spPr>
      </p:sp>
      <p:sp>
        <p:nvSpPr>
          <p:cNvPr id="11" name="Text 8"/>
          <p:cNvSpPr txBox="1"/>
          <p:nvPr/>
        </p:nvSpPr>
        <p:spPr>
          <a:xfrm>
            <a:off x="5349240" y="1097280"/>
            <a:ext cx="219456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Pentas Seni Sekolah</a:t>
            </a:r>
            <a:endParaRPr lang="en-US" sz="1400" dirty="0"/>
          </a:p>
        </p:txBody>
      </p:sp>
      <p:sp>
        <p:nvSpPr>
          <p:cNvPr id="12" name="Shape 9"/>
          <p:cNvSpPr/>
          <p:nvPr/>
        </p:nvSpPr>
        <p:spPr>
          <a:xfrm>
            <a:off x="6446520" y="1600200"/>
            <a:ext cx="0" cy="274320"/>
          </a:xfrm>
          <a:prstGeom prst="line">
            <a:avLst/>
          </a:prstGeom>
          <a:noFill/>
          <a:ln w="19050">
            <a:solidFill>
              <a:srgbClr val="5C6B73"/>
            </a:solidFill>
            <a:prstDash val="solid"/>
          </a:ln>
        </p:spPr>
      </p:sp>
      <p:sp>
        <p:nvSpPr>
          <p:cNvPr id="13" name="Shape 10"/>
          <p:cNvSpPr/>
          <p:nvPr/>
        </p:nvSpPr>
        <p:spPr>
          <a:xfrm>
            <a:off x="4718304" y="1874520"/>
            <a:ext cx="3456432" cy="0"/>
          </a:xfrm>
          <a:prstGeom prst="line">
            <a:avLst/>
          </a:prstGeom>
          <a:noFill/>
          <a:ln w="19050">
            <a:solidFill>
              <a:srgbClr val="5C6B73"/>
            </a:solidFill>
            <a:prstDash val="solid"/>
          </a:ln>
        </p:spPr>
      </p:sp>
      <p:sp>
        <p:nvSpPr>
          <p:cNvPr id="14" name="Shape 11"/>
          <p:cNvSpPr/>
          <p:nvPr/>
        </p:nvSpPr>
        <p:spPr>
          <a:xfrm>
            <a:off x="4718304" y="1874520"/>
            <a:ext cx="0" cy="228600"/>
          </a:xfrm>
          <a:prstGeom prst="line">
            <a:avLst/>
          </a:prstGeom>
          <a:noFill/>
          <a:ln w="19050">
            <a:solidFill>
              <a:srgbClr val="5C6B73"/>
            </a:solidFill>
            <a:prstDash val="solid"/>
          </a:ln>
        </p:spPr>
      </p:sp>
      <p:sp>
        <p:nvSpPr>
          <p:cNvPr id="15" name="Cabang Acara"/>
          <p:cNvSpPr/>
          <p:nvPr/>
        </p:nvSpPr>
        <p:spPr>
          <a:xfrm>
            <a:off x="4206240" y="2103120"/>
            <a:ext cx="1024128" cy="457200"/>
          </a:xfrm>
          <a:prstGeom prst="roundRect">
            <a:avLst>
              <a:gd name="adj" fmla="val 16000"/>
            </a:avLst>
          </a:prstGeom>
          <a:solidFill>
            <a:srgbClr val="FCE4DE"/>
          </a:solidFill>
          <a:ln w="12700">
            <a:solidFill>
              <a:srgbClr val="E4572E"/>
            </a:solidFill>
            <a:prstDash val="solid"/>
          </a:ln>
        </p:spPr>
      </p:sp>
      <p:sp>
        <p:nvSpPr>
          <p:cNvPr id="16" name="Text 13"/>
          <p:cNvSpPr txBox="1"/>
          <p:nvPr/>
        </p:nvSpPr>
        <p:spPr>
          <a:xfrm>
            <a:off x="4206240" y="2103120"/>
            <a:ext cx="1024128" cy="457200"/>
          </a:xfrm>
          <a:prstGeom prst="rect">
            <a:avLst/>
          </a:prstGeom>
          <a:noFill/>
          <a:ln/>
        </p:spPr>
        <p:txBody>
          <a:bodyPr wrap="square" lIns="0" tIns="0" rIns="0" bIns="0" rtlCol="0" anchor="ctr"/>
          <a:lstStyle/>
          <a:p>
            <a:pPr algn="ctr" indent="0" marL="0">
              <a:buNone/>
            </a:pPr>
            <a:r>
              <a:rPr lang="en-US" sz="1300" b="1" dirty="0">
                <a:solidFill>
                  <a:schemeClr val="tx2"/>
                </a:solidFill>
                <a:latin typeface="Calibri" pitchFamily="34" charset="0"/>
                <a:ea typeface="Calibri" pitchFamily="34" charset="-122"/>
                <a:cs typeface="Calibri" pitchFamily="34" charset="-120"/>
              </a:rPr>
              <a:t>Acara</a:t>
            </a:r>
            <a:endParaRPr lang="en-US" sz="1300" dirty="0"/>
          </a:p>
        </p:txBody>
      </p:sp>
      <p:sp>
        <p:nvSpPr>
          <p:cNvPr id="17" name="Shape 14"/>
          <p:cNvSpPr/>
          <p:nvPr/>
        </p:nvSpPr>
        <p:spPr>
          <a:xfrm>
            <a:off x="4718304" y="2560320"/>
            <a:ext cx="0" cy="1508760"/>
          </a:xfrm>
          <a:prstGeom prst="line">
            <a:avLst/>
          </a:prstGeom>
          <a:noFill/>
          <a:ln w="12700">
            <a:solidFill>
              <a:srgbClr val="C9D3D1"/>
            </a:solidFill>
            <a:prstDash val="dash"/>
          </a:ln>
        </p:spPr>
      </p:sp>
      <p:sp>
        <p:nvSpPr>
          <p:cNvPr id="18" name="Shape 15"/>
          <p:cNvSpPr/>
          <p:nvPr/>
        </p:nvSpPr>
        <p:spPr>
          <a:xfrm>
            <a:off x="4206240" y="2743200"/>
            <a:ext cx="1024128" cy="548640"/>
          </a:xfrm>
          <a:prstGeom prst="roundRect">
            <a:avLst>
              <a:gd name="adj" fmla="val 13333"/>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19" name="Text 16"/>
          <p:cNvSpPr txBox="1"/>
          <p:nvPr/>
        </p:nvSpPr>
        <p:spPr>
          <a:xfrm>
            <a:off x="4251960" y="2743200"/>
            <a:ext cx="932688" cy="548640"/>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Susun rundown</a:t>
            </a:r>
            <a:endParaRPr lang="en-US" sz="1200" dirty="0"/>
          </a:p>
        </p:txBody>
      </p:sp>
      <p:sp>
        <p:nvSpPr>
          <p:cNvPr id="20" name="Shape 17"/>
          <p:cNvSpPr/>
          <p:nvPr/>
        </p:nvSpPr>
        <p:spPr>
          <a:xfrm>
            <a:off x="4206240" y="3474720"/>
            <a:ext cx="1024128" cy="548640"/>
          </a:xfrm>
          <a:prstGeom prst="roundRect">
            <a:avLst>
              <a:gd name="adj" fmla="val 13333"/>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21" name="Text 18"/>
          <p:cNvSpPr txBox="1"/>
          <p:nvPr/>
        </p:nvSpPr>
        <p:spPr>
          <a:xfrm>
            <a:off x="4251960" y="3474720"/>
            <a:ext cx="932688" cy="548640"/>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Pilih pengisi</a:t>
            </a:r>
            <a:endParaRPr lang="en-US" sz="1200" dirty="0"/>
          </a:p>
        </p:txBody>
      </p:sp>
      <p:sp>
        <p:nvSpPr>
          <p:cNvPr id="22" name="Shape 19"/>
          <p:cNvSpPr/>
          <p:nvPr/>
        </p:nvSpPr>
        <p:spPr>
          <a:xfrm>
            <a:off x="5870448" y="1874520"/>
            <a:ext cx="0" cy="228600"/>
          </a:xfrm>
          <a:prstGeom prst="line">
            <a:avLst/>
          </a:prstGeom>
          <a:noFill/>
          <a:ln w="19050">
            <a:solidFill>
              <a:srgbClr val="5C6B73"/>
            </a:solidFill>
            <a:prstDash val="solid"/>
          </a:ln>
        </p:spPr>
      </p:sp>
      <p:sp>
        <p:nvSpPr>
          <p:cNvPr id="23" name="Cabang Konsumsi"/>
          <p:cNvSpPr/>
          <p:nvPr/>
        </p:nvSpPr>
        <p:spPr>
          <a:xfrm>
            <a:off x="5358384" y="2103120"/>
            <a:ext cx="1024128" cy="457200"/>
          </a:xfrm>
          <a:prstGeom prst="roundRect">
            <a:avLst>
              <a:gd name="adj" fmla="val 16000"/>
            </a:avLst>
          </a:prstGeom>
          <a:solidFill>
            <a:srgbClr val="FCE4DE"/>
          </a:solidFill>
          <a:ln w="12700">
            <a:solidFill>
              <a:srgbClr val="E4572E"/>
            </a:solidFill>
            <a:prstDash val="solid"/>
          </a:ln>
        </p:spPr>
      </p:sp>
      <p:sp>
        <p:nvSpPr>
          <p:cNvPr id="24" name="Text 21"/>
          <p:cNvSpPr txBox="1"/>
          <p:nvPr/>
        </p:nvSpPr>
        <p:spPr>
          <a:xfrm>
            <a:off x="5358384" y="2103120"/>
            <a:ext cx="1024128" cy="457200"/>
          </a:xfrm>
          <a:prstGeom prst="rect">
            <a:avLst/>
          </a:prstGeom>
          <a:noFill/>
          <a:ln/>
        </p:spPr>
        <p:txBody>
          <a:bodyPr wrap="square" lIns="0" tIns="0" rIns="0" bIns="0" rtlCol="0" anchor="ctr"/>
          <a:lstStyle/>
          <a:p>
            <a:pPr algn="ctr" indent="0" marL="0">
              <a:buNone/>
            </a:pPr>
            <a:r>
              <a:rPr lang="en-US" sz="1300" b="1" dirty="0">
                <a:solidFill>
                  <a:schemeClr val="tx2"/>
                </a:solidFill>
                <a:latin typeface="Calibri" pitchFamily="34" charset="0"/>
                <a:ea typeface="Calibri" pitchFamily="34" charset="-122"/>
                <a:cs typeface="Calibri" pitchFamily="34" charset="-120"/>
              </a:rPr>
              <a:t>Konsumsi</a:t>
            </a:r>
            <a:endParaRPr lang="en-US" sz="1300" dirty="0"/>
          </a:p>
        </p:txBody>
      </p:sp>
      <p:sp>
        <p:nvSpPr>
          <p:cNvPr id="25" name="Shape 22"/>
          <p:cNvSpPr/>
          <p:nvPr/>
        </p:nvSpPr>
        <p:spPr>
          <a:xfrm>
            <a:off x="5870448" y="2560320"/>
            <a:ext cx="0" cy="1508760"/>
          </a:xfrm>
          <a:prstGeom prst="line">
            <a:avLst/>
          </a:prstGeom>
          <a:noFill/>
          <a:ln w="12700">
            <a:solidFill>
              <a:srgbClr val="C9D3D1"/>
            </a:solidFill>
            <a:prstDash val="dash"/>
          </a:ln>
        </p:spPr>
      </p:sp>
      <p:sp>
        <p:nvSpPr>
          <p:cNvPr id="26" name="Shape 23"/>
          <p:cNvSpPr/>
          <p:nvPr/>
        </p:nvSpPr>
        <p:spPr>
          <a:xfrm>
            <a:off x="5358384" y="2743200"/>
            <a:ext cx="1024128" cy="548640"/>
          </a:xfrm>
          <a:prstGeom prst="roundRect">
            <a:avLst>
              <a:gd name="adj" fmla="val 13333"/>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27" name="Text 24"/>
          <p:cNvSpPr txBox="1"/>
          <p:nvPr/>
        </p:nvSpPr>
        <p:spPr>
          <a:xfrm>
            <a:off x="5404104" y="2743200"/>
            <a:ext cx="932688" cy="548640"/>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Hitung porsi</a:t>
            </a:r>
            <a:endParaRPr lang="en-US" sz="1200" dirty="0"/>
          </a:p>
        </p:txBody>
      </p:sp>
      <p:sp>
        <p:nvSpPr>
          <p:cNvPr id="28" name="Shape 25"/>
          <p:cNvSpPr/>
          <p:nvPr/>
        </p:nvSpPr>
        <p:spPr>
          <a:xfrm>
            <a:off x="5358384" y="3474720"/>
            <a:ext cx="1024128" cy="548640"/>
          </a:xfrm>
          <a:prstGeom prst="roundRect">
            <a:avLst>
              <a:gd name="adj" fmla="val 13333"/>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29" name="Text 26"/>
          <p:cNvSpPr txBox="1"/>
          <p:nvPr/>
        </p:nvSpPr>
        <p:spPr>
          <a:xfrm>
            <a:off x="5404104" y="3474720"/>
            <a:ext cx="932688" cy="548640"/>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Pesan snack</a:t>
            </a:r>
            <a:endParaRPr lang="en-US" sz="1200" dirty="0"/>
          </a:p>
        </p:txBody>
      </p:sp>
      <p:sp>
        <p:nvSpPr>
          <p:cNvPr id="30" name="Shape 27"/>
          <p:cNvSpPr/>
          <p:nvPr/>
        </p:nvSpPr>
        <p:spPr>
          <a:xfrm>
            <a:off x="7022592" y="1874520"/>
            <a:ext cx="0" cy="228600"/>
          </a:xfrm>
          <a:prstGeom prst="line">
            <a:avLst/>
          </a:prstGeom>
          <a:noFill/>
          <a:ln w="19050">
            <a:solidFill>
              <a:srgbClr val="5C6B73"/>
            </a:solidFill>
            <a:prstDash val="solid"/>
          </a:ln>
        </p:spPr>
      </p:sp>
      <p:sp>
        <p:nvSpPr>
          <p:cNvPr id="31" name="Cabang Dekorasi"/>
          <p:cNvSpPr/>
          <p:nvPr/>
        </p:nvSpPr>
        <p:spPr>
          <a:xfrm>
            <a:off x="6510528" y="2103120"/>
            <a:ext cx="1024128" cy="457200"/>
          </a:xfrm>
          <a:prstGeom prst="roundRect">
            <a:avLst>
              <a:gd name="adj" fmla="val 16000"/>
            </a:avLst>
          </a:prstGeom>
          <a:solidFill>
            <a:srgbClr val="FCE4DE"/>
          </a:solidFill>
          <a:ln w="12700">
            <a:solidFill>
              <a:srgbClr val="E4572E"/>
            </a:solidFill>
            <a:prstDash val="solid"/>
          </a:ln>
        </p:spPr>
      </p:sp>
      <p:sp>
        <p:nvSpPr>
          <p:cNvPr id="32" name="Text 29"/>
          <p:cNvSpPr txBox="1"/>
          <p:nvPr/>
        </p:nvSpPr>
        <p:spPr>
          <a:xfrm>
            <a:off x="6510528" y="2103120"/>
            <a:ext cx="1024128" cy="457200"/>
          </a:xfrm>
          <a:prstGeom prst="rect">
            <a:avLst/>
          </a:prstGeom>
          <a:noFill/>
          <a:ln/>
        </p:spPr>
        <p:txBody>
          <a:bodyPr wrap="square" lIns="0" tIns="0" rIns="0" bIns="0" rtlCol="0" anchor="ctr"/>
          <a:lstStyle/>
          <a:p>
            <a:pPr algn="ctr" indent="0" marL="0">
              <a:buNone/>
            </a:pPr>
            <a:r>
              <a:rPr lang="en-US" sz="1300" b="1" dirty="0">
                <a:solidFill>
                  <a:schemeClr val="tx2"/>
                </a:solidFill>
                <a:latin typeface="Calibri" pitchFamily="34" charset="0"/>
                <a:ea typeface="Calibri" pitchFamily="34" charset="-122"/>
                <a:cs typeface="Calibri" pitchFamily="34" charset="-120"/>
              </a:rPr>
              <a:t>Dekorasi</a:t>
            </a:r>
            <a:endParaRPr lang="en-US" sz="1300" dirty="0"/>
          </a:p>
        </p:txBody>
      </p:sp>
      <p:sp>
        <p:nvSpPr>
          <p:cNvPr id="33" name="Shape 30"/>
          <p:cNvSpPr/>
          <p:nvPr/>
        </p:nvSpPr>
        <p:spPr>
          <a:xfrm>
            <a:off x="7022592" y="2560320"/>
            <a:ext cx="0" cy="1508760"/>
          </a:xfrm>
          <a:prstGeom prst="line">
            <a:avLst/>
          </a:prstGeom>
          <a:noFill/>
          <a:ln w="12700">
            <a:solidFill>
              <a:srgbClr val="C9D3D1"/>
            </a:solidFill>
            <a:prstDash val="dash"/>
          </a:ln>
        </p:spPr>
      </p:sp>
      <p:sp>
        <p:nvSpPr>
          <p:cNvPr id="34" name="Shape 31"/>
          <p:cNvSpPr/>
          <p:nvPr/>
        </p:nvSpPr>
        <p:spPr>
          <a:xfrm>
            <a:off x="6510528" y="2743200"/>
            <a:ext cx="1024128" cy="548640"/>
          </a:xfrm>
          <a:prstGeom prst="roundRect">
            <a:avLst>
              <a:gd name="adj" fmla="val 13333"/>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35" name="Text 32"/>
          <p:cNvSpPr txBox="1"/>
          <p:nvPr/>
        </p:nvSpPr>
        <p:spPr>
          <a:xfrm>
            <a:off x="6556248" y="2743200"/>
            <a:ext cx="932688" cy="548640"/>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Tema panggung</a:t>
            </a:r>
            <a:endParaRPr lang="en-US" sz="1200" dirty="0"/>
          </a:p>
        </p:txBody>
      </p:sp>
      <p:sp>
        <p:nvSpPr>
          <p:cNvPr id="36" name="Shape 33"/>
          <p:cNvSpPr/>
          <p:nvPr/>
        </p:nvSpPr>
        <p:spPr>
          <a:xfrm>
            <a:off x="6510528" y="3474720"/>
            <a:ext cx="1024128" cy="548640"/>
          </a:xfrm>
          <a:prstGeom prst="roundRect">
            <a:avLst>
              <a:gd name="adj" fmla="val 13333"/>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37" name="Text 34"/>
          <p:cNvSpPr txBox="1"/>
          <p:nvPr/>
        </p:nvSpPr>
        <p:spPr>
          <a:xfrm>
            <a:off x="6556248" y="3474720"/>
            <a:ext cx="932688" cy="548640"/>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Siapkan alat</a:t>
            </a:r>
            <a:endParaRPr lang="en-US" sz="1200" dirty="0"/>
          </a:p>
        </p:txBody>
      </p:sp>
      <p:sp>
        <p:nvSpPr>
          <p:cNvPr id="38" name="Shape 35"/>
          <p:cNvSpPr/>
          <p:nvPr/>
        </p:nvSpPr>
        <p:spPr>
          <a:xfrm>
            <a:off x="8174736" y="1874520"/>
            <a:ext cx="0" cy="228600"/>
          </a:xfrm>
          <a:prstGeom prst="line">
            <a:avLst/>
          </a:prstGeom>
          <a:noFill/>
          <a:ln w="19050">
            <a:solidFill>
              <a:srgbClr val="5C6B73"/>
            </a:solidFill>
            <a:prstDash val="solid"/>
          </a:ln>
        </p:spPr>
      </p:sp>
      <p:sp>
        <p:nvSpPr>
          <p:cNvPr id="39" name="Cabang Publikasi"/>
          <p:cNvSpPr/>
          <p:nvPr/>
        </p:nvSpPr>
        <p:spPr>
          <a:xfrm>
            <a:off x="7662672" y="2103120"/>
            <a:ext cx="1024128" cy="457200"/>
          </a:xfrm>
          <a:prstGeom prst="roundRect">
            <a:avLst>
              <a:gd name="adj" fmla="val 16000"/>
            </a:avLst>
          </a:prstGeom>
          <a:solidFill>
            <a:srgbClr val="FCE4DE"/>
          </a:solidFill>
          <a:ln w="12700">
            <a:solidFill>
              <a:srgbClr val="E4572E"/>
            </a:solidFill>
            <a:prstDash val="solid"/>
          </a:ln>
        </p:spPr>
      </p:sp>
      <p:sp>
        <p:nvSpPr>
          <p:cNvPr id="40" name="Text 37"/>
          <p:cNvSpPr txBox="1"/>
          <p:nvPr/>
        </p:nvSpPr>
        <p:spPr>
          <a:xfrm>
            <a:off x="7662672" y="2103120"/>
            <a:ext cx="1024128" cy="457200"/>
          </a:xfrm>
          <a:prstGeom prst="rect">
            <a:avLst/>
          </a:prstGeom>
          <a:noFill/>
          <a:ln/>
        </p:spPr>
        <p:txBody>
          <a:bodyPr wrap="square" lIns="0" tIns="0" rIns="0" bIns="0" rtlCol="0" anchor="ctr"/>
          <a:lstStyle/>
          <a:p>
            <a:pPr algn="ctr" indent="0" marL="0">
              <a:buNone/>
            </a:pPr>
            <a:r>
              <a:rPr lang="en-US" sz="1300" b="1" dirty="0">
                <a:solidFill>
                  <a:schemeClr val="tx2"/>
                </a:solidFill>
                <a:latin typeface="Calibri" pitchFamily="34" charset="0"/>
                <a:ea typeface="Calibri" pitchFamily="34" charset="-122"/>
                <a:cs typeface="Calibri" pitchFamily="34" charset="-120"/>
              </a:rPr>
              <a:t>Publikasi</a:t>
            </a:r>
            <a:endParaRPr lang="en-US" sz="1300" dirty="0"/>
          </a:p>
        </p:txBody>
      </p:sp>
      <p:sp>
        <p:nvSpPr>
          <p:cNvPr id="41" name="Shape 38"/>
          <p:cNvSpPr/>
          <p:nvPr/>
        </p:nvSpPr>
        <p:spPr>
          <a:xfrm>
            <a:off x="8174736" y="2560320"/>
            <a:ext cx="0" cy="1508760"/>
          </a:xfrm>
          <a:prstGeom prst="line">
            <a:avLst/>
          </a:prstGeom>
          <a:noFill/>
          <a:ln w="12700">
            <a:solidFill>
              <a:srgbClr val="C9D3D1"/>
            </a:solidFill>
            <a:prstDash val="dash"/>
          </a:ln>
        </p:spPr>
      </p:sp>
      <p:sp>
        <p:nvSpPr>
          <p:cNvPr id="42" name="Shape 39"/>
          <p:cNvSpPr/>
          <p:nvPr/>
        </p:nvSpPr>
        <p:spPr>
          <a:xfrm>
            <a:off x="7662672" y="2743200"/>
            <a:ext cx="1024128" cy="548640"/>
          </a:xfrm>
          <a:prstGeom prst="roundRect">
            <a:avLst>
              <a:gd name="adj" fmla="val 13333"/>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43" name="Text 40"/>
          <p:cNvSpPr txBox="1"/>
          <p:nvPr/>
        </p:nvSpPr>
        <p:spPr>
          <a:xfrm>
            <a:off x="7708392" y="2743200"/>
            <a:ext cx="932688" cy="548640"/>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Buat poster</a:t>
            </a:r>
            <a:endParaRPr lang="en-US" sz="1200" dirty="0"/>
          </a:p>
        </p:txBody>
      </p:sp>
      <p:sp>
        <p:nvSpPr>
          <p:cNvPr id="44" name="Shape 41"/>
          <p:cNvSpPr/>
          <p:nvPr/>
        </p:nvSpPr>
        <p:spPr>
          <a:xfrm>
            <a:off x="7662672" y="3474720"/>
            <a:ext cx="1024128" cy="548640"/>
          </a:xfrm>
          <a:prstGeom prst="roundRect">
            <a:avLst>
              <a:gd name="adj" fmla="val 13333"/>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45" name="Text 42"/>
          <p:cNvSpPr txBox="1"/>
          <p:nvPr/>
        </p:nvSpPr>
        <p:spPr>
          <a:xfrm>
            <a:off x="7708392" y="3474720"/>
            <a:ext cx="932688" cy="548640"/>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Sebar undangan</a:t>
            </a:r>
            <a:endParaRPr lang="en-US" sz="12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Pilar 2 · Pengenalan Pola</a:t>
            </a:r>
            <a:endParaRPr lang="en-US" sz="2800" dirty="0"/>
          </a:p>
        </p:txBody>
      </p:sp>
      <p:sp>
        <p:nvSpPr>
          <p:cNvPr id="3" name="icon circle"/>
          <p:cNvSpPr/>
          <p:nvPr/>
        </p:nvSpPr>
        <p:spPr>
          <a:xfrm>
            <a:off x="457200" y="1097280"/>
            <a:ext cx="548640" cy="548640"/>
          </a:xfrm>
          <a:prstGeom prst="ellipse">
            <a:avLst/>
          </a:prstGeom>
          <a:solidFill>
            <a:schemeClr val="accent2"/>
          </a:solidFill>
          <a:ln w="12700">
            <a:solidFill>
              <a:schemeClr val="accent2"/>
            </a:solidFill>
            <a:prstDash val="solid"/>
          </a:ln>
        </p:spPr>
      </p:sp>
      <p:pic>
        <p:nvPicPr>
          <p:cNvPr id="4" name="icon" descr="preencoded.png">    </p:cNvPr>
          <p:cNvPicPr>
            <a:picLocks noChangeAspect="1"/>
          </p:cNvPicPr>
          <p:nvPr/>
        </p:nvPicPr>
        <p:blipFill>
          <a:blip r:embed="rId1"/>
          <a:stretch>
            <a:fillRect/>
          </a:stretch>
        </p:blipFill>
        <p:spPr>
          <a:xfrm>
            <a:off x="605333" y="1245413"/>
            <a:ext cx="252374" cy="252374"/>
          </a:xfrm>
          <a:prstGeom prst="rect">
            <a:avLst/>
          </a:prstGeom>
        </p:spPr>
      </p:pic>
      <p:sp>
        <p:nvSpPr>
          <p:cNvPr id="5" name="Text 2"/>
          <p:cNvSpPr txBox="1"/>
          <p:nvPr/>
        </p:nvSpPr>
        <p:spPr>
          <a:xfrm>
            <a:off x="1143000" y="1051560"/>
            <a:ext cx="3200400"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Mencari kesamaan, keteraturan, atau tren di dalam masalah. Pola yang sudah dikenali bisa dipakai ulang untuk menyelesaikan masalah serupa.</a:t>
            </a:r>
            <a:endParaRPr lang="en-US" sz="1400" dirty="0"/>
          </a:p>
        </p:txBody>
      </p:sp>
      <p:pic>
        <p:nvPicPr>
          <p:cNvPr id="6" name="Ilustrasi pola" descr="preencoded.png">    </p:cNvPr>
          <p:cNvPicPr>
            <a:picLocks noChangeAspect="1"/>
          </p:cNvPicPr>
          <p:nvPr/>
        </p:nvPicPr>
        <p:blipFill>
          <a:blip r:embed="rId2"/>
          <a:stretch>
            <a:fillRect/>
          </a:stretch>
        </p:blipFill>
        <p:spPr>
          <a:xfrm>
            <a:off x="457200" y="2240280"/>
            <a:ext cx="3886200" cy="1880419"/>
          </a:xfrm>
          <a:prstGeom prst="rect">
            <a:avLst/>
          </a:prstGeom>
        </p:spPr>
      </p:pic>
      <p:sp>
        <p:nvSpPr>
          <p:cNvPr id="7" name="Text 3"/>
          <p:cNvSpPr txBox="1"/>
          <p:nvPr/>
        </p:nvSpPr>
        <p:spPr>
          <a:xfrm>
            <a:off x="457200" y="4224528"/>
            <a:ext cx="3886200" cy="274320"/>
          </a:xfrm>
          <a:prstGeom prst="rect">
            <a:avLst/>
          </a:prstGeom>
          <a:noFill/>
          <a:ln/>
        </p:spPr>
        <p:txBody>
          <a:bodyPr wrap="square" lIns="0" tIns="0" rIns="0" bIns="0" rtlCol="0" anchor="t"/>
          <a:lstStyle/>
          <a:p>
            <a:pPr algn="ctr" indent="0" marL="0">
              <a:buNone/>
            </a:pPr>
            <a:r>
              <a:rPr lang="en-US" sz="1200" i="1" dirty="0">
                <a:solidFill>
                  <a:schemeClr val="accent5"/>
                </a:solidFill>
                <a:latin typeface="Calibri" pitchFamily="34" charset="0"/>
                <a:ea typeface="Calibri" pitchFamily="34" charset="-122"/>
                <a:cs typeface="Calibri" pitchFamily="34" charset="-120"/>
              </a:rPr>
              <a:t>Bentuk berulang: lingkaran → persegi → segitiga</a:t>
            </a:r>
            <a:endParaRPr lang="en-US" sz="1200" dirty="0"/>
          </a:p>
        </p:txBody>
      </p:sp>
      <p:sp>
        <p:nvSpPr>
          <p:cNvPr id="8" name="Contoh bilangan"/>
          <p:cNvSpPr/>
          <p:nvPr/>
        </p:nvSpPr>
        <p:spPr>
          <a:xfrm>
            <a:off x="4709160" y="1097280"/>
            <a:ext cx="3977640" cy="1783080"/>
          </a:xfrm>
          <a:prstGeom prst="roundRect">
            <a:avLst>
              <a:gd name="adj" fmla="val 6154"/>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9" name="Text 5"/>
          <p:cNvSpPr txBox="1"/>
          <p:nvPr/>
        </p:nvSpPr>
        <p:spPr>
          <a:xfrm>
            <a:off x="4892040" y="1188720"/>
            <a:ext cx="3657600" cy="27432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Contoh: barisan bilangan</a:t>
            </a:r>
            <a:endParaRPr lang="en-US" sz="1400" dirty="0"/>
          </a:p>
        </p:txBody>
      </p:sp>
      <p:sp>
        <p:nvSpPr>
          <p:cNvPr id="10" name="Shape 6"/>
          <p:cNvSpPr/>
          <p:nvPr/>
        </p:nvSpPr>
        <p:spPr>
          <a:xfrm>
            <a:off x="4937760" y="1600200"/>
            <a:ext cx="548640" cy="502920"/>
          </a:xfrm>
          <a:prstGeom prst="roundRect">
            <a:avLst>
              <a:gd name="adj" fmla="val 14545"/>
            </a:avLst>
          </a:prstGeom>
          <a:solidFill>
            <a:srgbClr val="FDEFD6"/>
          </a:solidFill>
          <a:ln w="12700">
            <a:solidFill>
              <a:schemeClr val="accent2"/>
            </a:solidFill>
            <a:prstDash val="solid"/>
          </a:ln>
        </p:spPr>
      </p:sp>
      <p:sp>
        <p:nvSpPr>
          <p:cNvPr id="11" name="Text 7"/>
          <p:cNvSpPr txBox="1"/>
          <p:nvPr/>
        </p:nvSpPr>
        <p:spPr>
          <a:xfrm>
            <a:off x="4937760" y="1600200"/>
            <a:ext cx="548640" cy="50292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2</a:t>
            </a:r>
            <a:endParaRPr lang="en-US" sz="1800" dirty="0"/>
          </a:p>
        </p:txBody>
      </p:sp>
      <p:sp>
        <p:nvSpPr>
          <p:cNvPr id="12" name="Text 8"/>
          <p:cNvSpPr txBox="1"/>
          <p:nvPr/>
        </p:nvSpPr>
        <p:spPr>
          <a:xfrm>
            <a:off x="5413248" y="2130552"/>
            <a:ext cx="365760" cy="228600"/>
          </a:xfrm>
          <a:prstGeom prst="rect">
            <a:avLst/>
          </a:prstGeom>
          <a:noFill/>
          <a:ln/>
        </p:spPr>
        <p:txBody>
          <a:bodyPr wrap="square" lIns="0" tIns="0" rIns="0" bIns="0" rtlCol="0" anchor="t"/>
          <a:lstStyle/>
          <a:p>
            <a:pPr algn="ctr" indent="0" marL="0">
              <a:buNone/>
            </a:pPr>
            <a:r>
              <a:rPr lang="en-US" sz="1100" b="1" dirty="0">
                <a:solidFill>
                  <a:schemeClr val="accent2"/>
                </a:solidFill>
                <a:latin typeface="Calibri" pitchFamily="34" charset="0"/>
                <a:ea typeface="Calibri" pitchFamily="34" charset="-122"/>
                <a:cs typeface="Calibri" pitchFamily="34" charset="-120"/>
              </a:rPr>
              <a:t>+3</a:t>
            </a:r>
            <a:endParaRPr lang="en-US" sz="1100" dirty="0"/>
          </a:p>
        </p:txBody>
      </p:sp>
      <p:sp>
        <p:nvSpPr>
          <p:cNvPr id="13" name="Shape 9"/>
          <p:cNvSpPr/>
          <p:nvPr/>
        </p:nvSpPr>
        <p:spPr>
          <a:xfrm>
            <a:off x="5687568" y="1600200"/>
            <a:ext cx="548640" cy="502920"/>
          </a:xfrm>
          <a:prstGeom prst="roundRect">
            <a:avLst>
              <a:gd name="adj" fmla="val 14545"/>
            </a:avLst>
          </a:prstGeom>
          <a:solidFill>
            <a:srgbClr val="FDEFD6"/>
          </a:solidFill>
          <a:ln w="12700">
            <a:solidFill>
              <a:schemeClr val="accent2"/>
            </a:solidFill>
            <a:prstDash val="solid"/>
          </a:ln>
        </p:spPr>
      </p:sp>
      <p:sp>
        <p:nvSpPr>
          <p:cNvPr id="14" name="Text 10"/>
          <p:cNvSpPr txBox="1"/>
          <p:nvPr/>
        </p:nvSpPr>
        <p:spPr>
          <a:xfrm>
            <a:off x="5687568" y="1600200"/>
            <a:ext cx="548640" cy="50292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5</a:t>
            </a:r>
            <a:endParaRPr lang="en-US" sz="1800" dirty="0"/>
          </a:p>
        </p:txBody>
      </p:sp>
      <p:sp>
        <p:nvSpPr>
          <p:cNvPr id="15" name="Text 11"/>
          <p:cNvSpPr txBox="1"/>
          <p:nvPr/>
        </p:nvSpPr>
        <p:spPr>
          <a:xfrm>
            <a:off x="6163056" y="2130552"/>
            <a:ext cx="365760" cy="228600"/>
          </a:xfrm>
          <a:prstGeom prst="rect">
            <a:avLst/>
          </a:prstGeom>
          <a:noFill/>
          <a:ln/>
        </p:spPr>
        <p:txBody>
          <a:bodyPr wrap="square" lIns="0" tIns="0" rIns="0" bIns="0" rtlCol="0" anchor="t"/>
          <a:lstStyle/>
          <a:p>
            <a:pPr algn="ctr" indent="0" marL="0">
              <a:buNone/>
            </a:pPr>
            <a:r>
              <a:rPr lang="en-US" sz="1100" b="1" dirty="0">
                <a:solidFill>
                  <a:schemeClr val="accent2"/>
                </a:solidFill>
                <a:latin typeface="Calibri" pitchFamily="34" charset="0"/>
                <a:ea typeface="Calibri" pitchFamily="34" charset="-122"/>
                <a:cs typeface="Calibri" pitchFamily="34" charset="-120"/>
              </a:rPr>
              <a:t>+3</a:t>
            </a:r>
            <a:endParaRPr lang="en-US" sz="1100" dirty="0"/>
          </a:p>
        </p:txBody>
      </p:sp>
      <p:sp>
        <p:nvSpPr>
          <p:cNvPr id="16" name="Shape 12"/>
          <p:cNvSpPr/>
          <p:nvPr/>
        </p:nvSpPr>
        <p:spPr>
          <a:xfrm>
            <a:off x="6437376" y="1600200"/>
            <a:ext cx="548640" cy="502920"/>
          </a:xfrm>
          <a:prstGeom prst="roundRect">
            <a:avLst>
              <a:gd name="adj" fmla="val 14545"/>
            </a:avLst>
          </a:prstGeom>
          <a:solidFill>
            <a:srgbClr val="FDEFD6"/>
          </a:solidFill>
          <a:ln w="12700">
            <a:solidFill>
              <a:schemeClr val="accent2"/>
            </a:solidFill>
            <a:prstDash val="solid"/>
          </a:ln>
        </p:spPr>
      </p:sp>
      <p:sp>
        <p:nvSpPr>
          <p:cNvPr id="17" name="Text 13"/>
          <p:cNvSpPr txBox="1"/>
          <p:nvPr/>
        </p:nvSpPr>
        <p:spPr>
          <a:xfrm>
            <a:off x="6437376" y="1600200"/>
            <a:ext cx="548640" cy="50292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8</a:t>
            </a:r>
            <a:endParaRPr lang="en-US" sz="1800" dirty="0"/>
          </a:p>
        </p:txBody>
      </p:sp>
      <p:sp>
        <p:nvSpPr>
          <p:cNvPr id="18" name="Text 14"/>
          <p:cNvSpPr txBox="1"/>
          <p:nvPr/>
        </p:nvSpPr>
        <p:spPr>
          <a:xfrm>
            <a:off x="6912864" y="2130552"/>
            <a:ext cx="365760" cy="228600"/>
          </a:xfrm>
          <a:prstGeom prst="rect">
            <a:avLst/>
          </a:prstGeom>
          <a:noFill/>
          <a:ln/>
        </p:spPr>
        <p:txBody>
          <a:bodyPr wrap="square" lIns="0" tIns="0" rIns="0" bIns="0" rtlCol="0" anchor="t"/>
          <a:lstStyle/>
          <a:p>
            <a:pPr algn="ctr" indent="0" marL="0">
              <a:buNone/>
            </a:pPr>
            <a:r>
              <a:rPr lang="en-US" sz="1100" b="1" dirty="0">
                <a:solidFill>
                  <a:schemeClr val="accent2"/>
                </a:solidFill>
                <a:latin typeface="Calibri" pitchFamily="34" charset="0"/>
                <a:ea typeface="Calibri" pitchFamily="34" charset="-122"/>
                <a:cs typeface="Calibri" pitchFamily="34" charset="-120"/>
              </a:rPr>
              <a:t>+3</a:t>
            </a:r>
            <a:endParaRPr lang="en-US" sz="1100" dirty="0"/>
          </a:p>
        </p:txBody>
      </p:sp>
      <p:sp>
        <p:nvSpPr>
          <p:cNvPr id="19" name="Shape 15"/>
          <p:cNvSpPr/>
          <p:nvPr/>
        </p:nvSpPr>
        <p:spPr>
          <a:xfrm>
            <a:off x="7187184" y="1600200"/>
            <a:ext cx="548640" cy="502920"/>
          </a:xfrm>
          <a:prstGeom prst="roundRect">
            <a:avLst>
              <a:gd name="adj" fmla="val 14545"/>
            </a:avLst>
          </a:prstGeom>
          <a:solidFill>
            <a:srgbClr val="FDEFD6"/>
          </a:solidFill>
          <a:ln w="12700">
            <a:solidFill>
              <a:schemeClr val="accent2"/>
            </a:solidFill>
            <a:prstDash val="solid"/>
          </a:ln>
        </p:spPr>
      </p:sp>
      <p:sp>
        <p:nvSpPr>
          <p:cNvPr id="20" name="Text 16"/>
          <p:cNvSpPr txBox="1"/>
          <p:nvPr/>
        </p:nvSpPr>
        <p:spPr>
          <a:xfrm>
            <a:off x="7187184" y="1600200"/>
            <a:ext cx="548640" cy="50292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11</a:t>
            </a:r>
            <a:endParaRPr lang="en-US" sz="1800" dirty="0"/>
          </a:p>
        </p:txBody>
      </p:sp>
      <p:sp>
        <p:nvSpPr>
          <p:cNvPr id="21" name="Text 17"/>
          <p:cNvSpPr txBox="1"/>
          <p:nvPr/>
        </p:nvSpPr>
        <p:spPr>
          <a:xfrm>
            <a:off x="7662672" y="2130552"/>
            <a:ext cx="365760" cy="228600"/>
          </a:xfrm>
          <a:prstGeom prst="rect">
            <a:avLst/>
          </a:prstGeom>
          <a:noFill/>
          <a:ln/>
        </p:spPr>
        <p:txBody>
          <a:bodyPr wrap="square" lIns="0" tIns="0" rIns="0" bIns="0" rtlCol="0" anchor="t"/>
          <a:lstStyle/>
          <a:p>
            <a:pPr algn="ctr" indent="0" marL="0">
              <a:buNone/>
            </a:pPr>
            <a:r>
              <a:rPr lang="en-US" sz="1100" b="1" dirty="0">
                <a:solidFill>
                  <a:schemeClr val="accent2"/>
                </a:solidFill>
                <a:latin typeface="Calibri" pitchFamily="34" charset="0"/>
                <a:ea typeface="Calibri" pitchFamily="34" charset="-122"/>
                <a:cs typeface="Calibri" pitchFamily="34" charset="-120"/>
              </a:rPr>
              <a:t>+3</a:t>
            </a:r>
            <a:endParaRPr lang="en-US" sz="1100" dirty="0"/>
          </a:p>
        </p:txBody>
      </p:sp>
      <p:sp>
        <p:nvSpPr>
          <p:cNvPr id="22" name="Shape 18"/>
          <p:cNvSpPr/>
          <p:nvPr/>
        </p:nvSpPr>
        <p:spPr>
          <a:xfrm>
            <a:off x="7936992" y="1600200"/>
            <a:ext cx="548640" cy="502920"/>
          </a:xfrm>
          <a:prstGeom prst="roundRect">
            <a:avLst>
              <a:gd name="adj" fmla="val 14545"/>
            </a:avLst>
          </a:prstGeom>
          <a:solidFill>
            <a:schemeClr val="accent2"/>
          </a:solidFill>
          <a:ln w="12700">
            <a:solidFill>
              <a:schemeClr val="accent2"/>
            </a:solidFill>
            <a:prstDash val="solid"/>
          </a:ln>
        </p:spPr>
      </p:sp>
      <p:sp>
        <p:nvSpPr>
          <p:cNvPr id="23" name="Text 19"/>
          <p:cNvSpPr txBox="1"/>
          <p:nvPr/>
        </p:nvSpPr>
        <p:spPr>
          <a:xfrm>
            <a:off x="7936992" y="1600200"/>
            <a:ext cx="548640" cy="50292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a:t>
            </a:r>
            <a:endParaRPr lang="en-US" sz="1800" dirty="0"/>
          </a:p>
        </p:txBody>
      </p:sp>
      <p:sp>
        <p:nvSpPr>
          <p:cNvPr id="24" name="Text 20"/>
          <p:cNvSpPr txBox="1"/>
          <p:nvPr/>
        </p:nvSpPr>
        <p:spPr>
          <a:xfrm>
            <a:off x="4892040" y="2377440"/>
            <a:ext cx="3657600" cy="45720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Pola: </a:t>
            </a:r>
            <a:pPr indent="0" marL="0">
              <a:buNone/>
            </a:pPr>
            <a:r>
              <a:rPr lang="en-US" sz="1300" dirty="0">
                <a:solidFill>
                  <a:schemeClr val="tx1"/>
                </a:solidFill>
                <a:latin typeface="Calibri" pitchFamily="34" charset="0"/>
                <a:ea typeface="Calibri" pitchFamily="34" charset="-122"/>
                <a:cs typeface="Calibri" pitchFamily="34" charset="-120"/>
              </a:rPr>
              <a:t>selalu bertambah 3, jadi suku berikutnya 14 dan suku ke-n = 3n − 1.</a:t>
            </a:r>
            <a:endParaRPr lang="en-US" sz="1300" dirty="0"/>
          </a:p>
        </p:txBody>
      </p:sp>
      <p:sp>
        <p:nvSpPr>
          <p:cNvPr id="25" name="Text 21"/>
          <p:cNvSpPr txBox="1"/>
          <p:nvPr/>
        </p:nvSpPr>
        <p:spPr>
          <a:xfrm>
            <a:off x="4709160" y="3017520"/>
            <a:ext cx="3977640" cy="27432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Pola dalam keseharian</a:t>
            </a:r>
            <a:endParaRPr lang="en-US" sz="1400" dirty="0"/>
          </a:p>
        </p:txBody>
      </p:sp>
      <p:pic>
        <p:nvPicPr>
          <p:cNvPr id="26" name="Image 2" descr="preencoded.png">    </p:cNvPr>
          <p:cNvPicPr>
            <a:picLocks noChangeAspect="1"/>
          </p:cNvPicPr>
          <p:nvPr/>
        </p:nvPicPr>
        <p:blipFill>
          <a:blip r:embed="rId3"/>
          <a:stretch>
            <a:fillRect/>
          </a:stretch>
        </p:blipFill>
        <p:spPr>
          <a:xfrm>
            <a:off x="4709160" y="3401568"/>
            <a:ext cx="246888" cy="246888"/>
          </a:xfrm>
          <a:prstGeom prst="rect">
            <a:avLst/>
          </a:prstGeom>
        </p:spPr>
      </p:pic>
      <p:sp>
        <p:nvSpPr>
          <p:cNvPr id="27" name="Text 22"/>
          <p:cNvSpPr txBox="1"/>
          <p:nvPr/>
        </p:nvSpPr>
        <p:spPr>
          <a:xfrm>
            <a:off x="5074920" y="3364992"/>
            <a:ext cx="3611880" cy="329184"/>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Jalanan padat pada jam berangkat dan pulang kerja</a:t>
            </a:r>
            <a:endParaRPr lang="en-US" sz="1300" dirty="0"/>
          </a:p>
        </p:txBody>
      </p:sp>
      <p:pic>
        <p:nvPicPr>
          <p:cNvPr id="28" name="Image 3" descr="preencoded.png">    </p:cNvPr>
          <p:cNvPicPr>
            <a:picLocks noChangeAspect="1"/>
          </p:cNvPicPr>
          <p:nvPr/>
        </p:nvPicPr>
        <p:blipFill>
          <a:blip r:embed="rId4"/>
          <a:stretch>
            <a:fillRect/>
          </a:stretch>
        </p:blipFill>
        <p:spPr>
          <a:xfrm>
            <a:off x="4709160" y="3785616"/>
            <a:ext cx="246888" cy="246888"/>
          </a:xfrm>
          <a:prstGeom prst="rect">
            <a:avLst/>
          </a:prstGeom>
        </p:spPr>
      </p:pic>
      <p:sp>
        <p:nvSpPr>
          <p:cNvPr id="29" name="Text 23"/>
          <p:cNvSpPr txBox="1"/>
          <p:nvPr/>
        </p:nvSpPr>
        <p:spPr>
          <a:xfrm>
            <a:off x="5074920" y="3749040"/>
            <a:ext cx="3611880" cy="329184"/>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Menu kantin yang berulang setiap minggu</a:t>
            </a:r>
            <a:endParaRPr lang="en-US" sz="1300" dirty="0"/>
          </a:p>
        </p:txBody>
      </p:sp>
      <p:pic>
        <p:nvPicPr>
          <p:cNvPr id="30" name="Image 4" descr="preencoded.png">    </p:cNvPr>
          <p:cNvPicPr>
            <a:picLocks noChangeAspect="1"/>
          </p:cNvPicPr>
          <p:nvPr/>
        </p:nvPicPr>
        <p:blipFill>
          <a:blip r:embed="rId5"/>
          <a:stretch>
            <a:fillRect/>
          </a:stretch>
        </p:blipFill>
        <p:spPr>
          <a:xfrm>
            <a:off x="4709160" y="4169664"/>
            <a:ext cx="246888" cy="246888"/>
          </a:xfrm>
          <a:prstGeom prst="rect">
            <a:avLst/>
          </a:prstGeom>
        </p:spPr>
      </p:pic>
      <p:sp>
        <p:nvSpPr>
          <p:cNvPr id="31" name="Text 24"/>
          <p:cNvSpPr txBox="1"/>
          <p:nvPr/>
        </p:nvSpPr>
        <p:spPr>
          <a:xfrm>
            <a:off x="5074920" y="4133088"/>
            <a:ext cx="3611880" cy="329184"/>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Penjualan payung naik saat musim hujan</a:t>
            </a:r>
            <a:endParaRPr lang="en-US" sz="13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Pilar 3 · Abstraksi</a:t>
            </a:r>
            <a:endParaRPr lang="en-US" sz="2800" dirty="0"/>
          </a:p>
        </p:txBody>
      </p:sp>
      <p:sp>
        <p:nvSpPr>
          <p:cNvPr id="3" name="icon circle"/>
          <p:cNvSpPr/>
          <p:nvPr/>
        </p:nvSpPr>
        <p:spPr>
          <a:xfrm>
            <a:off x="457200" y="1097280"/>
            <a:ext cx="548640" cy="548640"/>
          </a:xfrm>
          <a:prstGeom prst="ellipse">
            <a:avLst/>
          </a:prstGeom>
          <a:solidFill>
            <a:schemeClr val="accent4"/>
          </a:solidFill>
          <a:ln w="12700">
            <a:solidFill>
              <a:schemeClr val="accent4"/>
            </a:solidFill>
            <a:prstDash val="solid"/>
          </a:ln>
        </p:spPr>
      </p:sp>
      <p:pic>
        <p:nvPicPr>
          <p:cNvPr id="4" name="icon" descr="preencoded.png">    </p:cNvPr>
          <p:cNvPicPr>
            <a:picLocks noChangeAspect="1"/>
          </p:cNvPicPr>
          <p:nvPr/>
        </p:nvPicPr>
        <p:blipFill>
          <a:blip r:embed="rId1"/>
          <a:stretch>
            <a:fillRect/>
          </a:stretch>
        </p:blipFill>
        <p:spPr>
          <a:xfrm>
            <a:off x="605333" y="1245413"/>
            <a:ext cx="252374" cy="252374"/>
          </a:xfrm>
          <a:prstGeom prst="rect">
            <a:avLst/>
          </a:prstGeom>
        </p:spPr>
      </p:pic>
      <p:sp>
        <p:nvSpPr>
          <p:cNvPr id="5" name="Text 2"/>
          <p:cNvSpPr txBox="1"/>
          <p:nvPr/>
        </p:nvSpPr>
        <p:spPr>
          <a:xfrm>
            <a:off x="1143000" y="1051560"/>
            <a:ext cx="7498080" cy="594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Menyaring informasi: mempertahankan hal yang penting untuk menyelesaikan masalah dan mengabaikan detail yang tidak diperlukan.</a:t>
            </a:r>
            <a:endParaRPr lang="en-US" sz="1400" dirty="0"/>
          </a:p>
        </p:txBody>
      </p:sp>
      <p:pic>
        <p:nvPicPr>
          <p:cNvPr id="6" name="Ilustrasi abstraksi peta" descr="preencoded.png">    </p:cNvPr>
          <p:cNvPicPr>
            <a:picLocks noChangeAspect="1"/>
          </p:cNvPicPr>
          <p:nvPr/>
        </p:nvPicPr>
        <p:blipFill>
          <a:blip r:embed="rId2"/>
          <a:stretch>
            <a:fillRect/>
          </a:stretch>
        </p:blipFill>
        <p:spPr>
          <a:xfrm>
            <a:off x="457200" y="1828800"/>
            <a:ext cx="4206240" cy="1802674"/>
          </a:xfrm>
          <a:prstGeom prst="rect">
            <a:avLst/>
          </a:prstGeom>
        </p:spPr>
      </p:pic>
      <p:sp>
        <p:nvSpPr>
          <p:cNvPr id="7" name="Text 3"/>
          <p:cNvSpPr txBox="1"/>
          <p:nvPr/>
        </p:nvSpPr>
        <p:spPr>
          <a:xfrm>
            <a:off x="457200" y="3703320"/>
            <a:ext cx="4206240" cy="457200"/>
          </a:xfrm>
          <a:prstGeom prst="rect">
            <a:avLst/>
          </a:prstGeom>
          <a:noFill/>
          <a:ln/>
        </p:spPr>
        <p:txBody>
          <a:bodyPr wrap="square" lIns="0" tIns="0" rIns="0" bIns="0" rtlCol="0" anchor="t"/>
          <a:lstStyle/>
          <a:p>
            <a:pPr algn="ctr" indent="0" marL="0">
              <a:buNone/>
            </a:pPr>
            <a:r>
              <a:rPr lang="en-US" sz="1200" i="1" dirty="0">
                <a:solidFill>
                  <a:schemeClr val="accent5"/>
                </a:solidFill>
                <a:latin typeface="Calibri" pitchFamily="34" charset="0"/>
                <a:ea typeface="Calibri" pitchFamily="34" charset="-122"/>
                <a:cs typeface="Calibri" pitchFamily="34" charset="-120"/>
              </a:rPr>
              <a:t>Peta kota yang detail  →  peta jalur kereta yang hanya memuat stasiun dan urutannya</a:t>
            </a:r>
            <a:endParaRPr lang="en-US" sz="1200" dirty="0"/>
          </a:p>
        </p:txBody>
      </p:sp>
      <p:sp>
        <p:nvSpPr>
          <p:cNvPr id="8" name="Contoh abstraksi"/>
          <p:cNvSpPr/>
          <p:nvPr/>
        </p:nvSpPr>
        <p:spPr>
          <a:xfrm>
            <a:off x="4983480" y="1828800"/>
            <a:ext cx="3703320" cy="2651760"/>
          </a:xfrm>
          <a:prstGeom prst="roundRect">
            <a:avLst>
              <a:gd name="adj" fmla="val 4138"/>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9" name="Text 5"/>
          <p:cNvSpPr txBox="1"/>
          <p:nvPr/>
        </p:nvSpPr>
        <p:spPr>
          <a:xfrm>
            <a:off x="5166360" y="1920240"/>
            <a:ext cx="3383280" cy="50292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Kasus: menghitung kebutuhan keramik lantai kelas</a:t>
            </a:r>
            <a:endParaRPr lang="en-US" sz="1400" dirty="0"/>
          </a:p>
        </p:txBody>
      </p:sp>
      <p:pic>
        <p:nvPicPr>
          <p:cNvPr id="10" name="Image 2" descr="preencoded.png">    </p:cNvPr>
          <p:cNvPicPr>
            <a:picLocks noChangeAspect="1"/>
          </p:cNvPicPr>
          <p:nvPr/>
        </p:nvPicPr>
        <p:blipFill>
          <a:blip r:embed="rId3"/>
          <a:stretch>
            <a:fillRect/>
          </a:stretch>
        </p:blipFill>
        <p:spPr>
          <a:xfrm>
            <a:off x="5166360" y="2542032"/>
            <a:ext cx="237744" cy="237744"/>
          </a:xfrm>
          <a:prstGeom prst="rect">
            <a:avLst/>
          </a:prstGeom>
        </p:spPr>
      </p:pic>
      <p:sp>
        <p:nvSpPr>
          <p:cNvPr id="11" name="Text 6"/>
          <p:cNvSpPr txBox="1"/>
          <p:nvPr/>
        </p:nvSpPr>
        <p:spPr>
          <a:xfrm>
            <a:off x="5486400" y="2514600"/>
            <a:ext cx="1371600" cy="274320"/>
          </a:xfrm>
          <a:prstGeom prst="rect">
            <a:avLst/>
          </a:prstGeom>
          <a:noFill/>
          <a:ln/>
        </p:spPr>
        <p:txBody>
          <a:bodyPr wrap="square" lIns="0" tIns="0" rIns="0" bIns="0" rtlCol="0" anchor="t"/>
          <a:lstStyle/>
          <a:p>
            <a:pPr indent="0" marL="0">
              <a:buNone/>
            </a:pPr>
            <a:r>
              <a:rPr lang="en-US" sz="1300" b="1" dirty="0">
                <a:solidFill>
                  <a:schemeClr val="accent6"/>
                </a:solidFill>
                <a:latin typeface="Calibri" pitchFamily="34" charset="0"/>
                <a:ea typeface="Calibri" pitchFamily="34" charset="-122"/>
                <a:cs typeface="Calibri" pitchFamily="34" charset="-120"/>
              </a:rPr>
              <a:t>Penting</a:t>
            </a:r>
            <a:endParaRPr lang="en-US" sz="1300" dirty="0"/>
          </a:p>
        </p:txBody>
      </p:sp>
      <p:sp>
        <p:nvSpPr>
          <p:cNvPr id="12" name="Text 7"/>
          <p:cNvSpPr txBox="1"/>
          <p:nvPr/>
        </p:nvSpPr>
        <p:spPr>
          <a:xfrm>
            <a:off x="5166360" y="2834640"/>
            <a:ext cx="1645920" cy="10972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latin typeface="Calibri" pitchFamily="34" charset="0"/>
                <a:ea typeface="Calibri" pitchFamily="34" charset="-122"/>
                <a:cs typeface="Calibri" pitchFamily="34" charset="-120"/>
              </a:rPr>
              <a:t>Panjang lantai</a:t>
            </a:r>
            <a:endParaRPr lang="en-US" sz="1300" dirty="0"/>
          </a:p>
          <a:p>
            <a:pPr marL="342900" indent="-342900">
              <a:spcAft>
                <a:spcPts val="300"/>
              </a:spcAft>
              <a:buSzPct val="100000"/>
              <a:buChar char="•"/>
            </a:pPr>
            <a:r>
              <a:rPr lang="en-US" sz="1300" dirty="0">
                <a:solidFill>
                  <a:schemeClr val="tx1"/>
                </a:solidFill>
                <a:latin typeface="Calibri" pitchFamily="34" charset="0"/>
                <a:ea typeface="Calibri" pitchFamily="34" charset="-122"/>
                <a:cs typeface="Calibri" pitchFamily="34" charset="-120"/>
              </a:rPr>
              <a:t>Lebar lantai</a:t>
            </a:r>
            <a:endParaRPr lang="en-US" sz="1300" dirty="0"/>
          </a:p>
          <a:p>
            <a:pPr marL="342900" indent="-342900">
              <a:spcAft>
                <a:spcPts val="300"/>
              </a:spcAft>
              <a:buSzPct val="100000"/>
              <a:buChar char="•"/>
            </a:pPr>
            <a:r>
              <a:rPr lang="en-US" sz="1300" dirty="0">
                <a:solidFill>
                  <a:schemeClr val="tx1"/>
                </a:solidFill>
                <a:latin typeface="Calibri" pitchFamily="34" charset="0"/>
                <a:ea typeface="Calibri" pitchFamily="34" charset="-122"/>
                <a:cs typeface="Calibri" pitchFamily="34" charset="-120"/>
              </a:rPr>
              <a:t>Ukuran keramik</a:t>
            </a:r>
            <a:endParaRPr lang="en-US" sz="1300" dirty="0"/>
          </a:p>
        </p:txBody>
      </p:sp>
      <p:pic>
        <p:nvPicPr>
          <p:cNvPr id="13" name="Image 3" descr="preencoded.png">    </p:cNvPr>
          <p:cNvPicPr>
            <a:picLocks noChangeAspect="1"/>
          </p:cNvPicPr>
          <p:nvPr/>
        </p:nvPicPr>
        <p:blipFill>
          <a:blip r:embed="rId4"/>
          <a:stretch>
            <a:fillRect/>
          </a:stretch>
        </p:blipFill>
        <p:spPr>
          <a:xfrm>
            <a:off x="6903720" y="2542032"/>
            <a:ext cx="237744" cy="237744"/>
          </a:xfrm>
          <a:prstGeom prst="rect">
            <a:avLst/>
          </a:prstGeom>
        </p:spPr>
      </p:pic>
      <p:sp>
        <p:nvSpPr>
          <p:cNvPr id="14" name="Text 8"/>
          <p:cNvSpPr txBox="1"/>
          <p:nvPr/>
        </p:nvSpPr>
        <p:spPr>
          <a:xfrm>
            <a:off x="7223760" y="2514600"/>
            <a:ext cx="1371600" cy="274320"/>
          </a:xfrm>
          <a:prstGeom prst="rect">
            <a:avLst/>
          </a:prstGeom>
          <a:noFill/>
          <a:ln/>
        </p:spPr>
        <p:txBody>
          <a:bodyPr wrap="square" lIns="0" tIns="0" rIns="0" bIns="0" rtlCol="0" anchor="t"/>
          <a:lstStyle/>
          <a:p>
            <a:pPr indent="0" marL="0">
              <a:buNone/>
            </a:pPr>
            <a:r>
              <a:rPr lang="en-US" sz="1300" b="1" dirty="0">
                <a:solidFill>
                  <a:schemeClr val="accent3"/>
                </a:solidFill>
                <a:latin typeface="Calibri" pitchFamily="34" charset="0"/>
                <a:ea typeface="Calibri" pitchFamily="34" charset="-122"/>
                <a:cs typeface="Calibri" pitchFamily="34" charset="-120"/>
              </a:rPr>
              <a:t>Diabaikan</a:t>
            </a:r>
            <a:endParaRPr lang="en-US" sz="1300" dirty="0"/>
          </a:p>
        </p:txBody>
      </p:sp>
      <p:sp>
        <p:nvSpPr>
          <p:cNvPr id="15" name="Text 9"/>
          <p:cNvSpPr txBox="1"/>
          <p:nvPr/>
        </p:nvSpPr>
        <p:spPr>
          <a:xfrm>
            <a:off x="6903720" y="2834640"/>
            <a:ext cx="1691640" cy="10972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latin typeface="Calibri" pitchFamily="34" charset="0"/>
                <a:ea typeface="Calibri" pitchFamily="34" charset="-122"/>
                <a:cs typeface="Calibri" pitchFamily="34" charset="-120"/>
              </a:rPr>
              <a:t>Warna dinding</a:t>
            </a:r>
            <a:endParaRPr lang="en-US" sz="1300" dirty="0"/>
          </a:p>
          <a:p>
            <a:pPr marL="342900" indent="-342900">
              <a:spcAft>
                <a:spcPts val="300"/>
              </a:spcAft>
              <a:buSzPct val="100000"/>
              <a:buChar char="•"/>
            </a:pPr>
            <a:r>
              <a:rPr lang="en-US" sz="1300" dirty="0">
                <a:solidFill>
                  <a:schemeClr val="tx1"/>
                </a:solidFill>
                <a:latin typeface="Calibri" pitchFamily="34" charset="0"/>
                <a:ea typeface="Calibri" pitchFamily="34" charset="-122"/>
                <a:cs typeface="Calibri" pitchFamily="34" charset="-120"/>
              </a:rPr>
              <a:t>Jumlah meja</a:t>
            </a:r>
            <a:endParaRPr lang="en-US" sz="1300" dirty="0"/>
          </a:p>
          <a:p>
            <a:pPr marL="342900" indent="-342900">
              <a:spcAft>
                <a:spcPts val="300"/>
              </a:spcAft>
              <a:buSzPct val="100000"/>
              <a:buChar char="•"/>
            </a:pPr>
            <a:r>
              <a:rPr lang="en-US" sz="1300" dirty="0">
                <a:solidFill>
                  <a:schemeClr val="tx1"/>
                </a:solidFill>
                <a:latin typeface="Calibri" pitchFamily="34" charset="0"/>
                <a:ea typeface="Calibri" pitchFamily="34" charset="-122"/>
                <a:cs typeface="Calibri" pitchFamily="34" charset="-120"/>
              </a:rPr>
              <a:t>Nama wali kelas</a:t>
            </a:r>
            <a:endParaRPr lang="en-US" sz="1300" dirty="0"/>
          </a:p>
        </p:txBody>
      </p:sp>
      <p:sp>
        <p:nvSpPr>
          <p:cNvPr id="16" name="Text 10"/>
          <p:cNvSpPr txBox="1"/>
          <p:nvPr/>
        </p:nvSpPr>
        <p:spPr>
          <a:xfrm>
            <a:off x="5166360" y="3977640"/>
            <a:ext cx="3383280" cy="365760"/>
          </a:xfrm>
          <a:prstGeom prst="rect">
            <a:avLst/>
          </a:prstGeom>
          <a:noFill/>
          <a:ln/>
        </p:spPr>
        <p:txBody>
          <a:bodyPr wrap="square" lIns="0" tIns="0" rIns="0" bIns="0" rtlCol="0" anchor="t"/>
          <a:lstStyle/>
          <a:p>
            <a:pPr indent="0" marL="0">
              <a:buNone/>
            </a:pPr>
            <a:r>
              <a:rPr lang="en-US" sz="1300" b="1" i="1" dirty="0">
                <a:solidFill>
                  <a:schemeClr val="accent4"/>
                </a:solidFill>
                <a:latin typeface="Calibri" pitchFamily="34" charset="0"/>
                <a:ea typeface="Calibri" pitchFamily="34" charset="-122"/>
                <a:cs typeface="Calibri" pitchFamily="34" charset="-120"/>
              </a:rPr>
              <a:t>Model: (panjang × lebar) ÷ luas 1 keramik</a:t>
            </a:r>
            <a:endParaRPr lang="en-US" sz="13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Pilar 4 · Algoritma</a:t>
            </a:r>
            <a:endParaRPr lang="en-US" sz="2800" dirty="0"/>
          </a:p>
        </p:txBody>
      </p:sp>
      <p:sp>
        <p:nvSpPr>
          <p:cNvPr id="3" name="icon circle"/>
          <p:cNvSpPr/>
          <p:nvPr/>
        </p:nvSpPr>
        <p:spPr>
          <a:xfrm>
            <a:off x="457200" y="1097280"/>
            <a:ext cx="548640" cy="548640"/>
          </a:xfrm>
          <a:prstGeom prst="ellipse">
            <a:avLst/>
          </a:prstGeom>
          <a:solidFill>
            <a:schemeClr val="accent1"/>
          </a:solidFill>
          <a:ln w="12700">
            <a:solidFill>
              <a:schemeClr val="accent1"/>
            </a:solidFill>
            <a:prstDash val="solid"/>
          </a:ln>
        </p:spPr>
      </p:sp>
      <p:pic>
        <p:nvPicPr>
          <p:cNvPr id="4" name="icon" descr="preencoded.png">    </p:cNvPr>
          <p:cNvPicPr>
            <a:picLocks noChangeAspect="1"/>
          </p:cNvPicPr>
          <p:nvPr/>
        </p:nvPicPr>
        <p:blipFill>
          <a:blip r:embed="rId1"/>
          <a:stretch>
            <a:fillRect/>
          </a:stretch>
        </p:blipFill>
        <p:spPr>
          <a:xfrm>
            <a:off x="605333" y="1245413"/>
            <a:ext cx="252374" cy="252374"/>
          </a:xfrm>
          <a:prstGeom prst="rect">
            <a:avLst/>
          </a:prstGeom>
        </p:spPr>
      </p:pic>
      <p:sp>
        <p:nvSpPr>
          <p:cNvPr id="5" name="Text 2"/>
          <p:cNvSpPr txBox="1"/>
          <p:nvPr/>
        </p:nvSpPr>
        <p:spPr>
          <a:xfrm>
            <a:off x="1143000" y="1051560"/>
            <a:ext cx="356616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Urutan langkah yang logis, jelas, dan berhingga untuk menyelesaikan suatu masalah atau mencapai tujuan.</a:t>
            </a:r>
            <a:endParaRPr lang="en-US" sz="1400" dirty="0"/>
          </a:p>
        </p:txBody>
      </p:sp>
      <p:sp>
        <p:nvSpPr>
          <p:cNvPr id="6" name="Text 3"/>
          <p:cNvSpPr txBox="1"/>
          <p:nvPr/>
        </p:nvSpPr>
        <p:spPr>
          <a:xfrm>
            <a:off x="457200" y="2011680"/>
            <a:ext cx="4114800" cy="27432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Ciri algoritma yang baik</a:t>
            </a:r>
            <a:endParaRPr lang="en-US" sz="1500" dirty="0"/>
          </a:p>
        </p:txBody>
      </p:sp>
      <p:sp>
        <p:nvSpPr>
          <p:cNvPr id="7" name="Shape 4"/>
          <p:cNvSpPr/>
          <p:nvPr/>
        </p:nvSpPr>
        <p:spPr>
          <a:xfrm>
            <a:off x="457200" y="2377440"/>
            <a:ext cx="1051560" cy="347472"/>
          </a:xfrm>
          <a:prstGeom prst="roundRect">
            <a:avLst>
              <a:gd name="adj" fmla="val 21053"/>
            </a:avLst>
          </a:prstGeom>
          <a:solidFill>
            <a:schemeClr val="accent1"/>
          </a:solidFill>
          <a:ln w="12700">
            <a:solidFill>
              <a:schemeClr val="accent1"/>
            </a:solidFill>
            <a:prstDash val="solid"/>
          </a:ln>
        </p:spPr>
      </p:sp>
      <p:sp>
        <p:nvSpPr>
          <p:cNvPr id="8" name="Text 5"/>
          <p:cNvSpPr txBox="1"/>
          <p:nvPr/>
        </p:nvSpPr>
        <p:spPr>
          <a:xfrm>
            <a:off x="457200" y="2377440"/>
            <a:ext cx="1051560"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Input</a:t>
            </a:r>
            <a:endParaRPr lang="en-US" sz="1300" dirty="0"/>
          </a:p>
        </p:txBody>
      </p:sp>
      <p:sp>
        <p:nvSpPr>
          <p:cNvPr id="9" name="Text 6"/>
          <p:cNvSpPr txBox="1"/>
          <p:nvPr/>
        </p:nvSpPr>
        <p:spPr>
          <a:xfrm>
            <a:off x="1645920" y="2377440"/>
            <a:ext cx="3017520" cy="34747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Ada data masukan (nol atau lebih)</a:t>
            </a:r>
            <a:endParaRPr lang="en-US" sz="1300" dirty="0"/>
          </a:p>
        </p:txBody>
      </p:sp>
      <p:sp>
        <p:nvSpPr>
          <p:cNvPr id="10" name="Shape 7"/>
          <p:cNvSpPr/>
          <p:nvPr/>
        </p:nvSpPr>
        <p:spPr>
          <a:xfrm>
            <a:off x="457200" y="2807208"/>
            <a:ext cx="1051560" cy="347472"/>
          </a:xfrm>
          <a:prstGeom prst="roundRect">
            <a:avLst>
              <a:gd name="adj" fmla="val 21053"/>
            </a:avLst>
          </a:prstGeom>
          <a:solidFill>
            <a:schemeClr val="accent1"/>
          </a:solidFill>
          <a:ln w="12700">
            <a:solidFill>
              <a:schemeClr val="accent1"/>
            </a:solidFill>
            <a:prstDash val="solid"/>
          </a:ln>
        </p:spPr>
      </p:sp>
      <p:sp>
        <p:nvSpPr>
          <p:cNvPr id="11" name="Text 8"/>
          <p:cNvSpPr txBox="1"/>
          <p:nvPr/>
        </p:nvSpPr>
        <p:spPr>
          <a:xfrm>
            <a:off x="457200" y="2807208"/>
            <a:ext cx="1051560"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Output</a:t>
            </a:r>
            <a:endParaRPr lang="en-US" sz="1300" dirty="0"/>
          </a:p>
        </p:txBody>
      </p:sp>
      <p:sp>
        <p:nvSpPr>
          <p:cNvPr id="12" name="Text 9"/>
          <p:cNvSpPr txBox="1"/>
          <p:nvPr/>
        </p:nvSpPr>
        <p:spPr>
          <a:xfrm>
            <a:off x="1645920" y="2807208"/>
            <a:ext cx="3017520" cy="34747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Menghasilkan minimal satu keluaran</a:t>
            </a:r>
            <a:endParaRPr lang="en-US" sz="1300" dirty="0"/>
          </a:p>
        </p:txBody>
      </p:sp>
      <p:sp>
        <p:nvSpPr>
          <p:cNvPr id="13" name="Shape 10"/>
          <p:cNvSpPr/>
          <p:nvPr/>
        </p:nvSpPr>
        <p:spPr>
          <a:xfrm>
            <a:off x="457200" y="3236976"/>
            <a:ext cx="1051560" cy="347472"/>
          </a:xfrm>
          <a:prstGeom prst="roundRect">
            <a:avLst>
              <a:gd name="adj" fmla="val 21053"/>
            </a:avLst>
          </a:prstGeom>
          <a:solidFill>
            <a:schemeClr val="accent1"/>
          </a:solidFill>
          <a:ln w="12700">
            <a:solidFill>
              <a:schemeClr val="accent1"/>
            </a:solidFill>
            <a:prstDash val="solid"/>
          </a:ln>
        </p:spPr>
      </p:sp>
      <p:sp>
        <p:nvSpPr>
          <p:cNvPr id="14" name="Text 11"/>
          <p:cNvSpPr txBox="1"/>
          <p:nvPr/>
        </p:nvSpPr>
        <p:spPr>
          <a:xfrm>
            <a:off x="457200" y="3236976"/>
            <a:ext cx="1051560"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Jelas</a:t>
            </a:r>
            <a:endParaRPr lang="en-US" sz="1300" dirty="0"/>
          </a:p>
        </p:txBody>
      </p:sp>
      <p:sp>
        <p:nvSpPr>
          <p:cNvPr id="15" name="Text 12"/>
          <p:cNvSpPr txBox="1"/>
          <p:nvPr/>
        </p:nvSpPr>
        <p:spPr>
          <a:xfrm>
            <a:off x="1645920" y="3236976"/>
            <a:ext cx="3017520" cy="34747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Setiap langkah tidak bermakna ganda</a:t>
            </a:r>
            <a:endParaRPr lang="en-US" sz="1300" dirty="0"/>
          </a:p>
        </p:txBody>
      </p:sp>
      <p:sp>
        <p:nvSpPr>
          <p:cNvPr id="16" name="Shape 13"/>
          <p:cNvSpPr/>
          <p:nvPr/>
        </p:nvSpPr>
        <p:spPr>
          <a:xfrm>
            <a:off x="457200" y="3666744"/>
            <a:ext cx="1051560" cy="347472"/>
          </a:xfrm>
          <a:prstGeom prst="roundRect">
            <a:avLst>
              <a:gd name="adj" fmla="val 21053"/>
            </a:avLst>
          </a:prstGeom>
          <a:solidFill>
            <a:schemeClr val="accent1"/>
          </a:solidFill>
          <a:ln w="12700">
            <a:solidFill>
              <a:schemeClr val="accent1"/>
            </a:solidFill>
            <a:prstDash val="solid"/>
          </a:ln>
        </p:spPr>
      </p:sp>
      <p:sp>
        <p:nvSpPr>
          <p:cNvPr id="17" name="Text 14"/>
          <p:cNvSpPr txBox="1"/>
          <p:nvPr/>
        </p:nvSpPr>
        <p:spPr>
          <a:xfrm>
            <a:off x="457200" y="3666744"/>
            <a:ext cx="1051560"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Berhingga</a:t>
            </a:r>
            <a:endParaRPr lang="en-US" sz="1300" dirty="0"/>
          </a:p>
        </p:txBody>
      </p:sp>
      <p:sp>
        <p:nvSpPr>
          <p:cNvPr id="18" name="Text 15"/>
          <p:cNvSpPr txBox="1"/>
          <p:nvPr/>
        </p:nvSpPr>
        <p:spPr>
          <a:xfrm>
            <a:off x="1645920" y="3666744"/>
            <a:ext cx="3017520" cy="34747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Pasti berhenti setelah sejumlah langkah</a:t>
            </a:r>
            <a:endParaRPr lang="en-US" sz="1300" dirty="0"/>
          </a:p>
        </p:txBody>
      </p:sp>
      <p:sp>
        <p:nvSpPr>
          <p:cNvPr id="19" name="Shape 16"/>
          <p:cNvSpPr/>
          <p:nvPr/>
        </p:nvSpPr>
        <p:spPr>
          <a:xfrm>
            <a:off x="457200" y="4096512"/>
            <a:ext cx="1051560" cy="347472"/>
          </a:xfrm>
          <a:prstGeom prst="roundRect">
            <a:avLst>
              <a:gd name="adj" fmla="val 21053"/>
            </a:avLst>
          </a:prstGeom>
          <a:solidFill>
            <a:schemeClr val="accent1"/>
          </a:solidFill>
          <a:ln w="12700">
            <a:solidFill>
              <a:schemeClr val="accent1"/>
            </a:solidFill>
            <a:prstDash val="solid"/>
          </a:ln>
        </p:spPr>
      </p:sp>
      <p:sp>
        <p:nvSpPr>
          <p:cNvPr id="20" name="Text 17"/>
          <p:cNvSpPr txBox="1"/>
          <p:nvPr/>
        </p:nvSpPr>
        <p:spPr>
          <a:xfrm>
            <a:off x="457200" y="4096512"/>
            <a:ext cx="1051560"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Efektif</a:t>
            </a:r>
            <a:endParaRPr lang="en-US" sz="1300" dirty="0"/>
          </a:p>
        </p:txBody>
      </p:sp>
      <p:sp>
        <p:nvSpPr>
          <p:cNvPr id="21" name="Text 18"/>
          <p:cNvSpPr txBox="1"/>
          <p:nvPr/>
        </p:nvSpPr>
        <p:spPr>
          <a:xfrm>
            <a:off x="1645920" y="4096512"/>
            <a:ext cx="3017520" cy="34747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Langkahnya sederhana dan bisa dikerjakan</a:t>
            </a:r>
            <a:endParaRPr lang="en-US" sz="1300" dirty="0"/>
          </a:p>
        </p:txBody>
      </p:sp>
      <p:sp>
        <p:nvSpPr>
          <p:cNvPr id="22" name="Contoh algoritma"/>
          <p:cNvSpPr/>
          <p:nvPr/>
        </p:nvSpPr>
        <p:spPr>
          <a:xfrm>
            <a:off x="5029200" y="1097280"/>
            <a:ext cx="3657600" cy="3383280"/>
          </a:xfrm>
          <a:prstGeom prst="roundRect">
            <a:avLst>
              <a:gd name="adj" fmla="val 3243"/>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pic>
        <p:nvPicPr>
          <p:cNvPr id="23" name="Image 1" descr="preencoded.png">    </p:cNvPr>
          <p:cNvPicPr>
            <a:picLocks noChangeAspect="1"/>
          </p:cNvPicPr>
          <p:nvPr/>
        </p:nvPicPr>
        <p:blipFill>
          <a:blip r:embed="rId2"/>
          <a:stretch>
            <a:fillRect/>
          </a:stretch>
        </p:blipFill>
        <p:spPr>
          <a:xfrm>
            <a:off x="5230368" y="1261872"/>
            <a:ext cx="310896" cy="310896"/>
          </a:xfrm>
          <a:prstGeom prst="rect">
            <a:avLst/>
          </a:prstGeom>
        </p:spPr>
      </p:pic>
      <p:sp>
        <p:nvSpPr>
          <p:cNvPr id="24" name="Text 20"/>
          <p:cNvSpPr txBox="1"/>
          <p:nvPr/>
        </p:nvSpPr>
        <p:spPr>
          <a:xfrm>
            <a:off x="5623560" y="1234440"/>
            <a:ext cx="2926080" cy="36576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Contoh: menyeberang jalan</a:t>
            </a:r>
            <a:endParaRPr lang="en-US" sz="1400" dirty="0"/>
          </a:p>
        </p:txBody>
      </p:sp>
      <p:sp>
        <p:nvSpPr>
          <p:cNvPr id="25" name="Shape 21"/>
          <p:cNvSpPr/>
          <p:nvPr/>
        </p:nvSpPr>
        <p:spPr>
          <a:xfrm>
            <a:off x="5257800" y="1819656"/>
            <a:ext cx="329184" cy="329184"/>
          </a:xfrm>
          <a:prstGeom prst="ellipse">
            <a:avLst/>
          </a:prstGeom>
          <a:solidFill>
            <a:srgbClr val="D5F0EC"/>
          </a:solidFill>
          <a:ln w="12700">
            <a:solidFill>
              <a:srgbClr val="14A098"/>
            </a:solidFill>
            <a:prstDash val="solid"/>
          </a:ln>
        </p:spPr>
      </p:sp>
      <p:sp>
        <p:nvSpPr>
          <p:cNvPr id="26" name="Text 22"/>
          <p:cNvSpPr txBox="1"/>
          <p:nvPr/>
        </p:nvSpPr>
        <p:spPr>
          <a:xfrm>
            <a:off x="5257800" y="1819656"/>
            <a:ext cx="329184" cy="329184"/>
          </a:xfrm>
          <a:prstGeom prst="rect">
            <a:avLst/>
          </a:prstGeom>
          <a:noFill/>
          <a:ln/>
        </p:spPr>
        <p:txBody>
          <a:bodyPr wrap="square" lIns="0" tIns="0" rIns="0" bIns="0" rtlCol="0" anchor="ctr"/>
          <a:lstStyle/>
          <a:p>
            <a:pPr algn="ctr" indent="0" marL="0">
              <a:buNone/>
            </a:pPr>
            <a:r>
              <a:rPr lang="en-US" sz="1200" b="1" dirty="0">
                <a:solidFill>
                  <a:schemeClr val="accent1"/>
                </a:solidFill>
                <a:latin typeface="Calibri" pitchFamily="34" charset="0"/>
                <a:ea typeface="Calibri" pitchFamily="34" charset="-122"/>
                <a:cs typeface="Calibri" pitchFamily="34" charset="-120"/>
              </a:rPr>
              <a:t>1</a:t>
            </a:r>
            <a:endParaRPr lang="en-US" sz="1200" dirty="0"/>
          </a:p>
        </p:txBody>
      </p:sp>
      <p:sp>
        <p:nvSpPr>
          <p:cNvPr id="27" name="Text 23"/>
          <p:cNvSpPr txBox="1"/>
          <p:nvPr/>
        </p:nvSpPr>
        <p:spPr>
          <a:xfrm>
            <a:off x="5715000" y="1783080"/>
            <a:ext cx="2834640" cy="402336"/>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Berdiri di tepi zebra cross</a:t>
            </a:r>
            <a:endParaRPr lang="en-US" sz="1300" dirty="0"/>
          </a:p>
        </p:txBody>
      </p:sp>
      <p:sp>
        <p:nvSpPr>
          <p:cNvPr id="28" name="Shape 24"/>
          <p:cNvSpPr/>
          <p:nvPr/>
        </p:nvSpPr>
        <p:spPr>
          <a:xfrm>
            <a:off x="5257800" y="2331720"/>
            <a:ext cx="329184" cy="329184"/>
          </a:xfrm>
          <a:prstGeom prst="ellipse">
            <a:avLst/>
          </a:prstGeom>
          <a:solidFill>
            <a:srgbClr val="D5F0EC"/>
          </a:solidFill>
          <a:ln w="12700">
            <a:solidFill>
              <a:srgbClr val="14A098"/>
            </a:solidFill>
            <a:prstDash val="solid"/>
          </a:ln>
        </p:spPr>
      </p:sp>
      <p:sp>
        <p:nvSpPr>
          <p:cNvPr id="29" name="Text 25"/>
          <p:cNvSpPr txBox="1"/>
          <p:nvPr/>
        </p:nvSpPr>
        <p:spPr>
          <a:xfrm>
            <a:off x="5257800" y="2331720"/>
            <a:ext cx="329184" cy="329184"/>
          </a:xfrm>
          <a:prstGeom prst="rect">
            <a:avLst/>
          </a:prstGeom>
          <a:noFill/>
          <a:ln/>
        </p:spPr>
        <p:txBody>
          <a:bodyPr wrap="square" lIns="0" tIns="0" rIns="0" bIns="0" rtlCol="0" anchor="ctr"/>
          <a:lstStyle/>
          <a:p>
            <a:pPr algn="ctr" indent="0" marL="0">
              <a:buNone/>
            </a:pPr>
            <a:r>
              <a:rPr lang="en-US" sz="1200" b="1" dirty="0">
                <a:solidFill>
                  <a:schemeClr val="accent1"/>
                </a:solidFill>
                <a:latin typeface="Calibri" pitchFamily="34" charset="0"/>
                <a:ea typeface="Calibri" pitchFamily="34" charset="-122"/>
                <a:cs typeface="Calibri" pitchFamily="34" charset="-120"/>
              </a:rPr>
              <a:t>2</a:t>
            </a:r>
            <a:endParaRPr lang="en-US" sz="1200" dirty="0"/>
          </a:p>
        </p:txBody>
      </p:sp>
      <p:sp>
        <p:nvSpPr>
          <p:cNvPr id="30" name="Text 26"/>
          <p:cNvSpPr txBox="1"/>
          <p:nvPr/>
        </p:nvSpPr>
        <p:spPr>
          <a:xfrm>
            <a:off x="5715000" y="2295144"/>
            <a:ext cx="2834640" cy="402336"/>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Lihat ke kanan, kiri, lalu kanan lagi</a:t>
            </a:r>
            <a:endParaRPr lang="en-US" sz="1300" dirty="0"/>
          </a:p>
        </p:txBody>
      </p:sp>
      <p:sp>
        <p:nvSpPr>
          <p:cNvPr id="31" name="Shape 27"/>
          <p:cNvSpPr/>
          <p:nvPr/>
        </p:nvSpPr>
        <p:spPr>
          <a:xfrm>
            <a:off x="5257800" y="2843784"/>
            <a:ext cx="329184" cy="329184"/>
          </a:xfrm>
          <a:prstGeom prst="ellipse">
            <a:avLst/>
          </a:prstGeom>
          <a:solidFill>
            <a:srgbClr val="D5F0EC"/>
          </a:solidFill>
          <a:ln w="12700">
            <a:solidFill>
              <a:srgbClr val="14A098"/>
            </a:solidFill>
            <a:prstDash val="solid"/>
          </a:ln>
        </p:spPr>
      </p:sp>
      <p:sp>
        <p:nvSpPr>
          <p:cNvPr id="32" name="Text 28"/>
          <p:cNvSpPr txBox="1"/>
          <p:nvPr/>
        </p:nvSpPr>
        <p:spPr>
          <a:xfrm>
            <a:off x="5257800" y="2843784"/>
            <a:ext cx="329184" cy="329184"/>
          </a:xfrm>
          <a:prstGeom prst="rect">
            <a:avLst/>
          </a:prstGeom>
          <a:noFill/>
          <a:ln/>
        </p:spPr>
        <p:txBody>
          <a:bodyPr wrap="square" lIns="0" tIns="0" rIns="0" bIns="0" rtlCol="0" anchor="ctr"/>
          <a:lstStyle/>
          <a:p>
            <a:pPr algn="ctr" indent="0" marL="0">
              <a:buNone/>
            </a:pPr>
            <a:r>
              <a:rPr lang="en-US" sz="1200" b="1" dirty="0">
                <a:solidFill>
                  <a:schemeClr val="accent1"/>
                </a:solidFill>
                <a:latin typeface="Calibri" pitchFamily="34" charset="0"/>
                <a:ea typeface="Calibri" pitchFamily="34" charset="-122"/>
                <a:cs typeface="Calibri" pitchFamily="34" charset="-120"/>
              </a:rPr>
              <a:t>3</a:t>
            </a:r>
            <a:endParaRPr lang="en-US" sz="1200" dirty="0"/>
          </a:p>
        </p:txBody>
      </p:sp>
      <p:sp>
        <p:nvSpPr>
          <p:cNvPr id="33" name="Text 29"/>
          <p:cNvSpPr txBox="1"/>
          <p:nvPr/>
        </p:nvSpPr>
        <p:spPr>
          <a:xfrm>
            <a:off x="5715000" y="2807208"/>
            <a:ext cx="2834640" cy="402336"/>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Jika kendaraan masih lewat, tunggu</a:t>
            </a:r>
            <a:endParaRPr lang="en-US" sz="1300" dirty="0"/>
          </a:p>
        </p:txBody>
      </p:sp>
      <p:sp>
        <p:nvSpPr>
          <p:cNvPr id="34" name="Shape 30"/>
          <p:cNvSpPr/>
          <p:nvPr/>
        </p:nvSpPr>
        <p:spPr>
          <a:xfrm>
            <a:off x="5257800" y="3355848"/>
            <a:ext cx="329184" cy="329184"/>
          </a:xfrm>
          <a:prstGeom prst="ellipse">
            <a:avLst/>
          </a:prstGeom>
          <a:solidFill>
            <a:srgbClr val="D5F0EC"/>
          </a:solidFill>
          <a:ln w="12700">
            <a:solidFill>
              <a:srgbClr val="14A098"/>
            </a:solidFill>
            <a:prstDash val="solid"/>
          </a:ln>
        </p:spPr>
      </p:sp>
      <p:sp>
        <p:nvSpPr>
          <p:cNvPr id="35" name="Text 31"/>
          <p:cNvSpPr txBox="1"/>
          <p:nvPr/>
        </p:nvSpPr>
        <p:spPr>
          <a:xfrm>
            <a:off x="5257800" y="3355848"/>
            <a:ext cx="329184" cy="329184"/>
          </a:xfrm>
          <a:prstGeom prst="rect">
            <a:avLst/>
          </a:prstGeom>
          <a:noFill/>
          <a:ln/>
        </p:spPr>
        <p:txBody>
          <a:bodyPr wrap="square" lIns="0" tIns="0" rIns="0" bIns="0" rtlCol="0" anchor="ctr"/>
          <a:lstStyle/>
          <a:p>
            <a:pPr algn="ctr" indent="0" marL="0">
              <a:buNone/>
            </a:pPr>
            <a:r>
              <a:rPr lang="en-US" sz="1200" b="1" dirty="0">
                <a:solidFill>
                  <a:schemeClr val="accent1"/>
                </a:solidFill>
                <a:latin typeface="Calibri" pitchFamily="34" charset="0"/>
                <a:ea typeface="Calibri" pitchFamily="34" charset="-122"/>
                <a:cs typeface="Calibri" pitchFamily="34" charset="-120"/>
              </a:rPr>
              <a:t>4</a:t>
            </a:r>
            <a:endParaRPr lang="en-US" sz="1200" dirty="0"/>
          </a:p>
        </p:txBody>
      </p:sp>
      <p:sp>
        <p:nvSpPr>
          <p:cNvPr id="36" name="Text 32"/>
          <p:cNvSpPr txBox="1"/>
          <p:nvPr/>
        </p:nvSpPr>
        <p:spPr>
          <a:xfrm>
            <a:off x="5715000" y="3319272"/>
            <a:ext cx="2834640" cy="402336"/>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Jika jalan aman, menyeberang dengan tenang</a:t>
            </a:r>
            <a:endParaRPr lang="en-US" sz="1300" dirty="0"/>
          </a:p>
        </p:txBody>
      </p:sp>
      <p:sp>
        <p:nvSpPr>
          <p:cNvPr id="37" name="Shape 33"/>
          <p:cNvSpPr/>
          <p:nvPr/>
        </p:nvSpPr>
        <p:spPr>
          <a:xfrm>
            <a:off x="5257800" y="3867912"/>
            <a:ext cx="329184" cy="329184"/>
          </a:xfrm>
          <a:prstGeom prst="ellipse">
            <a:avLst/>
          </a:prstGeom>
          <a:solidFill>
            <a:srgbClr val="D5F0EC"/>
          </a:solidFill>
          <a:ln w="12700">
            <a:solidFill>
              <a:srgbClr val="14A098"/>
            </a:solidFill>
            <a:prstDash val="solid"/>
          </a:ln>
        </p:spPr>
      </p:sp>
      <p:sp>
        <p:nvSpPr>
          <p:cNvPr id="38" name="Text 34"/>
          <p:cNvSpPr txBox="1"/>
          <p:nvPr/>
        </p:nvSpPr>
        <p:spPr>
          <a:xfrm>
            <a:off x="5257800" y="3867912"/>
            <a:ext cx="329184" cy="329184"/>
          </a:xfrm>
          <a:prstGeom prst="rect">
            <a:avLst/>
          </a:prstGeom>
          <a:noFill/>
          <a:ln/>
        </p:spPr>
        <p:txBody>
          <a:bodyPr wrap="square" lIns="0" tIns="0" rIns="0" bIns="0" rtlCol="0" anchor="ctr"/>
          <a:lstStyle/>
          <a:p>
            <a:pPr algn="ctr" indent="0" marL="0">
              <a:buNone/>
            </a:pPr>
            <a:r>
              <a:rPr lang="en-US" sz="1200" b="1" dirty="0">
                <a:solidFill>
                  <a:schemeClr val="accent1"/>
                </a:solidFill>
                <a:latin typeface="Calibri" pitchFamily="34" charset="0"/>
                <a:ea typeface="Calibri" pitchFamily="34" charset="-122"/>
                <a:cs typeface="Calibri" pitchFamily="34" charset="-120"/>
              </a:rPr>
              <a:t>5</a:t>
            </a:r>
            <a:endParaRPr lang="en-US" sz="1200" dirty="0"/>
          </a:p>
        </p:txBody>
      </p:sp>
      <p:sp>
        <p:nvSpPr>
          <p:cNvPr id="39" name="Text 35"/>
          <p:cNvSpPr txBox="1"/>
          <p:nvPr/>
        </p:nvSpPr>
        <p:spPr>
          <a:xfrm>
            <a:off x="5715000" y="3831336"/>
            <a:ext cx="2834640" cy="402336"/>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Sampai di seberang, selesai</a:t>
            </a:r>
            <a:endParaRPr lang="en-US" sz="13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1325880"/>
            <a:ext cx="2743200" cy="82296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03</a:t>
            </a:r>
            <a:endParaRPr lang="en-US" sz="5400" dirty="0"/>
          </a:p>
        </p:txBody>
      </p:sp>
      <p:sp>
        <p:nvSpPr>
          <p:cNvPr id="3" name="Text 0"/>
          <p:cNvSpPr/>
          <p:nvPr>
            <p:ph idx="100" type="title" hasCustomPrompt="1"/>
          </p:nvPr>
        </p:nvSpPr>
        <p:spPr>
          <a:xfrm>
            <a:off x="548640" y="2240280"/>
            <a:ext cx="5669280" cy="118872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Algoritma: Representasi &amp; Struktur</a:t>
            </a:r>
            <a:endParaRPr lang="en-US" sz="3600" dirty="0"/>
          </a:p>
        </p:txBody>
      </p:sp>
      <p:sp>
        <p:nvSpPr>
          <p:cNvPr id="4" name="Text 0"/>
          <p:cNvSpPr/>
          <p:nvPr>
            <p:ph idx="101" type="body" hasCustomPrompt="1"/>
          </p:nvPr>
        </p:nvSpPr>
        <p:spPr>
          <a:xfrm>
            <a:off x="548640" y="3520440"/>
            <a:ext cx="5669280" cy="731520"/>
          </a:xfrm>
          <a:prstGeom prst="rect">
            <a:avLst/>
          </a:prstGeom>
          <a:noFill/>
          <a:ln/>
        </p:spPr>
        <p:txBody>
          <a:bodyPr wrap="square" lIns="0" tIns="0" rIns="0" bIns="0" rtlCol="0" anchor="t"/>
          <a:lstStyle/>
          <a:p>
            <a:pPr indent="0" marL="0">
              <a:buNone/>
            </a:pPr>
            <a:r>
              <a:rPr lang="en-US" sz="1600" dirty="0">
                <a:solidFill>
                  <a:schemeClr val="bg2"/>
                </a:solidFill>
                <a:latin typeface="Calibri" pitchFamily="34" charset="0"/>
                <a:ea typeface="Calibri" pitchFamily="34" charset="-122"/>
                <a:cs typeface="Calibri" pitchFamily="34" charset="-120"/>
              </a:rPr>
              <a:t>Bahasa natural, pseudocode, flowchart, dan struktur kontrol</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Tiga Cara Menuliskan Algoritma</a:t>
            </a:r>
            <a:endParaRPr lang="en-US" sz="2800" dirty="0"/>
          </a:p>
        </p:txBody>
      </p:sp>
      <p:sp>
        <p:nvSpPr>
          <p:cNvPr id="3" name="Text 1"/>
          <p:cNvSpPr txBox="1"/>
          <p:nvPr/>
        </p:nvSpPr>
        <p:spPr>
          <a:xfrm>
            <a:off x="457200" y="960120"/>
            <a:ext cx="8229600" cy="274320"/>
          </a:xfrm>
          <a:prstGeom prst="rect">
            <a:avLst/>
          </a:prstGeom>
          <a:noFill/>
          <a:ln/>
        </p:spPr>
        <p:txBody>
          <a:bodyPr wrap="square" lIns="0" tIns="0" rIns="0" bIns="0" rtlCol="0" anchor="t"/>
          <a:lstStyle/>
          <a:p>
            <a:pPr indent="0" marL="0">
              <a:buNone/>
            </a:pPr>
            <a:r>
              <a:rPr lang="en-US" sz="1400" i="1" dirty="0">
                <a:solidFill>
                  <a:schemeClr val="accent5"/>
                </a:solidFill>
                <a:latin typeface="Calibri" pitchFamily="34" charset="0"/>
                <a:ea typeface="Calibri" pitchFamily="34" charset="-122"/>
                <a:cs typeface="Calibri" pitchFamily="34" charset="-120"/>
              </a:rPr>
              <a:t>Kasus yang sama: menentukan sebuah bilangan genap atau ganjil</a:t>
            </a:r>
            <a:endParaRPr lang="en-US" sz="1400" dirty="0"/>
          </a:p>
        </p:txBody>
      </p:sp>
      <p:sp>
        <p:nvSpPr>
          <p:cNvPr id="4" name="Bahasa natural"/>
          <p:cNvSpPr/>
          <p:nvPr/>
        </p:nvSpPr>
        <p:spPr>
          <a:xfrm>
            <a:off x="457200" y="1371600"/>
            <a:ext cx="2606040" cy="3108960"/>
          </a:xfrm>
          <a:prstGeom prst="roundRect">
            <a:avLst>
              <a:gd name="adj" fmla="val 4211"/>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5" name="icon circle"/>
          <p:cNvSpPr/>
          <p:nvPr/>
        </p:nvSpPr>
        <p:spPr>
          <a:xfrm>
            <a:off x="640080" y="1536192"/>
            <a:ext cx="457200" cy="457200"/>
          </a:xfrm>
          <a:prstGeom prst="ellipse">
            <a:avLst/>
          </a:prstGeom>
          <a:solidFill>
            <a:schemeClr val="accent3"/>
          </a:solidFill>
          <a:ln w="12700">
            <a:solidFill>
              <a:schemeClr val="accent3"/>
            </a:solidFill>
            <a:prstDash val="solid"/>
          </a:ln>
        </p:spPr>
      </p:sp>
      <p:pic>
        <p:nvPicPr>
          <p:cNvPr id="6" name="icon" descr="preencoded.png">    </p:cNvPr>
          <p:cNvPicPr>
            <a:picLocks noChangeAspect="1"/>
          </p:cNvPicPr>
          <p:nvPr/>
        </p:nvPicPr>
        <p:blipFill>
          <a:blip r:embed="rId1"/>
          <a:stretch>
            <a:fillRect/>
          </a:stretch>
        </p:blipFill>
        <p:spPr>
          <a:xfrm>
            <a:off x="763524" y="1659636"/>
            <a:ext cx="210312" cy="210312"/>
          </a:xfrm>
          <a:prstGeom prst="rect">
            <a:avLst/>
          </a:prstGeom>
        </p:spPr>
      </p:pic>
      <p:sp>
        <p:nvSpPr>
          <p:cNvPr id="7" name="Text 4"/>
          <p:cNvSpPr txBox="1"/>
          <p:nvPr/>
        </p:nvSpPr>
        <p:spPr>
          <a:xfrm>
            <a:off x="1188720" y="1536192"/>
            <a:ext cx="1828800" cy="4572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Bahasa Natural</a:t>
            </a:r>
            <a:endParaRPr lang="en-US" sz="1500" dirty="0"/>
          </a:p>
        </p:txBody>
      </p:sp>
      <p:sp>
        <p:nvSpPr>
          <p:cNvPr id="8" name="Text 5"/>
          <p:cNvSpPr txBox="1"/>
          <p:nvPr/>
        </p:nvSpPr>
        <p:spPr>
          <a:xfrm>
            <a:off x="640080" y="2148840"/>
            <a:ext cx="2286000" cy="1463040"/>
          </a:xfrm>
          <a:prstGeom prst="rect">
            <a:avLst/>
          </a:prstGeom>
          <a:noFill/>
          <a:ln/>
        </p:spPr>
        <p:txBody>
          <a:bodyPr wrap="square" lIns="0" tIns="0" rIns="0" bIns="0" rtlCol="0" anchor="t"/>
          <a:lstStyle/>
          <a:p>
            <a:pPr indent="0" marL="0">
              <a:lnSpc>
                <a:spcPct val="115000"/>
              </a:lnSpc>
              <a:buNone/>
            </a:pPr>
            <a:r>
              <a:rPr lang="en-US" sz="1300" dirty="0">
                <a:solidFill>
                  <a:schemeClr val="tx1"/>
                </a:solidFill>
                <a:latin typeface="Calibri" pitchFamily="34" charset="0"/>
                <a:ea typeface="Calibri" pitchFamily="34" charset="-122"/>
                <a:cs typeface="Calibri" pitchFamily="34" charset="-120"/>
              </a:rPr>
              <a:t>1. Masukkan sebuah bilangan.</a:t>
            </a:r>
            <a:endParaRPr lang="en-US" sz="1300" dirty="0"/>
          </a:p>
          <a:p>
            <a:pPr indent="0" marL="0">
              <a:lnSpc>
                <a:spcPct val="115000"/>
              </a:lnSpc>
              <a:buNone/>
            </a:pPr>
            <a:r>
              <a:rPr lang="en-US" sz="1300" dirty="0">
                <a:solidFill>
                  <a:schemeClr val="tx1"/>
                </a:solidFill>
                <a:latin typeface="Calibri" pitchFamily="34" charset="0"/>
                <a:ea typeface="Calibri" pitchFamily="34" charset="-122"/>
                <a:cs typeface="Calibri" pitchFamily="34" charset="-120"/>
              </a:rPr>
              <a:t>2. Bagi bilangan dengan 2.</a:t>
            </a:r>
            <a:endParaRPr lang="en-US" sz="1300" dirty="0"/>
          </a:p>
          <a:p>
            <a:pPr indent="0" marL="0">
              <a:lnSpc>
                <a:spcPct val="115000"/>
              </a:lnSpc>
              <a:buNone/>
            </a:pPr>
            <a:r>
              <a:rPr lang="en-US" sz="1300" dirty="0">
                <a:solidFill>
                  <a:schemeClr val="tx1"/>
                </a:solidFill>
                <a:latin typeface="Calibri" pitchFamily="34" charset="0"/>
                <a:ea typeface="Calibri" pitchFamily="34" charset="-122"/>
                <a:cs typeface="Calibri" pitchFamily="34" charset="-120"/>
              </a:rPr>
              <a:t>3. Jika sisanya 0, tulis “Genap”.</a:t>
            </a:r>
            <a:endParaRPr lang="en-US" sz="1300" dirty="0"/>
          </a:p>
          <a:p>
            <a:pPr indent="0" marL="0">
              <a:lnSpc>
                <a:spcPct val="115000"/>
              </a:lnSpc>
              <a:buNone/>
            </a:pPr>
            <a:r>
              <a:rPr lang="en-US" sz="1300" dirty="0">
                <a:solidFill>
                  <a:schemeClr val="tx1"/>
                </a:solidFill>
                <a:latin typeface="Calibri" pitchFamily="34" charset="0"/>
                <a:ea typeface="Calibri" pitchFamily="34" charset="-122"/>
                <a:cs typeface="Calibri" pitchFamily="34" charset="-120"/>
              </a:rPr>
              <a:t>4. Jika tidak, tulis “Ganjil”.</a:t>
            </a:r>
            <a:endParaRPr lang="en-US" sz="1300" dirty="0"/>
          </a:p>
        </p:txBody>
      </p:sp>
      <p:sp>
        <p:nvSpPr>
          <p:cNvPr id="9" name="Text 6"/>
          <p:cNvSpPr txBox="1"/>
          <p:nvPr/>
        </p:nvSpPr>
        <p:spPr>
          <a:xfrm>
            <a:off x="640080" y="3749040"/>
            <a:ext cx="2286000" cy="548640"/>
          </a:xfrm>
          <a:prstGeom prst="rect">
            <a:avLst/>
          </a:prstGeom>
          <a:noFill/>
          <a:ln/>
        </p:spPr>
        <p:txBody>
          <a:bodyPr wrap="square" lIns="0" tIns="0" rIns="0" bIns="0" rtlCol="0" anchor="t"/>
          <a:lstStyle/>
          <a:p>
            <a:pPr indent="0" marL="0">
              <a:buNone/>
            </a:pPr>
            <a:r>
              <a:rPr lang="en-US" sz="1200" i="1" dirty="0">
                <a:solidFill>
                  <a:schemeClr val="accent5"/>
                </a:solidFill>
                <a:latin typeface="Calibri" pitchFamily="34" charset="0"/>
                <a:ea typeface="Calibri" pitchFamily="34" charset="-122"/>
                <a:cs typeface="Calibri" pitchFamily="34" charset="-120"/>
              </a:rPr>
              <a:t>Mudah dipahami, tetapi bisa bermakna ganda.</a:t>
            </a:r>
            <a:endParaRPr lang="en-US" sz="1200" dirty="0"/>
          </a:p>
        </p:txBody>
      </p:sp>
      <p:sp>
        <p:nvSpPr>
          <p:cNvPr id="10" name="Pseudocode"/>
          <p:cNvSpPr/>
          <p:nvPr/>
        </p:nvSpPr>
        <p:spPr>
          <a:xfrm>
            <a:off x="3246120" y="1371600"/>
            <a:ext cx="2606040" cy="3108960"/>
          </a:xfrm>
          <a:prstGeom prst="roundRect">
            <a:avLst>
              <a:gd name="adj" fmla="val 4211"/>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11" name="icon circle"/>
          <p:cNvSpPr/>
          <p:nvPr/>
        </p:nvSpPr>
        <p:spPr>
          <a:xfrm>
            <a:off x="3429000" y="1536192"/>
            <a:ext cx="457200" cy="457200"/>
          </a:xfrm>
          <a:prstGeom prst="ellipse">
            <a:avLst/>
          </a:prstGeom>
          <a:solidFill>
            <a:schemeClr val="accent4"/>
          </a:solidFill>
          <a:ln w="12700">
            <a:solidFill>
              <a:schemeClr val="accent4"/>
            </a:solidFill>
            <a:prstDash val="solid"/>
          </a:ln>
        </p:spPr>
      </p:sp>
      <p:pic>
        <p:nvPicPr>
          <p:cNvPr id="12" name="icon" descr="preencoded.png">    </p:cNvPr>
          <p:cNvPicPr>
            <a:picLocks noChangeAspect="1"/>
          </p:cNvPicPr>
          <p:nvPr/>
        </p:nvPicPr>
        <p:blipFill>
          <a:blip r:embed="rId2"/>
          <a:stretch>
            <a:fillRect/>
          </a:stretch>
        </p:blipFill>
        <p:spPr>
          <a:xfrm>
            <a:off x="3552444" y="1659636"/>
            <a:ext cx="210312" cy="210312"/>
          </a:xfrm>
          <a:prstGeom prst="rect">
            <a:avLst/>
          </a:prstGeom>
        </p:spPr>
      </p:pic>
      <p:sp>
        <p:nvSpPr>
          <p:cNvPr id="13" name="Text 9"/>
          <p:cNvSpPr txBox="1"/>
          <p:nvPr/>
        </p:nvSpPr>
        <p:spPr>
          <a:xfrm>
            <a:off x="3977640" y="1536192"/>
            <a:ext cx="1828800" cy="4572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Pseudocode</a:t>
            </a:r>
            <a:endParaRPr lang="en-US" sz="1500" dirty="0"/>
          </a:p>
        </p:txBody>
      </p:sp>
      <p:sp>
        <p:nvSpPr>
          <p:cNvPr id="14" name="Kode"/>
          <p:cNvSpPr/>
          <p:nvPr/>
        </p:nvSpPr>
        <p:spPr>
          <a:xfrm>
            <a:off x="3401568" y="2121408"/>
            <a:ext cx="2295144" cy="1554480"/>
          </a:xfrm>
          <a:prstGeom prst="roundRect">
            <a:avLst>
              <a:gd name="adj" fmla="val 7059"/>
            </a:avLst>
          </a:prstGeom>
          <a:solidFill>
            <a:schemeClr val="tx1"/>
          </a:solidFill>
          <a:ln w="12700">
            <a:solidFill>
              <a:schemeClr val="tx1"/>
            </a:solidFill>
            <a:prstDash val="solid"/>
          </a:ln>
        </p:spPr>
      </p:sp>
      <p:sp>
        <p:nvSpPr>
          <p:cNvPr id="15" name="Text 11"/>
          <p:cNvSpPr txBox="1"/>
          <p:nvPr/>
        </p:nvSpPr>
        <p:spPr>
          <a:xfrm>
            <a:off x="3520440" y="2194560"/>
            <a:ext cx="2103120" cy="1417320"/>
          </a:xfrm>
          <a:prstGeom prst="rect">
            <a:avLst/>
          </a:prstGeom>
          <a:noFill/>
          <a:ln/>
        </p:spPr>
        <p:txBody>
          <a:bodyPr wrap="square" lIns="0" tIns="0" rIns="0" bIns="0" rtlCol="0" anchor="ctr"/>
          <a:lstStyle/>
          <a:p>
            <a:pPr indent="0" marL="0">
              <a:buNone/>
            </a:pPr>
            <a:r>
              <a:rPr lang="en-US" sz="1150" dirty="0">
                <a:solidFill>
                  <a:schemeClr val="bg1"/>
                </a:solidFill>
                <a:latin typeface="Courier New" pitchFamily="34" charset="0"/>
                <a:ea typeface="Courier New" pitchFamily="34" charset="-122"/>
                <a:cs typeface="Courier New" pitchFamily="34" charset="-120"/>
              </a:rPr>
              <a:t>INPUT n</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IF n MOD 2 = 0 THEN</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OUTPUT "Genap"</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ELSE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OUTPUT "Ganjil"</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END IF</a:t>
            </a:r>
            <a:endParaRPr lang="en-US" sz="1150" dirty="0"/>
          </a:p>
        </p:txBody>
      </p:sp>
      <p:sp>
        <p:nvSpPr>
          <p:cNvPr id="16" name="Text 12"/>
          <p:cNvSpPr txBox="1"/>
          <p:nvPr/>
        </p:nvSpPr>
        <p:spPr>
          <a:xfrm>
            <a:off x="3429000" y="3749040"/>
            <a:ext cx="2286000" cy="548640"/>
          </a:xfrm>
          <a:prstGeom prst="rect">
            <a:avLst/>
          </a:prstGeom>
          <a:noFill/>
          <a:ln/>
        </p:spPr>
        <p:txBody>
          <a:bodyPr wrap="square" lIns="0" tIns="0" rIns="0" bIns="0" rtlCol="0" anchor="t"/>
          <a:lstStyle/>
          <a:p>
            <a:pPr indent="0" marL="0">
              <a:buNone/>
            </a:pPr>
            <a:r>
              <a:rPr lang="en-US" sz="1200" i="1" dirty="0">
                <a:solidFill>
                  <a:schemeClr val="accent5"/>
                </a:solidFill>
                <a:latin typeface="Calibri" pitchFamily="34" charset="0"/>
                <a:ea typeface="Calibri" pitchFamily="34" charset="-122"/>
                <a:cs typeface="Calibri" pitchFamily="34" charset="-120"/>
              </a:rPr>
              <a:t>Terstruktur, mirip kode, mudah diubah ke bahasa pemrograman.</a:t>
            </a:r>
            <a:endParaRPr lang="en-US" sz="1200" dirty="0"/>
          </a:p>
        </p:txBody>
      </p:sp>
      <p:sp>
        <p:nvSpPr>
          <p:cNvPr id="17" name="Flowchart"/>
          <p:cNvSpPr/>
          <p:nvPr/>
        </p:nvSpPr>
        <p:spPr>
          <a:xfrm>
            <a:off x="6035040" y="1371600"/>
            <a:ext cx="2651760" cy="3108960"/>
          </a:xfrm>
          <a:prstGeom prst="roundRect">
            <a:avLst>
              <a:gd name="adj" fmla="val 4138"/>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18" name="icon circle"/>
          <p:cNvSpPr/>
          <p:nvPr/>
        </p:nvSpPr>
        <p:spPr>
          <a:xfrm>
            <a:off x="6217920" y="1536192"/>
            <a:ext cx="457200" cy="457200"/>
          </a:xfrm>
          <a:prstGeom prst="ellipse">
            <a:avLst/>
          </a:prstGeom>
          <a:solidFill>
            <a:schemeClr val="accent1"/>
          </a:solidFill>
          <a:ln w="12700">
            <a:solidFill>
              <a:schemeClr val="accent1"/>
            </a:solidFill>
            <a:prstDash val="solid"/>
          </a:ln>
        </p:spPr>
      </p:sp>
      <p:pic>
        <p:nvPicPr>
          <p:cNvPr id="19" name="icon" descr="preencoded.png">    </p:cNvPr>
          <p:cNvPicPr>
            <a:picLocks noChangeAspect="1"/>
          </p:cNvPicPr>
          <p:nvPr/>
        </p:nvPicPr>
        <p:blipFill>
          <a:blip r:embed="rId3"/>
          <a:stretch>
            <a:fillRect/>
          </a:stretch>
        </p:blipFill>
        <p:spPr>
          <a:xfrm>
            <a:off x="6341364" y="1659636"/>
            <a:ext cx="210312" cy="210312"/>
          </a:xfrm>
          <a:prstGeom prst="rect">
            <a:avLst/>
          </a:prstGeom>
        </p:spPr>
      </p:pic>
      <p:sp>
        <p:nvSpPr>
          <p:cNvPr id="20" name="Text 15"/>
          <p:cNvSpPr txBox="1"/>
          <p:nvPr/>
        </p:nvSpPr>
        <p:spPr>
          <a:xfrm>
            <a:off x="6766560" y="1536192"/>
            <a:ext cx="1828800" cy="4572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Flowchart</a:t>
            </a:r>
            <a:endParaRPr lang="en-US" sz="1500" dirty="0"/>
          </a:p>
        </p:txBody>
      </p:sp>
      <p:pic>
        <p:nvPicPr>
          <p:cNvPr id="21" name="Flowchart genap ganjil" descr="preencoded.png">    </p:cNvPr>
          <p:cNvPicPr>
            <a:picLocks noChangeAspect="1"/>
          </p:cNvPicPr>
          <p:nvPr/>
        </p:nvPicPr>
        <p:blipFill>
          <a:blip r:embed="rId4"/>
          <a:stretch>
            <a:fillRect/>
          </a:stretch>
        </p:blipFill>
        <p:spPr>
          <a:xfrm>
            <a:off x="6720840" y="2084832"/>
            <a:ext cx="1550963" cy="1920240"/>
          </a:xfrm>
          <a:prstGeom prst="rect">
            <a:avLst/>
          </a:prstGeom>
        </p:spPr>
      </p:pic>
      <p:sp>
        <p:nvSpPr>
          <p:cNvPr id="22" name="Text 16"/>
          <p:cNvSpPr txBox="1"/>
          <p:nvPr/>
        </p:nvSpPr>
        <p:spPr>
          <a:xfrm>
            <a:off x="6217920" y="4069080"/>
            <a:ext cx="2331720" cy="320040"/>
          </a:xfrm>
          <a:prstGeom prst="rect">
            <a:avLst/>
          </a:prstGeom>
          <a:noFill/>
          <a:ln/>
        </p:spPr>
        <p:txBody>
          <a:bodyPr wrap="square" lIns="0" tIns="0" rIns="0" bIns="0" rtlCol="0" anchor="t"/>
          <a:lstStyle/>
          <a:p>
            <a:pPr indent="0" marL="0">
              <a:buNone/>
            </a:pPr>
            <a:r>
              <a:rPr lang="en-US" sz="1200" i="1" dirty="0">
                <a:solidFill>
                  <a:schemeClr val="accent5"/>
                </a:solidFill>
                <a:latin typeface="Calibri" pitchFamily="34" charset="0"/>
                <a:ea typeface="Calibri" pitchFamily="34" charset="-122"/>
                <a:cs typeface="Calibri" pitchFamily="34" charset="-120"/>
              </a:rPr>
              <a:t>Visual dan mudah diikuti alurnya.</a:t>
            </a:r>
            <a:endParaRPr lang="en-US" sz="12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Simbol-Simbol Flowchart</a:t>
            </a:r>
            <a:endParaRPr lang="en-US" sz="2800" dirty="0"/>
          </a:p>
        </p:txBody>
      </p:sp>
      <p:sp>
        <p:nvSpPr>
          <p:cNvPr id="3" name="Simbol Terminator"/>
          <p:cNvSpPr/>
          <p:nvPr/>
        </p:nvSpPr>
        <p:spPr>
          <a:xfrm>
            <a:off x="457200" y="1097280"/>
            <a:ext cx="4023360" cy="777240"/>
          </a:xfrm>
          <a:prstGeom prst="roundRect">
            <a:avLst>
              <a:gd name="adj" fmla="val 14118"/>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4" name="Terminator"/>
          <p:cNvSpPr/>
          <p:nvPr/>
        </p:nvSpPr>
        <p:spPr>
          <a:xfrm>
            <a:off x="640080" y="1234440"/>
            <a:ext cx="1005840" cy="502920"/>
          </a:xfrm>
          <a:prstGeom prst="flowChartTerminator">
            <a:avLst/>
          </a:prstGeom>
          <a:solidFill>
            <a:schemeClr val="accent1"/>
          </a:solidFill>
          <a:ln w="12700">
            <a:solidFill>
              <a:schemeClr val="accent1"/>
            </a:solidFill>
            <a:prstDash val="solid"/>
          </a:ln>
        </p:spPr>
      </p:sp>
      <p:sp>
        <p:nvSpPr>
          <p:cNvPr id="5" name="Text 3"/>
          <p:cNvSpPr txBox="1"/>
          <p:nvPr/>
        </p:nvSpPr>
        <p:spPr>
          <a:xfrm>
            <a:off x="1828800" y="1170432"/>
            <a:ext cx="2560320" cy="292608"/>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Terminator</a:t>
            </a:r>
            <a:endParaRPr lang="en-US" sz="1400" dirty="0"/>
          </a:p>
        </p:txBody>
      </p:sp>
      <p:sp>
        <p:nvSpPr>
          <p:cNvPr id="6" name="Text 4"/>
          <p:cNvSpPr txBox="1"/>
          <p:nvPr/>
        </p:nvSpPr>
        <p:spPr>
          <a:xfrm>
            <a:off x="1828800" y="1463040"/>
            <a:ext cx="2560320" cy="3657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Menandai awal (Mulai) dan akhir (Selesai)</a:t>
            </a:r>
            <a:endParaRPr lang="en-US" sz="1200" dirty="0"/>
          </a:p>
        </p:txBody>
      </p:sp>
      <p:sp>
        <p:nvSpPr>
          <p:cNvPr id="7" name="Simbol Proses"/>
          <p:cNvSpPr/>
          <p:nvPr/>
        </p:nvSpPr>
        <p:spPr>
          <a:xfrm>
            <a:off x="4663440" y="1097280"/>
            <a:ext cx="4023360" cy="777240"/>
          </a:xfrm>
          <a:prstGeom prst="roundRect">
            <a:avLst>
              <a:gd name="adj" fmla="val 14118"/>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8" name="Proses"/>
          <p:cNvSpPr/>
          <p:nvPr/>
        </p:nvSpPr>
        <p:spPr>
          <a:xfrm>
            <a:off x="4846320" y="1234440"/>
            <a:ext cx="1005840" cy="502920"/>
          </a:xfrm>
          <a:prstGeom prst="flowChartProcess">
            <a:avLst/>
          </a:prstGeom>
          <a:solidFill>
            <a:schemeClr val="accent3"/>
          </a:solidFill>
          <a:ln w="12700">
            <a:solidFill>
              <a:schemeClr val="accent3"/>
            </a:solidFill>
            <a:prstDash val="solid"/>
          </a:ln>
        </p:spPr>
      </p:sp>
      <p:sp>
        <p:nvSpPr>
          <p:cNvPr id="9" name="Text 7"/>
          <p:cNvSpPr txBox="1"/>
          <p:nvPr/>
        </p:nvSpPr>
        <p:spPr>
          <a:xfrm>
            <a:off x="6035040" y="1170432"/>
            <a:ext cx="2560320" cy="292608"/>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Proses</a:t>
            </a:r>
            <a:endParaRPr lang="en-US" sz="1400" dirty="0"/>
          </a:p>
        </p:txBody>
      </p:sp>
      <p:sp>
        <p:nvSpPr>
          <p:cNvPr id="10" name="Text 8"/>
          <p:cNvSpPr txBox="1"/>
          <p:nvPr/>
        </p:nvSpPr>
        <p:spPr>
          <a:xfrm>
            <a:off x="6035040" y="1463040"/>
            <a:ext cx="2560320" cy="3657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Perhitungan atau tindakan, misal: total = a + b</a:t>
            </a:r>
            <a:endParaRPr lang="en-US" sz="1200" dirty="0"/>
          </a:p>
        </p:txBody>
      </p:sp>
      <p:sp>
        <p:nvSpPr>
          <p:cNvPr id="11" name="Simbol Input / Output"/>
          <p:cNvSpPr/>
          <p:nvPr/>
        </p:nvSpPr>
        <p:spPr>
          <a:xfrm>
            <a:off x="457200" y="2011680"/>
            <a:ext cx="4023360" cy="777240"/>
          </a:xfrm>
          <a:prstGeom prst="roundRect">
            <a:avLst>
              <a:gd name="adj" fmla="val 14118"/>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12" name="Input / Output"/>
          <p:cNvSpPr/>
          <p:nvPr/>
        </p:nvSpPr>
        <p:spPr>
          <a:xfrm>
            <a:off x="640080" y="2148840"/>
            <a:ext cx="1005840" cy="502920"/>
          </a:xfrm>
          <a:prstGeom prst="flowChartInputOutput">
            <a:avLst/>
          </a:prstGeom>
          <a:solidFill>
            <a:schemeClr val="accent2"/>
          </a:solidFill>
          <a:ln w="12700">
            <a:solidFill>
              <a:schemeClr val="accent2"/>
            </a:solidFill>
            <a:prstDash val="solid"/>
          </a:ln>
        </p:spPr>
      </p:sp>
      <p:sp>
        <p:nvSpPr>
          <p:cNvPr id="13" name="Text 11"/>
          <p:cNvSpPr txBox="1"/>
          <p:nvPr/>
        </p:nvSpPr>
        <p:spPr>
          <a:xfrm>
            <a:off x="1828800" y="2084832"/>
            <a:ext cx="2560320" cy="292608"/>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Input / Output</a:t>
            </a:r>
            <a:endParaRPr lang="en-US" sz="1400" dirty="0"/>
          </a:p>
        </p:txBody>
      </p:sp>
      <p:sp>
        <p:nvSpPr>
          <p:cNvPr id="14" name="Text 12"/>
          <p:cNvSpPr txBox="1"/>
          <p:nvPr/>
        </p:nvSpPr>
        <p:spPr>
          <a:xfrm>
            <a:off x="1828800" y="2377440"/>
            <a:ext cx="2560320" cy="3657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Memasukkan data atau menampilkan hasil</a:t>
            </a:r>
            <a:endParaRPr lang="en-US" sz="1200" dirty="0"/>
          </a:p>
        </p:txBody>
      </p:sp>
      <p:sp>
        <p:nvSpPr>
          <p:cNvPr id="15" name="Simbol Keputusan"/>
          <p:cNvSpPr/>
          <p:nvPr/>
        </p:nvSpPr>
        <p:spPr>
          <a:xfrm>
            <a:off x="4663440" y="2011680"/>
            <a:ext cx="4023360" cy="777240"/>
          </a:xfrm>
          <a:prstGeom prst="roundRect">
            <a:avLst>
              <a:gd name="adj" fmla="val 14118"/>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16" name="Keputusan"/>
          <p:cNvSpPr/>
          <p:nvPr/>
        </p:nvSpPr>
        <p:spPr>
          <a:xfrm>
            <a:off x="4846320" y="2148840"/>
            <a:ext cx="1005840" cy="502920"/>
          </a:xfrm>
          <a:prstGeom prst="flowChartDecision">
            <a:avLst/>
          </a:prstGeom>
          <a:solidFill>
            <a:schemeClr val="accent4"/>
          </a:solidFill>
          <a:ln w="12700">
            <a:solidFill>
              <a:schemeClr val="accent4"/>
            </a:solidFill>
            <a:prstDash val="solid"/>
          </a:ln>
        </p:spPr>
      </p:sp>
      <p:sp>
        <p:nvSpPr>
          <p:cNvPr id="17" name="Text 15"/>
          <p:cNvSpPr txBox="1"/>
          <p:nvPr/>
        </p:nvSpPr>
        <p:spPr>
          <a:xfrm>
            <a:off x="6035040" y="2084832"/>
            <a:ext cx="2560320" cy="292608"/>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Keputusan</a:t>
            </a:r>
            <a:endParaRPr lang="en-US" sz="1400" dirty="0"/>
          </a:p>
        </p:txBody>
      </p:sp>
      <p:sp>
        <p:nvSpPr>
          <p:cNvPr id="18" name="Text 16"/>
          <p:cNvSpPr txBox="1"/>
          <p:nvPr/>
        </p:nvSpPr>
        <p:spPr>
          <a:xfrm>
            <a:off x="6035040" y="2377440"/>
            <a:ext cx="2560320" cy="3657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Pertanyaan bercabang Ya/Tidak (kondisi)</a:t>
            </a:r>
            <a:endParaRPr lang="en-US" sz="1200" dirty="0"/>
          </a:p>
        </p:txBody>
      </p:sp>
      <p:sp>
        <p:nvSpPr>
          <p:cNvPr id="19" name="Simbol Konektor"/>
          <p:cNvSpPr/>
          <p:nvPr/>
        </p:nvSpPr>
        <p:spPr>
          <a:xfrm>
            <a:off x="457200" y="2926080"/>
            <a:ext cx="4023360" cy="777240"/>
          </a:xfrm>
          <a:prstGeom prst="roundRect">
            <a:avLst>
              <a:gd name="adj" fmla="val 14118"/>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20" name="Konektor"/>
          <p:cNvSpPr/>
          <p:nvPr/>
        </p:nvSpPr>
        <p:spPr>
          <a:xfrm>
            <a:off x="891540" y="3063240"/>
            <a:ext cx="502920" cy="502920"/>
          </a:xfrm>
          <a:prstGeom prst="flowChartConnector">
            <a:avLst/>
          </a:prstGeom>
          <a:solidFill>
            <a:schemeClr val="accent5"/>
          </a:solidFill>
          <a:ln w="12700">
            <a:solidFill>
              <a:schemeClr val="accent5"/>
            </a:solidFill>
            <a:prstDash val="solid"/>
          </a:ln>
        </p:spPr>
      </p:sp>
      <p:sp>
        <p:nvSpPr>
          <p:cNvPr id="21" name="Text 19"/>
          <p:cNvSpPr txBox="1"/>
          <p:nvPr/>
        </p:nvSpPr>
        <p:spPr>
          <a:xfrm>
            <a:off x="1828800" y="2999232"/>
            <a:ext cx="2560320" cy="292608"/>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Konektor</a:t>
            </a:r>
            <a:endParaRPr lang="en-US" sz="1400" dirty="0"/>
          </a:p>
        </p:txBody>
      </p:sp>
      <p:sp>
        <p:nvSpPr>
          <p:cNvPr id="22" name="Text 20"/>
          <p:cNvSpPr txBox="1"/>
          <p:nvPr/>
        </p:nvSpPr>
        <p:spPr>
          <a:xfrm>
            <a:off x="1828800" y="3291840"/>
            <a:ext cx="2560320" cy="3657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Menghubungkan alur pada halaman yang sama</a:t>
            </a:r>
            <a:endParaRPr lang="en-US" sz="1200" dirty="0"/>
          </a:p>
        </p:txBody>
      </p:sp>
      <p:sp>
        <p:nvSpPr>
          <p:cNvPr id="23" name="Simbol Sub-proses"/>
          <p:cNvSpPr/>
          <p:nvPr/>
        </p:nvSpPr>
        <p:spPr>
          <a:xfrm>
            <a:off x="4663440" y="2926080"/>
            <a:ext cx="4023360" cy="777240"/>
          </a:xfrm>
          <a:prstGeom prst="roundRect">
            <a:avLst>
              <a:gd name="adj" fmla="val 14118"/>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24" name="Sub-proses"/>
          <p:cNvSpPr/>
          <p:nvPr/>
        </p:nvSpPr>
        <p:spPr>
          <a:xfrm>
            <a:off x="4846320" y="3063240"/>
            <a:ext cx="1005840" cy="502920"/>
          </a:xfrm>
          <a:prstGeom prst="flowChartPredefinedProcess">
            <a:avLst/>
          </a:prstGeom>
          <a:solidFill>
            <a:schemeClr val="tx2"/>
          </a:solidFill>
          <a:ln w="12700">
            <a:solidFill>
              <a:schemeClr val="tx2"/>
            </a:solidFill>
            <a:prstDash val="solid"/>
          </a:ln>
        </p:spPr>
      </p:sp>
      <p:sp>
        <p:nvSpPr>
          <p:cNvPr id="25" name="Text 23"/>
          <p:cNvSpPr txBox="1"/>
          <p:nvPr/>
        </p:nvSpPr>
        <p:spPr>
          <a:xfrm>
            <a:off x="6035040" y="2999232"/>
            <a:ext cx="2560320" cy="292608"/>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Sub-proses</a:t>
            </a:r>
            <a:endParaRPr lang="en-US" sz="1400" dirty="0"/>
          </a:p>
        </p:txBody>
      </p:sp>
      <p:sp>
        <p:nvSpPr>
          <p:cNvPr id="26" name="Text 24"/>
          <p:cNvSpPr txBox="1"/>
          <p:nvPr/>
        </p:nvSpPr>
        <p:spPr>
          <a:xfrm>
            <a:off x="6035040" y="3291840"/>
            <a:ext cx="2560320" cy="3657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Memanggil prosedur yang sudah didefinisikan</a:t>
            </a:r>
            <a:endParaRPr lang="en-US" sz="1200" dirty="0"/>
          </a:p>
        </p:txBody>
      </p:sp>
      <p:sp>
        <p:nvSpPr>
          <p:cNvPr id="27" name="Simbol garis alir"/>
          <p:cNvSpPr/>
          <p:nvPr/>
        </p:nvSpPr>
        <p:spPr>
          <a:xfrm>
            <a:off x="457200" y="3840480"/>
            <a:ext cx="8229600" cy="640080"/>
          </a:xfrm>
          <a:prstGeom prst="roundRect">
            <a:avLst>
              <a:gd name="adj" fmla="val 17143"/>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28" name="Garis alir"/>
          <p:cNvSpPr/>
          <p:nvPr/>
        </p:nvSpPr>
        <p:spPr>
          <a:xfrm>
            <a:off x="731520" y="4160520"/>
            <a:ext cx="822960" cy="0"/>
          </a:xfrm>
          <a:prstGeom prst="line">
            <a:avLst/>
          </a:prstGeom>
          <a:noFill/>
          <a:ln w="31750">
            <a:solidFill>
              <a:srgbClr val="1A1F2E"/>
            </a:solidFill>
            <a:prstDash val="solid"/>
            <a:tailEnd type="triangle"/>
          </a:ln>
        </p:spPr>
      </p:sp>
      <p:sp>
        <p:nvSpPr>
          <p:cNvPr id="29" name="Text 27"/>
          <p:cNvSpPr txBox="1"/>
          <p:nvPr/>
        </p:nvSpPr>
        <p:spPr>
          <a:xfrm>
            <a:off x="1828800" y="3840480"/>
            <a:ext cx="6675120" cy="640080"/>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Garis alir  </a:t>
            </a:r>
            <a:pPr indent="0" marL="0">
              <a:buNone/>
            </a:pPr>
            <a:r>
              <a:rPr lang="en-US" sz="1300" dirty="0">
                <a:solidFill>
                  <a:schemeClr val="tx1"/>
                </a:solidFill>
                <a:latin typeface="Calibri" pitchFamily="34" charset="0"/>
                <a:ea typeface="Calibri" pitchFamily="34" charset="-122"/>
                <a:cs typeface="Calibri" pitchFamily="34" charset="-120"/>
              </a:rPr>
              <a:t>menunjukkan arah urutan langkah; alur dibaca dari atas ke bawah dan kiri ke kanan.</a:t>
            </a:r>
            <a:endParaRPr lang="en-US" sz="13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Tiga Struktur Kontrol Dasar</a:t>
            </a:r>
            <a:endParaRPr lang="en-US" sz="2800" dirty="0"/>
          </a:p>
        </p:txBody>
      </p:sp>
      <p:sp>
        <p:nvSpPr>
          <p:cNvPr id="3" name="Sekuensial"/>
          <p:cNvSpPr/>
          <p:nvPr/>
        </p:nvSpPr>
        <p:spPr>
          <a:xfrm>
            <a:off x="457200" y="1097280"/>
            <a:ext cx="2606040" cy="3383280"/>
          </a:xfrm>
          <a:prstGeom prst="roundRect">
            <a:avLst>
              <a:gd name="adj" fmla="val 4211"/>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4" name="icon circle"/>
          <p:cNvSpPr/>
          <p:nvPr/>
        </p:nvSpPr>
        <p:spPr>
          <a:xfrm>
            <a:off x="640080" y="1261872"/>
            <a:ext cx="502920" cy="502920"/>
          </a:xfrm>
          <a:prstGeom prst="ellipse">
            <a:avLst/>
          </a:prstGeom>
          <a:solidFill>
            <a:schemeClr val="accent3"/>
          </a:solidFill>
          <a:ln w="12700">
            <a:solidFill>
              <a:schemeClr val="accent3"/>
            </a:solidFill>
            <a:prstDash val="solid"/>
          </a:ln>
        </p:spPr>
      </p:sp>
      <p:pic>
        <p:nvPicPr>
          <p:cNvPr id="5" name="icon" descr="preencoded.png">    </p:cNvPr>
          <p:cNvPicPr>
            <a:picLocks noChangeAspect="1"/>
          </p:cNvPicPr>
          <p:nvPr/>
        </p:nvPicPr>
        <p:blipFill>
          <a:blip r:embed="rId1"/>
          <a:stretch>
            <a:fillRect/>
          </a:stretch>
        </p:blipFill>
        <p:spPr>
          <a:xfrm>
            <a:off x="775868" y="1397660"/>
            <a:ext cx="231343" cy="231343"/>
          </a:xfrm>
          <a:prstGeom prst="rect">
            <a:avLst/>
          </a:prstGeom>
        </p:spPr>
      </p:pic>
      <p:sp>
        <p:nvSpPr>
          <p:cNvPr id="6" name="Text 3"/>
          <p:cNvSpPr txBox="1"/>
          <p:nvPr/>
        </p:nvSpPr>
        <p:spPr>
          <a:xfrm>
            <a:off x="1261872" y="1261872"/>
            <a:ext cx="1737360" cy="50292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Sekuensial</a:t>
            </a:r>
            <a:endParaRPr lang="en-US" sz="1600" dirty="0"/>
          </a:p>
        </p:txBody>
      </p:sp>
      <p:sp>
        <p:nvSpPr>
          <p:cNvPr id="7" name="Text 4"/>
          <p:cNvSpPr txBox="1"/>
          <p:nvPr/>
        </p:nvSpPr>
        <p:spPr>
          <a:xfrm>
            <a:off x="640080" y="1874520"/>
            <a:ext cx="2240280"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Langkah dijalankan berurutan dari atas ke bawah.</a:t>
            </a:r>
            <a:endParaRPr lang="en-US" sz="1300" dirty="0"/>
          </a:p>
        </p:txBody>
      </p:sp>
      <p:sp>
        <p:nvSpPr>
          <p:cNvPr id="8" name="Shape 5"/>
          <p:cNvSpPr/>
          <p:nvPr/>
        </p:nvSpPr>
        <p:spPr>
          <a:xfrm>
            <a:off x="640080" y="2606040"/>
            <a:ext cx="2240280" cy="1051560"/>
          </a:xfrm>
          <a:prstGeom prst="roundRect">
            <a:avLst>
              <a:gd name="adj" fmla="val 10435"/>
            </a:avLst>
          </a:prstGeom>
          <a:solidFill>
            <a:schemeClr val="tx1"/>
          </a:solidFill>
          <a:ln w="12700">
            <a:solidFill>
              <a:schemeClr val="tx1"/>
            </a:solidFill>
            <a:prstDash val="solid"/>
          </a:ln>
        </p:spPr>
      </p:sp>
      <p:sp>
        <p:nvSpPr>
          <p:cNvPr id="9" name="Text 6"/>
          <p:cNvSpPr txBox="1"/>
          <p:nvPr/>
        </p:nvSpPr>
        <p:spPr>
          <a:xfrm>
            <a:off x="749808" y="2633472"/>
            <a:ext cx="2057400" cy="996696"/>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Ambil gelas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Isi air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Minum</a:t>
            </a:r>
            <a:endParaRPr lang="en-US" sz="1200" dirty="0"/>
          </a:p>
        </p:txBody>
      </p:sp>
      <p:sp>
        <p:nvSpPr>
          <p:cNvPr id="10" name="Text 7"/>
          <p:cNvSpPr txBox="1"/>
          <p:nvPr/>
        </p:nvSpPr>
        <p:spPr>
          <a:xfrm>
            <a:off x="640080" y="3749040"/>
            <a:ext cx="2240280" cy="640080"/>
          </a:xfrm>
          <a:prstGeom prst="rect">
            <a:avLst/>
          </a:prstGeom>
          <a:noFill/>
          <a:ln/>
        </p:spPr>
        <p:txBody>
          <a:bodyPr wrap="square" lIns="0" tIns="0" rIns="0" bIns="0" rtlCol="0" anchor="t"/>
          <a:lstStyle/>
          <a:p>
            <a:pPr indent="0" marL="0">
              <a:buNone/>
            </a:pPr>
            <a:r>
              <a:rPr lang="en-US" sz="1200" b="1" dirty="0">
                <a:solidFill>
                  <a:schemeClr val="accent3"/>
                </a:solidFill>
                <a:latin typeface="Calibri" pitchFamily="34" charset="0"/>
                <a:ea typeface="Calibri" pitchFamily="34" charset="-122"/>
                <a:cs typeface="Calibri" pitchFamily="34" charset="-120"/>
              </a:rPr>
              <a:t>Contoh: </a:t>
            </a:r>
            <a:pPr indent="0" marL="0">
              <a:buNone/>
            </a:pPr>
            <a:r>
              <a:rPr lang="en-US" sz="1200" dirty="0">
                <a:solidFill>
                  <a:schemeClr val="tx1"/>
                </a:solidFill>
                <a:latin typeface="Calibri" pitchFamily="34" charset="0"/>
                <a:ea typeface="Calibri" pitchFamily="34" charset="-122"/>
                <a:cs typeface="Calibri" pitchFamily="34" charset="-120"/>
              </a:rPr>
              <a:t>Memakai kaus kaki, lalu sepatu</a:t>
            </a:r>
            <a:endParaRPr lang="en-US" sz="1200" dirty="0"/>
          </a:p>
        </p:txBody>
      </p:sp>
      <p:sp>
        <p:nvSpPr>
          <p:cNvPr id="11" name="Percabangan"/>
          <p:cNvSpPr/>
          <p:nvPr/>
        </p:nvSpPr>
        <p:spPr>
          <a:xfrm>
            <a:off x="3273552" y="1097280"/>
            <a:ext cx="2606040" cy="3383280"/>
          </a:xfrm>
          <a:prstGeom prst="roundRect">
            <a:avLst>
              <a:gd name="adj" fmla="val 4211"/>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12" name="icon circle"/>
          <p:cNvSpPr/>
          <p:nvPr/>
        </p:nvSpPr>
        <p:spPr>
          <a:xfrm>
            <a:off x="3456432" y="1261872"/>
            <a:ext cx="502920" cy="502920"/>
          </a:xfrm>
          <a:prstGeom prst="ellipse">
            <a:avLst/>
          </a:prstGeom>
          <a:solidFill>
            <a:schemeClr val="accent4"/>
          </a:solidFill>
          <a:ln w="12700">
            <a:solidFill>
              <a:schemeClr val="accent4"/>
            </a:solidFill>
            <a:prstDash val="solid"/>
          </a:ln>
        </p:spPr>
      </p:sp>
      <p:pic>
        <p:nvPicPr>
          <p:cNvPr id="13" name="icon" descr="preencoded.png">    </p:cNvPr>
          <p:cNvPicPr>
            <a:picLocks noChangeAspect="1"/>
          </p:cNvPicPr>
          <p:nvPr/>
        </p:nvPicPr>
        <p:blipFill>
          <a:blip r:embed="rId2"/>
          <a:stretch>
            <a:fillRect/>
          </a:stretch>
        </p:blipFill>
        <p:spPr>
          <a:xfrm>
            <a:off x="3592220" y="1397660"/>
            <a:ext cx="231343" cy="231343"/>
          </a:xfrm>
          <a:prstGeom prst="rect">
            <a:avLst/>
          </a:prstGeom>
        </p:spPr>
      </p:pic>
      <p:sp>
        <p:nvSpPr>
          <p:cNvPr id="14" name="Text 10"/>
          <p:cNvSpPr txBox="1"/>
          <p:nvPr/>
        </p:nvSpPr>
        <p:spPr>
          <a:xfrm>
            <a:off x="4078224" y="1261872"/>
            <a:ext cx="1737360" cy="50292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Percabangan</a:t>
            </a:r>
            <a:endParaRPr lang="en-US" sz="1600" dirty="0"/>
          </a:p>
        </p:txBody>
      </p:sp>
      <p:sp>
        <p:nvSpPr>
          <p:cNvPr id="15" name="Text 11"/>
          <p:cNvSpPr txBox="1"/>
          <p:nvPr/>
        </p:nvSpPr>
        <p:spPr>
          <a:xfrm>
            <a:off x="3456432" y="1874520"/>
            <a:ext cx="2240280"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Memilih langkah berdasarkan kondisi benar atau salah.</a:t>
            </a:r>
            <a:endParaRPr lang="en-US" sz="1300" dirty="0"/>
          </a:p>
        </p:txBody>
      </p:sp>
      <p:sp>
        <p:nvSpPr>
          <p:cNvPr id="16" name="Shape 12"/>
          <p:cNvSpPr/>
          <p:nvPr/>
        </p:nvSpPr>
        <p:spPr>
          <a:xfrm>
            <a:off x="3456432" y="2606040"/>
            <a:ext cx="2240280" cy="1051560"/>
          </a:xfrm>
          <a:prstGeom prst="roundRect">
            <a:avLst>
              <a:gd name="adj" fmla="val 10435"/>
            </a:avLst>
          </a:prstGeom>
          <a:solidFill>
            <a:schemeClr val="tx1"/>
          </a:solidFill>
          <a:ln w="12700">
            <a:solidFill>
              <a:schemeClr val="tx1"/>
            </a:solidFill>
            <a:prstDash val="solid"/>
          </a:ln>
        </p:spPr>
      </p:sp>
      <p:sp>
        <p:nvSpPr>
          <p:cNvPr id="17" name="Text 13"/>
          <p:cNvSpPr txBox="1"/>
          <p:nvPr/>
        </p:nvSpPr>
        <p:spPr>
          <a:xfrm>
            <a:off x="3566160" y="2633472"/>
            <a:ext cx="2057400" cy="996696"/>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IF hujan THEN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bawa payung</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ELSE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pakai topi</a:t>
            </a:r>
            <a:endParaRPr lang="en-US" sz="1200" dirty="0"/>
          </a:p>
        </p:txBody>
      </p:sp>
      <p:sp>
        <p:nvSpPr>
          <p:cNvPr id="18" name="Text 14"/>
          <p:cNvSpPr txBox="1"/>
          <p:nvPr/>
        </p:nvSpPr>
        <p:spPr>
          <a:xfrm>
            <a:off x="3456432" y="3749040"/>
            <a:ext cx="2240280" cy="640080"/>
          </a:xfrm>
          <a:prstGeom prst="rect">
            <a:avLst/>
          </a:prstGeom>
          <a:noFill/>
          <a:ln/>
        </p:spPr>
        <p:txBody>
          <a:bodyPr wrap="square" lIns="0" tIns="0" rIns="0" bIns="0" rtlCol="0" anchor="t"/>
          <a:lstStyle/>
          <a:p>
            <a:pPr indent="0" marL="0">
              <a:buNone/>
            </a:pPr>
            <a:r>
              <a:rPr lang="en-US" sz="1200" b="1" dirty="0">
                <a:solidFill>
                  <a:schemeClr val="accent4"/>
                </a:solidFill>
                <a:latin typeface="Calibri" pitchFamily="34" charset="0"/>
                <a:ea typeface="Calibri" pitchFamily="34" charset="-122"/>
                <a:cs typeface="Calibri" pitchFamily="34" charset="-120"/>
              </a:rPr>
              <a:t>Contoh: </a:t>
            </a:r>
            <a:pPr indent="0" marL="0">
              <a:buNone/>
            </a:pPr>
            <a:r>
              <a:rPr lang="en-US" sz="1200" dirty="0">
                <a:solidFill>
                  <a:schemeClr val="tx1"/>
                </a:solidFill>
                <a:latin typeface="Calibri" pitchFamily="34" charset="0"/>
                <a:ea typeface="Calibri" pitchFamily="34" charset="-122"/>
                <a:cs typeface="Calibri" pitchFamily="34" charset="-120"/>
              </a:rPr>
              <a:t>Jika lampu merah, berhenti</a:t>
            </a:r>
            <a:endParaRPr lang="en-US" sz="1200" dirty="0"/>
          </a:p>
        </p:txBody>
      </p:sp>
      <p:sp>
        <p:nvSpPr>
          <p:cNvPr id="19" name="Perulangan"/>
          <p:cNvSpPr/>
          <p:nvPr/>
        </p:nvSpPr>
        <p:spPr>
          <a:xfrm>
            <a:off x="6089904" y="1097280"/>
            <a:ext cx="2606040" cy="3383280"/>
          </a:xfrm>
          <a:prstGeom prst="roundRect">
            <a:avLst>
              <a:gd name="adj" fmla="val 4211"/>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20" name="icon circle"/>
          <p:cNvSpPr/>
          <p:nvPr/>
        </p:nvSpPr>
        <p:spPr>
          <a:xfrm>
            <a:off x="6272784" y="1261872"/>
            <a:ext cx="502920" cy="502920"/>
          </a:xfrm>
          <a:prstGeom prst="ellipse">
            <a:avLst/>
          </a:prstGeom>
          <a:solidFill>
            <a:schemeClr val="accent1"/>
          </a:solidFill>
          <a:ln w="12700">
            <a:solidFill>
              <a:schemeClr val="accent1"/>
            </a:solidFill>
            <a:prstDash val="solid"/>
          </a:ln>
        </p:spPr>
      </p:sp>
      <p:pic>
        <p:nvPicPr>
          <p:cNvPr id="21" name="icon" descr="preencoded.png">    </p:cNvPr>
          <p:cNvPicPr>
            <a:picLocks noChangeAspect="1"/>
          </p:cNvPicPr>
          <p:nvPr/>
        </p:nvPicPr>
        <p:blipFill>
          <a:blip r:embed="rId3"/>
          <a:stretch>
            <a:fillRect/>
          </a:stretch>
        </p:blipFill>
        <p:spPr>
          <a:xfrm>
            <a:off x="6408572" y="1397660"/>
            <a:ext cx="231343" cy="231343"/>
          </a:xfrm>
          <a:prstGeom prst="rect">
            <a:avLst/>
          </a:prstGeom>
        </p:spPr>
      </p:pic>
      <p:sp>
        <p:nvSpPr>
          <p:cNvPr id="22" name="Text 17"/>
          <p:cNvSpPr txBox="1"/>
          <p:nvPr/>
        </p:nvSpPr>
        <p:spPr>
          <a:xfrm>
            <a:off x="6894576" y="1261872"/>
            <a:ext cx="1737360" cy="50292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Perulangan</a:t>
            </a:r>
            <a:endParaRPr lang="en-US" sz="1600" dirty="0"/>
          </a:p>
        </p:txBody>
      </p:sp>
      <p:sp>
        <p:nvSpPr>
          <p:cNvPr id="23" name="Text 18"/>
          <p:cNvSpPr txBox="1"/>
          <p:nvPr/>
        </p:nvSpPr>
        <p:spPr>
          <a:xfrm>
            <a:off x="6272784" y="1874520"/>
            <a:ext cx="2240280"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Mengulang langkah selama kondisi terpenuhi atau sejumlah kali.</a:t>
            </a:r>
            <a:endParaRPr lang="en-US" sz="1300" dirty="0"/>
          </a:p>
        </p:txBody>
      </p:sp>
      <p:sp>
        <p:nvSpPr>
          <p:cNvPr id="24" name="Shape 19"/>
          <p:cNvSpPr/>
          <p:nvPr/>
        </p:nvSpPr>
        <p:spPr>
          <a:xfrm>
            <a:off x="6272784" y="2606040"/>
            <a:ext cx="2240280" cy="1051560"/>
          </a:xfrm>
          <a:prstGeom prst="roundRect">
            <a:avLst>
              <a:gd name="adj" fmla="val 10435"/>
            </a:avLst>
          </a:prstGeom>
          <a:solidFill>
            <a:schemeClr val="tx1"/>
          </a:solidFill>
          <a:ln w="12700">
            <a:solidFill>
              <a:schemeClr val="tx1"/>
            </a:solidFill>
            <a:prstDash val="solid"/>
          </a:ln>
        </p:spPr>
      </p:sp>
      <p:sp>
        <p:nvSpPr>
          <p:cNvPr id="25" name="Text 20"/>
          <p:cNvSpPr txBox="1"/>
          <p:nvPr/>
        </p:nvSpPr>
        <p:spPr>
          <a:xfrm>
            <a:off x="6382512" y="2633472"/>
            <a:ext cx="2057400" cy="996696"/>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FOR i = 1 TO 10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push-up</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END FOR</a:t>
            </a:r>
            <a:endParaRPr lang="en-US" sz="1200" dirty="0"/>
          </a:p>
        </p:txBody>
      </p:sp>
      <p:sp>
        <p:nvSpPr>
          <p:cNvPr id="26" name="Text 21"/>
          <p:cNvSpPr txBox="1"/>
          <p:nvPr/>
        </p:nvSpPr>
        <p:spPr>
          <a:xfrm>
            <a:off x="6272784" y="3749040"/>
            <a:ext cx="2240280" cy="64008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Contoh: </a:t>
            </a:r>
            <a:pPr indent="0" marL="0">
              <a:buNone/>
            </a:pPr>
            <a:r>
              <a:rPr lang="en-US" sz="1200" dirty="0">
                <a:solidFill>
                  <a:schemeClr val="tx1"/>
                </a:solidFill>
                <a:latin typeface="Calibri" pitchFamily="34" charset="0"/>
                <a:ea typeface="Calibri" pitchFamily="34" charset="-122"/>
                <a:cs typeface="Calibri" pitchFamily="34" charset="-120"/>
              </a:rPr>
              <a:t>Menyikat gigi tiap pagi dan malam</a:t>
            </a:r>
            <a:endParaRPr lang="en-US" sz="12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Studi Kasus: Membuat Teh Manis</a:t>
            </a:r>
            <a:endParaRPr lang="en-US" sz="2800" dirty="0"/>
          </a:p>
        </p:txBody>
      </p:sp>
      <p:sp>
        <p:nvSpPr>
          <p:cNvPr id="3" name="Pseudocode teh"/>
          <p:cNvSpPr/>
          <p:nvPr/>
        </p:nvSpPr>
        <p:spPr>
          <a:xfrm>
            <a:off x="457200" y="1097280"/>
            <a:ext cx="3840480" cy="3383280"/>
          </a:xfrm>
          <a:prstGeom prst="roundRect">
            <a:avLst>
              <a:gd name="adj" fmla="val 3243"/>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4" name="Text 2"/>
          <p:cNvSpPr txBox="1"/>
          <p:nvPr/>
        </p:nvSpPr>
        <p:spPr>
          <a:xfrm>
            <a:off x="640080" y="1188720"/>
            <a:ext cx="3474720" cy="3200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Pseudocode</a:t>
            </a:r>
            <a:endParaRPr lang="en-US" sz="1500" dirty="0"/>
          </a:p>
        </p:txBody>
      </p:sp>
      <p:sp>
        <p:nvSpPr>
          <p:cNvPr id="5" name="Shape 3"/>
          <p:cNvSpPr/>
          <p:nvPr/>
        </p:nvSpPr>
        <p:spPr>
          <a:xfrm>
            <a:off x="640080" y="1600200"/>
            <a:ext cx="3474720" cy="2194560"/>
          </a:xfrm>
          <a:prstGeom prst="roundRect">
            <a:avLst>
              <a:gd name="adj" fmla="val 5000"/>
            </a:avLst>
          </a:prstGeom>
          <a:solidFill>
            <a:schemeClr val="tx1"/>
          </a:solidFill>
          <a:ln w="12700">
            <a:solidFill>
              <a:schemeClr val="tx1"/>
            </a:solidFill>
            <a:prstDash val="solid"/>
          </a:ln>
        </p:spPr>
      </p:sp>
      <p:sp>
        <p:nvSpPr>
          <p:cNvPr id="6" name="Text 4"/>
          <p:cNvSpPr txBox="1"/>
          <p:nvPr/>
        </p:nvSpPr>
        <p:spPr>
          <a:xfrm>
            <a:off x="749808" y="1645920"/>
            <a:ext cx="3291840" cy="2103120"/>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MULAI</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Rebus air</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WHILE air belum mendidih</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tunggu</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END WHILE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Seduh teh di gelas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REPEAT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tambah 1 sendok gula, aduk</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UNTIL rasa cukup manis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SELESAI</a:t>
            </a:r>
            <a:endParaRPr lang="en-US" sz="1100" dirty="0"/>
          </a:p>
        </p:txBody>
      </p:sp>
      <p:sp>
        <p:nvSpPr>
          <p:cNvPr id="7" name="Text 5"/>
          <p:cNvSpPr txBox="1"/>
          <p:nvPr/>
        </p:nvSpPr>
        <p:spPr>
          <a:xfrm>
            <a:off x="640080" y="3886200"/>
            <a:ext cx="3474720" cy="502920"/>
          </a:xfrm>
          <a:prstGeom prst="rect">
            <a:avLst/>
          </a:prstGeom>
          <a:noFill/>
          <a:ln/>
        </p:spPr>
        <p:txBody>
          <a:bodyPr wrap="square" lIns="0" tIns="0" rIns="0" bIns="0" rtlCol="0" anchor="t"/>
          <a:lstStyle/>
          <a:p>
            <a:pPr indent="0" marL="0">
              <a:buNone/>
            </a:pPr>
            <a:r>
              <a:rPr lang="en-US" sz="1200" i="1" dirty="0">
                <a:solidFill>
                  <a:schemeClr val="accent5"/>
                </a:solidFill>
                <a:latin typeface="Calibri" pitchFamily="34" charset="0"/>
                <a:ea typeface="Calibri" pitchFamily="34" charset="-122"/>
                <a:cs typeface="Calibri" pitchFamily="34" charset="-120"/>
              </a:rPr>
              <a:t>Memuat ketiga struktur: sekuensial, percabangan (kondisi), dan perulangan.</a:t>
            </a:r>
            <a:endParaRPr lang="en-US" sz="1200" dirty="0"/>
          </a:p>
        </p:txBody>
      </p:sp>
      <p:sp>
        <p:nvSpPr>
          <p:cNvPr id="8" name="Mulai"/>
          <p:cNvSpPr/>
          <p:nvPr/>
        </p:nvSpPr>
        <p:spPr>
          <a:xfrm>
            <a:off x="5074920" y="1097280"/>
            <a:ext cx="1920240" cy="365760"/>
          </a:xfrm>
          <a:prstGeom prst="flowChartTerminator">
            <a:avLst/>
          </a:prstGeom>
          <a:solidFill>
            <a:schemeClr val="accent1"/>
          </a:solidFill>
          <a:ln w="12700">
            <a:solidFill>
              <a:schemeClr val="accent1"/>
            </a:solidFill>
            <a:prstDash val="solid"/>
          </a:ln>
        </p:spPr>
      </p:sp>
      <p:sp>
        <p:nvSpPr>
          <p:cNvPr id="9" name="Text 7"/>
          <p:cNvSpPr txBox="1"/>
          <p:nvPr/>
        </p:nvSpPr>
        <p:spPr>
          <a:xfrm>
            <a:off x="5074920" y="1097280"/>
            <a:ext cx="192024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Mulai</a:t>
            </a:r>
            <a:endParaRPr lang="en-US" sz="1200" dirty="0"/>
          </a:p>
        </p:txBody>
      </p:sp>
      <p:sp>
        <p:nvSpPr>
          <p:cNvPr id="10" name="Shape 8"/>
          <p:cNvSpPr/>
          <p:nvPr/>
        </p:nvSpPr>
        <p:spPr>
          <a:xfrm>
            <a:off x="6035040" y="1463040"/>
            <a:ext cx="0" cy="164592"/>
          </a:xfrm>
          <a:prstGeom prst="line">
            <a:avLst/>
          </a:prstGeom>
          <a:noFill/>
          <a:ln w="19050">
            <a:solidFill>
              <a:srgbClr val="1A1F2E"/>
            </a:solidFill>
            <a:prstDash val="solid"/>
            <a:tailEnd type="triangle"/>
          </a:ln>
        </p:spPr>
      </p:sp>
      <p:sp>
        <p:nvSpPr>
          <p:cNvPr id="11" name="Rebus air"/>
          <p:cNvSpPr/>
          <p:nvPr/>
        </p:nvSpPr>
        <p:spPr>
          <a:xfrm>
            <a:off x="5074920" y="1627632"/>
            <a:ext cx="1920240" cy="384048"/>
          </a:xfrm>
          <a:prstGeom prst="flowChartProcess">
            <a:avLst/>
          </a:prstGeom>
          <a:solidFill>
            <a:schemeClr val="accent3"/>
          </a:solidFill>
          <a:ln w="12700">
            <a:solidFill>
              <a:schemeClr val="accent3"/>
            </a:solidFill>
            <a:prstDash val="solid"/>
          </a:ln>
        </p:spPr>
      </p:sp>
      <p:sp>
        <p:nvSpPr>
          <p:cNvPr id="12" name="Text 10"/>
          <p:cNvSpPr txBox="1"/>
          <p:nvPr/>
        </p:nvSpPr>
        <p:spPr>
          <a:xfrm>
            <a:off x="5074920" y="1627632"/>
            <a:ext cx="1920240" cy="384048"/>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Rebus air</a:t>
            </a:r>
            <a:endParaRPr lang="en-US" sz="1200" dirty="0"/>
          </a:p>
        </p:txBody>
      </p:sp>
      <p:sp>
        <p:nvSpPr>
          <p:cNvPr id="13" name="Shape 11"/>
          <p:cNvSpPr/>
          <p:nvPr/>
        </p:nvSpPr>
        <p:spPr>
          <a:xfrm>
            <a:off x="6035040" y="2011680"/>
            <a:ext cx="0" cy="164592"/>
          </a:xfrm>
          <a:prstGeom prst="line">
            <a:avLst/>
          </a:prstGeom>
          <a:noFill/>
          <a:ln w="19050">
            <a:solidFill>
              <a:srgbClr val="1A1F2E"/>
            </a:solidFill>
            <a:prstDash val="solid"/>
            <a:tailEnd type="triangle"/>
          </a:ln>
        </p:spPr>
      </p:sp>
      <p:sp>
        <p:nvSpPr>
          <p:cNvPr id="14" name="Mendidih?"/>
          <p:cNvSpPr/>
          <p:nvPr/>
        </p:nvSpPr>
        <p:spPr>
          <a:xfrm>
            <a:off x="5257800" y="2176272"/>
            <a:ext cx="1554480" cy="566928"/>
          </a:xfrm>
          <a:prstGeom prst="flowChartDecision">
            <a:avLst/>
          </a:prstGeom>
          <a:solidFill>
            <a:schemeClr val="accent4"/>
          </a:solidFill>
          <a:ln w="12700">
            <a:solidFill>
              <a:schemeClr val="accent4"/>
            </a:solidFill>
            <a:prstDash val="solid"/>
          </a:ln>
        </p:spPr>
      </p:sp>
      <p:sp>
        <p:nvSpPr>
          <p:cNvPr id="15" name="Text 13"/>
          <p:cNvSpPr txBox="1"/>
          <p:nvPr/>
        </p:nvSpPr>
        <p:spPr>
          <a:xfrm>
            <a:off x="5257800" y="2176272"/>
            <a:ext cx="1554480" cy="566928"/>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Mendidih?</a:t>
            </a:r>
            <a:endParaRPr lang="en-US" sz="1200" dirty="0"/>
          </a:p>
        </p:txBody>
      </p:sp>
      <p:sp>
        <p:nvSpPr>
          <p:cNvPr id="16" name="Shape 14"/>
          <p:cNvSpPr/>
          <p:nvPr/>
        </p:nvSpPr>
        <p:spPr>
          <a:xfrm>
            <a:off x="6035040" y="2743200"/>
            <a:ext cx="0" cy="164592"/>
          </a:xfrm>
          <a:prstGeom prst="line">
            <a:avLst/>
          </a:prstGeom>
          <a:noFill/>
          <a:ln w="19050">
            <a:solidFill>
              <a:srgbClr val="1A1F2E"/>
            </a:solidFill>
            <a:prstDash val="solid"/>
            <a:tailEnd type="triangle"/>
          </a:ln>
        </p:spPr>
      </p:sp>
      <p:sp>
        <p:nvSpPr>
          <p:cNvPr id="17" name="Seduh teh + gula"/>
          <p:cNvSpPr/>
          <p:nvPr/>
        </p:nvSpPr>
        <p:spPr>
          <a:xfrm>
            <a:off x="5074920" y="2907792"/>
            <a:ext cx="1920240" cy="384048"/>
          </a:xfrm>
          <a:prstGeom prst="flowChartProcess">
            <a:avLst/>
          </a:prstGeom>
          <a:solidFill>
            <a:schemeClr val="accent3"/>
          </a:solidFill>
          <a:ln w="12700">
            <a:solidFill>
              <a:schemeClr val="accent3"/>
            </a:solidFill>
            <a:prstDash val="solid"/>
          </a:ln>
        </p:spPr>
      </p:sp>
      <p:sp>
        <p:nvSpPr>
          <p:cNvPr id="18" name="Text 16"/>
          <p:cNvSpPr txBox="1"/>
          <p:nvPr/>
        </p:nvSpPr>
        <p:spPr>
          <a:xfrm>
            <a:off x="5074920" y="2907792"/>
            <a:ext cx="1920240" cy="384048"/>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Seduh teh + gula</a:t>
            </a:r>
            <a:endParaRPr lang="en-US" sz="1200" dirty="0"/>
          </a:p>
        </p:txBody>
      </p:sp>
      <p:sp>
        <p:nvSpPr>
          <p:cNvPr id="19" name="Shape 17"/>
          <p:cNvSpPr/>
          <p:nvPr/>
        </p:nvSpPr>
        <p:spPr>
          <a:xfrm>
            <a:off x="6035040" y="3291840"/>
            <a:ext cx="0" cy="164592"/>
          </a:xfrm>
          <a:prstGeom prst="line">
            <a:avLst/>
          </a:prstGeom>
          <a:noFill/>
          <a:ln w="19050">
            <a:solidFill>
              <a:srgbClr val="1A1F2E"/>
            </a:solidFill>
            <a:prstDash val="solid"/>
            <a:tailEnd type="triangle"/>
          </a:ln>
        </p:spPr>
      </p:sp>
      <p:sp>
        <p:nvSpPr>
          <p:cNvPr id="20" name="Cukup manis?"/>
          <p:cNvSpPr/>
          <p:nvPr/>
        </p:nvSpPr>
        <p:spPr>
          <a:xfrm>
            <a:off x="5257800" y="3456432"/>
            <a:ext cx="1554480" cy="566928"/>
          </a:xfrm>
          <a:prstGeom prst="flowChartDecision">
            <a:avLst/>
          </a:prstGeom>
          <a:solidFill>
            <a:schemeClr val="accent4"/>
          </a:solidFill>
          <a:ln w="12700">
            <a:solidFill>
              <a:schemeClr val="accent4"/>
            </a:solidFill>
            <a:prstDash val="solid"/>
          </a:ln>
        </p:spPr>
      </p:sp>
      <p:sp>
        <p:nvSpPr>
          <p:cNvPr id="21" name="Text 19"/>
          <p:cNvSpPr txBox="1"/>
          <p:nvPr/>
        </p:nvSpPr>
        <p:spPr>
          <a:xfrm>
            <a:off x="5257800" y="3456432"/>
            <a:ext cx="1554480" cy="566928"/>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Cukup manis?</a:t>
            </a:r>
            <a:endParaRPr lang="en-US" sz="1200" dirty="0"/>
          </a:p>
        </p:txBody>
      </p:sp>
      <p:sp>
        <p:nvSpPr>
          <p:cNvPr id="22" name="Shape 20"/>
          <p:cNvSpPr/>
          <p:nvPr/>
        </p:nvSpPr>
        <p:spPr>
          <a:xfrm>
            <a:off x="6035040" y="4023360"/>
            <a:ext cx="0" cy="137160"/>
          </a:xfrm>
          <a:prstGeom prst="line">
            <a:avLst/>
          </a:prstGeom>
          <a:noFill/>
          <a:ln w="19050">
            <a:solidFill>
              <a:srgbClr val="1A1F2E"/>
            </a:solidFill>
            <a:prstDash val="solid"/>
            <a:tailEnd type="triangle"/>
          </a:ln>
        </p:spPr>
      </p:sp>
      <p:sp>
        <p:nvSpPr>
          <p:cNvPr id="23" name="Selesai"/>
          <p:cNvSpPr/>
          <p:nvPr/>
        </p:nvSpPr>
        <p:spPr>
          <a:xfrm>
            <a:off x="5074920" y="4160520"/>
            <a:ext cx="1920240" cy="347472"/>
          </a:xfrm>
          <a:prstGeom prst="flowChartTerminator">
            <a:avLst/>
          </a:prstGeom>
          <a:solidFill>
            <a:schemeClr val="accent1"/>
          </a:solidFill>
          <a:ln w="12700">
            <a:solidFill>
              <a:schemeClr val="accent1"/>
            </a:solidFill>
            <a:prstDash val="solid"/>
          </a:ln>
        </p:spPr>
      </p:sp>
      <p:sp>
        <p:nvSpPr>
          <p:cNvPr id="24" name="Text 22"/>
          <p:cNvSpPr txBox="1"/>
          <p:nvPr/>
        </p:nvSpPr>
        <p:spPr>
          <a:xfrm>
            <a:off x="5074920" y="4160520"/>
            <a:ext cx="1920240"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Selesai</a:t>
            </a:r>
            <a:endParaRPr lang="en-US" sz="1200" dirty="0"/>
          </a:p>
        </p:txBody>
      </p:sp>
      <p:sp>
        <p:nvSpPr>
          <p:cNvPr id="25" name="Shape 23"/>
          <p:cNvSpPr/>
          <p:nvPr/>
        </p:nvSpPr>
        <p:spPr>
          <a:xfrm>
            <a:off x="6812280" y="2459736"/>
            <a:ext cx="548640" cy="0"/>
          </a:xfrm>
          <a:prstGeom prst="line">
            <a:avLst/>
          </a:prstGeom>
          <a:noFill/>
          <a:ln w="19050">
            <a:solidFill>
              <a:srgbClr val="1A1F2E"/>
            </a:solidFill>
            <a:prstDash val="solid"/>
          </a:ln>
        </p:spPr>
      </p:sp>
      <p:sp>
        <p:nvSpPr>
          <p:cNvPr id="26" name="Shape 24"/>
          <p:cNvSpPr/>
          <p:nvPr/>
        </p:nvSpPr>
        <p:spPr>
          <a:xfrm>
            <a:off x="7360920" y="1819656"/>
            <a:ext cx="0" cy="640080"/>
          </a:xfrm>
          <a:prstGeom prst="line">
            <a:avLst/>
          </a:prstGeom>
          <a:noFill/>
          <a:ln w="19050">
            <a:solidFill>
              <a:srgbClr val="1A1F2E"/>
            </a:solidFill>
            <a:prstDash val="solid"/>
          </a:ln>
        </p:spPr>
      </p:sp>
      <p:sp>
        <p:nvSpPr>
          <p:cNvPr id="27" name="Shape 25"/>
          <p:cNvSpPr/>
          <p:nvPr/>
        </p:nvSpPr>
        <p:spPr>
          <a:xfrm>
            <a:off x="7360920" y="1819656"/>
            <a:ext cx="-365760" cy="0"/>
          </a:xfrm>
          <a:prstGeom prst="line">
            <a:avLst/>
          </a:prstGeom>
          <a:noFill/>
          <a:ln w="19050">
            <a:solidFill>
              <a:srgbClr val="1A1F2E"/>
            </a:solidFill>
            <a:prstDash val="solid"/>
            <a:tailEnd type="triangle"/>
          </a:ln>
        </p:spPr>
      </p:sp>
      <p:sp>
        <p:nvSpPr>
          <p:cNvPr id="28" name="Shape 26"/>
          <p:cNvSpPr/>
          <p:nvPr/>
        </p:nvSpPr>
        <p:spPr>
          <a:xfrm flipH="1">
            <a:off x="6995160" y="1819656"/>
            <a:ext cx="365760" cy="0"/>
          </a:xfrm>
          <a:prstGeom prst="line">
            <a:avLst/>
          </a:prstGeom>
          <a:noFill/>
          <a:ln w="19050">
            <a:solidFill>
              <a:srgbClr val="1A1F2E"/>
            </a:solidFill>
            <a:prstDash val="solid"/>
            <a:tailEnd type="triangle"/>
          </a:ln>
        </p:spPr>
      </p:sp>
      <p:sp>
        <p:nvSpPr>
          <p:cNvPr id="29" name="Text 27"/>
          <p:cNvSpPr txBox="1"/>
          <p:nvPr/>
        </p:nvSpPr>
        <p:spPr>
          <a:xfrm>
            <a:off x="6830568" y="2221992"/>
            <a:ext cx="548640" cy="228600"/>
          </a:xfrm>
          <a:prstGeom prst="rect">
            <a:avLst/>
          </a:prstGeom>
          <a:noFill/>
          <a:ln/>
        </p:spPr>
        <p:txBody>
          <a:bodyPr wrap="square" lIns="0" tIns="0" rIns="0" bIns="0" rtlCol="0" anchor="t"/>
          <a:lstStyle/>
          <a:p>
            <a:pPr indent="0" marL="0">
              <a:buNone/>
            </a:pPr>
            <a:r>
              <a:rPr lang="en-US" sz="1100" b="1" dirty="0">
                <a:solidFill>
                  <a:schemeClr val="accent3"/>
                </a:solidFill>
                <a:latin typeface="Calibri" pitchFamily="34" charset="0"/>
                <a:ea typeface="Calibri" pitchFamily="34" charset="-122"/>
                <a:cs typeface="Calibri" pitchFamily="34" charset="-120"/>
              </a:rPr>
              <a:t>Tidak</a:t>
            </a:r>
            <a:endParaRPr lang="en-US" sz="1100" dirty="0"/>
          </a:p>
        </p:txBody>
      </p:sp>
      <p:sp>
        <p:nvSpPr>
          <p:cNvPr id="30" name="Shape 28"/>
          <p:cNvSpPr/>
          <p:nvPr/>
        </p:nvSpPr>
        <p:spPr>
          <a:xfrm>
            <a:off x="6812280" y="3739896"/>
            <a:ext cx="548640" cy="0"/>
          </a:xfrm>
          <a:prstGeom prst="line">
            <a:avLst/>
          </a:prstGeom>
          <a:noFill/>
          <a:ln w="19050">
            <a:solidFill>
              <a:srgbClr val="1A1F2E"/>
            </a:solidFill>
            <a:prstDash val="solid"/>
          </a:ln>
        </p:spPr>
      </p:sp>
      <p:sp>
        <p:nvSpPr>
          <p:cNvPr id="31" name="Shape 29"/>
          <p:cNvSpPr/>
          <p:nvPr/>
        </p:nvSpPr>
        <p:spPr>
          <a:xfrm>
            <a:off x="7360920" y="3099816"/>
            <a:ext cx="0" cy="640080"/>
          </a:xfrm>
          <a:prstGeom prst="line">
            <a:avLst/>
          </a:prstGeom>
          <a:noFill/>
          <a:ln w="19050">
            <a:solidFill>
              <a:srgbClr val="1A1F2E"/>
            </a:solidFill>
            <a:prstDash val="solid"/>
          </a:ln>
        </p:spPr>
      </p:sp>
      <p:sp>
        <p:nvSpPr>
          <p:cNvPr id="32" name="Shape 30"/>
          <p:cNvSpPr/>
          <p:nvPr/>
        </p:nvSpPr>
        <p:spPr>
          <a:xfrm flipH="1">
            <a:off x="6995160" y="3099816"/>
            <a:ext cx="365760" cy="0"/>
          </a:xfrm>
          <a:prstGeom prst="line">
            <a:avLst/>
          </a:prstGeom>
          <a:noFill/>
          <a:ln w="19050">
            <a:solidFill>
              <a:srgbClr val="1A1F2E"/>
            </a:solidFill>
            <a:prstDash val="solid"/>
            <a:tailEnd type="triangle"/>
          </a:ln>
        </p:spPr>
      </p:sp>
      <p:sp>
        <p:nvSpPr>
          <p:cNvPr id="33" name="Text 31"/>
          <p:cNvSpPr txBox="1"/>
          <p:nvPr/>
        </p:nvSpPr>
        <p:spPr>
          <a:xfrm>
            <a:off x="6830568" y="3502152"/>
            <a:ext cx="548640" cy="228600"/>
          </a:xfrm>
          <a:prstGeom prst="rect">
            <a:avLst/>
          </a:prstGeom>
          <a:noFill/>
          <a:ln/>
        </p:spPr>
        <p:txBody>
          <a:bodyPr wrap="square" lIns="0" tIns="0" rIns="0" bIns="0" rtlCol="0" anchor="t"/>
          <a:lstStyle/>
          <a:p>
            <a:pPr indent="0" marL="0">
              <a:buNone/>
            </a:pPr>
            <a:r>
              <a:rPr lang="en-US" sz="1100" b="1" dirty="0">
                <a:solidFill>
                  <a:schemeClr val="accent3"/>
                </a:solidFill>
                <a:latin typeface="Calibri" pitchFamily="34" charset="0"/>
                <a:ea typeface="Calibri" pitchFamily="34" charset="-122"/>
                <a:cs typeface="Calibri" pitchFamily="34" charset="-120"/>
              </a:rPr>
              <a:t>Tidak</a:t>
            </a:r>
            <a:endParaRPr lang="en-US" sz="1100" dirty="0"/>
          </a:p>
        </p:txBody>
      </p:sp>
      <p:sp>
        <p:nvSpPr>
          <p:cNvPr id="34" name="Text 32"/>
          <p:cNvSpPr txBox="1"/>
          <p:nvPr/>
        </p:nvSpPr>
        <p:spPr>
          <a:xfrm>
            <a:off x="6108192" y="2724912"/>
            <a:ext cx="365760" cy="201168"/>
          </a:xfrm>
          <a:prstGeom prst="rect">
            <a:avLst/>
          </a:prstGeom>
          <a:noFill/>
          <a:ln/>
        </p:spPr>
        <p:txBody>
          <a:bodyPr wrap="square" lIns="0" tIns="0" rIns="0" bIns="0" rtlCol="0" anchor="t"/>
          <a:lstStyle/>
          <a:p>
            <a:pPr indent="0" marL="0">
              <a:buNone/>
            </a:pPr>
            <a:r>
              <a:rPr lang="en-US" sz="1100" b="1" dirty="0">
                <a:solidFill>
                  <a:schemeClr val="accent6"/>
                </a:solidFill>
                <a:latin typeface="Calibri" pitchFamily="34" charset="0"/>
                <a:ea typeface="Calibri" pitchFamily="34" charset="-122"/>
                <a:cs typeface="Calibri" pitchFamily="34" charset="-120"/>
              </a:rPr>
              <a:t>Ya</a:t>
            </a:r>
            <a:endParaRPr lang="en-US" sz="1100" dirty="0"/>
          </a:p>
        </p:txBody>
      </p:sp>
      <p:sp>
        <p:nvSpPr>
          <p:cNvPr id="35" name="Text 33"/>
          <p:cNvSpPr txBox="1"/>
          <p:nvPr/>
        </p:nvSpPr>
        <p:spPr>
          <a:xfrm>
            <a:off x="6108192" y="4005072"/>
            <a:ext cx="365760" cy="182880"/>
          </a:xfrm>
          <a:prstGeom prst="rect">
            <a:avLst/>
          </a:prstGeom>
          <a:noFill/>
          <a:ln/>
        </p:spPr>
        <p:txBody>
          <a:bodyPr wrap="square" lIns="0" tIns="0" rIns="0" bIns="0" rtlCol="0" anchor="t"/>
          <a:lstStyle/>
          <a:p>
            <a:pPr indent="0" marL="0">
              <a:buNone/>
            </a:pPr>
            <a:r>
              <a:rPr lang="en-US" sz="1100" b="1" dirty="0">
                <a:solidFill>
                  <a:schemeClr val="accent6"/>
                </a:solidFill>
                <a:latin typeface="Calibri" pitchFamily="34" charset="0"/>
                <a:ea typeface="Calibri" pitchFamily="34" charset="-122"/>
                <a:cs typeface="Calibri" pitchFamily="34" charset="-120"/>
              </a:rPr>
              <a:t>Ya</a:t>
            </a:r>
            <a:endParaRPr lang="en-US" sz="1100" dirty="0"/>
          </a:p>
        </p:txBody>
      </p:sp>
      <p:pic>
        <p:nvPicPr>
          <p:cNvPr id="36" name="Ikon teh" descr="preencoded.png">    </p:cNvPr>
          <p:cNvPicPr>
            <a:picLocks noChangeAspect="1"/>
          </p:cNvPicPr>
          <p:nvPr/>
        </p:nvPicPr>
        <p:blipFill>
          <a:blip r:embed="rId1"/>
          <a:stretch>
            <a:fillRect/>
          </a:stretch>
        </p:blipFill>
        <p:spPr>
          <a:xfrm>
            <a:off x="4526280" y="3840480"/>
            <a:ext cx="548640" cy="548640"/>
          </a:xfrm>
          <a:prstGeom prst="rect">
            <a:avLst/>
          </a:prstGeom>
        </p:spPr>
      </p:pic>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1325880"/>
            <a:ext cx="2743200" cy="82296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04</a:t>
            </a:r>
            <a:endParaRPr lang="en-US" sz="5400" dirty="0"/>
          </a:p>
        </p:txBody>
      </p:sp>
      <p:sp>
        <p:nvSpPr>
          <p:cNvPr id="3" name="Text 0"/>
          <p:cNvSpPr/>
          <p:nvPr>
            <p:ph idx="100" type="title" hasCustomPrompt="1"/>
          </p:nvPr>
        </p:nvSpPr>
        <p:spPr>
          <a:xfrm>
            <a:off x="548640" y="2240280"/>
            <a:ext cx="5669280" cy="118872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Penerapan Computational Thinking</a:t>
            </a:r>
            <a:endParaRPr lang="en-US" sz="3600" dirty="0"/>
          </a:p>
        </p:txBody>
      </p:sp>
      <p:sp>
        <p:nvSpPr>
          <p:cNvPr id="4" name="Text 0"/>
          <p:cNvSpPr/>
          <p:nvPr>
            <p:ph idx="101" type="body" hasCustomPrompt="1"/>
          </p:nvPr>
        </p:nvSpPr>
        <p:spPr>
          <a:xfrm>
            <a:off x="548640" y="3520440"/>
            <a:ext cx="5669280" cy="731520"/>
          </a:xfrm>
          <a:prstGeom prst="rect">
            <a:avLst/>
          </a:prstGeom>
          <a:noFill/>
          <a:ln/>
        </p:spPr>
        <p:txBody>
          <a:bodyPr wrap="square" lIns="0" tIns="0" rIns="0" bIns="0" rtlCol="0" anchor="t"/>
          <a:lstStyle/>
          <a:p>
            <a:pPr indent="0" marL="0">
              <a:buNone/>
            </a:pPr>
            <a:r>
              <a:rPr lang="en-US" sz="1600" dirty="0">
                <a:solidFill>
                  <a:schemeClr val="bg2"/>
                </a:solidFill>
                <a:latin typeface="Calibri" pitchFamily="34" charset="0"/>
                <a:ea typeface="Calibri" pitchFamily="34" charset="-122"/>
                <a:cs typeface="Calibri" pitchFamily="34" charset="-120"/>
              </a:rPr>
              <a:t>Dari kehidupan sehari-hari hingga berbagai bidang profesi</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CT dalam Kehidupan Sehari-hari</a:t>
            </a:r>
            <a:endParaRPr lang="en-US" sz="2800" dirty="0"/>
          </a:p>
        </p:txBody>
      </p:sp>
      <p:sp>
        <p:nvSpPr>
          <p:cNvPr id="3" name="Memasak"/>
          <p:cNvSpPr/>
          <p:nvPr/>
        </p:nvSpPr>
        <p:spPr>
          <a:xfrm>
            <a:off x="457200" y="1097280"/>
            <a:ext cx="2651760" cy="1572768"/>
          </a:xfrm>
          <a:prstGeom prst="roundRect">
            <a:avLst>
              <a:gd name="adj" fmla="val 6977"/>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4" name="icon circle"/>
          <p:cNvSpPr/>
          <p:nvPr/>
        </p:nvSpPr>
        <p:spPr>
          <a:xfrm>
            <a:off x="640080" y="1280160"/>
            <a:ext cx="502920" cy="502920"/>
          </a:xfrm>
          <a:prstGeom prst="ellipse">
            <a:avLst/>
          </a:prstGeom>
          <a:solidFill>
            <a:schemeClr val="accent3"/>
          </a:solidFill>
          <a:ln w="12700">
            <a:solidFill>
              <a:schemeClr val="accent3"/>
            </a:solidFill>
            <a:prstDash val="solid"/>
          </a:ln>
        </p:spPr>
      </p:sp>
      <p:pic>
        <p:nvPicPr>
          <p:cNvPr id="5" name="icon" descr="preencoded.png">    </p:cNvPr>
          <p:cNvPicPr>
            <a:picLocks noChangeAspect="1"/>
          </p:cNvPicPr>
          <p:nvPr/>
        </p:nvPicPr>
        <p:blipFill>
          <a:blip r:embed="rId1"/>
          <a:stretch>
            <a:fillRect/>
          </a:stretch>
        </p:blipFill>
        <p:spPr>
          <a:xfrm>
            <a:off x="775868" y="1415948"/>
            <a:ext cx="231343" cy="231343"/>
          </a:xfrm>
          <a:prstGeom prst="rect">
            <a:avLst/>
          </a:prstGeom>
        </p:spPr>
      </p:pic>
      <p:sp>
        <p:nvSpPr>
          <p:cNvPr id="6" name="Text 3"/>
          <p:cNvSpPr txBox="1"/>
          <p:nvPr/>
        </p:nvSpPr>
        <p:spPr>
          <a:xfrm>
            <a:off x="1261872" y="1280160"/>
            <a:ext cx="1737360" cy="50292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Memasak</a:t>
            </a:r>
            <a:endParaRPr lang="en-US" sz="1500" dirty="0"/>
          </a:p>
        </p:txBody>
      </p:sp>
      <p:sp>
        <p:nvSpPr>
          <p:cNvPr id="7" name="Text 4"/>
          <p:cNvSpPr txBox="1"/>
          <p:nvPr/>
        </p:nvSpPr>
        <p:spPr>
          <a:xfrm>
            <a:off x="640080" y="1874520"/>
            <a:ext cx="233172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Resep adalah algoritma: bahan sebagai input, masakan sebagai output.</a:t>
            </a:r>
            <a:endParaRPr lang="en-US" sz="1200" dirty="0"/>
          </a:p>
        </p:txBody>
      </p:sp>
      <p:sp>
        <p:nvSpPr>
          <p:cNvPr id="8" name="Berbelanja"/>
          <p:cNvSpPr/>
          <p:nvPr/>
        </p:nvSpPr>
        <p:spPr>
          <a:xfrm>
            <a:off x="3246120" y="1097280"/>
            <a:ext cx="2651760" cy="1572768"/>
          </a:xfrm>
          <a:prstGeom prst="roundRect">
            <a:avLst>
              <a:gd name="adj" fmla="val 6977"/>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9" name="icon circle"/>
          <p:cNvSpPr/>
          <p:nvPr/>
        </p:nvSpPr>
        <p:spPr>
          <a:xfrm>
            <a:off x="3429000" y="1280160"/>
            <a:ext cx="502920" cy="502920"/>
          </a:xfrm>
          <a:prstGeom prst="ellipse">
            <a:avLst/>
          </a:prstGeom>
          <a:solidFill>
            <a:schemeClr val="accent2"/>
          </a:solidFill>
          <a:ln w="12700">
            <a:solidFill>
              <a:schemeClr val="accent2"/>
            </a:solidFill>
            <a:prstDash val="solid"/>
          </a:ln>
        </p:spPr>
      </p:sp>
      <p:pic>
        <p:nvPicPr>
          <p:cNvPr id="10" name="icon" descr="preencoded.png">    </p:cNvPr>
          <p:cNvPicPr>
            <a:picLocks noChangeAspect="1"/>
          </p:cNvPicPr>
          <p:nvPr/>
        </p:nvPicPr>
        <p:blipFill>
          <a:blip r:embed="rId2"/>
          <a:stretch>
            <a:fillRect/>
          </a:stretch>
        </p:blipFill>
        <p:spPr>
          <a:xfrm>
            <a:off x="3564788" y="1415948"/>
            <a:ext cx="231343" cy="231343"/>
          </a:xfrm>
          <a:prstGeom prst="rect">
            <a:avLst/>
          </a:prstGeom>
        </p:spPr>
      </p:pic>
      <p:sp>
        <p:nvSpPr>
          <p:cNvPr id="11" name="Text 7"/>
          <p:cNvSpPr txBox="1"/>
          <p:nvPr/>
        </p:nvSpPr>
        <p:spPr>
          <a:xfrm>
            <a:off x="4050792" y="1280160"/>
            <a:ext cx="1737360" cy="50292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Berbelanja</a:t>
            </a:r>
            <a:endParaRPr lang="en-US" sz="1500" dirty="0"/>
          </a:p>
        </p:txBody>
      </p:sp>
      <p:sp>
        <p:nvSpPr>
          <p:cNvPr id="12" name="Text 8"/>
          <p:cNvSpPr txBox="1"/>
          <p:nvPr/>
        </p:nvSpPr>
        <p:spPr>
          <a:xfrm>
            <a:off x="3429000" y="1874520"/>
            <a:ext cx="233172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Daftar belanja dikelompokkan per lorong toko agar lebih cepat (dekomposisi &amp; pola).</a:t>
            </a:r>
            <a:endParaRPr lang="en-US" sz="1200" dirty="0"/>
          </a:p>
        </p:txBody>
      </p:sp>
      <p:sp>
        <p:nvSpPr>
          <p:cNvPr id="13" name="Bepergian"/>
          <p:cNvSpPr/>
          <p:nvPr/>
        </p:nvSpPr>
        <p:spPr>
          <a:xfrm>
            <a:off x="6035040" y="1097280"/>
            <a:ext cx="2651760" cy="1572768"/>
          </a:xfrm>
          <a:prstGeom prst="roundRect">
            <a:avLst>
              <a:gd name="adj" fmla="val 6977"/>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14" name="icon circle"/>
          <p:cNvSpPr/>
          <p:nvPr/>
        </p:nvSpPr>
        <p:spPr>
          <a:xfrm>
            <a:off x="6217920" y="1280160"/>
            <a:ext cx="502920" cy="502920"/>
          </a:xfrm>
          <a:prstGeom prst="ellipse">
            <a:avLst/>
          </a:prstGeom>
          <a:solidFill>
            <a:schemeClr val="accent4"/>
          </a:solidFill>
          <a:ln w="12700">
            <a:solidFill>
              <a:schemeClr val="accent4"/>
            </a:solidFill>
            <a:prstDash val="solid"/>
          </a:ln>
        </p:spPr>
      </p:sp>
      <p:pic>
        <p:nvPicPr>
          <p:cNvPr id="15" name="icon" descr="preencoded.png">    </p:cNvPr>
          <p:cNvPicPr>
            <a:picLocks noChangeAspect="1"/>
          </p:cNvPicPr>
          <p:nvPr/>
        </p:nvPicPr>
        <p:blipFill>
          <a:blip r:embed="rId3"/>
          <a:stretch>
            <a:fillRect/>
          </a:stretch>
        </p:blipFill>
        <p:spPr>
          <a:xfrm>
            <a:off x="6353708" y="1415948"/>
            <a:ext cx="231343" cy="231343"/>
          </a:xfrm>
          <a:prstGeom prst="rect">
            <a:avLst/>
          </a:prstGeom>
        </p:spPr>
      </p:pic>
      <p:sp>
        <p:nvSpPr>
          <p:cNvPr id="16" name="Text 11"/>
          <p:cNvSpPr txBox="1"/>
          <p:nvPr/>
        </p:nvSpPr>
        <p:spPr>
          <a:xfrm>
            <a:off x="6839712" y="1280160"/>
            <a:ext cx="1737360" cy="50292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Bepergian</a:t>
            </a:r>
            <a:endParaRPr lang="en-US" sz="1500" dirty="0"/>
          </a:p>
        </p:txBody>
      </p:sp>
      <p:sp>
        <p:nvSpPr>
          <p:cNvPr id="17" name="Text 12"/>
          <p:cNvSpPr txBox="1"/>
          <p:nvPr/>
        </p:nvSpPr>
        <p:spPr>
          <a:xfrm>
            <a:off x="6217920" y="1874520"/>
            <a:ext cx="233172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Aplikasi peta hanya menampilkan rute penting menuju tujuan (abstraksi).</a:t>
            </a:r>
            <a:endParaRPr lang="en-US" sz="1200" dirty="0"/>
          </a:p>
        </p:txBody>
      </p:sp>
      <p:sp>
        <p:nvSpPr>
          <p:cNvPr id="18" name="Jadwal belajar"/>
          <p:cNvSpPr/>
          <p:nvPr/>
        </p:nvSpPr>
        <p:spPr>
          <a:xfrm>
            <a:off x="457200" y="2816352"/>
            <a:ext cx="2651760" cy="1572768"/>
          </a:xfrm>
          <a:prstGeom prst="roundRect">
            <a:avLst>
              <a:gd name="adj" fmla="val 6977"/>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19" name="icon circle"/>
          <p:cNvSpPr/>
          <p:nvPr/>
        </p:nvSpPr>
        <p:spPr>
          <a:xfrm>
            <a:off x="640080" y="2999232"/>
            <a:ext cx="502920" cy="502920"/>
          </a:xfrm>
          <a:prstGeom prst="ellipse">
            <a:avLst/>
          </a:prstGeom>
          <a:solidFill>
            <a:schemeClr val="accent1"/>
          </a:solidFill>
          <a:ln w="12700">
            <a:solidFill>
              <a:schemeClr val="accent1"/>
            </a:solidFill>
            <a:prstDash val="solid"/>
          </a:ln>
        </p:spPr>
      </p:sp>
      <p:pic>
        <p:nvPicPr>
          <p:cNvPr id="20" name="icon" descr="preencoded.png">    </p:cNvPr>
          <p:cNvPicPr>
            <a:picLocks noChangeAspect="1"/>
          </p:cNvPicPr>
          <p:nvPr/>
        </p:nvPicPr>
        <p:blipFill>
          <a:blip r:embed="rId4"/>
          <a:stretch>
            <a:fillRect/>
          </a:stretch>
        </p:blipFill>
        <p:spPr>
          <a:xfrm>
            <a:off x="775868" y="3135020"/>
            <a:ext cx="231343" cy="231343"/>
          </a:xfrm>
          <a:prstGeom prst="rect">
            <a:avLst/>
          </a:prstGeom>
        </p:spPr>
      </p:pic>
      <p:sp>
        <p:nvSpPr>
          <p:cNvPr id="21" name="Text 15"/>
          <p:cNvSpPr txBox="1"/>
          <p:nvPr/>
        </p:nvSpPr>
        <p:spPr>
          <a:xfrm>
            <a:off x="1261872" y="2999232"/>
            <a:ext cx="1737360" cy="50292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Jadwal belajar</a:t>
            </a:r>
            <a:endParaRPr lang="en-US" sz="1500" dirty="0"/>
          </a:p>
        </p:txBody>
      </p:sp>
      <p:sp>
        <p:nvSpPr>
          <p:cNvPr id="22" name="Text 16"/>
          <p:cNvSpPr txBox="1"/>
          <p:nvPr/>
        </p:nvSpPr>
        <p:spPr>
          <a:xfrm>
            <a:off x="640080" y="3593592"/>
            <a:ext cx="233172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Materi ujian dipecah per hari dan per bab (dekomposisi).</a:t>
            </a:r>
            <a:endParaRPr lang="en-US" sz="1200" dirty="0"/>
          </a:p>
        </p:txBody>
      </p:sp>
      <p:sp>
        <p:nvSpPr>
          <p:cNvPr id="23" name="Mencuci pakaian"/>
          <p:cNvSpPr/>
          <p:nvPr/>
        </p:nvSpPr>
        <p:spPr>
          <a:xfrm>
            <a:off x="3246120" y="2816352"/>
            <a:ext cx="2651760" cy="1572768"/>
          </a:xfrm>
          <a:prstGeom prst="roundRect">
            <a:avLst>
              <a:gd name="adj" fmla="val 6977"/>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24" name="icon circle"/>
          <p:cNvSpPr/>
          <p:nvPr/>
        </p:nvSpPr>
        <p:spPr>
          <a:xfrm>
            <a:off x="3429000" y="2999232"/>
            <a:ext cx="502920" cy="502920"/>
          </a:xfrm>
          <a:prstGeom prst="ellipse">
            <a:avLst/>
          </a:prstGeom>
          <a:solidFill>
            <a:schemeClr val="accent3"/>
          </a:solidFill>
          <a:ln w="12700">
            <a:solidFill>
              <a:schemeClr val="accent3"/>
            </a:solidFill>
            <a:prstDash val="solid"/>
          </a:ln>
        </p:spPr>
      </p:sp>
      <p:pic>
        <p:nvPicPr>
          <p:cNvPr id="25" name="icon" descr="preencoded.png">    </p:cNvPr>
          <p:cNvPicPr>
            <a:picLocks noChangeAspect="1"/>
          </p:cNvPicPr>
          <p:nvPr/>
        </p:nvPicPr>
        <p:blipFill>
          <a:blip r:embed="rId5"/>
          <a:stretch>
            <a:fillRect/>
          </a:stretch>
        </p:blipFill>
        <p:spPr>
          <a:xfrm>
            <a:off x="3564788" y="3135020"/>
            <a:ext cx="231343" cy="231343"/>
          </a:xfrm>
          <a:prstGeom prst="rect">
            <a:avLst/>
          </a:prstGeom>
        </p:spPr>
      </p:pic>
      <p:sp>
        <p:nvSpPr>
          <p:cNvPr id="26" name="Text 19"/>
          <p:cNvSpPr txBox="1"/>
          <p:nvPr/>
        </p:nvSpPr>
        <p:spPr>
          <a:xfrm>
            <a:off x="4050792" y="2999232"/>
            <a:ext cx="1737360" cy="50292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Mencuci pakaian</a:t>
            </a:r>
            <a:endParaRPr lang="en-US" sz="1500" dirty="0"/>
          </a:p>
        </p:txBody>
      </p:sp>
      <p:sp>
        <p:nvSpPr>
          <p:cNvPr id="27" name="Text 20"/>
          <p:cNvSpPr txBox="1"/>
          <p:nvPr/>
        </p:nvSpPr>
        <p:spPr>
          <a:xfrm>
            <a:off x="3429000" y="3593592"/>
            <a:ext cx="233172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Pisahkan warna, cuci, bilas, jemur: urutan dan kondisi yang jelas.</a:t>
            </a:r>
            <a:endParaRPr lang="en-US" sz="1200" dirty="0"/>
          </a:p>
        </p:txBody>
      </p:sp>
      <p:sp>
        <p:nvSpPr>
          <p:cNvPr id="28" name="Mengerjakan PR"/>
          <p:cNvSpPr/>
          <p:nvPr/>
        </p:nvSpPr>
        <p:spPr>
          <a:xfrm>
            <a:off x="6035040" y="2816352"/>
            <a:ext cx="2651760" cy="1572768"/>
          </a:xfrm>
          <a:prstGeom prst="roundRect">
            <a:avLst>
              <a:gd name="adj" fmla="val 6977"/>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29" name="icon circle"/>
          <p:cNvSpPr/>
          <p:nvPr/>
        </p:nvSpPr>
        <p:spPr>
          <a:xfrm>
            <a:off x="6217920" y="2999232"/>
            <a:ext cx="502920" cy="502920"/>
          </a:xfrm>
          <a:prstGeom prst="ellipse">
            <a:avLst/>
          </a:prstGeom>
          <a:solidFill>
            <a:schemeClr val="accent2"/>
          </a:solidFill>
          <a:ln w="12700">
            <a:solidFill>
              <a:schemeClr val="accent2"/>
            </a:solidFill>
            <a:prstDash val="solid"/>
          </a:ln>
        </p:spPr>
      </p:sp>
      <p:pic>
        <p:nvPicPr>
          <p:cNvPr id="30" name="icon" descr="preencoded.png">    </p:cNvPr>
          <p:cNvPicPr>
            <a:picLocks noChangeAspect="1"/>
          </p:cNvPicPr>
          <p:nvPr/>
        </p:nvPicPr>
        <p:blipFill>
          <a:blip r:embed="rId6"/>
          <a:stretch>
            <a:fillRect/>
          </a:stretch>
        </p:blipFill>
        <p:spPr>
          <a:xfrm>
            <a:off x="6353708" y="3135020"/>
            <a:ext cx="231343" cy="231343"/>
          </a:xfrm>
          <a:prstGeom prst="rect">
            <a:avLst/>
          </a:prstGeom>
        </p:spPr>
      </p:pic>
      <p:sp>
        <p:nvSpPr>
          <p:cNvPr id="31" name="Text 23"/>
          <p:cNvSpPr txBox="1"/>
          <p:nvPr/>
        </p:nvSpPr>
        <p:spPr>
          <a:xfrm>
            <a:off x="6839712" y="2999232"/>
            <a:ext cx="1737360" cy="50292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Mengerjakan PR</a:t>
            </a:r>
            <a:endParaRPr lang="en-US" sz="1500" dirty="0"/>
          </a:p>
        </p:txBody>
      </p:sp>
      <p:sp>
        <p:nvSpPr>
          <p:cNvPr id="32" name="Text 24"/>
          <p:cNvSpPr txBox="1"/>
          <p:nvPr/>
        </p:nvSpPr>
        <p:spPr>
          <a:xfrm>
            <a:off x="6217920" y="3593592"/>
            <a:ext cx="233172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Mengenali soal yang mirip dengan contoh di buku (pola).</a:t>
            </a:r>
            <a:endParaRPr lang="en-US" sz="12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CT di Berbagai Bidang</a:t>
            </a:r>
            <a:endParaRPr lang="en-US" sz="2800" dirty="0"/>
          </a:p>
        </p:txBody>
      </p:sp>
      <p:sp>
        <p:nvSpPr>
          <p:cNvPr id="3" name="icon circle"/>
          <p:cNvSpPr/>
          <p:nvPr/>
        </p:nvSpPr>
        <p:spPr>
          <a:xfrm>
            <a:off x="457200" y="1188720"/>
            <a:ext cx="640080" cy="640080"/>
          </a:xfrm>
          <a:prstGeom prst="ellipse">
            <a:avLst/>
          </a:prstGeom>
          <a:solidFill>
            <a:schemeClr val="accent3"/>
          </a:solidFill>
          <a:ln w="12700">
            <a:solidFill>
              <a:schemeClr val="accent3"/>
            </a:solidFill>
            <a:prstDash val="solid"/>
          </a:ln>
        </p:spPr>
      </p:sp>
      <p:pic>
        <p:nvPicPr>
          <p:cNvPr id="4" name="icon" descr="preencoded.png">    </p:cNvPr>
          <p:cNvPicPr>
            <a:picLocks noChangeAspect="1"/>
          </p:cNvPicPr>
          <p:nvPr/>
        </p:nvPicPr>
        <p:blipFill>
          <a:blip r:embed="rId1"/>
          <a:stretch>
            <a:fillRect/>
          </a:stretch>
        </p:blipFill>
        <p:spPr>
          <a:xfrm>
            <a:off x="630022" y="1361542"/>
            <a:ext cx="294437" cy="294437"/>
          </a:xfrm>
          <a:prstGeom prst="rect">
            <a:avLst/>
          </a:prstGeom>
        </p:spPr>
      </p:pic>
      <p:sp>
        <p:nvSpPr>
          <p:cNvPr id="5" name="Text 2"/>
          <p:cNvSpPr txBox="1"/>
          <p:nvPr/>
        </p:nvSpPr>
        <p:spPr>
          <a:xfrm>
            <a:off x="1280160" y="1143000"/>
            <a:ext cx="320040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Kesehatan</a:t>
            </a:r>
            <a:endParaRPr lang="en-US" sz="1600" dirty="0"/>
          </a:p>
        </p:txBody>
      </p:sp>
      <p:sp>
        <p:nvSpPr>
          <p:cNvPr id="6" name="Text 3"/>
          <p:cNvSpPr txBox="1"/>
          <p:nvPr/>
        </p:nvSpPr>
        <p:spPr>
          <a:xfrm>
            <a:off x="1280160" y="1481328"/>
            <a:ext cx="3200400"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Mengenali pola gejala dan data pasien untuk membantu diagnosis.</a:t>
            </a:r>
            <a:endParaRPr lang="en-US" sz="1300" dirty="0"/>
          </a:p>
        </p:txBody>
      </p:sp>
      <p:sp>
        <p:nvSpPr>
          <p:cNvPr id="7" name="icon circle"/>
          <p:cNvSpPr/>
          <p:nvPr/>
        </p:nvSpPr>
        <p:spPr>
          <a:xfrm>
            <a:off x="4663440" y="1188720"/>
            <a:ext cx="640080" cy="640080"/>
          </a:xfrm>
          <a:prstGeom prst="ellipse">
            <a:avLst/>
          </a:prstGeom>
          <a:solidFill>
            <a:schemeClr val="accent6"/>
          </a:solidFill>
          <a:ln w="12700">
            <a:solidFill>
              <a:schemeClr val="accent6"/>
            </a:solidFill>
            <a:prstDash val="solid"/>
          </a:ln>
        </p:spPr>
      </p:sp>
      <p:pic>
        <p:nvPicPr>
          <p:cNvPr id="8" name="icon" descr="preencoded.png">    </p:cNvPr>
          <p:cNvPicPr>
            <a:picLocks noChangeAspect="1"/>
          </p:cNvPicPr>
          <p:nvPr/>
        </p:nvPicPr>
        <p:blipFill>
          <a:blip r:embed="rId2"/>
          <a:stretch>
            <a:fillRect/>
          </a:stretch>
        </p:blipFill>
        <p:spPr>
          <a:xfrm>
            <a:off x="4836262" y="1361542"/>
            <a:ext cx="294437" cy="294437"/>
          </a:xfrm>
          <a:prstGeom prst="rect">
            <a:avLst/>
          </a:prstGeom>
        </p:spPr>
      </p:pic>
      <p:sp>
        <p:nvSpPr>
          <p:cNvPr id="9" name="Text 5"/>
          <p:cNvSpPr txBox="1"/>
          <p:nvPr/>
        </p:nvSpPr>
        <p:spPr>
          <a:xfrm>
            <a:off x="5486400" y="1143000"/>
            <a:ext cx="320040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Pertanian</a:t>
            </a:r>
            <a:endParaRPr lang="en-US" sz="1600" dirty="0"/>
          </a:p>
        </p:txBody>
      </p:sp>
      <p:sp>
        <p:nvSpPr>
          <p:cNvPr id="10" name="Text 6"/>
          <p:cNvSpPr txBox="1"/>
          <p:nvPr/>
        </p:nvSpPr>
        <p:spPr>
          <a:xfrm>
            <a:off x="5486400" y="1481328"/>
            <a:ext cx="3200400"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Sensor kelembapan tanah memicu penyiraman otomatis saat tanah kering.</a:t>
            </a:r>
            <a:endParaRPr lang="en-US" sz="1300" dirty="0"/>
          </a:p>
        </p:txBody>
      </p:sp>
      <p:sp>
        <p:nvSpPr>
          <p:cNvPr id="11" name="icon circle"/>
          <p:cNvSpPr/>
          <p:nvPr/>
        </p:nvSpPr>
        <p:spPr>
          <a:xfrm>
            <a:off x="457200" y="2331720"/>
            <a:ext cx="640080" cy="640080"/>
          </a:xfrm>
          <a:prstGeom prst="ellipse">
            <a:avLst/>
          </a:prstGeom>
          <a:solidFill>
            <a:schemeClr val="accent2"/>
          </a:solidFill>
          <a:ln w="12700">
            <a:solidFill>
              <a:schemeClr val="accent2"/>
            </a:solidFill>
            <a:prstDash val="solid"/>
          </a:ln>
        </p:spPr>
      </p:sp>
      <p:pic>
        <p:nvPicPr>
          <p:cNvPr id="12" name="icon" descr="preencoded.png">    </p:cNvPr>
          <p:cNvPicPr>
            <a:picLocks noChangeAspect="1"/>
          </p:cNvPicPr>
          <p:nvPr/>
        </p:nvPicPr>
        <p:blipFill>
          <a:blip r:embed="rId3"/>
          <a:stretch>
            <a:fillRect/>
          </a:stretch>
        </p:blipFill>
        <p:spPr>
          <a:xfrm>
            <a:off x="630022" y="2504542"/>
            <a:ext cx="294437" cy="294437"/>
          </a:xfrm>
          <a:prstGeom prst="rect">
            <a:avLst/>
          </a:prstGeom>
        </p:spPr>
      </p:pic>
      <p:sp>
        <p:nvSpPr>
          <p:cNvPr id="13" name="Text 8"/>
          <p:cNvSpPr txBox="1"/>
          <p:nvPr/>
        </p:nvSpPr>
        <p:spPr>
          <a:xfrm>
            <a:off x="1280160" y="2286000"/>
            <a:ext cx="320040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Bisnis</a:t>
            </a:r>
            <a:endParaRPr lang="en-US" sz="1600" dirty="0"/>
          </a:p>
        </p:txBody>
      </p:sp>
      <p:sp>
        <p:nvSpPr>
          <p:cNvPr id="14" name="Text 9"/>
          <p:cNvSpPr txBox="1"/>
          <p:nvPr/>
        </p:nvSpPr>
        <p:spPr>
          <a:xfrm>
            <a:off x="1280160" y="2624328"/>
            <a:ext cx="3200400"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Membaca tren penjualan untuk memperkirakan kebutuhan stok.</a:t>
            </a:r>
            <a:endParaRPr lang="en-US" sz="1300" dirty="0"/>
          </a:p>
        </p:txBody>
      </p:sp>
      <p:sp>
        <p:nvSpPr>
          <p:cNvPr id="15" name="icon circle"/>
          <p:cNvSpPr/>
          <p:nvPr/>
        </p:nvSpPr>
        <p:spPr>
          <a:xfrm>
            <a:off x="4663440" y="2331720"/>
            <a:ext cx="640080" cy="640080"/>
          </a:xfrm>
          <a:prstGeom prst="ellipse">
            <a:avLst/>
          </a:prstGeom>
          <a:solidFill>
            <a:schemeClr val="accent4"/>
          </a:solidFill>
          <a:ln w="12700">
            <a:solidFill>
              <a:schemeClr val="accent4"/>
            </a:solidFill>
            <a:prstDash val="solid"/>
          </a:ln>
        </p:spPr>
      </p:sp>
      <p:pic>
        <p:nvPicPr>
          <p:cNvPr id="16" name="icon" descr="preencoded.png">    </p:cNvPr>
          <p:cNvPicPr>
            <a:picLocks noChangeAspect="1"/>
          </p:cNvPicPr>
          <p:nvPr/>
        </p:nvPicPr>
        <p:blipFill>
          <a:blip r:embed="rId4"/>
          <a:stretch>
            <a:fillRect/>
          </a:stretch>
        </p:blipFill>
        <p:spPr>
          <a:xfrm>
            <a:off x="4836262" y="2504542"/>
            <a:ext cx="294437" cy="294437"/>
          </a:xfrm>
          <a:prstGeom prst="rect">
            <a:avLst/>
          </a:prstGeom>
        </p:spPr>
      </p:pic>
      <p:sp>
        <p:nvSpPr>
          <p:cNvPr id="17" name="Text 11"/>
          <p:cNvSpPr txBox="1"/>
          <p:nvPr/>
        </p:nvSpPr>
        <p:spPr>
          <a:xfrm>
            <a:off x="5486400" y="2286000"/>
            <a:ext cx="320040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Sains</a:t>
            </a:r>
            <a:endParaRPr lang="en-US" sz="1600" dirty="0"/>
          </a:p>
        </p:txBody>
      </p:sp>
      <p:sp>
        <p:nvSpPr>
          <p:cNvPr id="18" name="Text 12"/>
          <p:cNvSpPr txBox="1"/>
          <p:nvPr/>
        </p:nvSpPr>
        <p:spPr>
          <a:xfrm>
            <a:off x="5486400" y="2624328"/>
            <a:ext cx="3200400"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Membangun model dan simulasi, misalnya prakiraan cuaca.</a:t>
            </a:r>
            <a:endParaRPr lang="en-US" sz="1300" dirty="0"/>
          </a:p>
        </p:txBody>
      </p:sp>
      <p:sp>
        <p:nvSpPr>
          <p:cNvPr id="19" name="icon circle"/>
          <p:cNvSpPr/>
          <p:nvPr/>
        </p:nvSpPr>
        <p:spPr>
          <a:xfrm>
            <a:off x="457200" y="3474720"/>
            <a:ext cx="640080" cy="640080"/>
          </a:xfrm>
          <a:prstGeom prst="ellipse">
            <a:avLst/>
          </a:prstGeom>
          <a:solidFill>
            <a:schemeClr val="accent1"/>
          </a:solidFill>
          <a:ln w="12700">
            <a:solidFill>
              <a:schemeClr val="accent1"/>
            </a:solidFill>
            <a:prstDash val="solid"/>
          </a:ln>
        </p:spPr>
      </p:sp>
      <p:pic>
        <p:nvPicPr>
          <p:cNvPr id="20" name="icon" descr="preencoded.png">    </p:cNvPr>
          <p:cNvPicPr>
            <a:picLocks noChangeAspect="1"/>
          </p:cNvPicPr>
          <p:nvPr/>
        </p:nvPicPr>
        <p:blipFill>
          <a:blip r:embed="rId5"/>
          <a:stretch>
            <a:fillRect/>
          </a:stretch>
        </p:blipFill>
        <p:spPr>
          <a:xfrm>
            <a:off x="630022" y="3647542"/>
            <a:ext cx="294437" cy="294437"/>
          </a:xfrm>
          <a:prstGeom prst="rect">
            <a:avLst/>
          </a:prstGeom>
        </p:spPr>
      </p:pic>
      <p:sp>
        <p:nvSpPr>
          <p:cNvPr id="21" name="Text 14"/>
          <p:cNvSpPr txBox="1"/>
          <p:nvPr/>
        </p:nvSpPr>
        <p:spPr>
          <a:xfrm>
            <a:off x="1280160" y="3429000"/>
            <a:ext cx="320040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Transportasi</a:t>
            </a:r>
            <a:endParaRPr lang="en-US" sz="1600" dirty="0"/>
          </a:p>
        </p:txBody>
      </p:sp>
      <p:sp>
        <p:nvSpPr>
          <p:cNvPr id="22" name="Text 15"/>
          <p:cNvSpPr txBox="1"/>
          <p:nvPr/>
        </p:nvSpPr>
        <p:spPr>
          <a:xfrm>
            <a:off x="1280160" y="3767328"/>
            <a:ext cx="3200400"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Aplikasi ojek daring mencari pengemudi dan rute terdekat.</a:t>
            </a:r>
            <a:endParaRPr lang="en-US" sz="1300" dirty="0"/>
          </a:p>
        </p:txBody>
      </p:sp>
      <p:sp>
        <p:nvSpPr>
          <p:cNvPr id="23" name="icon circle"/>
          <p:cNvSpPr/>
          <p:nvPr/>
        </p:nvSpPr>
        <p:spPr>
          <a:xfrm>
            <a:off x="4663440" y="3474720"/>
            <a:ext cx="640080" cy="640080"/>
          </a:xfrm>
          <a:prstGeom prst="ellipse">
            <a:avLst/>
          </a:prstGeom>
          <a:solidFill>
            <a:schemeClr val="tx2"/>
          </a:solidFill>
          <a:ln w="12700">
            <a:solidFill>
              <a:schemeClr val="tx2"/>
            </a:solidFill>
            <a:prstDash val="solid"/>
          </a:ln>
        </p:spPr>
      </p:sp>
      <p:pic>
        <p:nvPicPr>
          <p:cNvPr id="24" name="icon" descr="preencoded.png">    </p:cNvPr>
          <p:cNvPicPr>
            <a:picLocks noChangeAspect="1"/>
          </p:cNvPicPr>
          <p:nvPr/>
        </p:nvPicPr>
        <p:blipFill>
          <a:blip r:embed="rId6"/>
          <a:stretch>
            <a:fillRect/>
          </a:stretch>
        </p:blipFill>
        <p:spPr>
          <a:xfrm>
            <a:off x="4836262" y="3647542"/>
            <a:ext cx="294437" cy="294437"/>
          </a:xfrm>
          <a:prstGeom prst="rect">
            <a:avLst/>
          </a:prstGeom>
        </p:spPr>
      </p:pic>
      <p:sp>
        <p:nvSpPr>
          <p:cNvPr id="25" name="Text 17"/>
          <p:cNvSpPr txBox="1"/>
          <p:nvPr/>
        </p:nvSpPr>
        <p:spPr>
          <a:xfrm>
            <a:off x="5486400" y="3429000"/>
            <a:ext cx="320040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Pendidikan</a:t>
            </a:r>
            <a:endParaRPr lang="en-US" sz="1600" dirty="0"/>
          </a:p>
        </p:txBody>
      </p:sp>
      <p:sp>
        <p:nvSpPr>
          <p:cNvPr id="26" name="Text 18"/>
          <p:cNvSpPr txBox="1"/>
          <p:nvPr/>
        </p:nvSpPr>
        <p:spPr>
          <a:xfrm>
            <a:off x="5486400" y="3767328"/>
            <a:ext cx="3200400"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Platform belajar menyesuaikan soal dengan kemampuan siswa.</a:t>
            </a:r>
            <a:endParaRPr lang="en-US" sz="13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Studi Kasus: Merencanakan Study Tour Kelas</a:t>
            </a:r>
            <a:endParaRPr lang="en-US" sz="2800" dirty="0"/>
          </a:p>
        </p:txBody>
      </p:sp>
      <p:sp>
        <p:nvSpPr>
          <p:cNvPr id="3" name="Text 1"/>
          <p:cNvSpPr txBox="1"/>
          <p:nvPr/>
        </p:nvSpPr>
        <p:spPr>
          <a:xfrm>
            <a:off x="457200" y="960120"/>
            <a:ext cx="8229600" cy="320040"/>
          </a:xfrm>
          <a:prstGeom prst="rect">
            <a:avLst/>
          </a:prstGeom>
          <a:noFill/>
          <a:ln/>
        </p:spPr>
        <p:txBody>
          <a:bodyPr wrap="square" lIns="0" tIns="0" rIns="0" bIns="0" rtlCol="0" anchor="t"/>
          <a:lstStyle/>
          <a:p>
            <a:pPr indent="0" marL="0">
              <a:buNone/>
            </a:pPr>
            <a:r>
              <a:rPr lang="en-US" sz="1400" i="1" dirty="0">
                <a:solidFill>
                  <a:schemeClr val="accent5"/>
                </a:solidFill>
                <a:latin typeface="Calibri" pitchFamily="34" charset="0"/>
                <a:ea typeface="Calibri" pitchFamily="34" charset="-122"/>
                <a:cs typeface="Calibri" pitchFamily="34" charset="-120"/>
              </a:rPr>
              <a:t>Masalah: kelas berisi 36 siswa ingin study tour ke museum dengan anggaran terbatas.</a:t>
            </a:r>
            <a:endParaRPr lang="en-US" sz="1400" dirty="0"/>
          </a:p>
        </p:txBody>
      </p:sp>
      <p:sp>
        <p:nvSpPr>
          <p:cNvPr id="4" name="Dekomposisi"/>
          <p:cNvSpPr/>
          <p:nvPr/>
        </p:nvSpPr>
        <p:spPr>
          <a:xfrm>
            <a:off x="457200" y="1417320"/>
            <a:ext cx="1920240" cy="2514600"/>
          </a:xfrm>
          <a:prstGeom prst="roundRect">
            <a:avLst>
              <a:gd name="adj" fmla="val 5714"/>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5" name="icon circle"/>
          <p:cNvSpPr/>
          <p:nvPr/>
        </p:nvSpPr>
        <p:spPr>
          <a:xfrm>
            <a:off x="621792" y="1554480"/>
            <a:ext cx="457200" cy="457200"/>
          </a:xfrm>
          <a:prstGeom prst="ellipse">
            <a:avLst/>
          </a:prstGeom>
          <a:solidFill>
            <a:schemeClr val="accent3"/>
          </a:solidFill>
          <a:ln w="12700">
            <a:solidFill>
              <a:schemeClr val="accent3"/>
            </a:solidFill>
            <a:prstDash val="solid"/>
          </a:ln>
        </p:spPr>
      </p:sp>
      <p:pic>
        <p:nvPicPr>
          <p:cNvPr id="6" name="icon" descr="preencoded.png">    </p:cNvPr>
          <p:cNvPicPr>
            <a:picLocks noChangeAspect="1"/>
          </p:cNvPicPr>
          <p:nvPr/>
        </p:nvPicPr>
        <p:blipFill>
          <a:blip r:embed="rId1"/>
          <a:stretch>
            <a:fillRect/>
          </a:stretch>
        </p:blipFill>
        <p:spPr>
          <a:xfrm>
            <a:off x="745236" y="1677924"/>
            <a:ext cx="210312" cy="210312"/>
          </a:xfrm>
          <a:prstGeom prst="rect">
            <a:avLst/>
          </a:prstGeom>
        </p:spPr>
      </p:pic>
      <p:sp>
        <p:nvSpPr>
          <p:cNvPr id="7" name="Text 4"/>
          <p:cNvSpPr txBox="1"/>
          <p:nvPr/>
        </p:nvSpPr>
        <p:spPr>
          <a:xfrm>
            <a:off x="1143000" y="1554480"/>
            <a:ext cx="1188720" cy="457200"/>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Dekomposisi</a:t>
            </a:r>
            <a:endParaRPr lang="en-US" sz="1300" dirty="0"/>
          </a:p>
        </p:txBody>
      </p:sp>
      <p:sp>
        <p:nvSpPr>
          <p:cNvPr id="8" name="Text 5"/>
          <p:cNvSpPr txBox="1"/>
          <p:nvPr/>
        </p:nvSpPr>
        <p:spPr>
          <a:xfrm>
            <a:off x="621792" y="2148840"/>
            <a:ext cx="1645920" cy="16916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Transportasi</a:t>
            </a:r>
            <a:endParaRPr lang="en-US" sz="1200" dirty="0"/>
          </a:p>
          <a:p>
            <a:pPr marL="342900" indent="-3429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Konsumsi</a:t>
            </a:r>
            <a:endParaRPr lang="en-US" sz="1200" dirty="0"/>
          </a:p>
          <a:p>
            <a:pPr marL="342900" indent="-3429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Biaya per siswa</a:t>
            </a:r>
            <a:endParaRPr lang="en-US" sz="1200" dirty="0"/>
          </a:p>
          <a:p>
            <a:pPr marL="342900" indent="-3429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Jadwal &amp; izin</a:t>
            </a:r>
            <a:endParaRPr lang="en-US" sz="1200" dirty="0"/>
          </a:p>
        </p:txBody>
      </p:sp>
      <p:pic>
        <p:nvPicPr>
          <p:cNvPr id="9" name="Image 1" descr="preencoded.png">    </p:cNvPr>
          <p:cNvPicPr>
            <a:picLocks noChangeAspect="1"/>
          </p:cNvPicPr>
          <p:nvPr/>
        </p:nvPicPr>
        <p:blipFill>
          <a:blip r:embed="rId2"/>
          <a:stretch>
            <a:fillRect/>
          </a:stretch>
        </p:blipFill>
        <p:spPr>
          <a:xfrm>
            <a:off x="2404872" y="2606040"/>
            <a:ext cx="137160" cy="146304"/>
          </a:xfrm>
          <a:prstGeom prst="rect">
            <a:avLst/>
          </a:prstGeom>
        </p:spPr>
      </p:pic>
      <p:sp>
        <p:nvSpPr>
          <p:cNvPr id="10" name="Pengenalan Pola"/>
          <p:cNvSpPr/>
          <p:nvPr/>
        </p:nvSpPr>
        <p:spPr>
          <a:xfrm>
            <a:off x="2560320" y="1417320"/>
            <a:ext cx="1920240" cy="2514600"/>
          </a:xfrm>
          <a:prstGeom prst="roundRect">
            <a:avLst>
              <a:gd name="adj" fmla="val 5714"/>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11" name="icon circle"/>
          <p:cNvSpPr/>
          <p:nvPr/>
        </p:nvSpPr>
        <p:spPr>
          <a:xfrm>
            <a:off x="2724912" y="1554480"/>
            <a:ext cx="457200" cy="457200"/>
          </a:xfrm>
          <a:prstGeom prst="ellipse">
            <a:avLst/>
          </a:prstGeom>
          <a:solidFill>
            <a:schemeClr val="accent2"/>
          </a:solidFill>
          <a:ln w="12700">
            <a:solidFill>
              <a:schemeClr val="accent2"/>
            </a:solidFill>
            <a:prstDash val="solid"/>
          </a:ln>
        </p:spPr>
      </p:sp>
      <p:pic>
        <p:nvPicPr>
          <p:cNvPr id="12" name="icon" descr="preencoded.png">    </p:cNvPr>
          <p:cNvPicPr>
            <a:picLocks noChangeAspect="1"/>
          </p:cNvPicPr>
          <p:nvPr/>
        </p:nvPicPr>
        <p:blipFill>
          <a:blip r:embed="rId3"/>
          <a:stretch>
            <a:fillRect/>
          </a:stretch>
        </p:blipFill>
        <p:spPr>
          <a:xfrm>
            <a:off x="2848356" y="1677924"/>
            <a:ext cx="210312" cy="210312"/>
          </a:xfrm>
          <a:prstGeom prst="rect">
            <a:avLst/>
          </a:prstGeom>
        </p:spPr>
      </p:pic>
      <p:sp>
        <p:nvSpPr>
          <p:cNvPr id="13" name="Text 8"/>
          <p:cNvSpPr txBox="1"/>
          <p:nvPr/>
        </p:nvSpPr>
        <p:spPr>
          <a:xfrm>
            <a:off x="3246120" y="1554480"/>
            <a:ext cx="1188720" cy="457200"/>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Pengenalan Pola</a:t>
            </a:r>
            <a:endParaRPr lang="en-US" sz="1300" dirty="0"/>
          </a:p>
        </p:txBody>
      </p:sp>
      <p:sp>
        <p:nvSpPr>
          <p:cNvPr id="14" name="Text 9"/>
          <p:cNvSpPr txBox="1"/>
          <p:nvPr/>
        </p:nvSpPr>
        <p:spPr>
          <a:xfrm>
            <a:off x="2724912" y="2148840"/>
            <a:ext cx="1645920" cy="16916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Tahun lalu: 1 bus untuk ±40 orang</a:t>
            </a:r>
            <a:endParaRPr lang="en-US" sz="1200" dirty="0"/>
          </a:p>
          <a:p>
            <a:pPr marL="342900" indent="-3429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Harga tiket rombongan biasanya lebih murah</a:t>
            </a:r>
            <a:endParaRPr lang="en-US" sz="1200" dirty="0"/>
          </a:p>
        </p:txBody>
      </p:sp>
      <p:pic>
        <p:nvPicPr>
          <p:cNvPr id="15" name="Image 3" descr="preencoded.png">    </p:cNvPr>
          <p:cNvPicPr>
            <a:picLocks noChangeAspect="1"/>
          </p:cNvPicPr>
          <p:nvPr/>
        </p:nvPicPr>
        <p:blipFill>
          <a:blip r:embed="rId4"/>
          <a:stretch>
            <a:fillRect/>
          </a:stretch>
        </p:blipFill>
        <p:spPr>
          <a:xfrm>
            <a:off x="4507992" y="2606040"/>
            <a:ext cx="137160" cy="146304"/>
          </a:xfrm>
          <a:prstGeom prst="rect">
            <a:avLst/>
          </a:prstGeom>
        </p:spPr>
      </p:pic>
      <p:sp>
        <p:nvSpPr>
          <p:cNvPr id="16" name="Abstraksi"/>
          <p:cNvSpPr/>
          <p:nvPr/>
        </p:nvSpPr>
        <p:spPr>
          <a:xfrm>
            <a:off x="4663440" y="1417320"/>
            <a:ext cx="1920240" cy="2514600"/>
          </a:xfrm>
          <a:prstGeom prst="roundRect">
            <a:avLst>
              <a:gd name="adj" fmla="val 5714"/>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17" name="icon circle"/>
          <p:cNvSpPr/>
          <p:nvPr/>
        </p:nvSpPr>
        <p:spPr>
          <a:xfrm>
            <a:off x="4828032" y="1554480"/>
            <a:ext cx="457200" cy="457200"/>
          </a:xfrm>
          <a:prstGeom prst="ellipse">
            <a:avLst/>
          </a:prstGeom>
          <a:solidFill>
            <a:schemeClr val="accent4"/>
          </a:solidFill>
          <a:ln w="12700">
            <a:solidFill>
              <a:schemeClr val="accent4"/>
            </a:solidFill>
            <a:prstDash val="solid"/>
          </a:ln>
        </p:spPr>
      </p:sp>
      <p:pic>
        <p:nvPicPr>
          <p:cNvPr id="18" name="icon" descr="preencoded.png">    </p:cNvPr>
          <p:cNvPicPr>
            <a:picLocks noChangeAspect="1"/>
          </p:cNvPicPr>
          <p:nvPr/>
        </p:nvPicPr>
        <p:blipFill>
          <a:blip r:embed="rId5"/>
          <a:stretch>
            <a:fillRect/>
          </a:stretch>
        </p:blipFill>
        <p:spPr>
          <a:xfrm>
            <a:off x="4951476" y="1677924"/>
            <a:ext cx="210312" cy="210312"/>
          </a:xfrm>
          <a:prstGeom prst="rect">
            <a:avLst/>
          </a:prstGeom>
        </p:spPr>
      </p:pic>
      <p:sp>
        <p:nvSpPr>
          <p:cNvPr id="19" name="Text 12"/>
          <p:cNvSpPr txBox="1"/>
          <p:nvPr/>
        </p:nvSpPr>
        <p:spPr>
          <a:xfrm>
            <a:off x="5349240" y="1554480"/>
            <a:ext cx="1188720" cy="457200"/>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Abstraksi</a:t>
            </a:r>
            <a:endParaRPr lang="en-US" sz="1300" dirty="0"/>
          </a:p>
        </p:txBody>
      </p:sp>
      <p:sp>
        <p:nvSpPr>
          <p:cNvPr id="20" name="Text 13"/>
          <p:cNvSpPr txBox="1"/>
          <p:nvPr/>
        </p:nvSpPr>
        <p:spPr>
          <a:xfrm>
            <a:off x="4828032" y="2148840"/>
            <a:ext cx="1645920" cy="16916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Pakai: jumlah siswa, jarak, anggaran</a:t>
            </a:r>
            <a:endParaRPr lang="en-US" sz="1200" dirty="0"/>
          </a:p>
          <a:p>
            <a:pPr marL="342900" indent="-3429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Abaikan: warna bus, merek snack</a:t>
            </a:r>
            <a:endParaRPr lang="en-US" sz="1200" dirty="0"/>
          </a:p>
        </p:txBody>
      </p:sp>
      <p:pic>
        <p:nvPicPr>
          <p:cNvPr id="21" name="Image 5" descr="preencoded.png">    </p:cNvPr>
          <p:cNvPicPr>
            <a:picLocks noChangeAspect="1"/>
          </p:cNvPicPr>
          <p:nvPr/>
        </p:nvPicPr>
        <p:blipFill>
          <a:blip r:embed="rId6"/>
          <a:stretch>
            <a:fillRect/>
          </a:stretch>
        </p:blipFill>
        <p:spPr>
          <a:xfrm>
            <a:off x="6611112" y="2606040"/>
            <a:ext cx="137160" cy="146304"/>
          </a:xfrm>
          <a:prstGeom prst="rect">
            <a:avLst/>
          </a:prstGeom>
        </p:spPr>
      </p:pic>
      <p:sp>
        <p:nvSpPr>
          <p:cNvPr id="22" name="Algoritma"/>
          <p:cNvSpPr/>
          <p:nvPr/>
        </p:nvSpPr>
        <p:spPr>
          <a:xfrm>
            <a:off x="6766560" y="1417320"/>
            <a:ext cx="1920240" cy="2514600"/>
          </a:xfrm>
          <a:prstGeom prst="roundRect">
            <a:avLst>
              <a:gd name="adj" fmla="val 5714"/>
            </a:avLst>
          </a:prstGeom>
          <a:solidFill>
            <a:schemeClr val="bg1"/>
          </a:solidFill>
          <a:ln w="9525">
            <a:solidFill>
              <a:srgbClr val="DCE5E3"/>
            </a:solidFill>
            <a:prstDash val="solid"/>
          </a:ln>
          <a:effectLst>
            <a:outerShdw sx="100000" sy="100000" kx="0" ky="0" algn="bl" rotWithShape="0" blurRad="101600" dist="25400" dir="5400000">
              <a:srgbClr val="1A1F2E">
                <a:alpha val="12000"/>
              </a:srgbClr>
            </a:outerShdw>
          </a:effectLst>
        </p:spPr>
      </p:sp>
      <p:sp>
        <p:nvSpPr>
          <p:cNvPr id="23" name="icon circle"/>
          <p:cNvSpPr/>
          <p:nvPr/>
        </p:nvSpPr>
        <p:spPr>
          <a:xfrm>
            <a:off x="6931152" y="1554480"/>
            <a:ext cx="457200" cy="457200"/>
          </a:xfrm>
          <a:prstGeom prst="ellipse">
            <a:avLst/>
          </a:prstGeom>
          <a:solidFill>
            <a:schemeClr val="accent1"/>
          </a:solidFill>
          <a:ln w="12700">
            <a:solidFill>
              <a:schemeClr val="accent1"/>
            </a:solidFill>
            <a:prstDash val="solid"/>
          </a:ln>
        </p:spPr>
      </p:sp>
      <p:pic>
        <p:nvPicPr>
          <p:cNvPr id="24" name="icon" descr="preencoded.png">    </p:cNvPr>
          <p:cNvPicPr>
            <a:picLocks noChangeAspect="1"/>
          </p:cNvPicPr>
          <p:nvPr/>
        </p:nvPicPr>
        <p:blipFill>
          <a:blip r:embed="rId7"/>
          <a:stretch>
            <a:fillRect/>
          </a:stretch>
        </p:blipFill>
        <p:spPr>
          <a:xfrm>
            <a:off x="7054596" y="1677924"/>
            <a:ext cx="210312" cy="210312"/>
          </a:xfrm>
          <a:prstGeom prst="rect">
            <a:avLst/>
          </a:prstGeom>
        </p:spPr>
      </p:pic>
      <p:sp>
        <p:nvSpPr>
          <p:cNvPr id="25" name="Text 16"/>
          <p:cNvSpPr txBox="1"/>
          <p:nvPr/>
        </p:nvSpPr>
        <p:spPr>
          <a:xfrm>
            <a:off x="7452360" y="1554480"/>
            <a:ext cx="1188720" cy="457200"/>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Algoritma</a:t>
            </a:r>
            <a:endParaRPr lang="en-US" sz="1300" dirty="0"/>
          </a:p>
        </p:txBody>
      </p:sp>
      <p:sp>
        <p:nvSpPr>
          <p:cNvPr id="26" name="Text 17"/>
          <p:cNvSpPr txBox="1"/>
          <p:nvPr/>
        </p:nvSpPr>
        <p:spPr>
          <a:xfrm>
            <a:off x="6931152" y="2148840"/>
            <a:ext cx="1645920" cy="169164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200" dirty="0">
                <a:solidFill>
                  <a:schemeClr val="tx1"/>
                </a:solidFill>
                <a:latin typeface="Calibri" pitchFamily="34" charset="0"/>
                <a:ea typeface="Calibri" pitchFamily="34" charset="-122"/>
                <a:cs typeface="Calibri" pitchFamily="34" charset="-120"/>
              </a:rPr>
              <a:t>Hitung peserta</a:t>
            </a:r>
            <a:endParaRPr lang="en-US" sz="1200" dirty="0"/>
          </a:p>
          <a:p>
            <a:pPr marL="342900" indent="-342900">
              <a:spcAft>
                <a:spcPts val="400"/>
              </a:spcAft>
              <a:buSzPct val="100000"/>
              <a:buFont typeface="+mj-lt"/>
              <a:buAutoNum type="arabicPeriod" startAt="1"/>
            </a:pPr>
            <a:r>
              <a:rPr lang="en-US" sz="1200" dirty="0">
                <a:solidFill>
                  <a:schemeClr val="tx1"/>
                </a:solidFill>
                <a:latin typeface="Calibri" pitchFamily="34" charset="0"/>
                <a:ea typeface="Calibri" pitchFamily="34" charset="-122"/>
                <a:cs typeface="Calibri" pitchFamily="34" charset="-120"/>
              </a:rPr>
              <a:t>Sewa bus</a:t>
            </a:r>
            <a:endParaRPr lang="en-US" sz="1200" dirty="0"/>
          </a:p>
          <a:p>
            <a:pPr marL="342900" indent="-342900">
              <a:spcAft>
                <a:spcPts val="400"/>
              </a:spcAft>
              <a:buSzPct val="100000"/>
              <a:buFont typeface="+mj-lt"/>
              <a:buAutoNum type="arabicPeriod" startAt="1"/>
            </a:pPr>
            <a:r>
              <a:rPr lang="en-US" sz="1200" dirty="0">
                <a:solidFill>
                  <a:schemeClr val="tx1"/>
                </a:solidFill>
                <a:latin typeface="Calibri" pitchFamily="34" charset="0"/>
                <a:ea typeface="Calibri" pitchFamily="34" charset="-122"/>
                <a:cs typeface="Calibri" pitchFamily="34" charset="-120"/>
              </a:rPr>
              <a:t>Hitung biaya</a:t>
            </a:r>
            <a:endParaRPr lang="en-US" sz="1200" dirty="0"/>
          </a:p>
          <a:p>
            <a:pPr marL="342900" indent="-342900">
              <a:spcAft>
                <a:spcPts val="400"/>
              </a:spcAft>
              <a:buSzPct val="100000"/>
              <a:buFont typeface="+mj-lt"/>
              <a:buAutoNum type="arabicPeriod" startAt="1"/>
            </a:pPr>
            <a:r>
              <a:rPr lang="en-US" sz="1200" dirty="0">
                <a:solidFill>
                  <a:schemeClr val="tx1"/>
                </a:solidFill>
                <a:latin typeface="Calibri" pitchFamily="34" charset="0"/>
                <a:ea typeface="Calibri" pitchFamily="34" charset="-122"/>
                <a:cs typeface="Calibri" pitchFamily="34" charset="-120"/>
              </a:rPr>
              <a:t>Kirim surat izin</a:t>
            </a:r>
            <a:endParaRPr lang="en-US" sz="1200" dirty="0"/>
          </a:p>
        </p:txBody>
      </p:sp>
      <p:sp>
        <p:nvSpPr>
          <p:cNvPr id="27" name="Hasil"/>
          <p:cNvSpPr/>
          <p:nvPr/>
        </p:nvSpPr>
        <p:spPr>
          <a:xfrm>
            <a:off x="457200" y="4069080"/>
            <a:ext cx="8229600" cy="457200"/>
          </a:xfrm>
          <a:prstGeom prst="roundRect">
            <a:avLst>
              <a:gd name="adj" fmla="val 24000"/>
            </a:avLst>
          </a:prstGeom>
          <a:solidFill>
            <a:schemeClr val="tx2"/>
          </a:solidFill>
          <a:ln w="12700">
            <a:solidFill>
              <a:schemeClr val="tx2"/>
            </a:solidFill>
            <a:prstDash val="solid"/>
          </a:ln>
        </p:spPr>
      </p:sp>
      <p:pic>
        <p:nvPicPr>
          <p:cNvPr id="28" name="Image 7" descr="preencoded.png">    </p:cNvPr>
          <p:cNvPicPr>
            <a:picLocks noChangeAspect="1"/>
          </p:cNvPicPr>
          <p:nvPr/>
        </p:nvPicPr>
        <p:blipFill>
          <a:blip r:embed="rId8"/>
          <a:stretch>
            <a:fillRect/>
          </a:stretch>
        </p:blipFill>
        <p:spPr>
          <a:xfrm>
            <a:off x="640080" y="4169664"/>
            <a:ext cx="256032" cy="256032"/>
          </a:xfrm>
          <a:prstGeom prst="rect">
            <a:avLst/>
          </a:prstGeom>
        </p:spPr>
      </p:pic>
      <p:sp>
        <p:nvSpPr>
          <p:cNvPr id="29" name="Text 19"/>
          <p:cNvSpPr txBox="1"/>
          <p:nvPr/>
        </p:nvSpPr>
        <p:spPr>
          <a:xfrm>
            <a:off x="1005840" y="4069080"/>
            <a:ext cx="7498080" cy="457200"/>
          </a:xfrm>
          <a:prstGeom prst="rect">
            <a:avLst/>
          </a:prstGeom>
          <a:noFill/>
          <a:ln/>
        </p:spPr>
        <p:txBody>
          <a:bodyPr wrap="square" lIns="0" tIns="0" rIns="0" bIns="0" rtlCol="0" anchor="ctr"/>
          <a:lstStyle/>
          <a:p>
            <a:pPr indent="0" marL="0">
              <a:buNone/>
            </a:pPr>
            <a:r>
              <a:rPr lang="en-US" sz="1400" b="1" dirty="0">
                <a:solidFill>
                  <a:schemeClr val="bg1"/>
                </a:solidFill>
                <a:latin typeface="Calibri" pitchFamily="34" charset="0"/>
                <a:ea typeface="Calibri" pitchFamily="34" charset="-122"/>
                <a:cs typeface="Calibri" pitchFamily="34" charset="-120"/>
              </a:rPr>
              <a:t>Hasil: 1 bus cukup, biaya per siswa jelas, dan setiap panitia tahu tugasnya.</a:t>
            </a:r>
            <a:endParaRPr lang="en-US" sz="14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1325880"/>
            <a:ext cx="2743200" cy="82296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05</a:t>
            </a:r>
            <a:endParaRPr lang="en-US" sz="5400" dirty="0"/>
          </a:p>
        </p:txBody>
      </p:sp>
      <p:sp>
        <p:nvSpPr>
          <p:cNvPr id="3" name="Text 0"/>
          <p:cNvSpPr/>
          <p:nvPr>
            <p:ph idx="100" type="title" hasCustomPrompt="1"/>
          </p:nvPr>
        </p:nvSpPr>
        <p:spPr>
          <a:xfrm>
            <a:off x="548640" y="2240280"/>
            <a:ext cx="5669280" cy="118872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Latihan &amp; Rangkuman</a:t>
            </a:r>
            <a:endParaRPr lang="en-US" sz="3600" dirty="0"/>
          </a:p>
        </p:txBody>
      </p:sp>
      <p:sp>
        <p:nvSpPr>
          <p:cNvPr id="4" name="Text 0"/>
          <p:cNvSpPr/>
          <p:nvPr>
            <p:ph idx="101" type="body" hasCustomPrompt="1"/>
          </p:nvPr>
        </p:nvSpPr>
        <p:spPr>
          <a:xfrm>
            <a:off x="548640" y="3520440"/>
            <a:ext cx="5669280" cy="731520"/>
          </a:xfrm>
          <a:prstGeom prst="rect">
            <a:avLst/>
          </a:prstGeom>
          <a:noFill/>
          <a:ln/>
        </p:spPr>
        <p:txBody>
          <a:bodyPr wrap="square" lIns="0" tIns="0" rIns="0" bIns="0" rtlCol="0" anchor="t"/>
          <a:lstStyle/>
          <a:p>
            <a:pPr indent="0" marL="0">
              <a:buNone/>
            </a:pPr>
            <a:r>
              <a:rPr lang="en-US" sz="1600" dirty="0">
                <a:solidFill>
                  <a:schemeClr val="bg2"/>
                </a:solidFill>
                <a:latin typeface="Calibri" pitchFamily="34" charset="0"/>
                <a:ea typeface="Calibri" pitchFamily="34" charset="-122"/>
                <a:cs typeface="Calibri" pitchFamily="34" charset="-120"/>
              </a:rPr>
              <a:t>Saatnya mencoba sendiri</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Aktivitas Unplugged: Robot di Petak</a:t>
            </a:r>
            <a:endParaRPr lang="en-US" sz="2800" dirty="0"/>
          </a:p>
        </p:txBody>
      </p:sp>
      <p:sp>
        <p:nvSpPr>
          <p:cNvPr id="3" name="Text 1"/>
          <p:cNvSpPr txBox="1"/>
          <p:nvPr/>
        </p:nvSpPr>
        <p:spPr>
          <a:xfrm>
            <a:off x="457200" y="1005840"/>
            <a:ext cx="402336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Tulis urutan perintah agar robot mencapai bintang tanpa melewati batu.</a:t>
            </a:r>
            <a:endParaRPr lang="en-US" sz="1400" dirty="0"/>
          </a:p>
        </p:txBody>
      </p:sp>
      <p:sp>
        <p:nvSpPr>
          <p:cNvPr id="4" name="Text 2"/>
          <p:cNvSpPr txBox="1"/>
          <p:nvPr/>
        </p:nvSpPr>
        <p:spPr>
          <a:xfrm>
            <a:off x="457200" y="1645920"/>
            <a:ext cx="4023360" cy="27432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Perintah yang tersedia</a:t>
            </a:r>
            <a:endParaRPr lang="en-US" sz="1400" dirty="0"/>
          </a:p>
        </p:txBody>
      </p:sp>
      <p:sp>
        <p:nvSpPr>
          <p:cNvPr id="5" name="Shape 3"/>
          <p:cNvSpPr/>
          <p:nvPr/>
        </p:nvSpPr>
        <p:spPr>
          <a:xfrm>
            <a:off x="457200" y="1993392"/>
            <a:ext cx="1417320" cy="365760"/>
          </a:xfrm>
          <a:prstGeom prst="roundRect">
            <a:avLst>
              <a:gd name="adj" fmla="val 20000"/>
            </a:avLst>
          </a:prstGeom>
          <a:solidFill>
            <a:schemeClr val="accent1"/>
          </a:solidFill>
          <a:ln w="12700">
            <a:solidFill>
              <a:schemeClr val="accent1"/>
            </a:solidFill>
            <a:prstDash val="solid"/>
          </a:ln>
        </p:spPr>
      </p:sp>
      <p:sp>
        <p:nvSpPr>
          <p:cNvPr id="6" name="Text 4"/>
          <p:cNvSpPr txBox="1"/>
          <p:nvPr/>
        </p:nvSpPr>
        <p:spPr>
          <a:xfrm>
            <a:off x="457200" y="1993392"/>
            <a:ext cx="141732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MAJU</a:t>
            </a:r>
            <a:endParaRPr lang="en-US" sz="1200" dirty="0"/>
          </a:p>
        </p:txBody>
      </p:sp>
      <p:sp>
        <p:nvSpPr>
          <p:cNvPr id="7" name="Text 5"/>
          <p:cNvSpPr txBox="1"/>
          <p:nvPr/>
        </p:nvSpPr>
        <p:spPr>
          <a:xfrm>
            <a:off x="2011680" y="1993392"/>
            <a:ext cx="2377440" cy="36576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1 petak ke depan</a:t>
            </a:r>
            <a:endParaRPr lang="en-US" sz="1300" dirty="0"/>
          </a:p>
        </p:txBody>
      </p:sp>
      <p:sp>
        <p:nvSpPr>
          <p:cNvPr id="8" name="Shape 6"/>
          <p:cNvSpPr/>
          <p:nvPr/>
        </p:nvSpPr>
        <p:spPr>
          <a:xfrm>
            <a:off x="457200" y="2450592"/>
            <a:ext cx="1417320" cy="365760"/>
          </a:xfrm>
          <a:prstGeom prst="roundRect">
            <a:avLst>
              <a:gd name="adj" fmla="val 20000"/>
            </a:avLst>
          </a:prstGeom>
          <a:solidFill>
            <a:schemeClr val="accent4"/>
          </a:solidFill>
          <a:ln w="12700">
            <a:solidFill>
              <a:schemeClr val="accent4"/>
            </a:solidFill>
            <a:prstDash val="solid"/>
          </a:ln>
        </p:spPr>
      </p:sp>
      <p:sp>
        <p:nvSpPr>
          <p:cNvPr id="9" name="Text 7"/>
          <p:cNvSpPr txBox="1"/>
          <p:nvPr/>
        </p:nvSpPr>
        <p:spPr>
          <a:xfrm>
            <a:off x="457200" y="2450592"/>
            <a:ext cx="141732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BELOK KANAN</a:t>
            </a:r>
            <a:endParaRPr lang="en-US" sz="1200" dirty="0"/>
          </a:p>
        </p:txBody>
      </p:sp>
      <p:sp>
        <p:nvSpPr>
          <p:cNvPr id="10" name="Text 8"/>
          <p:cNvSpPr txBox="1"/>
          <p:nvPr/>
        </p:nvSpPr>
        <p:spPr>
          <a:xfrm>
            <a:off x="2011680" y="2450592"/>
            <a:ext cx="2377440" cy="36576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putar 90° ke kanan</a:t>
            </a:r>
            <a:endParaRPr lang="en-US" sz="1300" dirty="0"/>
          </a:p>
        </p:txBody>
      </p:sp>
      <p:sp>
        <p:nvSpPr>
          <p:cNvPr id="11" name="Shape 9"/>
          <p:cNvSpPr/>
          <p:nvPr/>
        </p:nvSpPr>
        <p:spPr>
          <a:xfrm>
            <a:off x="457200" y="2907792"/>
            <a:ext cx="1417320" cy="365760"/>
          </a:xfrm>
          <a:prstGeom prst="roundRect">
            <a:avLst>
              <a:gd name="adj" fmla="val 20000"/>
            </a:avLst>
          </a:prstGeom>
          <a:solidFill>
            <a:schemeClr val="accent3"/>
          </a:solidFill>
          <a:ln w="12700">
            <a:solidFill>
              <a:schemeClr val="accent3"/>
            </a:solidFill>
            <a:prstDash val="solid"/>
          </a:ln>
        </p:spPr>
      </p:sp>
      <p:sp>
        <p:nvSpPr>
          <p:cNvPr id="12" name="Text 10"/>
          <p:cNvSpPr txBox="1"/>
          <p:nvPr/>
        </p:nvSpPr>
        <p:spPr>
          <a:xfrm>
            <a:off x="457200" y="2907792"/>
            <a:ext cx="141732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BELOK KIRI</a:t>
            </a:r>
            <a:endParaRPr lang="en-US" sz="1200" dirty="0"/>
          </a:p>
        </p:txBody>
      </p:sp>
      <p:sp>
        <p:nvSpPr>
          <p:cNvPr id="13" name="Text 11"/>
          <p:cNvSpPr txBox="1"/>
          <p:nvPr/>
        </p:nvSpPr>
        <p:spPr>
          <a:xfrm>
            <a:off x="2011680" y="2907792"/>
            <a:ext cx="2377440" cy="36576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putar 90° ke kiri</a:t>
            </a:r>
            <a:endParaRPr lang="en-US" sz="1300" dirty="0"/>
          </a:p>
        </p:txBody>
      </p:sp>
      <p:sp>
        <p:nvSpPr>
          <p:cNvPr id="14" name="Langkah kegiatan"/>
          <p:cNvSpPr/>
          <p:nvPr/>
        </p:nvSpPr>
        <p:spPr>
          <a:xfrm>
            <a:off x="457200" y="3429000"/>
            <a:ext cx="4023360" cy="1051560"/>
          </a:xfrm>
          <a:prstGeom prst="roundRect">
            <a:avLst>
              <a:gd name="adj" fmla="val 10435"/>
            </a:avLst>
          </a:prstGeom>
          <a:solidFill>
            <a:schemeClr val="bg2"/>
          </a:solidFill>
          <a:ln w="12700">
            <a:solidFill>
              <a:schemeClr val="bg2"/>
            </a:solidFill>
            <a:prstDash val="solid"/>
          </a:ln>
        </p:spPr>
      </p:sp>
      <p:sp>
        <p:nvSpPr>
          <p:cNvPr id="15" name="Text 13"/>
          <p:cNvSpPr txBox="1"/>
          <p:nvPr/>
        </p:nvSpPr>
        <p:spPr>
          <a:xfrm>
            <a:off x="594360" y="3493008"/>
            <a:ext cx="3794760" cy="93268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200" dirty="0">
                <a:solidFill>
                  <a:schemeClr val="tx1"/>
                </a:solidFill>
                <a:latin typeface="Calibri" pitchFamily="34" charset="0"/>
                <a:ea typeface="Calibri" pitchFamily="34" charset="-122"/>
                <a:cs typeface="Calibri" pitchFamily="34" charset="-120"/>
              </a:rPr>
              <a:t>Berpasangan: satu jadi “programmer”, satu jadi “robot”.</a:t>
            </a:r>
            <a:endParaRPr lang="en-US" sz="1200" dirty="0"/>
          </a:p>
          <a:p>
            <a:pPr marL="342900" indent="-342900">
              <a:spcAft>
                <a:spcPts val="200"/>
              </a:spcAft>
              <a:buSzPct val="100000"/>
              <a:buFont typeface="+mj-lt"/>
              <a:buAutoNum type="arabicPeriod" startAt="1"/>
            </a:pPr>
            <a:r>
              <a:rPr lang="en-US" sz="1200" dirty="0">
                <a:solidFill>
                  <a:schemeClr val="tx1"/>
                </a:solidFill>
                <a:latin typeface="Calibri" pitchFamily="34" charset="0"/>
                <a:ea typeface="Calibri" pitchFamily="34" charset="-122"/>
                <a:cs typeface="Calibri" pitchFamily="34" charset="-120"/>
              </a:rPr>
              <a:t>Robot menjalankan perintah persis apa adanya.</a:t>
            </a:r>
            <a:endParaRPr lang="en-US" sz="1200" dirty="0"/>
          </a:p>
          <a:p>
            <a:pPr marL="342900" indent="-342900">
              <a:spcAft>
                <a:spcPts val="200"/>
              </a:spcAft>
              <a:buSzPct val="100000"/>
              <a:buFont typeface="+mj-lt"/>
              <a:buAutoNum type="arabicPeriod" startAt="1"/>
            </a:pPr>
            <a:r>
              <a:rPr lang="en-US" sz="1200" dirty="0">
                <a:solidFill>
                  <a:schemeClr val="tx1"/>
                </a:solidFill>
                <a:latin typeface="Calibri" pitchFamily="34" charset="0"/>
                <a:ea typeface="Calibri" pitchFamily="34" charset="-122"/>
                <a:cs typeface="Calibri" pitchFamily="34" charset="-120"/>
              </a:rPr>
              <a:t>Salah arah? Perbaiki perintahnya (debugging).</a:t>
            </a:r>
            <a:endParaRPr lang="en-US" sz="1200" dirty="0"/>
          </a:p>
        </p:txBody>
      </p:sp>
      <p:sp>
        <p:nvSpPr>
          <p:cNvPr id="16" name="Shape 14"/>
          <p:cNvSpPr/>
          <p:nvPr/>
        </p:nvSpPr>
        <p:spPr>
          <a:xfrm>
            <a:off x="5120640" y="1051560"/>
            <a:ext cx="676656" cy="676656"/>
          </a:xfrm>
          <a:prstGeom prst="rect">
            <a:avLst/>
          </a:prstGeom>
          <a:solidFill>
            <a:srgbClr val="EEF4F3"/>
          </a:solidFill>
          <a:ln w="9525">
            <a:solidFill>
              <a:srgbClr val="C9D3D1"/>
            </a:solidFill>
            <a:prstDash val="solid"/>
          </a:ln>
        </p:spPr>
      </p:sp>
      <p:sp>
        <p:nvSpPr>
          <p:cNvPr id="17" name="Shape 15"/>
          <p:cNvSpPr/>
          <p:nvPr/>
        </p:nvSpPr>
        <p:spPr>
          <a:xfrm>
            <a:off x="5797296" y="1051560"/>
            <a:ext cx="676656" cy="676656"/>
          </a:xfrm>
          <a:prstGeom prst="rect">
            <a:avLst/>
          </a:prstGeom>
          <a:solidFill>
            <a:srgbClr val="FFFFFF"/>
          </a:solidFill>
          <a:ln w="9525">
            <a:solidFill>
              <a:srgbClr val="C9D3D1"/>
            </a:solidFill>
            <a:prstDash val="solid"/>
          </a:ln>
        </p:spPr>
      </p:sp>
      <p:sp>
        <p:nvSpPr>
          <p:cNvPr id="18" name="Shape 16"/>
          <p:cNvSpPr/>
          <p:nvPr/>
        </p:nvSpPr>
        <p:spPr>
          <a:xfrm>
            <a:off x="6473952" y="1051560"/>
            <a:ext cx="676656" cy="676656"/>
          </a:xfrm>
          <a:prstGeom prst="rect">
            <a:avLst/>
          </a:prstGeom>
          <a:solidFill>
            <a:srgbClr val="EEF4F3"/>
          </a:solidFill>
          <a:ln w="9525">
            <a:solidFill>
              <a:srgbClr val="C9D3D1"/>
            </a:solidFill>
            <a:prstDash val="solid"/>
          </a:ln>
        </p:spPr>
      </p:sp>
      <p:sp>
        <p:nvSpPr>
          <p:cNvPr id="19" name="Shape 17"/>
          <p:cNvSpPr/>
          <p:nvPr/>
        </p:nvSpPr>
        <p:spPr>
          <a:xfrm>
            <a:off x="7150608" y="1051560"/>
            <a:ext cx="676656" cy="676656"/>
          </a:xfrm>
          <a:prstGeom prst="rect">
            <a:avLst/>
          </a:prstGeom>
          <a:solidFill>
            <a:srgbClr val="FFFFFF"/>
          </a:solidFill>
          <a:ln w="9525">
            <a:solidFill>
              <a:srgbClr val="C9D3D1"/>
            </a:solidFill>
            <a:prstDash val="solid"/>
          </a:ln>
        </p:spPr>
      </p:sp>
      <p:sp>
        <p:nvSpPr>
          <p:cNvPr id="20" name="Shape 18"/>
          <p:cNvSpPr/>
          <p:nvPr/>
        </p:nvSpPr>
        <p:spPr>
          <a:xfrm>
            <a:off x="7827264" y="1051560"/>
            <a:ext cx="676656" cy="676656"/>
          </a:xfrm>
          <a:prstGeom prst="rect">
            <a:avLst/>
          </a:prstGeom>
          <a:solidFill>
            <a:srgbClr val="EEF4F3"/>
          </a:solidFill>
          <a:ln w="9525">
            <a:solidFill>
              <a:srgbClr val="C9D3D1"/>
            </a:solidFill>
            <a:prstDash val="solid"/>
          </a:ln>
        </p:spPr>
      </p:sp>
      <p:sp>
        <p:nvSpPr>
          <p:cNvPr id="21" name="Shape 19"/>
          <p:cNvSpPr/>
          <p:nvPr/>
        </p:nvSpPr>
        <p:spPr>
          <a:xfrm>
            <a:off x="5120640" y="1728216"/>
            <a:ext cx="676656" cy="676656"/>
          </a:xfrm>
          <a:prstGeom prst="rect">
            <a:avLst/>
          </a:prstGeom>
          <a:solidFill>
            <a:srgbClr val="FFFFFF"/>
          </a:solidFill>
          <a:ln w="9525">
            <a:solidFill>
              <a:srgbClr val="C9D3D1"/>
            </a:solidFill>
            <a:prstDash val="solid"/>
          </a:ln>
        </p:spPr>
      </p:sp>
      <p:sp>
        <p:nvSpPr>
          <p:cNvPr id="22" name="Shape 20"/>
          <p:cNvSpPr/>
          <p:nvPr/>
        </p:nvSpPr>
        <p:spPr>
          <a:xfrm>
            <a:off x="5797296" y="1728216"/>
            <a:ext cx="676656" cy="676656"/>
          </a:xfrm>
          <a:prstGeom prst="rect">
            <a:avLst/>
          </a:prstGeom>
          <a:solidFill>
            <a:srgbClr val="EEF4F3"/>
          </a:solidFill>
          <a:ln w="9525">
            <a:solidFill>
              <a:srgbClr val="C9D3D1"/>
            </a:solidFill>
            <a:prstDash val="solid"/>
          </a:ln>
        </p:spPr>
      </p:sp>
      <p:sp>
        <p:nvSpPr>
          <p:cNvPr id="23" name="Shape 21"/>
          <p:cNvSpPr/>
          <p:nvPr/>
        </p:nvSpPr>
        <p:spPr>
          <a:xfrm>
            <a:off x="6473952" y="1728216"/>
            <a:ext cx="676656" cy="676656"/>
          </a:xfrm>
          <a:prstGeom prst="rect">
            <a:avLst/>
          </a:prstGeom>
          <a:solidFill>
            <a:srgbClr val="FFFFFF"/>
          </a:solidFill>
          <a:ln w="9525">
            <a:solidFill>
              <a:srgbClr val="C9D3D1"/>
            </a:solidFill>
            <a:prstDash val="solid"/>
          </a:ln>
        </p:spPr>
      </p:sp>
      <p:sp>
        <p:nvSpPr>
          <p:cNvPr id="24" name="Shape 22"/>
          <p:cNvSpPr/>
          <p:nvPr/>
        </p:nvSpPr>
        <p:spPr>
          <a:xfrm>
            <a:off x="7150608" y="1728216"/>
            <a:ext cx="676656" cy="676656"/>
          </a:xfrm>
          <a:prstGeom prst="rect">
            <a:avLst/>
          </a:prstGeom>
          <a:solidFill>
            <a:srgbClr val="EEF4F3"/>
          </a:solidFill>
          <a:ln w="9525">
            <a:solidFill>
              <a:srgbClr val="C9D3D1"/>
            </a:solidFill>
            <a:prstDash val="solid"/>
          </a:ln>
        </p:spPr>
      </p:sp>
      <p:sp>
        <p:nvSpPr>
          <p:cNvPr id="25" name="Shape 23"/>
          <p:cNvSpPr/>
          <p:nvPr/>
        </p:nvSpPr>
        <p:spPr>
          <a:xfrm>
            <a:off x="7827264" y="1728216"/>
            <a:ext cx="676656" cy="676656"/>
          </a:xfrm>
          <a:prstGeom prst="rect">
            <a:avLst/>
          </a:prstGeom>
          <a:solidFill>
            <a:srgbClr val="FFFFFF"/>
          </a:solidFill>
          <a:ln w="9525">
            <a:solidFill>
              <a:srgbClr val="C9D3D1"/>
            </a:solidFill>
            <a:prstDash val="solid"/>
          </a:ln>
        </p:spPr>
      </p:sp>
      <p:sp>
        <p:nvSpPr>
          <p:cNvPr id="26" name="Shape 24"/>
          <p:cNvSpPr/>
          <p:nvPr/>
        </p:nvSpPr>
        <p:spPr>
          <a:xfrm>
            <a:off x="5120640" y="2404872"/>
            <a:ext cx="676656" cy="676656"/>
          </a:xfrm>
          <a:prstGeom prst="rect">
            <a:avLst/>
          </a:prstGeom>
          <a:solidFill>
            <a:srgbClr val="EEF4F3"/>
          </a:solidFill>
          <a:ln w="9525">
            <a:solidFill>
              <a:srgbClr val="C9D3D1"/>
            </a:solidFill>
            <a:prstDash val="solid"/>
          </a:ln>
        </p:spPr>
      </p:sp>
      <p:sp>
        <p:nvSpPr>
          <p:cNvPr id="27" name="Shape 25"/>
          <p:cNvSpPr/>
          <p:nvPr/>
        </p:nvSpPr>
        <p:spPr>
          <a:xfrm>
            <a:off x="5797296" y="2404872"/>
            <a:ext cx="676656" cy="676656"/>
          </a:xfrm>
          <a:prstGeom prst="rect">
            <a:avLst/>
          </a:prstGeom>
          <a:solidFill>
            <a:srgbClr val="FFFFFF"/>
          </a:solidFill>
          <a:ln w="9525">
            <a:solidFill>
              <a:srgbClr val="C9D3D1"/>
            </a:solidFill>
            <a:prstDash val="solid"/>
          </a:ln>
        </p:spPr>
      </p:sp>
      <p:sp>
        <p:nvSpPr>
          <p:cNvPr id="28" name="Shape 26"/>
          <p:cNvSpPr/>
          <p:nvPr/>
        </p:nvSpPr>
        <p:spPr>
          <a:xfrm>
            <a:off x="6473952" y="2404872"/>
            <a:ext cx="676656" cy="676656"/>
          </a:xfrm>
          <a:prstGeom prst="rect">
            <a:avLst/>
          </a:prstGeom>
          <a:solidFill>
            <a:srgbClr val="EEF4F3"/>
          </a:solidFill>
          <a:ln w="9525">
            <a:solidFill>
              <a:srgbClr val="C9D3D1"/>
            </a:solidFill>
            <a:prstDash val="solid"/>
          </a:ln>
        </p:spPr>
      </p:sp>
      <p:sp>
        <p:nvSpPr>
          <p:cNvPr id="29" name="Shape 27"/>
          <p:cNvSpPr/>
          <p:nvPr/>
        </p:nvSpPr>
        <p:spPr>
          <a:xfrm>
            <a:off x="7150608" y="2404872"/>
            <a:ext cx="676656" cy="676656"/>
          </a:xfrm>
          <a:prstGeom prst="rect">
            <a:avLst/>
          </a:prstGeom>
          <a:solidFill>
            <a:srgbClr val="FFFFFF"/>
          </a:solidFill>
          <a:ln w="9525">
            <a:solidFill>
              <a:srgbClr val="C9D3D1"/>
            </a:solidFill>
            <a:prstDash val="solid"/>
          </a:ln>
        </p:spPr>
      </p:sp>
      <p:sp>
        <p:nvSpPr>
          <p:cNvPr id="30" name="Shape 28"/>
          <p:cNvSpPr/>
          <p:nvPr/>
        </p:nvSpPr>
        <p:spPr>
          <a:xfrm>
            <a:off x="7827264" y="2404872"/>
            <a:ext cx="676656" cy="676656"/>
          </a:xfrm>
          <a:prstGeom prst="rect">
            <a:avLst/>
          </a:prstGeom>
          <a:solidFill>
            <a:srgbClr val="EEF4F3"/>
          </a:solidFill>
          <a:ln w="9525">
            <a:solidFill>
              <a:srgbClr val="C9D3D1"/>
            </a:solidFill>
            <a:prstDash val="solid"/>
          </a:ln>
        </p:spPr>
      </p:sp>
      <p:sp>
        <p:nvSpPr>
          <p:cNvPr id="31" name="Shape 29"/>
          <p:cNvSpPr/>
          <p:nvPr/>
        </p:nvSpPr>
        <p:spPr>
          <a:xfrm>
            <a:off x="5120640" y="3081528"/>
            <a:ext cx="676656" cy="676656"/>
          </a:xfrm>
          <a:prstGeom prst="rect">
            <a:avLst/>
          </a:prstGeom>
          <a:solidFill>
            <a:srgbClr val="FFFFFF"/>
          </a:solidFill>
          <a:ln w="9525">
            <a:solidFill>
              <a:srgbClr val="C9D3D1"/>
            </a:solidFill>
            <a:prstDash val="solid"/>
          </a:ln>
        </p:spPr>
      </p:sp>
      <p:sp>
        <p:nvSpPr>
          <p:cNvPr id="32" name="Shape 30"/>
          <p:cNvSpPr/>
          <p:nvPr/>
        </p:nvSpPr>
        <p:spPr>
          <a:xfrm>
            <a:off x="5797296" y="3081528"/>
            <a:ext cx="676656" cy="676656"/>
          </a:xfrm>
          <a:prstGeom prst="rect">
            <a:avLst/>
          </a:prstGeom>
          <a:solidFill>
            <a:srgbClr val="EEF4F3"/>
          </a:solidFill>
          <a:ln w="9525">
            <a:solidFill>
              <a:srgbClr val="C9D3D1"/>
            </a:solidFill>
            <a:prstDash val="solid"/>
          </a:ln>
        </p:spPr>
      </p:sp>
      <p:sp>
        <p:nvSpPr>
          <p:cNvPr id="33" name="Shape 31"/>
          <p:cNvSpPr/>
          <p:nvPr/>
        </p:nvSpPr>
        <p:spPr>
          <a:xfrm>
            <a:off x="6473952" y="3081528"/>
            <a:ext cx="676656" cy="676656"/>
          </a:xfrm>
          <a:prstGeom prst="rect">
            <a:avLst/>
          </a:prstGeom>
          <a:solidFill>
            <a:srgbClr val="FFFFFF"/>
          </a:solidFill>
          <a:ln w="9525">
            <a:solidFill>
              <a:srgbClr val="C9D3D1"/>
            </a:solidFill>
            <a:prstDash val="solid"/>
          </a:ln>
        </p:spPr>
      </p:sp>
      <p:sp>
        <p:nvSpPr>
          <p:cNvPr id="34" name="Shape 32"/>
          <p:cNvSpPr/>
          <p:nvPr/>
        </p:nvSpPr>
        <p:spPr>
          <a:xfrm>
            <a:off x="7150608" y="3081528"/>
            <a:ext cx="676656" cy="676656"/>
          </a:xfrm>
          <a:prstGeom prst="rect">
            <a:avLst/>
          </a:prstGeom>
          <a:solidFill>
            <a:srgbClr val="EEF4F3"/>
          </a:solidFill>
          <a:ln w="9525">
            <a:solidFill>
              <a:srgbClr val="C9D3D1"/>
            </a:solidFill>
            <a:prstDash val="solid"/>
          </a:ln>
        </p:spPr>
      </p:sp>
      <p:sp>
        <p:nvSpPr>
          <p:cNvPr id="35" name="Shape 33"/>
          <p:cNvSpPr/>
          <p:nvPr/>
        </p:nvSpPr>
        <p:spPr>
          <a:xfrm>
            <a:off x="7827264" y="3081528"/>
            <a:ext cx="676656" cy="676656"/>
          </a:xfrm>
          <a:prstGeom prst="rect">
            <a:avLst/>
          </a:prstGeom>
          <a:solidFill>
            <a:srgbClr val="FFFFFF"/>
          </a:solidFill>
          <a:ln w="9525">
            <a:solidFill>
              <a:srgbClr val="C9D3D1"/>
            </a:solidFill>
            <a:prstDash val="solid"/>
          </a:ln>
        </p:spPr>
      </p:sp>
      <p:sp>
        <p:nvSpPr>
          <p:cNvPr id="36" name="Shape 34"/>
          <p:cNvSpPr/>
          <p:nvPr/>
        </p:nvSpPr>
        <p:spPr>
          <a:xfrm>
            <a:off x="5120640" y="3758184"/>
            <a:ext cx="676656" cy="676656"/>
          </a:xfrm>
          <a:prstGeom prst="rect">
            <a:avLst/>
          </a:prstGeom>
          <a:solidFill>
            <a:srgbClr val="EEF4F3"/>
          </a:solidFill>
          <a:ln w="9525">
            <a:solidFill>
              <a:srgbClr val="C9D3D1"/>
            </a:solidFill>
            <a:prstDash val="solid"/>
          </a:ln>
        </p:spPr>
      </p:sp>
      <p:sp>
        <p:nvSpPr>
          <p:cNvPr id="37" name="Shape 35"/>
          <p:cNvSpPr/>
          <p:nvPr/>
        </p:nvSpPr>
        <p:spPr>
          <a:xfrm>
            <a:off x="5797296" y="3758184"/>
            <a:ext cx="676656" cy="676656"/>
          </a:xfrm>
          <a:prstGeom prst="rect">
            <a:avLst/>
          </a:prstGeom>
          <a:solidFill>
            <a:srgbClr val="FFFFFF"/>
          </a:solidFill>
          <a:ln w="9525">
            <a:solidFill>
              <a:srgbClr val="C9D3D1"/>
            </a:solidFill>
            <a:prstDash val="solid"/>
          </a:ln>
        </p:spPr>
      </p:sp>
      <p:sp>
        <p:nvSpPr>
          <p:cNvPr id="38" name="Shape 36"/>
          <p:cNvSpPr/>
          <p:nvPr/>
        </p:nvSpPr>
        <p:spPr>
          <a:xfrm>
            <a:off x="6473952" y="3758184"/>
            <a:ext cx="676656" cy="676656"/>
          </a:xfrm>
          <a:prstGeom prst="rect">
            <a:avLst/>
          </a:prstGeom>
          <a:solidFill>
            <a:srgbClr val="EEF4F3"/>
          </a:solidFill>
          <a:ln w="9525">
            <a:solidFill>
              <a:srgbClr val="C9D3D1"/>
            </a:solidFill>
            <a:prstDash val="solid"/>
          </a:ln>
        </p:spPr>
      </p:sp>
      <p:sp>
        <p:nvSpPr>
          <p:cNvPr id="39" name="Shape 37"/>
          <p:cNvSpPr/>
          <p:nvPr/>
        </p:nvSpPr>
        <p:spPr>
          <a:xfrm>
            <a:off x="7150608" y="3758184"/>
            <a:ext cx="676656" cy="676656"/>
          </a:xfrm>
          <a:prstGeom prst="rect">
            <a:avLst/>
          </a:prstGeom>
          <a:solidFill>
            <a:srgbClr val="FFFFFF"/>
          </a:solidFill>
          <a:ln w="9525">
            <a:solidFill>
              <a:srgbClr val="C9D3D1"/>
            </a:solidFill>
            <a:prstDash val="solid"/>
          </a:ln>
        </p:spPr>
      </p:sp>
      <p:sp>
        <p:nvSpPr>
          <p:cNvPr id="40" name="Shape 38"/>
          <p:cNvSpPr/>
          <p:nvPr/>
        </p:nvSpPr>
        <p:spPr>
          <a:xfrm>
            <a:off x="7827264" y="3758184"/>
            <a:ext cx="676656" cy="676656"/>
          </a:xfrm>
          <a:prstGeom prst="rect">
            <a:avLst/>
          </a:prstGeom>
          <a:solidFill>
            <a:srgbClr val="EEF4F3"/>
          </a:solidFill>
          <a:ln w="9525">
            <a:solidFill>
              <a:srgbClr val="C9D3D1"/>
            </a:solidFill>
            <a:prstDash val="solid"/>
          </a:ln>
        </p:spPr>
      </p:sp>
      <p:sp>
        <p:nvSpPr>
          <p:cNvPr id="41" name="Batu"/>
          <p:cNvSpPr/>
          <p:nvPr/>
        </p:nvSpPr>
        <p:spPr>
          <a:xfrm>
            <a:off x="5925312" y="1892808"/>
            <a:ext cx="420624" cy="365760"/>
          </a:xfrm>
          <a:prstGeom prst="ellipse">
            <a:avLst/>
          </a:prstGeom>
          <a:solidFill>
            <a:srgbClr val="8D99AE"/>
          </a:solidFill>
          <a:ln w="12700">
            <a:solidFill>
              <a:srgbClr val="6B7685"/>
            </a:solidFill>
            <a:prstDash val="solid"/>
          </a:ln>
        </p:spPr>
      </p:sp>
      <p:sp>
        <p:nvSpPr>
          <p:cNvPr id="42" name="Batu"/>
          <p:cNvSpPr/>
          <p:nvPr/>
        </p:nvSpPr>
        <p:spPr>
          <a:xfrm>
            <a:off x="6601968" y="1892808"/>
            <a:ext cx="420624" cy="365760"/>
          </a:xfrm>
          <a:prstGeom prst="ellipse">
            <a:avLst/>
          </a:prstGeom>
          <a:solidFill>
            <a:srgbClr val="8D99AE"/>
          </a:solidFill>
          <a:ln w="12700">
            <a:solidFill>
              <a:srgbClr val="6B7685"/>
            </a:solidFill>
            <a:prstDash val="solid"/>
          </a:ln>
        </p:spPr>
      </p:sp>
      <p:sp>
        <p:nvSpPr>
          <p:cNvPr id="43" name="Batu"/>
          <p:cNvSpPr/>
          <p:nvPr/>
        </p:nvSpPr>
        <p:spPr>
          <a:xfrm>
            <a:off x="6601968" y="3246120"/>
            <a:ext cx="420624" cy="365760"/>
          </a:xfrm>
          <a:prstGeom prst="ellipse">
            <a:avLst/>
          </a:prstGeom>
          <a:solidFill>
            <a:srgbClr val="8D99AE"/>
          </a:solidFill>
          <a:ln w="12700">
            <a:solidFill>
              <a:srgbClr val="6B7685"/>
            </a:solidFill>
            <a:prstDash val="solid"/>
          </a:ln>
        </p:spPr>
      </p:sp>
      <p:sp>
        <p:nvSpPr>
          <p:cNvPr id="44" name="Batu"/>
          <p:cNvSpPr/>
          <p:nvPr/>
        </p:nvSpPr>
        <p:spPr>
          <a:xfrm>
            <a:off x="7278624" y="3246120"/>
            <a:ext cx="420624" cy="365760"/>
          </a:xfrm>
          <a:prstGeom prst="ellipse">
            <a:avLst/>
          </a:prstGeom>
          <a:solidFill>
            <a:srgbClr val="8D99AE"/>
          </a:solidFill>
          <a:ln w="12700">
            <a:solidFill>
              <a:srgbClr val="6B7685"/>
            </a:solidFill>
            <a:prstDash val="solid"/>
          </a:ln>
        </p:spPr>
      </p:sp>
      <p:sp>
        <p:nvSpPr>
          <p:cNvPr id="45" name="Batu"/>
          <p:cNvSpPr/>
          <p:nvPr/>
        </p:nvSpPr>
        <p:spPr>
          <a:xfrm>
            <a:off x="7955280" y="2569464"/>
            <a:ext cx="420624" cy="365760"/>
          </a:xfrm>
          <a:prstGeom prst="ellipse">
            <a:avLst/>
          </a:prstGeom>
          <a:solidFill>
            <a:srgbClr val="8D99AE"/>
          </a:solidFill>
          <a:ln w="12700">
            <a:solidFill>
              <a:srgbClr val="6B7685"/>
            </a:solidFill>
            <a:prstDash val="solid"/>
          </a:ln>
        </p:spPr>
      </p:sp>
      <p:sp>
        <p:nvSpPr>
          <p:cNvPr id="46" name="Batu"/>
          <p:cNvSpPr/>
          <p:nvPr/>
        </p:nvSpPr>
        <p:spPr>
          <a:xfrm>
            <a:off x="5925312" y="1216152"/>
            <a:ext cx="420624" cy="365760"/>
          </a:xfrm>
          <a:prstGeom prst="ellipse">
            <a:avLst/>
          </a:prstGeom>
          <a:solidFill>
            <a:srgbClr val="8D99AE"/>
          </a:solidFill>
          <a:ln w="12700">
            <a:solidFill>
              <a:srgbClr val="6B7685"/>
            </a:solidFill>
            <a:prstDash val="solid"/>
          </a:ln>
        </p:spPr>
      </p:sp>
      <p:sp>
        <p:nvSpPr>
          <p:cNvPr id="47" name="Robot circle"/>
          <p:cNvSpPr/>
          <p:nvPr/>
        </p:nvSpPr>
        <p:spPr>
          <a:xfrm>
            <a:off x="5212080" y="3849624"/>
            <a:ext cx="493776" cy="493776"/>
          </a:xfrm>
          <a:prstGeom prst="ellipse">
            <a:avLst/>
          </a:prstGeom>
          <a:solidFill>
            <a:schemeClr val="accent1"/>
          </a:solidFill>
          <a:ln w="12700">
            <a:solidFill>
              <a:schemeClr val="accent1"/>
            </a:solidFill>
            <a:prstDash val="solid"/>
          </a:ln>
        </p:spPr>
      </p:sp>
      <p:pic>
        <p:nvPicPr>
          <p:cNvPr id="48" name="Robot" descr="preencoded.png">    </p:cNvPr>
          <p:cNvPicPr>
            <a:picLocks noChangeAspect="1"/>
          </p:cNvPicPr>
          <p:nvPr/>
        </p:nvPicPr>
        <p:blipFill>
          <a:blip r:embed="rId1"/>
          <a:stretch>
            <a:fillRect/>
          </a:stretch>
        </p:blipFill>
        <p:spPr>
          <a:xfrm>
            <a:off x="5345400" y="3982944"/>
            <a:ext cx="227137" cy="227137"/>
          </a:xfrm>
          <a:prstGeom prst="rect">
            <a:avLst/>
          </a:prstGeom>
        </p:spPr>
      </p:pic>
      <p:pic>
        <p:nvPicPr>
          <p:cNvPr id="49" name="Bintang" descr="preencoded.png">    </p:cNvPr>
          <p:cNvPicPr>
            <a:picLocks noChangeAspect="1"/>
          </p:cNvPicPr>
          <p:nvPr/>
        </p:nvPicPr>
        <p:blipFill>
          <a:blip r:embed="rId2"/>
          <a:stretch>
            <a:fillRect/>
          </a:stretch>
        </p:blipFill>
        <p:spPr>
          <a:xfrm>
            <a:off x="7946136" y="1170432"/>
            <a:ext cx="438912" cy="438912"/>
          </a:xfrm>
          <a:prstGeom prst="rect">
            <a:avLst/>
          </a:prstGeom>
        </p:spPr>
      </p:pic>
      <p:sp>
        <p:nvSpPr>
          <p:cNvPr id="50" name="Text 46"/>
          <p:cNvSpPr txBox="1"/>
          <p:nvPr/>
        </p:nvSpPr>
        <p:spPr>
          <a:xfrm>
            <a:off x="5120640" y="4453128"/>
            <a:ext cx="3383280" cy="228600"/>
          </a:xfrm>
          <a:prstGeom prst="rect">
            <a:avLst/>
          </a:prstGeom>
          <a:noFill/>
          <a:ln/>
        </p:spPr>
        <p:txBody>
          <a:bodyPr wrap="square" lIns="0" tIns="0" rIns="0" bIns="0" rtlCol="0" anchor="t"/>
          <a:lstStyle/>
          <a:p>
            <a:pPr algn="ctr" indent="0" marL="0">
              <a:buNone/>
            </a:pPr>
            <a:r>
              <a:rPr lang="en-US" sz="1100" i="1" dirty="0">
                <a:solidFill>
                  <a:schemeClr val="accent5"/>
                </a:solidFill>
                <a:latin typeface="Calibri" pitchFamily="34" charset="0"/>
                <a:ea typeface="Calibri" pitchFamily="34" charset="-122"/>
                <a:cs typeface="Calibri" pitchFamily="34" charset="-120"/>
              </a:rPr>
              <a:t>Robot mulai menghadap ke atas</a:t>
            </a:r>
            <a:endParaRPr lang="en-US" sz="11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Rangkuman</a:t>
            </a:r>
            <a:endParaRPr lang="en-US" sz="2800" dirty="0"/>
          </a:p>
        </p:txBody>
      </p:sp>
      <p:sp>
        <p:nvSpPr>
          <p:cNvPr id="3" name="icon circle"/>
          <p:cNvSpPr/>
          <p:nvPr/>
        </p:nvSpPr>
        <p:spPr>
          <a:xfrm>
            <a:off x="457200" y="1152144"/>
            <a:ext cx="566928" cy="566928"/>
          </a:xfrm>
          <a:prstGeom prst="ellipse">
            <a:avLst/>
          </a:prstGeom>
          <a:solidFill>
            <a:schemeClr val="accent3"/>
          </a:solidFill>
          <a:ln w="12700">
            <a:solidFill>
              <a:schemeClr val="accent3"/>
            </a:solidFill>
            <a:prstDash val="solid"/>
          </a:ln>
        </p:spPr>
      </p:sp>
      <p:pic>
        <p:nvPicPr>
          <p:cNvPr id="4" name="icon" descr="preencoded.png">    </p:cNvPr>
          <p:cNvPicPr>
            <a:picLocks noChangeAspect="1"/>
          </p:cNvPicPr>
          <p:nvPr/>
        </p:nvPicPr>
        <p:blipFill>
          <a:blip r:embed="rId1"/>
          <a:stretch>
            <a:fillRect/>
          </a:stretch>
        </p:blipFill>
        <p:spPr>
          <a:xfrm>
            <a:off x="610271" y="1305215"/>
            <a:ext cx="260787" cy="260787"/>
          </a:xfrm>
          <a:prstGeom prst="rect">
            <a:avLst/>
          </a:prstGeom>
        </p:spPr>
      </p:pic>
      <p:sp>
        <p:nvSpPr>
          <p:cNvPr id="5" name="Text 2"/>
          <p:cNvSpPr txBox="1"/>
          <p:nvPr/>
        </p:nvSpPr>
        <p:spPr>
          <a:xfrm>
            <a:off x="1188720" y="1115568"/>
            <a:ext cx="365760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Dekomposisi</a:t>
            </a:r>
            <a:endParaRPr lang="en-US" sz="1600" dirty="0"/>
          </a:p>
        </p:txBody>
      </p:sp>
      <p:sp>
        <p:nvSpPr>
          <p:cNvPr id="6" name="Text 3"/>
          <p:cNvSpPr txBox="1"/>
          <p:nvPr/>
        </p:nvSpPr>
        <p:spPr>
          <a:xfrm>
            <a:off x="1188720" y="1444752"/>
            <a:ext cx="3749040" cy="3657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Pecah masalah besar menjadi bagian kecil.</a:t>
            </a:r>
            <a:endParaRPr lang="en-US" sz="1400" dirty="0"/>
          </a:p>
        </p:txBody>
      </p:sp>
      <p:sp>
        <p:nvSpPr>
          <p:cNvPr id="7" name="icon circle"/>
          <p:cNvSpPr/>
          <p:nvPr/>
        </p:nvSpPr>
        <p:spPr>
          <a:xfrm>
            <a:off x="457200" y="1993392"/>
            <a:ext cx="566928" cy="566928"/>
          </a:xfrm>
          <a:prstGeom prst="ellipse">
            <a:avLst/>
          </a:prstGeom>
          <a:solidFill>
            <a:schemeClr val="accent2"/>
          </a:solidFill>
          <a:ln w="12700">
            <a:solidFill>
              <a:schemeClr val="accent2"/>
            </a:solidFill>
            <a:prstDash val="solid"/>
          </a:ln>
        </p:spPr>
      </p:sp>
      <p:pic>
        <p:nvPicPr>
          <p:cNvPr id="8" name="icon" descr="preencoded.png">    </p:cNvPr>
          <p:cNvPicPr>
            <a:picLocks noChangeAspect="1"/>
          </p:cNvPicPr>
          <p:nvPr/>
        </p:nvPicPr>
        <p:blipFill>
          <a:blip r:embed="rId2"/>
          <a:stretch>
            <a:fillRect/>
          </a:stretch>
        </p:blipFill>
        <p:spPr>
          <a:xfrm>
            <a:off x="610271" y="2146463"/>
            <a:ext cx="260787" cy="260787"/>
          </a:xfrm>
          <a:prstGeom prst="rect">
            <a:avLst/>
          </a:prstGeom>
        </p:spPr>
      </p:pic>
      <p:sp>
        <p:nvSpPr>
          <p:cNvPr id="9" name="Text 5"/>
          <p:cNvSpPr txBox="1"/>
          <p:nvPr/>
        </p:nvSpPr>
        <p:spPr>
          <a:xfrm>
            <a:off x="1188720" y="1956816"/>
            <a:ext cx="365760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Pengenalan Pola</a:t>
            </a:r>
            <a:endParaRPr lang="en-US" sz="1600" dirty="0"/>
          </a:p>
        </p:txBody>
      </p:sp>
      <p:sp>
        <p:nvSpPr>
          <p:cNvPr id="10" name="Text 6"/>
          <p:cNvSpPr txBox="1"/>
          <p:nvPr/>
        </p:nvSpPr>
        <p:spPr>
          <a:xfrm>
            <a:off x="1188720" y="2286000"/>
            <a:ext cx="3749040" cy="3657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Temukan kesamaan agar solusi bisa dipakai ulang.</a:t>
            </a:r>
            <a:endParaRPr lang="en-US" sz="1400" dirty="0"/>
          </a:p>
        </p:txBody>
      </p:sp>
      <p:sp>
        <p:nvSpPr>
          <p:cNvPr id="11" name="icon circle"/>
          <p:cNvSpPr/>
          <p:nvPr/>
        </p:nvSpPr>
        <p:spPr>
          <a:xfrm>
            <a:off x="457200" y="2834640"/>
            <a:ext cx="566928" cy="566928"/>
          </a:xfrm>
          <a:prstGeom prst="ellipse">
            <a:avLst/>
          </a:prstGeom>
          <a:solidFill>
            <a:schemeClr val="accent4"/>
          </a:solidFill>
          <a:ln w="12700">
            <a:solidFill>
              <a:schemeClr val="accent4"/>
            </a:solidFill>
            <a:prstDash val="solid"/>
          </a:ln>
        </p:spPr>
      </p:sp>
      <p:pic>
        <p:nvPicPr>
          <p:cNvPr id="12" name="icon" descr="preencoded.png">    </p:cNvPr>
          <p:cNvPicPr>
            <a:picLocks noChangeAspect="1"/>
          </p:cNvPicPr>
          <p:nvPr/>
        </p:nvPicPr>
        <p:blipFill>
          <a:blip r:embed="rId3"/>
          <a:stretch>
            <a:fillRect/>
          </a:stretch>
        </p:blipFill>
        <p:spPr>
          <a:xfrm>
            <a:off x="610271" y="2987711"/>
            <a:ext cx="260787" cy="260787"/>
          </a:xfrm>
          <a:prstGeom prst="rect">
            <a:avLst/>
          </a:prstGeom>
        </p:spPr>
      </p:pic>
      <p:sp>
        <p:nvSpPr>
          <p:cNvPr id="13" name="Text 8"/>
          <p:cNvSpPr txBox="1"/>
          <p:nvPr/>
        </p:nvSpPr>
        <p:spPr>
          <a:xfrm>
            <a:off x="1188720" y="2798064"/>
            <a:ext cx="365760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Abstraksi</a:t>
            </a:r>
            <a:endParaRPr lang="en-US" sz="1600" dirty="0"/>
          </a:p>
        </p:txBody>
      </p:sp>
      <p:sp>
        <p:nvSpPr>
          <p:cNvPr id="14" name="Text 9"/>
          <p:cNvSpPr txBox="1"/>
          <p:nvPr/>
        </p:nvSpPr>
        <p:spPr>
          <a:xfrm>
            <a:off x="1188720" y="3127248"/>
            <a:ext cx="3749040" cy="3657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Ambil yang penting, buang yang tidak relevan.</a:t>
            </a:r>
            <a:endParaRPr lang="en-US" sz="1400" dirty="0"/>
          </a:p>
        </p:txBody>
      </p:sp>
      <p:sp>
        <p:nvSpPr>
          <p:cNvPr id="15" name="icon circle"/>
          <p:cNvSpPr/>
          <p:nvPr/>
        </p:nvSpPr>
        <p:spPr>
          <a:xfrm>
            <a:off x="457200" y="3675888"/>
            <a:ext cx="566928" cy="566928"/>
          </a:xfrm>
          <a:prstGeom prst="ellipse">
            <a:avLst/>
          </a:prstGeom>
          <a:solidFill>
            <a:schemeClr val="accent1"/>
          </a:solidFill>
          <a:ln w="12700">
            <a:solidFill>
              <a:schemeClr val="accent1"/>
            </a:solidFill>
            <a:prstDash val="solid"/>
          </a:ln>
        </p:spPr>
      </p:sp>
      <p:pic>
        <p:nvPicPr>
          <p:cNvPr id="16" name="icon" descr="preencoded.png">    </p:cNvPr>
          <p:cNvPicPr>
            <a:picLocks noChangeAspect="1"/>
          </p:cNvPicPr>
          <p:nvPr/>
        </p:nvPicPr>
        <p:blipFill>
          <a:blip r:embed="rId4"/>
          <a:stretch>
            <a:fillRect/>
          </a:stretch>
        </p:blipFill>
        <p:spPr>
          <a:xfrm>
            <a:off x="610271" y="3828959"/>
            <a:ext cx="260787" cy="260787"/>
          </a:xfrm>
          <a:prstGeom prst="rect">
            <a:avLst/>
          </a:prstGeom>
        </p:spPr>
      </p:pic>
      <p:sp>
        <p:nvSpPr>
          <p:cNvPr id="17" name="Text 11"/>
          <p:cNvSpPr txBox="1"/>
          <p:nvPr/>
        </p:nvSpPr>
        <p:spPr>
          <a:xfrm>
            <a:off x="1188720" y="3639312"/>
            <a:ext cx="365760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Algoritma</a:t>
            </a:r>
            <a:endParaRPr lang="en-US" sz="1600" dirty="0"/>
          </a:p>
        </p:txBody>
      </p:sp>
      <p:sp>
        <p:nvSpPr>
          <p:cNvPr id="18" name="Text 12"/>
          <p:cNvSpPr txBox="1"/>
          <p:nvPr/>
        </p:nvSpPr>
        <p:spPr>
          <a:xfrm>
            <a:off x="1188720" y="3968496"/>
            <a:ext cx="3749040" cy="3657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Susun langkah yang runtut, jelas, dan berhingga.</a:t>
            </a:r>
            <a:endParaRPr lang="en-US" sz="1400" dirty="0"/>
          </a:p>
        </p:txBody>
      </p:sp>
      <p:sp>
        <p:nvSpPr>
          <p:cNvPr id="19" name="Pesan utama"/>
          <p:cNvSpPr/>
          <p:nvPr/>
        </p:nvSpPr>
        <p:spPr>
          <a:xfrm>
            <a:off x="5120640" y="1097280"/>
            <a:ext cx="3566160" cy="3383280"/>
          </a:xfrm>
          <a:prstGeom prst="roundRect">
            <a:avLst>
              <a:gd name="adj" fmla="val 3243"/>
            </a:avLst>
          </a:prstGeom>
          <a:solidFill>
            <a:schemeClr val="tx2"/>
          </a:solidFill>
          <a:ln w="12700">
            <a:solidFill>
              <a:schemeClr val="tx2"/>
            </a:solidFill>
            <a:prstDash val="solid"/>
          </a:ln>
        </p:spPr>
      </p:sp>
      <p:pic>
        <p:nvPicPr>
          <p:cNvPr id="20" name="Image 4" descr="preencoded.png">    </p:cNvPr>
          <p:cNvPicPr>
            <a:picLocks noChangeAspect="1"/>
          </p:cNvPicPr>
          <p:nvPr/>
        </p:nvPicPr>
        <p:blipFill>
          <a:blip r:embed="rId5"/>
          <a:stretch>
            <a:fillRect/>
          </a:stretch>
        </p:blipFill>
        <p:spPr>
          <a:xfrm>
            <a:off x="5394960" y="1371600"/>
            <a:ext cx="640080" cy="640080"/>
          </a:xfrm>
          <a:prstGeom prst="rect">
            <a:avLst/>
          </a:prstGeom>
        </p:spPr>
      </p:pic>
      <p:sp>
        <p:nvSpPr>
          <p:cNvPr id="21" name="Text 14"/>
          <p:cNvSpPr txBox="1"/>
          <p:nvPr/>
        </p:nvSpPr>
        <p:spPr>
          <a:xfrm>
            <a:off x="5394960" y="2148840"/>
            <a:ext cx="3017520" cy="114300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Computational Thinking bukan tentang membuat manusia berpikir seperti komputer.</a:t>
            </a:r>
            <a:endParaRPr lang="en-US" sz="1600" dirty="0"/>
          </a:p>
        </p:txBody>
      </p:sp>
      <p:sp>
        <p:nvSpPr>
          <p:cNvPr id="22" name="Text 15"/>
          <p:cNvSpPr txBox="1"/>
          <p:nvPr/>
        </p:nvSpPr>
        <p:spPr>
          <a:xfrm>
            <a:off x="5394960" y="3154680"/>
            <a:ext cx="3017520" cy="1005840"/>
          </a:xfrm>
          <a:prstGeom prst="rect">
            <a:avLst/>
          </a:prstGeom>
          <a:noFill/>
          <a:ln/>
        </p:spPr>
        <p:txBody>
          <a:bodyPr wrap="square" lIns="0" tIns="0" rIns="0" bIns="0" rtlCol="0" anchor="t"/>
          <a:lstStyle/>
          <a:p>
            <a:pPr indent="0" marL="0">
              <a:buNone/>
            </a:pPr>
            <a:r>
              <a:rPr lang="en-US" sz="1300" dirty="0">
                <a:solidFill>
                  <a:schemeClr val="bg2"/>
                </a:solidFill>
                <a:latin typeface="Calibri" pitchFamily="34" charset="0"/>
                <a:ea typeface="Calibri" pitchFamily="34" charset="-122"/>
                <a:cs typeface="Calibri" pitchFamily="34" charset="-120"/>
              </a:rPr>
              <a:t>CT membantu kita merumuskan masalah dengan jelas, sehingga solusinya bisa dijalankan oleh siapa pun — manusia maupun mesin.</a:t>
            </a:r>
            <a:endParaRPr lang="en-US" sz="13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Referensi &amp; Bacaan Lanjutan</a:t>
            </a:r>
            <a:endParaRPr lang="en-US" sz="2800" dirty="0"/>
          </a:p>
        </p:txBody>
      </p:sp>
      <p:pic>
        <p:nvPicPr>
          <p:cNvPr id="3" name="Image 0" descr="preencoded.png">    </p:cNvPr>
          <p:cNvPicPr>
            <a:picLocks noChangeAspect="1"/>
          </p:cNvPicPr>
          <p:nvPr/>
        </p:nvPicPr>
        <p:blipFill>
          <a:blip r:embed="rId1"/>
          <a:stretch>
            <a:fillRect/>
          </a:stretch>
        </p:blipFill>
        <p:spPr>
          <a:xfrm>
            <a:off x="502920" y="1188720"/>
            <a:ext cx="256032" cy="256032"/>
          </a:xfrm>
          <a:prstGeom prst="rect">
            <a:avLst/>
          </a:prstGeom>
        </p:spPr>
      </p:pic>
      <p:sp>
        <p:nvSpPr>
          <p:cNvPr id="4" name="Text 1"/>
          <p:cNvSpPr txBox="1"/>
          <p:nvPr/>
        </p:nvSpPr>
        <p:spPr>
          <a:xfrm>
            <a:off x="960120" y="1097280"/>
            <a:ext cx="7680960" cy="45720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Wing, J. M. (2006). Computational Thinking. Communications of the ACM, 49(3), 33–35.</a:t>
            </a:r>
            <a:endParaRPr lang="en-US" sz="1300" dirty="0"/>
          </a:p>
        </p:txBody>
      </p:sp>
      <p:pic>
        <p:nvPicPr>
          <p:cNvPr id="5" name="Image 1" descr="preencoded.png">    </p:cNvPr>
          <p:cNvPicPr>
            <a:picLocks noChangeAspect="1"/>
          </p:cNvPicPr>
          <p:nvPr/>
        </p:nvPicPr>
        <p:blipFill>
          <a:blip r:embed="rId2"/>
          <a:stretch>
            <a:fillRect/>
          </a:stretch>
        </p:blipFill>
        <p:spPr>
          <a:xfrm>
            <a:off x="502920" y="1737360"/>
            <a:ext cx="256032" cy="256032"/>
          </a:xfrm>
          <a:prstGeom prst="rect">
            <a:avLst/>
          </a:prstGeom>
        </p:spPr>
      </p:pic>
      <p:sp>
        <p:nvSpPr>
          <p:cNvPr id="6" name="Text 2"/>
          <p:cNvSpPr txBox="1"/>
          <p:nvPr/>
        </p:nvSpPr>
        <p:spPr>
          <a:xfrm>
            <a:off x="960120" y="1645920"/>
            <a:ext cx="7680960" cy="45720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Wing, J. M. (2011). Research Notebook: Computational Thinking — What and Why? The Link, Carnegie Mellon University.</a:t>
            </a:r>
            <a:endParaRPr lang="en-US" sz="1300" dirty="0"/>
          </a:p>
        </p:txBody>
      </p:sp>
      <p:pic>
        <p:nvPicPr>
          <p:cNvPr id="7" name="Image 2" descr="preencoded.png">    </p:cNvPr>
          <p:cNvPicPr>
            <a:picLocks noChangeAspect="1"/>
          </p:cNvPicPr>
          <p:nvPr/>
        </p:nvPicPr>
        <p:blipFill>
          <a:blip r:embed="rId3"/>
          <a:stretch>
            <a:fillRect/>
          </a:stretch>
        </p:blipFill>
        <p:spPr>
          <a:xfrm>
            <a:off x="502920" y="2286000"/>
            <a:ext cx="256032" cy="256032"/>
          </a:xfrm>
          <a:prstGeom prst="rect">
            <a:avLst/>
          </a:prstGeom>
        </p:spPr>
      </p:pic>
      <p:sp>
        <p:nvSpPr>
          <p:cNvPr id="8" name="Text 3"/>
          <p:cNvSpPr txBox="1"/>
          <p:nvPr/>
        </p:nvSpPr>
        <p:spPr>
          <a:xfrm>
            <a:off x="960120" y="2194560"/>
            <a:ext cx="7680960" cy="45720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Kemendikbudristek. Capaian Pembelajaran Mata Pelajaran Informatika, Kurikulum Merdeka.</a:t>
            </a:r>
            <a:endParaRPr lang="en-US" sz="1300" dirty="0"/>
          </a:p>
        </p:txBody>
      </p:sp>
      <p:pic>
        <p:nvPicPr>
          <p:cNvPr id="9" name="Image 3" descr="preencoded.png">    </p:cNvPr>
          <p:cNvPicPr>
            <a:picLocks noChangeAspect="1"/>
          </p:cNvPicPr>
          <p:nvPr/>
        </p:nvPicPr>
        <p:blipFill>
          <a:blip r:embed="rId4"/>
          <a:stretch>
            <a:fillRect/>
          </a:stretch>
        </p:blipFill>
        <p:spPr>
          <a:xfrm>
            <a:off x="502920" y="2834640"/>
            <a:ext cx="256032" cy="256032"/>
          </a:xfrm>
          <a:prstGeom prst="rect">
            <a:avLst/>
          </a:prstGeom>
        </p:spPr>
      </p:pic>
      <p:sp>
        <p:nvSpPr>
          <p:cNvPr id="10" name="Text 4"/>
          <p:cNvSpPr txBox="1"/>
          <p:nvPr/>
        </p:nvSpPr>
        <p:spPr>
          <a:xfrm>
            <a:off x="960120" y="2743200"/>
            <a:ext cx="7680960" cy="45720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Tantangan Bebras Indonesia — kumpulan soal latihan berpikir komputasional (bebras.or.id).</a:t>
            </a:r>
            <a:endParaRPr lang="en-US" sz="1300" dirty="0"/>
          </a:p>
        </p:txBody>
      </p:sp>
      <p:pic>
        <p:nvPicPr>
          <p:cNvPr id="11" name="Image 4" descr="preencoded.png">    </p:cNvPr>
          <p:cNvPicPr>
            <a:picLocks noChangeAspect="1"/>
          </p:cNvPicPr>
          <p:nvPr/>
        </p:nvPicPr>
        <p:blipFill>
          <a:blip r:embed="rId5"/>
          <a:stretch>
            <a:fillRect/>
          </a:stretch>
        </p:blipFill>
        <p:spPr>
          <a:xfrm>
            <a:off x="502920" y="3383280"/>
            <a:ext cx="256032" cy="256032"/>
          </a:xfrm>
          <a:prstGeom prst="rect">
            <a:avLst/>
          </a:prstGeom>
        </p:spPr>
      </p:pic>
      <p:sp>
        <p:nvSpPr>
          <p:cNvPr id="12" name="Text 5"/>
          <p:cNvSpPr txBox="1"/>
          <p:nvPr/>
        </p:nvSpPr>
        <p:spPr>
          <a:xfrm>
            <a:off x="960120" y="3291840"/>
            <a:ext cx="7680960" cy="45720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BBC Bitesize — Introduction to Computational Thinking (KS3 Computer Science).</a:t>
            </a:r>
            <a:endParaRPr lang="en-US" sz="1300" dirty="0"/>
          </a:p>
        </p:txBody>
      </p:sp>
      <p:pic>
        <p:nvPicPr>
          <p:cNvPr id="13" name="Image 5" descr="preencoded.png">    </p:cNvPr>
          <p:cNvPicPr>
            <a:picLocks noChangeAspect="1"/>
          </p:cNvPicPr>
          <p:nvPr/>
        </p:nvPicPr>
        <p:blipFill>
          <a:blip r:embed="rId6"/>
          <a:stretch>
            <a:fillRect/>
          </a:stretch>
        </p:blipFill>
        <p:spPr>
          <a:xfrm>
            <a:off x="502920" y="3931920"/>
            <a:ext cx="256032" cy="256032"/>
          </a:xfrm>
          <a:prstGeom prst="rect">
            <a:avLst/>
          </a:prstGeom>
        </p:spPr>
      </p:pic>
      <p:sp>
        <p:nvSpPr>
          <p:cNvPr id="14" name="Text 6"/>
          <p:cNvSpPr txBox="1"/>
          <p:nvPr/>
        </p:nvSpPr>
        <p:spPr>
          <a:xfrm>
            <a:off x="960120" y="3840480"/>
            <a:ext cx="7680960" cy="45720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Knuth, D. E. The Art of Computer Programming, Vol. 1 — ciri-ciri algoritma.</a:t>
            </a:r>
            <a:endParaRPr lang="en-US" sz="13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lustrasi jaringan" descr="preencoded.png">    </p:cNvPr>
          <p:cNvPicPr>
            <a:picLocks noChangeAspect="1"/>
          </p:cNvPicPr>
          <p:nvPr/>
        </p:nvPicPr>
        <p:blipFill>
          <a:blip r:embed="rId1"/>
          <a:stretch>
            <a:fillRect/>
          </a:stretch>
        </p:blipFill>
        <p:spPr>
          <a:xfrm>
            <a:off x="4892040" y="502920"/>
            <a:ext cx="4023360" cy="3755136"/>
          </a:xfrm>
          <a:prstGeom prst="rect">
            <a:avLst/>
          </a:prstGeom>
        </p:spPr>
      </p:pic>
      <p:pic>
        <p:nvPicPr>
          <p:cNvPr id="3" name="Logo" descr="preencoded.png">    </p:cNvPr>
          <p:cNvPicPr>
            <a:picLocks noChangeAspect="1"/>
          </p:cNvPicPr>
          <p:nvPr/>
        </p:nvPicPr>
        <p:blipFill>
          <a:blip r:embed="rId2"/>
          <a:stretch>
            <a:fillRect/>
          </a:stretch>
        </p:blipFill>
        <p:spPr>
          <a:xfrm>
            <a:off x="548640" y="548640"/>
            <a:ext cx="548640" cy="548640"/>
          </a:xfrm>
          <a:prstGeom prst="rect">
            <a:avLst/>
          </a:prstGeom>
        </p:spPr>
      </p:pic>
      <p:sp>
        <p:nvSpPr>
          <p:cNvPr id="4" name="Text 0"/>
          <p:cNvSpPr txBox="1"/>
          <p:nvPr/>
        </p:nvSpPr>
        <p:spPr>
          <a:xfrm>
            <a:off x="548640" y="1554480"/>
            <a:ext cx="4389120" cy="91440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Terima Kasih</a:t>
            </a:r>
            <a:endParaRPr lang="en-US" sz="4400" dirty="0"/>
          </a:p>
        </p:txBody>
      </p:sp>
      <p:sp>
        <p:nvSpPr>
          <p:cNvPr id="5" name="Text 1"/>
          <p:cNvSpPr txBox="1"/>
          <p:nvPr/>
        </p:nvSpPr>
        <p:spPr>
          <a:xfrm>
            <a:off x="548640" y="2514600"/>
            <a:ext cx="4114800" cy="731520"/>
          </a:xfrm>
          <a:prstGeom prst="rect">
            <a:avLst/>
          </a:prstGeom>
          <a:noFill/>
          <a:ln/>
        </p:spPr>
        <p:txBody>
          <a:bodyPr wrap="square" lIns="0" tIns="0" rIns="0" bIns="0" rtlCol="0" anchor="t"/>
          <a:lstStyle/>
          <a:p>
            <a:pPr indent="0" marL="0">
              <a:buNone/>
            </a:pPr>
            <a:r>
              <a:rPr lang="en-US" sz="1600" dirty="0">
                <a:solidFill>
                  <a:schemeClr val="bg2"/>
                </a:solidFill>
                <a:latin typeface="Calibri" pitchFamily="34" charset="0"/>
                <a:ea typeface="Calibri" pitchFamily="34" charset="-122"/>
                <a:cs typeface="Calibri" pitchFamily="34" charset="-120"/>
              </a:rPr>
              <a:t>Mari mulai berpikir komputasional dalam setiap masalah yang kita hadapi.</a:t>
            </a:r>
            <a:endParaRPr lang="en-US" sz="1600" dirty="0"/>
          </a:p>
        </p:txBody>
      </p:sp>
    </p:spTree>
  </p:cSld>
  <p:clrMapOvr>
    <a:masterClrMapping/>
  </p:clrMapOvr>
</p:sld>
</file>

<file path=ppt/theme/theme1.xml><?xml version="1.0" encoding="utf-8"?>
<a:theme xmlns:a="http://schemas.openxmlformats.org/drawingml/2006/main" name="Computational Thinking">
  <a:themeElements>
    <a:clrScheme name="Computational Thinking">
      <a:dk1>
        <a:srgbClr val="1A1F2E"/>
      </a:dk1>
      <a:lt1>
        <a:srgbClr val="FFFFFF"/>
      </a:lt1>
      <a:dk2>
        <a:srgbClr val="0F3D3E"/>
      </a:dk2>
      <a:lt2>
        <a:srgbClr val="EEF4F3"/>
      </a:lt2>
      <a:accent1>
        <a:srgbClr val="14A098"/>
      </a:accent1>
      <a:accent2>
        <a:srgbClr val="F2A541"/>
      </a:accent2>
      <a:accent3>
        <a:srgbClr val="E4572E"/>
      </a:accent3>
      <a:accent4>
        <a:srgbClr val="6C5CE7"/>
      </a:accent4>
      <a:accent5>
        <a:srgbClr val="5C6B73"/>
      </a:accent5>
      <a:accent6>
        <a:srgbClr val="3BAA5C"/>
      </a:accent6>
      <a:hlink>
        <a:srgbClr val="14A098"/>
      </a:hlink>
      <a:folHlink>
        <a:srgbClr val="6C5CE7"/>
      </a:folHlink>
    </a:clrScheme>
    <a:fontScheme name="Computational Think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Computational Thinking</dc:title>
  <dc:subject>Materi pembelajaran Computational Thinking (Berpikir Komputasional)</dc:subject>
  <dc:creator>Materi Informatika</dc:creator>
  <cp:lastModifiedBy>Materi Informatika</cp:lastModifiedBy>
  <cp:revision>1</cp:revision>
  <dcterms:created xsi:type="dcterms:W3CDTF">2026-10-21T03:20:38Z</dcterms:created>
  <dcterms:modified xsi:type="dcterms:W3CDTF">2026-10-21T03:20:38Z</dcterms:modified>
</cp:coreProperties>
</file>