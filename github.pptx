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Perkenalkan GitHub sebagai platform kolaborasi kode terbesar di dunia.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 materi. Sebutkan bahwa setiap bagian diawali slide pembatas.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Git = alatnya, GitHub = tempat dan ekosistemnya.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penting: Git dan GitHub lahir terpisah, Git lebih dulu tiga tahun.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analogi kamera dan album untuk audiens pemula.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Manfaat teknis dan manfaat karier sama-sama penting untuk mahasiswa.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peserta: aktifkan 2FA sekarang juga, GitHub mewajibkannya.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Demokan git --version dan git config --list di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pernah membagikan token atau kunci privat. Kunci privat tidak diunggah ke mana pun.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satu repo publik populer dan tunjukkan tab-tab ini secara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 2 dipakai kalau proyeknya sudah ada lebih dulu di komputer.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menghapus folder .git berarti menghapus seluruh riwayat.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Markdown juga dipakai di issue, pull request, dan komentar.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.env sudah terlanjur ter-commit, ganti kredensialnya — riwayat Git tetap menyimpannya.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working directory = meja kerja, staging = keranjang belanja, commit = struk pembelian.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sering, dengan perubahan kecil dan pesan yang bermakna.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Fetch itu 'lihat dulu', pull itu 'lihat sekaligus ambil'.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Sarankan peserta menyimpan slide ini sebagai lembar contekan.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grafik network di GitHub untuk memperlihatkan percabangan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bukan sekadar formalitas — ini titik utama transfer pengetahuan dalam 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Merah = baris dihapus, hijau = baris ditambahkan.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Squash and merge adalah pilihan paling umum untuk tim kecil.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Konflik itu normal, bukan tanda kegagalan. VS Code punya editor konflik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 berbeda dengan clone: fork membuat salinan di akun GitHub, clone di komputer.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Issue adalah unit pekerjaan terkecil yang bisa dilacak dan didiskusikan.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Projects menggantikan kebutuhan aplikasi manajemen tugas terpisah untuk tim kecil.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Untuk tugas kuliah dan proyek kecil, GitHub Flow sudah lebih dari cukup.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Actions ditulis dalam YAML dan disimpan di .github/workflows/.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 sangat berguna untuk memamerkan tugas kuliah berbentuk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Sekali ter-commit, kredensial harus dianggap bocor — ganti, jangan hanya dihapus.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 sangat mempercepat pekerjaan berulang seperti membuat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Berikan hak akses seminimal mungkin sesuai kebutuhan (principle of least privilege).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Pesan commit yang rapi memudahkan pembuatan changelog otomatis.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 ke peserta: mana yang pernah mereka alami?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 kasus ini bisa langsung ditiru untuk tugas kelompok mana pun.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cocok dijadikan bahan review sebelum praktik.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Sarankan mulai dari GitHub Skills karena formatnya praktik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ajakan praktik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86384" y="26974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6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Lengkap Version Control &amp; Kolaborasi Kode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membuat akun hingga otomatisasi CI/CD dan kontribusi open source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4800600"/>
            <a:ext cx="1252728" cy="384048"/>
          </a:xfrm>
          <a:prstGeom prst="roundRect">
            <a:avLst>
              <a:gd name="adj" fmla="val 4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0060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40280" y="4800600"/>
            <a:ext cx="2308860" cy="384048"/>
          </a:xfrm>
          <a:prstGeom prst="roundRect">
            <a:avLst>
              <a:gd name="adj" fmla="val 4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40280" y="4800600"/>
            <a:ext cx="2308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Pull Request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13732" y="4800600"/>
            <a:ext cx="1636776" cy="384048"/>
          </a:xfrm>
          <a:prstGeom prst="roundRect">
            <a:avLst>
              <a:gd name="adj" fmla="val 4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13732" y="480060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15100" y="4800600"/>
            <a:ext cx="1348740" cy="384048"/>
          </a:xfrm>
          <a:prstGeom prst="roundRect">
            <a:avLst>
              <a:gd name="adj" fmla="val 4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15100" y="4800600"/>
            <a:ext cx="1348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24444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30768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37092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43416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49740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56064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962388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268712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575036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881360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187684" y="1965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818120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24444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30768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737092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43416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49740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656064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962388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268712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575036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881360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187684" y="22722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818120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24444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430768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737092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043416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349740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656064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962388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268712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575036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881360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1187684" y="2578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818120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124444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430768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737092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043416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349740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656064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962388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268712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0575036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881360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1187684" y="28849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818120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124444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430768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737092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043416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349740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656064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9962388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0268712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575036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0881360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1187684" y="31912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818120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124444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430768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737092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9043416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349740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656064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962388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268712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575036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881360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1187684" y="34975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818120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8124444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8430768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8737092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9043416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9349740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9656064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9962388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0268712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06D32"/>
          </a:solidFill>
          <a:ln w="12700">
            <a:solidFill>
              <a:srgbClr val="006D32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0575036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0881360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4429"/>
          </a:solidFill>
          <a:ln w="12700">
            <a:solidFill>
              <a:srgbClr val="0E4429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1187684" y="3803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6A641"/>
          </a:solidFill>
          <a:ln w="12700">
            <a:solidFill>
              <a:srgbClr val="26A641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781812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yang tercatat, riwayat yang tak pernah hilang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bagian pembahasan dari dasar hingga fitur lanjutan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8424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072030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154680" y="19110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0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6609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Pengenalan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0083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Definisi, sejarah, dan perbedaan Git dengan GitHub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53128" y="1691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73168" y="198424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50" y="2072030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67728" y="19110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0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4773168" y="26609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Memulai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773168" y="30083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Akun, instalasi Git, autentikasi, dan antarmuka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66176" y="1691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86216" y="198424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998" y="2072030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780776" y="19110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0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586216" y="26609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586216" y="30083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repo, README, .gitignore, dan lisensi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60120" y="41788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902" y="4266590"/>
            <a:ext cx="373075" cy="37307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154680" y="410565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0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 txBox="1"/>
          <p:nvPr/>
        </p:nvSpPr>
        <p:spPr>
          <a:xfrm>
            <a:off x="960120" y="48554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Dasar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960120" y="520293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Clone, add, commit, push, pull, dan fetch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4531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73168" y="41788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950" y="4266590"/>
            <a:ext cx="373075" cy="37307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67728" y="410565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0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25"/>
          <p:cNvSpPr txBox="1"/>
          <p:nvPr/>
        </p:nvSpPr>
        <p:spPr>
          <a:xfrm>
            <a:off x="4773168" y="48554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4773168" y="520293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pull request, review, issue, dan fork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266176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586216" y="41788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3998" y="4266590"/>
            <a:ext cx="373075" cy="37307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780776" y="410565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0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Text 30"/>
          <p:cNvSpPr txBox="1"/>
          <p:nvPr/>
        </p:nvSpPr>
        <p:spPr>
          <a:xfrm>
            <a:off x="8586216" y="48554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Lanjutan</a:t>
            </a:r>
            <a:endParaRPr lang="en-US" sz="1700" dirty="0"/>
          </a:p>
        </p:txBody>
      </p:sp>
      <p:sp>
        <p:nvSpPr>
          <p:cNvPr id="39" name="Text 31"/>
          <p:cNvSpPr txBox="1"/>
          <p:nvPr/>
        </p:nvSpPr>
        <p:spPr>
          <a:xfrm>
            <a:off x="8586216" y="520293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Pages, keamanan, CLI, dan Copilot</a:t>
            </a:r>
            <a:endParaRPr lang="en-US" sz="1250" dirty="0"/>
          </a:p>
        </p:txBody>
      </p:sp>
      <p:sp>
        <p:nvSpPr>
          <p:cNvPr id="40" name="Text 32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GitHub?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hosting kode berbasis Git dengan fitur kolaborasi lengkap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adalah layanan hosting repository berbasis web yang menggunakan Git sebagai sistem kontrol versi. GitHub menyimpan seluruh riwayat perubahan kode, lalu menambahkan lapisan kolaborasi di atasnya: pull request, code review, issue tracker, otomatisasi, dan dokumentasi.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32461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3326587"/>
            <a:ext cx="341986" cy="3419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32644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Penyimpanan kode terpusat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35570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anggota tim mengakses sumber kebenaran yang sama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" y="41605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4240987"/>
            <a:ext cx="341986" cy="3419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53312" y="41788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 terstruktur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53312" y="44714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diusulkan, ditinjau, lalu digabungkan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58368" y="50749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5155387"/>
            <a:ext cx="341986" cy="34198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53312" y="50932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Otomatisasi bawaan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53312" y="53858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Uji, build, dan deploy berjalan otomatis setiap perubahan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269480" y="1691640"/>
            <a:ext cx="4297680" cy="4160520"/>
          </a:xfrm>
          <a:prstGeom prst="roundRect">
            <a:avLst>
              <a:gd name="adj" fmla="val 263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58952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dalam angka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589520" y="24231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jt+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7607808" y="2990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terdaftar di seluruh dunia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7589520" y="35935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 jt+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7607808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publik maupun privat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7589520" y="47640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3600" dirty="0"/>
          </a:p>
        </p:txBody>
      </p:sp>
      <p:sp>
        <p:nvSpPr>
          <p:cNvPr id="24" name="Text 19"/>
          <p:cNvSpPr txBox="1"/>
          <p:nvPr/>
        </p:nvSpPr>
        <p:spPr>
          <a:xfrm>
            <a:off x="7607808" y="5330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GitHub pertama kali diluncurkan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Perjalanan Singkat GitHub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proyek kecil menjadi rumah bagi jutaan pengembang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8680" y="3017520"/>
            <a:ext cx="10424160" cy="32004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13232" y="2898648"/>
            <a:ext cx="274320" cy="274320"/>
          </a:xfrm>
          <a:prstGeom prst="ellipse">
            <a:avLst/>
          </a:prstGeom>
          <a:solidFill>
            <a:srgbClr val="656D7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3383280"/>
            <a:ext cx="2057400" cy="242316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361188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lahir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224528"/>
            <a:ext cx="1618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Torvalds membuat Git untuk pengembangan kernel Linux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71216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26080" y="2898648"/>
            <a:ext cx="274320" cy="274320"/>
          </a:xfrm>
          <a:prstGeom prst="ellipse">
            <a:avLst/>
          </a:prstGeom>
          <a:solidFill>
            <a:srgbClr val="2DA44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1216" y="3383280"/>
            <a:ext cx="2057400" cy="242316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90672" y="361188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rilis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90672" y="4224528"/>
            <a:ext cx="1618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diluncurkan dan langsung populer di komunitas open source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84064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138928" y="2898648"/>
            <a:ext cx="274320" cy="274320"/>
          </a:xfrm>
          <a:prstGeom prst="ellipse">
            <a:avLst/>
          </a:prstGeom>
          <a:solidFill>
            <a:srgbClr val="0969D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4064" y="3383280"/>
            <a:ext cx="2057400" cy="242316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361188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juta repo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224528"/>
            <a:ext cx="1618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menjadi standar de facto hosting proyek open source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96912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51776" y="2898648"/>
            <a:ext cx="274320" cy="274320"/>
          </a:xfrm>
          <a:prstGeom prst="ellipse">
            <a:avLst/>
          </a:prstGeom>
          <a:solidFill>
            <a:srgbClr val="8250D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3383280"/>
            <a:ext cx="2057400" cy="242316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16368" y="361188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Akuisisi Microsoft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16368" y="4224528"/>
            <a:ext cx="1618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dibeli Microsoft senilai 7,5 miliar dolar AS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0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C4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2019+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564624" y="2898648"/>
            <a:ext cx="274320" cy="274320"/>
          </a:xfrm>
          <a:prstGeom prst="ellipse">
            <a:avLst/>
          </a:prstGeom>
          <a:solidFill>
            <a:srgbClr val="BC4C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0" y="3383280"/>
            <a:ext cx="2057400" cy="242316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29216" y="361188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untuk semua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729216" y="4224528"/>
            <a:ext cx="1618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privat tanpa batas, Actions, Codespaces, dan Copilot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vs GitHub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hal berbeda yang sering tertukar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2068373"/>
            <a:ext cx="435254" cy="435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848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lunak version control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9718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di komputer lokal (offline)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Berupa perintah baris (CLI) yang dipasang di sistem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 riwayat perubahan file dalam folder .git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gratis dan open source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dipakai tanpa internet dan tanpa GitHub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branch, merge, dan rollback secara lokal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perintah: git init, git commit, git merge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01384" y="196596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797" y="2068373"/>
            <a:ext cx="435254" cy="435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78624" y="20848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278624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hosting repository Git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501384" y="29718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di server / cloud (butuh internet)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Diakses lewat browser, aplikasi desktop, atau CLI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salinan repo agar bisa dibagikan tim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fitur sosial: PR, issue, review, Actions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Alternatifnya: GitLab, Bitbucket, Gitea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hak akses, organisasi, dan tim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alamat: github.com/pengguna/nama-repo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658368" y="6035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Git adalah kamera yang memotret setiap perubahan — GitHub adalah album online tempat foto itu disimpan dan dibagikan.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Harus GitHub?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alasan utama GitHub dipakai hampir semua tim pengembang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330" y="2047890"/>
            <a:ext cx="348204" cy="3482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756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Riwayat lengkap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perubahan tercatat: siapa, kapan, dan mengapa. Bisa kembali ke versi lama kapan saja.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53128" y="16916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27448" y="19659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378" y="2047890"/>
            <a:ext cx="348204" cy="3482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67528" y="20756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 paralel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727448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orang mengerjakan file yang sama tanpa saling menimpa pekerjaan.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66176" y="16916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40496" y="19659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426" y="2047890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80576" y="20756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 aman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540496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tersimpan di server GitHub, aman meski laptop rusak atau hilang.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2519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30" y="4333890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3616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Kualitas terjaga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dan review wajib sebelum kode masuk ke branch utama.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53128" y="39776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27448" y="42519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378" y="4333890"/>
            <a:ext cx="348204" cy="34820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67528" y="43616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Otomatisasi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727448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menjalankan tes dan deployment secara otomatis.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266176" y="39776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540496" y="42519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426" y="4333890"/>
            <a:ext cx="348204" cy="34820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80576" y="43616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publik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540496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GitHub menjadi bukti nyata kemampuan saat melamar kerja.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258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Memulai dengan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dan menata akun GitHub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Memasang serta mengonfigurasi Git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Autentikasi: Personal Access Token dan SSH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antarmuka repository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291840" cy="329184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7889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Akun GitHub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langkah pendaftaran dan penataan profil awal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9339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060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akun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github.com lalu pilih Sign up. Isi email aktif, kata sandi kuat, dan username.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20440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99339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6060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email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kode yang dikirim ke email. Akun belum bisa dipakai penuh tanpa verifikasi.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82512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199339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5683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656832" y="26060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Aktifkan 2FA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56832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 kini wajib. Gunakan aplikasi seperti Google Authenticator.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44584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18904" y="199339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1890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518904" y="26060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Lengkapi profil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18904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foto, bio singkat, lokasi, dan tautan portofolio agar profil kredibel.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434340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5902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memilih username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4937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nama yang profesional, pendek, dan mudah diingat karena akan menjadi bagian dari URL profil dan seluruh repo Anda. Mengubahnya nanti berisiko memutus tautan lama.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4343400"/>
            <a:ext cx="5230368" cy="1600200"/>
          </a:xfrm>
          <a:prstGeom prst="roundRect">
            <a:avLst>
              <a:gd name="adj" fmla="val 685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01968" y="45902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akun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601968" y="49377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repo publik &amp; privat tanpa batas, Actions terbatas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/ Team / Enterprise — kuota lebih besar &amp; kontrol akses lanjutan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Instalasi &amp; Konfigurasi Git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harus terpasang di komputer sebelum bisa terhubung ke GitHub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669280" cy="2148840"/>
          </a:xfrm>
          <a:prstGeom prst="roundRect">
            <a:avLst>
              <a:gd name="adj" fmla="val 425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78308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instalasi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093976"/>
            <a:ext cx="526694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Cek apakah Git sudah terpasang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2.45.2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: unduh dari git-scm.com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   : brew install git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Ubuntu  : sudo apt install git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397764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406908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konfigurasi awal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4379976"/>
            <a:ext cx="52669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Identitas ini melekat pada setiap commit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user.name "Nama Anda"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user.email "email@anda.com"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init.defaultBranch main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--list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0" y="1691640"/>
            <a:ext cx="4956048" cy="4251960"/>
          </a:xfrm>
          <a:prstGeom prst="roundRect">
            <a:avLst>
              <a:gd name="adj" fmla="val 258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19659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perlu dipahami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03720" y="24688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2542032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516368" y="2487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user.name &amp; user.email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516368" y="277977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sebagai tanda tangan pada setiap commit. Samakan email dengan email GitHub agar kontribusi terhitung.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03720" y="36118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685032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516368" y="3630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--global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516368" y="392277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Berlaku untuk semua repo di komputer. Hilangkan --global bila ingin berbeda per proyek.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903720" y="47548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2" y="482803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516368" y="4773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init.defaultBranch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7516368" y="506577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memakai main sebagai branch utama, bukan lagi master.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Autentikasi ke GitHub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Sejak 2021 kata sandi akun tidak lagi bisa dipakai untuk push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0537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848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+ Personal Access Token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697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› Developer settings › Personal access tokens › Generate new token. Token dipakai sebagai pengganti kata sandi saat push.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338328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61288" y="3566160"/>
            <a:ext cx="43525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https://github.com/user/repo.git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user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ghp_xxxxxxxxxxxxxxxx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Mudah, cocok untuk pemula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punya masa berlaku dan hak akses terbatas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01384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2053742"/>
            <a:ext cx="373075" cy="37307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87184" y="20848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Kunci SSH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501384" y="2697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sepasang kunci, lalu salin kunci publik ke Settings › SSH and GPG keys. Setelah itu tidak perlu login lagi.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501384" y="338328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702552" y="3566160"/>
            <a:ext cx="43525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ssh-keygen -t ed25519 -C "email@anda.com"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~/.ssh/id_ed25519.pub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-T git@github.com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501384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aman dan praktis untuk penggunaan harian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disiapkan sekali di tiap komputer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Mengenal Antarmuka Repository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Tab-tab utama yang akan sering Anda gunakan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470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74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nama-anda</a:t>
            </a:r>
            <a:pPr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belajar-github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Public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138160" y="1938528"/>
            <a:ext cx="1051560" cy="365760"/>
          </a:xfrm>
          <a:prstGeom prst="roundRect">
            <a:avLst>
              <a:gd name="adj" fmla="val 3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38160" y="1938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 128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281160" y="1938528"/>
            <a:ext cx="1051560" cy="365760"/>
          </a:xfrm>
          <a:prstGeom prst="roundRect">
            <a:avLst>
              <a:gd name="adj" fmla="val 3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281160" y="1938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 42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424160" y="1938528"/>
            <a:ext cx="1051560" cy="365760"/>
          </a:xfrm>
          <a:prstGeom prst="roundRect">
            <a:avLst>
              <a:gd name="adj" fmla="val 3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0" y="1938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 9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8368" y="29260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318211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255264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99616" y="32095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373075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repository: file, folder, README, dan riwayat commit.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471416" y="29260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27448" y="318211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255264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12664" y="32095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727448" y="373075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bug, permintaan fitur, dan diskusi tugas.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284464" y="29260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40496" y="318211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3255264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25712" y="32095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540496" y="373075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Usulan perubahan yang menunggu ditinjau dan digabungkan.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58368" y="45720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14400" y="4828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901184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99616" y="48554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14400" y="537667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dan konfigurasi otomatisasi CI/CD.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4471416" y="45720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727448" y="4828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4901184"/>
            <a:ext cx="310896" cy="31089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312664" y="48554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4727448" y="537667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 kanban untuk mengelola pekerjaan tim.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8284464" y="45720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540496" y="482803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656D76"/>
          </a:solidFill>
          <a:ln w="12700">
            <a:solidFill>
              <a:srgbClr val="656D76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8" y="4901184"/>
            <a:ext cx="310896" cy="310896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9125712" y="48554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8540496" y="537667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Kolaborator, visibilitas, branch protection, dan Pages.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258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repository baru dari nol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file penting dalam sebuah repo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README dengan Markdown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.gitignore dan pemilihan lisensi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291840" cy="329184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7889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Repository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adalah wadah proyek: kode, riwayat, dan dokumentasinya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45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1 — lewat website GitHub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130552"/>
            <a:ext cx="292608" cy="292608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30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1396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+ di kanan atas › New repository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292608" cy="292608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7066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nama repo (gunakan huruf kecil dan tanda hubung)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264408"/>
            <a:ext cx="292608" cy="292608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visibilitas: Public atau Private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831336"/>
            <a:ext cx="292608" cy="292608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Add a README file agar repo tidak kosong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398264"/>
            <a:ext cx="292608" cy="292608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398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4074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template .gitignore dan lisensi bila perlu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965192"/>
            <a:ext cx="292608" cy="292608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9743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Create repository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1645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2 — dari folder lokal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2103120"/>
            <a:ext cx="5047488" cy="2377440"/>
          </a:xfrm>
          <a:prstGeom prst="roundRect">
            <a:avLst>
              <a:gd name="adj" fmla="val 384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2194560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693408" y="2505456"/>
            <a:ext cx="464515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 dalam folder proyek Anda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"Initial commit"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-M main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\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https://github.com/user/repo.git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4663440"/>
            <a:ext cx="5047488" cy="1280160"/>
          </a:xfrm>
          <a:prstGeom prst="roundRect">
            <a:avLst>
              <a:gd name="adj" fmla="val 8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84848" y="48646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atau Private?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93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terlihat semua orang, cocok untuk portofolio dan open source. Private: hanya kolaborator undangan, untuk tugas atau proyek internal.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 Sebuah Repository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File-file standar yang sebaiknya ada di setiap proyek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4846320" cy="3703320"/>
          </a:xfrm>
          <a:prstGeom prst="roundRect">
            <a:avLst>
              <a:gd name="adj" fmla="val 246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783080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struktur folder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093976"/>
            <a:ext cx="4443984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belajar-github/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.git/            # database Git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.github/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workflows/   # berkas GitHub Actions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             # kode sumber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            # dokumentasi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           # pengujian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LICENSE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CONTRIBUTING.md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60720" y="1691640"/>
            <a:ext cx="5779008" cy="868680"/>
          </a:xfrm>
          <a:prstGeom prst="roundRect">
            <a:avLst>
              <a:gd name="adj" fmla="val 1263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6752" y="18745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7219" y="1954987"/>
            <a:ext cx="341986" cy="34198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693408" y="18379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693408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depan repo. Menjelaskan proyek, cara instalasi, dan cara pakai.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2660904"/>
            <a:ext cx="5779008" cy="868680"/>
          </a:xfrm>
          <a:prstGeom prst="roundRect">
            <a:avLst>
              <a:gd name="adj" fmla="val 1263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16752" y="2843784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219" y="2924251"/>
            <a:ext cx="341986" cy="34198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693408" y="28072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6693408" y="3118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file yang tidak boleh ikut ter-commit, misalnya node_modules.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760720" y="3630168"/>
            <a:ext cx="5779008" cy="868680"/>
          </a:xfrm>
          <a:prstGeom prst="roundRect">
            <a:avLst>
              <a:gd name="adj" fmla="val 1263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16752" y="381304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219" y="3893515"/>
            <a:ext cx="341986" cy="34198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93408" y="37764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693408" y="4087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hak orang lain untuk memakai dan memodifikasi kode Anda.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760720" y="4599432"/>
            <a:ext cx="5779008" cy="868680"/>
          </a:xfrm>
          <a:prstGeom prst="roundRect">
            <a:avLst>
              <a:gd name="adj" fmla="val 1263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16752" y="478231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219" y="4862779"/>
            <a:ext cx="341986" cy="34198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693408" y="47457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CONTRIBUTING.md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6693408" y="5056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bagi kontributor luar tentang alur kontribusi yang diharapkan.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5760720" y="5623560"/>
            <a:ext cx="5779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.git dibuat otomatis oleh perintah git init dan berisi seluruh riwayat proyek.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&amp; Sintaks Markdown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yang baik membuat proyek dipercaya dan mudah dipakai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783080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093976"/>
            <a:ext cx="49926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Belajar GitHub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 latihan untuk memahami alur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kerja Git dan GitHub.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Instalasi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```bash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Fitur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**Tebal** dan *miring*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[Tautan](https://github.com)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![Gambar](logo.png)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7373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Sintaks Markdown yang wajib dikuasai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55080" y="224028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22402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## ###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tingkat 1, 2, dan 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60604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6060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**teks**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642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tebal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297180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9718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*teks*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3008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miring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333756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33375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atau 1.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374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tak berurut / berurut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37033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7033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[teks](url)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Tautan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406908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5080" y="40690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![alt](url)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Menyisipkan gambar atau logo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443484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44348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`kode`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4471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singkat dalam satu baris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55080" y="480060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48006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```bahasa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092440" y="4837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kode dengan pewarnaan sintaks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55080" y="516636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51663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a | b |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92440" y="5202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55080" y="55321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55080" y="55321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teks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092440" y="5568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Kutipan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&amp; Lisensi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file kecil yang sering diabaikan tetapi sangat penting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0537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848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pola nama file yang diabaikan Git. Mencegah file rahasia, file besar, dan hasil build ikut terunggah.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3291840"/>
            <a:ext cx="4754880" cy="2514600"/>
          </a:xfrm>
          <a:prstGeom prst="roundRect">
            <a:avLst>
              <a:gd name="adj" fmla="val 363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61288" y="3474720"/>
            <a:ext cx="4352544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dependensi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vendor/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rahasia — jangan pernah di-commit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config/secrets.yml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berkas sistem &amp; hasil build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.DS_Store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01384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205374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87184" y="20848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01384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lisensi, kode Anda secara hukum tertutup. Lisensi menyatakan apa yang boleh dilakukan orang lain terhadap kode tersebut.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01384" y="3383280"/>
            <a:ext cx="1371600" cy="365760"/>
          </a:xfrm>
          <a:prstGeom prst="roundRect">
            <a:avLst>
              <a:gd name="adj" fmla="val 35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01384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028432" y="34015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permisif dan paling populer. Bebas dipakai asal mencantumkan hak cipta.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01384" y="4160520"/>
            <a:ext cx="1371600" cy="365760"/>
          </a:xfrm>
          <a:prstGeom prst="roundRect">
            <a:avLst>
              <a:gd name="adj" fmla="val 35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501384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8028432" y="41788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Mirip MIT, ditambah perlindungan hak paten bagi pengguna.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01384" y="4937760"/>
            <a:ext cx="1371600" cy="365760"/>
          </a:xfrm>
          <a:prstGeom prst="roundRect">
            <a:avLst>
              <a:gd name="adj" fmla="val 35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501384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v3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028432" y="49560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 turunan wajib memakai lisensi terbuka yang sama (copyleft).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501384" y="5532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menyediakan pemilih lisensi otomatis saat membuat repository.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258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Dasar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area kerja Git dan repository remote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clone, add, commit, dan push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pull dan fetch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perintah yang paling sering dipakai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291840" cy="329184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7889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Area Kerja Git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perjalanan sebuah perubahan sampai ke GitHub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084832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115" y="2178467"/>
            <a:ext cx="397947" cy="3979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16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tempat Anda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mengedit file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08960" y="2788920"/>
            <a:ext cx="310896" cy="292608"/>
          </a:xfrm>
          <a:prstGeom prst="rightArrow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3008" y="18288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2084832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755" y="2178467"/>
            <a:ext cx="397947" cy="3979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816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52044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yang dipilih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commit berikutnya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0" y="2788920"/>
            <a:ext cx="310896" cy="292608"/>
          </a:xfrm>
          <a:prstGeom prst="rightArrow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27648" y="18288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23760" y="2084832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395" y="2178467"/>
            <a:ext cx="397947" cy="3979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2816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52044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commit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komputer Anda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778240" y="2788920"/>
            <a:ext cx="310896" cy="292608"/>
          </a:xfrm>
          <a:prstGeom prst="rightArrow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62288" y="18288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58400" y="2084832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035" y="2178467"/>
            <a:ext cx="397947" cy="3979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26880" y="2816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326880" y="352044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di server 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dibagikan tim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2075688" y="4434840"/>
            <a:ext cx="2377440" cy="420624"/>
          </a:xfrm>
          <a:prstGeom prst="roundRect">
            <a:avLst>
              <a:gd name="adj" fmla="val 3043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2075688" y="44348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910328" y="4434840"/>
            <a:ext cx="2377440" cy="420624"/>
          </a:xfrm>
          <a:prstGeom prst="roundRect">
            <a:avLst>
              <a:gd name="adj" fmla="val 3043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910328" y="44348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7744968" y="4434840"/>
            <a:ext cx="2377440" cy="420624"/>
          </a:xfrm>
          <a:prstGeom prst="roundRect">
            <a:avLst>
              <a:gd name="adj" fmla="val 30435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744968" y="44348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37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658368" y="493776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60120" y="513892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sebaliknya: git pull menarik perubahan dari remote ke lokal, git checkout mengembalikan file di working directory, dan git reset memindahkan perubahan keluar dari staging area.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Siklus Kerja Harian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perintah yang akan Anda ketik setiap hari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94360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783080"/>
            <a:ext cx="5541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alur kerja harian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093976"/>
            <a:ext cx="5541264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Salin repo dari GitHub ke komputer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https://github.com/user/repo.git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repo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Lihat file apa saja yang berubah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Pilih perubahan yang akan disimpan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index.html          # satu file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                   # semua perubahan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Simpan sebagai commit dengan pesan jelas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"Menambah halaman kontak"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Kirim commit ke GitHub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0" y="1719072"/>
            <a:ext cx="4681728" cy="96012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4032" y="19385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5962" y="2020458"/>
            <a:ext cx="348204" cy="3482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818120" y="1901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2219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Mengunduh seluruh repo beserta riwayatnya satu kali di awal.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0" y="2770632"/>
            <a:ext cx="4681728" cy="96012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14032" y="299008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962" y="3072018"/>
            <a:ext cx="348204" cy="34820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818120" y="29535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327355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Menandai perubahan mana yang ikut dalam commit berikutnya.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858000" y="3822192"/>
            <a:ext cx="4681728" cy="96012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14032" y="404164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62" y="4123578"/>
            <a:ext cx="348204" cy="3482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818120" y="40050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818120" y="43251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snapshot permanen di repo lokal, lengkap dengan pesan.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858000" y="4873752"/>
            <a:ext cx="4681728" cy="96012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14032" y="509320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962" y="5175138"/>
            <a:ext cx="348204" cy="34820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818120" y="50566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818120" y="53766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Mengunggah commit lokal ke repository di GitHub.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858000" y="594360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langkah 2–5 setiap kali menyelesaikan satu bagian pekerjaan.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Pull, Fetch, dan Push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Menyinkronkan pekerjaan lokal dengan repository di GitHub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3852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026310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91056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697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informasi commit terbaru dari remote tanpa mengubah file kerja Anda. Aman untuk sekadar mengintip.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32688" y="3886200"/>
            <a:ext cx="2971800" cy="77724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33856" y="4069080"/>
            <a:ext cx="25694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fetch origin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origin/main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71416" y="16916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45736" y="193852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518" y="2026310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04104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745736" y="2697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dengan fetch lalu merge sekaligus. File di komputer langsung ikut diperbarui.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45736" y="3886200"/>
            <a:ext cx="2971800" cy="77724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946904" y="4069080"/>
            <a:ext cx="25694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pull origin main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 fetch + merge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84464" y="16916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58784" y="193852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66" y="2026310"/>
            <a:ext cx="373075" cy="37307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17152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558784" y="2697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commit lokal ke remote. Ditolak bila remote punya commit yang belum Anda miliki.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558784" y="3886200"/>
            <a:ext cx="2971800" cy="77724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759952" y="4069080"/>
            <a:ext cx="25694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dev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58368" y="512064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60120" y="53218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Kebiasaan baik: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jalankan git pull sebelum mulai bekerja dan sebelum melakukan push, agar konflik terdeteksi sedini mungkin.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Perintah Penting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 cepat perintah Git yang paling sering dipakai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1737360" cy="365760"/>
          </a:xfrm>
          <a:prstGeom prst="roundRect">
            <a:avLst>
              <a:gd name="adj" fmla="val 35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8716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340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repo baru di folder saat ini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4495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Menyalin repo dari GitHub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027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496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status perubahan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1605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4074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ke staging area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1830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6519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perubahan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27608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52297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riwayat commit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71416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1920240"/>
            <a:ext cx="1737360" cy="365760"/>
          </a:xfrm>
          <a:prstGeom prst="roundRect">
            <a:avLst>
              <a:gd name="adj" fmla="val 35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248716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27340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daftar branch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27448" y="304495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&lt;nama&gt;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727448" y="329184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lalu pindah branch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727448" y="36027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727448" y="38496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 ke branch main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727448" y="41605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&lt;nama&gt;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727448" y="44074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branch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727448" y="471830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&lt;nama&gt;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727448" y="496519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branch lokal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727448" y="527608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727448" y="552297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ulang commit di atas main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84464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40496" y="1920240"/>
            <a:ext cx="1737360" cy="365760"/>
          </a:xfrm>
          <a:prstGeom prst="roundRect">
            <a:avLst>
              <a:gd name="adj" fmla="val 35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40496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&amp; perbaikan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540496" y="248716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540496" y="27340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alamat remote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540496" y="304495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&lt;br&gt;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540496" y="329184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Mengunggah branch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540496" y="36027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540496" y="38496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&amp; menggabungkan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540496" y="41605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&lt;file&gt;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540496" y="44074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Membatalkan perubahan file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540496" y="471830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--soft HEAD~1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540496" y="496519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Membatalkan commit terakhir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540496" y="527608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8540496" y="552297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sementara pekerjaan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258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Bekerja paralel dengan branch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request, review, dan strategi merge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Menyelesaikan konflik penggabungan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Fork, issue, project board, dan GitHub 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291840" cy="329184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7889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Branch: Bekerja Tanpa Saling Mengganggu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adalah jalur pengembangan terpisah dari branch utama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6492240" cy="2514600"/>
          </a:xfrm>
          <a:prstGeom prst="roundRect">
            <a:avLst>
              <a:gd name="adj" fmla="val 436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788920"/>
            <a:ext cx="580644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898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2688336"/>
            <a:ext cx="237744" cy="237744"/>
          </a:xfrm>
          <a:prstGeom prst="ellipse">
            <a:avLst/>
          </a:prstGeom>
          <a:solidFill>
            <a:srgbClr val="8B949E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688336"/>
            <a:ext cx="237744" cy="237744"/>
          </a:xfrm>
          <a:prstGeom prst="ellipse">
            <a:avLst/>
          </a:prstGeom>
          <a:solidFill>
            <a:srgbClr val="8B949E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2688336"/>
            <a:ext cx="237744" cy="237744"/>
          </a:xfrm>
          <a:prstGeom prst="ellipse">
            <a:avLst/>
          </a:prstGeom>
          <a:solidFill>
            <a:srgbClr val="8B949E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688336"/>
            <a:ext cx="237744" cy="237744"/>
          </a:xfrm>
          <a:prstGeom prst="ellipse">
            <a:avLst/>
          </a:prstGeom>
          <a:solidFill>
            <a:srgbClr val="8B949E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67712" y="2148840"/>
            <a:ext cx="292608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67712" y="1801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2048256"/>
            <a:ext cx="237744" cy="237744"/>
          </a:xfrm>
          <a:prstGeom prst="ellipse">
            <a:avLst/>
          </a:prstGeom>
          <a:solidFill>
            <a:srgbClr val="3FB950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048256"/>
            <a:ext cx="237744" cy="237744"/>
          </a:xfrm>
          <a:prstGeom prst="ellipse">
            <a:avLst/>
          </a:prstGeom>
          <a:solidFill>
            <a:srgbClr val="3FB950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048256"/>
            <a:ext cx="237744" cy="237744"/>
          </a:xfrm>
          <a:prstGeom prst="ellipse">
            <a:avLst/>
          </a:prstGeom>
          <a:solidFill>
            <a:srgbClr val="3FB950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12848" y="2167128"/>
            <a:ext cx="45720" cy="60350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48072" y="2167128"/>
            <a:ext cx="45720" cy="60350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83080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dibuat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2004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digabung (merge)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703320"/>
            <a:ext cx="1828800" cy="4572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7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hotfix/navbar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602736"/>
            <a:ext cx="237744" cy="237744"/>
          </a:xfrm>
          <a:prstGeom prst="ellipse">
            <a:avLst/>
          </a:prstGeom>
          <a:solidFill>
            <a:srgbClr val="A371F7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602736"/>
            <a:ext cx="237744" cy="237744"/>
          </a:xfrm>
          <a:prstGeom prst="ellipse">
            <a:avLst/>
          </a:prstGeom>
          <a:solidFill>
            <a:srgbClr val="A371F7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343400"/>
            <a:ext cx="6492240" cy="160020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" y="4526280"/>
            <a:ext cx="608990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-c feature/login    # buat &amp; pindah ke branch baru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 &amp;&amp; git commit -m "Tambah form login"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feature/login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main &amp;&amp; git merge feature/login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Konvensi penamaan branch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406640" y="2240280"/>
            <a:ext cx="1691640" cy="329184"/>
          </a:xfrm>
          <a:prstGeom prst="roundRect">
            <a:avLst>
              <a:gd name="adj" fmla="val 33333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06640" y="22402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22768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utama, selalu siap dirilis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06640" y="2807208"/>
            <a:ext cx="1691640" cy="329184"/>
          </a:xfrm>
          <a:prstGeom prst="roundRect">
            <a:avLst>
              <a:gd name="adj" fmla="val 33333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06640" y="28072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28437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fitur sebelum rilis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06640" y="3374136"/>
            <a:ext cx="1691640" cy="329184"/>
          </a:xfrm>
          <a:prstGeom prst="roundRect">
            <a:avLst>
              <a:gd name="adj" fmla="val 33333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06640" y="33741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feature/nama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34107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fitur baru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06640" y="3941064"/>
            <a:ext cx="1691640" cy="329184"/>
          </a:xfrm>
          <a:prstGeom prst="roundRect">
            <a:avLst>
              <a:gd name="adj" fmla="val 33333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06640" y="3941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bugfix/nama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23544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bug biasa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406640" y="4507992"/>
            <a:ext cx="1691640" cy="329184"/>
          </a:xfrm>
          <a:prstGeom prst="roundRect">
            <a:avLst>
              <a:gd name="adj" fmla="val 33333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06640" y="45079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hotfix/nama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235440" y="4544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darurat di produksi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406640" y="5138928"/>
            <a:ext cx="4133088" cy="804672"/>
          </a:xfrm>
          <a:prstGeom prst="roundRect">
            <a:avLst>
              <a:gd name="adj" fmla="val 1363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62672" y="53218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branch untuk satu tujuan. Branch pendek lebih mudah ditinjau dan lebih jarang konflik.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resmi mengusulkan perubahan agar ditinjau sebelum digabungkan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38528"/>
            <a:ext cx="1234440" cy="384048"/>
          </a:xfrm>
          <a:prstGeom prst="roundRect">
            <a:avLst>
              <a:gd name="adj" fmla="val 42857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385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4505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Menambahkan validasi form login  #42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8529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nama-anda ingin menggabungkan 3 commit dari feature/login ke main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333756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3399008"/>
            <a:ext cx="261153" cy="26115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6304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commit, 5 file berubah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32688" y="388620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36" y="3947648"/>
            <a:ext cx="261153" cy="26115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63040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komentar review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32688" y="443484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4496288"/>
            <a:ext cx="261153" cy="26115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480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pemeriksaan CI berhasil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32688" y="49834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36" y="5044928"/>
            <a:ext cx="261153" cy="26115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5029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Reviewer: @rekan-tim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932688" y="5413248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32688" y="54132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pull request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6675120" y="17373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membuat pull request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6693408" y="2258568"/>
            <a:ext cx="292608" cy="29260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693408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132320" y="2267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branch fitur Anda ke GitHub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693408" y="2715768"/>
            <a:ext cx="292608" cy="29260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693408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132320" y="2724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menampilkan tombol Compare &amp; pull request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693408" y="3172968"/>
            <a:ext cx="292608" cy="29260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693408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7132320" y="31821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judul deskriptif dan penjelasan perubahan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6693408" y="3630168"/>
            <a:ext cx="292608" cy="29260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693408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7132320" y="36393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Tautkan issue terkait dengan menulis Closes #12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6693408" y="4087368"/>
            <a:ext cx="292608" cy="29260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693408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7132320" y="4096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 reviewer dan tunggu hasil pemeriksaan otomatis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6693408" y="4544568"/>
            <a:ext cx="292608" cy="29260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693408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7132320" y="4553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sesuai masukan, lalu push lagi ke branch yang sama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6693408" y="5001768"/>
            <a:ext cx="292608" cy="29260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693408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132320" y="5010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disetujui, klik merge dan hapus branch</a:t>
            </a:r>
            <a:endParaRPr lang="en-US" sz="1250" dirty="0"/>
          </a:p>
        </p:txBody>
      </p:sp>
      <p:sp>
        <p:nvSpPr>
          <p:cNvPr id="45" name="Shape 39"/>
          <p:cNvSpPr/>
          <p:nvPr/>
        </p:nvSpPr>
        <p:spPr>
          <a:xfrm>
            <a:off x="6675120" y="5486400"/>
            <a:ext cx="4864608" cy="4572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903720" y="5605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tetap hidup: setiap push baru otomatis memperbaruinya.</a:t>
            </a:r>
            <a:endParaRPr lang="en-US" sz="1150" dirty="0"/>
          </a:p>
        </p:txBody>
      </p:sp>
      <p:sp>
        <p:nvSpPr>
          <p:cNvPr id="47" name="Text 41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Meninjau kode rekan tim secara konstruktif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520440" cy="1508760"/>
          </a:xfrm>
          <a:prstGeom prst="roundRect">
            <a:avLst>
              <a:gd name="adj" fmla="val 727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3852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018995"/>
            <a:ext cx="341986" cy="3419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19751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masukan tanpa menyetujui maupun menolak.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71416" y="1691640"/>
            <a:ext cx="3520440" cy="1508760"/>
          </a:xfrm>
          <a:prstGeom prst="roundRect">
            <a:avLst>
              <a:gd name="adj" fmla="val 727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193852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203" y="2018995"/>
            <a:ext cx="341986" cy="3419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85816" y="19751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745736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Menyatakan perubahan layak digabungkan.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84464" y="1691640"/>
            <a:ext cx="3520440" cy="1508760"/>
          </a:xfrm>
          <a:prstGeom prst="roundRect">
            <a:avLst>
              <a:gd name="adj" fmla="val 727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58784" y="193852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51" y="2018995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98864" y="19751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changes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558784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Meminta perbaikan sebelum bisa di-merge.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58368" y="3429000"/>
            <a:ext cx="5760720" cy="2514600"/>
          </a:xfrm>
          <a:prstGeom prst="roundRect">
            <a:avLst>
              <a:gd name="adj" fmla="val 363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59536" y="3520440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changed — tampilan diff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59536" y="3831336"/>
            <a:ext cx="535838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hitungTotal(items) {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let t = 0;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for (let i = 0; i &lt; items.length; i++)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t += items[i].harga;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const t = items.reduce(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(a, b) =&gt; a + b.harga, 0);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t;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766560" y="34747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memberi masukan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766560" y="3886200"/>
            <a:ext cx="47731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kodenya, bukan orangnya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alasan, bukan hanya perintah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Bedakan saran wajib dan sekadar preferensi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Apresiasi bagian yang sudah bagus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 review dengan cepat agar tidak menghambat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Strategi Penggabungan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menyediakan tiga tombol merge dengan hasil riwayat berbeda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91640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commit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87168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commit branch dipertahankan dan ditambah satu commit gabungan.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Riwayat lengkap dan jujur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5020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Grafik bisa menjadi rumit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663440"/>
            <a:ext cx="3008376" cy="54864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5568" y="4846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--no-ff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34924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tim besar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71416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1416" y="1691640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1691640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Squash and merge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2487168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commit branch dipadatkan menjadi satu commit di main.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727448" y="34290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Riwayat main bersih dan rapi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27448" y="395020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Detail commit kecil hilang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27448" y="4663440"/>
            <a:ext cx="3008376" cy="54864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28616" y="4846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--squash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27448" y="534924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PR kecil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84464" y="169164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84464" y="1691640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40496" y="1691640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Rebase and merge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540496" y="2487168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branch dipindahkan ke ujung main tanpa commit gabungan.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540496" y="34290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Riwayat lurus tanpa percabangan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40496" y="395020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Hash commit berubah, hindari di branch bersama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40496" y="4663440"/>
            <a:ext cx="3008376" cy="54864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41664" y="4846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540496" y="534924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riwayat rapi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Menyelesaikan Merge Conflict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bila dua orang mengubah baris yang sama pada file yang sama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943600" cy="2834640"/>
          </a:xfrm>
          <a:prstGeom prst="roundRect">
            <a:avLst>
              <a:gd name="adj" fmla="val 322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783080"/>
            <a:ext cx="5541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— konflik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093976"/>
            <a:ext cx="554126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&lt;h1&gt;Selamat Datang&lt;/h1&gt;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&lt;h1&gt;Halo Dunia&lt;/h1&gt;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feature/header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Hapus penanda, sisakan versi final,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lalu simpan file tersebut.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4663440"/>
            <a:ext cx="5943600" cy="1280160"/>
          </a:xfrm>
          <a:prstGeom prst="roundRect">
            <a:avLst>
              <a:gd name="adj" fmla="val 714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4846320"/>
            <a:ext cx="5541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index.html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"Selesaikan konflik pada header"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feature/header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7373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penyelesaian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03720" y="2212848"/>
            <a:ext cx="4636008" cy="713232"/>
          </a:xfrm>
          <a:prstGeom prst="roundRect">
            <a:avLst>
              <a:gd name="adj" fmla="val 1538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14032" y="238658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14032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3225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Baca pesan Git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menyebutkan file mana yang bermasalah.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03720" y="2944368"/>
            <a:ext cx="4636008" cy="713232"/>
          </a:xfrm>
          <a:prstGeom prst="roundRect">
            <a:avLst>
              <a:gd name="adj" fmla="val 1538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4032" y="31181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3054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file konflik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3328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penanda &lt;&lt;&lt;&lt;&lt;&lt;&lt;, =======, dan &gt;&gt;&gt;&gt;&gt;&gt;&gt;.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03720" y="3675888"/>
            <a:ext cx="4636008" cy="713232"/>
          </a:xfrm>
          <a:prstGeom prst="roundRect">
            <a:avLst>
              <a:gd name="adj" fmla="val 1538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4032" y="38496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14032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7856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Tentukan versi final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salah satu, atau gabungkan keduanya secara manual.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03720" y="4407408"/>
            <a:ext cx="4636008" cy="713232"/>
          </a:xfrm>
          <a:prstGeom prst="roundRect">
            <a:avLst>
              <a:gd name="adj" fmla="val 1538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14032" y="458114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14032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45171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Hapus semua penanda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4791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 tidak boleh tertinggal di kode akhir.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903720" y="5138928"/>
            <a:ext cx="4636008" cy="713232"/>
          </a:xfrm>
          <a:prstGeom prst="roundRect">
            <a:avLst>
              <a:gd name="adj" fmla="val 1538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4032" y="531266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14032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52486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commit, push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635240" y="5522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 selesai setelah di-commit.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5925312"/>
            <a:ext cx="4636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Pencegahan terbaik: sering pull, branch berumur pendek, dan pembagian file yang jelas.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&amp; Kontribusi Open Source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berkontribusi ke repo milik orang lain tanpa akses tulis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456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238" y="20537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5528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29992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 repo ke akun Anda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670048" y="2578608"/>
            <a:ext cx="237744" cy="237744"/>
          </a:xfrm>
          <a:prstGeom prst="rightArrow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44368" y="173736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8456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38" y="205374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81528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081528" y="29992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hasil fork ke komputer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956048" y="2578608"/>
            <a:ext cx="237744" cy="237744"/>
          </a:xfrm>
          <a:prstGeom prst="rightArrow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230368" y="173736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34456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238" y="205374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67528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367528" y="29992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di branch baru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242048" y="2578608"/>
            <a:ext cx="237744" cy="237744"/>
          </a:xfrm>
          <a:prstGeom prst="rightArrow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516368" y="173736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20456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238" y="2053742"/>
            <a:ext cx="373075" cy="37307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53528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653528" y="29992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ke fork Anda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528048" y="2578608"/>
            <a:ext cx="237744" cy="237744"/>
          </a:xfrm>
          <a:prstGeom prst="rightArrow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802368" y="173736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506456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4238" y="2053742"/>
            <a:ext cx="373075" cy="37307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939528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9939528" y="29992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Ajukan ke repo asli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58368" y="3931920"/>
            <a:ext cx="5760720" cy="2011680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59536" y="4023360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menjaga fork tetap sinkron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859536" y="4334256"/>
            <a:ext cx="535838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tambahkan repo asli sebagai remote 'upstream'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upstream https://github.com/asli/repo.git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sinkronkan fork Anda dengan repo asli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fetch upstream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upstream/main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766560" y="3977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kontribusi open source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6766560" y="4389120"/>
            <a:ext cx="4773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CONTRIBUTING.md dan Code of Conduct lebih dulu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issue berlabel good first issue untuk pemula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Diskusikan di issue sebelum menulis kode besar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pull request untuk satu perubahan logis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Issues, Label, dan Milestone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Melacak pekerjaan, bug, dan ide dalam satu tempat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daftar issue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4323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642" y="2490826"/>
            <a:ext cx="248717" cy="2487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simpan tidak berfungsi di Safari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463040" y="2706624"/>
            <a:ext cx="553212" cy="274320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2706624"/>
            <a:ext cx="553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60120" y="327355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42" y="3332074"/>
            <a:ext cx="248717" cy="24871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3236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mode gelap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463040" y="3547872"/>
            <a:ext cx="1175004" cy="274320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463040" y="3547872"/>
            <a:ext cx="1175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60120" y="41148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42" y="4173322"/>
            <a:ext cx="248717" cy="24871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typo pada README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1463040" y="4389120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463040" y="438912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first issue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60120" y="495604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2" y="5014570"/>
            <a:ext cx="248717" cy="24871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3040" y="4919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API belum lengkap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1463040" y="5230368"/>
            <a:ext cx="1330452" cy="274320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463040" y="5230368"/>
            <a:ext cx="133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60120" y="5532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Closes #12 pada pull request agar issue tertutup otomatis saat merge.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675120" y="1691640"/>
            <a:ext cx="4864608" cy="987552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931152" y="1929384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619" y="2009851"/>
            <a:ext cx="341986" cy="34198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607808" y="18745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450" dirty="0"/>
          </a:p>
        </p:txBody>
      </p:sp>
      <p:sp>
        <p:nvSpPr>
          <p:cNvPr id="31" name="Text 24"/>
          <p:cNvSpPr txBox="1"/>
          <p:nvPr/>
        </p:nvSpPr>
        <p:spPr>
          <a:xfrm>
            <a:off x="7607808" y="21854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Mengelompokkan issue berdasarkan jenis, prioritas, atau area kerja.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675120" y="2770632"/>
            <a:ext cx="4864608" cy="987552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931152" y="3008376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619" y="3088843"/>
            <a:ext cx="341986" cy="34198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607808" y="2953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450" dirty="0"/>
          </a:p>
        </p:txBody>
      </p:sp>
      <p:sp>
        <p:nvSpPr>
          <p:cNvPr id="36" name="Text 28"/>
          <p:cNvSpPr txBox="1"/>
          <p:nvPr/>
        </p:nvSpPr>
        <p:spPr>
          <a:xfrm>
            <a:off x="7607808" y="3264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Mengelompokkan issue ke dalam target rilis dengan tenggat waktu.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6675120" y="3849624"/>
            <a:ext cx="4864608" cy="987552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931152" y="408736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1619" y="4167835"/>
            <a:ext cx="341986" cy="34198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607808" y="40325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Assignee</a:t>
            </a:r>
            <a:endParaRPr lang="en-US" sz="1450" dirty="0"/>
          </a:p>
        </p:txBody>
      </p:sp>
      <p:sp>
        <p:nvSpPr>
          <p:cNvPr id="41" name="Text 32"/>
          <p:cNvSpPr txBox="1"/>
          <p:nvPr/>
        </p:nvSpPr>
        <p:spPr>
          <a:xfrm>
            <a:off x="7607808" y="4343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 penanggung jawab agar tidak ada pekerjaan yang terlantar.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6675120" y="4928616"/>
            <a:ext cx="4864608" cy="987552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931152" y="51663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1619" y="5246827"/>
            <a:ext cx="341986" cy="341986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607808" y="5111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issue</a:t>
            </a:r>
            <a:endParaRPr lang="en-US" sz="1450" dirty="0"/>
          </a:p>
        </p:txBody>
      </p:sp>
      <p:sp>
        <p:nvSpPr>
          <p:cNvPr id="46" name="Text 36"/>
          <p:cNvSpPr txBox="1"/>
          <p:nvPr/>
        </p:nvSpPr>
        <p:spPr>
          <a:xfrm>
            <a:off x="7607808" y="54223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standar agar laporan bug selalu memuat informasi lengkap.</a:t>
            </a:r>
            <a:endParaRPr lang="en-US" sz="1150" dirty="0"/>
          </a:p>
        </p:txBody>
      </p:sp>
      <p:sp>
        <p:nvSpPr>
          <p:cNvPr id="47" name="Text 37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Projects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 kerja yang terhubung langsung dengan issue dan pull request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47672"/>
            <a:ext cx="182880" cy="182880"/>
          </a:xfrm>
          <a:prstGeom prst="ellipse">
            <a:avLst/>
          </a:prstGeom>
          <a:solidFill>
            <a:srgbClr val="656D76"/>
          </a:solidFill>
          <a:ln w="12700">
            <a:solidFill>
              <a:srgbClr val="656D7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15768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9536" y="2331720"/>
            <a:ext cx="224942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2416" y="2478024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gelap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" y="3081528"/>
            <a:ext cx="224942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322783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PDF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9536" y="3831336"/>
            <a:ext cx="224942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2416" y="39776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profil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20440" y="16916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6472" y="1947672"/>
            <a:ext cx="182880" cy="18288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50792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21608" y="2331720"/>
            <a:ext cx="224942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04488" y="2478024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form login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21608" y="3081528"/>
            <a:ext cx="224942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04488" y="322783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navbar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82512" y="16916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38544" y="1947672"/>
            <a:ext cx="182880" cy="182880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12864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Review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439912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2331720"/>
            <a:ext cx="224942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2478024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API klien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44584" y="16916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0616" y="1947672"/>
            <a:ext cx="182880" cy="18288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74936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301984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45752" y="2331720"/>
            <a:ext cx="224942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28632" y="2478024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CI/CD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445752" y="3081528"/>
            <a:ext cx="224942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28632" y="322783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445752" y="3831336"/>
            <a:ext cx="224942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28632" y="39776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awal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58368" y="502920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" y="523036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194" y="5300594"/>
            <a:ext cx="298460" cy="298460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435608" y="5212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fleksibel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1435608" y="5504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 kanban, tabel, atau lini masa dari data yang sama.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471416" y="502920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700016" y="523036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242" y="5300594"/>
            <a:ext cx="298460" cy="298460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5248656" y="5212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Sinkron otomatis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5248656" y="5504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kartu berubah sendiri saat issue ditutup atau PR di-merge.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8284464" y="502920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513064" y="523036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290" y="5300594"/>
            <a:ext cx="298460" cy="298460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9061704" y="5212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Bidang kustom</a:t>
            </a:r>
            <a:endParaRPr lang="en-US" sz="1300" dirty="0"/>
          </a:p>
        </p:txBody>
      </p:sp>
      <p:sp>
        <p:nvSpPr>
          <p:cNvPr id="52" name="Text 47"/>
          <p:cNvSpPr txBox="1"/>
          <p:nvPr/>
        </p:nvSpPr>
        <p:spPr>
          <a:xfrm>
            <a:off x="9061704" y="5504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prioritas, estimasi, dan iterasi untuk pelaporan.</a:t>
            </a:r>
            <a:endParaRPr lang="en-US" sz="1050" dirty="0"/>
          </a:p>
        </p:txBody>
      </p:sp>
      <p:sp>
        <p:nvSpPr>
          <p:cNvPr id="53" name="Text 48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sederhana yang dipakai sebagian besar tim modern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6974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branch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0632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baru dari main untuk setiap pekerjaan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71216" y="192024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26974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Tulis commit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72384" y="30632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kecil dengan pesan yang jelas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84064" y="192024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85232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285232" y="26974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pull request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30632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Ajukan perubahan dan mulai diskusi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96912" y="192024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4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6974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CI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0632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Rekan meninjau, pemeriksaan otomatis berjalan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09760" y="192024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0928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26974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&amp; deploy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710928" y="30632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Gabungkan ke main lalu rilis ke produksi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47091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9194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Flow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523036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satu branch permanen (main). Sederhana, cepat, cocok untuk aplikasi web yang sering dirilis.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99632" y="47091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49194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Flow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523036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branch main, develop, release, dan hotfix. Lebih rumit, cocok untuk produk dengan versi rilis terjadwal.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258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Lanjutan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untuk otomatisasi CI/CD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Pages, Releases, dan Gist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repository dan branch protection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CLI, Codespaces, dan Copilot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291840" cy="329184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7889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pengujian, build, dan deployment secara otomatis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943600" cy="4251960"/>
          </a:xfrm>
          <a:prstGeom prst="roundRect">
            <a:avLst>
              <a:gd name="adj" fmla="val 215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783080"/>
            <a:ext cx="5541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093976"/>
            <a:ext cx="554126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 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 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actions/setup-node@v4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node-version: '20'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ci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test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7373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utama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03720" y="2084832"/>
            <a:ext cx="4636008" cy="841248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50608" y="226771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1075" y="2348179"/>
            <a:ext cx="341986" cy="34198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818120" y="22311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(on)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25420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Pemicu: push, pull request, jadwal, atau manual.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0" y="2953512"/>
            <a:ext cx="4636008" cy="841248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50608" y="313639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075" y="3216859"/>
            <a:ext cx="341986" cy="34198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818120" y="30998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818120" y="34107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virtual Linux, Windows, atau macOS.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903720" y="3822192"/>
            <a:ext cx="4636008" cy="841248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50608" y="400507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075" y="4085539"/>
            <a:ext cx="341986" cy="34198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818120" y="39684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&amp; Step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818120" y="42793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berisi rangkaian langkah; job bisa berjalan paralel.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903720" y="4690872"/>
            <a:ext cx="4636008" cy="841248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150608" y="487375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075" y="4954219"/>
            <a:ext cx="341986" cy="34198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818120" y="48371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818120" y="51480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Ribuan action siap pakai untuk deploy, lint, dan notifikasi.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903720" y="5632704"/>
            <a:ext cx="4636008" cy="411480"/>
          </a:xfrm>
          <a:prstGeom prst="roundRect">
            <a:avLst>
              <a:gd name="adj" fmla="val 2666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132320" y="5733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tanpa batas untuk repository publik.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&amp; Releases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Menerbitkan situs statis dan menandai versi rilis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0537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848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gratis untuk situs statis langsung dari repository. Cocok untuk portofolio, dokumentasi proyek, dan blog. Mendukung domain kustom serta HTTPS otomatis.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61188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› Pages › pilih branch sumber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Situs terbit di username.github.io/nama-repo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bernama username.github.io menjadi situs utama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dipadukan dengan Jekyll, Hugo, atau Vite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" y="5212080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61288" y="5394960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https://nama-anda.github.io/belajar-github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01384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2053742"/>
            <a:ext cx="373075" cy="37307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87184" y="20848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&amp; Tag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501384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menandai titik penting dalam riwayat, biasanya versi rilis. Release membungkus tag dengan catatan perubahan dan berkas siap unduh.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501384" y="361188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702552" y="3794760"/>
            <a:ext cx="435254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tag -a v1.0.0 -m "Rilis pertama"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v1.0.0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lalu buat Release dari tab Releases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501384" y="5257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Versioning:  MAJOR . MINOR . PATCH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01384" y="5532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1.0.0 → 2.0.0 perubahan besar, → 1.1.0 fitur baru, → 1.0.1 perbaikan bug.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Repository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bawaan GitHub untuk menjaga kode dan kredensial tetap aman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20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618" y="2002170"/>
            <a:ext cx="348204" cy="3482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Dependabot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57860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Memindai dependensi yang rentan lalu membuat pull request pembaruan otomatis.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71416" y="16459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1920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66" y="2002170"/>
            <a:ext cx="348204" cy="3482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85816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scanning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745736" y="257860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Mendeteksi token atau kunci API yang tidak sengaja ter-commit dan memberi peringatan.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84464" y="16459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58784" y="1920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714" y="2002170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98864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protection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558784" y="257860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Melarang push langsung ke main; wajib lewat pull request dan review.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58368" y="35661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2688" y="384048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618" y="3922410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72768" y="39502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secrets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32688" y="44988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kredensial terenkripsi agar bisa dipakai Actions tanpa ditulis di kode.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71416" y="35661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45736" y="384048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666" y="3922410"/>
            <a:ext cx="348204" cy="34820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85816" y="39502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scanning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745736" y="44988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statis CodeQL untuk menemukan celah keamanan pada kode Anda.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84464" y="35661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558784" y="384048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0714" y="3922410"/>
            <a:ext cx="348204" cy="34820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98864" y="39502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commits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558784" y="44988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Menandatangani commit dengan GPG agar keaslian penulis dapat diverifikasi.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58368" y="5440680"/>
            <a:ext cx="10881360" cy="54864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96012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mutlak: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pernah menaruh kata sandi, token, atau kunci API di dalam kode yang di-commit.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CLI &amp; Gist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Bekerja dengan GitHub tanpa meninggalkan terminal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3852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026310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27632" y="20574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CLI (gh)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6700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resmi untuk mengelola issue, pull request, dan repo langsung dari baris perintah.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32688" y="329184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33856" y="3474720"/>
            <a:ext cx="471830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auth login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repo create belajar-github --public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repo clone user/repo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issue list --label bug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pr create --title "Tambah fitur X"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pr checkout 42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pr merge --squash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1691640"/>
            <a:ext cx="4864608" cy="2011680"/>
          </a:xfrm>
          <a:prstGeom prst="roundRect">
            <a:avLst>
              <a:gd name="adj" fmla="val 545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31152" y="193852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619" y="2018995"/>
            <a:ext cx="341986" cy="3419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89520" y="2029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931152" y="26060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Potongan kode atau catatan singkat yang bisa dibagikan lewat tautan. Mendukung riwayat versi, komentar, dan bisa disetel publik atau rahasia.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675120" y="3886200"/>
            <a:ext cx="4864608" cy="2011680"/>
          </a:xfrm>
          <a:prstGeom prst="roundRect">
            <a:avLst>
              <a:gd name="adj" fmla="val 545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31152" y="413308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619" y="4213555"/>
            <a:ext cx="341986" cy="34198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589520" y="4224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Codespaces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931152" y="480060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 pengembangan lengkap di cloud yang dijalankan lewat browser. Tidak perlu memasang apa pun di komputer lokal.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Copilot, Organisasi, dan Hak Akses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untuk produktivitas individu dan pengelolaan tim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0537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848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697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 kode berbasis AI yang menyarankan baris atau blok kode secara langsung di editor. Gratis bagi pelajar melalui GitHub Student Developer Pack. Saran tetap perlu diperiksa manusia.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" y="40233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" y="427939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359859"/>
            <a:ext cx="341986" cy="3419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27632" y="43708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&amp; Teams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60120" y="4937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Wadah bersama untuk repositori milik kelompok, kelas, atau perusahaan. Anggota dibagi ke dalam team dengan hak akses yang bisa diatur per repository.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7830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Tingkat hak akses kolaborator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5230368" cy="658368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37960" y="2450592"/>
            <a:ext cx="1188720" cy="329184"/>
          </a:xfrm>
          <a:prstGeom prst="roundRect">
            <a:avLst>
              <a:gd name="adj" fmla="val 36111"/>
            </a:avLst>
          </a:prstGeom>
          <a:solidFill>
            <a:srgbClr val="656D76"/>
          </a:solidFill>
          <a:ln w="12700">
            <a:solidFill>
              <a:srgbClr val="656D7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37960" y="24505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7882128" y="25054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dan meng-clone repo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309360" y="3035808"/>
            <a:ext cx="5230368" cy="658368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37960" y="3200400"/>
            <a:ext cx="1188720" cy="329184"/>
          </a:xfrm>
          <a:prstGeom prst="roundRect">
            <a:avLst>
              <a:gd name="adj" fmla="val 36111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37960" y="32004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7882128" y="32552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issue dan pull request tanpa menulis kode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09360" y="3785616"/>
            <a:ext cx="5230368" cy="658368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37960" y="3950208"/>
            <a:ext cx="1188720" cy="329184"/>
          </a:xfrm>
          <a:prstGeom prst="roundRect">
            <a:avLst>
              <a:gd name="adj" fmla="val 36111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537960" y="39502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7882128" y="40050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ke branch dan membuat pull request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309360" y="4535424"/>
            <a:ext cx="5230368" cy="658368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537960" y="4700016"/>
            <a:ext cx="1188720" cy="329184"/>
          </a:xfrm>
          <a:prstGeom prst="roundRect">
            <a:avLst>
              <a:gd name="adj" fmla="val 36111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537960" y="47000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7882128" y="4754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repo tanpa akses ke pengaturan sensitif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309360" y="5285232"/>
            <a:ext cx="5230368" cy="658368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537960" y="5449824"/>
            <a:ext cx="1188720" cy="329184"/>
          </a:xfrm>
          <a:prstGeom prst="roundRect">
            <a:avLst>
              <a:gd name="adj" fmla="val 36111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537960" y="5449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7882128" y="55046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penuh termasuk menghapus repo dan mengatur akses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258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 Terbaik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pesan commit yang bermakna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 pemula dan cara menghindarinya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alur kerja tim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materi dan sumber belajar lanjutan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291840" cy="329184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7889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Menulis Pesan Commit yang Baik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commit adalah dokumentasi termurah dan paling awet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019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Hindari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2468880"/>
            <a:ext cx="43525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"update"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"fix bug"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"asdasd"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3703320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9136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Lakukan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429768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61288" y="4480560"/>
            <a:ext cx="435254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"feat: tambah validasi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pada form pendaftaran"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"fix: perbaiki tombol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simpan yang gagal di Safari"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7373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Commits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0848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&lt;tipe&gt;(&lt;cakupan&gt;): &lt;deskripsi singkat&gt;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2514600"/>
            <a:ext cx="1188720" cy="329184"/>
          </a:xfrm>
          <a:prstGeom prst="roundRect">
            <a:avLst>
              <a:gd name="adj" fmla="val 33333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514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62672" y="2560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fitur baru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971800"/>
            <a:ext cx="1188720" cy="329184"/>
          </a:xfrm>
          <a:prstGeom prst="roundRect">
            <a:avLst>
              <a:gd name="adj" fmla="val 33333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2971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62672" y="3017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Memperbaiki bug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429000"/>
            <a:ext cx="1188720" cy="329184"/>
          </a:xfrm>
          <a:prstGeom prst="roundRect">
            <a:avLst>
              <a:gd name="adj" fmla="val 33333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34290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62672" y="3474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dokumentasi saja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886200"/>
            <a:ext cx="1188720" cy="329184"/>
          </a:xfrm>
          <a:prstGeom prst="roundRect">
            <a:avLst>
              <a:gd name="adj" fmla="val 33333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3886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662672" y="3931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kode tanpa mengubah logika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4343400"/>
            <a:ext cx="1188720" cy="329184"/>
          </a:xfrm>
          <a:prstGeom prst="roundRect">
            <a:avLst>
              <a:gd name="adj" fmla="val 33333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43434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662672" y="4389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ulang kode tanpa mengubah perilaku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800600"/>
            <a:ext cx="1188720" cy="329184"/>
          </a:xfrm>
          <a:prstGeom prst="roundRect">
            <a:avLst>
              <a:gd name="adj" fmla="val 33333"/>
            </a:avLst>
          </a:prstGeom>
          <a:solidFill>
            <a:srgbClr val="656D76"/>
          </a:solidFill>
          <a:ln w="12700">
            <a:solidFill>
              <a:srgbClr val="656D7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4800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662672" y="4846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atau memperbaiki pengujian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5257800"/>
            <a:ext cx="1188720" cy="329184"/>
          </a:xfrm>
          <a:prstGeom prst="roundRect">
            <a:avLst>
              <a:gd name="adj" fmla="val 33333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5257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662672" y="5303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Pekerjaan rutin seperti pembaruan dependensi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5760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kalimat perintah: "tambah", bukan "menambahkan" atau "ditambahkan".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 &amp; Solusinya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yang hampir selalu dialami pemula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110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19110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Meng-commit file rahasia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2258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.gitignore sejak awal. Jika terlanjur, ganti kredensialnya segera.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0216" y="16916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19110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68896" y="19110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langsung ke main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68896" y="2258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branch protection dan biasakan bekerja lewat branch fitur.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136392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3558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27048" y="33558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terlalu besar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527048" y="3703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Pecah menjadi beberapa commit kecil yang masing-masing satu tujuan.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0216" y="3136392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33558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624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68896" y="33558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Lupa pull sebelum kerja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68896" y="3703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git pull setiap kali mulai agar tidak menumpuk konflik.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4581144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800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27048" y="4800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berumur panjang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527048" y="51480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Selesaikan dan merge dalam hitungan hari, bukan minggu.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0216" y="4581144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56248" y="48006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56248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168896" y="4800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tanpa README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168896" y="51480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README singkat: apa proyeknya, cara pasang, dan cara pakai.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Kasus: Tim Beranggota Tiga Orang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seluruh materi pada satu proyek nyata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01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mahasiswa membuat aplikasi web pendataan buku sebagai tugas akhir mata kuliah, dengan tenggat empat minggu.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41648" y="169164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901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Pembagian peran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2402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antarmuka pengguna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basis data &amp; API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pengujian &amp; dokumentasi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24928" y="16916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99248" y="19019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Kesepakatan tim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99248" y="224028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dilindungi, wajib lewat pull request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satu approval sebelum merge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and merge sebagai strategi baku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79476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440740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organisasi, repo, README, dan struktur folder. Semua anggota diundang sebagai kolaborator.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47288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47288" y="379476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66744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666744" y="440740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orang bekerja di branch feature/ masing-masing. Issue dibuat untuk setiap tugas.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6208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379476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55664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440740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dibuka, saling review, CI menjalankan pengujian otomatis pada setiap PR.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25128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5128" y="379476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44584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44584" y="440740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ke main, buat tag v1.0.0, terbitkan lewat GitHub Pages, dan lengkapi dokumentasi.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Materi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Sepuluh hal terpenting yang perlu diingat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892808"/>
            <a:ext cx="329184" cy="32918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7830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adalah alat version control, GitHub adalah platform tempat menyimpannya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0216" y="169164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28816" y="1892808"/>
            <a:ext cx="329184" cy="32918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28816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986016" y="17830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menampung kode sekaligus seluruh riwayat perubahannya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256032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761488"/>
            <a:ext cx="329184" cy="32918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26517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harian: pull → ubah → add → commit → push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0216" y="256032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816" y="2761488"/>
            <a:ext cx="329184" cy="32918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28816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986016" y="26517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branch terpisah untuk setiap fitur atau perbaikan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342900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3630168"/>
            <a:ext cx="329184" cy="32918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344168" y="35204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adalah tempat perubahan ditinjau sebelum digabungkan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0216" y="342900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28816" y="3630168"/>
            <a:ext cx="329184" cy="32918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28816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986016" y="35204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 adalah hal wajar; selesaikan dengan tenang lalu commit ulang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" y="429768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" y="4498848"/>
            <a:ext cx="329184" cy="32918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6968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344168" y="4389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.gitignore, dan LICENSE wajib ada di setiap proyek serius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00216" y="429768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28816" y="4498848"/>
            <a:ext cx="329184" cy="32918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28816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986016" y="4389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dan Projects menjaga pekerjaan tim tetap terlacak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8368" y="516636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968" y="5367528"/>
            <a:ext cx="329184" cy="32918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6968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344168" y="52578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mengotomatiskan pengujian dan deployment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300216" y="5166360"/>
            <a:ext cx="5349240" cy="73152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5367528"/>
            <a:ext cx="329184" cy="329184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28816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986016" y="52578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pernah meng-commit kredensial atau data rahasia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Belajar Lanjutan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 resmi dan latihan untuk memperdalam materi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920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618" y="2002170"/>
            <a:ext cx="348204" cy="3482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Dokumentasi resmi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 — panduan lengkap seluruh fitur GitHub dalam banyak bahasa.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71416" y="1645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5736" y="1920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66" y="2002170"/>
            <a:ext cx="348204" cy="3482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85816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Git Book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745736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git-scm.com/book — buku gratis yang membahas Git secara mendalam.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84464" y="1645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58784" y="192024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714" y="2002170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98864" y="20299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Skills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558784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skills.github.com — kursus interaktif langsung di dalam repository.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58368" y="3721608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2688" y="39959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618" y="4077858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72768" y="4105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Pack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32688" y="46817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education.github.com — Copilot dan puluhan alat berbayar gratis untuk pelajar.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71416" y="3721608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45736" y="39959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666" y="4077858"/>
            <a:ext cx="348204" cy="34820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85816" y="4105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Git Branching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745736" y="46817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learngitbranching.js.org — latihan visual memahami branch dan merge.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84464" y="3721608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558784" y="39959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0714" y="4077858"/>
            <a:ext cx="348204" cy="34820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98864" y="4105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GitHub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558784" y="46817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github.com/explore — pelajari struktur repo populer sebagai contoh nyata.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143000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2344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3774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24612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terbaik menguasai GitHub adalah dengan langsung memakainya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234440" y="397764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08760" y="42062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427939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satu repository hari ini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44568" y="397764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18888" y="42062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27939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18888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lewat branch dan pull request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854696" y="397764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129016" y="42062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427939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129016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kecil ke proyek open source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Selamat berkolaborasi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— Panduan Lengkap Version Control &amp; Kolaborasi Kode</dc:title>
  <dc:subject>Materi GitHub</dc:subject>
  <dc:creator>Materi Pembelajaran</dc:creator>
  <cp:lastModifiedBy>Materi Pembelajaran</cp:lastModifiedBy>
  <cp:revision>1</cp:revision>
  <dcterms:created xsi:type="dcterms:W3CDTF">2026-09-04T22:31:36Z</dcterms:created>
  <dcterms:modified xsi:type="dcterms:W3CDTF">2026-09-04T22:31:36Z</dcterms:modified>
</cp:coreProperties>
</file>