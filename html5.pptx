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7-8.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2-6.png"/><Relationship Id="rId6" Type="http://schemas.openxmlformats.org/officeDocument/2006/relationships/image" Target="../media/image-12-6.png"/><Relationship Id="rId7" Type="http://schemas.openxmlformats.org/officeDocument/2006/relationships/image" Target="../media/image-2-5.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12-6.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image" Target="../media/image-15-1.png"/><Relationship Id="rId6" Type="http://schemas.openxmlformats.org/officeDocument/2006/relationships/image" Target="../media/image-15-1.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image" Target="../media/image-15-1.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3-2.png"/><Relationship Id="rId3" Type="http://schemas.openxmlformats.org/officeDocument/2006/relationships/image" Target="../media/image-18-3.png"/><Relationship Id="rId4" Type="http://schemas.openxmlformats.org/officeDocument/2006/relationships/image" Target="../media/image-2-1.png"/><Relationship Id="rId5" Type="http://schemas.openxmlformats.org/officeDocument/2006/relationships/image" Target="../media/image-3-2.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B"/>
        </a:solidFill>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262626"/>
          </a:solidFill>
          <a:ln/>
        </p:spPr>
      </p:sp>
      <p:sp>
        <p:nvSpPr>
          <p:cNvPr id="3" name="Shape 1"/>
          <p:cNvSpPr/>
          <p:nvPr/>
        </p:nvSpPr>
        <p:spPr>
          <a:xfrm>
            <a:off x="9692640" y="1371600"/>
            <a:ext cx="3291840" cy="3291840"/>
          </a:xfrm>
          <a:prstGeom prst="ellipse">
            <a:avLst/>
          </a:prstGeom>
          <a:solidFill>
            <a:srgbClr val="1B1B1B"/>
          </a:solidFill>
          <a:ln/>
        </p:spPr>
      </p:sp>
      <p:sp>
        <p:nvSpPr>
          <p:cNvPr id="4" name="Shape 2"/>
          <p:cNvSpPr/>
          <p:nvPr/>
        </p:nvSpPr>
        <p:spPr>
          <a:xfrm>
            <a:off x="8385048" y="1783080"/>
            <a:ext cx="2468880" cy="2468880"/>
          </a:xfrm>
          <a:prstGeom prst="ellipse">
            <a:avLst/>
          </a:prstGeom>
          <a:solidFill>
            <a:srgbClr val="E44D26"/>
          </a:solidFill>
          <a:ln/>
        </p:spPr>
      </p:sp>
      <p:pic>
        <p:nvPicPr>
          <p:cNvPr id="5" name="Image 0" descr="preencoded.png">    </p:cNvPr>
          <p:cNvPicPr>
            <a:picLocks noChangeAspect="1"/>
          </p:cNvPicPr>
          <p:nvPr/>
        </p:nvPicPr>
        <p:blipFill>
          <a:blip r:embed="rId1"/>
          <a:stretch>
            <a:fillRect/>
          </a:stretch>
        </p:blipFill>
        <p:spPr>
          <a:xfrm>
            <a:off x="9026957" y="2424989"/>
            <a:ext cx="1185062" cy="1185062"/>
          </a:xfrm>
          <a:prstGeom prst="rect">
            <a:avLst/>
          </a:prstGeom>
        </p:spPr>
      </p:pic>
      <p:sp>
        <p:nvSpPr>
          <p:cNvPr id="6" name="Text 3"/>
          <p:cNvSpPr txBox="1"/>
          <p:nvPr/>
        </p:nvSpPr>
        <p:spPr>
          <a:xfrm>
            <a:off x="640080" y="1417320"/>
            <a:ext cx="6400800" cy="365760"/>
          </a:xfrm>
          <a:prstGeom prst="rect">
            <a:avLst/>
          </a:prstGeom>
          <a:noFill/>
          <a:ln/>
        </p:spPr>
        <p:txBody>
          <a:bodyPr wrap="square" lIns="0" tIns="0" rIns="0" bIns="0" rtlCol="0" anchor="ctr"/>
          <a:lstStyle/>
          <a:p>
            <a:pPr indent="0" marL="0">
              <a:buNone/>
            </a:pPr>
            <a:r>
              <a:rPr lang="en-US" sz="1400" b="1" spc="300" kern="0" dirty="0">
                <a:solidFill>
                  <a:srgbClr val="F16529"/>
                </a:solidFill>
                <a:latin typeface="Calibri" pitchFamily="34" charset="0"/>
                <a:ea typeface="Calibri" pitchFamily="34" charset="-122"/>
                <a:cs typeface="Calibri" pitchFamily="34" charset="-120"/>
              </a:rPr>
              <a:t>MATERI PEMBELAJARAN</a:t>
            </a:r>
            <a:endParaRPr lang="en-US" sz="1400" dirty="0"/>
          </a:p>
        </p:txBody>
      </p:sp>
      <p:sp>
        <p:nvSpPr>
          <p:cNvPr id="7" name="Text 4"/>
          <p:cNvSpPr txBox="1"/>
          <p:nvPr/>
        </p:nvSpPr>
        <p:spPr>
          <a:xfrm>
            <a:off x="594360" y="1874520"/>
            <a:ext cx="7315200"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HTML5</a:t>
            </a:r>
            <a:endParaRPr lang="en-US" sz="8000" dirty="0"/>
          </a:p>
        </p:txBody>
      </p:sp>
      <p:sp>
        <p:nvSpPr>
          <p:cNvPr id="8" name="Text 5"/>
          <p:cNvSpPr txBox="1"/>
          <p:nvPr/>
        </p:nvSpPr>
        <p:spPr>
          <a:xfrm>
            <a:off x="640080" y="3246120"/>
            <a:ext cx="6949440" cy="548640"/>
          </a:xfrm>
          <a:prstGeom prst="rect">
            <a:avLst/>
          </a:prstGeom>
          <a:noFill/>
          <a:ln/>
        </p:spPr>
        <p:txBody>
          <a:bodyPr wrap="square" lIns="0" tIns="0" rIns="0" bIns="0" rtlCol="0" anchor="ctr"/>
          <a:lstStyle/>
          <a:p>
            <a:pPr indent="0" marL="0">
              <a:buNone/>
            </a:pPr>
            <a:r>
              <a:rPr lang="en-US" sz="2000" dirty="0">
                <a:solidFill>
                  <a:srgbClr val="D8D8D8"/>
                </a:solidFill>
                <a:latin typeface="Calibri" pitchFamily="34" charset="0"/>
                <a:ea typeface="Calibri" pitchFamily="34" charset="-122"/>
                <a:cs typeface="Calibri" pitchFamily="34" charset="-120"/>
              </a:rPr>
              <a:t>Fondasi Modern Pengembangan Web</a:t>
            </a:r>
            <a:endParaRPr lang="en-US" sz="2000" dirty="0"/>
          </a:p>
        </p:txBody>
      </p:sp>
      <p:sp>
        <p:nvSpPr>
          <p:cNvPr id="9" name="Shape 6"/>
          <p:cNvSpPr/>
          <p:nvPr/>
        </p:nvSpPr>
        <p:spPr>
          <a:xfrm>
            <a:off x="640080" y="3977640"/>
            <a:ext cx="2194560" cy="0"/>
          </a:xfrm>
          <a:prstGeom prst="line">
            <a:avLst/>
          </a:prstGeom>
          <a:noFill/>
          <a:ln w="38100">
            <a:solidFill>
              <a:srgbClr val="E44D26"/>
            </a:solidFill>
            <a:prstDash val="solid"/>
          </a:ln>
        </p:spPr>
      </p:sp>
      <p:sp>
        <p:nvSpPr>
          <p:cNvPr id="10" name="Text 7"/>
          <p:cNvSpPr txBox="1"/>
          <p:nvPr/>
        </p:nvSpPr>
        <p:spPr>
          <a:xfrm>
            <a:off x="640080" y="4160520"/>
            <a:ext cx="6949440" cy="365760"/>
          </a:xfrm>
          <a:prstGeom prst="rect">
            <a:avLst/>
          </a:prstGeom>
          <a:noFill/>
          <a:ln/>
        </p:spPr>
        <p:txBody>
          <a:bodyPr wrap="square" lIns="0" tIns="0" rIns="0" bIns="0" rtlCol="0" anchor="ctr"/>
          <a:lstStyle/>
          <a:p>
            <a:pPr indent="0" marL="0">
              <a:buNone/>
            </a:pPr>
            <a:r>
              <a:rPr lang="en-US" sz="1300" dirty="0">
                <a:solidFill>
                  <a:srgbClr val="9A9A9A"/>
                </a:solidFill>
                <a:latin typeface="Calibri" pitchFamily="34" charset="0"/>
                <a:ea typeface="Calibri" pitchFamily="34" charset="-122"/>
                <a:cs typeface="Calibri" pitchFamily="34" charset="-120"/>
              </a:rPr>
              <a:t>Struktur • Elemen Semantik • Multimedia • API Modern</a:t>
            </a:r>
            <a:endParaRPr lang="en-US" sz="1300" dirty="0"/>
          </a:p>
        </p:txBody>
      </p:sp>
      <p:sp>
        <p:nvSpPr>
          <p:cNvPr id="11" name="Text 8"/>
          <p:cNvSpPr txBox="1"/>
          <p:nvPr/>
        </p:nvSpPr>
        <p:spPr>
          <a:xfrm>
            <a:off x="640080" y="6126480"/>
            <a:ext cx="6400800" cy="320040"/>
          </a:xfrm>
          <a:prstGeom prst="rect">
            <a:avLst/>
          </a:prstGeom>
          <a:noFill/>
          <a:ln/>
        </p:spPr>
        <p:txBody>
          <a:bodyPr wrap="square" lIns="0" tIns="0" rIns="0" bIns="0" rtlCol="0" anchor="ctr"/>
          <a:lstStyle/>
          <a:p>
            <a:pPr indent="0" marL="0">
              <a:buNone/>
            </a:pPr>
            <a:r>
              <a:rPr lang="en-US" sz="1100" dirty="0">
                <a:solidFill>
                  <a:srgbClr val="8A8A8A"/>
                </a:solidFill>
                <a:latin typeface="Calibri" pitchFamily="34" charset="0"/>
                <a:ea typeface="Calibri" pitchFamily="34" charset="-122"/>
                <a:cs typeface="Calibri" pitchFamily="34" charset="-120"/>
              </a:rPr>
              <a:t>Bahan Ajar Komprehensif</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DAFTAR ISI</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Apa yang Akan Kita Pelajari</a:t>
            </a:r>
            <a:endParaRPr lang="en-US" sz="3200" dirty="0"/>
          </a:p>
        </p:txBody>
      </p:sp>
      <p:sp>
        <p:nvSpPr>
          <p:cNvPr id="4" name="Shape 2"/>
          <p:cNvSpPr/>
          <p:nvPr/>
        </p:nvSpPr>
        <p:spPr>
          <a:xfrm>
            <a:off x="548640" y="1691640"/>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5" name="Text 3"/>
          <p:cNvSpPr txBox="1"/>
          <p:nvPr/>
        </p:nvSpPr>
        <p:spPr>
          <a:xfrm>
            <a:off x="713232" y="1856232"/>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01</a:t>
            </a:r>
            <a:endParaRPr lang="en-US" sz="3000" dirty="0"/>
          </a:p>
        </p:txBody>
      </p:sp>
      <p:sp>
        <p:nvSpPr>
          <p:cNvPr id="6" name="Shape 4"/>
          <p:cNvSpPr/>
          <p:nvPr/>
        </p:nvSpPr>
        <p:spPr>
          <a:xfrm>
            <a:off x="1417320" y="1965960"/>
            <a:ext cx="502920" cy="502920"/>
          </a:xfrm>
          <a:prstGeom prst="ellipse">
            <a:avLst/>
          </a:prstGeom>
          <a:solidFill>
            <a:srgbClr val="E44D26"/>
          </a:solidFill>
          <a:ln/>
        </p:spPr>
      </p:sp>
      <p:pic>
        <p:nvPicPr>
          <p:cNvPr id="7" name="Image 0" descr="preencoded.png">    </p:cNvPr>
          <p:cNvPicPr>
            <a:picLocks noChangeAspect="1"/>
          </p:cNvPicPr>
          <p:nvPr/>
        </p:nvPicPr>
        <p:blipFill>
          <a:blip r:embed="rId1"/>
          <a:stretch>
            <a:fillRect/>
          </a:stretch>
        </p:blipFill>
        <p:spPr>
          <a:xfrm>
            <a:off x="1548079" y="2096719"/>
            <a:ext cx="241402" cy="241402"/>
          </a:xfrm>
          <a:prstGeom prst="rect">
            <a:avLst/>
          </a:prstGeom>
        </p:spPr>
      </p:pic>
      <p:sp>
        <p:nvSpPr>
          <p:cNvPr id="8" name="Text 5"/>
          <p:cNvSpPr txBox="1"/>
          <p:nvPr/>
        </p:nvSpPr>
        <p:spPr>
          <a:xfrm>
            <a:off x="2084832" y="1691640"/>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Pengenalan &amp; Sejarah HTML5</a:t>
            </a:r>
            <a:endParaRPr lang="en-US" sz="1450" dirty="0"/>
          </a:p>
        </p:txBody>
      </p:sp>
      <p:sp>
        <p:nvSpPr>
          <p:cNvPr id="9" name="Shape 6"/>
          <p:cNvSpPr/>
          <p:nvPr/>
        </p:nvSpPr>
        <p:spPr>
          <a:xfrm>
            <a:off x="548640" y="2944368"/>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10" name="Text 7"/>
          <p:cNvSpPr txBox="1"/>
          <p:nvPr/>
        </p:nvSpPr>
        <p:spPr>
          <a:xfrm>
            <a:off x="713232" y="3108960"/>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02</a:t>
            </a:r>
            <a:endParaRPr lang="en-US" sz="3000" dirty="0"/>
          </a:p>
        </p:txBody>
      </p:sp>
      <p:sp>
        <p:nvSpPr>
          <p:cNvPr id="11" name="Shape 8"/>
          <p:cNvSpPr/>
          <p:nvPr/>
        </p:nvSpPr>
        <p:spPr>
          <a:xfrm>
            <a:off x="1417320" y="3218688"/>
            <a:ext cx="502920" cy="502920"/>
          </a:xfrm>
          <a:prstGeom prst="ellipse">
            <a:avLst/>
          </a:prstGeom>
          <a:solidFill>
            <a:srgbClr val="E44D26"/>
          </a:solidFill>
          <a:ln/>
        </p:spPr>
      </p:sp>
      <p:pic>
        <p:nvPicPr>
          <p:cNvPr id="12" name="Image 1" descr="preencoded.png">    </p:cNvPr>
          <p:cNvPicPr>
            <a:picLocks noChangeAspect="1"/>
          </p:cNvPicPr>
          <p:nvPr/>
        </p:nvPicPr>
        <p:blipFill>
          <a:blip r:embed="rId2"/>
          <a:stretch>
            <a:fillRect/>
          </a:stretch>
        </p:blipFill>
        <p:spPr>
          <a:xfrm>
            <a:off x="1548079" y="3349447"/>
            <a:ext cx="241402" cy="241402"/>
          </a:xfrm>
          <a:prstGeom prst="rect">
            <a:avLst/>
          </a:prstGeom>
        </p:spPr>
      </p:pic>
      <p:sp>
        <p:nvSpPr>
          <p:cNvPr id="13" name="Text 9"/>
          <p:cNvSpPr txBox="1"/>
          <p:nvPr/>
        </p:nvSpPr>
        <p:spPr>
          <a:xfrm>
            <a:off x="2084832" y="2944368"/>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Struktur Dasar Dokumen</a:t>
            </a:r>
            <a:endParaRPr lang="en-US" sz="1450" dirty="0"/>
          </a:p>
        </p:txBody>
      </p:sp>
      <p:sp>
        <p:nvSpPr>
          <p:cNvPr id="14" name="Shape 10"/>
          <p:cNvSpPr/>
          <p:nvPr/>
        </p:nvSpPr>
        <p:spPr>
          <a:xfrm>
            <a:off x="548640" y="4197096"/>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15" name="Text 11"/>
          <p:cNvSpPr txBox="1"/>
          <p:nvPr/>
        </p:nvSpPr>
        <p:spPr>
          <a:xfrm>
            <a:off x="713232" y="4361688"/>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03</a:t>
            </a:r>
            <a:endParaRPr lang="en-US" sz="3000" dirty="0"/>
          </a:p>
        </p:txBody>
      </p:sp>
      <p:sp>
        <p:nvSpPr>
          <p:cNvPr id="16" name="Shape 12"/>
          <p:cNvSpPr/>
          <p:nvPr/>
        </p:nvSpPr>
        <p:spPr>
          <a:xfrm>
            <a:off x="1417320" y="4471416"/>
            <a:ext cx="502920" cy="502920"/>
          </a:xfrm>
          <a:prstGeom prst="ellipse">
            <a:avLst/>
          </a:prstGeom>
          <a:solidFill>
            <a:srgbClr val="E44D26"/>
          </a:solidFill>
          <a:ln/>
        </p:spPr>
      </p:sp>
      <p:pic>
        <p:nvPicPr>
          <p:cNvPr id="17" name="Image 2" descr="preencoded.png">    </p:cNvPr>
          <p:cNvPicPr>
            <a:picLocks noChangeAspect="1"/>
          </p:cNvPicPr>
          <p:nvPr/>
        </p:nvPicPr>
        <p:blipFill>
          <a:blip r:embed="rId3"/>
          <a:stretch>
            <a:fillRect/>
          </a:stretch>
        </p:blipFill>
        <p:spPr>
          <a:xfrm>
            <a:off x="1548079" y="4602175"/>
            <a:ext cx="241402" cy="241402"/>
          </a:xfrm>
          <a:prstGeom prst="rect">
            <a:avLst/>
          </a:prstGeom>
        </p:spPr>
      </p:pic>
      <p:sp>
        <p:nvSpPr>
          <p:cNvPr id="18" name="Text 13"/>
          <p:cNvSpPr txBox="1"/>
          <p:nvPr/>
        </p:nvSpPr>
        <p:spPr>
          <a:xfrm>
            <a:off x="2084832" y="4197096"/>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Elemen Semantik Baru</a:t>
            </a:r>
            <a:endParaRPr lang="en-US" sz="1450" dirty="0"/>
          </a:p>
        </p:txBody>
      </p:sp>
      <p:sp>
        <p:nvSpPr>
          <p:cNvPr id="19" name="Shape 14"/>
          <p:cNvSpPr/>
          <p:nvPr/>
        </p:nvSpPr>
        <p:spPr>
          <a:xfrm>
            <a:off x="548640" y="5449824"/>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20" name="Text 15"/>
          <p:cNvSpPr txBox="1"/>
          <p:nvPr/>
        </p:nvSpPr>
        <p:spPr>
          <a:xfrm>
            <a:off x="713232" y="5614416"/>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04</a:t>
            </a:r>
            <a:endParaRPr lang="en-US" sz="3000" dirty="0"/>
          </a:p>
        </p:txBody>
      </p:sp>
      <p:sp>
        <p:nvSpPr>
          <p:cNvPr id="21" name="Shape 16"/>
          <p:cNvSpPr/>
          <p:nvPr/>
        </p:nvSpPr>
        <p:spPr>
          <a:xfrm>
            <a:off x="1417320" y="5724144"/>
            <a:ext cx="502920" cy="502920"/>
          </a:xfrm>
          <a:prstGeom prst="ellipse">
            <a:avLst/>
          </a:prstGeom>
          <a:solidFill>
            <a:srgbClr val="E44D26"/>
          </a:solidFill>
          <a:ln/>
        </p:spPr>
      </p:sp>
      <p:pic>
        <p:nvPicPr>
          <p:cNvPr id="22" name="Image 3" descr="preencoded.png">    </p:cNvPr>
          <p:cNvPicPr>
            <a:picLocks noChangeAspect="1"/>
          </p:cNvPicPr>
          <p:nvPr/>
        </p:nvPicPr>
        <p:blipFill>
          <a:blip r:embed="rId4"/>
          <a:stretch>
            <a:fillRect/>
          </a:stretch>
        </p:blipFill>
        <p:spPr>
          <a:xfrm>
            <a:off x="1548079" y="5854903"/>
            <a:ext cx="241402" cy="241402"/>
          </a:xfrm>
          <a:prstGeom prst="rect">
            <a:avLst/>
          </a:prstGeom>
        </p:spPr>
      </p:pic>
      <p:sp>
        <p:nvSpPr>
          <p:cNvPr id="23" name="Text 17"/>
          <p:cNvSpPr txBox="1"/>
          <p:nvPr/>
        </p:nvSpPr>
        <p:spPr>
          <a:xfrm>
            <a:off x="2084832" y="5449824"/>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Formulir &amp; Input Modern</a:t>
            </a:r>
            <a:endParaRPr lang="en-US" sz="1450" dirty="0"/>
          </a:p>
        </p:txBody>
      </p:sp>
      <p:sp>
        <p:nvSpPr>
          <p:cNvPr id="24" name="Shape 18"/>
          <p:cNvSpPr/>
          <p:nvPr/>
        </p:nvSpPr>
        <p:spPr>
          <a:xfrm>
            <a:off x="6217920" y="1691640"/>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25" name="Text 19"/>
          <p:cNvSpPr txBox="1"/>
          <p:nvPr/>
        </p:nvSpPr>
        <p:spPr>
          <a:xfrm>
            <a:off x="6382512" y="1856232"/>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05</a:t>
            </a:r>
            <a:endParaRPr lang="en-US" sz="3000" dirty="0"/>
          </a:p>
        </p:txBody>
      </p:sp>
      <p:sp>
        <p:nvSpPr>
          <p:cNvPr id="26" name="Shape 20"/>
          <p:cNvSpPr/>
          <p:nvPr/>
        </p:nvSpPr>
        <p:spPr>
          <a:xfrm>
            <a:off x="7086600" y="1965960"/>
            <a:ext cx="502920" cy="502920"/>
          </a:xfrm>
          <a:prstGeom prst="ellipse">
            <a:avLst/>
          </a:prstGeom>
          <a:solidFill>
            <a:srgbClr val="E44D26"/>
          </a:solidFill>
          <a:ln/>
        </p:spPr>
      </p:sp>
      <p:pic>
        <p:nvPicPr>
          <p:cNvPr id="27" name="Image 4" descr="preencoded.png">    </p:cNvPr>
          <p:cNvPicPr>
            <a:picLocks noChangeAspect="1"/>
          </p:cNvPicPr>
          <p:nvPr/>
        </p:nvPicPr>
        <p:blipFill>
          <a:blip r:embed="rId5"/>
          <a:stretch>
            <a:fillRect/>
          </a:stretch>
        </p:blipFill>
        <p:spPr>
          <a:xfrm>
            <a:off x="7217359" y="2096719"/>
            <a:ext cx="241402" cy="241402"/>
          </a:xfrm>
          <a:prstGeom prst="rect">
            <a:avLst/>
          </a:prstGeom>
        </p:spPr>
      </p:pic>
      <p:sp>
        <p:nvSpPr>
          <p:cNvPr id="28" name="Text 21"/>
          <p:cNvSpPr txBox="1"/>
          <p:nvPr/>
        </p:nvSpPr>
        <p:spPr>
          <a:xfrm>
            <a:off x="7754112" y="1691640"/>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Multimedia: Audio, Video, Canvas</a:t>
            </a:r>
            <a:endParaRPr lang="en-US" sz="1450" dirty="0"/>
          </a:p>
        </p:txBody>
      </p:sp>
      <p:sp>
        <p:nvSpPr>
          <p:cNvPr id="29" name="Shape 22"/>
          <p:cNvSpPr/>
          <p:nvPr/>
        </p:nvSpPr>
        <p:spPr>
          <a:xfrm>
            <a:off x="6217920" y="2944368"/>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30" name="Text 23"/>
          <p:cNvSpPr txBox="1"/>
          <p:nvPr/>
        </p:nvSpPr>
        <p:spPr>
          <a:xfrm>
            <a:off x="6382512" y="3108960"/>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06</a:t>
            </a:r>
            <a:endParaRPr lang="en-US" sz="3000" dirty="0"/>
          </a:p>
        </p:txBody>
      </p:sp>
      <p:sp>
        <p:nvSpPr>
          <p:cNvPr id="31" name="Shape 24"/>
          <p:cNvSpPr/>
          <p:nvPr/>
        </p:nvSpPr>
        <p:spPr>
          <a:xfrm>
            <a:off x="7086600" y="3218688"/>
            <a:ext cx="502920" cy="502920"/>
          </a:xfrm>
          <a:prstGeom prst="ellipse">
            <a:avLst/>
          </a:prstGeom>
          <a:solidFill>
            <a:srgbClr val="E44D26"/>
          </a:solidFill>
          <a:ln/>
        </p:spPr>
      </p:sp>
      <p:pic>
        <p:nvPicPr>
          <p:cNvPr id="32" name="Image 5" descr="preencoded.png">    </p:cNvPr>
          <p:cNvPicPr>
            <a:picLocks noChangeAspect="1"/>
          </p:cNvPicPr>
          <p:nvPr/>
        </p:nvPicPr>
        <p:blipFill>
          <a:blip r:embed="rId6"/>
          <a:stretch>
            <a:fillRect/>
          </a:stretch>
        </p:blipFill>
        <p:spPr>
          <a:xfrm>
            <a:off x="7217359" y="3349447"/>
            <a:ext cx="241402" cy="241402"/>
          </a:xfrm>
          <a:prstGeom prst="rect">
            <a:avLst/>
          </a:prstGeom>
        </p:spPr>
      </p:pic>
      <p:sp>
        <p:nvSpPr>
          <p:cNvPr id="33" name="Text 25"/>
          <p:cNvSpPr txBox="1"/>
          <p:nvPr/>
        </p:nvSpPr>
        <p:spPr>
          <a:xfrm>
            <a:off x="7754112" y="2944368"/>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API &amp; Fitur HTML5 Lanjutan</a:t>
            </a:r>
            <a:endParaRPr lang="en-US" sz="1450" dirty="0"/>
          </a:p>
        </p:txBody>
      </p:sp>
      <p:sp>
        <p:nvSpPr>
          <p:cNvPr id="34" name="Shape 26"/>
          <p:cNvSpPr/>
          <p:nvPr/>
        </p:nvSpPr>
        <p:spPr>
          <a:xfrm>
            <a:off x="6217920" y="4197096"/>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35" name="Text 27"/>
          <p:cNvSpPr txBox="1"/>
          <p:nvPr/>
        </p:nvSpPr>
        <p:spPr>
          <a:xfrm>
            <a:off x="6382512" y="4361688"/>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07</a:t>
            </a:r>
            <a:endParaRPr lang="en-US" sz="3000" dirty="0"/>
          </a:p>
        </p:txBody>
      </p:sp>
      <p:sp>
        <p:nvSpPr>
          <p:cNvPr id="36" name="Shape 28"/>
          <p:cNvSpPr/>
          <p:nvPr/>
        </p:nvSpPr>
        <p:spPr>
          <a:xfrm>
            <a:off x="7086600" y="4471416"/>
            <a:ext cx="502920" cy="502920"/>
          </a:xfrm>
          <a:prstGeom prst="ellipse">
            <a:avLst/>
          </a:prstGeom>
          <a:solidFill>
            <a:srgbClr val="E44D26"/>
          </a:solidFill>
          <a:ln/>
        </p:spPr>
      </p:sp>
      <p:pic>
        <p:nvPicPr>
          <p:cNvPr id="37" name="Image 6" descr="preencoded.png">    </p:cNvPr>
          <p:cNvPicPr>
            <a:picLocks noChangeAspect="1"/>
          </p:cNvPicPr>
          <p:nvPr/>
        </p:nvPicPr>
        <p:blipFill>
          <a:blip r:embed="rId7"/>
          <a:stretch>
            <a:fillRect/>
          </a:stretch>
        </p:blipFill>
        <p:spPr>
          <a:xfrm>
            <a:off x="7217359" y="4602175"/>
            <a:ext cx="241402" cy="241402"/>
          </a:xfrm>
          <a:prstGeom prst="rect">
            <a:avLst/>
          </a:prstGeom>
        </p:spPr>
      </p:pic>
      <p:sp>
        <p:nvSpPr>
          <p:cNvPr id="38" name="Text 29"/>
          <p:cNvSpPr txBox="1"/>
          <p:nvPr/>
        </p:nvSpPr>
        <p:spPr>
          <a:xfrm>
            <a:off x="7754112" y="4197096"/>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Aksesibilitas, SEO &amp; Best Practice</a:t>
            </a:r>
            <a:endParaRPr lang="en-US" sz="1450" dirty="0"/>
          </a:p>
        </p:txBody>
      </p:sp>
      <p:sp>
        <p:nvSpPr>
          <p:cNvPr id="39" name="Shape 30"/>
          <p:cNvSpPr/>
          <p:nvPr/>
        </p:nvSpPr>
        <p:spPr>
          <a:xfrm>
            <a:off x="6217920" y="5449824"/>
            <a:ext cx="5349240" cy="1051560"/>
          </a:xfrm>
          <a:prstGeom prst="rect">
            <a:avLst/>
          </a:prstGeom>
          <a:solidFill>
            <a:srgbClr val="F7F6F4"/>
          </a:solidFill>
          <a:ln/>
          <a:effectLst>
            <a:outerShdw sx="100000" sy="100000" kx="0" ky="0" algn="bl" rotWithShape="0" blurRad="76200" dist="25400" dir="5400000">
              <a:srgbClr val="000000">
                <a:alpha val="8000"/>
              </a:srgbClr>
            </a:outerShdw>
          </a:effectLst>
        </p:spPr>
      </p:sp>
      <p:sp>
        <p:nvSpPr>
          <p:cNvPr id="40" name="Text 31"/>
          <p:cNvSpPr txBox="1"/>
          <p:nvPr/>
        </p:nvSpPr>
        <p:spPr>
          <a:xfrm>
            <a:off x="6382512" y="5614416"/>
            <a:ext cx="822960" cy="731520"/>
          </a:xfrm>
          <a:prstGeom prst="rect">
            <a:avLst/>
          </a:prstGeom>
          <a:noFill/>
          <a:ln/>
        </p:spPr>
        <p:txBody>
          <a:bodyPr wrap="square" lIns="0" tIns="0" rIns="0" bIns="0" rtlCol="0" anchor="ctr"/>
          <a:lstStyle/>
          <a:p>
            <a:pPr indent="0" marL="0">
              <a:buNone/>
            </a:pPr>
            <a:r>
              <a:rPr lang="en-US" sz="3000" b="1" dirty="0">
                <a:solidFill>
                  <a:srgbClr val="E0DAD2"/>
                </a:solidFill>
                <a:latin typeface="Cambria" pitchFamily="34" charset="0"/>
                <a:ea typeface="Cambria" pitchFamily="34" charset="-122"/>
                <a:cs typeface="Cambria" pitchFamily="34" charset="-120"/>
              </a:rPr>
              <a:t>08</a:t>
            </a:r>
            <a:endParaRPr lang="en-US" sz="3000" dirty="0"/>
          </a:p>
        </p:txBody>
      </p:sp>
      <p:sp>
        <p:nvSpPr>
          <p:cNvPr id="41" name="Shape 32"/>
          <p:cNvSpPr/>
          <p:nvPr/>
        </p:nvSpPr>
        <p:spPr>
          <a:xfrm>
            <a:off x="7086600" y="5724144"/>
            <a:ext cx="502920" cy="502920"/>
          </a:xfrm>
          <a:prstGeom prst="ellipse">
            <a:avLst/>
          </a:prstGeom>
          <a:solidFill>
            <a:srgbClr val="E44D26"/>
          </a:solidFill>
          <a:ln/>
        </p:spPr>
      </p:sp>
      <p:pic>
        <p:nvPicPr>
          <p:cNvPr id="42" name="Image 7" descr="preencoded.png">    </p:cNvPr>
          <p:cNvPicPr>
            <a:picLocks noChangeAspect="1"/>
          </p:cNvPicPr>
          <p:nvPr/>
        </p:nvPicPr>
        <p:blipFill>
          <a:blip r:embed="rId8"/>
          <a:stretch>
            <a:fillRect/>
          </a:stretch>
        </p:blipFill>
        <p:spPr>
          <a:xfrm>
            <a:off x="7217359" y="5854903"/>
            <a:ext cx="241402" cy="241402"/>
          </a:xfrm>
          <a:prstGeom prst="rect">
            <a:avLst/>
          </a:prstGeom>
        </p:spPr>
      </p:pic>
      <p:sp>
        <p:nvSpPr>
          <p:cNvPr id="43" name="Text 33"/>
          <p:cNvSpPr txBox="1"/>
          <p:nvPr/>
        </p:nvSpPr>
        <p:spPr>
          <a:xfrm>
            <a:off x="7754112" y="5449824"/>
            <a:ext cx="3657600" cy="1051560"/>
          </a:xfrm>
          <a:prstGeom prst="rect">
            <a:avLst/>
          </a:prstGeom>
          <a:noFill/>
          <a:ln/>
        </p:spPr>
        <p:txBody>
          <a:bodyPr wrap="square" lIns="0" tIns="0" rIns="0" bIns="0" rtlCol="0" anchor="ctr"/>
          <a:lstStyle/>
          <a:p>
            <a:pPr indent="0" marL="0">
              <a:buNone/>
            </a:pPr>
            <a:r>
              <a:rPr lang="en-US" sz="1450" b="1" dirty="0">
                <a:solidFill>
                  <a:srgbClr val="2B2B2B"/>
                </a:solidFill>
                <a:latin typeface="Calibri" pitchFamily="34" charset="0"/>
                <a:ea typeface="Calibri" pitchFamily="34" charset="-122"/>
                <a:cs typeface="Calibri" pitchFamily="34" charset="-120"/>
              </a:rPr>
              <a:t>Studi Kasus &amp; Ringkasan</a:t>
            </a:r>
            <a:endParaRPr lang="en-US" sz="1450" dirty="0"/>
          </a:p>
        </p:txBody>
      </p:sp>
      <p:sp>
        <p:nvSpPr>
          <p:cNvPr id="44" name="Text 34"/>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45" name="Text 3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PENGENALAN</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Apa Itu HTML5?</a:t>
            </a:r>
            <a:endParaRPr lang="en-US" sz="3200" dirty="0"/>
          </a:p>
        </p:txBody>
      </p:sp>
      <p:sp>
        <p:nvSpPr>
          <p:cNvPr id="4" name="Text 2"/>
          <p:cNvSpPr txBox="1"/>
          <p:nvPr/>
        </p:nvSpPr>
        <p:spPr>
          <a:xfrm>
            <a:off x="548640" y="1600200"/>
            <a:ext cx="6309360" cy="1188720"/>
          </a:xfrm>
          <a:prstGeom prst="rect">
            <a:avLst/>
          </a:prstGeom>
          <a:noFill/>
          <a:ln/>
        </p:spPr>
        <p:txBody>
          <a:bodyPr wrap="square" lIns="0" tIns="0" rIns="0" bIns="0" rtlCol="0" anchor="ctr"/>
          <a:lstStyle/>
          <a:p>
            <a:pPr indent="0" marL="0">
              <a:lnSpc>
                <a:spcPct val="125000"/>
              </a:lnSpc>
              <a:buNone/>
            </a:pPr>
            <a:r>
              <a:rPr lang="en-US" sz="1500" b="1" dirty="0">
                <a:solidFill>
                  <a:srgbClr val="E44D26"/>
                </a:solidFill>
                <a:latin typeface="Calibri" pitchFamily="34" charset="0"/>
                <a:ea typeface="Calibri" pitchFamily="34" charset="-122"/>
                <a:cs typeface="Calibri" pitchFamily="34" charset="-120"/>
              </a:rPr>
              <a:t>HTML5 </a:t>
            </a:r>
            <a:pPr indent="0" marL="0">
              <a:lnSpc>
                <a:spcPct val="125000"/>
              </a:lnSpc>
              <a:buNone/>
            </a:pPr>
            <a:r>
              <a:rPr lang="en-US" sz="1500" dirty="0">
                <a:solidFill>
                  <a:srgbClr val="2B2B2B"/>
                </a:solidFill>
                <a:latin typeface="Calibri" pitchFamily="34" charset="0"/>
                <a:ea typeface="Calibri" pitchFamily="34" charset="-122"/>
                <a:cs typeface="Calibri" pitchFamily="34" charset="-120"/>
              </a:rPr>
              <a:t>adalah revisi kelima dari HyperText Markup Language, bahasa markah standar yang digunakan untuk menyusun dan menyajikan konten di World Wide Web.</a:t>
            </a:r>
            <a:endParaRPr lang="en-US" sz="1500" dirty="0"/>
          </a:p>
        </p:txBody>
      </p:sp>
      <p:sp>
        <p:nvSpPr>
          <p:cNvPr id="5" name="Text 3"/>
          <p:cNvSpPr txBox="1"/>
          <p:nvPr/>
        </p:nvSpPr>
        <p:spPr>
          <a:xfrm>
            <a:off x="548640" y="2788920"/>
            <a:ext cx="6309360" cy="1188720"/>
          </a:xfrm>
          <a:prstGeom prst="rect">
            <a:avLst/>
          </a:prstGeom>
          <a:noFill/>
          <a:ln/>
        </p:spPr>
        <p:txBody>
          <a:bodyPr wrap="square" lIns="0" tIns="0" rIns="0" bIns="0" rtlCol="0" anchor="ctr"/>
          <a:lstStyle/>
          <a:p>
            <a:pPr indent="0" marL="0">
              <a:lnSpc>
                <a:spcPct val="130000"/>
              </a:lnSpc>
              <a:buNone/>
            </a:pPr>
            <a:r>
              <a:rPr lang="en-US" sz="1350" dirty="0">
                <a:solidFill>
                  <a:srgbClr val="6B6B6B"/>
                </a:solidFill>
                <a:latin typeface="Calibri" pitchFamily="34" charset="0"/>
                <a:ea typeface="Calibri" pitchFamily="34" charset="-122"/>
                <a:cs typeface="Calibri" pitchFamily="34" charset="-120"/>
              </a:rPr>
              <a:t>HTML5 dikembangkan oleh World Wide Web Consortium (W3C) bersama WHATWG (Web Hypertext Application Technology Working Group), dirancang agar dapat dibaca oleh manusia dan diproses secara konsisten oleh berbagai perangkat serta browser.</a:t>
            </a:r>
            <a:endParaRPr lang="en-US" sz="1350" dirty="0"/>
          </a:p>
        </p:txBody>
      </p:sp>
      <p:sp>
        <p:nvSpPr>
          <p:cNvPr id="6" name="Shape 4"/>
          <p:cNvSpPr/>
          <p:nvPr/>
        </p:nvSpPr>
        <p:spPr>
          <a:xfrm>
            <a:off x="548640" y="4224528"/>
            <a:ext cx="91440" cy="91440"/>
          </a:xfrm>
          <a:prstGeom prst="ellipse">
            <a:avLst/>
          </a:prstGeom>
          <a:solidFill>
            <a:srgbClr val="E44D26"/>
          </a:solidFill>
          <a:ln/>
        </p:spPr>
      </p:sp>
      <p:sp>
        <p:nvSpPr>
          <p:cNvPr id="7" name="Text 5"/>
          <p:cNvSpPr txBox="1"/>
          <p:nvPr/>
        </p:nvSpPr>
        <p:spPr>
          <a:xfrm>
            <a:off x="777240" y="4078224"/>
            <a:ext cx="6035040" cy="36576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Menggabungkan HTML, CSS, dan JavaScript secara lebih erat</a:t>
            </a:r>
            <a:endParaRPr lang="en-US" sz="1250" dirty="0"/>
          </a:p>
        </p:txBody>
      </p:sp>
      <p:sp>
        <p:nvSpPr>
          <p:cNvPr id="8" name="Shape 6"/>
          <p:cNvSpPr/>
          <p:nvPr/>
        </p:nvSpPr>
        <p:spPr>
          <a:xfrm>
            <a:off x="548640" y="4626864"/>
            <a:ext cx="91440" cy="91440"/>
          </a:xfrm>
          <a:prstGeom prst="ellipse">
            <a:avLst/>
          </a:prstGeom>
          <a:solidFill>
            <a:srgbClr val="E44D26"/>
          </a:solidFill>
          <a:ln/>
        </p:spPr>
      </p:sp>
      <p:sp>
        <p:nvSpPr>
          <p:cNvPr id="9" name="Text 7"/>
          <p:cNvSpPr txBox="1"/>
          <p:nvPr/>
        </p:nvSpPr>
        <p:spPr>
          <a:xfrm>
            <a:off x="777240" y="4480560"/>
            <a:ext cx="6035040" cy="36576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Menghadirkan elemen semantik untuk struktur halaman yang bermakna</a:t>
            </a:r>
            <a:endParaRPr lang="en-US" sz="1250" dirty="0"/>
          </a:p>
        </p:txBody>
      </p:sp>
      <p:sp>
        <p:nvSpPr>
          <p:cNvPr id="10" name="Shape 8"/>
          <p:cNvSpPr/>
          <p:nvPr/>
        </p:nvSpPr>
        <p:spPr>
          <a:xfrm>
            <a:off x="548640" y="5029200"/>
            <a:ext cx="91440" cy="91440"/>
          </a:xfrm>
          <a:prstGeom prst="ellipse">
            <a:avLst/>
          </a:prstGeom>
          <a:solidFill>
            <a:srgbClr val="E44D26"/>
          </a:solidFill>
          <a:ln/>
        </p:spPr>
      </p:sp>
      <p:sp>
        <p:nvSpPr>
          <p:cNvPr id="11" name="Text 9"/>
          <p:cNvSpPr txBox="1"/>
          <p:nvPr/>
        </p:nvSpPr>
        <p:spPr>
          <a:xfrm>
            <a:off x="777240" y="4882896"/>
            <a:ext cx="6035040" cy="36576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Mendukung multimedia native tanpa plugin tambahan (Flash, dsb.)</a:t>
            </a:r>
            <a:endParaRPr lang="en-US" sz="1250" dirty="0"/>
          </a:p>
        </p:txBody>
      </p:sp>
      <p:sp>
        <p:nvSpPr>
          <p:cNvPr id="12" name="Shape 10"/>
          <p:cNvSpPr/>
          <p:nvPr/>
        </p:nvSpPr>
        <p:spPr>
          <a:xfrm>
            <a:off x="548640" y="5431536"/>
            <a:ext cx="91440" cy="91440"/>
          </a:xfrm>
          <a:prstGeom prst="ellipse">
            <a:avLst/>
          </a:prstGeom>
          <a:solidFill>
            <a:srgbClr val="E44D26"/>
          </a:solidFill>
          <a:ln/>
        </p:spPr>
      </p:sp>
      <p:sp>
        <p:nvSpPr>
          <p:cNvPr id="13" name="Text 11"/>
          <p:cNvSpPr txBox="1"/>
          <p:nvPr/>
        </p:nvSpPr>
        <p:spPr>
          <a:xfrm>
            <a:off x="777240" y="5285232"/>
            <a:ext cx="6035040" cy="36576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Dirancang untuk aplikasi web yang kompleks dan responsif</a:t>
            </a:r>
            <a:endParaRPr lang="en-US" sz="1250" dirty="0"/>
          </a:p>
        </p:txBody>
      </p:sp>
      <p:sp>
        <p:nvSpPr>
          <p:cNvPr id="14" name="Shape 12"/>
          <p:cNvSpPr/>
          <p:nvPr/>
        </p:nvSpPr>
        <p:spPr>
          <a:xfrm>
            <a:off x="7315200" y="1600200"/>
            <a:ext cx="4343400" cy="4572000"/>
          </a:xfrm>
          <a:prstGeom prst="rect">
            <a:avLst/>
          </a:prstGeom>
          <a:solidFill>
            <a:srgbClr val="1B1B1B"/>
          </a:solidFill>
          <a:ln/>
        </p:spPr>
      </p:sp>
      <p:sp>
        <p:nvSpPr>
          <p:cNvPr id="15" name="Shape 13"/>
          <p:cNvSpPr/>
          <p:nvPr/>
        </p:nvSpPr>
        <p:spPr>
          <a:xfrm>
            <a:off x="8389620" y="1965960"/>
            <a:ext cx="1005840" cy="1005840"/>
          </a:xfrm>
          <a:prstGeom prst="ellipse">
            <a:avLst/>
          </a:prstGeom>
          <a:solidFill>
            <a:srgbClr val="E44D26"/>
          </a:solidFill>
          <a:ln/>
        </p:spPr>
      </p:sp>
      <p:pic>
        <p:nvPicPr>
          <p:cNvPr id="16" name="Image 0" descr="preencoded.png">    </p:cNvPr>
          <p:cNvPicPr>
            <a:picLocks noChangeAspect="1"/>
          </p:cNvPicPr>
          <p:nvPr/>
        </p:nvPicPr>
        <p:blipFill>
          <a:blip r:embed="rId1"/>
          <a:stretch>
            <a:fillRect/>
          </a:stretch>
        </p:blipFill>
        <p:spPr>
          <a:xfrm>
            <a:off x="8651138" y="2227478"/>
            <a:ext cx="482803" cy="482803"/>
          </a:xfrm>
          <a:prstGeom prst="rect">
            <a:avLst/>
          </a:prstGeom>
        </p:spPr>
      </p:pic>
      <p:pic>
        <p:nvPicPr>
          <p:cNvPr id="17" name="Image 1" descr="preencoded.png">    </p:cNvPr>
          <p:cNvPicPr>
            <a:picLocks noChangeAspect="1"/>
          </p:cNvPicPr>
          <p:nvPr/>
        </p:nvPicPr>
        <p:blipFill>
          <a:blip r:embed="rId2"/>
          <a:stretch>
            <a:fillRect/>
          </a:stretch>
        </p:blipFill>
        <p:spPr>
          <a:xfrm>
            <a:off x="9578340" y="1965960"/>
            <a:ext cx="1005840" cy="1005840"/>
          </a:xfrm>
          <a:prstGeom prst="rect">
            <a:avLst/>
          </a:prstGeom>
        </p:spPr>
      </p:pic>
      <p:sp>
        <p:nvSpPr>
          <p:cNvPr id="18" name="Text 14"/>
          <p:cNvSpPr txBox="1"/>
          <p:nvPr/>
        </p:nvSpPr>
        <p:spPr>
          <a:xfrm>
            <a:off x="7589520" y="3154680"/>
            <a:ext cx="3794760" cy="365760"/>
          </a:xfrm>
          <a:prstGeom prst="rect">
            <a:avLst/>
          </a:prstGeom>
          <a:noFill/>
          <a:ln/>
        </p:spPr>
        <p:txBody>
          <a:bodyPr wrap="square" lIns="0" tIns="0" rIns="0" bIns="0" rtlCol="0" anchor="ctr"/>
          <a:lstStyle/>
          <a:p>
            <a:pPr algn="ctr" indent="0" marL="0">
              <a:buNone/>
            </a:pPr>
            <a:r>
              <a:rPr lang="en-US" sz="1200" b="1" dirty="0">
                <a:solidFill>
                  <a:srgbClr val="F16529"/>
                </a:solidFill>
                <a:latin typeface="Calibri" pitchFamily="34" charset="0"/>
                <a:ea typeface="Calibri" pitchFamily="34" charset="-122"/>
                <a:cs typeface="Calibri" pitchFamily="34" charset="-120"/>
              </a:rPr>
              <a:t>W3C Recommendation</a:t>
            </a:r>
            <a:endParaRPr lang="en-US" sz="1200" dirty="0"/>
          </a:p>
        </p:txBody>
      </p:sp>
      <p:sp>
        <p:nvSpPr>
          <p:cNvPr id="19" name="Text 15"/>
          <p:cNvSpPr txBox="1"/>
          <p:nvPr/>
        </p:nvSpPr>
        <p:spPr>
          <a:xfrm>
            <a:off x="7589520" y="3474720"/>
            <a:ext cx="379476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28 Oktober 2014</a:t>
            </a:r>
            <a:endParaRPr lang="en-US" sz="2400" dirty="0"/>
          </a:p>
        </p:txBody>
      </p:sp>
      <p:sp>
        <p:nvSpPr>
          <p:cNvPr id="20" name="Shape 16"/>
          <p:cNvSpPr/>
          <p:nvPr/>
        </p:nvSpPr>
        <p:spPr>
          <a:xfrm>
            <a:off x="8138160" y="4114800"/>
            <a:ext cx="2697480" cy="0"/>
          </a:xfrm>
          <a:prstGeom prst="line">
            <a:avLst/>
          </a:prstGeom>
          <a:noFill/>
          <a:ln w="12700">
            <a:solidFill>
              <a:srgbClr val="444444"/>
            </a:solidFill>
            <a:prstDash val="solid"/>
          </a:ln>
        </p:spPr>
      </p:sp>
      <p:sp>
        <p:nvSpPr>
          <p:cNvPr id="21" name="Text 17"/>
          <p:cNvSpPr txBox="1"/>
          <p:nvPr/>
        </p:nvSpPr>
        <p:spPr>
          <a:xfrm>
            <a:off x="7635240" y="4251960"/>
            <a:ext cx="3703320" cy="1737360"/>
          </a:xfrm>
          <a:prstGeom prst="rect">
            <a:avLst/>
          </a:prstGeom>
          <a:noFill/>
          <a:ln/>
        </p:spPr>
        <p:txBody>
          <a:bodyPr wrap="square" lIns="0" tIns="0" rIns="0" bIns="0" rtlCol="0" anchor="ctr"/>
          <a:lstStyle/>
          <a:p>
            <a:pPr algn="ctr" indent="0" marL="0">
              <a:lnSpc>
                <a:spcPct val="125000"/>
              </a:lnSpc>
              <a:buNone/>
            </a:pPr>
            <a:r>
              <a:rPr lang="en-US" sz="1100" dirty="0">
                <a:solidFill>
                  <a:srgbClr val="C9C9C9"/>
                </a:solidFill>
                <a:latin typeface="Calibri" pitchFamily="34" charset="0"/>
                <a:ea typeface="Calibri" pitchFamily="34" charset="-122"/>
                <a:cs typeface="Calibri" pitchFamily="34" charset="-120"/>
              </a:rPr>
              <a:t>Tanggal resmi HTML5 dinyatakan sebagai standar penuh oleh W3C, setelah bertahun-tahun pengembangan sejak 2004.</a:t>
            </a:r>
            <a:endParaRPr lang="en-US" sz="1100" dirty="0"/>
          </a:p>
        </p:txBody>
      </p:sp>
      <p:sp>
        <p:nvSpPr>
          <p:cNvPr id="22" name="Text 18"/>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23" name="Text 19"/>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LATAR BELAKANG</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Sejarah &amp; Evolusi HTML</a:t>
            </a:r>
            <a:endParaRPr lang="en-US" sz="3200" dirty="0"/>
          </a:p>
        </p:txBody>
      </p:sp>
      <p:sp>
        <p:nvSpPr>
          <p:cNvPr id="4" name="Shape 2"/>
          <p:cNvSpPr/>
          <p:nvPr/>
        </p:nvSpPr>
        <p:spPr>
          <a:xfrm>
            <a:off x="685800" y="3794760"/>
            <a:ext cx="10835640" cy="0"/>
          </a:xfrm>
          <a:prstGeom prst="line">
            <a:avLst/>
          </a:prstGeom>
          <a:noFill/>
          <a:ln w="25400">
            <a:solidFill>
              <a:srgbClr val="E5E2DD"/>
            </a:solidFill>
            <a:prstDash val="solid"/>
          </a:ln>
        </p:spPr>
      </p:sp>
      <p:sp>
        <p:nvSpPr>
          <p:cNvPr id="5" name="Shape 3"/>
          <p:cNvSpPr/>
          <p:nvPr/>
        </p:nvSpPr>
        <p:spPr>
          <a:xfrm>
            <a:off x="603504" y="3712464"/>
            <a:ext cx="164592" cy="164592"/>
          </a:xfrm>
          <a:prstGeom prst="ellipse">
            <a:avLst/>
          </a:prstGeom>
          <a:solidFill>
            <a:srgbClr val="E44D26"/>
          </a:solidFill>
          <a:ln w="25400">
            <a:solidFill>
              <a:srgbClr val="FFFFFF"/>
            </a:solidFill>
            <a:prstDash val="solid"/>
          </a:ln>
        </p:spPr>
      </p:sp>
      <p:sp>
        <p:nvSpPr>
          <p:cNvPr id="6" name="Shape 4"/>
          <p:cNvSpPr/>
          <p:nvPr/>
        </p:nvSpPr>
        <p:spPr>
          <a:xfrm>
            <a:off x="685800" y="3474720"/>
            <a:ext cx="0" cy="320040"/>
          </a:xfrm>
          <a:prstGeom prst="line">
            <a:avLst/>
          </a:prstGeom>
          <a:noFill/>
          <a:ln w="12700">
            <a:solidFill>
              <a:srgbClr val="E5E2DD"/>
            </a:solidFill>
            <a:prstDash val="solid"/>
          </a:ln>
        </p:spPr>
      </p:sp>
      <p:sp>
        <p:nvSpPr>
          <p:cNvPr id="7" name="Shape 5"/>
          <p:cNvSpPr/>
          <p:nvPr/>
        </p:nvSpPr>
        <p:spPr>
          <a:xfrm>
            <a:off x="457200" y="1783080"/>
            <a:ext cx="1828800" cy="1691640"/>
          </a:xfrm>
          <a:prstGeom prst="rect">
            <a:avLst/>
          </a:prstGeom>
          <a:solidFill>
            <a:srgbClr val="F7F6F4"/>
          </a:solidFill>
          <a:ln/>
          <a:effectLst>
            <a:outerShdw sx="100000" sy="100000" kx="0" ky="0" algn="bl" rotWithShape="0" blurRad="63500" dist="25400" dir="5400000">
              <a:srgbClr val="000000">
                <a:alpha val="8000"/>
              </a:srgbClr>
            </a:outerShdw>
          </a:effectLst>
        </p:spPr>
      </p:sp>
      <p:sp>
        <p:nvSpPr>
          <p:cNvPr id="8" name="Text 6"/>
          <p:cNvSpPr txBox="1"/>
          <p:nvPr/>
        </p:nvSpPr>
        <p:spPr>
          <a:xfrm>
            <a:off x="566928" y="1874520"/>
            <a:ext cx="1609344" cy="292608"/>
          </a:xfrm>
          <a:prstGeom prst="rect">
            <a:avLst/>
          </a:prstGeom>
          <a:noFill/>
          <a:ln/>
        </p:spPr>
        <p:txBody>
          <a:bodyPr wrap="square" lIns="0" tIns="0" rIns="0" bIns="0" rtlCol="0" anchor="ctr"/>
          <a:lstStyle/>
          <a:p>
            <a:pPr indent="0" marL="0">
              <a:buNone/>
            </a:pPr>
            <a:r>
              <a:rPr lang="en-US" sz="1500" b="1" dirty="0">
                <a:solidFill>
                  <a:srgbClr val="E44D26"/>
                </a:solidFill>
                <a:latin typeface="Cambria" pitchFamily="34" charset="0"/>
                <a:ea typeface="Cambria" pitchFamily="34" charset="-122"/>
                <a:cs typeface="Cambria" pitchFamily="34" charset="-120"/>
              </a:rPr>
              <a:t>1991</a:t>
            </a:r>
            <a:endParaRPr lang="en-US" sz="1500" dirty="0"/>
          </a:p>
        </p:txBody>
      </p:sp>
      <p:sp>
        <p:nvSpPr>
          <p:cNvPr id="9" name="Text 7"/>
          <p:cNvSpPr txBox="1"/>
          <p:nvPr/>
        </p:nvSpPr>
        <p:spPr>
          <a:xfrm>
            <a:off x="566928" y="2167128"/>
            <a:ext cx="1609344" cy="320040"/>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HTML Pertama</a:t>
            </a:r>
            <a:endParaRPr lang="en-US" sz="1050" dirty="0"/>
          </a:p>
        </p:txBody>
      </p:sp>
      <p:sp>
        <p:nvSpPr>
          <p:cNvPr id="10" name="Text 8"/>
          <p:cNvSpPr txBox="1"/>
          <p:nvPr/>
        </p:nvSpPr>
        <p:spPr>
          <a:xfrm>
            <a:off x="566928" y="2496312"/>
            <a:ext cx="1609344" cy="905256"/>
          </a:xfrm>
          <a:prstGeom prst="rect">
            <a:avLst/>
          </a:prstGeom>
          <a:noFill/>
          <a:ln/>
        </p:spPr>
        <p:txBody>
          <a:bodyPr wrap="square" lIns="0" tIns="0" rIns="0" bIns="0" rtlCol="0" anchor="ctr"/>
          <a:lstStyle/>
          <a:p>
            <a:pPr indent="0" marL="0">
              <a:lnSpc>
                <a:spcPct val="115000"/>
              </a:lnSpc>
              <a:buNone/>
            </a:pPr>
            <a:r>
              <a:rPr lang="en-US" sz="850" dirty="0">
                <a:solidFill>
                  <a:srgbClr val="6B6B6B"/>
                </a:solidFill>
                <a:latin typeface="Calibri" pitchFamily="34" charset="0"/>
                <a:ea typeface="Calibri" pitchFamily="34" charset="-122"/>
                <a:cs typeface="Calibri" pitchFamily="34" charset="-120"/>
              </a:rPr>
              <a:t>Tim Berners-Lee memperkenalkan HTML sebagai dokumen hyperteks sederhana di CERN.</a:t>
            </a:r>
            <a:endParaRPr lang="en-US" sz="850" dirty="0"/>
          </a:p>
        </p:txBody>
      </p:sp>
      <p:sp>
        <p:nvSpPr>
          <p:cNvPr id="11" name="Shape 9"/>
          <p:cNvSpPr/>
          <p:nvPr/>
        </p:nvSpPr>
        <p:spPr>
          <a:xfrm>
            <a:off x="2770632" y="3712464"/>
            <a:ext cx="164592" cy="164592"/>
          </a:xfrm>
          <a:prstGeom prst="ellipse">
            <a:avLst/>
          </a:prstGeom>
          <a:solidFill>
            <a:srgbClr val="E44D26"/>
          </a:solidFill>
          <a:ln w="25400">
            <a:solidFill>
              <a:srgbClr val="FFFFFF"/>
            </a:solidFill>
            <a:prstDash val="solid"/>
          </a:ln>
        </p:spPr>
      </p:sp>
      <p:sp>
        <p:nvSpPr>
          <p:cNvPr id="12" name="Shape 10"/>
          <p:cNvSpPr/>
          <p:nvPr/>
        </p:nvSpPr>
        <p:spPr>
          <a:xfrm>
            <a:off x="2852928" y="3794760"/>
            <a:ext cx="0" cy="320040"/>
          </a:xfrm>
          <a:prstGeom prst="line">
            <a:avLst/>
          </a:prstGeom>
          <a:noFill/>
          <a:ln w="12700">
            <a:solidFill>
              <a:srgbClr val="E5E2DD"/>
            </a:solidFill>
            <a:prstDash val="solid"/>
          </a:ln>
        </p:spPr>
      </p:sp>
      <p:sp>
        <p:nvSpPr>
          <p:cNvPr id="13" name="Shape 11"/>
          <p:cNvSpPr/>
          <p:nvPr/>
        </p:nvSpPr>
        <p:spPr>
          <a:xfrm>
            <a:off x="1938528" y="4114800"/>
            <a:ext cx="1828800" cy="1691640"/>
          </a:xfrm>
          <a:prstGeom prst="rect">
            <a:avLst/>
          </a:prstGeom>
          <a:solidFill>
            <a:srgbClr val="F7F6F4"/>
          </a:solidFill>
          <a:ln/>
          <a:effectLst>
            <a:outerShdw sx="100000" sy="100000" kx="0" ky="0" algn="bl" rotWithShape="0" blurRad="63500" dist="25400" dir="5400000">
              <a:srgbClr val="000000">
                <a:alpha val="8000"/>
              </a:srgbClr>
            </a:outerShdw>
          </a:effectLst>
        </p:spPr>
      </p:sp>
      <p:sp>
        <p:nvSpPr>
          <p:cNvPr id="14" name="Text 12"/>
          <p:cNvSpPr txBox="1"/>
          <p:nvPr/>
        </p:nvSpPr>
        <p:spPr>
          <a:xfrm>
            <a:off x="2048256" y="4206240"/>
            <a:ext cx="1609344" cy="292608"/>
          </a:xfrm>
          <a:prstGeom prst="rect">
            <a:avLst/>
          </a:prstGeom>
          <a:noFill/>
          <a:ln/>
        </p:spPr>
        <p:txBody>
          <a:bodyPr wrap="square" lIns="0" tIns="0" rIns="0" bIns="0" rtlCol="0" anchor="ctr"/>
          <a:lstStyle/>
          <a:p>
            <a:pPr indent="0" marL="0">
              <a:buNone/>
            </a:pPr>
            <a:r>
              <a:rPr lang="en-US" sz="1500" b="1" dirty="0">
                <a:solidFill>
                  <a:srgbClr val="E44D26"/>
                </a:solidFill>
                <a:latin typeface="Cambria" pitchFamily="34" charset="0"/>
                <a:ea typeface="Cambria" pitchFamily="34" charset="-122"/>
                <a:cs typeface="Cambria" pitchFamily="34" charset="-120"/>
              </a:rPr>
              <a:t>1997</a:t>
            </a:r>
            <a:endParaRPr lang="en-US" sz="1500" dirty="0"/>
          </a:p>
        </p:txBody>
      </p:sp>
      <p:sp>
        <p:nvSpPr>
          <p:cNvPr id="15" name="Text 13"/>
          <p:cNvSpPr txBox="1"/>
          <p:nvPr/>
        </p:nvSpPr>
        <p:spPr>
          <a:xfrm>
            <a:off x="2048256" y="4498848"/>
            <a:ext cx="1609344" cy="320040"/>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HTML 3.2 &amp; 4.0</a:t>
            </a:r>
            <a:endParaRPr lang="en-US" sz="1050" dirty="0"/>
          </a:p>
        </p:txBody>
      </p:sp>
      <p:sp>
        <p:nvSpPr>
          <p:cNvPr id="16" name="Text 14"/>
          <p:cNvSpPr txBox="1"/>
          <p:nvPr/>
        </p:nvSpPr>
        <p:spPr>
          <a:xfrm>
            <a:off x="2048256" y="4828032"/>
            <a:ext cx="1609344" cy="905256"/>
          </a:xfrm>
          <a:prstGeom prst="rect">
            <a:avLst/>
          </a:prstGeom>
          <a:noFill/>
          <a:ln/>
        </p:spPr>
        <p:txBody>
          <a:bodyPr wrap="square" lIns="0" tIns="0" rIns="0" bIns="0" rtlCol="0" anchor="ctr"/>
          <a:lstStyle/>
          <a:p>
            <a:pPr indent="0" marL="0">
              <a:lnSpc>
                <a:spcPct val="115000"/>
              </a:lnSpc>
              <a:buNone/>
            </a:pPr>
            <a:r>
              <a:rPr lang="en-US" sz="850" dirty="0">
                <a:solidFill>
                  <a:srgbClr val="6B6B6B"/>
                </a:solidFill>
                <a:latin typeface="Calibri" pitchFamily="34" charset="0"/>
                <a:ea typeface="Calibri" pitchFamily="34" charset="-122"/>
                <a:cs typeface="Calibri" pitchFamily="34" charset="-120"/>
              </a:rPr>
              <a:t>W3C merilis HTML 4.0, menambahkan dukungan style sheet (CSS) &amp; scripting.</a:t>
            </a:r>
            <a:endParaRPr lang="en-US" sz="850" dirty="0"/>
          </a:p>
        </p:txBody>
      </p:sp>
      <p:sp>
        <p:nvSpPr>
          <p:cNvPr id="17" name="Shape 15"/>
          <p:cNvSpPr/>
          <p:nvPr/>
        </p:nvSpPr>
        <p:spPr>
          <a:xfrm>
            <a:off x="4937760" y="3712464"/>
            <a:ext cx="164592" cy="164592"/>
          </a:xfrm>
          <a:prstGeom prst="ellipse">
            <a:avLst/>
          </a:prstGeom>
          <a:solidFill>
            <a:srgbClr val="E44D26"/>
          </a:solidFill>
          <a:ln w="25400">
            <a:solidFill>
              <a:srgbClr val="FFFFFF"/>
            </a:solidFill>
            <a:prstDash val="solid"/>
          </a:ln>
        </p:spPr>
      </p:sp>
      <p:sp>
        <p:nvSpPr>
          <p:cNvPr id="18" name="Shape 16"/>
          <p:cNvSpPr/>
          <p:nvPr/>
        </p:nvSpPr>
        <p:spPr>
          <a:xfrm>
            <a:off x="5020056" y="3474720"/>
            <a:ext cx="0" cy="320040"/>
          </a:xfrm>
          <a:prstGeom prst="line">
            <a:avLst/>
          </a:prstGeom>
          <a:noFill/>
          <a:ln w="12700">
            <a:solidFill>
              <a:srgbClr val="E5E2DD"/>
            </a:solidFill>
            <a:prstDash val="solid"/>
          </a:ln>
        </p:spPr>
      </p:sp>
      <p:sp>
        <p:nvSpPr>
          <p:cNvPr id="19" name="Shape 17"/>
          <p:cNvSpPr/>
          <p:nvPr/>
        </p:nvSpPr>
        <p:spPr>
          <a:xfrm>
            <a:off x="4105656" y="1783080"/>
            <a:ext cx="1828800" cy="1691640"/>
          </a:xfrm>
          <a:prstGeom prst="rect">
            <a:avLst/>
          </a:prstGeom>
          <a:solidFill>
            <a:srgbClr val="F7F6F4"/>
          </a:solidFill>
          <a:ln/>
          <a:effectLst>
            <a:outerShdw sx="100000" sy="100000" kx="0" ky="0" algn="bl" rotWithShape="0" blurRad="63500" dist="25400" dir="5400000">
              <a:srgbClr val="000000">
                <a:alpha val="8000"/>
              </a:srgbClr>
            </a:outerShdw>
          </a:effectLst>
        </p:spPr>
      </p:sp>
      <p:sp>
        <p:nvSpPr>
          <p:cNvPr id="20" name="Text 18"/>
          <p:cNvSpPr txBox="1"/>
          <p:nvPr/>
        </p:nvSpPr>
        <p:spPr>
          <a:xfrm>
            <a:off x="4215384" y="1874520"/>
            <a:ext cx="1609344" cy="292608"/>
          </a:xfrm>
          <a:prstGeom prst="rect">
            <a:avLst/>
          </a:prstGeom>
          <a:noFill/>
          <a:ln/>
        </p:spPr>
        <p:txBody>
          <a:bodyPr wrap="square" lIns="0" tIns="0" rIns="0" bIns="0" rtlCol="0" anchor="ctr"/>
          <a:lstStyle/>
          <a:p>
            <a:pPr indent="0" marL="0">
              <a:buNone/>
            </a:pPr>
            <a:r>
              <a:rPr lang="en-US" sz="1500" b="1" dirty="0">
                <a:solidFill>
                  <a:srgbClr val="E44D26"/>
                </a:solidFill>
                <a:latin typeface="Cambria" pitchFamily="34" charset="0"/>
                <a:ea typeface="Cambria" pitchFamily="34" charset="-122"/>
                <a:cs typeface="Cambria" pitchFamily="34" charset="-120"/>
              </a:rPr>
              <a:t>2004</a:t>
            </a:r>
            <a:endParaRPr lang="en-US" sz="1500" dirty="0"/>
          </a:p>
        </p:txBody>
      </p:sp>
      <p:sp>
        <p:nvSpPr>
          <p:cNvPr id="21" name="Text 19"/>
          <p:cNvSpPr txBox="1"/>
          <p:nvPr/>
        </p:nvSpPr>
        <p:spPr>
          <a:xfrm>
            <a:off x="4215384" y="2167128"/>
            <a:ext cx="1609344" cy="320040"/>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Lahirnya WHATWG</a:t>
            </a:r>
            <a:endParaRPr lang="en-US" sz="1050" dirty="0"/>
          </a:p>
        </p:txBody>
      </p:sp>
      <p:sp>
        <p:nvSpPr>
          <p:cNvPr id="22" name="Text 20"/>
          <p:cNvSpPr txBox="1"/>
          <p:nvPr/>
        </p:nvSpPr>
        <p:spPr>
          <a:xfrm>
            <a:off x="4215384" y="2496312"/>
            <a:ext cx="1609344" cy="905256"/>
          </a:xfrm>
          <a:prstGeom prst="rect">
            <a:avLst/>
          </a:prstGeom>
          <a:noFill/>
          <a:ln/>
        </p:spPr>
        <p:txBody>
          <a:bodyPr wrap="square" lIns="0" tIns="0" rIns="0" bIns="0" rtlCol="0" anchor="ctr"/>
          <a:lstStyle/>
          <a:p>
            <a:pPr indent="0" marL="0">
              <a:lnSpc>
                <a:spcPct val="115000"/>
              </a:lnSpc>
              <a:buNone/>
            </a:pPr>
            <a:r>
              <a:rPr lang="en-US" sz="850" dirty="0">
                <a:solidFill>
                  <a:srgbClr val="6B6B6B"/>
                </a:solidFill>
                <a:latin typeface="Calibri" pitchFamily="34" charset="0"/>
                <a:ea typeface="Calibri" pitchFamily="34" charset="-122"/>
                <a:cs typeface="Calibri" pitchFamily="34" charset="-120"/>
              </a:rPr>
              <a:t>Sekelompok vendor browser membentuk WHATWG untuk mengembangkan Web Applications 1.0.</a:t>
            </a:r>
            <a:endParaRPr lang="en-US" sz="850" dirty="0"/>
          </a:p>
        </p:txBody>
      </p:sp>
      <p:sp>
        <p:nvSpPr>
          <p:cNvPr id="23" name="Shape 21"/>
          <p:cNvSpPr/>
          <p:nvPr/>
        </p:nvSpPr>
        <p:spPr>
          <a:xfrm>
            <a:off x="7104888" y="3712464"/>
            <a:ext cx="164592" cy="164592"/>
          </a:xfrm>
          <a:prstGeom prst="ellipse">
            <a:avLst/>
          </a:prstGeom>
          <a:solidFill>
            <a:srgbClr val="E44D26"/>
          </a:solidFill>
          <a:ln w="25400">
            <a:solidFill>
              <a:srgbClr val="FFFFFF"/>
            </a:solidFill>
            <a:prstDash val="solid"/>
          </a:ln>
        </p:spPr>
      </p:sp>
      <p:sp>
        <p:nvSpPr>
          <p:cNvPr id="24" name="Shape 22"/>
          <p:cNvSpPr/>
          <p:nvPr/>
        </p:nvSpPr>
        <p:spPr>
          <a:xfrm>
            <a:off x="7187184" y="3794760"/>
            <a:ext cx="0" cy="320040"/>
          </a:xfrm>
          <a:prstGeom prst="line">
            <a:avLst/>
          </a:prstGeom>
          <a:noFill/>
          <a:ln w="12700">
            <a:solidFill>
              <a:srgbClr val="E5E2DD"/>
            </a:solidFill>
            <a:prstDash val="solid"/>
          </a:ln>
        </p:spPr>
      </p:sp>
      <p:sp>
        <p:nvSpPr>
          <p:cNvPr id="25" name="Shape 23"/>
          <p:cNvSpPr/>
          <p:nvPr/>
        </p:nvSpPr>
        <p:spPr>
          <a:xfrm>
            <a:off x="6272784" y="4114800"/>
            <a:ext cx="1828800" cy="1691640"/>
          </a:xfrm>
          <a:prstGeom prst="rect">
            <a:avLst/>
          </a:prstGeom>
          <a:solidFill>
            <a:srgbClr val="F7F6F4"/>
          </a:solidFill>
          <a:ln/>
          <a:effectLst>
            <a:outerShdw sx="100000" sy="100000" kx="0" ky="0" algn="bl" rotWithShape="0" blurRad="63500" dist="25400" dir="5400000">
              <a:srgbClr val="000000">
                <a:alpha val="8000"/>
              </a:srgbClr>
            </a:outerShdw>
          </a:effectLst>
        </p:spPr>
      </p:sp>
      <p:sp>
        <p:nvSpPr>
          <p:cNvPr id="26" name="Text 24"/>
          <p:cNvSpPr txBox="1"/>
          <p:nvPr/>
        </p:nvSpPr>
        <p:spPr>
          <a:xfrm>
            <a:off x="6382512" y="4206240"/>
            <a:ext cx="1609344" cy="292608"/>
          </a:xfrm>
          <a:prstGeom prst="rect">
            <a:avLst/>
          </a:prstGeom>
          <a:noFill/>
          <a:ln/>
        </p:spPr>
        <p:txBody>
          <a:bodyPr wrap="square" lIns="0" tIns="0" rIns="0" bIns="0" rtlCol="0" anchor="ctr"/>
          <a:lstStyle/>
          <a:p>
            <a:pPr indent="0" marL="0">
              <a:buNone/>
            </a:pPr>
            <a:r>
              <a:rPr lang="en-US" sz="1500" b="1" dirty="0">
                <a:solidFill>
                  <a:srgbClr val="E44D26"/>
                </a:solidFill>
                <a:latin typeface="Cambria" pitchFamily="34" charset="0"/>
                <a:ea typeface="Cambria" pitchFamily="34" charset="-122"/>
                <a:cs typeface="Cambria" pitchFamily="34" charset="-120"/>
              </a:rPr>
              <a:t>2008</a:t>
            </a:r>
            <a:endParaRPr lang="en-US" sz="1500" dirty="0"/>
          </a:p>
        </p:txBody>
      </p:sp>
      <p:sp>
        <p:nvSpPr>
          <p:cNvPr id="27" name="Text 25"/>
          <p:cNvSpPr txBox="1"/>
          <p:nvPr/>
        </p:nvSpPr>
        <p:spPr>
          <a:xfrm>
            <a:off x="6382512" y="4498848"/>
            <a:ext cx="1609344" cy="320040"/>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Draft Publik HTML5</a:t>
            </a:r>
            <a:endParaRPr lang="en-US" sz="1050" dirty="0"/>
          </a:p>
        </p:txBody>
      </p:sp>
      <p:sp>
        <p:nvSpPr>
          <p:cNvPr id="28" name="Text 26"/>
          <p:cNvSpPr txBox="1"/>
          <p:nvPr/>
        </p:nvSpPr>
        <p:spPr>
          <a:xfrm>
            <a:off x="6382512" y="4828032"/>
            <a:ext cx="1609344" cy="905256"/>
          </a:xfrm>
          <a:prstGeom prst="rect">
            <a:avLst/>
          </a:prstGeom>
          <a:noFill/>
          <a:ln/>
        </p:spPr>
        <p:txBody>
          <a:bodyPr wrap="square" lIns="0" tIns="0" rIns="0" bIns="0" rtlCol="0" anchor="ctr"/>
          <a:lstStyle/>
          <a:p>
            <a:pPr indent="0" marL="0">
              <a:lnSpc>
                <a:spcPct val="115000"/>
              </a:lnSpc>
              <a:buNone/>
            </a:pPr>
            <a:r>
              <a:rPr lang="en-US" sz="850" dirty="0">
                <a:solidFill>
                  <a:srgbClr val="6B6B6B"/>
                </a:solidFill>
                <a:latin typeface="Calibri" pitchFamily="34" charset="0"/>
                <a:ea typeface="Calibri" pitchFamily="34" charset="-122"/>
                <a:cs typeface="Calibri" pitchFamily="34" charset="-120"/>
              </a:rPr>
              <a:t>W3C mempublikasikan working draft pertama HTML5 kepada publik.</a:t>
            </a:r>
            <a:endParaRPr lang="en-US" sz="850" dirty="0"/>
          </a:p>
        </p:txBody>
      </p:sp>
      <p:sp>
        <p:nvSpPr>
          <p:cNvPr id="29" name="Shape 27"/>
          <p:cNvSpPr/>
          <p:nvPr/>
        </p:nvSpPr>
        <p:spPr>
          <a:xfrm>
            <a:off x="9272016" y="3712464"/>
            <a:ext cx="164592" cy="164592"/>
          </a:xfrm>
          <a:prstGeom prst="ellipse">
            <a:avLst/>
          </a:prstGeom>
          <a:solidFill>
            <a:srgbClr val="E44D26"/>
          </a:solidFill>
          <a:ln w="25400">
            <a:solidFill>
              <a:srgbClr val="FFFFFF"/>
            </a:solidFill>
            <a:prstDash val="solid"/>
          </a:ln>
        </p:spPr>
      </p:sp>
      <p:sp>
        <p:nvSpPr>
          <p:cNvPr id="30" name="Shape 28"/>
          <p:cNvSpPr/>
          <p:nvPr/>
        </p:nvSpPr>
        <p:spPr>
          <a:xfrm>
            <a:off x="9354312" y="3474720"/>
            <a:ext cx="0" cy="320040"/>
          </a:xfrm>
          <a:prstGeom prst="line">
            <a:avLst/>
          </a:prstGeom>
          <a:noFill/>
          <a:ln w="12700">
            <a:solidFill>
              <a:srgbClr val="E5E2DD"/>
            </a:solidFill>
            <a:prstDash val="solid"/>
          </a:ln>
        </p:spPr>
      </p:sp>
      <p:sp>
        <p:nvSpPr>
          <p:cNvPr id="31" name="Shape 29"/>
          <p:cNvSpPr/>
          <p:nvPr/>
        </p:nvSpPr>
        <p:spPr>
          <a:xfrm>
            <a:off x="8439912" y="1783080"/>
            <a:ext cx="1828800" cy="1691640"/>
          </a:xfrm>
          <a:prstGeom prst="rect">
            <a:avLst/>
          </a:prstGeom>
          <a:solidFill>
            <a:srgbClr val="F7F6F4"/>
          </a:solidFill>
          <a:ln/>
          <a:effectLst>
            <a:outerShdw sx="100000" sy="100000" kx="0" ky="0" algn="bl" rotWithShape="0" blurRad="63500" dist="25400" dir="5400000">
              <a:srgbClr val="000000">
                <a:alpha val="8000"/>
              </a:srgbClr>
            </a:outerShdw>
          </a:effectLst>
        </p:spPr>
      </p:sp>
      <p:sp>
        <p:nvSpPr>
          <p:cNvPr id="32" name="Text 30"/>
          <p:cNvSpPr txBox="1"/>
          <p:nvPr/>
        </p:nvSpPr>
        <p:spPr>
          <a:xfrm>
            <a:off x="8549640" y="1874520"/>
            <a:ext cx="1609344" cy="292608"/>
          </a:xfrm>
          <a:prstGeom prst="rect">
            <a:avLst/>
          </a:prstGeom>
          <a:noFill/>
          <a:ln/>
        </p:spPr>
        <p:txBody>
          <a:bodyPr wrap="square" lIns="0" tIns="0" rIns="0" bIns="0" rtlCol="0" anchor="ctr"/>
          <a:lstStyle/>
          <a:p>
            <a:pPr indent="0" marL="0">
              <a:buNone/>
            </a:pPr>
            <a:r>
              <a:rPr lang="en-US" sz="1500" b="1" dirty="0">
                <a:solidFill>
                  <a:srgbClr val="E44D26"/>
                </a:solidFill>
                <a:latin typeface="Cambria" pitchFamily="34" charset="0"/>
                <a:ea typeface="Cambria" pitchFamily="34" charset="-122"/>
                <a:cs typeface="Cambria" pitchFamily="34" charset="-120"/>
              </a:rPr>
              <a:t>2014</a:t>
            </a:r>
            <a:endParaRPr lang="en-US" sz="1500" dirty="0"/>
          </a:p>
        </p:txBody>
      </p:sp>
      <p:sp>
        <p:nvSpPr>
          <p:cNvPr id="33" name="Text 31"/>
          <p:cNvSpPr txBox="1"/>
          <p:nvPr/>
        </p:nvSpPr>
        <p:spPr>
          <a:xfrm>
            <a:off x="8549640" y="2167128"/>
            <a:ext cx="1609344" cy="320040"/>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HTML5 Rekomendasi Resmi</a:t>
            </a:r>
            <a:endParaRPr lang="en-US" sz="1050" dirty="0"/>
          </a:p>
        </p:txBody>
      </p:sp>
      <p:sp>
        <p:nvSpPr>
          <p:cNvPr id="34" name="Text 32"/>
          <p:cNvSpPr txBox="1"/>
          <p:nvPr/>
        </p:nvSpPr>
        <p:spPr>
          <a:xfrm>
            <a:off x="8549640" y="2496312"/>
            <a:ext cx="1609344" cy="905256"/>
          </a:xfrm>
          <a:prstGeom prst="rect">
            <a:avLst/>
          </a:prstGeom>
          <a:noFill/>
          <a:ln/>
        </p:spPr>
        <p:txBody>
          <a:bodyPr wrap="square" lIns="0" tIns="0" rIns="0" bIns="0" rtlCol="0" anchor="ctr"/>
          <a:lstStyle/>
          <a:p>
            <a:pPr indent="0" marL="0">
              <a:lnSpc>
                <a:spcPct val="115000"/>
              </a:lnSpc>
              <a:buNone/>
            </a:pPr>
            <a:r>
              <a:rPr lang="en-US" sz="850" dirty="0">
                <a:solidFill>
                  <a:srgbClr val="6B6B6B"/>
                </a:solidFill>
                <a:latin typeface="Calibri" pitchFamily="34" charset="0"/>
                <a:ea typeface="Calibri" pitchFamily="34" charset="-122"/>
                <a:cs typeface="Calibri" pitchFamily="34" charset="-120"/>
              </a:rPr>
              <a:t>W3C menetapkan HTML5 sebagai rekomendasi standar penuh (28 Oktober).</a:t>
            </a:r>
            <a:endParaRPr lang="en-US" sz="850" dirty="0"/>
          </a:p>
        </p:txBody>
      </p:sp>
      <p:sp>
        <p:nvSpPr>
          <p:cNvPr id="35" name="Shape 33"/>
          <p:cNvSpPr/>
          <p:nvPr/>
        </p:nvSpPr>
        <p:spPr>
          <a:xfrm>
            <a:off x="11439144" y="3712464"/>
            <a:ext cx="164592" cy="164592"/>
          </a:xfrm>
          <a:prstGeom prst="ellipse">
            <a:avLst/>
          </a:prstGeom>
          <a:solidFill>
            <a:srgbClr val="E44D26"/>
          </a:solidFill>
          <a:ln w="25400">
            <a:solidFill>
              <a:srgbClr val="FFFFFF"/>
            </a:solidFill>
            <a:prstDash val="solid"/>
          </a:ln>
        </p:spPr>
      </p:sp>
      <p:sp>
        <p:nvSpPr>
          <p:cNvPr id="36" name="Shape 34"/>
          <p:cNvSpPr/>
          <p:nvPr/>
        </p:nvSpPr>
        <p:spPr>
          <a:xfrm>
            <a:off x="11521440" y="3794760"/>
            <a:ext cx="0" cy="320040"/>
          </a:xfrm>
          <a:prstGeom prst="line">
            <a:avLst/>
          </a:prstGeom>
          <a:noFill/>
          <a:ln w="12700">
            <a:solidFill>
              <a:srgbClr val="E5E2DD"/>
            </a:solidFill>
            <a:prstDash val="solid"/>
          </a:ln>
        </p:spPr>
      </p:sp>
      <p:sp>
        <p:nvSpPr>
          <p:cNvPr id="37" name="Shape 35"/>
          <p:cNvSpPr/>
          <p:nvPr/>
        </p:nvSpPr>
        <p:spPr>
          <a:xfrm>
            <a:off x="9509760" y="4114800"/>
            <a:ext cx="1828800" cy="1691640"/>
          </a:xfrm>
          <a:prstGeom prst="rect">
            <a:avLst/>
          </a:prstGeom>
          <a:solidFill>
            <a:srgbClr val="F7F6F4"/>
          </a:solidFill>
          <a:ln/>
          <a:effectLst>
            <a:outerShdw sx="100000" sy="100000" kx="0" ky="0" algn="bl" rotWithShape="0" blurRad="63500" dist="25400" dir="5400000">
              <a:srgbClr val="000000">
                <a:alpha val="8000"/>
              </a:srgbClr>
            </a:outerShdw>
          </a:effectLst>
        </p:spPr>
      </p:sp>
      <p:sp>
        <p:nvSpPr>
          <p:cNvPr id="38" name="Text 36"/>
          <p:cNvSpPr txBox="1"/>
          <p:nvPr/>
        </p:nvSpPr>
        <p:spPr>
          <a:xfrm>
            <a:off x="9619488" y="4206240"/>
            <a:ext cx="1609344" cy="292608"/>
          </a:xfrm>
          <a:prstGeom prst="rect">
            <a:avLst/>
          </a:prstGeom>
          <a:noFill/>
          <a:ln/>
        </p:spPr>
        <p:txBody>
          <a:bodyPr wrap="square" lIns="0" tIns="0" rIns="0" bIns="0" rtlCol="0" anchor="ctr"/>
          <a:lstStyle/>
          <a:p>
            <a:pPr indent="0" marL="0">
              <a:buNone/>
            </a:pPr>
            <a:r>
              <a:rPr lang="en-US" sz="1500" b="1" dirty="0">
                <a:solidFill>
                  <a:srgbClr val="E44D26"/>
                </a:solidFill>
                <a:latin typeface="Cambria" pitchFamily="34" charset="0"/>
                <a:ea typeface="Cambria" pitchFamily="34" charset="-122"/>
                <a:cs typeface="Cambria" pitchFamily="34" charset="-120"/>
              </a:rPr>
              <a:t>2021</a:t>
            </a:r>
            <a:endParaRPr lang="en-US" sz="1500" dirty="0"/>
          </a:p>
        </p:txBody>
      </p:sp>
      <p:sp>
        <p:nvSpPr>
          <p:cNvPr id="39" name="Text 37"/>
          <p:cNvSpPr txBox="1"/>
          <p:nvPr/>
        </p:nvSpPr>
        <p:spPr>
          <a:xfrm>
            <a:off x="9619488" y="4498848"/>
            <a:ext cx="1609344" cy="320040"/>
          </a:xfrm>
          <a:prstGeom prst="rect">
            <a:avLst/>
          </a:prstGeom>
          <a:noFill/>
          <a:ln/>
        </p:spPr>
        <p:txBody>
          <a:bodyPr wrap="square" lIns="0" tIns="0" rIns="0" bIns="0" rtlCol="0" anchor="ctr"/>
          <a:lstStyle/>
          <a:p>
            <a:pPr indent="0" marL="0">
              <a:buNone/>
            </a:pPr>
            <a:r>
              <a:rPr lang="en-US" sz="1050" b="1" dirty="0">
                <a:solidFill>
                  <a:srgbClr val="2B2B2B"/>
                </a:solidFill>
                <a:latin typeface="Calibri" pitchFamily="34" charset="0"/>
                <a:ea typeface="Calibri" pitchFamily="34" charset="-122"/>
                <a:cs typeface="Calibri" pitchFamily="34" charset="-120"/>
              </a:rPr>
              <a:t>HTML Living Standard</a:t>
            </a:r>
            <a:endParaRPr lang="en-US" sz="1050" dirty="0"/>
          </a:p>
        </p:txBody>
      </p:sp>
      <p:sp>
        <p:nvSpPr>
          <p:cNvPr id="40" name="Text 38"/>
          <p:cNvSpPr txBox="1"/>
          <p:nvPr/>
        </p:nvSpPr>
        <p:spPr>
          <a:xfrm>
            <a:off x="9619488" y="4828032"/>
            <a:ext cx="1609344" cy="905256"/>
          </a:xfrm>
          <a:prstGeom prst="rect">
            <a:avLst/>
          </a:prstGeom>
          <a:noFill/>
          <a:ln/>
        </p:spPr>
        <p:txBody>
          <a:bodyPr wrap="square" lIns="0" tIns="0" rIns="0" bIns="0" rtlCol="0" anchor="ctr"/>
          <a:lstStyle/>
          <a:p>
            <a:pPr indent="0" marL="0">
              <a:lnSpc>
                <a:spcPct val="115000"/>
              </a:lnSpc>
              <a:buNone/>
            </a:pPr>
            <a:r>
              <a:rPr lang="en-US" sz="850" dirty="0">
                <a:solidFill>
                  <a:srgbClr val="6B6B6B"/>
                </a:solidFill>
                <a:latin typeface="Calibri" pitchFamily="34" charset="0"/>
                <a:ea typeface="Calibri" pitchFamily="34" charset="-122"/>
                <a:cs typeface="Calibri" pitchFamily="34" charset="-120"/>
              </a:rPr>
              <a:t>WHATWG menetapkan HTML sebagai "Living Standard" yang terus diperbarui.</a:t>
            </a:r>
            <a:endParaRPr lang="en-US" sz="850" dirty="0"/>
          </a:p>
        </p:txBody>
      </p:sp>
      <p:sp>
        <p:nvSpPr>
          <p:cNvPr id="41" name="Text 39"/>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42" name="Text 40"/>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PERBANDINGAN</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Mengapa Beralih ke HTML5?</a:t>
            </a:r>
            <a:endParaRPr lang="en-US" sz="3200" dirty="0"/>
          </a:p>
        </p:txBody>
      </p:sp>
      <p:sp>
        <p:nvSpPr>
          <p:cNvPr id="4" name="Shape 2"/>
          <p:cNvSpPr/>
          <p:nvPr/>
        </p:nvSpPr>
        <p:spPr>
          <a:xfrm>
            <a:off x="548640" y="1600200"/>
            <a:ext cx="3383280" cy="502920"/>
          </a:xfrm>
          <a:prstGeom prst="rect">
            <a:avLst/>
          </a:prstGeom>
          <a:solidFill>
            <a:srgbClr val="F7F6F4"/>
          </a:solidFill>
          <a:ln/>
        </p:spPr>
      </p:sp>
      <p:sp>
        <p:nvSpPr>
          <p:cNvPr id="5" name="Text 3"/>
          <p:cNvSpPr txBox="1"/>
          <p:nvPr/>
        </p:nvSpPr>
        <p:spPr>
          <a:xfrm>
            <a:off x="685800" y="1600200"/>
            <a:ext cx="3108960" cy="5029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Aspek</a:t>
            </a:r>
            <a:endParaRPr lang="en-US" sz="1300" dirty="0"/>
          </a:p>
        </p:txBody>
      </p:sp>
      <p:sp>
        <p:nvSpPr>
          <p:cNvPr id="6" name="Shape 4"/>
          <p:cNvSpPr/>
          <p:nvPr/>
        </p:nvSpPr>
        <p:spPr>
          <a:xfrm>
            <a:off x="4114800" y="1600200"/>
            <a:ext cx="3611880" cy="502920"/>
          </a:xfrm>
          <a:prstGeom prst="rect">
            <a:avLst/>
          </a:prstGeom>
          <a:solidFill>
            <a:srgbClr val="EFE3DD"/>
          </a:solidFill>
          <a:ln/>
        </p:spPr>
      </p:sp>
      <p:sp>
        <p:nvSpPr>
          <p:cNvPr id="7" name="Text 5"/>
          <p:cNvSpPr txBox="1"/>
          <p:nvPr/>
        </p:nvSpPr>
        <p:spPr>
          <a:xfrm>
            <a:off x="4251960" y="1600200"/>
            <a:ext cx="3337560" cy="502920"/>
          </a:xfrm>
          <a:prstGeom prst="rect">
            <a:avLst/>
          </a:prstGeom>
          <a:noFill/>
          <a:ln/>
        </p:spPr>
        <p:txBody>
          <a:bodyPr wrap="square" lIns="0" tIns="0" rIns="0" bIns="0" rtlCol="0" anchor="ctr"/>
          <a:lstStyle/>
          <a:p>
            <a:pPr indent="0" marL="0">
              <a:buNone/>
            </a:pPr>
            <a:r>
              <a:rPr lang="en-US" sz="1300" b="1" dirty="0">
                <a:solidFill>
                  <a:srgbClr val="8A4A2E"/>
                </a:solidFill>
                <a:latin typeface="Calibri" pitchFamily="34" charset="0"/>
                <a:ea typeface="Calibri" pitchFamily="34" charset="-122"/>
                <a:cs typeface="Calibri" pitchFamily="34" charset="-120"/>
              </a:rPr>
              <a:t>HTML4</a:t>
            </a:r>
            <a:endParaRPr lang="en-US" sz="1300" dirty="0"/>
          </a:p>
        </p:txBody>
      </p:sp>
      <p:sp>
        <p:nvSpPr>
          <p:cNvPr id="8" name="Shape 6"/>
          <p:cNvSpPr/>
          <p:nvPr/>
        </p:nvSpPr>
        <p:spPr>
          <a:xfrm>
            <a:off x="7909560" y="1600200"/>
            <a:ext cx="3611880" cy="502920"/>
          </a:xfrm>
          <a:prstGeom prst="rect">
            <a:avLst/>
          </a:prstGeom>
          <a:solidFill>
            <a:srgbClr val="E44D26"/>
          </a:solidFill>
          <a:ln/>
        </p:spPr>
      </p:sp>
      <p:sp>
        <p:nvSpPr>
          <p:cNvPr id="9" name="Text 7"/>
          <p:cNvSpPr txBox="1"/>
          <p:nvPr/>
        </p:nvSpPr>
        <p:spPr>
          <a:xfrm>
            <a:off x="8046720" y="1600200"/>
            <a:ext cx="33375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HTML5</a:t>
            </a:r>
            <a:endParaRPr lang="en-US" sz="1300" dirty="0"/>
          </a:p>
        </p:txBody>
      </p:sp>
      <p:sp>
        <p:nvSpPr>
          <p:cNvPr id="10" name="Shape 8"/>
          <p:cNvSpPr/>
          <p:nvPr/>
        </p:nvSpPr>
        <p:spPr>
          <a:xfrm>
            <a:off x="548640" y="2103120"/>
            <a:ext cx="10607040" cy="603504"/>
          </a:xfrm>
          <a:prstGeom prst="rect">
            <a:avLst/>
          </a:prstGeom>
          <a:solidFill>
            <a:srgbClr val="FFFFFF"/>
          </a:solidFill>
          <a:ln/>
        </p:spPr>
      </p:sp>
      <p:sp>
        <p:nvSpPr>
          <p:cNvPr id="11" name="Text 9"/>
          <p:cNvSpPr txBox="1"/>
          <p:nvPr/>
        </p:nvSpPr>
        <p:spPr>
          <a:xfrm>
            <a:off x="685800" y="2103120"/>
            <a:ext cx="3108960" cy="603504"/>
          </a:xfrm>
          <a:prstGeom prst="rect">
            <a:avLst/>
          </a:prstGeom>
          <a:noFill/>
          <a:ln/>
        </p:spPr>
        <p:txBody>
          <a:bodyPr wrap="square" lIns="0" tIns="0" rIns="0" bIns="0" rtlCol="0" anchor="ctr"/>
          <a:lstStyle/>
          <a:p>
            <a:pPr indent="0" marL="0">
              <a:buNone/>
            </a:pPr>
            <a:r>
              <a:rPr lang="en-US" sz="1150" b="1" dirty="0">
                <a:solidFill>
                  <a:srgbClr val="2B2B2B"/>
                </a:solidFill>
                <a:latin typeface="Calibri" pitchFamily="34" charset="0"/>
                <a:ea typeface="Calibri" pitchFamily="34" charset="-122"/>
                <a:cs typeface="Calibri" pitchFamily="34" charset="-120"/>
              </a:rPr>
              <a:t>Elemen Struktur</a:t>
            </a:r>
            <a:endParaRPr lang="en-US" sz="1150" dirty="0"/>
          </a:p>
        </p:txBody>
      </p:sp>
      <p:sp>
        <p:nvSpPr>
          <p:cNvPr id="12" name="Text 10"/>
          <p:cNvSpPr txBox="1"/>
          <p:nvPr/>
        </p:nvSpPr>
        <p:spPr>
          <a:xfrm>
            <a:off x="4251960" y="2103120"/>
            <a:ext cx="3337560" cy="603504"/>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Hanya &lt;div&gt; generik, tanpa makna semantik</a:t>
            </a:r>
            <a:endParaRPr lang="en-US" sz="1050" dirty="0"/>
          </a:p>
        </p:txBody>
      </p:sp>
      <p:sp>
        <p:nvSpPr>
          <p:cNvPr id="13" name="Text 11"/>
          <p:cNvSpPr txBox="1"/>
          <p:nvPr/>
        </p:nvSpPr>
        <p:spPr>
          <a:xfrm>
            <a:off x="8046720" y="2103120"/>
            <a:ext cx="3337560" cy="60350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Elemen semantik: &lt;header&gt;, &lt;nav&gt;, &lt;article&gt;, dst.</a:t>
            </a:r>
            <a:endParaRPr lang="en-US" sz="1050" dirty="0"/>
          </a:p>
        </p:txBody>
      </p:sp>
      <p:sp>
        <p:nvSpPr>
          <p:cNvPr id="14" name="Shape 12"/>
          <p:cNvSpPr/>
          <p:nvPr/>
        </p:nvSpPr>
        <p:spPr>
          <a:xfrm>
            <a:off x="548640" y="2706624"/>
            <a:ext cx="10607040" cy="603504"/>
          </a:xfrm>
          <a:prstGeom prst="rect">
            <a:avLst/>
          </a:prstGeom>
          <a:solidFill>
            <a:srgbClr val="F7F6F4"/>
          </a:solidFill>
          <a:ln/>
        </p:spPr>
      </p:sp>
      <p:sp>
        <p:nvSpPr>
          <p:cNvPr id="15" name="Text 13"/>
          <p:cNvSpPr txBox="1"/>
          <p:nvPr/>
        </p:nvSpPr>
        <p:spPr>
          <a:xfrm>
            <a:off x="685800" y="2706624"/>
            <a:ext cx="3108960" cy="603504"/>
          </a:xfrm>
          <a:prstGeom prst="rect">
            <a:avLst/>
          </a:prstGeom>
          <a:noFill/>
          <a:ln/>
        </p:spPr>
        <p:txBody>
          <a:bodyPr wrap="square" lIns="0" tIns="0" rIns="0" bIns="0" rtlCol="0" anchor="ctr"/>
          <a:lstStyle/>
          <a:p>
            <a:pPr indent="0" marL="0">
              <a:buNone/>
            </a:pPr>
            <a:r>
              <a:rPr lang="en-US" sz="1150" b="1" dirty="0">
                <a:solidFill>
                  <a:srgbClr val="2B2B2B"/>
                </a:solidFill>
                <a:latin typeface="Calibri" pitchFamily="34" charset="0"/>
                <a:ea typeface="Calibri" pitchFamily="34" charset="-122"/>
                <a:cs typeface="Calibri" pitchFamily="34" charset="-120"/>
              </a:rPr>
              <a:t>Multimedia</a:t>
            </a:r>
            <a:endParaRPr lang="en-US" sz="1150" dirty="0"/>
          </a:p>
        </p:txBody>
      </p:sp>
      <p:sp>
        <p:nvSpPr>
          <p:cNvPr id="16" name="Text 14"/>
          <p:cNvSpPr txBox="1"/>
          <p:nvPr/>
        </p:nvSpPr>
        <p:spPr>
          <a:xfrm>
            <a:off x="4251960" y="2706624"/>
            <a:ext cx="3337560" cy="603504"/>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Membutuhkan plugin eksternal (Flash, Silverlight)</a:t>
            </a:r>
            <a:endParaRPr lang="en-US" sz="1050" dirty="0"/>
          </a:p>
        </p:txBody>
      </p:sp>
      <p:sp>
        <p:nvSpPr>
          <p:cNvPr id="17" name="Text 15"/>
          <p:cNvSpPr txBox="1"/>
          <p:nvPr/>
        </p:nvSpPr>
        <p:spPr>
          <a:xfrm>
            <a:off x="8046720" y="2706624"/>
            <a:ext cx="3337560" cy="60350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Dukungan native &lt;audio&gt; &amp; &lt;video&gt; tanpa plugin</a:t>
            </a:r>
            <a:endParaRPr lang="en-US" sz="1050" dirty="0"/>
          </a:p>
        </p:txBody>
      </p:sp>
      <p:sp>
        <p:nvSpPr>
          <p:cNvPr id="18" name="Shape 16"/>
          <p:cNvSpPr/>
          <p:nvPr/>
        </p:nvSpPr>
        <p:spPr>
          <a:xfrm>
            <a:off x="548640" y="3310128"/>
            <a:ext cx="10607040" cy="603504"/>
          </a:xfrm>
          <a:prstGeom prst="rect">
            <a:avLst/>
          </a:prstGeom>
          <a:solidFill>
            <a:srgbClr val="FFFFFF"/>
          </a:solidFill>
          <a:ln/>
        </p:spPr>
      </p:sp>
      <p:sp>
        <p:nvSpPr>
          <p:cNvPr id="19" name="Text 17"/>
          <p:cNvSpPr txBox="1"/>
          <p:nvPr/>
        </p:nvSpPr>
        <p:spPr>
          <a:xfrm>
            <a:off x="685800" y="3310128"/>
            <a:ext cx="3108960" cy="603504"/>
          </a:xfrm>
          <a:prstGeom prst="rect">
            <a:avLst/>
          </a:prstGeom>
          <a:noFill/>
          <a:ln/>
        </p:spPr>
        <p:txBody>
          <a:bodyPr wrap="square" lIns="0" tIns="0" rIns="0" bIns="0" rtlCol="0" anchor="ctr"/>
          <a:lstStyle/>
          <a:p>
            <a:pPr indent="0" marL="0">
              <a:buNone/>
            </a:pPr>
            <a:r>
              <a:rPr lang="en-US" sz="1150" b="1" dirty="0">
                <a:solidFill>
                  <a:srgbClr val="2B2B2B"/>
                </a:solidFill>
                <a:latin typeface="Calibri" pitchFamily="34" charset="0"/>
                <a:ea typeface="Calibri" pitchFamily="34" charset="-122"/>
                <a:cs typeface="Calibri" pitchFamily="34" charset="-120"/>
              </a:rPr>
              <a:t>Grafis</a:t>
            </a:r>
            <a:endParaRPr lang="en-US" sz="1150" dirty="0"/>
          </a:p>
        </p:txBody>
      </p:sp>
      <p:sp>
        <p:nvSpPr>
          <p:cNvPr id="20" name="Text 18"/>
          <p:cNvSpPr txBox="1"/>
          <p:nvPr/>
        </p:nvSpPr>
        <p:spPr>
          <a:xfrm>
            <a:off x="4251960" y="3310128"/>
            <a:ext cx="3337560" cy="603504"/>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Tidak ada dukungan grafis dinamis bawaan</a:t>
            </a:r>
            <a:endParaRPr lang="en-US" sz="1050" dirty="0"/>
          </a:p>
        </p:txBody>
      </p:sp>
      <p:sp>
        <p:nvSpPr>
          <p:cNvPr id="21" name="Text 19"/>
          <p:cNvSpPr txBox="1"/>
          <p:nvPr/>
        </p:nvSpPr>
        <p:spPr>
          <a:xfrm>
            <a:off x="8046720" y="3310128"/>
            <a:ext cx="3337560" cy="60350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Elemen &lt;canvas&gt; &amp; SVG untuk grafis interaktif</a:t>
            </a:r>
            <a:endParaRPr lang="en-US" sz="1050" dirty="0"/>
          </a:p>
        </p:txBody>
      </p:sp>
      <p:sp>
        <p:nvSpPr>
          <p:cNvPr id="22" name="Shape 20"/>
          <p:cNvSpPr/>
          <p:nvPr/>
        </p:nvSpPr>
        <p:spPr>
          <a:xfrm>
            <a:off x="548640" y="3913632"/>
            <a:ext cx="10607040" cy="603504"/>
          </a:xfrm>
          <a:prstGeom prst="rect">
            <a:avLst/>
          </a:prstGeom>
          <a:solidFill>
            <a:srgbClr val="F7F6F4"/>
          </a:solidFill>
          <a:ln/>
        </p:spPr>
      </p:sp>
      <p:sp>
        <p:nvSpPr>
          <p:cNvPr id="23" name="Text 21"/>
          <p:cNvSpPr txBox="1"/>
          <p:nvPr/>
        </p:nvSpPr>
        <p:spPr>
          <a:xfrm>
            <a:off x="685800" y="3913632"/>
            <a:ext cx="3108960" cy="603504"/>
          </a:xfrm>
          <a:prstGeom prst="rect">
            <a:avLst/>
          </a:prstGeom>
          <a:noFill/>
          <a:ln/>
        </p:spPr>
        <p:txBody>
          <a:bodyPr wrap="square" lIns="0" tIns="0" rIns="0" bIns="0" rtlCol="0" anchor="ctr"/>
          <a:lstStyle/>
          <a:p>
            <a:pPr indent="0" marL="0">
              <a:buNone/>
            </a:pPr>
            <a:r>
              <a:rPr lang="en-US" sz="1150" b="1" dirty="0">
                <a:solidFill>
                  <a:srgbClr val="2B2B2B"/>
                </a:solidFill>
                <a:latin typeface="Calibri" pitchFamily="34" charset="0"/>
                <a:ea typeface="Calibri" pitchFamily="34" charset="-122"/>
                <a:cs typeface="Calibri" pitchFamily="34" charset="-120"/>
              </a:rPr>
              <a:t>Penyimpanan Data</a:t>
            </a:r>
            <a:endParaRPr lang="en-US" sz="1150" dirty="0"/>
          </a:p>
        </p:txBody>
      </p:sp>
      <p:sp>
        <p:nvSpPr>
          <p:cNvPr id="24" name="Text 22"/>
          <p:cNvSpPr txBox="1"/>
          <p:nvPr/>
        </p:nvSpPr>
        <p:spPr>
          <a:xfrm>
            <a:off x="4251960" y="3913632"/>
            <a:ext cx="3337560" cy="603504"/>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Bergantung sepenuhnya pada cookie</a:t>
            </a:r>
            <a:endParaRPr lang="en-US" sz="1050" dirty="0"/>
          </a:p>
        </p:txBody>
      </p:sp>
      <p:sp>
        <p:nvSpPr>
          <p:cNvPr id="25" name="Text 23"/>
          <p:cNvSpPr txBox="1"/>
          <p:nvPr/>
        </p:nvSpPr>
        <p:spPr>
          <a:xfrm>
            <a:off x="8046720" y="3913632"/>
            <a:ext cx="3337560" cy="60350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Web Storage (localStorage &amp; sessionStorage)</a:t>
            </a:r>
            <a:endParaRPr lang="en-US" sz="1050" dirty="0"/>
          </a:p>
        </p:txBody>
      </p:sp>
      <p:sp>
        <p:nvSpPr>
          <p:cNvPr id="26" name="Shape 24"/>
          <p:cNvSpPr/>
          <p:nvPr/>
        </p:nvSpPr>
        <p:spPr>
          <a:xfrm>
            <a:off x="548640" y="4517136"/>
            <a:ext cx="10607040" cy="603504"/>
          </a:xfrm>
          <a:prstGeom prst="rect">
            <a:avLst/>
          </a:prstGeom>
          <a:solidFill>
            <a:srgbClr val="FFFFFF"/>
          </a:solidFill>
          <a:ln/>
        </p:spPr>
      </p:sp>
      <p:sp>
        <p:nvSpPr>
          <p:cNvPr id="27" name="Text 25"/>
          <p:cNvSpPr txBox="1"/>
          <p:nvPr/>
        </p:nvSpPr>
        <p:spPr>
          <a:xfrm>
            <a:off x="685800" y="4517136"/>
            <a:ext cx="3108960" cy="603504"/>
          </a:xfrm>
          <a:prstGeom prst="rect">
            <a:avLst/>
          </a:prstGeom>
          <a:noFill/>
          <a:ln/>
        </p:spPr>
        <p:txBody>
          <a:bodyPr wrap="square" lIns="0" tIns="0" rIns="0" bIns="0" rtlCol="0" anchor="ctr"/>
          <a:lstStyle/>
          <a:p>
            <a:pPr indent="0" marL="0">
              <a:buNone/>
            </a:pPr>
            <a:r>
              <a:rPr lang="en-US" sz="1150" b="1" dirty="0">
                <a:solidFill>
                  <a:srgbClr val="2B2B2B"/>
                </a:solidFill>
                <a:latin typeface="Calibri" pitchFamily="34" charset="0"/>
                <a:ea typeface="Calibri" pitchFamily="34" charset="-122"/>
                <a:cs typeface="Calibri" pitchFamily="34" charset="-120"/>
              </a:rPr>
              <a:t>Formulir</a:t>
            </a:r>
            <a:endParaRPr lang="en-US" sz="1150" dirty="0"/>
          </a:p>
        </p:txBody>
      </p:sp>
      <p:sp>
        <p:nvSpPr>
          <p:cNvPr id="28" name="Text 26"/>
          <p:cNvSpPr txBox="1"/>
          <p:nvPr/>
        </p:nvSpPr>
        <p:spPr>
          <a:xfrm>
            <a:off x="4251960" y="4517136"/>
            <a:ext cx="3337560" cy="603504"/>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Tipe input terbatas, validasi via JavaScript</a:t>
            </a:r>
            <a:endParaRPr lang="en-US" sz="1050" dirty="0"/>
          </a:p>
        </p:txBody>
      </p:sp>
      <p:sp>
        <p:nvSpPr>
          <p:cNvPr id="29" name="Text 27"/>
          <p:cNvSpPr txBox="1"/>
          <p:nvPr/>
        </p:nvSpPr>
        <p:spPr>
          <a:xfrm>
            <a:off x="8046720" y="4517136"/>
            <a:ext cx="3337560" cy="60350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Tipe input baru + validasi bawaan browser</a:t>
            </a:r>
            <a:endParaRPr lang="en-US" sz="1050" dirty="0"/>
          </a:p>
        </p:txBody>
      </p:sp>
      <p:sp>
        <p:nvSpPr>
          <p:cNvPr id="30" name="Shape 28"/>
          <p:cNvSpPr/>
          <p:nvPr/>
        </p:nvSpPr>
        <p:spPr>
          <a:xfrm>
            <a:off x="548640" y="5120640"/>
            <a:ext cx="10607040" cy="603504"/>
          </a:xfrm>
          <a:prstGeom prst="rect">
            <a:avLst/>
          </a:prstGeom>
          <a:solidFill>
            <a:srgbClr val="F7F6F4"/>
          </a:solidFill>
          <a:ln/>
        </p:spPr>
      </p:sp>
      <p:sp>
        <p:nvSpPr>
          <p:cNvPr id="31" name="Text 29"/>
          <p:cNvSpPr txBox="1"/>
          <p:nvPr/>
        </p:nvSpPr>
        <p:spPr>
          <a:xfrm>
            <a:off x="685800" y="5120640"/>
            <a:ext cx="3108960" cy="603504"/>
          </a:xfrm>
          <a:prstGeom prst="rect">
            <a:avLst/>
          </a:prstGeom>
          <a:noFill/>
          <a:ln/>
        </p:spPr>
        <p:txBody>
          <a:bodyPr wrap="square" lIns="0" tIns="0" rIns="0" bIns="0" rtlCol="0" anchor="ctr"/>
          <a:lstStyle/>
          <a:p>
            <a:pPr indent="0" marL="0">
              <a:buNone/>
            </a:pPr>
            <a:r>
              <a:rPr lang="en-US" sz="1150" b="1" dirty="0">
                <a:solidFill>
                  <a:srgbClr val="2B2B2B"/>
                </a:solidFill>
                <a:latin typeface="Calibri" pitchFamily="34" charset="0"/>
                <a:ea typeface="Calibri" pitchFamily="34" charset="-122"/>
                <a:cs typeface="Calibri" pitchFamily="34" charset="-120"/>
              </a:rPr>
              <a:t>Dukungan Perangkat</a:t>
            </a:r>
            <a:endParaRPr lang="en-US" sz="1150" dirty="0"/>
          </a:p>
        </p:txBody>
      </p:sp>
      <p:sp>
        <p:nvSpPr>
          <p:cNvPr id="32" name="Text 30"/>
          <p:cNvSpPr txBox="1"/>
          <p:nvPr/>
        </p:nvSpPr>
        <p:spPr>
          <a:xfrm>
            <a:off x="4251960" y="5120640"/>
            <a:ext cx="3337560" cy="603504"/>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Kurang optimal untuk perangkat mobile</a:t>
            </a:r>
            <a:endParaRPr lang="en-US" sz="1050" dirty="0"/>
          </a:p>
        </p:txBody>
      </p:sp>
      <p:sp>
        <p:nvSpPr>
          <p:cNvPr id="33" name="Text 31"/>
          <p:cNvSpPr txBox="1"/>
          <p:nvPr/>
        </p:nvSpPr>
        <p:spPr>
          <a:xfrm>
            <a:off x="8046720" y="5120640"/>
            <a:ext cx="3337560" cy="60350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Dirancang responsif untuk mobile &amp; multi-platform</a:t>
            </a:r>
            <a:endParaRPr lang="en-US" sz="1050" dirty="0"/>
          </a:p>
        </p:txBody>
      </p:sp>
      <p:sp>
        <p:nvSpPr>
          <p:cNvPr id="34" name="Shape 32"/>
          <p:cNvSpPr/>
          <p:nvPr/>
        </p:nvSpPr>
        <p:spPr>
          <a:xfrm>
            <a:off x="548640" y="5724144"/>
            <a:ext cx="10607040" cy="0"/>
          </a:xfrm>
          <a:prstGeom prst="line">
            <a:avLst/>
          </a:prstGeom>
          <a:noFill/>
          <a:ln w="12700">
            <a:solidFill>
              <a:srgbClr val="E5E2DD"/>
            </a:solidFill>
            <a:prstDash val="solid"/>
          </a:ln>
        </p:spPr>
      </p:sp>
      <p:sp>
        <p:nvSpPr>
          <p:cNvPr id="35" name="Text 33"/>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36" name="Text 3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FONDASI</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Struktur Dasar Dokumen HTML5</a:t>
            </a:r>
            <a:endParaRPr lang="en-US" sz="3200" dirty="0"/>
          </a:p>
        </p:txBody>
      </p:sp>
      <p:sp>
        <p:nvSpPr>
          <p:cNvPr id="4" name="Shape 2"/>
          <p:cNvSpPr/>
          <p:nvPr/>
        </p:nvSpPr>
        <p:spPr>
          <a:xfrm>
            <a:off x="548640" y="1600200"/>
            <a:ext cx="6492240" cy="4572000"/>
          </a:xfrm>
          <a:prstGeom prst="rect">
            <a:avLst/>
          </a:prstGeom>
          <a:solidFill>
            <a:srgbClr val="1B1B1B"/>
          </a:solidFill>
          <a:ln/>
        </p:spPr>
      </p:sp>
      <p:sp>
        <p:nvSpPr>
          <p:cNvPr id="5" name="Shape 3"/>
          <p:cNvSpPr/>
          <p:nvPr/>
        </p:nvSpPr>
        <p:spPr>
          <a:xfrm>
            <a:off x="777240" y="1783080"/>
            <a:ext cx="128016" cy="128016"/>
          </a:xfrm>
          <a:prstGeom prst="ellipse">
            <a:avLst/>
          </a:prstGeom>
          <a:solidFill>
            <a:srgbClr val="FF5F56"/>
          </a:solidFill>
          <a:ln/>
        </p:spPr>
      </p:sp>
      <p:sp>
        <p:nvSpPr>
          <p:cNvPr id="6" name="Shape 4"/>
          <p:cNvSpPr/>
          <p:nvPr/>
        </p:nvSpPr>
        <p:spPr>
          <a:xfrm>
            <a:off x="969264" y="1783080"/>
            <a:ext cx="128016" cy="128016"/>
          </a:xfrm>
          <a:prstGeom prst="ellipse">
            <a:avLst/>
          </a:prstGeom>
          <a:solidFill>
            <a:srgbClr val="FFBD2E"/>
          </a:solidFill>
          <a:ln/>
        </p:spPr>
      </p:sp>
      <p:sp>
        <p:nvSpPr>
          <p:cNvPr id="7" name="Shape 5"/>
          <p:cNvSpPr/>
          <p:nvPr/>
        </p:nvSpPr>
        <p:spPr>
          <a:xfrm>
            <a:off x="1161288" y="1783080"/>
            <a:ext cx="128016" cy="128016"/>
          </a:xfrm>
          <a:prstGeom prst="ellipse">
            <a:avLst/>
          </a:prstGeom>
          <a:solidFill>
            <a:srgbClr val="27C93F"/>
          </a:solidFill>
          <a:ln/>
        </p:spPr>
      </p:sp>
      <p:sp>
        <p:nvSpPr>
          <p:cNvPr id="8" name="Text 6"/>
          <p:cNvSpPr txBox="1"/>
          <p:nvPr/>
        </p:nvSpPr>
        <p:spPr>
          <a:xfrm>
            <a:off x="2743200" y="1719072"/>
            <a:ext cx="210312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ourier New" pitchFamily="34" charset="0"/>
                <a:ea typeface="Courier New" pitchFamily="34" charset="-122"/>
                <a:cs typeface="Courier New" pitchFamily="34" charset="-120"/>
              </a:rPr>
              <a:t>index.html</a:t>
            </a:r>
            <a:endParaRPr lang="en-US" sz="1000" dirty="0"/>
          </a:p>
        </p:txBody>
      </p:sp>
      <p:sp>
        <p:nvSpPr>
          <p:cNvPr id="9" name="Text 7"/>
          <p:cNvSpPr txBox="1"/>
          <p:nvPr/>
        </p:nvSpPr>
        <p:spPr>
          <a:xfrm>
            <a:off x="822960" y="2148840"/>
            <a:ext cx="5943600" cy="3886200"/>
          </a:xfrm>
          <a:prstGeom prst="rect">
            <a:avLst/>
          </a:prstGeom>
          <a:noFill/>
          <a:ln/>
        </p:spPr>
        <p:txBody>
          <a:bodyPr wrap="square" lIns="0" tIns="0" rIns="0" bIns="0" rtlCol="0" anchor="ctr"/>
          <a:lstStyle/>
          <a:p>
            <a:pPr indent="0" marL="0">
              <a:lnSpc>
                <a:spcPct val="128000"/>
              </a:lnSpc>
              <a:buNone/>
            </a:pPr>
            <a:r>
              <a:rPr lang="en-US" sz="1250" dirty="0">
                <a:solidFill>
                  <a:srgbClr val="F16529"/>
                </a:solidFill>
                <a:latin typeface="Courier New" pitchFamily="34" charset="0"/>
                <a:ea typeface="Courier New" pitchFamily="34" charset="-122"/>
                <a:cs typeface="Courier New" pitchFamily="34" charset="-120"/>
              </a:rPr>
              <a:t>&lt;!DOCTYPE html&gt;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&lt;html lang="id"&gt;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&lt;head&gt;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  &lt;meta charset="UTF-8"&gt;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  &lt;meta name="viewport" content="width=device-width, initial-scale=1.0"&gt;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  &lt;title&gt;Judul Halaman&lt;/title&gt;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&lt;/head&gt;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&lt;body&gt;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  &lt;h1&gt;Selamat Datang&lt;/h1&gt;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  &lt;p&gt;Ini adalah paragraf pertama.&lt;/p&gt;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&lt;/body&gt;</a:t>
            </a:r>
            <a:endParaRPr lang="en-US" sz="1250" dirty="0"/>
          </a:p>
          <a:p>
            <a:pPr indent="0" marL="0">
              <a:lnSpc>
                <a:spcPct val="128000"/>
              </a:lnSpc>
              <a:buNone/>
            </a:pPr>
            <a:r>
              <a:rPr lang="en-US" sz="1250" dirty="0">
                <a:solidFill>
                  <a:srgbClr val="E8A87C"/>
                </a:solidFill>
                <a:latin typeface="Courier New" pitchFamily="34" charset="0"/>
                <a:ea typeface="Courier New" pitchFamily="34" charset="-122"/>
                <a:cs typeface="Courier New" pitchFamily="34" charset="-120"/>
              </a:rPr>
              <a:t>&lt;/html&gt;</a:t>
            </a:r>
            <a:endParaRPr lang="en-US" sz="1250" dirty="0"/>
          </a:p>
        </p:txBody>
      </p:sp>
      <p:sp>
        <p:nvSpPr>
          <p:cNvPr id="10" name="Shape 8"/>
          <p:cNvSpPr/>
          <p:nvPr/>
        </p:nvSpPr>
        <p:spPr>
          <a:xfrm>
            <a:off x="7324344" y="1600200"/>
            <a:ext cx="54864" cy="822960"/>
          </a:xfrm>
          <a:prstGeom prst="rect">
            <a:avLst/>
          </a:prstGeom>
          <a:solidFill>
            <a:srgbClr val="E44D26"/>
          </a:solidFill>
          <a:ln/>
        </p:spPr>
      </p:sp>
      <p:sp>
        <p:nvSpPr>
          <p:cNvPr id="11" name="Text 9"/>
          <p:cNvSpPr txBox="1"/>
          <p:nvPr/>
        </p:nvSpPr>
        <p:spPr>
          <a:xfrm>
            <a:off x="7452360" y="1600200"/>
            <a:ext cx="4160520" cy="292608"/>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&lt;!DOCTYPE html&gt;</a:t>
            </a:r>
            <a:endParaRPr lang="en-US" sz="1150" dirty="0"/>
          </a:p>
        </p:txBody>
      </p:sp>
      <p:sp>
        <p:nvSpPr>
          <p:cNvPr id="12" name="Text 10"/>
          <p:cNvSpPr txBox="1"/>
          <p:nvPr/>
        </p:nvSpPr>
        <p:spPr>
          <a:xfrm>
            <a:off x="7452360" y="1892808"/>
            <a:ext cx="4160520" cy="548640"/>
          </a:xfrm>
          <a:prstGeom prst="rect">
            <a:avLst/>
          </a:prstGeom>
          <a:noFill/>
          <a:ln/>
        </p:spPr>
        <p:txBody>
          <a:bodyPr wrap="square" lIns="0" tIns="0" rIns="0" bIns="0" rtlCol="0" anchor="ctr"/>
          <a:lstStyle/>
          <a:p>
            <a:pPr indent="0" marL="0">
              <a:lnSpc>
                <a:spcPct val="120000"/>
              </a:lnSpc>
              <a:buNone/>
            </a:pPr>
            <a:r>
              <a:rPr lang="en-US" sz="1050" dirty="0">
                <a:solidFill>
                  <a:srgbClr val="6B6B6B"/>
                </a:solidFill>
                <a:latin typeface="Calibri" pitchFamily="34" charset="0"/>
                <a:ea typeface="Calibri" pitchFamily="34" charset="-122"/>
                <a:cs typeface="Calibri" pitchFamily="34" charset="-120"/>
              </a:rPr>
              <a:t>Mendeklarasikan dokumen sebagai HTML5 — sederhana, tanpa versi DTD kompleks.</a:t>
            </a:r>
            <a:endParaRPr lang="en-US" sz="1050" dirty="0"/>
          </a:p>
        </p:txBody>
      </p:sp>
      <p:sp>
        <p:nvSpPr>
          <p:cNvPr id="13" name="Shape 11"/>
          <p:cNvSpPr/>
          <p:nvPr/>
        </p:nvSpPr>
        <p:spPr>
          <a:xfrm>
            <a:off x="7324344" y="2587752"/>
            <a:ext cx="54864" cy="822960"/>
          </a:xfrm>
          <a:prstGeom prst="rect">
            <a:avLst/>
          </a:prstGeom>
          <a:solidFill>
            <a:srgbClr val="E44D26"/>
          </a:solidFill>
          <a:ln/>
        </p:spPr>
      </p:sp>
      <p:sp>
        <p:nvSpPr>
          <p:cNvPr id="14" name="Text 12"/>
          <p:cNvSpPr txBox="1"/>
          <p:nvPr/>
        </p:nvSpPr>
        <p:spPr>
          <a:xfrm>
            <a:off x="7452360" y="2587752"/>
            <a:ext cx="4160520" cy="292608"/>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&lt;meta charset&gt;</a:t>
            </a:r>
            <a:endParaRPr lang="en-US" sz="1150" dirty="0"/>
          </a:p>
        </p:txBody>
      </p:sp>
      <p:sp>
        <p:nvSpPr>
          <p:cNvPr id="15" name="Text 13"/>
          <p:cNvSpPr txBox="1"/>
          <p:nvPr/>
        </p:nvSpPr>
        <p:spPr>
          <a:xfrm>
            <a:off x="7452360" y="2880360"/>
            <a:ext cx="4160520" cy="548640"/>
          </a:xfrm>
          <a:prstGeom prst="rect">
            <a:avLst/>
          </a:prstGeom>
          <a:noFill/>
          <a:ln/>
        </p:spPr>
        <p:txBody>
          <a:bodyPr wrap="square" lIns="0" tIns="0" rIns="0" bIns="0" rtlCol="0" anchor="ctr"/>
          <a:lstStyle/>
          <a:p>
            <a:pPr indent="0" marL="0">
              <a:lnSpc>
                <a:spcPct val="120000"/>
              </a:lnSpc>
              <a:buNone/>
            </a:pPr>
            <a:r>
              <a:rPr lang="en-US" sz="1050" dirty="0">
                <a:solidFill>
                  <a:srgbClr val="6B6B6B"/>
                </a:solidFill>
                <a:latin typeface="Calibri" pitchFamily="34" charset="0"/>
                <a:ea typeface="Calibri" pitchFamily="34" charset="-122"/>
                <a:cs typeface="Calibri" pitchFamily="34" charset="-120"/>
              </a:rPr>
              <a:t>Menentukan pengkodean karakter UTF-8 agar teks tampil benar.</a:t>
            </a:r>
            <a:endParaRPr lang="en-US" sz="1050" dirty="0"/>
          </a:p>
        </p:txBody>
      </p:sp>
      <p:sp>
        <p:nvSpPr>
          <p:cNvPr id="16" name="Shape 14"/>
          <p:cNvSpPr/>
          <p:nvPr/>
        </p:nvSpPr>
        <p:spPr>
          <a:xfrm>
            <a:off x="7324344" y="3575304"/>
            <a:ext cx="54864" cy="822960"/>
          </a:xfrm>
          <a:prstGeom prst="rect">
            <a:avLst/>
          </a:prstGeom>
          <a:solidFill>
            <a:srgbClr val="E44D26"/>
          </a:solidFill>
          <a:ln/>
        </p:spPr>
      </p:sp>
      <p:sp>
        <p:nvSpPr>
          <p:cNvPr id="17" name="Text 15"/>
          <p:cNvSpPr txBox="1"/>
          <p:nvPr/>
        </p:nvSpPr>
        <p:spPr>
          <a:xfrm>
            <a:off x="7452360" y="3575304"/>
            <a:ext cx="4160520" cy="292608"/>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&lt;meta viewport&gt;</a:t>
            </a:r>
            <a:endParaRPr lang="en-US" sz="1150" dirty="0"/>
          </a:p>
        </p:txBody>
      </p:sp>
      <p:sp>
        <p:nvSpPr>
          <p:cNvPr id="18" name="Text 16"/>
          <p:cNvSpPr txBox="1"/>
          <p:nvPr/>
        </p:nvSpPr>
        <p:spPr>
          <a:xfrm>
            <a:off x="7452360" y="3867912"/>
            <a:ext cx="4160520" cy="548640"/>
          </a:xfrm>
          <a:prstGeom prst="rect">
            <a:avLst/>
          </a:prstGeom>
          <a:noFill/>
          <a:ln/>
        </p:spPr>
        <p:txBody>
          <a:bodyPr wrap="square" lIns="0" tIns="0" rIns="0" bIns="0" rtlCol="0" anchor="ctr"/>
          <a:lstStyle/>
          <a:p>
            <a:pPr indent="0" marL="0">
              <a:lnSpc>
                <a:spcPct val="120000"/>
              </a:lnSpc>
              <a:buNone/>
            </a:pPr>
            <a:r>
              <a:rPr lang="en-US" sz="1050" dirty="0">
                <a:solidFill>
                  <a:srgbClr val="6B6B6B"/>
                </a:solidFill>
                <a:latin typeface="Calibri" pitchFamily="34" charset="0"/>
                <a:ea typeface="Calibri" pitchFamily="34" charset="-122"/>
                <a:cs typeface="Calibri" pitchFamily="34" charset="-120"/>
              </a:rPr>
              <a:t>Mengatur tampilan responsif pada perangkat mobile.</a:t>
            </a:r>
            <a:endParaRPr lang="en-US" sz="1050" dirty="0"/>
          </a:p>
        </p:txBody>
      </p:sp>
      <p:sp>
        <p:nvSpPr>
          <p:cNvPr id="19" name="Shape 17"/>
          <p:cNvSpPr/>
          <p:nvPr/>
        </p:nvSpPr>
        <p:spPr>
          <a:xfrm>
            <a:off x="7324344" y="4562856"/>
            <a:ext cx="54864" cy="822960"/>
          </a:xfrm>
          <a:prstGeom prst="rect">
            <a:avLst/>
          </a:prstGeom>
          <a:solidFill>
            <a:srgbClr val="E44D26"/>
          </a:solidFill>
          <a:ln/>
        </p:spPr>
      </p:sp>
      <p:sp>
        <p:nvSpPr>
          <p:cNvPr id="20" name="Text 18"/>
          <p:cNvSpPr txBox="1"/>
          <p:nvPr/>
        </p:nvSpPr>
        <p:spPr>
          <a:xfrm>
            <a:off x="7452360" y="4562856"/>
            <a:ext cx="4160520" cy="292608"/>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&lt;html lang&gt;</a:t>
            </a:r>
            <a:endParaRPr lang="en-US" sz="1150" dirty="0"/>
          </a:p>
        </p:txBody>
      </p:sp>
      <p:sp>
        <p:nvSpPr>
          <p:cNvPr id="21" name="Text 19"/>
          <p:cNvSpPr txBox="1"/>
          <p:nvPr/>
        </p:nvSpPr>
        <p:spPr>
          <a:xfrm>
            <a:off x="7452360" y="4855464"/>
            <a:ext cx="4160520" cy="548640"/>
          </a:xfrm>
          <a:prstGeom prst="rect">
            <a:avLst/>
          </a:prstGeom>
          <a:noFill/>
          <a:ln/>
        </p:spPr>
        <p:txBody>
          <a:bodyPr wrap="square" lIns="0" tIns="0" rIns="0" bIns="0" rtlCol="0" anchor="ctr"/>
          <a:lstStyle/>
          <a:p>
            <a:pPr indent="0" marL="0">
              <a:lnSpc>
                <a:spcPct val="120000"/>
              </a:lnSpc>
              <a:buNone/>
            </a:pPr>
            <a:r>
              <a:rPr lang="en-US" sz="1050" dirty="0">
                <a:solidFill>
                  <a:srgbClr val="6B6B6B"/>
                </a:solidFill>
                <a:latin typeface="Calibri" pitchFamily="34" charset="0"/>
                <a:ea typeface="Calibri" pitchFamily="34" charset="-122"/>
                <a:cs typeface="Calibri" pitchFamily="34" charset="-120"/>
              </a:rPr>
              <a:t>Menentukan bahasa dokumen, penting untuk aksesibilitas &amp; SEO.</a:t>
            </a:r>
            <a:endParaRPr lang="en-US" sz="1050" dirty="0"/>
          </a:p>
        </p:txBody>
      </p:sp>
      <p:sp>
        <p:nvSpPr>
          <p:cNvPr id="22" name="Text 20"/>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23"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STRUKTUR KONTEN</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Elemen Semantik Baru di HTML5</a:t>
            </a:r>
            <a:endParaRPr lang="en-US" sz="32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Elemen semantik menjelaskan makna konten kepada browser, mesin pencari, dan teknologi aksesibilitas — bukan sekadar tampilan.</a:t>
            </a:r>
            <a:endParaRPr lang="en-US" sz="1250" dirty="0"/>
          </a:p>
        </p:txBody>
      </p:sp>
      <p:sp>
        <p:nvSpPr>
          <p:cNvPr id="5" name="Shape 3"/>
          <p:cNvSpPr/>
          <p:nvPr/>
        </p:nvSpPr>
        <p:spPr>
          <a:xfrm>
            <a:off x="54864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6" name="Shape 4"/>
          <p:cNvSpPr/>
          <p:nvPr/>
        </p:nvSpPr>
        <p:spPr>
          <a:xfrm>
            <a:off x="1600200" y="2167128"/>
            <a:ext cx="566928" cy="566928"/>
          </a:xfrm>
          <a:prstGeom prst="ellipse">
            <a:avLst/>
          </a:prstGeom>
          <a:solidFill>
            <a:srgbClr val="E44D26"/>
          </a:solidFill>
          <a:ln/>
        </p:spPr>
      </p:sp>
      <p:pic>
        <p:nvPicPr>
          <p:cNvPr id="7" name="Image 0" descr="preencoded.png">    </p:cNvPr>
          <p:cNvPicPr>
            <a:picLocks noChangeAspect="1"/>
          </p:cNvPicPr>
          <p:nvPr/>
        </p:nvPicPr>
        <p:blipFill>
          <a:blip r:embed="rId1"/>
          <a:stretch>
            <a:fillRect/>
          </a:stretch>
        </p:blipFill>
        <p:spPr>
          <a:xfrm>
            <a:off x="1747601" y="2314529"/>
            <a:ext cx="272125" cy="272125"/>
          </a:xfrm>
          <a:prstGeom prst="rect">
            <a:avLst/>
          </a:prstGeom>
        </p:spPr>
      </p:pic>
      <p:sp>
        <p:nvSpPr>
          <p:cNvPr id="8" name="Text 5"/>
          <p:cNvSpPr txBox="1"/>
          <p:nvPr/>
        </p:nvSpPr>
        <p:spPr>
          <a:xfrm>
            <a:off x="658368" y="284378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&lt;header&gt;</a:t>
            </a:r>
            <a:endParaRPr lang="en-US" sz="1200" dirty="0"/>
          </a:p>
        </p:txBody>
      </p:sp>
      <p:sp>
        <p:nvSpPr>
          <p:cNvPr id="9" name="Text 6"/>
          <p:cNvSpPr txBox="1"/>
          <p:nvPr/>
        </p:nvSpPr>
        <p:spPr>
          <a:xfrm>
            <a:off x="685800" y="315468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Bagian pembuka halaman atau bagian (judul, logo, navigasi utama)</a:t>
            </a:r>
            <a:endParaRPr lang="en-US" sz="930" dirty="0"/>
          </a:p>
        </p:txBody>
      </p:sp>
      <p:sp>
        <p:nvSpPr>
          <p:cNvPr id="10" name="Shape 7"/>
          <p:cNvSpPr/>
          <p:nvPr/>
        </p:nvSpPr>
        <p:spPr>
          <a:xfrm>
            <a:off x="338328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11" name="Shape 8"/>
          <p:cNvSpPr/>
          <p:nvPr/>
        </p:nvSpPr>
        <p:spPr>
          <a:xfrm>
            <a:off x="4434840" y="2167128"/>
            <a:ext cx="566928" cy="566928"/>
          </a:xfrm>
          <a:prstGeom prst="ellipse">
            <a:avLst/>
          </a:prstGeom>
          <a:solidFill>
            <a:srgbClr val="E44D26"/>
          </a:solidFill>
          <a:ln/>
        </p:spPr>
      </p:sp>
      <p:pic>
        <p:nvPicPr>
          <p:cNvPr id="12" name="Image 1" descr="preencoded.png">    </p:cNvPr>
          <p:cNvPicPr>
            <a:picLocks noChangeAspect="1"/>
          </p:cNvPicPr>
          <p:nvPr/>
        </p:nvPicPr>
        <p:blipFill>
          <a:blip r:embed="rId2"/>
          <a:stretch>
            <a:fillRect/>
          </a:stretch>
        </p:blipFill>
        <p:spPr>
          <a:xfrm>
            <a:off x="4582241" y="2314529"/>
            <a:ext cx="272125" cy="272125"/>
          </a:xfrm>
          <a:prstGeom prst="rect">
            <a:avLst/>
          </a:prstGeom>
        </p:spPr>
      </p:pic>
      <p:sp>
        <p:nvSpPr>
          <p:cNvPr id="13" name="Text 9"/>
          <p:cNvSpPr txBox="1"/>
          <p:nvPr/>
        </p:nvSpPr>
        <p:spPr>
          <a:xfrm>
            <a:off x="3493008" y="284378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&lt;nav&gt;</a:t>
            </a:r>
            <a:endParaRPr lang="en-US" sz="1200" dirty="0"/>
          </a:p>
        </p:txBody>
      </p:sp>
      <p:sp>
        <p:nvSpPr>
          <p:cNvPr id="14" name="Text 10"/>
          <p:cNvSpPr txBox="1"/>
          <p:nvPr/>
        </p:nvSpPr>
        <p:spPr>
          <a:xfrm>
            <a:off x="3520440" y="315468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Kumpulan tautan navigasi utama situs</a:t>
            </a:r>
            <a:endParaRPr lang="en-US" sz="930" dirty="0"/>
          </a:p>
        </p:txBody>
      </p:sp>
      <p:sp>
        <p:nvSpPr>
          <p:cNvPr id="15" name="Shape 11"/>
          <p:cNvSpPr/>
          <p:nvPr/>
        </p:nvSpPr>
        <p:spPr>
          <a:xfrm>
            <a:off x="621792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16" name="Shape 12"/>
          <p:cNvSpPr/>
          <p:nvPr/>
        </p:nvSpPr>
        <p:spPr>
          <a:xfrm>
            <a:off x="7269480" y="2167128"/>
            <a:ext cx="566928" cy="566928"/>
          </a:xfrm>
          <a:prstGeom prst="ellipse">
            <a:avLst/>
          </a:prstGeom>
          <a:solidFill>
            <a:srgbClr val="E44D26"/>
          </a:solidFill>
          <a:ln/>
        </p:spPr>
      </p:sp>
      <p:pic>
        <p:nvPicPr>
          <p:cNvPr id="17" name="Image 2" descr="preencoded.png">    </p:cNvPr>
          <p:cNvPicPr>
            <a:picLocks noChangeAspect="1"/>
          </p:cNvPicPr>
          <p:nvPr/>
        </p:nvPicPr>
        <p:blipFill>
          <a:blip r:embed="rId3"/>
          <a:stretch>
            <a:fillRect/>
          </a:stretch>
        </p:blipFill>
        <p:spPr>
          <a:xfrm>
            <a:off x="7416881" y="2314529"/>
            <a:ext cx="272125" cy="272125"/>
          </a:xfrm>
          <a:prstGeom prst="rect">
            <a:avLst/>
          </a:prstGeom>
        </p:spPr>
      </p:pic>
      <p:sp>
        <p:nvSpPr>
          <p:cNvPr id="18" name="Text 13"/>
          <p:cNvSpPr txBox="1"/>
          <p:nvPr/>
        </p:nvSpPr>
        <p:spPr>
          <a:xfrm>
            <a:off x="6327648" y="284378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&lt;main&gt;</a:t>
            </a:r>
            <a:endParaRPr lang="en-US" sz="1200" dirty="0"/>
          </a:p>
        </p:txBody>
      </p:sp>
      <p:sp>
        <p:nvSpPr>
          <p:cNvPr id="19" name="Text 14"/>
          <p:cNvSpPr txBox="1"/>
          <p:nvPr/>
        </p:nvSpPr>
        <p:spPr>
          <a:xfrm>
            <a:off x="6355080" y="315468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Konten utama yang unik pada halaman (hanya satu per halaman)</a:t>
            </a:r>
            <a:endParaRPr lang="en-US" sz="930" dirty="0"/>
          </a:p>
        </p:txBody>
      </p:sp>
      <p:sp>
        <p:nvSpPr>
          <p:cNvPr id="20" name="Shape 15"/>
          <p:cNvSpPr/>
          <p:nvPr/>
        </p:nvSpPr>
        <p:spPr>
          <a:xfrm>
            <a:off x="905256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21" name="Shape 16"/>
          <p:cNvSpPr/>
          <p:nvPr/>
        </p:nvSpPr>
        <p:spPr>
          <a:xfrm>
            <a:off x="10104120" y="2167128"/>
            <a:ext cx="566928" cy="566928"/>
          </a:xfrm>
          <a:prstGeom prst="ellipse">
            <a:avLst/>
          </a:prstGeom>
          <a:solidFill>
            <a:srgbClr val="E44D26"/>
          </a:solidFill>
          <a:ln/>
        </p:spPr>
      </p:sp>
      <p:pic>
        <p:nvPicPr>
          <p:cNvPr id="22" name="Image 3" descr="preencoded.png">    </p:cNvPr>
          <p:cNvPicPr>
            <a:picLocks noChangeAspect="1"/>
          </p:cNvPicPr>
          <p:nvPr/>
        </p:nvPicPr>
        <p:blipFill>
          <a:blip r:embed="rId4"/>
          <a:stretch>
            <a:fillRect/>
          </a:stretch>
        </p:blipFill>
        <p:spPr>
          <a:xfrm>
            <a:off x="10251521" y="2314529"/>
            <a:ext cx="272125" cy="272125"/>
          </a:xfrm>
          <a:prstGeom prst="rect">
            <a:avLst/>
          </a:prstGeom>
        </p:spPr>
      </p:pic>
      <p:sp>
        <p:nvSpPr>
          <p:cNvPr id="23" name="Text 17"/>
          <p:cNvSpPr txBox="1"/>
          <p:nvPr/>
        </p:nvSpPr>
        <p:spPr>
          <a:xfrm>
            <a:off x="9162288" y="284378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&lt;article&gt;</a:t>
            </a:r>
            <a:endParaRPr lang="en-US" sz="1200" dirty="0"/>
          </a:p>
        </p:txBody>
      </p:sp>
      <p:sp>
        <p:nvSpPr>
          <p:cNvPr id="24" name="Text 18"/>
          <p:cNvSpPr txBox="1"/>
          <p:nvPr/>
        </p:nvSpPr>
        <p:spPr>
          <a:xfrm>
            <a:off x="9189720" y="315468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Konten mandiri yang dapat berdiri sendiri, misal artikel berita</a:t>
            </a:r>
            <a:endParaRPr lang="en-US" sz="930" dirty="0"/>
          </a:p>
        </p:txBody>
      </p:sp>
      <p:sp>
        <p:nvSpPr>
          <p:cNvPr id="25" name="Shape 19"/>
          <p:cNvSpPr/>
          <p:nvPr/>
        </p:nvSpPr>
        <p:spPr>
          <a:xfrm>
            <a:off x="54864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26" name="Shape 20"/>
          <p:cNvSpPr/>
          <p:nvPr/>
        </p:nvSpPr>
        <p:spPr>
          <a:xfrm>
            <a:off x="1600200" y="4315968"/>
            <a:ext cx="566928" cy="566928"/>
          </a:xfrm>
          <a:prstGeom prst="ellipse">
            <a:avLst/>
          </a:prstGeom>
          <a:solidFill>
            <a:srgbClr val="E44D26"/>
          </a:solidFill>
          <a:ln/>
        </p:spPr>
      </p:sp>
      <p:pic>
        <p:nvPicPr>
          <p:cNvPr id="27" name="Image 4" descr="preencoded.png">    </p:cNvPr>
          <p:cNvPicPr>
            <a:picLocks noChangeAspect="1"/>
          </p:cNvPicPr>
          <p:nvPr/>
        </p:nvPicPr>
        <p:blipFill>
          <a:blip r:embed="rId5"/>
          <a:stretch>
            <a:fillRect/>
          </a:stretch>
        </p:blipFill>
        <p:spPr>
          <a:xfrm>
            <a:off x="1747601" y="4463369"/>
            <a:ext cx="272125" cy="272125"/>
          </a:xfrm>
          <a:prstGeom prst="rect">
            <a:avLst/>
          </a:prstGeom>
        </p:spPr>
      </p:pic>
      <p:sp>
        <p:nvSpPr>
          <p:cNvPr id="28" name="Text 21"/>
          <p:cNvSpPr txBox="1"/>
          <p:nvPr/>
        </p:nvSpPr>
        <p:spPr>
          <a:xfrm>
            <a:off x="658368" y="499262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&lt;section&gt;</a:t>
            </a:r>
            <a:endParaRPr lang="en-US" sz="1200" dirty="0"/>
          </a:p>
        </p:txBody>
      </p:sp>
      <p:sp>
        <p:nvSpPr>
          <p:cNvPr id="29" name="Text 22"/>
          <p:cNvSpPr txBox="1"/>
          <p:nvPr/>
        </p:nvSpPr>
        <p:spPr>
          <a:xfrm>
            <a:off x="685800" y="530352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Pengelompokan tematik konten dalam dokumen</a:t>
            </a:r>
            <a:endParaRPr lang="en-US" sz="930" dirty="0"/>
          </a:p>
        </p:txBody>
      </p:sp>
      <p:sp>
        <p:nvSpPr>
          <p:cNvPr id="30" name="Shape 23"/>
          <p:cNvSpPr/>
          <p:nvPr/>
        </p:nvSpPr>
        <p:spPr>
          <a:xfrm>
            <a:off x="338328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31" name="Shape 24"/>
          <p:cNvSpPr/>
          <p:nvPr/>
        </p:nvSpPr>
        <p:spPr>
          <a:xfrm>
            <a:off x="4434840" y="4315968"/>
            <a:ext cx="566928" cy="566928"/>
          </a:xfrm>
          <a:prstGeom prst="ellipse">
            <a:avLst/>
          </a:prstGeom>
          <a:solidFill>
            <a:srgbClr val="E44D26"/>
          </a:solidFill>
          <a:ln/>
        </p:spPr>
      </p:sp>
      <p:pic>
        <p:nvPicPr>
          <p:cNvPr id="32" name="Image 5" descr="preencoded.png">    </p:cNvPr>
          <p:cNvPicPr>
            <a:picLocks noChangeAspect="1"/>
          </p:cNvPicPr>
          <p:nvPr/>
        </p:nvPicPr>
        <p:blipFill>
          <a:blip r:embed="rId6"/>
          <a:stretch>
            <a:fillRect/>
          </a:stretch>
        </p:blipFill>
        <p:spPr>
          <a:xfrm>
            <a:off x="4582241" y="4463369"/>
            <a:ext cx="272125" cy="272125"/>
          </a:xfrm>
          <a:prstGeom prst="rect">
            <a:avLst/>
          </a:prstGeom>
        </p:spPr>
      </p:pic>
      <p:sp>
        <p:nvSpPr>
          <p:cNvPr id="33" name="Text 25"/>
          <p:cNvSpPr txBox="1"/>
          <p:nvPr/>
        </p:nvSpPr>
        <p:spPr>
          <a:xfrm>
            <a:off x="3493008" y="499262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&lt;aside&gt;</a:t>
            </a:r>
            <a:endParaRPr lang="en-US" sz="1200" dirty="0"/>
          </a:p>
        </p:txBody>
      </p:sp>
      <p:sp>
        <p:nvSpPr>
          <p:cNvPr id="34" name="Text 26"/>
          <p:cNvSpPr txBox="1"/>
          <p:nvPr/>
        </p:nvSpPr>
        <p:spPr>
          <a:xfrm>
            <a:off x="3520440" y="530352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Konten pendukung/terkait, misal sidebar atau iklan</a:t>
            </a:r>
            <a:endParaRPr lang="en-US" sz="930" dirty="0"/>
          </a:p>
        </p:txBody>
      </p:sp>
      <p:sp>
        <p:nvSpPr>
          <p:cNvPr id="35" name="Shape 27"/>
          <p:cNvSpPr/>
          <p:nvPr/>
        </p:nvSpPr>
        <p:spPr>
          <a:xfrm>
            <a:off x="621792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36" name="Shape 28"/>
          <p:cNvSpPr/>
          <p:nvPr/>
        </p:nvSpPr>
        <p:spPr>
          <a:xfrm>
            <a:off x="7269480" y="4315968"/>
            <a:ext cx="566928" cy="566928"/>
          </a:xfrm>
          <a:prstGeom prst="ellipse">
            <a:avLst/>
          </a:prstGeom>
          <a:solidFill>
            <a:srgbClr val="E44D26"/>
          </a:solidFill>
          <a:ln/>
        </p:spPr>
      </p:sp>
      <p:pic>
        <p:nvPicPr>
          <p:cNvPr id="37" name="Image 6" descr="preencoded.png">    </p:cNvPr>
          <p:cNvPicPr>
            <a:picLocks noChangeAspect="1"/>
          </p:cNvPicPr>
          <p:nvPr/>
        </p:nvPicPr>
        <p:blipFill>
          <a:blip r:embed="rId7"/>
          <a:stretch>
            <a:fillRect/>
          </a:stretch>
        </p:blipFill>
        <p:spPr>
          <a:xfrm>
            <a:off x="7416881" y="4463369"/>
            <a:ext cx="272125" cy="272125"/>
          </a:xfrm>
          <a:prstGeom prst="rect">
            <a:avLst/>
          </a:prstGeom>
        </p:spPr>
      </p:pic>
      <p:sp>
        <p:nvSpPr>
          <p:cNvPr id="38" name="Text 29"/>
          <p:cNvSpPr txBox="1"/>
          <p:nvPr/>
        </p:nvSpPr>
        <p:spPr>
          <a:xfrm>
            <a:off x="6327648" y="499262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&lt;footer&gt;</a:t>
            </a:r>
            <a:endParaRPr lang="en-US" sz="1200" dirty="0"/>
          </a:p>
        </p:txBody>
      </p:sp>
      <p:sp>
        <p:nvSpPr>
          <p:cNvPr id="39" name="Text 30"/>
          <p:cNvSpPr txBox="1"/>
          <p:nvPr/>
        </p:nvSpPr>
        <p:spPr>
          <a:xfrm>
            <a:off x="6355080" y="530352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Bagian penutup halaman (kontak, hak cipta, tautan)</a:t>
            </a:r>
            <a:endParaRPr lang="en-US" sz="930" dirty="0"/>
          </a:p>
        </p:txBody>
      </p:sp>
      <p:sp>
        <p:nvSpPr>
          <p:cNvPr id="40" name="Shape 31"/>
          <p:cNvSpPr/>
          <p:nvPr/>
        </p:nvSpPr>
        <p:spPr>
          <a:xfrm>
            <a:off x="905256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41" name="Shape 32"/>
          <p:cNvSpPr/>
          <p:nvPr/>
        </p:nvSpPr>
        <p:spPr>
          <a:xfrm>
            <a:off x="10104120" y="4315968"/>
            <a:ext cx="566928" cy="566928"/>
          </a:xfrm>
          <a:prstGeom prst="ellipse">
            <a:avLst/>
          </a:prstGeom>
          <a:solidFill>
            <a:srgbClr val="E44D26"/>
          </a:solidFill>
          <a:ln/>
        </p:spPr>
      </p:sp>
      <p:pic>
        <p:nvPicPr>
          <p:cNvPr id="42" name="Image 7" descr="preencoded.png">    </p:cNvPr>
          <p:cNvPicPr>
            <a:picLocks noChangeAspect="1"/>
          </p:cNvPicPr>
          <p:nvPr/>
        </p:nvPicPr>
        <p:blipFill>
          <a:blip r:embed="rId8"/>
          <a:stretch>
            <a:fillRect/>
          </a:stretch>
        </p:blipFill>
        <p:spPr>
          <a:xfrm>
            <a:off x="10251521" y="4463369"/>
            <a:ext cx="272125" cy="272125"/>
          </a:xfrm>
          <a:prstGeom prst="rect">
            <a:avLst/>
          </a:prstGeom>
        </p:spPr>
      </p:pic>
      <p:sp>
        <p:nvSpPr>
          <p:cNvPr id="43" name="Text 33"/>
          <p:cNvSpPr txBox="1"/>
          <p:nvPr/>
        </p:nvSpPr>
        <p:spPr>
          <a:xfrm>
            <a:off x="9162288" y="4992624"/>
            <a:ext cx="2450592" cy="292608"/>
          </a:xfrm>
          <a:prstGeom prst="rect">
            <a:avLst/>
          </a:prstGeom>
          <a:noFill/>
          <a:ln/>
        </p:spPr>
        <p:txBody>
          <a:bodyPr wrap="square" lIns="0" tIns="0" rIns="0" bIns="0" rtlCol="0" anchor="ctr"/>
          <a:lstStyle/>
          <a:p>
            <a:pPr algn="ctr" indent="0" marL="0">
              <a:buNone/>
            </a:pPr>
            <a:r>
              <a:rPr lang="en-US" sz="1200" b="1" dirty="0">
                <a:solidFill>
                  <a:srgbClr val="E44D26"/>
                </a:solidFill>
                <a:latin typeface="Courier New" pitchFamily="34" charset="0"/>
                <a:ea typeface="Courier New" pitchFamily="34" charset="-122"/>
                <a:cs typeface="Courier New" pitchFamily="34" charset="-120"/>
              </a:rPr>
              <a:t>&lt;figure&gt;/&lt;figcaption&gt;</a:t>
            </a:r>
            <a:endParaRPr lang="en-US" sz="1200" dirty="0"/>
          </a:p>
        </p:txBody>
      </p:sp>
      <p:sp>
        <p:nvSpPr>
          <p:cNvPr id="44" name="Text 34"/>
          <p:cNvSpPr txBox="1"/>
          <p:nvPr/>
        </p:nvSpPr>
        <p:spPr>
          <a:xfrm>
            <a:off x="9189720" y="5303520"/>
            <a:ext cx="2395728" cy="685800"/>
          </a:xfrm>
          <a:prstGeom prst="rect">
            <a:avLst/>
          </a:prstGeom>
          <a:noFill/>
          <a:ln/>
        </p:spPr>
        <p:txBody>
          <a:bodyPr wrap="square" lIns="0" tIns="0" rIns="0" bIns="0" rtlCol="0" anchor="ctr"/>
          <a:lstStyle/>
          <a:p>
            <a:pPr algn="ctr" indent="0" marL="0">
              <a:lnSpc>
                <a:spcPct val="115000"/>
              </a:lnSpc>
              <a:buNone/>
            </a:pPr>
            <a:r>
              <a:rPr lang="en-US" sz="930" dirty="0">
                <a:solidFill>
                  <a:srgbClr val="6B6B6B"/>
                </a:solidFill>
                <a:latin typeface="Calibri" pitchFamily="34" charset="0"/>
                <a:ea typeface="Calibri" pitchFamily="34" charset="-122"/>
                <a:cs typeface="Calibri" pitchFamily="34" charset="-120"/>
              </a:rPr>
              <a:t>Mengelompokkan gambar/diagram beserta keterangannya</a:t>
            </a:r>
            <a:endParaRPr lang="en-US" sz="930" dirty="0"/>
          </a:p>
        </p:txBody>
      </p:sp>
      <p:sp>
        <p:nvSpPr>
          <p:cNvPr id="45" name="Text 35"/>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46" name="Text 36"/>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VISUALISASI</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Contoh Tata Letak Halaman Semantik</a:t>
            </a:r>
            <a:endParaRPr lang="en-US" sz="3200" dirty="0"/>
          </a:p>
        </p:txBody>
      </p:sp>
      <p:sp>
        <p:nvSpPr>
          <p:cNvPr id="4" name="Shape 2"/>
          <p:cNvSpPr/>
          <p:nvPr/>
        </p:nvSpPr>
        <p:spPr>
          <a:xfrm>
            <a:off x="3291840" y="1691640"/>
            <a:ext cx="5577840" cy="4572000"/>
          </a:xfrm>
          <a:prstGeom prst="rect">
            <a:avLst/>
          </a:prstGeom>
          <a:solidFill>
            <a:srgbClr val="F7F6F4"/>
          </a:solidFill>
          <a:ln w="19050">
            <a:solidFill>
              <a:srgbClr val="E5E2DD"/>
            </a:solidFill>
            <a:prstDash val="solid"/>
          </a:ln>
        </p:spPr>
      </p:sp>
      <p:sp>
        <p:nvSpPr>
          <p:cNvPr id="5" name="Shape 3"/>
          <p:cNvSpPr/>
          <p:nvPr/>
        </p:nvSpPr>
        <p:spPr>
          <a:xfrm>
            <a:off x="3429000" y="1828800"/>
            <a:ext cx="5303520" cy="731520"/>
          </a:xfrm>
          <a:prstGeom prst="rect">
            <a:avLst/>
          </a:prstGeom>
          <a:solidFill>
            <a:srgbClr val="E44D26"/>
          </a:solidFill>
          <a:ln w="25400">
            <a:solidFill>
              <a:srgbClr val="FFFFFF"/>
            </a:solidFill>
            <a:prstDash val="solid"/>
          </a:ln>
        </p:spPr>
      </p:sp>
      <p:sp>
        <p:nvSpPr>
          <p:cNvPr id="6" name="Text 4"/>
          <p:cNvSpPr txBox="1"/>
          <p:nvPr/>
        </p:nvSpPr>
        <p:spPr>
          <a:xfrm>
            <a:off x="3429000" y="1828800"/>
            <a:ext cx="53035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&lt;header&gt;</a:t>
            </a:r>
            <a:endParaRPr lang="en-US" sz="1200" dirty="0"/>
          </a:p>
        </p:txBody>
      </p:sp>
      <p:sp>
        <p:nvSpPr>
          <p:cNvPr id="7" name="Shape 5"/>
          <p:cNvSpPr/>
          <p:nvPr/>
        </p:nvSpPr>
        <p:spPr>
          <a:xfrm>
            <a:off x="3429000" y="2651760"/>
            <a:ext cx="5303520" cy="502920"/>
          </a:xfrm>
          <a:prstGeom prst="rect">
            <a:avLst/>
          </a:prstGeom>
          <a:solidFill>
            <a:srgbClr val="F16529"/>
          </a:solidFill>
          <a:ln w="25400">
            <a:solidFill>
              <a:srgbClr val="FFFFFF"/>
            </a:solidFill>
            <a:prstDash val="solid"/>
          </a:ln>
        </p:spPr>
      </p:sp>
      <p:sp>
        <p:nvSpPr>
          <p:cNvPr id="8" name="Text 6"/>
          <p:cNvSpPr txBox="1"/>
          <p:nvPr/>
        </p:nvSpPr>
        <p:spPr>
          <a:xfrm>
            <a:off x="3429000" y="2651760"/>
            <a:ext cx="53035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&lt;nav&gt;</a:t>
            </a:r>
            <a:endParaRPr lang="en-US" sz="1200" dirty="0"/>
          </a:p>
        </p:txBody>
      </p:sp>
      <p:sp>
        <p:nvSpPr>
          <p:cNvPr id="9" name="Shape 7"/>
          <p:cNvSpPr/>
          <p:nvPr/>
        </p:nvSpPr>
        <p:spPr>
          <a:xfrm>
            <a:off x="3429000" y="3246120"/>
            <a:ext cx="3458261" cy="2377440"/>
          </a:xfrm>
          <a:prstGeom prst="rect">
            <a:avLst/>
          </a:prstGeom>
          <a:solidFill>
            <a:srgbClr val="4A4A4A"/>
          </a:solidFill>
          <a:ln w="25400">
            <a:solidFill>
              <a:srgbClr val="FFFFFF"/>
            </a:solidFill>
            <a:prstDash val="solid"/>
          </a:ln>
        </p:spPr>
      </p:sp>
      <p:sp>
        <p:nvSpPr>
          <p:cNvPr id="10" name="Text 8"/>
          <p:cNvSpPr txBox="1"/>
          <p:nvPr/>
        </p:nvSpPr>
        <p:spPr>
          <a:xfrm>
            <a:off x="3429000" y="3246120"/>
            <a:ext cx="3458261" cy="237744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&lt;main&gt;</a:t>
            </a:r>
            <a:endParaRPr lang="en-US" sz="1200" dirty="0"/>
          </a:p>
        </p:txBody>
      </p:sp>
      <p:sp>
        <p:nvSpPr>
          <p:cNvPr id="11" name="Shape 9"/>
          <p:cNvSpPr/>
          <p:nvPr/>
        </p:nvSpPr>
        <p:spPr>
          <a:xfrm>
            <a:off x="3566160" y="3474720"/>
            <a:ext cx="3183941" cy="1005840"/>
          </a:xfrm>
          <a:prstGeom prst="rect">
            <a:avLst/>
          </a:prstGeom>
          <a:solidFill>
            <a:srgbClr val="6B6B6B"/>
          </a:solidFill>
          <a:ln w="25400">
            <a:solidFill>
              <a:srgbClr val="FFFFFF"/>
            </a:solidFill>
            <a:prstDash val="solid"/>
          </a:ln>
        </p:spPr>
      </p:sp>
      <p:sp>
        <p:nvSpPr>
          <p:cNvPr id="12" name="Text 10"/>
          <p:cNvSpPr txBox="1"/>
          <p:nvPr/>
        </p:nvSpPr>
        <p:spPr>
          <a:xfrm>
            <a:off x="3566160" y="3474720"/>
            <a:ext cx="3183941"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&lt;article&gt;</a:t>
            </a:r>
            <a:endParaRPr lang="en-US" sz="1200" dirty="0"/>
          </a:p>
        </p:txBody>
      </p:sp>
      <p:sp>
        <p:nvSpPr>
          <p:cNvPr id="13" name="Shape 11"/>
          <p:cNvSpPr/>
          <p:nvPr/>
        </p:nvSpPr>
        <p:spPr>
          <a:xfrm>
            <a:off x="3566160" y="4572000"/>
            <a:ext cx="3183941" cy="960120"/>
          </a:xfrm>
          <a:prstGeom prst="rect">
            <a:avLst/>
          </a:prstGeom>
          <a:solidFill>
            <a:srgbClr val="6B6B6B"/>
          </a:solidFill>
          <a:ln w="25400">
            <a:solidFill>
              <a:srgbClr val="FFFFFF"/>
            </a:solidFill>
            <a:prstDash val="solid"/>
          </a:ln>
        </p:spPr>
      </p:sp>
      <p:sp>
        <p:nvSpPr>
          <p:cNvPr id="14" name="Text 12"/>
          <p:cNvSpPr txBox="1"/>
          <p:nvPr/>
        </p:nvSpPr>
        <p:spPr>
          <a:xfrm>
            <a:off x="3566160" y="4572000"/>
            <a:ext cx="3183941"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&lt;section&gt;</a:t>
            </a:r>
            <a:endParaRPr lang="en-US" sz="1200" dirty="0"/>
          </a:p>
        </p:txBody>
      </p:sp>
      <p:sp>
        <p:nvSpPr>
          <p:cNvPr id="15" name="Shape 13"/>
          <p:cNvSpPr/>
          <p:nvPr/>
        </p:nvSpPr>
        <p:spPr>
          <a:xfrm>
            <a:off x="6978701" y="3246120"/>
            <a:ext cx="1753819" cy="2377440"/>
          </a:xfrm>
          <a:prstGeom prst="rect">
            <a:avLst/>
          </a:prstGeom>
          <a:solidFill>
            <a:srgbClr val="8A8A8A"/>
          </a:solidFill>
          <a:ln w="25400">
            <a:solidFill>
              <a:srgbClr val="FFFFFF"/>
            </a:solidFill>
            <a:prstDash val="solid"/>
          </a:ln>
        </p:spPr>
      </p:sp>
      <p:sp>
        <p:nvSpPr>
          <p:cNvPr id="16" name="Text 14"/>
          <p:cNvSpPr txBox="1"/>
          <p:nvPr/>
        </p:nvSpPr>
        <p:spPr>
          <a:xfrm>
            <a:off x="6978701" y="3246120"/>
            <a:ext cx="1753819" cy="237744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&lt;aside&gt;</a:t>
            </a:r>
            <a:endParaRPr lang="en-US" sz="1200" dirty="0"/>
          </a:p>
        </p:txBody>
      </p:sp>
      <p:sp>
        <p:nvSpPr>
          <p:cNvPr id="17" name="Shape 15"/>
          <p:cNvSpPr/>
          <p:nvPr/>
        </p:nvSpPr>
        <p:spPr>
          <a:xfrm>
            <a:off x="3429000" y="5715000"/>
            <a:ext cx="5303520" cy="411480"/>
          </a:xfrm>
          <a:prstGeom prst="rect">
            <a:avLst/>
          </a:prstGeom>
          <a:solidFill>
            <a:srgbClr val="1B1B1B"/>
          </a:solidFill>
          <a:ln w="25400">
            <a:solidFill>
              <a:srgbClr val="FFFFFF"/>
            </a:solidFill>
            <a:prstDash val="solid"/>
          </a:ln>
        </p:spPr>
      </p:sp>
      <p:sp>
        <p:nvSpPr>
          <p:cNvPr id="18" name="Text 16"/>
          <p:cNvSpPr txBox="1"/>
          <p:nvPr/>
        </p:nvSpPr>
        <p:spPr>
          <a:xfrm>
            <a:off x="3429000" y="5715000"/>
            <a:ext cx="530352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&lt;footer&gt;</a:t>
            </a:r>
            <a:endParaRPr lang="en-US" sz="1200" dirty="0"/>
          </a:p>
        </p:txBody>
      </p:sp>
      <p:sp>
        <p:nvSpPr>
          <p:cNvPr id="19" name="Text 17"/>
          <p:cNvSpPr txBox="1"/>
          <p:nvPr/>
        </p:nvSpPr>
        <p:spPr>
          <a:xfrm>
            <a:off x="502920" y="2194560"/>
            <a:ext cx="2606040" cy="1828800"/>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alibri" pitchFamily="34" charset="0"/>
                <a:ea typeface="Calibri" pitchFamily="34" charset="-122"/>
                <a:cs typeface="Calibri" pitchFamily="34" charset="-120"/>
              </a:rPr>
              <a:t>Semua elemen berada dalam satu</a:t>
            </a:r>
            <a:endParaRPr lang="en-US" sz="1200" dirty="0"/>
          </a:p>
          <a:p>
            <a:pPr indent="0" marL="0">
              <a:lnSpc>
                <a:spcPct val="130000"/>
              </a:lnSpc>
              <a:buNone/>
            </a:pPr>
            <a:r>
              <a:rPr lang="en-US" sz="1200" dirty="0">
                <a:solidFill>
                  <a:srgbClr val="2B2B2B"/>
                </a:solidFill>
                <a:latin typeface="Calibri" pitchFamily="34" charset="0"/>
                <a:ea typeface="Calibri" pitchFamily="34" charset="-122"/>
                <a:cs typeface="Calibri" pitchFamily="34" charset="-120"/>
              </a:rPr>
              <a:t>&lt;body&gt; dan membentuk kerangka</a:t>
            </a:r>
            <a:endParaRPr lang="en-US" sz="1200" dirty="0"/>
          </a:p>
          <a:p>
            <a:pPr indent="0" marL="0">
              <a:lnSpc>
                <a:spcPct val="130000"/>
              </a:lnSpc>
              <a:buNone/>
            </a:pPr>
            <a:r>
              <a:rPr lang="en-US" sz="1200" dirty="0">
                <a:solidFill>
                  <a:srgbClr val="2B2B2B"/>
                </a:solidFill>
                <a:latin typeface="Calibri" pitchFamily="34" charset="0"/>
                <a:ea typeface="Calibri" pitchFamily="34" charset="-122"/>
                <a:cs typeface="Calibri" pitchFamily="34" charset="-120"/>
              </a:rPr>
              <a:t>halaman yang mudah dipahami</a:t>
            </a:r>
            <a:endParaRPr lang="en-US" sz="1200" dirty="0"/>
          </a:p>
          <a:p>
            <a:pPr indent="0" marL="0">
              <a:lnSpc>
                <a:spcPct val="130000"/>
              </a:lnSpc>
              <a:buNone/>
            </a:pPr>
            <a:r>
              <a:rPr lang="en-US" sz="1200" dirty="0">
                <a:solidFill>
                  <a:srgbClr val="2B2B2B"/>
                </a:solidFill>
                <a:latin typeface="Calibri" pitchFamily="34" charset="0"/>
                <a:ea typeface="Calibri" pitchFamily="34" charset="-122"/>
                <a:cs typeface="Calibri" pitchFamily="34" charset="-120"/>
              </a:rPr>
              <a:t>oleh browser maupun pembaca</a:t>
            </a:r>
            <a:endParaRPr lang="en-US" sz="1200" dirty="0"/>
          </a:p>
          <a:p>
            <a:pPr indent="0" marL="0">
              <a:lnSpc>
                <a:spcPct val="130000"/>
              </a:lnSpc>
              <a:buNone/>
            </a:pPr>
            <a:r>
              <a:rPr lang="en-US" sz="1200" dirty="0">
                <a:solidFill>
                  <a:srgbClr val="2B2B2B"/>
                </a:solidFill>
                <a:latin typeface="Calibri" pitchFamily="34" charset="0"/>
                <a:ea typeface="Calibri" pitchFamily="34" charset="-122"/>
                <a:cs typeface="Calibri" pitchFamily="34" charset="-120"/>
              </a:rPr>
              <a:t>layar (screen reader).</a:t>
            </a:r>
            <a:endParaRPr lang="en-US" sz="1200" dirty="0"/>
          </a:p>
        </p:txBody>
      </p:sp>
      <p:sp>
        <p:nvSpPr>
          <p:cNvPr id="20" name="Shape 18"/>
          <p:cNvSpPr/>
          <p:nvPr/>
        </p:nvSpPr>
        <p:spPr>
          <a:xfrm>
            <a:off x="502920" y="4160520"/>
            <a:ext cx="2194560" cy="0"/>
          </a:xfrm>
          <a:prstGeom prst="line">
            <a:avLst/>
          </a:prstGeom>
          <a:noFill/>
          <a:ln w="19050">
            <a:solidFill>
              <a:srgbClr val="E5E2DD"/>
            </a:solidFill>
            <a:prstDash val="solid"/>
          </a:ln>
        </p:spPr>
      </p:sp>
      <p:sp>
        <p:nvSpPr>
          <p:cNvPr id="21" name="Text 19"/>
          <p:cNvSpPr txBox="1"/>
          <p:nvPr/>
        </p:nvSpPr>
        <p:spPr>
          <a:xfrm>
            <a:off x="502920" y="4343400"/>
            <a:ext cx="2606040" cy="1280160"/>
          </a:xfrm>
          <a:prstGeom prst="rect">
            <a:avLst/>
          </a:prstGeom>
          <a:noFill/>
          <a:ln/>
        </p:spPr>
        <p:txBody>
          <a:bodyPr wrap="square" lIns="0" tIns="0" rIns="0" bIns="0" rtlCol="0" anchor="ctr"/>
          <a:lstStyle/>
          <a:p>
            <a:pPr indent="0" marL="0">
              <a:lnSpc>
                <a:spcPct val="125000"/>
              </a:lnSpc>
              <a:buNone/>
            </a:pPr>
            <a:r>
              <a:rPr lang="en-US" sz="1050" i="1" dirty="0">
                <a:solidFill>
                  <a:srgbClr val="6B6B6B"/>
                </a:solidFill>
                <a:latin typeface="Calibri" pitchFamily="34" charset="0"/>
                <a:ea typeface="Calibri" pitchFamily="34" charset="-122"/>
                <a:cs typeface="Calibri" pitchFamily="34" charset="-120"/>
              </a:rPr>
              <a:t>Struktur ini menggantikan tumpukan &lt;div id="header"&gt;, &lt;div id="nav"&gt;, dsb. yang umum dijumpai pada HTML4.</a:t>
            </a:r>
            <a:endParaRPr lang="en-US" sz="1050" dirty="0"/>
          </a:p>
        </p:txBody>
      </p:sp>
      <p:sp>
        <p:nvSpPr>
          <p:cNvPr id="22" name="Text 20"/>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23"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INTERAKSI PENGGUNA</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Formulir &amp; Tipe Input Modern</a:t>
            </a:r>
            <a:endParaRPr lang="en-US" sz="3200" dirty="0"/>
          </a:p>
        </p:txBody>
      </p:sp>
      <p:sp>
        <p:nvSpPr>
          <p:cNvPr id="4" name="Text 2"/>
          <p:cNvSpPr txBox="1"/>
          <p:nvPr/>
        </p:nvSpPr>
        <p:spPr>
          <a:xfrm>
            <a:off x="548640" y="1417320"/>
            <a:ext cx="10789920" cy="411480"/>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HTML5 memperkenalkan berbagai tipe input baru yang mendukung validasi bawaan browser tanpa memerlukan JavaScript tambahan.</a:t>
            </a:r>
            <a:endParaRPr lang="en-US" sz="1250" dirty="0"/>
          </a:p>
        </p:txBody>
      </p:sp>
      <p:sp>
        <p:nvSpPr>
          <p:cNvPr id="5" name="Shape 3"/>
          <p:cNvSpPr/>
          <p:nvPr/>
        </p:nvSpPr>
        <p:spPr>
          <a:xfrm>
            <a:off x="548640" y="2057400"/>
            <a:ext cx="2651760" cy="914400"/>
          </a:xfrm>
          <a:prstGeom prst="rect">
            <a:avLst/>
          </a:prstGeom>
          <a:solidFill>
            <a:srgbClr val="F7F6F4"/>
          </a:solidFill>
          <a:ln/>
        </p:spPr>
      </p:sp>
      <p:sp>
        <p:nvSpPr>
          <p:cNvPr id="6" name="Shape 4"/>
          <p:cNvSpPr/>
          <p:nvPr/>
        </p:nvSpPr>
        <p:spPr>
          <a:xfrm>
            <a:off x="548640" y="2057400"/>
            <a:ext cx="82296" cy="914400"/>
          </a:xfrm>
          <a:prstGeom prst="rect">
            <a:avLst/>
          </a:prstGeom>
          <a:solidFill>
            <a:srgbClr val="E44D26"/>
          </a:solidFill>
          <a:ln/>
        </p:spPr>
      </p:sp>
      <p:sp>
        <p:nvSpPr>
          <p:cNvPr id="7" name="Text 5"/>
          <p:cNvSpPr txBox="1"/>
          <p:nvPr/>
        </p:nvSpPr>
        <p:spPr>
          <a:xfrm>
            <a:off x="749808" y="214884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type="email"</a:t>
            </a:r>
            <a:endParaRPr lang="en-US" sz="1200" dirty="0"/>
          </a:p>
        </p:txBody>
      </p:sp>
      <p:sp>
        <p:nvSpPr>
          <p:cNvPr id="8" name="Text 6"/>
          <p:cNvSpPr txBox="1"/>
          <p:nvPr/>
        </p:nvSpPr>
        <p:spPr>
          <a:xfrm>
            <a:off x="749808" y="244144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Memvalidasi format alamat surel</a:t>
            </a:r>
            <a:endParaRPr lang="en-US" sz="970" dirty="0"/>
          </a:p>
        </p:txBody>
      </p:sp>
      <p:sp>
        <p:nvSpPr>
          <p:cNvPr id="9" name="Shape 7"/>
          <p:cNvSpPr/>
          <p:nvPr/>
        </p:nvSpPr>
        <p:spPr>
          <a:xfrm>
            <a:off x="3337560" y="2057400"/>
            <a:ext cx="2651760" cy="914400"/>
          </a:xfrm>
          <a:prstGeom prst="rect">
            <a:avLst/>
          </a:prstGeom>
          <a:solidFill>
            <a:srgbClr val="F7F6F4"/>
          </a:solidFill>
          <a:ln/>
        </p:spPr>
      </p:sp>
      <p:sp>
        <p:nvSpPr>
          <p:cNvPr id="10" name="Shape 8"/>
          <p:cNvSpPr/>
          <p:nvPr/>
        </p:nvSpPr>
        <p:spPr>
          <a:xfrm>
            <a:off x="3337560" y="2057400"/>
            <a:ext cx="82296" cy="914400"/>
          </a:xfrm>
          <a:prstGeom prst="rect">
            <a:avLst/>
          </a:prstGeom>
          <a:solidFill>
            <a:srgbClr val="E44D26"/>
          </a:solidFill>
          <a:ln/>
        </p:spPr>
      </p:sp>
      <p:sp>
        <p:nvSpPr>
          <p:cNvPr id="11" name="Text 9"/>
          <p:cNvSpPr txBox="1"/>
          <p:nvPr/>
        </p:nvSpPr>
        <p:spPr>
          <a:xfrm>
            <a:off x="3538728" y="214884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type="date"</a:t>
            </a:r>
            <a:endParaRPr lang="en-US" sz="1200" dirty="0"/>
          </a:p>
        </p:txBody>
      </p:sp>
      <p:sp>
        <p:nvSpPr>
          <p:cNvPr id="12" name="Text 10"/>
          <p:cNvSpPr txBox="1"/>
          <p:nvPr/>
        </p:nvSpPr>
        <p:spPr>
          <a:xfrm>
            <a:off x="3538728" y="244144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Menampilkan pemilih tanggal (date picker)</a:t>
            </a:r>
            <a:endParaRPr lang="en-US" sz="970" dirty="0"/>
          </a:p>
        </p:txBody>
      </p:sp>
      <p:sp>
        <p:nvSpPr>
          <p:cNvPr id="13" name="Shape 11"/>
          <p:cNvSpPr/>
          <p:nvPr/>
        </p:nvSpPr>
        <p:spPr>
          <a:xfrm>
            <a:off x="6126480" y="2057400"/>
            <a:ext cx="2651760" cy="914400"/>
          </a:xfrm>
          <a:prstGeom prst="rect">
            <a:avLst/>
          </a:prstGeom>
          <a:solidFill>
            <a:srgbClr val="F7F6F4"/>
          </a:solidFill>
          <a:ln/>
        </p:spPr>
      </p:sp>
      <p:sp>
        <p:nvSpPr>
          <p:cNvPr id="14" name="Shape 12"/>
          <p:cNvSpPr/>
          <p:nvPr/>
        </p:nvSpPr>
        <p:spPr>
          <a:xfrm>
            <a:off x="6126480" y="2057400"/>
            <a:ext cx="82296" cy="914400"/>
          </a:xfrm>
          <a:prstGeom prst="rect">
            <a:avLst/>
          </a:prstGeom>
          <a:solidFill>
            <a:srgbClr val="E44D26"/>
          </a:solidFill>
          <a:ln/>
        </p:spPr>
      </p:sp>
      <p:sp>
        <p:nvSpPr>
          <p:cNvPr id="15" name="Text 13"/>
          <p:cNvSpPr txBox="1"/>
          <p:nvPr/>
        </p:nvSpPr>
        <p:spPr>
          <a:xfrm>
            <a:off x="6327648" y="214884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type="number"</a:t>
            </a:r>
            <a:endParaRPr lang="en-US" sz="1200" dirty="0"/>
          </a:p>
        </p:txBody>
      </p:sp>
      <p:sp>
        <p:nvSpPr>
          <p:cNvPr id="16" name="Text 14"/>
          <p:cNvSpPr txBox="1"/>
          <p:nvPr/>
        </p:nvSpPr>
        <p:spPr>
          <a:xfrm>
            <a:off x="6327648" y="244144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Membatasi masukan hanya berupa angka</a:t>
            </a:r>
            <a:endParaRPr lang="en-US" sz="970" dirty="0"/>
          </a:p>
        </p:txBody>
      </p:sp>
      <p:sp>
        <p:nvSpPr>
          <p:cNvPr id="17" name="Shape 15"/>
          <p:cNvSpPr/>
          <p:nvPr/>
        </p:nvSpPr>
        <p:spPr>
          <a:xfrm>
            <a:off x="8915400" y="2057400"/>
            <a:ext cx="2651760" cy="914400"/>
          </a:xfrm>
          <a:prstGeom prst="rect">
            <a:avLst/>
          </a:prstGeom>
          <a:solidFill>
            <a:srgbClr val="F7F6F4"/>
          </a:solidFill>
          <a:ln/>
        </p:spPr>
      </p:sp>
      <p:sp>
        <p:nvSpPr>
          <p:cNvPr id="18" name="Shape 16"/>
          <p:cNvSpPr/>
          <p:nvPr/>
        </p:nvSpPr>
        <p:spPr>
          <a:xfrm>
            <a:off x="8915400" y="2057400"/>
            <a:ext cx="82296" cy="914400"/>
          </a:xfrm>
          <a:prstGeom prst="rect">
            <a:avLst/>
          </a:prstGeom>
          <a:solidFill>
            <a:srgbClr val="E44D26"/>
          </a:solidFill>
          <a:ln/>
        </p:spPr>
      </p:sp>
      <p:sp>
        <p:nvSpPr>
          <p:cNvPr id="19" name="Text 17"/>
          <p:cNvSpPr txBox="1"/>
          <p:nvPr/>
        </p:nvSpPr>
        <p:spPr>
          <a:xfrm>
            <a:off x="9116568" y="214884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type="range"</a:t>
            </a:r>
            <a:endParaRPr lang="en-US" sz="1200" dirty="0"/>
          </a:p>
        </p:txBody>
      </p:sp>
      <p:sp>
        <p:nvSpPr>
          <p:cNvPr id="20" name="Text 18"/>
          <p:cNvSpPr txBox="1"/>
          <p:nvPr/>
        </p:nvSpPr>
        <p:spPr>
          <a:xfrm>
            <a:off x="9116568" y="244144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Menampilkan penggeser (slider) nilai</a:t>
            </a:r>
            <a:endParaRPr lang="en-US" sz="970" dirty="0"/>
          </a:p>
        </p:txBody>
      </p:sp>
      <p:sp>
        <p:nvSpPr>
          <p:cNvPr id="21" name="Shape 19"/>
          <p:cNvSpPr/>
          <p:nvPr/>
        </p:nvSpPr>
        <p:spPr>
          <a:xfrm>
            <a:off x="548640" y="3108960"/>
            <a:ext cx="2651760" cy="914400"/>
          </a:xfrm>
          <a:prstGeom prst="rect">
            <a:avLst/>
          </a:prstGeom>
          <a:solidFill>
            <a:srgbClr val="F7F6F4"/>
          </a:solidFill>
          <a:ln/>
        </p:spPr>
      </p:sp>
      <p:sp>
        <p:nvSpPr>
          <p:cNvPr id="22" name="Shape 20"/>
          <p:cNvSpPr/>
          <p:nvPr/>
        </p:nvSpPr>
        <p:spPr>
          <a:xfrm>
            <a:off x="548640" y="3108960"/>
            <a:ext cx="82296" cy="914400"/>
          </a:xfrm>
          <a:prstGeom prst="rect">
            <a:avLst/>
          </a:prstGeom>
          <a:solidFill>
            <a:srgbClr val="E44D26"/>
          </a:solidFill>
          <a:ln/>
        </p:spPr>
      </p:sp>
      <p:sp>
        <p:nvSpPr>
          <p:cNvPr id="23" name="Text 21"/>
          <p:cNvSpPr txBox="1"/>
          <p:nvPr/>
        </p:nvSpPr>
        <p:spPr>
          <a:xfrm>
            <a:off x="749808" y="320040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type="tel"</a:t>
            </a:r>
            <a:endParaRPr lang="en-US" sz="1200" dirty="0"/>
          </a:p>
        </p:txBody>
      </p:sp>
      <p:sp>
        <p:nvSpPr>
          <p:cNvPr id="24" name="Text 22"/>
          <p:cNvSpPr txBox="1"/>
          <p:nvPr/>
        </p:nvSpPr>
        <p:spPr>
          <a:xfrm>
            <a:off x="749808" y="349300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Masukan nomor telepon</a:t>
            </a:r>
            <a:endParaRPr lang="en-US" sz="970" dirty="0"/>
          </a:p>
        </p:txBody>
      </p:sp>
      <p:sp>
        <p:nvSpPr>
          <p:cNvPr id="25" name="Shape 23"/>
          <p:cNvSpPr/>
          <p:nvPr/>
        </p:nvSpPr>
        <p:spPr>
          <a:xfrm>
            <a:off x="3337560" y="3108960"/>
            <a:ext cx="2651760" cy="914400"/>
          </a:xfrm>
          <a:prstGeom prst="rect">
            <a:avLst/>
          </a:prstGeom>
          <a:solidFill>
            <a:srgbClr val="F7F6F4"/>
          </a:solidFill>
          <a:ln/>
        </p:spPr>
      </p:sp>
      <p:sp>
        <p:nvSpPr>
          <p:cNvPr id="26" name="Shape 24"/>
          <p:cNvSpPr/>
          <p:nvPr/>
        </p:nvSpPr>
        <p:spPr>
          <a:xfrm>
            <a:off x="3337560" y="3108960"/>
            <a:ext cx="82296" cy="914400"/>
          </a:xfrm>
          <a:prstGeom prst="rect">
            <a:avLst/>
          </a:prstGeom>
          <a:solidFill>
            <a:srgbClr val="E44D26"/>
          </a:solidFill>
          <a:ln/>
        </p:spPr>
      </p:sp>
      <p:sp>
        <p:nvSpPr>
          <p:cNvPr id="27" name="Text 25"/>
          <p:cNvSpPr txBox="1"/>
          <p:nvPr/>
        </p:nvSpPr>
        <p:spPr>
          <a:xfrm>
            <a:off x="3538728" y="320040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type="url"</a:t>
            </a:r>
            <a:endParaRPr lang="en-US" sz="1200" dirty="0"/>
          </a:p>
        </p:txBody>
      </p:sp>
      <p:sp>
        <p:nvSpPr>
          <p:cNvPr id="28" name="Text 26"/>
          <p:cNvSpPr txBox="1"/>
          <p:nvPr/>
        </p:nvSpPr>
        <p:spPr>
          <a:xfrm>
            <a:off x="3538728" y="349300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Memvalidasi format tautan/URL</a:t>
            </a:r>
            <a:endParaRPr lang="en-US" sz="970" dirty="0"/>
          </a:p>
        </p:txBody>
      </p:sp>
      <p:sp>
        <p:nvSpPr>
          <p:cNvPr id="29" name="Shape 27"/>
          <p:cNvSpPr/>
          <p:nvPr/>
        </p:nvSpPr>
        <p:spPr>
          <a:xfrm>
            <a:off x="6126480" y="3108960"/>
            <a:ext cx="2651760" cy="914400"/>
          </a:xfrm>
          <a:prstGeom prst="rect">
            <a:avLst/>
          </a:prstGeom>
          <a:solidFill>
            <a:srgbClr val="F7F6F4"/>
          </a:solidFill>
          <a:ln/>
        </p:spPr>
      </p:sp>
      <p:sp>
        <p:nvSpPr>
          <p:cNvPr id="30" name="Shape 28"/>
          <p:cNvSpPr/>
          <p:nvPr/>
        </p:nvSpPr>
        <p:spPr>
          <a:xfrm>
            <a:off x="6126480" y="3108960"/>
            <a:ext cx="82296" cy="914400"/>
          </a:xfrm>
          <a:prstGeom prst="rect">
            <a:avLst/>
          </a:prstGeom>
          <a:solidFill>
            <a:srgbClr val="E44D26"/>
          </a:solidFill>
          <a:ln/>
        </p:spPr>
      </p:sp>
      <p:sp>
        <p:nvSpPr>
          <p:cNvPr id="31" name="Text 29"/>
          <p:cNvSpPr txBox="1"/>
          <p:nvPr/>
        </p:nvSpPr>
        <p:spPr>
          <a:xfrm>
            <a:off x="6327648" y="320040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type="color"</a:t>
            </a:r>
            <a:endParaRPr lang="en-US" sz="1200" dirty="0"/>
          </a:p>
        </p:txBody>
      </p:sp>
      <p:sp>
        <p:nvSpPr>
          <p:cNvPr id="32" name="Text 30"/>
          <p:cNvSpPr txBox="1"/>
          <p:nvPr/>
        </p:nvSpPr>
        <p:spPr>
          <a:xfrm>
            <a:off x="6327648" y="349300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Menampilkan pemilih warna (color picker)</a:t>
            </a:r>
            <a:endParaRPr lang="en-US" sz="970" dirty="0"/>
          </a:p>
        </p:txBody>
      </p:sp>
      <p:sp>
        <p:nvSpPr>
          <p:cNvPr id="33" name="Shape 31"/>
          <p:cNvSpPr/>
          <p:nvPr/>
        </p:nvSpPr>
        <p:spPr>
          <a:xfrm>
            <a:off x="8915400" y="3108960"/>
            <a:ext cx="2651760" cy="914400"/>
          </a:xfrm>
          <a:prstGeom prst="rect">
            <a:avLst/>
          </a:prstGeom>
          <a:solidFill>
            <a:srgbClr val="F7F6F4"/>
          </a:solidFill>
          <a:ln/>
        </p:spPr>
      </p:sp>
      <p:sp>
        <p:nvSpPr>
          <p:cNvPr id="34" name="Shape 32"/>
          <p:cNvSpPr/>
          <p:nvPr/>
        </p:nvSpPr>
        <p:spPr>
          <a:xfrm>
            <a:off x="8915400" y="3108960"/>
            <a:ext cx="82296" cy="914400"/>
          </a:xfrm>
          <a:prstGeom prst="rect">
            <a:avLst/>
          </a:prstGeom>
          <a:solidFill>
            <a:srgbClr val="E44D26"/>
          </a:solidFill>
          <a:ln/>
        </p:spPr>
      </p:sp>
      <p:sp>
        <p:nvSpPr>
          <p:cNvPr id="35" name="Text 33"/>
          <p:cNvSpPr txBox="1"/>
          <p:nvPr/>
        </p:nvSpPr>
        <p:spPr>
          <a:xfrm>
            <a:off x="9116568" y="3200400"/>
            <a:ext cx="2331720" cy="292608"/>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type="search"</a:t>
            </a:r>
            <a:endParaRPr lang="en-US" sz="1200" dirty="0"/>
          </a:p>
        </p:txBody>
      </p:sp>
      <p:sp>
        <p:nvSpPr>
          <p:cNvPr id="36" name="Text 34"/>
          <p:cNvSpPr txBox="1"/>
          <p:nvPr/>
        </p:nvSpPr>
        <p:spPr>
          <a:xfrm>
            <a:off x="9116568" y="3493008"/>
            <a:ext cx="2331720" cy="457200"/>
          </a:xfrm>
          <a:prstGeom prst="rect">
            <a:avLst/>
          </a:prstGeom>
          <a:noFill/>
          <a:ln/>
        </p:spPr>
        <p:txBody>
          <a:bodyPr wrap="square" lIns="0" tIns="0" rIns="0" bIns="0" rtlCol="0" anchor="ctr"/>
          <a:lstStyle/>
          <a:p>
            <a:pPr indent="0" marL="0">
              <a:lnSpc>
                <a:spcPct val="115000"/>
              </a:lnSpc>
              <a:buNone/>
            </a:pPr>
            <a:r>
              <a:rPr lang="en-US" sz="970" dirty="0">
                <a:solidFill>
                  <a:srgbClr val="2B2B2B"/>
                </a:solidFill>
                <a:latin typeface="Calibri" pitchFamily="34" charset="0"/>
                <a:ea typeface="Calibri" pitchFamily="34" charset="-122"/>
                <a:cs typeface="Calibri" pitchFamily="34" charset="-120"/>
              </a:rPr>
              <a:t>Kolom pencarian dengan gaya khusus</a:t>
            </a:r>
            <a:endParaRPr lang="en-US" sz="970" dirty="0"/>
          </a:p>
        </p:txBody>
      </p:sp>
      <p:sp>
        <p:nvSpPr>
          <p:cNvPr id="37" name="Text 35"/>
          <p:cNvSpPr txBox="1"/>
          <p:nvPr/>
        </p:nvSpPr>
        <p:spPr>
          <a:xfrm>
            <a:off x="548640" y="4434840"/>
            <a:ext cx="457200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Atribut Validasi Bawaan:</a:t>
            </a:r>
            <a:endParaRPr lang="en-US" sz="1300" dirty="0"/>
          </a:p>
        </p:txBody>
      </p:sp>
      <p:sp>
        <p:nvSpPr>
          <p:cNvPr id="38" name="Text 36"/>
          <p:cNvSpPr txBox="1"/>
          <p:nvPr/>
        </p:nvSpPr>
        <p:spPr>
          <a:xfrm>
            <a:off x="548640" y="4800600"/>
            <a:ext cx="5212080" cy="1371600"/>
          </a:xfrm>
          <a:prstGeom prst="rect">
            <a:avLst/>
          </a:prstGeom>
          <a:noFill/>
          <a:ln/>
        </p:spPr>
        <p:txBody>
          <a:bodyPr wrap="square" lIns="0" tIns="0" rIns="0" bIns="0" rtlCol="0" anchor="ctr"/>
          <a:lstStyle/>
          <a:p>
            <a:pPr marL="342900" indent="-342900">
              <a:lnSpc>
                <a:spcPct val="130000"/>
              </a:lnSpc>
              <a:buSzPct val="100000"/>
              <a:buChar char="•"/>
            </a:pPr>
            <a:r>
              <a:rPr lang="en-US" sz="1150" dirty="0">
                <a:solidFill>
                  <a:srgbClr val="2B2B2B"/>
                </a:solidFill>
                <a:latin typeface="Calibri" pitchFamily="34" charset="0"/>
                <a:ea typeface="Calibri" pitchFamily="34" charset="-122"/>
                <a:cs typeface="Calibri" pitchFamily="34" charset="-120"/>
              </a:rPr>
              <a:t>required — wajib diisi</a:t>
            </a:r>
            <a:endParaRPr lang="en-US" sz="1150" dirty="0"/>
          </a:p>
          <a:p>
            <a:pPr marL="342900" indent="-342900">
              <a:lnSpc>
                <a:spcPct val="130000"/>
              </a:lnSpc>
              <a:buSzPct val="100000"/>
              <a:buChar char="•"/>
            </a:pPr>
            <a:r>
              <a:rPr lang="en-US" sz="1150" dirty="0">
                <a:solidFill>
                  <a:srgbClr val="2B2B2B"/>
                </a:solidFill>
                <a:latin typeface="Calibri" pitchFamily="34" charset="0"/>
                <a:ea typeface="Calibri" pitchFamily="34" charset="-122"/>
                <a:cs typeface="Calibri" pitchFamily="34" charset="-120"/>
              </a:rPr>
              <a:t>placeholder — teks bantuan</a:t>
            </a:r>
            <a:endParaRPr lang="en-US" sz="1150" dirty="0"/>
          </a:p>
          <a:p>
            <a:pPr marL="342900" indent="-342900">
              <a:lnSpc>
                <a:spcPct val="130000"/>
              </a:lnSpc>
              <a:buSzPct val="100000"/>
              <a:buChar char="•"/>
            </a:pPr>
            <a:r>
              <a:rPr lang="en-US" sz="1150" dirty="0">
                <a:solidFill>
                  <a:srgbClr val="2B2B2B"/>
                </a:solidFill>
                <a:latin typeface="Calibri" pitchFamily="34" charset="0"/>
                <a:ea typeface="Calibri" pitchFamily="34" charset="-122"/>
                <a:cs typeface="Calibri" pitchFamily="34" charset="-120"/>
              </a:rPr>
              <a:t>pattern — validasi regex</a:t>
            </a:r>
            <a:endParaRPr lang="en-US" sz="1150" dirty="0"/>
          </a:p>
          <a:p>
            <a:pPr marL="342900" indent="-342900">
              <a:lnSpc>
                <a:spcPct val="130000"/>
              </a:lnSpc>
              <a:buSzPct val="100000"/>
              <a:buChar char="•"/>
            </a:pPr>
            <a:r>
              <a:rPr lang="en-US" sz="1150" dirty="0">
                <a:solidFill>
                  <a:srgbClr val="2B2B2B"/>
                </a:solidFill>
                <a:latin typeface="Calibri" pitchFamily="34" charset="0"/>
                <a:ea typeface="Calibri" pitchFamily="34" charset="-122"/>
                <a:cs typeface="Calibri" pitchFamily="34" charset="-120"/>
              </a:rPr>
              <a:t>min / max — batas nilai</a:t>
            </a:r>
            <a:endParaRPr lang="en-US" sz="1150" dirty="0"/>
          </a:p>
          <a:p>
            <a:pPr marL="342900" indent="-342900">
              <a:lnSpc>
                <a:spcPct val="130000"/>
              </a:lnSpc>
              <a:buSzPct val="100000"/>
              <a:buChar char="•"/>
            </a:pPr>
            <a:r>
              <a:rPr lang="en-US" sz="1150" dirty="0">
                <a:solidFill>
                  <a:srgbClr val="2B2B2B"/>
                </a:solidFill>
                <a:latin typeface="Calibri" pitchFamily="34" charset="0"/>
                <a:ea typeface="Calibri" pitchFamily="34" charset="-122"/>
                <a:cs typeface="Calibri" pitchFamily="34" charset="-120"/>
              </a:rPr>
              <a:t>autofocus — fokus otomatis</a:t>
            </a:r>
            <a:endParaRPr lang="en-US" sz="1150" dirty="0"/>
          </a:p>
        </p:txBody>
      </p:sp>
      <p:sp>
        <p:nvSpPr>
          <p:cNvPr id="39" name="Shape 37"/>
          <p:cNvSpPr/>
          <p:nvPr/>
        </p:nvSpPr>
        <p:spPr>
          <a:xfrm>
            <a:off x="6126480" y="4434840"/>
            <a:ext cx="5486400" cy="1783080"/>
          </a:xfrm>
          <a:prstGeom prst="rect">
            <a:avLst/>
          </a:prstGeom>
          <a:solidFill>
            <a:srgbClr val="1B1B1B"/>
          </a:solidFill>
          <a:ln/>
        </p:spPr>
      </p:sp>
      <p:sp>
        <p:nvSpPr>
          <p:cNvPr id="40" name="Text 38"/>
          <p:cNvSpPr txBox="1"/>
          <p:nvPr/>
        </p:nvSpPr>
        <p:spPr>
          <a:xfrm>
            <a:off x="6355080" y="4590288"/>
            <a:ext cx="5029200" cy="1508760"/>
          </a:xfrm>
          <a:prstGeom prst="rect">
            <a:avLst/>
          </a:prstGeom>
          <a:noFill/>
          <a:ln/>
        </p:spPr>
        <p:txBody>
          <a:bodyPr wrap="square" lIns="0" tIns="0" rIns="0" bIns="0" rtlCol="0" anchor="ctr"/>
          <a:lstStyle/>
          <a:p>
            <a:pPr indent="0" marL="0">
              <a:lnSpc>
                <a:spcPct val="125000"/>
              </a:lnSpc>
              <a:buNone/>
            </a:pPr>
            <a:r>
              <a:rPr lang="en-US" sz="1050" dirty="0">
                <a:solidFill>
                  <a:srgbClr val="DADADA"/>
                </a:solidFill>
                <a:latin typeface="Courier New" pitchFamily="34" charset="0"/>
                <a:ea typeface="Courier New" pitchFamily="34" charset="-122"/>
                <a:cs typeface="Courier New" pitchFamily="34" charset="-120"/>
              </a:rPr>
              <a:t>&lt;form&gt;</a:t>
            </a:r>
            <a:endParaRPr lang="en-US" sz="1050" dirty="0"/>
          </a:p>
          <a:p>
            <a:pPr indent="0" marL="0">
              <a:lnSpc>
                <a:spcPct val="125000"/>
              </a:lnSpc>
              <a:buNone/>
            </a:pPr>
            <a:r>
              <a:rPr lang="en-US" sz="1050" dirty="0">
                <a:solidFill>
                  <a:srgbClr val="DADADA"/>
                </a:solidFill>
                <a:latin typeface="Courier New" pitchFamily="34" charset="0"/>
                <a:ea typeface="Courier New" pitchFamily="34" charset="-122"/>
                <a:cs typeface="Courier New" pitchFamily="34" charset="-120"/>
              </a:rPr>
              <a:t>  &lt;label&gt;Email:&lt;/label&gt;</a:t>
            </a:r>
            <a:endParaRPr lang="en-US" sz="1050" dirty="0"/>
          </a:p>
          <a:p>
            <a:pPr indent="0" marL="0">
              <a:lnSpc>
                <a:spcPct val="125000"/>
              </a:lnSpc>
              <a:buNone/>
            </a:pPr>
            <a:r>
              <a:rPr lang="en-US" sz="1050" dirty="0">
                <a:solidFill>
                  <a:srgbClr val="DADADA"/>
                </a:solidFill>
                <a:latin typeface="Courier New" pitchFamily="34" charset="0"/>
                <a:ea typeface="Courier New" pitchFamily="34" charset="-122"/>
                <a:cs typeface="Courier New" pitchFamily="34" charset="-120"/>
              </a:rPr>
              <a:t>  &lt;input type="email" required&gt;</a:t>
            </a:r>
            <a:endParaRPr lang="en-US" sz="1050" dirty="0"/>
          </a:p>
          <a:p>
            <a:pPr indent="0" marL="0">
              <a:lnSpc>
                <a:spcPct val="125000"/>
              </a:lnSpc>
              <a:buNone/>
            </a:pPr>
            <a:r>
              <a:rPr lang="en-US" sz="1050" dirty="0">
                <a:solidFill>
                  <a:srgbClr val="DADADA"/>
                </a:solidFill>
                <a:latin typeface="Courier New" pitchFamily="34" charset="0"/>
                <a:ea typeface="Courier New" pitchFamily="34" charset="-122"/>
                <a:cs typeface="Courier New" pitchFamily="34" charset="-120"/>
              </a:rPr>
              <a:t>  &lt;label&gt;Umur:&lt;/label&gt;</a:t>
            </a:r>
            <a:endParaRPr lang="en-US" sz="1050" dirty="0"/>
          </a:p>
          <a:p>
            <a:pPr indent="0" marL="0">
              <a:lnSpc>
                <a:spcPct val="125000"/>
              </a:lnSpc>
              <a:buNone/>
            </a:pPr>
            <a:r>
              <a:rPr lang="en-US" sz="1050" dirty="0">
                <a:solidFill>
                  <a:srgbClr val="DADADA"/>
                </a:solidFill>
                <a:latin typeface="Courier New" pitchFamily="34" charset="0"/>
                <a:ea typeface="Courier New" pitchFamily="34" charset="-122"/>
                <a:cs typeface="Courier New" pitchFamily="34" charset="-120"/>
              </a:rPr>
              <a:t>  &lt;input type="number" min="1" max="120"&gt;</a:t>
            </a:r>
            <a:endParaRPr lang="en-US" sz="1050" dirty="0"/>
          </a:p>
          <a:p>
            <a:pPr indent="0" marL="0">
              <a:lnSpc>
                <a:spcPct val="125000"/>
              </a:lnSpc>
              <a:buNone/>
            </a:pPr>
            <a:r>
              <a:rPr lang="en-US" sz="1050" dirty="0">
                <a:solidFill>
                  <a:srgbClr val="DADADA"/>
                </a:solidFill>
                <a:latin typeface="Courier New" pitchFamily="34" charset="0"/>
                <a:ea typeface="Courier New" pitchFamily="34" charset="-122"/>
                <a:cs typeface="Courier New" pitchFamily="34" charset="-120"/>
              </a:rPr>
              <a:t>  &lt;button type="submit"&gt;Kirim&lt;/button&gt;</a:t>
            </a:r>
            <a:endParaRPr lang="en-US" sz="1050" dirty="0"/>
          </a:p>
          <a:p>
            <a:pPr indent="0" marL="0">
              <a:lnSpc>
                <a:spcPct val="125000"/>
              </a:lnSpc>
              <a:buNone/>
            </a:pPr>
            <a:r>
              <a:rPr lang="en-US" sz="1050" dirty="0">
                <a:solidFill>
                  <a:srgbClr val="DADADA"/>
                </a:solidFill>
                <a:latin typeface="Courier New" pitchFamily="34" charset="0"/>
                <a:ea typeface="Courier New" pitchFamily="34" charset="-122"/>
                <a:cs typeface="Courier New" pitchFamily="34" charset="-120"/>
              </a:rPr>
              <a:t>&lt;/form&gt;</a:t>
            </a:r>
            <a:endParaRPr lang="en-US" sz="1050" dirty="0"/>
          </a:p>
        </p:txBody>
      </p:sp>
      <p:sp>
        <p:nvSpPr>
          <p:cNvPr id="41" name="Text 39"/>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42" name="Text 40"/>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MULTIMEDIA</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Audio &amp; Video Native</a:t>
            </a:r>
            <a:endParaRPr lang="en-US" sz="3200" dirty="0"/>
          </a:p>
        </p:txBody>
      </p:sp>
      <p:sp>
        <p:nvSpPr>
          <p:cNvPr id="4" name="Text 2"/>
          <p:cNvSpPr txBox="1"/>
          <p:nvPr/>
        </p:nvSpPr>
        <p:spPr>
          <a:xfrm>
            <a:off x="548640" y="1463040"/>
            <a:ext cx="6126480" cy="914400"/>
          </a:xfrm>
          <a:prstGeom prst="rect">
            <a:avLst/>
          </a:prstGeom>
          <a:noFill/>
          <a:ln/>
        </p:spPr>
        <p:txBody>
          <a:bodyPr wrap="square" lIns="0" tIns="0" rIns="0" bIns="0" rtlCol="0" anchor="ctr"/>
          <a:lstStyle/>
          <a:p>
            <a:pPr indent="0" marL="0">
              <a:lnSpc>
                <a:spcPct val="130000"/>
              </a:lnSpc>
              <a:buNone/>
            </a:pPr>
            <a:r>
              <a:rPr lang="en-US" sz="1250" dirty="0">
                <a:solidFill>
                  <a:srgbClr val="6B6B6B"/>
                </a:solidFill>
                <a:latin typeface="Calibri" pitchFamily="34" charset="0"/>
                <a:ea typeface="Calibri" pitchFamily="34" charset="-122"/>
                <a:cs typeface="Calibri" pitchFamily="34" charset="-120"/>
              </a:rPr>
              <a:t>Sebelum HTML5, pemutaran audio/video di web bergantung pada plugin pihak ketiga seperti Adobe Flash. HTML5 menghadirkan elemen bawaan yang didukung langsung oleh browser.</a:t>
            </a:r>
            <a:endParaRPr lang="en-US" sz="1250" dirty="0"/>
          </a:p>
        </p:txBody>
      </p:sp>
      <p:sp>
        <p:nvSpPr>
          <p:cNvPr id="5" name="Shape 3"/>
          <p:cNvSpPr/>
          <p:nvPr/>
        </p:nvSpPr>
        <p:spPr>
          <a:xfrm>
            <a:off x="548640" y="2514600"/>
            <a:ext cx="6126480" cy="1965960"/>
          </a:xfrm>
          <a:prstGeom prst="rect">
            <a:avLst/>
          </a:prstGeom>
          <a:solidFill>
            <a:srgbClr val="1B1B1B"/>
          </a:solidFill>
          <a:ln/>
        </p:spPr>
      </p:sp>
      <p:sp>
        <p:nvSpPr>
          <p:cNvPr id="6" name="Text 4"/>
          <p:cNvSpPr txBox="1"/>
          <p:nvPr/>
        </p:nvSpPr>
        <p:spPr>
          <a:xfrm>
            <a:off x="777240" y="2697480"/>
            <a:ext cx="5669280" cy="1691640"/>
          </a:xfrm>
          <a:prstGeom prst="rect">
            <a:avLst/>
          </a:prstGeom>
          <a:noFill/>
          <a:ln/>
        </p:spPr>
        <p:txBody>
          <a:bodyPr wrap="square" lIns="0" tIns="0" rIns="0" bIns="0" rtlCol="0" anchor="ctr"/>
          <a:lstStyle/>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&lt;video controls width="400"&gt;</a:t>
            </a:r>
            <a:endParaRPr lang="en-US" sz="1100" dirty="0"/>
          </a:p>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  &lt;source src="film.mp4" type="video/mp4"&gt;</a:t>
            </a:r>
            <a:endParaRPr lang="en-US" sz="1100" dirty="0"/>
          </a:p>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  &lt;source src="film.webm" type="video/webm"&gt;</a:t>
            </a:r>
            <a:endParaRPr lang="en-US" sz="1100" dirty="0"/>
          </a:p>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  Browser Anda tidak mendukung video.</a:t>
            </a:r>
            <a:endParaRPr lang="en-US" sz="1100" dirty="0"/>
          </a:p>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&lt;/video&gt;</a:t>
            </a:r>
            <a:endParaRPr lang="en-US" sz="1100" dirty="0"/>
          </a:p>
        </p:txBody>
      </p:sp>
      <p:sp>
        <p:nvSpPr>
          <p:cNvPr id="7" name="Shape 5"/>
          <p:cNvSpPr/>
          <p:nvPr/>
        </p:nvSpPr>
        <p:spPr>
          <a:xfrm>
            <a:off x="548640" y="4663440"/>
            <a:ext cx="6126480" cy="1508760"/>
          </a:xfrm>
          <a:prstGeom prst="rect">
            <a:avLst/>
          </a:prstGeom>
          <a:solidFill>
            <a:srgbClr val="1B1B1B"/>
          </a:solidFill>
          <a:ln/>
        </p:spPr>
      </p:sp>
      <p:sp>
        <p:nvSpPr>
          <p:cNvPr id="8" name="Text 6"/>
          <p:cNvSpPr txBox="1"/>
          <p:nvPr/>
        </p:nvSpPr>
        <p:spPr>
          <a:xfrm>
            <a:off x="777240" y="4846320"/>
            <a:ext cx="5669280" cy="1280160"/>
          </a:xfrm>
          <a:prstGeom prst="rect">
            <a:avLst/>
          </a:prstGeom>
          <a:noFill/>
          <a:ln/>
        </p:spPr>
        <p:txBody>
          <a:bodyPr wrap="square" lIns="0" tIns="0" rIns="0" bIns="0" rtlCol="0" anchor="ctr"/>
          <a:lstStyle/>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&lt;audio controls&gt;</a:t>
            </a:r>
            <a:endParaRPr lang="en-US" sz="1100" dirty="0"/>
          </a:p>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  &lt;source src="lagu.mp3" type="audio/mpeg"&gt;</a:t>
            </a:r>
            <a:endParaRPr lang="en-US" sz="1100" dirty="0"/>
          </a:p>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  Browser Anda tidak mendukung audio.</a:t>
            </a:r>
            <a:endParaRPr lang="en-US" sz="1100" dirty="0"/>
          </a:p>
          <a:p>
            <a:pPr indent="0" marL="0">
              <a:lnSpc>
                <a:spcPct val="130000"/>
              </a:lnSpc>
              <a:buNone/>
            </a:pPr>
            <a:r>
              <a:rPr lang="en-US" sz="1100" dirty="0">
                <a:solidFill>
                  <a:srgbClr val="DADADA"/>
                </a:solidFill>
                <a:latin typeface="Courier New" pitchFamily="34" charset="0"/>
                <a:ea typeface="Courier New" pitchFamily="34" charset="-122"/>
                <a:cs typeface="Courier New" pitchFamily="34" charset="-120"/>
              </a:rPr>
              <a:t>&lt;/audio&gt;</a:t>
            </a:r>
            <a:endParaRPr lang="en-US" sz="1100" dirty="0"/>
          </a:p>
        </p:txBody>
      </p:sp>
      <p:sp>
        <p:nvSpPr>
          <p:cNvPr id="9" name="Shape 7"/>
          <p:cNvSpPr/>
          <p:nvPr/>
        </p:nvSpPr>
        <p:spPr>
          <a:xfrm>
            <a:off x="6995160" y="1463040"/>
            <a:ext cx="4617720" cy="4709160"/>
          </a:xfrm>
          <a:prstGeom prst="rect">
            <a:avLst/>
          </a:prstGeom>
          <a:solidFill>
            <a:srgbClr val="F7F6F4"/>
          </a:solidFill>
          <a:ln/>
        </p:spPr>
      </p:sp>
      <p:sp>
        <p:nvSpPr>
          <p:cNvPr id="10" name="Shape 8"/>
          <p:cNvSpPr/>
          <p:nvPr/>
        </p:nvSpPr>
        <p:spPr>
          <a:xfrm>
            <a:off x="7269480" y="1737360"/>
            <a:ext cx="548640" cy="548640"/>
          </a:xfrm>
          <a:prstGeom prst="ellipse">
            <a:avLst/>
          </a:prstGeom>
          <a:solidFill>
            <a:srgbClr val="E44D26"/>
          </a:solidFill>
          <a:ln/>
        </p:spPr>
      </p:sp>
      <p:pic>
        <p:nvPicPr>
          <p:cNvPr id="11" name="Image 0" descr="preencoded.png">    </p:cNvPr>
          <p:cNvPicPr>
            <a:picLocks noChangeAspect="1"/>
          </p:cNvPicPr>
          <p:nvPr/>
        </p:nvPicPr>
        <p:blipFill>
          <a:blip r:embed="rId1"/>
          <a:stretch>
            <a:fillRect/>
          </a:stretch>
        </p:blipFill>
        <p:spPr>
          <a:xfrm>
            <a:off x="7412126" y="1880006"/>
            <a:ext cx="263347" cy="263347"/>
          </a:xfrm>
          <a:prstGeom prst="rect">
            <a:avLst/>
          </a:prstGeom>
        </p:spPr>
      </p:pic>
      <p:sp>
        <p:nvSpPr>
          <p:cNvPr id="12" name="Text 9"/>
          <p:cNvSpPr txBox="1"/>
          <p:nvPr/>
        </p:nvSpPr>
        <p:spPr>
          <a:xfrm>
            <a:off x="7955280" y="1737360"/>
            <a:ext cx="3474720" cy="548640"/>
          </a:xfrm>
          <a:prstGeom prst="rect">
            <a:avLst/>
          </a:prstGeom>
          <a:noFill/>
          <a:ln/>
        </p:spPr>
        <p:txBody>
          <a:bodyPr wrap="square" lIns="0" tIns="0" rIns="0" bIns="0" rtlCol="0" anchor="ctr"/>
          <a:lstStyle/>
          <a:p>
            <a:pPr indent="0" marL="0">
              <a:buNone/>
            </a:pPr>
            <a:r>
              <a:rPr lang="en-US" sz="1600" b="1" dirty="0">
                <a:solidFill>
                  <a:srgbClr val="2B2B2B"/>
                </a:solidFill>
                <a:latin typeface="Cambria" pitchFamily="34" charset="0"/>
                <a:ea typeface="Cambria" pitchFamily="34" charset="-122"/>
                <a:cs typeface="Cambria" pitchFamily="34" charset="-120"/>
              </a:rPr>
              <a:t>Atribut Penting</a:t>
            </a:r>
            <a:endParaRPr lang="en-US" sz="1600" dirty="0"/>
          </a:p>
        </p:txBody>
      </p:sp>
      <p:sp>
        <p:nvSpPr>
          <p:cNvPr id="13" name="Text 10"/>
          <p:cNvSpPr txBox="1"/>
          <p:nvPr/>
        </p:nvSpPr>
        <p:spPr>
          <a:xfrm>
            <a:off x="7269480" y="2514600"/>
            <a:ext cx="4114800" cy="256032"/>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controls</a:t>
            </a:r>
            <a:endParaRPr lang="en-US" sz="1150" dirty="0"/>
          </a:p>
        </p:txBody>
      </p:sp>
      <p:sp>
        <p:nvSpPr>
          <p:cNvPr id="14" name="Text 11"/>
          <p:cNvSpPr txBox="1"/>
          <p:nvPr/>
        </p:nvSpPr>
        <p:spPr>
          <a:xfrm>
            <a:off x="7269480" y="2770632"/>
            <a:ext cx="4114800" cy="384048"/>
          </a:xfrm>
          <a:prstGeom prst="rect">
            <a:avLst/>
          </a:prstGeom>
          <a:noFill/>
          <a:ln/>
        </p:spPr>
        <p:txBody>
          <a:bodyPr wrap="square" lIns="0" tIns="0" rIns="0" bIns="0"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Menampilkan kontrol pemutar bawaan browser</a:t>
            </a:r>
            <a:endParaRPr lang="en-US" sz="1000" dirty="0"/>
          </a:p>
        </p:txBody>
      </p:sp>
      <p:sp>
        <p:nvSpPr>
          <p:cNvPr id="15" name="Text 12"/>
          <p:cNvSpPr txBox="1"/>
          <p:nvPr/>
        </p:nvSpPr>
        <p:spPr>
          <a:xfrm>
            <a:off x="7269480" y="3172968"/>
            <a:ext cx="4114800" cy="256032"/>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autoplay</a:t>
            </a:r>
            <a:endParaRPr lang="en-US" sz="1150" dirty="0"/>
          </a:p>
        </p:txBody>
      </p:sp>
      <p:sp>
        <p:nvSpPr>
          <p:cNvPr id="16" name="Text 13"/>
          <p:cNvSpPr txBox="1"/>
          <p:nvPr/>
        </p:nvSpPr>
        <p:spPr>
          <a:xfrm>
            <a:off x="7269480" y="3429000"/>
            <a:ext cx="4114800" cy="384048"/>
          </a:xfrm>
          <a:prstGeom prst="rect">
            <a:avLst/>
          </a:prstGeom>
          <a:noFill/>
          <a:ln/>
        </p:spPr>
        <p:txBody>
          <a:bodyPr wrap="square" lIns="0" tIns="0" rIns="0" bIns="0"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Memutar media secara otomatis saat halaman dimuat</a:t>
            </a:r>
            <a:endParaRPr lang="en-US" sz="1000" dirty="0"/>
          </a:p>
        </p:txBody>
      </p:sp>
      <p:sp>
        <p:nvSpPr>
          <p:cNvPr id="17" name="Text 14"/>
          <p:cNvSpPr txBox="1"/>
          <p:nvPr/>
        </p:nvSpPr>
        <p:spPr>
          <a:xfrm>
            <a:off x="7269480" y="3831336"/>
            <a:ext cx="4114800" cy="256032"/>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loop</a:t>
            </a:r>
            <a:endParaRPr lang="en-US" sz="1150" dirty="0"/>
          </a:p>
        </p:txBody>
      </p:sp>
      <p:sp>
        <p:nvSpPr>
          <p:cNvPr id="18" name="Text 15"/>
          <p:cNvSpPr txBox="1"/>
          <p:nvPr/>
        </p:nvSpPr>
        <p:spPr>
          <a:xfrm>
            <a:off x="7269480" y="4087368"/>
            <a:ext cx="4114800" cy="384048"/>
          </a:xfrm>
          <a:prstGeom prst="rect">
            <a:avLst/>
          </a:prstGeom>
          <a:noFill/>
          <a:ln/>
        </p:spPr>
        <p:txBody>
          <a:bodyPr wrap="square" lIns="0" tIns="0" rIns="0" bIns="0"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Mengulang pemutaran secara terus-menerus</a:t>
            </a:r>
            <a:endParaRPr lang="en-US" sz="1000" dirty="0"/>
          </a:p>
        </p:txBody>
      </p:sp>
      <p:sp>
        <p:nvSpPr>
          <p:cNvPr id="19" name="Text 16"/>
          <p:cNvSpPr txBox="1"/>
          <p:nvPr/>
        </p:nvSpPr>
        <p:spPr>
          <a:xfrm>
            <a:off x="7269480" y="4489704"/>
            <a:ext cx="4114800" cy="256032"/>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muted</a:t>
            </a:r>
            <a:endParaRPr lang="en-US" sz="1150" dirty="0"/>
          </a:p>
        </p:txBody>
      </p:sp>
      <p:sp>
        <p:nvSpPr>
          <p:cNvPr id="20" name="Text 17"/>
          <p:cNvSpPr txBox="1"/>
          <p:nvPr/>
        </p:nvSpPr>
        <p:spPr>
          <a:xfrm>
            <a:off x="7269480" y="4745736"/>
            <a:ext cx="4114800" cy="384048"/>
          </a:xfrm>
          <a:prstGeom prst="rect">
            <a:avLst/>
          </a:prstGeom>
          <a:noFill/>
          <a:ln/>
        </p:spPr>
        <p:txBody>
          <a:bodyPr wrap="square" lIns="0" tIns="0" rIns="0" bIns="0"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Memutar tanpa suara (sering dipakai bersama autoplay)</a:t>
            </a:r>
            <a:endParaRPr lang="en-US" sz="1000" dirty="0"/>
          </a:p>
        </p:txBody>
      </p:sp>
      <p:sp>
        <p:nvSpPr>
          <p:cNvPr id="21" name="Text 18"/>
          <p:cNvSpPr txBox="1"/>
          <p:nvPr/>
        </p:nvSpPr>
        <p:spPr>
          <a:xfrm>
            <a:off x="7269480" y="5148072"/>
            <a:ext cx="4114800" cy="256032"/>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poster</a:t>
            </a:r>
            <a:endParaRPr lang="en-US" sz="1150" dirty="0"/>
          </a:p>
        </p:txBody>
      </p:sp>
      <p:sp>
        <p:nvSpPr>
          <p:cNvPr id="22" name="Text 19"/>
          <p:cNvSpPr txBox="1"/>
          <p:nvPr/>
        </p:nvSpPr>
        <p:spPr>
          <a:xfrm>
            <a:off x="7269480" y="5404104"/>
            <a:ext cx="4114800" cy="384048"/>
          </a:xfrm>
          <a:prstGeom prst="rect">
            <a:avLst/>
          </a:prstGeom>
          <a:noFill/>
          <a:ln/>
        </p:spPr>
        <p:txBody>
          <a:bodyPr wrap="square" lIns="0" tIns="0" rIns="0" bIns="0"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Gambar sampul sebelum video diputar (khusus &lt;video&gt;)</a:t>
            </a:r>
            <a:endParaRPr lang="en-US" sz="1000" dirty="0"/>
          </a:p>
        </p:txBody>
      </p:sp>
      <p:sp>
        <p:nvSpPr>
          <p:cNvPr id="23" name="Text 20"/>
          <p:cNvSpPr txBox="1"/>
          <p:nvPr/>
        </p:nvSpPr>
        <p:spPr>
          <a:xfrm>
            <a:off x="7269480" y="5806440"/>
            <a:ext cx="4114800" cy="256032"/>
          </a:xfrm>
          <a:prstGeom prst="rect">
            <a:avLst/>
          </a:prstGeom>
          <a:noFill/>
          <a:ln/>
        </p:spPr>
        <p:txBody>
          <a:bodyPr wrap="square" lIns="0" tIns="0" rIns="0" bIns="0" rtlCol="0" anchor="ctr"/>
          <a:lstStyle/>
          <a:p>
            <a:pPr indent="0" marL="0">
              <a:buNone/>
            </a:pPr>
            <a:r>
              <a:rPr lang="en-US" sz="1150" b="1" dirty="0">
                <a:solidFill>
                  <a:srgbClr val="E44D26"/>
                </a:solidFill>
                <a:latin typeface="Courier New" pitchFamily="34" charset="0"/>
                <a:ea typeface="Courier New" pitchFamily="34" charset="-122"/>
                <a:cs typeface="Courier New" pitchFamily="34" charset="-120"/>
              </a:rPr>
              <a:t>&lt;source&gt;</a:t>
            </a:r>
            <a:endParaRPr lang="en-US" sz="1150" dirty="0"/>
          </a:p>
        </p:txBody>
      </p:sp>
      <p:sp>
        <p:nvSpPr>
          <p:cNvPr id="24" name="Text 21"/>
          <p:cNvSpPr txBox="1"/>
          <p:nvPr/>
        </p:nvSpPr>
        <p:spPr>
          <a:xfrm>
            <a:off x="7269480" y="6062472"/>
            <a:ext cx="4114800" cy="384048"/>
          </a:xfrm>
          <a:prstGeom prst="rect">
            <a:avLst/>
          </a:prstGeom>
          <a:noFill/>
          <a:ln/>
        </p:spPr>
        <p:txBody>
          <a:bodyPr wrap="square" lIns="0" tIns="0" rIns="0" bIns="0"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Menyediakan beberapa format file untuk kompatibilitas lintas-browser</a:t>
            </a:r>
            <a:endParaRPr lang="en-US" sz="1000" dirty="0"/>
          </a:p>
        </p:txBody>
      </p:sp>
      <p:sp>
        <p:nvSpPr>
          <p:cNvPr id="25" name="Text 22"/>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26" name="Text 2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GRAFIS</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Elemen Grafis: Canvas &amp; SVG</a:t>
            </a:r>
            <a:endParaRPr lang="en-US" sz="3200" dirty="0"/>
          </a:p>
        </p:txBody>
      </p:sp>
      <p:sp>
        <p:nvSpPr>
          <p:cNvPr id="4" name="Shape 2"/>
          <p:cNvSpPr/>
          <p:nvPr/>
        </p:nvSpPr>
        <p:spPr>
          <a:xfrm>
            <a:off x="548640" y="1600200"/>
            <a:ext cx="5440680" cy="4572000"/>
          </a:xfrm>
          <a:prstGeom prst="rect">
            <a:avLst/>
          </a:prstGeom>
          <a:solidFill>
            <a:srgbClr val="F7F6F4"/>
          </a:solidFill>
          <a:ln/>
        </p:spPr>
      </p:sp>
      <p:sp>
        <p:nvSpPr>
          <p:cNvPr id="5" name="Shape 3"/>
          <p:cNvSpPr/>
          <p:nvPr/>
        </p:nvSpPr>
        <p:spPr>
          <a:xfrm>
            <a:off x="822960" y="1874520"/>
            <a:ext cx="594360" cy="594360"/>
          </a:xfrm>
          <a:prstGeom prst="ellipse">
            <a:avLst/>
          </a:prstGeom>
          <a:solidFill>
            <a:srgbClr val="E44D26"/>
          </a:solidFill>
          <a:ln/>
        </p:spPr>
      </p:sp>
      <p:pic>
        <p:nvPicPr>
          <p:cNvPr id="6" name="Image 0" descr="preencoded.png">    </p:cNvPr>
          <p:cNvPicPr>
            <a:picLocks noChangeAspect="1"/>
          </p:cNvPicPr>
          <p:nvPr/>
        </p:nvPicPr>
        <p:blipFill>
          <a:blip r:embed="rId1"/>
          <a:stretch>
            <a:fillRect/>
          </a:stretch>
        </p:blipFill>
        <p:spPr>
          <a:xfrm>
            <a:off x="977494" y="2029054"/>
            <a:ext cx="285293" cy="285293"/>
          </a:xfrm>
          <a:prstGeom prst="rect">
            <a:avLst/>
          </a:prstGeom>
        </p:spPr>
      </p:pic>
      <p:sp>
        <p:nvSpPr>
          <p:cNvPr id="7" name="Text 4"/>
          <p:cNvSpPr txBox="1"/>
          <p:nvPr/>
        </p:nvSpPr>
        <p:spPr>
          <a:xfrm>
            <a:off x="1600200" y="1874520"/>
            <a:ext cx="4114800" cy="594360"/>
          </a:xfrm>
          <a:prstGeom prst="rect">
            <a:avLst/>
          </a:prstGeom>
          <a:noFill/>
          <a:ln/>
        </p:spPr>
        <p:txBody>
          <a:bodyPr wrap="square" lIns="0" tIns="0" rIns="0" bIns="0" rtlCol="0" anchor="ctr"/>
          <a:lstStyle/>
          <a:p>
            <a:pPr indent="0" marL="0">
              <a:buNone/>
            </a:pPr>
            <a:r>
              <a:rPr lang="en-US" sz="1800" b="1" dirty="0">
                <a:solidFill>
                  <a:srgbClr val="E44D26"/>
                </a:solidFill>
                <a:latin typeface="Courier New" pitchFamily="34" charset="0"/>
                <a:ea typeface="Courier New" pitchFamily="34" charset="-122"/>
                <a:cs typeface="Courier New" pitchFamily="34" charset="-120"/>
              </a:rPr>
              <a:t>&lt;canvas&gt;</a:t>
            </a:r>
            <a:endParaRPr lang="en-US" sz="1800" dirty="0"/>
          </a:p>
        </p:txBody>
      </p:sp>
      <p:sp>
        <p:nvSpPr>
          <p:cNvPr id="8" name="Text 5"/>
          <p:cNvSpPr txBox="1"/>
          <p:nvPr/>
        </p:nvSpPr>
        <p:spPr>
          <a:xfrm>
            <a:off x="822960" y="2606040"/>
            <a:ext cx="4892040" cy="914400"/>
          </a:xfrm>
          <a:prstGeom prst="rect">
            <a:avLst/>
          </a:prstGeom>
          <a:noFill/>
          <a:ln/>
        </p:spPr>
        <p:txBody>
          <a:bodyPr wrap="square" lIns="0" tIns="0" rIns="0" bIns="0" rtlCol="0" anchor="ctr"/>
          <a:lstStyle/>
          <a:p>
            <a:pPr indent="0" marL="0">
              <a:lnSpc>
                <a:spcPct val="125000"/>
              </a:lnSpc>
              <a:buNone/>
            </a:pPr>
            <a:r>
              <a:rPr lang="en-US" sz="1150" dirty="0">
                <a:solidFill>
                  <a:srgbClr val="2B2B2B"/>
                </a:solidFill>
                <a:latin typeface="Calibri" pitchFamily="34" charset="0"/>
                <a:ea typeface="Calibri" pitchFamily="34" charset="-122"/>
                <a:cs typeface="Calibri" pitchFamily="34" charset="-120"/>
              </a:rPr>
              <a:t>Area gambar berbasis piksel yang dikendalikan melalui JavaScript. Cocok untuk grafik dinamis, game 2D, dan visualisasi data real-time.</a:t>
            </a:r>
            <a:endParaRPr lang="en-US" sz="1150" dirty="0"/>
          </a:p>
        </p:txBody>
      </p:sp>
      <p:sp>
        <p:nvSpPr>
          <p:cNvPr id="9" name="Shape 6"/>
          <p:cNvSpPr/>
          <p:nvPr/>
        </p:nvSpPr>
        <p:spPr>
          <a:xfrm>
            <a:off x="822960" y="3611880"/>
            <a:ext cx="4892040" cy="2331720"/>
          </a:xfrm>
          <a:prstGeom prst="rect">
            <a:avLst/>
          </a:prstGeom>
          <a:solidFill>
            <a:srgbClr val="1B1B1B"/>
          </a:solidFill>
          <a:ln/>
        </p:spPr>
      </p:sp>
      <p:sp>
        <p:nvSpPr>
          <p:cNvPr id="10" name="Text 7"/>
          <p:cNvSpPr txBox="1"/>
          <p:nvPr/>
        </p:nvSpPr>
        <p:spPr>
          <a:xfrm>
            <a:off x="1005840" y="3794760"/>
            <a:ext cx="4526280" cy="2011680"/>
          </a:xfrm>
          <a:prstGeom prst="rect">
            <a:avLst/>
          </a:prstGeom>
          <a:noFill/>
          <a:ln/>
        </p:spPr>
        <p:txBody>
          <a:bodyPr wrap="square" lIns="0" tIns="0" rIns="0" bIns="0" rtlCol="0" anchor="ctr"/>
          <a:lstStyle/>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const c = document.getElementById("c");</a:t>
            </a:r>
            <a:endParaRPr lang="en-US" sz="1000" dirty="0"/>
          </a:p>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const ctx = c.getContext("2d");</a:t>
            </a:r>
            <a:endParaRPr lang="en-US" sz="1000" dirty="0"/>
          </a:p>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ctx.fillStyle = "#E44D26";</a:t>
            </a:r>
            <a:endParaRPr lang="en-US" sz="1000" dirty="0"/>
          </a:p>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ctx.fillRect(20, 20, 150, 100);</a:t>
            </a:r>
            <a:endParaRPr lang="en-US" sz="1000" dirty="0"/>
          </a:p>
        </p:txBody>
      </p:sp>
      <p:sp>
        <p:nvSpPr>
          <p:cNvPr id="11" name="Shape 8"/>
          <p:cNvSpPr/>
          <p:nvPr/>
        </p:nvSpPr>
        <p:spPr>
          <a:xfrm>
            <a:off x="6217920" y="1600200"/>
            <a:ext cx="5440680" cy="4572000"/>
          </a:xfrm>
          <a:prstGeom prst="rect">
            <a:avLst/>
          </a:prstGeom>
          <a:solidFill>
            <a:srgbClr val="F7F6F4"/>
          </a:solidFill>
          <a:ln/>
        </p:spPr>
      </p:sp>
      <p:sp>
        <p:nvSpPr>
          <p:cNvPr id="12" name="Shape 9"/>
          <p:cNvSpPr/>
          <p:nvPr/>
        </p:nvSpPr>
        <p:spPr>
          <a:xfrm>
            <a:off x="6492240" y="1874520"/>
            <a:ext cx="594360" cy="594360"/>
          </a:xfrm>
          <a:prstGeom prst="ellipse">
            <a:avLst/>
          </a:prstGeom>
          <a:solidFill>
            <a:srgbClr val="E44D26"/>
          </a:solidFill>
          <a:ln/>
        </p:spPr>
      </p:sp>
      <p:pic>
        <p:nvPicPr>
          <p:cNvPr id="13" name="Image 1" descr="preencoded.png">    </p:cNvPr>
          <p:cNvPicPr>
            <a:picLocks noChangeAspect="1"/>
          </p:cNvPicPr>
          <p:nvPr/>
        </p:nvPicPr>
        <p:blipFill>
          <a:blip r:embed="rId2"/>
          <a:stretch>
            <a:fillRect/>
          </a:stretch>
        </p:blipFill>
        <p:spPr>
          <a:xfrm>
            <a:off x="6646774" y="2029054"/>
            <a:ext cx="285293" cy="285293"/>
          </a:xfrm>
          <a:prstGeom prst="rect">
            <a:avLst/>
          </a:prstGeom>
        </p:spPr>
      </p:pic>
      <p:sp>
        <p:nvSpPr>
          <p:cNvPr id="14" name="Text 10"/>
          <p:cNvSpPr txBox="1"/>
          <p:nvPr/>
        </p:nvSpPr>
        <p:spPr>
          <a:xfrm>
            <a:off x="7269480" y="1874520"/>
            <a:ext cx="4114800" cy="594360"/>
          </a:xfrm>
          <a:prstGeom prst="rect">
            <a:avLst/>
          </a:prstGeom>
          <a:noFill/>
          <a:ln/>
        </p:spPr>
        <p:txBody>
          <a:bodyPr wrap="square" lIns="0" tIns="0" rIns="0" bIns="0" rtlCol="0" anchor="ctr"/>
          <a:lstStyle/>
          <a:p>
            <a:pPr indent="0" marL="0">
              <a:buNone/>
            </a:pPr>
            <a:r>
              <a:rPr lang="en-US" sz="1800" b="1" dirty="0">
                <a:solidFill>
                  <a:srgbClr val="E44D26"/>
                </a:solidFill>
                <a:latin typeface="Courier New" pitchFamily="34" charset="0"/>
                <a:ea typeface="Courier New" pitchFamily="34" charset="-122"/>
                <a:cs typeface="Courier New" pitchFamily="34" charset="-120"/>
              </a:rPr>
              <a:t>SVG</a:t>
            </a:r>
            <a:endParaRPr lang="en-US" sz="1800" dirty="0"/>
          </a:p>
        </p:txBody>
      </p:sp>
      <p:sp>
        <p:nvSpPr>
          <p:cNvPr id="15" name="Text 11"/>
          <p:cNvSpPr txBox="1"/>
          <p:nvPr/>
        </p:nvSpPr>
        <p:spPr>
          <a:xfrm>
            <a:off x="6492240" y="2606040"/>
            <a:ext cx="4892040" cy="914400"/>
          </a:xfrm>
          <a:prstGeom prst="rect">
            <a:avLst/>
          </a:prstGeom>
          <a:noFill/>
          <a:ln/>
        </p:spPr>
        <p:txBody>
          <a:bodyPr wrap="square" lIns="0" tIns="0" rIns="0" bIns="0" rtlCol="0" anchor="ctr"/>
          <a:lstStyle/>
          <a:p>
            <a:pPr indent="0" marL="0">
              <a:lnSpc>
                <a:spcPct val="125000"/>
              </a:lnSpc>
              <a:buNone/>
            </a:pPr>
            <a:r>
              <a:rPr lang="en-US" sz="1150" dirty="0">
                <a:solidFill>
                  <a:srgbClr val="2B2B2B"/>
                </a:solidFill>
                <a:latin typeface="Calibri" pitchFamily="34" charset="0"/>
                <a:ea typeface="Calibri" pitchFamily="34" charset="-122"/>
                <a:cs typeface="Calibri" pitchFamily="34" charset="-120"/>
              </a:rPr>
              <a:t>Scalable Vector Graphics — grafis berbasis vektor berbentuk XML yang tetap tajam pada resolusi berapa pun. Ideal untuk ikon, logo, dan ilustrasi.</a:t>
            </a:r>
            <a:endParaRPr lang="en-US" sz="1150" dirty="0"/>
          </a:p>
        </p:txBody>
      </p:sp>
      <p:sp>
        <p:nvSpPr>
          <p:cNvPr id="16" name="Shape 12"/>
          <p:cNvSpPr/>
          <p:nvPr/>
        </p:nvSpPr>
        <p:spPr>
          <a:xfrm>
            <a:off x="6492240" y="3611880"/>
            <a:ext cx="4892040" cy="2331720"/>
          </a:xfrm>
          <a:prstGeom prst="rect">
            <a:avLst/>
          </a:prstGeom>
          <a:solidFill>
            <a:srgbClr val="1B1B1B"/>
          </a:solidFill>
          <a:ln/>
        </p:spPr>
      </p:sp>
      <p:sp>
        <p:nvSpPr>
          <p:cNvPr id="17" name="Text 13"/>
          <p:cNvSpPr txBox="1"/>
          <p:nvPr/>
        </p:nvSpPr>
        <p:spPr>
          <a:xfrm>
            <a:off x="6675120" y="3794760"/>
            <a:ext cx="4526280" cy="2011680"/>
          </a:xfrm>
          <a:prstGeom prst="rect">
            <a:avLst/>
          </a:prstGeom>
          <a:noFill/>
          <a:ln/>
        </p:spPr>
        <p:txBody>
          <a:bodyPr wrap="square" lIns="0" tIns="0" rIns="0" bIns="0" rtlCol="0" anchor="ctr"/>
          <a:lstStyle/>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&lt;svg width="150" height="100"&gt;</a:t>
            </a:r>
            <a:endParaRPr lang="en-US" sz="1000" dirty="0"/>
          </a:p>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  &lt;circle cx="75" cy="50" r="40"</a:t>
            </a:r>
            <a:endParaRPr lang="en-US" sz="1000" dirty="0"/>
          </a:p>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    fill="#E44D26" /&gt;</a:t>
            </a:r>
            <a:endParaRPr lang="en-US" sz="1000" dirty="0"/>
          </a:p>
          <a:p>
            <a:pPr indent="0" marL="0">
              <a:lnSpc>
                <a:spcPct val="135000"/>
              </a:lnSpc>
              <a:buNone/>
            </a:pPr>
            <a:r>
              <a:rPr lang="en-US" sz="1000" dirty="0">
                <a:solidFill>
                  <a:srgbClr val="DADADA"/>
                </a:solidFill>
                <a:latin typeface="Courier New" pitchFamily="34" charset="0"/>
                <a:ea typeface="Courier New" pitchFamily="34" charset="-122"/>
                <a:cs typeface="Courier New" pitchFamily="34" charset="-120"/>
              </a:rPr>
              <a:t>&lt;/svg&gt;</a:t>
            </a:r>
            <a:endParaRPr lang="en-US" sz="1000" dirty="0"/>
          </a:p>
        </p:txBody>
      </p:sp>
      <p:sp>
        <p:nvSpPr>
          <p:cNvPr id="18" name="Text 14"/>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19" name="Text 1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FITUR LANJUTAN</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API &amp; Fitur Modern HTML5</a:t>
            </a:r>
            <a:endParaRPr lang="en-US" sz="3200" dirty="0"/>
          </a:p>
        </p:txBody>
      </p:sp>
      <p:sp>
        <p:nvSpPr>
          <p:cNvPr id="4" name="Text 2"/>
          <p:cNvSpPr txBox="1"/>
          <p:nvPr/>
        </p:nvSpPr>
        <p:spPr>
          <a:xfrm>
            <a:off x="548640" y="1371600"/>
            <a:ext cx="10515600" cy="365760"/>
          </a:xfrm>
          <a:prstGeom prst="rect">
            <a:avLst/>
          </a:prstGeom>
          <a:noFill/>
          <a:ln/>
        </p:spPr>
        <p:txBody>
          <a:bodyPr wrap="square" lIns="0" tIns="0" rIns="0" bIns="0" rtlCol="0" anchor="ctr"/>
          <a:lstStyle/>
          <a:p>
            <a:pPr indent="0" marL="0">
              <a:buNone/>
            </a:pPr>
            <a:r>
              <a:rPr lang="en-US" sz="1250" i="1" dirty="0">
                <a:solidFill>
                  <a:srgbClr val="6B6B6B"/>
                </a:solidFill>
                <a:latin typeface="Calibri" pitchFamily="34" charset="0"/>
                <a:ea typeface="Calibri" pitchFamily="34" charset="-122"/>
                <a:cs typeface="Calibri" pitchFamily="34" charset="-120"/>
              </a:rPr>
              <a:t>Selain elemen markah, HTML5 juga mendefinisikan sekumpulan API JavaScript yang memperluas kemampuan aplikasi web.</a:t>
            </a:r>
            <a:endParaRPr lang="en-US" sz="1250" dirty="0"/>
          </a:p>
        </p:txBody>
      </p:sp>
      <p:sp>
        <p:nvSpPr>
          <p:cNvPr id="5" name="Shape 3"/>
          <p:cNvSpPr/>
          <p:nvPr/>
        </p:nvSpPr>
        <p:spPr>
          <a:xfrm>
            <a:off x="54864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6" name="Shape 4"/>
          <p:cNvSpPr/>
          <p:nvPr/>
        </p:nvSpPr>
        <p:spPr>
          <a:xfrm>
            <a:off x="1609344" y="2148840"/>
            <a:ext cx="548640" cy="548640"/>
          </a:xfrm>
          <a:prstGeom prst="ellipse">
            <a:avLst/>
          </a:prstGeom>
          <a:solidFill>
            <a:srgbClr val="E44D26"/>
          </a:solidFill>
          <a:ln/>
        </p:spPr>
      </p:sp>
      <p:pic>
        <p:nvPicPr>
          <p:cNvPr id="7" name="Image 0" descr="preencoded.png">    </p:cNvPr>
          <p:cNvPicPr>
            <a:picLocks noChangeAspect="1"/>
          </p:cNvPicPr>
          <p:nvPr/>
        </p:nvPicPr>
        <p:blipFill>
          <a:blip r:embed="rId1"/>
          <a:stretch>
            <a:fillRect/>
          </a:stretch>
        </p:blipFill>
        <p:spPr>
          <a:xfrm>
            <a:off x="1751990" y="2291486"/>
            <a:ext cx="263347" cy="263347"/>
          </a:xfrm>
          <a:prstGeom prst="rect">
            <a:avLst/>
          </a:prstGeom>
        </p:spPr>
      </p:pic>
      <p:sp>
        <p:nvSpPr>
          <p:cNvPr id="8" name="Text 5"/>
          <p:cNvSpPr txBox="1"/>
          <p:nvPr/>
        </p:nvSpPr>
        <p:spPr>
          <a:xfrm>
            <a:off x="658368" y="280720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Web Storage</a:t>
            </a:r>
            <a:endParaRPr lang="en-US" sz="1100" dirty="0"/>
          </a:p>
        </p:txBody>
      </p:sp>
      <p:sp>
        <p:nvSpPr>
          <p:cNvPr id="9" name="Text 6"/>
          <p:cNvSpPr txBox="1"/>
          <p:nvPr/>
        </p:nvSpPr>
        <p:spPr>
          <a:xfrm>
            <a:off x="685800" y="317296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localStorage &amp; sessionStorage menyimpan data di sisi klien tanpa cookie</a:t>
            </a:r>
            <a:endParaRPr lang="en-US" sz="860" dirty="0"/>
          </a:p>
        </p:txBody>
      </p:sp>
      <p:sp>
        <p:nvSpPr>
          <p:cNvPr id="10" name="Shape 7"/>
          <p:cNvSpPr/>
          <p:nvPr/>
        </p:nvSpPr>
        <p:spPr>
          <a:xfrm>
            <a:off x="338328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11" name="Shape 8"/>
          <p:cNvSpPr/>
          <p:nvPr/>
        </p:nvSpPr>
        <p:spPr>
          <a:xfrm>
            <a:off x="4443984" y="2148840"/>
            <a:ext cx="548640" cy="548640"/>
          </a:xfrm>
          <a:prstGeom prst="ellipse">
            <a:avLst/>
          </a:prstGeom>
          <a:solidFill>
            <a:srgbClr val="E44D26"/>
          </a:solidFill>
          <a:ln/>
        </p:spPr>
      </p:sp>
      <p:pic>
        <p:nvPicPr>
          <p:cNvPr id="12" name="Image 1" descr="preencoded.png">    </p:cNvPr>
          <p:cNvPicPr>
            <a:picLocks noChangeAspect="1"/>
          </p:cNvPicPr>
          <p:nvPr/>
        </p:nvPicPr>
        <p:blipFill>
          <a:blip r:embed="rId2"/>
          <a:stretch>
            <a:fillRect/>
          </a:stretch>
        </p:blipFill>
        <p:spPr>
          <a:xfrm>
            <a:off x="4586630" y="2291486"/>
            <a:ext cx="263347" cy="263347"/>
          </a:xfrm>
          <a:prstGeom prst="rect">
            <a:avLst/>
          </a:prstGeom>
        </p:spPr>
      </p:pic>
      <p:sp>
        <p:nvSpPr>
          <p:cNvPr id="13" name="Text 9"/>
          <p:cNvSpPr txBox="1"/>
          <p:nvPr/>
        </p:nvSpPr>
        <p:spPr>
          <a:xfrm>
            <a:off x="3493008" y="280720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Geolocation API</a:t>
            </a:r>
            <a:endParaRPr lang="en-US" sz="1100" dirty="0"/>
          </a:p>
        </p:txBody>
      </p:sp>
      <p:sp>
        <p:nvSpPr>
          <p:cNvPr id="14" name="Text 10"/>
          <p:cNvSpPr txBox="1"/>
          <p:nvPr/>
        </p:nvSpPr>
        <p:spPr>
          <a:xfrm>
            <a:off x="3520440" y="317296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Mengambil lokasi geografis pengguna melalui navigator.geolocation</a:t>
            </a:r>
            <a:endParaRPr lang="en-US" sz="860" dirty="0"/>
          </a:p>
        </p:txBody>
      </p:sp>
      <p:sp>
        <p:nvSpPr>
          <p:cNvPr id="15" name="Shape 11"/>
          <p:cNvSpPr/>
          <p:nvPr/>
        </p:nvSpPr>
        <p:spPr>
          <a:xfrm>
            <a:off x="621792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16" name="Shape 12"/>
          <p:cNvSpPr/>
          <p:nvPr/>
        </p:nvSpPr>
        <p:spPr>
          <a:xfrm>
            <a:off x="7278624" y="2148840"/>
            <a:ext cx="548640" cy="548640"/>
          </a:xfrm>
          <a:prstGeom prst="ellipse">
            <a:avLst/>
          </a:prstGeom>
          <a:solidFill>
            <a:srgbClr val="E44D26"/>
          </a:solidFill>
          <a:ln/>
        </p:spPr>
      </p:sp>
      <p:pic>
        <p:nvPicPr>
          <p:cNvPr id="17" name="Image 2" descr="preencoded.png">    </p:cNvPr>
          <p:cNvPicPr>
            <a:picLocks noChangeAspect="1"/>
          </p:cNvPicPr>
          <p:nvPr/>
        </p:nvPicPr>
        <p:blipFill>
          <a:blip r:embed="rId3"/>
          <a:stretch>
            <a:fillRect/>
          </a:stretch>
        </p:blipFill>
        <p:spPr>
          <a:xfrm>
            <a:off x="7421270" y="2291486"/>
            <a:ext cx="263347" cy="263347"/>
          </a:xfrm>
          <a:prstGeom prst="rect">
            <a:avLst/>
          </a:prstGeom>
        </p:spPr>
      </p:pic>
      <p:sp>
        <p:nvSpPr>
          <p:cNvPr id="18" name="Text 13"/>
          <p:cNvSpPr txBox="1"/>
          <p:nvPr/>
        </p:nvSpPr>
        <p:spPr>
          <a:xfrm>
            <a:off x="6327648" y="280720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Drag and Drop API</a:t>
            </a:r>
            <a:endParaRPr lang="en-US" sz="1100" dirty="0"/>
          </a:p>
        </p:txBody>
      </p:sp>
      <p:sp>
        <p:nvSpPr>
          <p:cNvPr id="19" name="Text 14"/>
          <p:cNvSpPr txBox="1"/>
          <p:nvPr/>
        </p:nvSpPr>
        <p:spPr>
          <a:xfrm>
            <a:off x="6355080" y="317296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Mendukung interaksi seret-dan-lepas elemen secara native</a:t>
            </a:r>
            <a:endParaRPr lang="en-US" sz="860" dirty="0"/>
          </a:p>
        </p:txBody>
      </p:sp>
      <p:sp>
        <p:nvSpPr>
          <p:cNvPr id="20" name="Shape 15"/>
          <p:cNvSpPr/>
          <p:nvPr/>
        </p:nvSpPr>
        <p:spPr>
          <a:xfrm>
            <a:off x="9052560" y="196596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21" name="Shape 16"/>
          <p:cNvSpPr/>
          <p:nvPr/>
        </p:nvSpPr>
        <p:spPr>
          <a:xfrm>
            <a:off x="10113264" y="2148840"/>
            <a:ext cx="548640" cy="548640"/>
          </a:xfrm>
          <a:prstGeom prst="ellipse">
            <a:avLst/>
          </a:prstGeom>
          <a:solidFill>
            <a:srgbClr val="E44D26"/>
          </a:solidFill>
          <a:ln/>
        </p:spPr>
      </p:sp>
      <p:pic>
        <p:nvPicPr>
          <p:cNvPr id="22" name="Image 3" descr="preencoded.png">    </p:cNvPr>
          <p:cNvPicPr>
            <a:picLocks noChangeAspect="1"/>
          </p:cNvPicPr>
          <p:nvPr/>
        </p:nvPicPr>
        <p:blipFill>
          <a:blip r:embed="rId4"/>
          <a:stretch>
            <a:fillRect/>
          </a:stretch>
        </p:blipFill>
        <p:spPr>
          <a:xfrm>
            <a:off x="10255910" y="2291486"/>
            <a:ext cx="263347" cy="263347"/>
          </a:xfrm>
          <a:prstGeom prst="rect">
            <a:avLst/>
          </a:prstGeom>
        </p:spPr>
      </p:pic>
      <p:sp>
        <p:nvSpPr>
          <p:cNvPr id="23" name="Text 17"/>
          <p:cNvSpPr txBox="1"/>
          <p:nvPr/>
        </p:nvSpPr>
        <p:spPr>
          <a:xfrm>
            <a:off x="9162288" y="280720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Application Cache / Offline</a:t>
            </a:r>
            <a:endParaRPr lang="en-US" sz="1100" dirty="0"/>
          </a:p>
        </p:txBody>
      </p:sp>
      <p:sp>
        <p:nvSpPr>
          <p:cNvPr id="24" name="Text 18"/>
          <p:cNvSpPr txBox="1"/>
          <p:nvPr/>
        </p:nvSpPr>
        <p:spPr>
          <a:xfrm>
            <a:off x="9189720" y="317296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Memungkinkan aplikasi web berjalan tanpa koneksi internet</a:t>
            </a:r>
            <a:endParaRPr lang="en-US" sz="860" dirty="0"/>
          </a:p>
        </p:txBody>
      </p:sp>
      <p:sp>
        <p:nvSpPr>
          <p:cNvPr id="25" name="Shape 19"/>
          <p:cNvSpPr/>
          <p:nvPr/>
        </p:nvSpPr>
        <p:spPr>
          <a:xfrm>
            <a:off x="54864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26" name="Shape 20"/>
          <p:cNvSpPr/>
          <p:nvPr/>
        </p:nvSpPr>
        <p:spPr>
          <a:xfrm>
            <a:off x="1609344" y="4297680"/>
            <a:ext cx="548640" cy="548640"/>
          </a:xfrm>
          <a:prstGeom prst="ellipse">
            <a:avLst/>
          </a:prstGeom>
          <a:solidFill>
            <a:srgbClr val="E44D26"/>
          </a:solidFill>
          <a:ln/>
        </p:spPr>
      </p:sp>
      <p:pic>
        <p:nvPicPr>
          <p:cNvPr id="27" name="Image 4" descr="preencoded.png">    </p:cNvPr>
          <p:cNvPicPr>
            <a:picLocks noChangeAspect="1"/>
          </p:cNvPicPr>
          <p:nvPr/>
        </p:nvPicPr>
        <p:blipFill>
          <a:blip r:embed="rId5"/>
          <a:stretch>
            <a:fillRect/>
          </a:stretch>
        </p:blipFill>
        <p:spPr>
          <a:xfrm>
            <a:off x="1751990" y="4440326"/>
            <a:ext cx="263347" cy="263347"/>
          </a:xfrm>
          <a:prstGeom prst="rect">
            <a:avLst/>
          </a:prstGeom>
        </p:spPr>
      </p:pic>
      <p:sp>
        <p:nvSpPr>
          <p:cNvPr id="28" name="Text 21"/>
          <p:cNvSpPr txBox="1"/>
          <p:nvPr/>
        </p:nvSpPr>
        <p:spPr>
          <a:xfrm>
            <a:off x="658368" y="495604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Web Workers</a:t>
            </a:r>
            <a:endParaRPr lang="en-US" sz="1100" dirty="0"/>
          </a:p>
        </p:txBody>
      </p:sp>
      <p:sp>
        <p:nvSpPr>
          <p:cNvPr id="29" name="Text 22"/>
          <p:cNvSpPr txBox="1"/>
          <p:nvPr/>
        </p:nvSpPr>
        <p:spPr>
          <a:xfrm>
            <a:off x="685800" y="532180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Menjalankan skrip di latar belakang tanpa memblokir antarmuka</a:t>
            </a:r>
            <a:endParaRPr lang="en-US" sz="860" dirty="0"/>
          </a:p>
        </p:txBody>
      </p:sp>
      <p:sp>
        <p:nvSpPr>
          <p:cNvPr id="30" name="Shape 23"/>
          <p:cNvSpPr/>
          <p:nvPr/>
        </p:nvSpPr>
        <p:spPr>
          <a:xfrm>
            <a:off x="338328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31" name="Shape 24"/>
          <p:cNvSpPr/>
          <p:nvPr/>
        </p:nvSpPr>
        <p:spPr>
          <a:xfrm>
            <a:off x="4443984" y="4297680"/>
            <a:ext cx="548640" cy="548640"/>
          </a:xfrm>
          <a:prstGeom prst="ellipse">
            <a:avLst/>
          </a:prstGeom>
          <a:solidFill>
            <a:srgbClr val="E44D26"/>
          </a:solidFill>
          <a:ln/>
        </p:spPr>
      </p:sp>
      <p:pic>
        <p:nvPicPr>
          <p:cNvPr id="32" name="Image 5" descr="preencoded.png">    </p:cNvPr>
          <p:cNvPicPr>
            <a:picLocks noChangeAspect="1"/>
          </p:cNvPicPr>
          <p:nvPr/>
        </p:nvPicPr>
        <p:blipFill>
          <a:blip r:embed="rId6"/>
          <a:stretch>
            <a:fillRect/>
          </a:stretch>
        </p:blipFill>
        <p:spPr>
          <a:xfrm>
            <a:off x="4586630" y="4440326"/>
            <a:ext cx="263347" cy="263347"/>
          </a:xfrm>
          <a:prstGeom prst="rect">
            <a:avLst/>
          </a:prstGeom>
        </p:spPr>
      </p:pic>
      <p:sp>
        <p:nvSpPr>
          <p:cNvPr id="33" name="Text 25"/>
          <p:cNvSpPr txBox="1"/>
          <p:nvPr/>
        </p:nvSpPr>
        <p:spPr>
          <a:xfrm>
            <a:off x="3493008" y="495604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History API</a:t>
            </a:r>
            <a:endParaRPr lang="en-US" sz="1100" dirty="0"/>
          </a:p>
        </p:txBody>
      </p:sp>
      <p:sp>
        <p:nvSpPr>
          <p:cNvPr id="34" name="Text 26"/>
          <p:cNvSpPr txBox="1"/>
          <p:nvPr/>
        </p:nvSpPr>
        <p:spPr>
          <a:xfrm>
            <a:off x="3520440" y="532180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Mengelola riwayat navigasi browser (pushState/replaceState)</a:t>
            </a:r>
            <a:endParaRPr lang="en-US" sz="860" dirty="0"/>
          </a:p>
        </p:txBody>
      </p:sp>
      <p:sp>
        <p:nvSpPr>
          <p:cNvPr id="35" name="Shape 27"/>
          <p:cNvSpPr/>
          <p:nvPr/>
        </p:nvSpPr>
        <p:spPr>
          <a:xfrm>
            <a:off x="621792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36" name="Shape 28"/>
          <p:cNvSpPr/>
          <p:nvPr/>
        </p:nvSpPr>
        <p:spPr>
          <a:xfrm>
            <a:off x="7278624" y="4297680"/>
            <a:ext cx="548640" cy="548640"/>
          </a:xfrm>
          <a:prstGeom prst="ellipse">
            <a:avLst/>
          </a:prstGeom>
          <a:solidFill>
            <a:srgbClr val="E44D26"/>
          </a:solidFill>
          <a:ln/>
        </p:spPr>
      </p:sp>
      <p:pic>
        <p:nvPicPr>
          <p:cNvPr id="37" name="Image 6" descr="preencoded.png">    </p:cNvPr>
          <p:cNvPicPr>
            <a:picLocks noChangeAspect="1"/>
          </p:cNvPicPr>
          <p:nvPr/>
        </p:nvPicPr>
        <p:blipFill>
          <a:blip r:embed="rId7"/>
          <a:stretch>
            <a:fillRect/>
          </a:stretch>
        </p:blipFill>
        <p:spPr>
          <a:xfrm>
            <a:off x="7421270" y="4440326"/>
            <a:ext cx="263347" cy="263347"/>
          </a:xfrm>
          <a:prstGeom prst="rect">
            <a:avLst/>
          </a:prstGeom>
        </p:spPr>
      </p:pic>
      <p:sp>
        <p:nvSpPr>
          <p:cNvPr id="38" name="Text 29"/>
          <p:cNvSpPr txBox="1"/>
          <p:nvPr/>
        </p:nvSpPr>
        <p:spPr>
          <a:xfrm>
            <a:off x="6327648" y="495604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WebSocket API</a:t>
            </a:r>
            <a:endParaRPr lang="en-US" sz="1100" dirty="0"/>
          </a:p>
        </p:txBody>
      </p:sp>
      <p:sp>
        <p:nvSpPr>
          <p:cNvPr id="39" name="Text 30"/>
          <p:cNvSpPr txBox="1"/>
          <p:nvPr/>
        </p:nvSpPr>
        <p:spPr>
          <a:xfrm>
            <a:off x="6355080" y="532180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Komunikasi dua arah real-time antara klien dan server</a:t>
            </a:r>
            <a:endParaRPr lang="en-US" sz="860" dirty="0"/>
          </a:p>
        </p:txBody>
      </p:sp>
      <p:sp>
        <p:nvSpPr>
          <p:cNvPr id="40" name="Shape 31"/>
          <p:cNvSpPr/>
          <p:nvPr/>
        </p:nvSpPr>
        <p:spPr>
          <a:xfrm>
            <a:off x="9052560" y="4114800"/>
            <a:ext cx="2670048" cy="1965960"/>
          </a:xfrm>
          <a:prstGeom prst="rect">
            <a:avLst/>
          </a:prstGeom>
          <a:solidFill>
            <a:srgbClr val="F7F6F4"/>
          </a:solidFill>
          <a:ln/>
          <a:effectLst>
            <a:outerShdw sx="100000" sy="100000" kx="0" ky="0" algn="bl" rotWithShape="0" blurRad="63500" dist="25400" dir="5400000">
              <a:srgbClr val="000000">
                <a:alpha val="7000"/>
              </a:srgbClr>
            </a:outerShdw>
          </a:effectLst>
        </p:spPr>
      </p:sp>
      <p:sp>
        <p:nvSpPr>
          <p:cNvPr id="41" name="Shape 32"/>
          <p:cNvSpPr/>
          <p:nvPr/>
        </p:nvSpPr>
        <p:spPr>
          <a:xfrm>
            <a:off x="10113264" y="4297680"/>
            <a:ext cx="548640" cy="548640"/>
          </a:xfrm>
          <a:prstGeom prst="ellipse">
            <a:avLst/>
          </a:prstGeom>
          <a:solidFill>
            <a:srgbClr val="E44D26"/>
          </a:solidFill>
          <a:ln/>
        </p:spPr>
      </p:sp>
      <p:pic>
        <p:nvPicPr>
          <p:cNvPr id="42" name="Image 7" descr="preencoded.png">    </p:cNvPr>
          <p:cNvPicPr>
            <a:picLocks noChangeAspect="1"/>
          </p:cNvPicPr>
          <p:nvPr/>
        </p:nvPicPr>
        <p:blipFill>
          <a:blip r:embed="rId8"/>
          <a:stretch>
            <a:fillRect/>
          </a:stretch>
        </p:blipFill>
        <p:spPr>
          <a:xfrm>
            <a:off x="10255910" y="4440326"/>
            <a:ext cx="263347" cy="263347"/>
          </a:xfrm>
          <a:prstGeom prst="rect">
            <a:avLst/>
          </a:prstGeom>
        </p:spPr>
      </p:pic>
      <p:sp>
        <p:nvSpPr>
          <p:cNvPr id="43" name="Text 33"/>
          <p:cNvSpPr txBox="1"/>
          <p:nvPr/>
        </p:nvSpPr>
        <p:spPr>
          <a:xfrm>
            <a:off x="9162288" y="4956048"/>
            <a:ext cx="2450592" cy="36576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Responsive &amp; Device API</a:t>
            </a:r>
            <a:endParaRPr lang="en-US" sz="1100" dirty="0"/>
          </a:p>
        </p:txBody>
      </p:sp>
      <p:sp>
        <p:nvSpPr>
          <p:cNvPr id="44" name="Text 34"/>
          <p:cNvSpPr txBox="1"/>
          <p:nvPr/>
        </p:nvSpPr>
        <p:spPr>
          <a:xfrm>
            <a:off x="9189720" y="5321808"/>
            <a:ext cx="2395728" cy="667512"/>
          </a:xfrm>
          <a:prstGeom prst="rect">
            <a:avLst/>
          </a:prstGeom>
          <a:noFill/>
          <a:ln/>
        </p:spPr>
        <p:txBody>
          <a:bodyPr wrap="square" lIns="0" tIns="0" rIns="0" bIns="0" rtlCol="0" anchor="ctr"/>
          <a:lstStyle/>
          <a:p>
            <a:pPr algn="ctr" indent="0" marL="0">
              <a:lnSpc>
                <a:spcPct val="115000"/>
              </a:lnSpc>
              <a:buNone/>
            </a:pPr>
            <a:r>
              <a:rPr lang="en-US" sz="860" dirty="0">
                <a:solidFill>
                  <a:srgbClr val="6B6B6B"/>
                </a:solidFill>
                <a:latin typeface="Calibri" pitchFamily="34" charset="0"/>
                <a:ea typeface="Calibri" pitchFamily="34" charset="-122"/>
                <a:cs typeface="Calibri" pitchFamily="34" charset="-120"/>
              </a:rPr>
              <a:t>Mendukung deteksi orientasi, sentuhan, dan fitur perangkat mobile</a:t>
            </a:r>
            <a:endParaRPr lang="en-US" sz="860" dirty="0"/>
          </a:p>
        </p:txBody>
      </p:sp>
      <p:sp>
        <p:nvSpPr>
          <p:cNvPr id="45" name="Text 35"/>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46" name="Text 36"/>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DETAIL TEKNIS</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Atribut Global &amp; Data Attribute</a:t>
            </a:r>
            <a:endParaRPr lang="en-US" sz="3200" dirty="0"/>
          </a:p>
        </p:txBody>
      </p:sp>
      <p:sp>
        <p:nvSpPr>
          <p:cNvPr id="4" name="Text 2"/>
          <p:cNvSpPr txBox="1"/>
          <p:nvPr/>
        </p:nvSpPr>
        <p:spPr>
          <a:xfrm>
            <a:off x="548640" y="1554480"/>
            <a:ext cx="5486400" cy="365760"/>
          </a:xfrm>
          <a:prstGeom prst="rect">
            <a:avLst/>
          </a:prstGeom>
          <a:noFill/>
          <a:ln/>
        </p:spPr>
        <p:txBody>
          <a:bodyPr wrap="square" lIns="0" tIns="0" rIns="0" bIns="0" rtlCol="0" anchor="ctr"/>
          <a:lstStyle/>
          <a:p>
            <a:pPr indent="0" marL="0">
              <a:buNone/>
            </a:pPr>
            <a:r>
              <a:rPr lang="en-US" sz="1700" b="1" dirty="0">
                <a:solidFill>
                  <a:srgbClr val="2B2B2B"/>
                </a:solidFill>
                <a:latin typeface="Cambria" pitchFamily="34" charset="0"/>
                <a:ea typeface="Cambria" pitchFamily="34" charset="-122"/>
                <a:cs typeface="Cambria" pitchFamily="34" charset="-120"/>
              </a:rPr>
              <a:t>Atribut Global Umum</a:t>
            </a:r>
            <a:endParaRPr lang="en-US" sz="1700" dirty="0"/>
          </a:p>
        </p:txBody>
      </p:sp>
      <p:sp>
        <p:nvSpPr>
          <p:cNvPr id="5" name="Text 3"/>
          <p:cNvSpPr txBox="1"/>
          <p:nvPr/>
        </p:nvSpPr>
        <p:spPr>
          <a:xfrm>
            <a:off x="548640" y="2011680"/>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id</a:t>
            </a:r>
            <a:endParaRPr lang="en-US" sz="1200" dirty="0"/>
          </a:p>
        </p:txBody>
      </p:sp>
      <p:sp>
        <p:nvSpPr>
          <p:cNvPr id="6" name="Text 4"/>
          <p:cNvSpPr txBox="1"/>
          <p:nvPr/>
        </p:nvSpPr>
        <p:spPr>
          <a:xfrm>
            <a:off x="548640" y="2258568"/>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Pengenal unik suatu elemen dalam dokumen</a:t>
            </a:r>
            <a:endParaRPr lang="en-US" sz="970" dirty="0"/>
          </a:p>
        </p:txBody>
      </p:sp>
      <p:sp>
        <p:nvSpPr>
          <p:cNvPr id="7" name="Text 5"/>
          <p:cNvSpPr txBox="1"/>
          <p:nvPr/>
        </p:nvSpPr>
        <p:spPr>
          <a:xfrm>
            <a:off x="6172200" y="2011680"/>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class</a:t>
            </a:r>
            <a:endParaRPr lang="en-US" sz="1200" dirty="0"/>
          </a:p>
        </p:txBody>
      </p:sp>
      <p:sp>
        <p:nvSpPr>
          <p:cNvPr id="8" name="Text 6"/>
          <p:cNvSpPr txBox="1"/>
          <p:nvPr/>
        </p:nvSpPr>
        <p:spPr>
          <a:xfrm>
            <a:off x="6172200" y="2258568"/>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Menandai elemen untuk keperluan styling CSS/JS</a:t>
            </a:r>
            <a:endParaRPr lang="en-US" sz="970" dirty="0"/>
          </a:p>
        </p:txBody>
      </p:sp>
      <p:sp>
        <p:nvSpPr>
          <p:cNvPr id="9" name="Text 7"/>
          <p:cNvSpPr txBox="1"/>
          <p:nvPr/>
        </p:nvSpPr>
        <p:spPr>
          <a:xfrm>
            <a:off x="548640" y="2578608"/>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style</a:t>
            </a:r>
            <a:endParaRPr lang="en-US" sz="1200" dirty="0"/>
          </a:p>
        </p:txBody>
      </p:sp>
      <p:sp>
        <p:nvSpPr>
          <p:cNvPr id="10" name="Text 8"/>
          <p:cNvSpPr txBox="1"/>
          <p:nvPr/>
        </p:nvSpPr>
        <p:spPr>
          <a:xfrm>
            <a:off x="548640" y="2825496"/>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Menyisipkan CSS langsung pada elemen</a:t>
            </a:r>
            <a:endParaRPr lang="en-US" sz="970" dirty="0"/>
          </a:p>
        </p:txBody>
      </p:sp>
      <p:sp>
        <p:nvSpPr>
          <p:cNvPr id="11" name="Text 9"/>
          <p:cNvSpPr txBox="1"/>
          <p:nvPr/>
        </p:nvSpPr>
        <p:spPr>
          <a:xfrm>
            <a:off x="6172200" y="2578608"/>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title</a:t>
            </a:r>
            <a:endParaRPr lang="en-US" sz="1200" dirty="0"/>
          </a:p>
        </p:txBody>
      </p:sp>
      <p:sp>
        <p:nvSpPr>
          <p:cNvPr id="12" name="Text 10"/>
          <p:cNvSpPr txBox="1"/>
          <p:nvPr/>
        </p:nvSpPr>
        <p:spPr>
          <a:xfrm>
            <a:off x="6172200" y="2825496"/>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Menampilkan teks bantuan (tooltip) saat kursor diarahkan</a:t>
            </a:r>
            <a:endParaRPr lang="en-US" sz="970" dirty="0"/>
          </a:p>
        </p:txBody>
      </p:sp>
      <p:sp>
        <p:nvSpPr>
          <p:cNvPr id="13" name="Text 11"/>
          <p:cNvSpPr txBox="1"/>
          <p:nvPr/>
        </p:nvSpPr>
        <p:spPr>
          <a:xfrm>
            <a:off x="548640" y="3145536"/>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hidden</a:t>
            </a:r>
            <a:endParaRPr lang="en-US" sz="1200" dirty="0"/>
          </a:p>
        </p:txBody>
      </p:sp>
      <p:sp>
        <p:nvSpPr>
          <p:cNvPr id="14" name="Text 12"/>
          <p:cNvSpPr txBox="1"/>
          <p:nvPr/>
        </p:nvSpPr>
        <p:spPr>
          <a:xfrm>
            <a:off x="548640" y="3392424"/>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Menyembunyikan elemen dari tampilan</a:t>
            </a:r>
            <a:endParaRPr lang="en-US" sz="970" dirty="0"/>
          </a:p>
        </p:txBody>
      </p:sp>
      <p:sp>
        <p:nvSpPr>
          <p:cNvPr id="15" name="Text 13"/>
          <p:cNvSpPr txBox="1"/>
          <p:nvPr/>
        </p:nvSpPr>
        <p:spPr>
          <a:xfrm>
            <a:off x="6172200" y="3145536"/>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contenteditable</a:t>
            </a:r>
            <a:endParaRPr lang="en-US" sz="1200" dirty="0"/>
          </a:p>
        </p:txBody>
      </p:sp>
      <p:sp>
        <p:nvSpPr>
          <p:cNvPr id="16" name="Text 14"/>
          <p:cNvSpPr txBox="1"/>
          <p:nvPr/>
        </p:nvSpPr>
        <p:spPr>
          <a:xfrm>
            <a:off x="6172200" y="3392424"/>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Mengizinkan konten elemen diedit langsung oleh pengguna</a:t>
            </a:r>
            <a:endParaRPr lang="en-US" sz="970" dirty="0"/>
          </a:p>
        </p:txBody>
      </p:sp>
      <p:sp>
        <p:nvSpPr>
          <p:cNvPr id="17" name="Text 15"/>
          <p:cNvSpPr txBox="1"/>
          <p:nvPr/>
        </p:nvSpPr>
        <p:spPr>
          <a:xfrm>
            <a:off x="548640" y="3712464"/>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draggable</a:t>
            </a:r>
            <a:endParaRPr lang="en-US" sz="1200" dirty="0"/>
          </a:p>
        </p:txBody>
      </p:sp>
      <p:sp>
        <p:nvSpPr>
          <p:cNvPr id="18" name="Text 16"/>
          <p:cNvSpPr txBox="1"/>
          <p:nvPr/>
        </p:nvSpPr>
        <p:spPr>
          <a:xfrm>
            <a:off x="548640" y="3959352"/>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Menandai elemen dapat diseret (drag)</a:t>
            </a:r>
            <a:endParaRPr lang="en-US" sz="970" dirty="0"/>
          </a:p>
        </p:txBody>
      </p:sp>
      <p:sp>
        <p:nvSpPr>
          <p:cNvPr id="19" name="Text 17"/>
          <p:cNvSpPr txBox="1"/>
          <p:nvPr/>
        </p:nvSpPr>
        <p:spPr>
          <a:xfrm>
            <a:off x="6172200" y="3712464"/>
            <a:ext cx="1554480" cy="256032"/>
          </a:xfrm>
          <a:prstGeom prst="rect">
            <a:avLst/>
          </a:prstGeom>
          <a:noFill/>
          <a:ln/>
        </p:spPr>
        <p:txBody>
          <a:bodyPr wrap="square" lIns="0" tIns="0" rIns="0" bIns="0" rtlCol="0" anchor="ctr"/>
          <a:lstStyle/>
          <a:p>
            <a:pPr indent="0" marL="0">
              <a:buNone/>
            </a:pPr>
            <a:r>
              <a:rPr lang="en-US" sz="1200" b="1" dirty="0">
                <a:solidFill>
                  <a:srgbClr val="E44D26"/>
                </a:solidFill>
                <a:latin typeface="Courier New" pitchFamily="34" charset="0"/>
                <a:ea typeface="Courier New" pitchFamily="34" charset="-122"/>
                <a:cs typeface="Courier New" pitchFamily="34" charset="-120"/>
              </a:rPr>
              <a:t>tabindex</a:t>
            </a:r>
            <a:endParaRPr lang="en-US" sz="1200" dirty="0"/>
          </a:p>
        </p:txBody>
      </p:sp>
      <p:sp>
        <p:nvSpPr>
          <p:cNvPr id="20" name="Text 18"/>
          <p:cNvSpPr txBox="1"/>
          <p:nvPr/>
        </p:nvSpPr>
        <p:spPr>
          <a:xfrm>
            <a:off x="6172200" y="3959352"/>
            <a:ext cx="5303520" cy="292608"/>
          </a:xfrm>
          <a:prstGeom prst="rect">
            <a:avLst/>
          </a:prstGeom>
          <a:noFill/>
          <a:ln/>
        </p:spPr>
        <p:txBody>
          <a:bodyPr wrap="square" lIns="0" tIns="0" rIns="0" bIns="0" rtlCol="0" anchor="ctr"/>
          <a:lstStyle/>
          <a:p>
            <a:pPr indent="0" marL="0">
              <a:buNone/>
            </a:pPr>
            <a:r>
              <a:rPr lang="en-US" sz="970" dirty="0">
                <a:solidFill>
                  <a:srgbClr val="6B6B6B"/>
                </a:solidFill>
                <a:latin typeface="Calibri" pitchFamily="34" charset="0"/>
                <a:ea typeface="Calibri" pitchFamily="34" charset="-122"/>
                <a:cs typeface="Calibri" pitchFamily="34" charset="-120"/>
              </a:rPr>
              <a:t>Mengatur urutan navigasi menggunakan tombol Tab</a:t>
            </a:r>
            <a:endParaRPr lang="en-US" sz="970" dirty="0"/>
          </a:p>
        </p:txBody>
      </p:sp>
      <p:sp>
        <p:nvSpPr>
          <p:cNvPr id="21" name="Shape 19"/>
          <p:cNvSpPr/>
          <p:nvPr/>
        </p:nvSpPr>
        <p:spPr>
          <a:xfrm>
            <a:off x="548640" y="4343400"/>
            <a:ext cx="11064240" cy="1874520"/>
          </a:xfrm>
          <a:prstGeom prst="rect">
            <a:avLst/>
          </a:prstGeom>
          <a:solidFill>
            <a:srgbClr val="1B1B1B"/>
          </a:solidFill>
          <a:ln/>
        </p:spPr>
      </p:sp>
      <p:sp>
        <p:nvSpPr>
          <p:cNvPr id="22" name="Text 20"/>
          <p:cNvSpPr txBox="1"/>
          <p:nvPr/>
        </p:nvSpPr>
        <p:spPr>
          <a:xfrm>
            <a:off x="777240" y="4480560"/>
            <a:ext cx="5486400" cy="365760"/>
          </a:xfrm>
          <a:prstGeom prst="rect">
            <a:avLst/>
          </a:prstGeom>
          <a:noFill/>
          <a:ln/>
        </p:spPr>
        <p:txBody>
          <a:bodyPr wrap="square" lIns="0" tIns="0" rIns="0" bIns="0" rtlCol="0" anchor="ctr"/>
          <a:lstStyle/>
          <a:p>
            <a:pPr indent="0" marL="0">
              <a:buNone/>
            </a:pPr>
            <a:r>
              <a:rPr lang="en-US" sz="1500" b="1" dirty="0">
                <a:solidFill>
                  <a:srgbClr val="F16529"/>
                </a:solidFill>
                <a:latin typeface="Cambria" pitchFamily="34" charset="0"/>
                <a:ea typeface="Cambria" pitchFamily="34" charset="-122"/>
                <a:cs typeface="Cambria" pitchFamily="34" charset="-120"/>
              </a:rPr>
              <a:t>Custom Data Attribute (data-*)</a:t>
            </a:r>
            <a:endParaRPr lang="en-US" sz="1500" dirty="0"/>
          </a:p>
        </p:txBody>
      </p:sp>
      <p:sp>
        <p:nvSpPr>
          <p:cNvPr id="23" name="Text 21"/>
          <p:cNvSpPr txBox="1"/>
          <p:nvPr/>
        </p:nvSpPr>
        <p:spPr>
          <a:xfrm>
            <a:off x="777240" y="4846320"/>
            <a:ext cx="5212080" cy="1188720"/>
          </a:xfrm>
          <a:prstGeom prst="rect">
            <a:avLst/>
          </a:prstGeom>
          <a:noFill/>
          <a:ln/>
        </p:spPr>
        <p:txBody>
          <a:bodyPr wrap="square" lIns="0" tIns="0" rIns="0" bIns="0" rtlCol="0" anchor="ctr"/>
          <a:lstStyle/>
          <a:p>
            <a:pPr indent="0" marL="0">
              <a:lnSpc>
                <a:spcPct val="130000"/>
              </a:lnSpc>
              <a:buNone/>
            </a:pPr>
            <a:r>
              <a:rPr lang="en-US" sz="1080" dirty="0">
                <a:solidFill>
                  <a:srgbClr val="CFCFCF"/>
                </a:solidFill>
                <a:latin typeface="Calibri" pitchFamily="34" charset="0"/>
                <a:ea typeface="Calibri" pitchFamily="34" charset="-122"/>
                <a:cs typeface="Calibri" pitchFamily="34" charset="-120"/>
              </a:rPr>
              <a:t>Atribut data-* memungkinkan penyematan data khusus aplikasi pada elemen HTML tanpa memengaruhi tampilan, dan dapat diakses melalui JavaScript menggunakan properti dataset.</a:t>
            </a:r>
            <a:endParaRPr lang="en-US" sz="1080" dirty="0"/>
          </a:p>
        </p:txBody>
      </p:sp>
      <p:sp>
        <p:nvSpPr>
          <p:cNvPr id="24" name="Text 22"/>
          <p:cNvSpPr txBox="1"/>
          <p:nvPr/>
        </p:nvSpPr>
        <p:spPr>
          <a:xfrm>
            <a:off x="6263640" y="4526280"/>
            <a:ext cx="5120640" cy="1600200"/>
          </a:xfrm>
          <a:prstGeom prst="rect">
            <a:avLst/>
          </a:prstGeom>
          <a:noFill/>
          <a:ln/>
        </p:spPr>
        <p:txBody>
          <a:bodyPr wrap="square" lIns="0" tIns="0" rIns="0" bIns="0" rtlCol="0" anchor="ctr"/>
          <a:lstStyle/>
          <a:p>
            <a:pPr indent="0" marL="0">
              <a:lnSpc>
                <a:spcPct val="125000"/>
              </a:lnSpc>
              <a:buNone/>
            </a:pPr>
            <a:r>
              <a:rPr lang="en-US" sz="970" dirty="0">
                <a:solidFill>
                  <a:srgbClr val="DADADA"/>
                </a:solidFill>
                <a:latin typeface="Courier New" pitchFamily="34" charset="0"/>
                <a:ea typeface="Courier New" pitchFamily="34" charset="-122"/>
                <a:cs typeface="Courier New" pitchFamily="34" charset="-120"/>
              </a:rPr>
              <a:t>&lt;li data-id="42" data-status="aktif"&gt;</a:t>
            </a:r>
            <a:endParaRPr lang="en-US" sz="970" dirty="0"/>
          </a:p>
          <a:p>
            <a:pPr indent="0" marL="0">
              <a:lnSpc>
                <a:spcPct val="125000"/>
              </a:lnSpc>
              <a:buNone/>
            </a:pPr>
            <a:r>
              <a:rPr lang="en-US" sz="970" dirty="0">
                <a:solidFill>
                  <a:srgbClr val="DADADA"/>
                </a:solidFill>
                <a:latin typeface="Courier New" pitchFamily="34" charset="0"/>
                <a:ea typeface="Courier New" pitchFamily="34" charset="-122"/>
                <a:cs typeface="Courier New" pitchFamily="34" charset="-120"/>
              </a:rPr>
              <a:t>  Produk A</a:t>
            </a:r>
            <a:endParaRPr lang="en-US" sz="970" dirty="0"/>
          </a:p>
          <a:p>
            <a:pPr indent="0" marL="0">
              <a:lnSpc>
                <a:spcPct val="125000"/>
              </a:lnSpc>
              <a:buNone/>
            </a:pPr>
            <a:r>
              <a:rPr lang="en-US" sz="970" dirty="0">
                <a:solidFill>
                  <a:srgbClr val="DADADA"/>
                </a:solidFill>
                <a:latin typeface="Courier New" pitchFamily="34" charset="0"/>
                <a:ea typeface="Courier New" pitchFamily="34" charset="-122"/>
                <a:cs typeface="Courier New" pitchFamily="34" charset="-120"/>
              </a:rPr>
              <a:t>&lt;/li&gt;</a:t>
            </a:r>
            <a:endParaRPr lang="en-US" sz="970" dirty="0"/>
          </a:p>
          <a:p>
            <a:pPr indent="0" marL="0">
              <a:lnSpc>
                <a:spcPct val="125000"/>
              </a:lnSpc>
              <a:buNone/>
            </a:pPr>
            <a:endParaRPr lang="en-US" sz="970" dirty="0"/>
          </a:p>
          <a:p>
            <a:pPr indent="0" marL="0">
              <a:lnSpc>
                <a:spcPct val="125000"/>
              </a:lnSpc>
              <a:buNone/>
            </a:pPr>
            <a:r>
              <a:rPr lang="en-US" sz="970" dirty="0">
                <a:solidFill>
                  <a:srgbClr val="DADADA"/>
                </a:solidFill>
                <a:latin typeface="Courier New" pitchFamily="34" charset="0"/>
                <a:ea typeface="Courier New" pitchFamily="34" charset="-122"/>
                <a:cs typeface="Courier New" pitchFamily="34" charset="-120"/>
              </a:rPr>
              <a:t>&lt;script&gt;</a:t>
            </a:r>
            <a:endParaRPr lang="en-US" sz="970" dirty="0"/>
          </a:p>
          <a:p>
            <a:pPr indent="0" marL="0">
              <a:lnSpc>
                <a:spcPct val="125000"/>
              </a:lnSpc>
              <a:buNone/>
            </a:pPr>
            <a:r>
              <a:rPr lang="en-US" sz="970" dirty="0">
                <a:solidFill>
                  <a:srgbClr val="DADADA"/>
                </a:solidFill>
                <a:latin typeface="Courier New" pitchFamily="34" charset="0"/>
                <a:ea typeface="Courier New" pitchFamily="34" charset="-122"/>
                <a:cs typeface="Courier New" pitchFamily="34" charset="-120"/>
              </a:rPr>
              <a:t>  const li = document.querySelector("li");</a:t>
            </a:r>
            <a:endParaRPr lang="en-US" sz="970" dirty="0"/>
          </a:p>
          <a:p>
            <a:pPr indent="0" marL="0">
              <a:lnSpc>
                <a:spcPct val="125000"/>
              </a:lnSpc>
              <a:buNone/>
            </a:pPr>
            <a:r>
              <a:rPr lang="en-US" sz="970" dirty="0">
                <a:solidFill>
                  <a:srgbClr val="DADADA"/>
                </a:solidFill>
                <a:latin typeface="Courier New" pitchFamily="34" charset="0"/>
                <a:ea typeface="Courier New" pitchFamily="34" charset="-122"/>
                <a:cs typeface="Courier New" pitchFamily="34" charset="-120"/>
              </a:rPr>
              <a:t>  console.log(li.dataset.id); // "42"</a:t>
            </a:r>
            <a:endParaRPr lang="en-US" sz="970" dirty="0"/>
          </a:p>
          <a:p>
            <a:pPr indent="0" marL="0">
              <a:lnSpc>
                <a:spcPct val="125000"/>
              </a:lnSpc>
              <a:buNone/>
            </a:pPr>
            <a:r>
              <a:rPr lang="en-US" sz="970" dirty="0">
                <a:solidFill>
                  <a:srgbClr val="DADADA"/>
                </a:solidFill>
                <a:latin typeface="Courier New" pitchFamily="34" charset="0"/>
                <a:ea typeface="Courier New" pitchFamily="34" charset="-122"/>
                <a:cs typeface="Courier New" pitchFamily="34" charset="-120"/>
              </a:rPr>
              <a:t>&lt;/script&gt;</a:t>
            </a:r>
            <a:endParaRPr lang="en-US" sz="970" dirty="0"/>
          </a:p>
        </p:txBody>
      </p:sp>
      <p:sp>
        <p:nvSpPr>
          <p:cNvPr id="25" name="Text 23"/>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26" name="Text 2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KUALITAS &amp; JANGKAUAN</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Aksesibilitas &amp; SEO dengan HTML5 Semantik</a:t>
            </a:r>
            <a:endParaRPr lang="en-US" sz="3200" dirty="0"/>
          </a:p>
        </p:txBody>
      </p:sp>
      <p:sp>
        <p:nvSpPr>
          <p:cNvPr id="4" name="Shape 2"/>
          <p:cNvSpPr/>
          <p:nvPr/>
        </p:nvSpPr>
        <p:spPr>
          <a:xfrm>
            <a:off x="548640" y="1600200"/>
            <a:ext cx="5349240" cy="4480560"/>
          </a:xfrm>
          <a:prstGeom prst="rect">
            <a:avLst/>
          </a:prstGeom>
          <a:solidFill>
            <a:srgbClr val="F7F6F4"/>
          </a:solidFill>
          <a:ln/>
        </p:spPr>
      </p:sp>
      <p:sp>
        <p:nvSpPr>
          <p:cNvPr id="5" name="Shape 3"/>
          <p:cNvSpPr/>
          <p:nvPr/>
        </p:nvSpPr>
        <p:spPr>
          <a:xfrm>
            <a:off x="822960" y="1874520"/>
            <a:ext cx="640080" cy="640080"/>
          </a:xfrm>
          <a:prstGeom prst="ellipse">
            <a:avLst/>
          </a:prstGeom>
          <a:solidFill>
            <a:srgbClr val="E44D26"/>
          </a:solidFill>
          <a:ln/>
        </p:spPr>
      </p:sp>
      <p:pic>
        <p:nvPicPr>
          <p:cNvPr id="6" name="Image 0" descr="preencoded.png">    </p:cNvPr>
          <p:cNvPicPr>
            <a:picLocks noChangeAspect="1"/>
          </p:cNvPicPr>
          <p:nvPr/>
        </p:nvPicPr>
        <p:blipFill>
          <a:blip r:embed="rId1"/>
          <a:stretch>
            <a:fillRect/>
          </a:stretch>
        </p:blipFill>
        <p:spPr>
          <a:xfrm>
            <a:off x="989381" y="2040941"/>
            <a:ext cx="307238" cy="307238"/>
          </a:xfrm>
          <a:prstGeom prst="rect">
            <a:avLst/>
          </a:prstGeom>
        </p:spPr>
      </p:pic>
      <p:sp>
        <p:nvSpPr>
          <p:cNvPr id="7" name="Text 4"/>
          <p:cNvSpPr txBox="1"/>
          <p:nvPr/>
        </p:nvSpPr>
        <p:spPr>
          <a:xfrm>
            <a:off x="1600200" y="1874520"/>
            <a:ext cx="4069080" cy="640080"/>
          </a:xfrm>
          <a:prstGeom prst="rect">
            <a:avLst/>
          </a:prstGeom>
          <a:noFill/>
          <a:ln/>
        </p:spPr>
        <p:txBody>
          <a:bodyPr wrap="square" lIns="0" tIns="0" rIns="0" bIns="0" rtlCol="0" anchor="ctr"/>
          <a:lstStyle/>
          <a:p>
            <a:pPr indent="0" marL="0">
              <a:buNone/>
            </a:pPr>
            <a:r>
              <a:rPr lang="en-US" sz="1600" b="1" dirty="0">
                <a:solidFill>
                  <a:srgbClr val="2B2B2B"/>
                </a:solidFill>
                <a:latin typeface="Cambria" pitchFamily="34" charset="0"/>
                <a:ea typeface="Cambria" pitchFamily="34" charset="-122"/>
                <a:cs typeface="Cambria" pitchFamily="34" charset="-120"/>
              </a:rPr>
              <a:t>Aksesibilitas (a11y)</a:t>
            </a:r>
            <a:endParaRPr lang="en-US" sz="1600" dirty="0"/>
          </a:p>
        </p:txBody>
      </p:sp>
      <p:sp>
        <p:nvSpPr>
          <p:cNvPr id="8" name="Shape 5"/>
          <p:cNvSpPr/>
          <p:nvPr/>
        </p:nvSpPr>
        <p:spPr>
          <a:xfrm>
            <a:off x="822960" y="2862072"/>
            <a:ext cx="82296" cy="82296"/>
          </a:xfrm>
          <a:prstGeom prst="ellipse">
            <a:avLst/>
          </a:prstGeom>
          <a:solidFill>
            <a:srgbClr val="E44D26"/>
          </a:solidFill>
          <a:ln/>
        </p:spPr>
      </p:sp>
      <p:sp>
        <p:nvSpPr>
          <p:cNvPr id="9" name="Text 6"/>
          <p:cNvSpPr txBox="1"/>
          <p:nvPr/>
        </p:nvSpPr>
        <p:spPr>
          <a:xfrm>
            <a:off x="1051560" y="2734056"/>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Elemen semantik membantu pembaca layar (screen reader) memahami struktur halaman</a:t>
            </a:r>
            <a:endParaRPr lang="en-US" sz="1150" dirty="0"/>
          </a:p>
        </p:txBody>
      </p:sp>
      <p:sp>
        <p:nvSpPr>
          <p:cNvPr id="10" name="Shape 7"/>
          <p:cNvSpPr/>
          <p:nvPr/>
        </p:nvSpPr>
        <p:spPr>
          <a:xfrm>
            <a:off x="822960" y="3657600"/>
            <a:ext cx="82296" cy="82296"/>
          </a:xfrm>
          <a:prstGeom prst="ellipse">
            <a:avLst/>
          </a:prstGeom>
          <a:solidFill>
            <a:srgbClr val="E44D26"/>
          </a:solidFill>
          <a:ln/>
        </p:spPr>
      </p:sp>
      <p:sp>
        <p:nvSpPr>
          <p:cNvPr id="11" name="Text 8"/>
          <p:cNvSpPr txBox="1"/>
          <p:nvPr/>
        </p:nvSpPr>
        <p:spPr>
          <a:xfrm>
            <a:off x="1051560" y="3529584"/>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Atribut ARIA (role, aria-label) melengkapi makna elemen yang kompleks</a:t>
            </a:r>
            <a:endParaRPr lang="en-US" sz="1150" dirty="0"/>
          </a:p>
        </p:txBody>
      </p:sp>
      <p:sp>
        <p:nvSpPr>
          <p:cNvPr id="12" name="Shape 9"/>
          <p:cNvSpPr/>
          <p:nvPr/>
        </p:nvSpPr>
        <p:spPr>
          <a:xfrm>
            <a:off x="822960" y="4453128"/>
            <a:ext cx="82296" cy="82296"/>
          </a:xfrm>
          <a:prstGeom prst="ellipse">
            <a:avLst/>
          </a:prstGeom>
          <a:solidFill>
            <a:srgbClr val="E44D26"/>
          </a:solidFill>
          <a:ln/>
        </p:spPr>
      </p:sp>
      <p:sp>
        <p:nvSpPr>
          <p:cNvPr id="13" name="Text 10"/>
          <p:cNvSpPr txBox="1"/>
          <p:nvPr/>
        </p:nvSpPr>
        <p:spPr>
          <a:xfrm>
            <a:off x="1051560" y="4325112"/>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Atribut alt pada &lt;img&gt; menjelaskan gambar bagi pengguna tunanetra</a:t>
            </a:r>
            <a:endParaRPr lang="en-US" sz="1150" dirty="0"/>
          </a:p>
        </p:txBody>
      </p:sp>
      <p:sp>
        <p:nvSpPr>
          <p:cNvPr id="14" name="Shape 11"/>
          <p:cNvSpPr/>
          <p:nvPr/>
        </p:nvSpPr>
        <p:spPr>
          <a:xfrm>
            <a:off x="822960" y="5248656"/>
            <a:ext cx="82296" cy="82296"/>
          </a:xfrm>
          <a:prstGeom prst="ellipse">
            <a:avLst/>
          </a:prstGeom>
          <a:solidFill>
            <a:srgbClr val="E44D26"/>
          </a:solidFill>
          <a:ln/>
        </p:spPr>
      </p:sp>
      <p:sp>
        <p:nvSpPr>
          <p:cNvPr id="15" name="Text 12"/>
          <p:cNvSpPr txBox="1"/>
          <p:nvPr/>
        </p:nvSpPr>
        <p:spPr>
          <a:xfrm>
            <a:off x="1051560" y="5120640"/>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Navigasi keyboard yang jelas melalui tabindex &amp; fokus elemen interaktif</a:t>
            </a:r>
            <a:endParaRPr lang="en-US" sz="1150" dirty="0"/>
          </a:p>
        </p:txBody>
      </p:sp>
      <p:sp>
        <p:nvSpPr>
          <p:cNvPr id="16" name="Shape 13"/>
          <p:cNvSpPr/>
          <p:nvPr/>
        </p:nvSpPr>
        <p:spPr>
          <a:xfrm>
            <a:off x="6263640" y="1600200"/>
            <a:ext cx="5349240" cy="4480560"/>
          </a:xfrm>
          <a:prstGeom prst="rect">
            <a:avLst/>
          </a:prstGeom>
          <a:solidFill>
            <a:srgbClr val="F7F6F4"/>
          </a:solidFill>
          <a:ln/>
        </p:spPr>
      </p:sp>
      <p:sp>
        <p:nvSpPr>
          <p:cNvPr id="17" name="Shape 14"/>
          <p:cNvSpPr/>
          <p:nvPr/>
        </p:nvSpPr>
        <p:spPr>
          <a:xfrm>
            <a:off x="6537960" y="1874520"/>
            <a:ext cx="640080" cy="640080"/>
          </a:xfrm>
          <a:prstGeom prst="ellipse">
            <a:avLst/>
          </a:prstGeom>
          <a:solidFill>
            <a:srgbClr val="E44D26"/>
          </a:solidFill>
          <a:ln/>
        </p:spPr>
      </p:sp>
      <p:pic>
        <p:nvPicPr>
          <p:cNvPr id="18" name="Image 1" descr="preencoded.png">    </p:cNvPr>
          <p:cNvPicPr>
            <a:picLocks noChangeAspect="1"/>
          </p:cNvPicPr>
          <p:nvPr/>
        </p:nvPicPr>
        <p:blipFill>
          <a:blip r:embed="rId2"/>
          <a:stretch>
            <a:fillRect/>
          </a:stretch>
        </p:blipFill>
        <p:spPr>
          <a:xfrm>
            <a:off x="6704381" y="2040941"/>
            <a:ext cx="307238" cy="307238"/>
          </a:xfrm>
          <a:prstGeom prst="rect">
            <a:avLst/>
          </a:prstGeom>
        </p:spPr>
      </p:pic>
      <p:sp>
        <p:nvSpPr>
          <p:cNvPr id="19" name="Text 15"/>
          <p:cNvSpPr txBox="1"/>
          <p:nvPr/>
        </p:nvSpPr>
        <p:spPr>
          <a:xfrm>
            <a:off x="7315200" y="1874520"/>
            <a:ext cx="4069080" cy="640080"/>
          </a:xfrm>
          <a:prstGeom prst="rect">
            <a:avLst/>
          </a:prstGeom>
          <a:noFill/>
          <a:ln/>
        </p:spPr>
        <p:txBody>
          <a:bodyPr wrap="square" lIns="0" tIns="0" rIns="0" bIns="0" rtlCol="0" anchor="ctr"/>
          <a:lstStyle/>
          <a:p>
            <a:pPr indent="0" marL="0">
              <a:buNone/>
            </a:pPr>
            <a:r>
              <a:rPr lang="en-US" sz="1600" b="1" dirty="0">
                <a:solidFill>
                  <a:srgbClr val="2B2B2B"/>
                </a:solidFill>
                <a:latin typeface="Cambria" pitchFamily="34" charset="0"/>
                <a:ea typeface="Cambria" pitchFamily="34" charset="-122"/>
                <a:cs typeface="Cambria" pitchFamily="34" charset="-120"/>
              </a:rPr>
              <a:t>SEO (Search Engine Optimization)</a:t>
            </a:r>
            <a:endParaRPr lang="en-US" sz="1600" dirty="0"/>
          </a:p>
        </p:txBody>
      </p:sp>
      <p:sp>
        <p:nvSpPr>
          <p:cNvPr id="20" name="Shape 16"/>
          <p:cNvSpPr/>
          <p:nvPr/>
        </p:nvSpPr>
        <p:spPr>
          <a:xfrm>
            <a:off x="6537960" y="2862072"/>
            <a:ext cx="82296" cy="82296"/>
          </a:xfrm>
          <a:prstGeom prst="ellipse">
            <a:avLst/>
          </a:prstGeom>
          <a:solidFill>
            <a:srgbClr val="E44D26"/>
          </a:solidFill>
          <a:ln/>
        </p:spPr>
      </p:sp>
      <p:sp>
        <p:nvSpPr>
          <p:cNvPr id="21" name="Text 17"/>
          <p:cNvSpPr txBox="1"/>
          <p:nvPr/>
        </p:nvSpPr>
        <p:spPr>
          <a:xfrm>
            <a:off x="6766560" y="2734056"/>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Struktur semantik memudahkan mesin pencari memahami hierarki konten</a:t>
            </a:r>
            <a:endParaRPr lang="en-US" sz="1150" dirty="0"/>
          </a:p>
        </p:txBody>
      </p:sp>
      <p:sp>
        <p:nvSpPr>
          <p:cNvPr id="22" name="Shape 18"/>
          <p:cNvSpPr/>
          <p:nvPr/>
        </p:nvSpPr>
        <p:spPr>
          <a:xfrm>
            <a:off x="6537960" y="3657600"/>
            <a:ext cx="82296" cy="82296"/>
          </a:xfrm>
          <a:prstGeom prst="ellipse">
            <a:avLst/>
          </a:prstGeom>
          <a:solidFill>
            <a:srgbClr val="E44D26"/>
          </a:solidFill>
          <a:ln/>
        </p:spPr>
      </p:sp>
      <p:sp>
        <p:nvSpPr>
          <p:cNvPr id="23" name="Text 19"/>
          <p:cNvSpPr txBox="1"/>
          <p:nvPr/>
        </p:nvSpPr>
        <p:spPr>
          <a:xfrm>
            <a:off x="6766560" y="3529584"/>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Penggunaan &lt;h1&gt;–&lt;h6&gt; yang tepat memperkuat konteks topik halaman</a:t>
            </a:r>
            <a:endParaRPr lang="en-US" sz="1150" dirty="0"/>
          </a:p>
        </p:txBody>
      </p:sp>
      <p:sp>
        <p:nvSpPr>
          <p:cNvPr id="24" name="Shape 20"/>
          <p:cNvSpPr/>
          <p:nvPr/>
        </p:nvSpPr>
        <p:spPr>
          <a:xfrm>
            <a:off x="6537960" y="4453128"/>
            <a:ext cx="82296" cy="82296"/>
          </a:xfrm>
          <a:prstGeom prst="ellipse">
            <a:avLst/>
          </a:prstGeom>
          <a:solidFill>
            <a:srgbClr val="E44D26"/>
          </a:solidFill>
          <a:ln/>
        </p:spPr>
      </p:sp>
      <p:sp>
        <p:nvSpPr>
          <p:cNvPr id="25" name="Text 21"/>
          <p:cNvSpPr txBox="1"/>
          <p:nvPr/>
        </p:nvSpPr>
        <p:spPr>
          <a:xfrm>
            <a:off x="6766560" y="4325112"/>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Meta tag deskripsi &amp; judul yang relevan meningkatkan visibilitas pencarian</a:t>
            </a:r>
            <a:endParaRPr lang="en-US" sz="1150" dirty="0"/>
          </a:p>
        </p:txBody>
      </p:sp>
      <p:sp>
        <p:nvSpPr>
          <p:cNvPr id="26" name="Shape 22"/>
          <p:cNvSpPr/>
          <p:nvPr/>
        </p:nvSpPr>
        <p:spPr>
          <a:xfrm>
            <a:off x="6537960" y="5248656"/>
            <a:ext cx="82296" cy="82296"/>
          </a:xfrm>
          <a:prstGeom prst="ellipse">
            <a:avLst/>
          </a:prstGeom>
          <a:solidFill>
            <a:srgbClr val="E44D26"/>
          </a:solidFill>
          <a:ln/>
        </p:spPr>
      </p:sp>
      <p:sp>
        <p:nvSpPr>
          <p:cNvPr id="27" name="Text 23"/>
          <p:cNvSpPr txBox="1"/>
          <p:nvPr/>
        </p:nvSpPr>
        <p:spPr>
          <a:xfrm>
            <a:off x="6766560" y="5120640"/>
            <a:ext cx="4572000" cy="68580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Kecepatan muat halaman (didukung markah yang efisien) memengaruhi peringkat</a:t>
            </a:r>
            <a:endParaRPr lang="en-US" sz="1150" dirty="0"/>
          </a:p>
        </p:txBody>
      </p:sp>
      <p:sp>
        <p:nvSpPr>
          <p:cNvPr id="28" name="Text 24"/>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29" name="Text 2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PANDUAN PRAKTIS</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Praktik Terbaik Penulisan HTML5</a:t>
            </a:r>
            <a:endParaRPr lang="en-US" sz="3200" dirty="0"/>
          </a:p>
        </p:txBody>
      </p:sp>
      <p:sp>
        <p:nvSpPr>
          <p:cNvPr id="4" name="Shape 2"/>
          <p:cNvSpPr/>
          <p:nvPr/>
        </p:nvSpPr>
        <p:spPr>
          <a:xfrm>
            <a:off x="548640" y="1691640"/>
            <a:ext cx="3611880" cy="1965960"/>
          </a:xfrm>
          <a:prstGeom prst="rect">
            <a:avLst/>
          </a:prstGeom>
          <a:solidFill>
            <a:srgbClr val="F7F6F4"/>
          </a:solidFill>
          <a:ln/>
        </p:spPr>
      </p:sp>
      <p:sp>
        <p:nvSpPr>
          <p:cNvPr id="5" name="Shape 3"/>
          <p:cNvSpPr/>
          <p:nvPr/>
        </p:nvSpPr>
        <p:spPr>
          <a:xfrm>
            <a:off x="777240" y="1892808"/>
            <a:ext cx="502920" cy="502920"/>
          </a:xfrm>
          <a:prstGeom prst="ellipse">
            <a:avLst/>
          </a:prstGeom>
          <a:solidFill>
            <a:srgbClr val="E44D26"/>
          </a:solidFill>
          <a:ln/>
        </p:spPr>
      </p:sp>
      <p:pic>
        <p:nvPicPr>
          <p:cNvPr id="6" name="Image 0" descr="preencoded.png">    </p:cNvPr>
          <p:cNvPicPr>
            <a:picLocks noChangeAspect="1"/>
          </p:cNvPicPr>
          <p:nvPr/>
        </p:nvPicPr>
        <p:blipFill>
          <a:blip r:embed="rId1"/>
          <a:stretch>
            <a:fillRect/>
          </a:stretch>
        </p:blipFill>
        <p:spPr>
          <a:xfrm>
            <a:off x="907999" y="2023567"/>
            <a:ext cx="241402" cy="241402"/>
          </a:xfrm>
          <a:prstGeom prst="rect">
            <a:avLst/>
          </a:prstGeom>
        </p:spPr>
      </p:pic>
      <p:sp>
        <p:nvSpPr>
          <p:cNvPr id="7" name="Text 4"/>
          <p:cNvSpPr txBox="1"/>
          <p:nvPr/>
        </p:nvSpPr>
        <p:spPr>
          <a:xfrm>
            <a:off x="3337560" y="1828800"/>
            <a:ext cx="685800" cy="457200"/>
          </a:xfrm>
          <a:prstGeom prst="rect">
            <a:avLst/>
          </a:prstGeom>
          <a:noFill/>
          <a:ln/>
        </p:spPr>
        <p:txBody>
          <a:bodyPr wrap="square" lIns="0" tIns="0" rIns="0" bIns="0" rtlCol="0" anchor="ctr"/>
          <a:lstStyle/>
          <a:p>
            <a:pPr algn="r" indent="0" marL="0">
              <a:buNone/>
            </a:pPr>
            <a:r>
              <a:rPr lang="en-US" sz="2200" b="1" dirty="0">
                <a:solidFill>
                  <a:srgbClr val="E8E2DC"/>
                </a:solidFill>
                <a:latin typeface="Cambria" pitchFamily="34" charset="0"/>
                <a:ea typeface="Cambria" pitchFamily="34" charset="-122"/>
                <a:cs typeface="Cambria" pitchFamily="34" charset="-120"/>
              </a:rPr>
              <a:t>01</a:t>
            </a:r>
            <a:endParaRPr lang="en-US" sz="2200" dirty="0"/>
          </a:p>
        </p:txBody>
      </p:sp>
      <p:sp>
        <p:nvSpPr>
          <p:cNvPr id="8" name="Text 5"/>
          <p:cNvSpPr txBox="1"/>
          <p:nvPr/>
        </p:nvSpPr>
        <p:spPr>
          <a:xfrm>
            <a:off x="777240" y="2560320"/>
            <a:ext cx="3154680" cy="5029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Gunakan Elemen Semantik</a:t>
            </a:r>
            <a:endParaRPr lang="en-US" sz="1300" dirty="0"/>
          </a:p>
        </p:txBody>
      </p:sp>
      <p:sp>
        <p:nvSpPr>
          <p:cNvPr id="9" name="Text 6"/>
          <p:cNvSpPr txBox="1"/>
          <p:nvPr/>
        </p:nvSpPr>
        <p:spPr>
          <a:xfrm>
            <a:off x="777240" y="3017520"/>
            <a:ext cx="3154680" cy="548640"/>
          </a:xfrm>
          <a:prstGeom prst="rect">
            <a:avLst/>
          </a:prstGeom>
          <a:noFill/>
          <a:ln/>
        </p:spPr>
        <p:txBody>
          <a:bodyPr wrap="square" lIns="0" tIns="0" rIns="0" bIns="0" rtlCol="0" anchor="ctr"/>
          <a:lstStyle/>
          <a:p>
            <a:pPr indent="0" marL="0">
              <a:lnSpc>
                <a:spcPct val="120000"/>
              </a:lnSpc>
              <a:buNone/>
            </a:pPr>
            <a:r>
              <a:rPr lang="en-US" sz="980" dirty="0">
                <a:solidFill>
                  <a:srgbClr val="6B6B6B"/>
                </a:solidFill>
                <a:latin typeface="Calibri" pitchFamily="34" charset="0"/>
                <a:ea typeface="Calibri" pitchFamily="34" charset="-122"/>
                <a:cs typeface="Calibri" pitchFamily="34" charset="-120"/>
              </a:rPr>
              <a:t>Pilih &lt;article&gt;, &lt;section&gt;, &lt;nav&gt; dsb. sesuai makna konten, bukan sekadar &lt;div&gt;.</a:t>
            </a:r>
            <a:endParaRPr lang="en-US" sz="980" dirty="0"/>
          </a:p>
        </p:txBody>
      </p:sp>
      <p:sp>
        <p:nvSpPr>
          <p:cNvPr id="10" name="Shape 7"/>
          <p:cNvSpPr/>
          <p:nvPr/>
        </p:nvSpPr>
        <p:spPr>
          <a:xfrm>
            <a:off x="4297680" y="1691640"/>
            <a:ext cx="3611880" cy="1965960"/>
          </a:xfrm>
          <a:prstGeom prst="rect">
            <a:avLst/>
          </a:prstGeom>
          <a:solidFill>
            <a:srgbClr val="F7F6F4"/>
          </a:solidFill>
          <a:ln/>
        </p:spPr>
      </p:sp>
      <p:sp>
        <p:nvSpPr>
          <p:cNvPr id="11" name="Shape 8"/>
          <p:cNvSpPr/>
          <p:nvPr/>
        </p:nvSpPr>
        <p:spPr>
          <a:xfrm>
            <a:off x="4526280" y="1892808"/>
            <a:ext cx="502920" cy="502920"/>
          </a:xfrm>
          <a:prstGeom prst="ellipse">
            <a:avLst/>
          </a:prstGeom>
          <a:solidFill>
            <a:srgbClr val="E44D26"/>
          </a:solidFill>
          <a:ln/>
        </p:spPr>
      </p:sp>
      <p:pic>
        <p:nvPicPr>
          <p:cNvPr id="12" name="Image 1" descr="preencoded.png">    </p:cNvPr>
          <p:cNvPicPr>
            <a:picLocks noChangeAspect="1"/>
          </p:cNvPicPr>
          <p:nvPr/>
        </p:nvPicPr>
        <p:blipFill>
          <a:blip r:embed="rId2"/>
          <a:stretch>
            <a:fillRect/>
          </a:stretch>
        </p:blipFill>
        <p:spPr>
          <a:xfrm>
            <a:off x="4657039" y="2023567"/>
            <a:ext cx="241402" cy="241402"/>
          </a:xfrm>
          <a:prstGeom prst="rect">
            <a:avLst/>
          </a:prstGeom>
        </p:spPr>
      </p:pic>
      <p:sp>
        <p:nvSpPr>
          <p:cNvPr id="13" name="Text 9"/>
          <p:cNvSpPr txBox="1"/>
          <p:nvPr/>
        </p:nvSpPr>
        <p:spPr>
          <a:xfrm>
            <a:off x="7086600" y="1828800"/>
            <a:ext cx="685800" cy="457200"/>
          </a:xfrm>
          <a:prstGeom prst="rect">
            <a:avLst/>
          </a:prstGeom>
          <a:noFill/>
          <a:ln/>
        </p:spPr>
        <p:txBody>
          <a:bodyPr wrap="square" lIns="0" tIns="0" rIns="0" bIns="0" rtlCol="0" anchor="ctr"/>
          <a:lstStyle/>
          <a:p>
            <a:pPr algn="r" indent="0" marL="0">
              <a:buNone/>
            </a:pPr>
            <a:r>
              <a:rPr lang="en-US" sz="2200" b="1" dirty="0">
                <a:solidFill>
                  <a:srgbClr val="E8E2DC"/>
                </a:solidFill>
                <a:latin typeface="Cambria" pitchFamily="34" charset="0"/>
                <a:ea typeface="Cambria" pitchFamily="34" charset="-122"/>
                <a:cs typeface="Cambria" pitchFamily="34" charset="-120"/>
              </a:rPr>
              <a:t>02</a:t>
            </a:r>
            <a:endParaRPr lang="en-US" sz="2200" dirty="0"/>
          </a:p>
        </p:txBody>
      </p:sp>
      <p:sp>
        <p:nvSpPr>
          <p:cNvPr id="14" name="Text 10"/>
          <p:cNvSpPr txBox="1"/>
          <p:nvPr/>
        </p:nvSpPr>
        <p:spPr>
          <a:xfrm>
            <a:off x="4526280" y="2560320"/>
            <a:ext cx="3154680" cy="5029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Validasi Dokumen</a:t>
            </a:r>
            <a:endParaRPr lang="en-US" sz="1300" dirty="0"/>
          </a:p>
        </p:txBody>
      </p:sp>
      <p:sp>
        <p:nvSpPr>
          <p:cNvPr id="15" name="Text 11"/>
          <p:cNvSpPr txBox="1"/>
          <p:nvPr/>
        </p:nvSpPr>
        <p:spPr>
          <a:xfrm>
            <a:off x="4526280" y="3017520"/>
            <a:ext cx="3154680" cy="548640"/>
          </a:xfrm>
          <a:prstGeom prst="rect">
            <a:avLst/>
          </a:prstGeom>
          <a:noFill/>
          <a:ln/>
        </p:spPr>
        <p:txBody>
          <a:bodyPr wrap="square" lIns="0" tIns="0" rIns="0" bIns="0" rtlCol="0" anchor="ctr"/>
          <a:lstStyle/>
          <a:p>
            <a:pPr indent="0" marL="0">
              <a:lnSpc>
                <a:spcPct val="120000"/>
              </a:lnSpc>
              <a:buNone/>
            </a:pPr>
            <a:r>
              <a:rPr lang="en-US" sz="980" dirty="0">
                <a:solidFill>
                  <a:srgbClr val="6B6B6B"/>
                </a:solidFill>
                <a:latin typeface="Calibri" pitchFamily="34" charset="0"/>
                <a:ea typeface="Calibri" pitchFamily="34" charset="-122"/>
                <a:cs typeface="Calibri" pitchFamily="34" charset="-120"/>
              </a:rPr>
              <a:t>Periksa markah dengan W3C Markup Validator untuk memastikan kesesuaian standar.</a:t>
            </a:r>
            <a:endParaRPr lang="en-US" sz="980" dirty="0"/>
          </a:p>
        </p:txBody>
      </p:sp>
      <p:sp>
        <p:nvSpPr>
          <p:cNvPr id="16" name="Shape 12"/>
          <p:cNvSpPr/>
          <p:nvPr/>
        </p:nvSpPr>
        <p:spPr>
          <a:xfrm>
            <a:off x="8046720" y="1691640"/>
            <a:ext cx="3611880" cy="1965960"/>
          </a:xfrm>
          <a:prstGeom prst="rect">
            <a:avLst/>
          </a:prstGeom>
          <a:solidFill>
            <a:srgbClr val="F7F6F4"/>
          </a:solidFill>
          <a:ln/>
        </p:spPr>
      </p:sp>
      <p:sp>
        <p:nvSpPr>
          <p:cNvPr id="17" name="Shape 13"/>
          <p:cNvSpPr/>
          <p:nvPr/>
        </p:nvSpPr>
        <p:spPr>
          <a:xfrm>
            <a:off x="8275320" y="1892808"/>
            <a:ext cx="502920" cy="502920"/>
          </a:xfrm>
          <a:prstGeom prst="ellipse">
            <a:avLst/>
          </a:prstGeom>
          <a:solidFill>
            <a:srgbClr val="E44D26"/>
          </a:solidFill>
          <a:ln/>
        </p:spPr>
      </p:sp>
      <p:pic>
        <p:nvPicPr>
          <p:cNvPr id="18" name="Image 2" descr="preencoded.png">    </p:cNvPr>
          <p:cNvPicPr>
            <a:picLocks noChangeAspect="1"/>
          </p:cNvPicPr>
          <p:nvPr/>
        </p:nvPicPr>
        <p:blipFill>
          <a:blip r:embed="rId3"/>
          <a:stretch>
            <a:fillRect/>
          </a:stretch>
        </p:blipFill>
        <p:spPr>
          <a:xfrm>
            <a:off x="8406079" y="2023567"/>
            <a:ext cx="241402" cy="241402"/>
          </a:xfrm>
          <a:prstGeom prst="rect">
            <a:avLst/>
          </a:prstGeom>
        </p:spPr>
      </p:pic>
      <p:sp>
        <p:nvSpPr>
          <p:cNvPr id="19" name="Text 14"/>
          <p:cNvSpPr txBox="1"/>
          <p:nvPr/>
        </p:nvSpPr>
        <p:spPr>
          <a:xfrm>
            <a:off x="10835640" y="1828800"/>
            <a:ext cx="685800" cy="457200"/>
          </a:xfrm>
          <a:prstGeom prst="rect">
            <a:avLst/>
          </a:prstGeom>
          <a:noFill/>
          <a:ln/>
        </p:spPr>
        <p:txBody>
          <a:bodyPr wrap="square" lIns="0" tIns="0" rIns="0" bIns="0" rtlCol="0" anchor="ctr"/>
          <a:lstStyle/>
          <a:p>
            <a:pPr algn="r" indent="0" marL="0">
              <a:buNone/>
            </a:pPr>
            <a:r>
              <a:rPr lang="en-US" sz="2200" b="1" dirty="0">
                <a:solidFill>
                  <a:srgbClr val="E8E2DC"/>
                </a:solidFill>
                <a:latin typeface="Cambria" pitchFamily="34" charset="0"/>
                <a:ea typeface="Cambria" pitchFamily="34" charset="-122"/>
                <a:cs typeface="Cambria" pitchFamily="34" charset="-120"/>
              </a:rPr>
              <a:t>03</a:t>
            </a:r>
            <a:endParaRPr lang="en-US" sz="2200" dirty="0"/>
          </a:p>
        </p:txBody>
      </p:sp>
      <p:sp>
        <p:nvSpPr>
          <p:cNvPr id="20" name="Text 15"/>
          <p:cNvSpPr txBox="1"/>
          <p:nvPr/>
        </p:nvSpPr>
        <p:spPr>
          <a:xfrm>
            <a:off x="8275320" y="2560320"/>
            <a:ext cx="3154680" cy="5029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Tulis Kode yang Rapi &amp; Konsisten</a:t>
            </a:r>
            <a:endParaRPr lang="en-US" sz="1300" dirty="0"/>
          </a:p>
        </p:txBody>
      </p:sp>
      <p:sp>
        <p:nvSpPr>
          <p:cNvPr id="21" name="Text 16"/>
          <p:cNvSpPr txBox="1"/>
          <p:nvPr/>
        </p:nvSpPr>
        <p:spPr>
          <a:xfrm>
            <a:off x="8275320" y="3017520"/>
            <a:ext cx="3154680" cy="548640"/>
          </a:xfrm>
          <a:prstGeom prst="rect">
            <a:avLst/>
          </a:prstGeom>
          <a:noFill/>
          <a:ln/>
        </p:spPr>
        <p:txBody>
          <a:bodyPr wrap="square" lIns="0" tIns="0" rIns="0" bIns="0" rtlCol="0" anchor="ctr"/>
          <a:lstStyle/>
          <a:p>
            <a:pPr indent="0" marL="0">
              <a:lnSpc>
                <a:spcPct val="120000"/>
              </a:lnSpc>
              <a:buNone/>
            </a:pPr>
            <a:r>
              <a:rPr lang="en-US" sz="980" dirty="0">
                <a:solidFill>
                  <a:srgbClr val="6B6B6B"/>
                </a:solidFill>
                <a:latin typeface="Calibri" pitchFamily="34" charset="0"/>
                <a:ea typeface="Calibri" pitchFamily="34" charset="-122"/>
                <a:cs typeface="Calibri" pitchFamily="34" charset="-120"/>
              </a:rPr>
              <a:t>Gunakan indentasi konsisten dan penamaan atribut yang jelas dan deskriptif.</a:t>
            </a:r>
            <a:endParaRPr lang="en-US" sz="980" dirty="0"/>
          </a:p>
        </p:txBody>
      </p:sp>
      <p:sp>
        <p:nvSpPr>
          <p:cNvPr id="22" name="Shape 17"/>
          <p:cNvSpPr/>
          <p:nvPr/>
        </p:nvSpPr>
        <p:spPr>
          <a:xfrm>
            <a:off x="548640" y="3840480"/>
            <a:ext cx="3611880" cy="1965960"/>
          </a:xfrm>
          <a:prstGeom prst="rect">
            <a:avLst/>
          </a:prstGeom>
          <a:solidFill>
            <a:srgbClr val="F7F6F4"/>
          </a:solidFill>
          <a:ln/>
        </p:spPr>
      </p:sp>
      <p:sp>
        <p:nvSpPr>
          <p:cNvPr id="23" name="Shape 18"/>
          <p:cNvSpPr/>
          <p:nvPr/>
        </p:nvSpPr>
        <p:spPr>
          <a:xfrm>
            <a:off x="777240" y="4041648"/>
            <a:ext cx="502920" cy="502920"/>
          </a:xfrm>
          <a:prstGeom prst="ellipse">
            <a:avLst/>
          </a:prstGeom>
          <a:solidFill>
            <a:srgbClr val="E44D26"/>
          </a:solidFill>
          <a:ln/>
        </p:spPr>
      </p:sp>
      <p:pic>
        <p:nvPicPr>
          <p:cNvPr id="24" name="Image 3" descr="preencoded.png">    </p:cNvPr>
          <p:cNvPicPr>
            <a:picLocks noChangeAspect="1"/>
          </p:cNvPicPr>
          <p:nvPr/>
        </p:nvPicPr>
        <p:blipFill>
          <a:blip r:embed="rId4"/>
          <a:stretch>
            <a:fillRect/>
          </a:stretch>
        </p:blipFill>
        <p:spPr>
          <a:xfrm>
            <a:off x="907999" y="4172407"/>
            <a:ext cx="241402" cy="241402"/>
          </a:xfrm>
          <a:prstGeom prst="rect">
            <a:avLst/>
          </a:prstGeom>
        </p:spPr>
      </p:pic>
      <p:sp>
        <p:nvSpPr>
          <p:cNvPr id="25" name="Text 19"/>
          <p:cNvSpPr txBox="1"/>
          <p:nvPr/>
        </p:nvSpPr>
        <p:spPr>
          <a:xfrm>
            <a:off x="3337560" y="3977640"/>
            <a:ext cx="685800" cy="457200"/>
          </a:xfrm>
          <a:prstGeom prst="rect">
            <a:avLst/>
          </a:prstGeom>
          <a:noFill/>
          <a:ln/>
        </p:spPr>
        <p:txBody>
          <a:bodyPr wrap="square" lIns="0" tIns="0" rIns="0" bIns="0" rtlCol="0" anchor="ctr"/>
          <a:lstStyle/>
          <a:p>
            <a:pPr algn="r" indent="0" marL="0">
              <a:buNone/>
            </a:pPr>
            <a:r>
              <a:rPr lang="en-US" sz="2200" b="1" dirty="0">
                <a:solidFill>
                  <a:srgbClr val="E8E2DC"/>
                </a:solidFill>
                <a:latin typeface="Cambria" pitchFamily="34" charset="0"/>
                <a:ea typeface="Cambria" pitchFamily="34" charset="-122"/>
                <a:cs typeface="Cambria" pitchFamily="34" charset="-120"/>
              </a:rPr>
              <a:t>04</a:t>
            </a:r>
            <a:endParaRPr lang="en-US" sz="2200" dirty="0"/>
          </a:p>
        </p:txBody>
      </p:sp>
      <p:sp>
        <p:nvSpPr>
          <p:cNvPr id="26" name="Text 20"/>
          <p:cNvSpPr txBox="1"/>
          <p:nvPr/>
        </p:nvSpPr>
        <p:spPr>
          <a:xfrm>
            <a:off x="777240" y="4709160"/>
            <a:ext cx="3154680" cy="5029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Optimalkan untuk Aksesibilitas</a:t>
            </a:r>
            <a:endParaRPr lang="en-US" sz="1300" dirty="0"/>
          </a:p>
        </p:txBody>
      </p:sp>
      <p:sp>
        <p:nvSpPr>
          <p:cNvPr id="27" name="Text 21"/>
          <p:cNvSpPr txBox="1"/>
          <p:nvPr/>
        </p:nvSpPr>
        <p:spPr>
          <a:xfrm>
            <a:off x="777240" y="5166360"/>
            <a:ext cx="3154680" cy="548640"/>
          </a:xfrm>
          <a:prstGeom prst="rect">
            <a:avLst/>
          </a:prstGeom>
          <a:noFill/>
          <a:ln/>
        </p:spPr>
        <p:txBody>
          <a:bodyPr wrap="square" lIns="0" tIns="0" rIns="0" bIns="0" rtlCol="0" anchor="ctr"/>
          <a:lstStyle/>
          <a:p>
            <a:pPr indent="0" marL="0">
              <a:lnSpc>
                <a:spcPct val="120000"/>
              </a:lnSpc>
              <a:buNone/>
            </a:pPr>
            <a:r>
              <a:rPr lang="en-US" sz="980" dirty="0">
                <a:solidFill>
                  <a:srgbClr val="6B6B6B"/>
                </a:solidFill>
                <a:latin typeface="Calibri" pitchFamily="34" charset="0"/>
                <a:ea typeface="Calibri" pitchFamily="34" charset="-122"/>
                <a:cs typeface="Calibri" pitchFamily="34" charset="-120"/>
              </a:rPr>
              <a:t>Sertakan atribut alt, label formulir, dan struktur heading yang logis.</a:t>
            </a:r>
            <a:endParaRPr lang="en-US" sz="980" dirty="0"/>
          </a:p>
        </p:txBody>
      </p:sp>
      <p:sp>
        <p:nvSpPr>
          <p:cNvPr id="28" name="Shape 22"/>
          <p:cNvSpPr/>
          <p:nvPr/>
        </p:nvSpPr>
        <p:spPr>
          <a:xfrm>
            <a:off x="4297680" y="3840480"/>
            <a:ext cx="3611880" cy="1965960"/>
          </a:xfrm>
          <a:prstGeom prst="rect">
            <a:avLst/>
          </a:prstGeom>
          <a:solidFill>
            <a:srgbClr val="F7F6F4"/>
          </a:solidFill>
          <a:ln/>
        </p:spPr>
      </p:sp>
      <p:sp>
        <p:nvSpPr>
          <p:cNvPr id="29" name="Shape 23"/>
          <p:cNvSpPr/>
          <p:nvPr/>
        </p:nvSpPr>
        <p:spPr>
          <a:xfrm>
            <a:off x="4526280" y="4041648"/>
            <a:ext cx="502920" cy="502920"/>
          </a:xfrm>
          <a:prstGeom prst="ellipse">
            <a:avLst/>
          </a:prstGeom>
          <a:solidFill>
            <a:srgbClr val="E44D26"/>
          </a:solidFill>
          <a:ln/>
        </p:spPr>
      </p:sp>
      <p:pic>
        <p:nvPicPr>
          <p:cNvPr id="30" name="Image 4" descr="preencoded.png">    </p:cNvPr>
          <p:cNvPicPr>
            <a:picLocks noChangeAspect="1"/>
          </p:cNvPicPr>
          <p:nvPr/>
        </p:nvPicPr>
        <p:blipFill>
          <a:blip r:embed="rId5"/>
          <a:stretch>
            <a:fillRect/>
          </a:stretch>
        </p:blipFill>
        <p:spPr>
          <a:xfrm>
            <a:off x="4657039" y="4172407"/>
            <a:ext cx="241402" cy="241402"/>
          </a:xfrm>
          <a:prstGeom prst="rect">
            <a:avLst/>
          </a:prstGeom>
        </p:spPr>
      </p:pic>
      <p:sp>
        <p:nvSpPr>
          <p:cNvPr id="31" name="Text 24"/>
          <p:cNvSpPr txBox="1"/>
          <p:nvPr/>
        </p:nvSpPr>
        <p:spPr>
          <a:xfrm>
            <a:off x="7086600" y="3977640"/>
            <a:ext cx="685800" cy="457200"/>
          </a:xfrm>
          <a:prstGeom prst="rect">
            <a:avLst/>
          </a:prstGeom>
          <a:noFill/>
          <a:ln/>
        </p:spPr>
        <p:txBody>
          <a:bodyPr wrap="square" lIns="0" tIns="0" rIns="0" bIns="0" rtlCol="0" anchor="ctr"/>
          <a:lstStyle/>
          <a:p>
            <a:pPr algn="r" indent="0" marL="0">
              <a:buNone/>
            </a:pPr>
            <a:r>
              <a:rPr lang="en-US" sz="2200" b="1" dirty="0">
                <a:solidFill>
                  <a:srgbClr val="E8E2DC"/>
                </a:solidFill>
                <a:latin typeface="Cambria" pitchFamily="34" charset="0"/>
                <a:ea typeface="Cambria" pitchFamily="34" charset="-122"/>
                <a:cs typeface="Cambria" pitchFamily="34" charset="-120"/>
              </a:rPr>
              <a:t>05</a:t>
            </a:r>
            <a:endParaRPr lang="en-US" sz="2200" dirty="0"/>
          </a:p>
        </p:txBody>
      </p:sp>
      <p:sp>
        <p:nvSpPr>
          <p:cNvPr id="32" name="Text 25"/>
          <p:cNvSpPr txBox="1"/>
          <p:nvPr/>
        </p:nvSpPr>
        <p:spPr>
          <a:xfrm>
            <a:off x="4526280" y="4709160"/>
            <a:ext cx="3154680" cy="5029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Pisahkan Struktur, Gaya, dan Perilaku</a:t>
            </a:r>
            <a:endParaRPr lang="en-US" sz="1300" dirty="0"/>
          </a:p>
        </p:txBody>
      </p:sp>
      <p:sp>
        <p:nvSpPr>
          <p:cNvPr id="33" name="Text 26"/>
          <p:cNvSpPr txBox="1"/>
          <p:nvPr/>
        </p:nvSpPr>
        <p:spPr>
          <a:xfrm>
            <a:off x="4526280" y="5166360"/>
            <a:ext cx="3154680" cy="548640"/>
          </a:xfrm>
          <a:prstGeom prst="rect">
            <a:avLst/>
          </a:prstGeom>
          <a:noFill/>
          <a:ln/>
        </p:spPr>
        <p:txBody>
          <a:bodyPr wrap="square" lIns="0" tIns="0" rIns="0" bIns="0" rtlCol="0" anchor="ctr"/>
          <a:lstStyle/>
          <a:p>
            <a:pPr indent="0" marL="0">
              <a:lnSpc>
                <a:spcPct val="120000"/>
              </a:lnSpc>
              <a:buNone/>
            </a:pPr>
            <a:r>
              <a:rPr lang="en-US" sz="980" dirty="0">
                <a:solidFill>
                  <a:srgbClr val="6B6B6B"/>
                </a:solidFill>
                <a:latin typeface="Calibri" pitchFamily="34" charset="0"/>
                <a:ea typeface="Calibri" pitchFamily="34" charset="-122"/>
                <a:cs typeface="Calibri" pitchFamily="34" charset="-120"/>
              </a:rPr>
              <a:t>Jaga HTML untuk struktur, CSS untuk tampilan, JavaScript untuk interaksi.</a:t>
            </a:r>
            <a:endParaRPr lang="en-US" sz="980" dirty="0"/>
          </a:p>
        </p:txBody>
      </p:sp>
      <p:sp>
        <p:nvSpPr>
          <p:cNvPr id="34" name="Shape 27"/>
          <p:cNvSpPr/>
          <p:nvPr/>
        </p:nvSpPr>
        <p:spPr>
          <a:xfrm>
            <a:off x="8046720" y="3840480"/>
            <a:ext cx="3611880" cy="1965960"/>
          </a:xfrm>
          <a:prstGeom prst="rect">
            <a:avLst/>
          </a:prstGeom>
          <a:solidFill>
            <a:srgbClr val="F7F6F4"/>
          </a:solidFill>
          <a:ln/>
        </p:spPr>
      </p:sp>
      <p:sp>
        <p:nvSpPr>
          <p:cNvPr id="35" name="Shape 28"/>
          <p:cNvSpPr/>
          <p:nvPr/>
        </p:nvSpPr>
        <p:spPr>
          <a:xfrm>
            <a:off x="8275320" y="4041648"/>
            <a:ext cx="502920" cy="502920"/>
          </a:xfrm>
          <a:prstGeom prst="ellipse">
            <a:avLst/>
          </a:prstGeom>
          <a:solidFill>
            <a:srgbClr val="E44D26"/>
          </a:solidFill>
          <a:ln/>
        </p:spPr>
      </p:sp>
      <p:pic>
        <p:nvPicPr>
          <p:cNvPr id="36" name="Image 5" descr="preencoded.png">    </p:cNvPr>
          <p:cNvPicPr>
            <a:picLocks noChangeAspect="1"/>
          </p:cNvPicPr>
          <p:nvPr/>
        </p:nvPicPr>
        <p:blipFill>
          <a:blip r:embed="rId6"/>
          <a:stretch>
            <a:fillRect/>
          </a:stretch>
        </p:blipFill>
        <p:spPr>
          <a:xfrm>
            <a:off x="8406079" y="4172407"/>
            <a:ext cx="241402" cy="241402"/>
          </a:xfrm>
          <a:prstGeom prst="rect">
            <a:avLst/>
          </a:prstGeom>
        </p:spPr>
      </p:pic>
      <p:sp>
        <p:nvSpPr>
          <p:cNvPr id="37" name="Text 29"/>
          <p:cNvSpPr txBox="1"/>
          <p:nvPr/>
        </p:nvSpPr>
        <p:spPr>
          <a:xfrm>
            <a:off x="10835640" y="3977640"/>
            <a:ext cx="685800" cy="457200"/>
          </a:xfrm>
          <a:prstGeom prst="rect">
            <a:avLst/>
          </a:prstGeom>
          <a:noFill/>
          <a:ln/>
        </p:spPr>
        <p:txBody>
          <a:bodyPr wrap="square" lIns="0" tIns="0" rIns="0" bIns="0" rtlCol="0" anchor="ctr"/>
          <a:lstStyle/>
          <a:p>
            <a:pPr algn="r" indent="0" marL="0">
              <a:buNone/>
            </a:pPr>
            <a:r>
              <a:rPr lang="en-US" sz="2200" b="1" dirty="0">
                <a:solidFill>
                  <a:srgbClr val="E8E2DC"/>
                </a:solidFill>
                <a:latin typeface="Cambria" pitchFamily="34" charset="0"/>
                <a:ea typeface="Cambria" pitchFamily="34" charset="-122"/>
                <a:cs typeface="Cambria" pitchFamily="34" charset="-120"/>
              </a:rPr>
              <a:t>06</a:t>
            </a:r>
            <a:endParaRPr lang="en-US" sz="2200" dirty="0"/>
          </a:p>
        </p:txBody>
      </p:sp>
      <p:sp>
        <p:nvSpPr>
          <p:cNvPr id="38" name="Text 30"/>
          <p:cNvSpPr txBox="1"/>
          <p:nvPr/>
        </p:nvSpPr>
        <p:spPr>
          <a:xfrm>
            <a:off x="8275320" y="4709160"/>
            <a:ext cx="3154680" cy="5029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Uji Kompatibilitas Lintas Browser</a:t>
            </a:r>
            <a:endParaRPr lang="en-US" sz="1300" dirty="0"/>
          </a:p>
        </p:txBody>
      </p:sp>
      <p:sp>
        <p:nvSpPr>
          <p:cNvPr id="39" name="Text 31"/>
          <p:cNvSpPr txBox="1"/>
          <p:nvPr/>
        </p:nvSpPr>
        <p:spPr>
          <a:xfrm>
            <a:off x="8275320" y="5166360"/>
            <a:ext cx="3154680" cy="548640"/>
          </a:xfrm>
          <a:prstGeom prst="rect">
            <a:avLst/>
          </a:prstGeom>
          <a:noFill/>
          <a:ln/>
        </p:spPr>
        <p:txBody>
          <a:bodyPr wrap="square" lIns="0" tIns="0" rIns="0" bIns="0" rtlCol="0" anchor="ctr"/>
          <a:lstStyle/>
          <a:p>
            <a:pPr indent="0" marL="0">
              <a:lnSpc>
                <a:spcPct val="120000"/>
              </a:lnSpc>
              <a:buNone/>
            </a:pPr>
            <a:r>
              <a:rPr lang="en-US" sz="980" dirty="0">
                <a:solidFill>
                  <a:srgbClr val="6B6B6B"/>
                </a:solidFill>
                <a:latin typeface="Calibri" pitchFamily="34" charset="0"/>
                <a:ea typeface="Calibri" pitchFamily="34" charset="-122"/>
                <a:cs typeface="Calibri" pitchFamily="34" charset="-120"/>
              </a:rPr>
              <a:t>Pastikan tampilan &amp; fungsi konsisten di berbagai browser dan perangkat.</a:t>
            </a:r>
            <a:endParaRPr lang="en-US" sz="980" dirty="0"/>
          </a:p>
        </p:txBody>
      </p:sp>
      <p:sp>
        <p:nvSpPr>
          <p:cNvPr id="40" name="Text 32"/>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41" name="Text 33"/>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STUDI KASUS</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Contoh Halaman HTML5 Lengkap</a:t>
            </a:r>
            <a:endParaRPr lang="en-US" sz="3200" dirty="0"/>
          </a:p>
        </p:txBody>
      </p:sp>
      <p:sp>
        <p:nvSpPr>
          <p:cNvPr id="4" name="Shape 2"/>
          <p:cNvSpPr/>
          <p:nvPr/>
        </p:nvSpPr>
        <p:spPr>
          <a:xfrm>
            <a:off x="548640" y="1600200"/>
            <a:ext cx="6858000" cy="4572000"/>
          </a:xfrm>
          <a:prstGeom prst="rect">
            <a:avLst/>
          </a:prstGeom>
          <a:solidFill>
            <a:srgbClr val="1B1B1B"/>
          </a:solidFill>
          <a:ln/>
        </p:spPr>
      </p:sp>
      <p:sp>
        <p:nvSpPr>
          <p:cNvPr id="5" name="Text 3"/>
          <p:cNvSpPr txBox="1"/>
          <p:nvPr/>
        </p:nvSpPr>
        <p:spPr>
          <a:xfrm>
            <a:off x="777240" y="1783080"/>
            <a:ext cx="6400800" cy="4206240"/>
          </a:xfrm>
          <a:prstGeom prst="rect">
            <a:avLst/>
          </a:prstGeom>
          <a:noFill/>
          <a:ln/>
        </p:spPr>
        <p:txBody>
          <a:bodyPr wrap="square" lIns="0" tIns="0" rIns="0" bIns="0" rtlCol="0" anchor="ctr"/>
          <a:lstStyle/>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&lt;!DOCTYPE html&gt;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&lt;html lang="id"&gt;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&lt;head&gt;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&lt;meta charset="UTF-8"&gt;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&lt;title&gt;Blog Sederhana&lt;/title&gt;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&lt;/head&gt;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&lt;body&gt;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&lt;header&gt;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&lt;h1&gt;Blog Teknologi&lt;/h1&gt;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&lt;nav&gt;&lt;a href="#"&gt;Beranda&lt;/a&gt;&lt;/nav&gt;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&lt;/header&gt;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&lt;main&gt;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&lt;article&gt;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&lt;h2&gt;Mengenal HTML5&lt;/h2&gt;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&lt;p&gt;HTML5 membawa banyak fitur baru...&lt;/p&gt;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&lt;/article&gt;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&lt;aside&gt;Artikel Terkait&lt;/aside&gt;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&lt;/main&gt;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  &lt;footer&gt;&amp;copy; 2026 Blog Teknologi&lt;/footer&gt;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&lt;/body&gt;</a:t>
            </a:r>
            <a:endParaRPr lang="en-US" sz="1030" dirty="0"/>
          </a:p>
          <a:p>
            <a:pPr indent="0" marL="0">
              <a:lnSpc>
                <a:spcPct val="122000"/>
              </a:lnSpc>
              <a:buNone/>
            </a:pPr>
            <a:r>
              <a:rPr lang="en-US" sz="1030" dirty="0">
                <a:solidFill>
                  <a:srgbClr val="DADADA"/>
                </a:solidFill>
                <a:latin typeface="Courier New" pitchFamily="34" charset="0"/>
                <a:ea typeface="Courier New" pitchFamily="34" charset="-122"/>
                <a:cs typeface="Courier New" pitchFamily="34" charset="-120"/>
              </a:rPr>
              <a:t>&lt;/html&gt;</a:t>
            </a:r>
            <a:endParaRPr lang="en-US" sz="1030" dirty="0"/>
          </a:p>
        </p:txBody>
      </p:sp>
      <p:sp>
        <p:nvSpPr>
          <p:cNvPr id="6" name="Shape 4"/>
          <p:cNvSpPr/>
          <p:nvPr/>
        </p:nvSpPr>
        <p:spPr>
          <a:xfrm>
            <a:off x="7635240" y="1600200"/>
            <a:ext cx="4023360" cy="4572000"/>
          </a:xfrm>
          <a:prstGeom prst="rect">
            <a:avLst/>
          </a:prstGeom>
          <a:solidFill>
            <a:srgbClr val="F7F6F4"/>
          </a:solidFill>
          <a:ln/>
        </p:spPr>
      </p:sp>
      <p:sp>
        <p:nvSpPr>
          <p:cNvPr id="7" name="Text 5"/>
          <p:cNvSpPr txBox="1"/>
          <p:nvPr/>
        </p:nvSpPr>
        <p:spPr>
          <a:xfrm>
            <a:off x="7863840" y="1783080"/>
            <a:ext cx="3566160" cy="365760"/>
          </a:xfrm>
          <a:prstGeom prst="rect">
            <a:avLst/>
          </a:prstGeom>
          <a:noFill/>
          <a:ln/>
        </p:spPr>
        <p:txBody>
          <a:bodyPr wrap="square" lIns="0" tIns="0" rIns="0" bIns="0" rtlCol="0" anchor="ctr"/>
          <a:lstStyle/>
          <a:p>
            <a:pPr indent="0" marL="0">
              <a:buNone/>
            </a:pPr>
            <a:r>
              <a:rPr lang="en-US" sz="1450" b="1" dirty="0">
                <a:solidFill>
                  <a:srgbClr val="2B2B2B"/>
                </a:solidFill>
                <a:latin typeface="Cambria" pitchFamily="34" charset="0"/>
                <a:ea typeface="Cambria" pitchFamily="34" charset="-122"/>
                <a:cs typeface="Cambria" pitchFamily="34" charset="-120"/>
              </a:rPr>
              <a:t>Yang Perlu Diperhatikan</a:t>
            </a:r>
            <a:endParaRPr lang="en-US" sz="1450" dirty="0"/>
          </a:p>
        </p:txBody>
      </p:sp>
      <p:sp>
        <p:nvSpPr>
          <p:cNvPr id="8" name="Shape 6"/>
          <p:cNvSpPr/>
          <p:nvPr/>
        </p:nvSpPr>
        <p:spPr>
          <a:xfrm>
            <a:off x="7863840" y="2286000"/>
            <a:ext cx="320040" cy="320040"/>
          </a:xfrm>
          <a:prstGeom prst="ellipse">
            <a:avLst/>
          </a:prstGeom>
          <a:solidFill>
            <a:srgbClr val="E44D26"/>
          </a:solidFill>
          <a:ln/>
        </p:spPr>
      </p:sp>
      <p:pic>
        <p:nvPicPr>
          <p:cNvPr id="9" name="Image 0" descr="preencoded.png">    </p:cNvPr>
          <p:cNvPicPr>
            <a:picLocks noChangeAspect="1"/>
          </p:cNvPicPr>
          <p:nvPr/>
        </p:nvPicPr>
        <p:blipFill>
          <a:blip r:embed="rId1"/>
          <a:stretch>
            <a:fillRect/>
          </a:stretch>
        </p:blipFill>
        <p:spPr>
          <a:xfrm>
            <a:off x="7947050" y="2369210"/>
            <a:ext cx="153619" cy="153619"/>
          </a:xfrm>
          <a:prstGeom prst="rect">
            <a:avLst/>
          </a:prstGeom>
        </p:spPr>
      </p:pic>
      <p:sp>
        <p:nvSpPr>
          <p:cNvPr id="10" name="Text 7"/>
          <p:cNvSpPr txBox="1"/>
          <p:nvPr/>
        </p:nvSpPr>
        <p:spPr>
          <a:xfrm>
            <a:off x="8321040" y="2258568"/>
            <a:ext cx="3200400" cy="548640"/>
          </a:xfrm>
          <a:prstGeom prst="rect">
            <a:avLst/>
          </a:prstGeom>
          <a:noFill/>
          <a:ln/>
        </p:spPr>
        <p:txBody>
          <a:bodyPr wrap="square" lIns="0" tIns="0" rIns="0" bIns="0" rtlCol="0" anchor="ctr"/>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Satu &lt;main&gt; untuk konten inti halaman</a:t>
            </a:r>
            <a:endParaRPr lang="en-US" sz="1000" dirty="0"/>
          </a:p>
        </p:txBody>
      </p:sp>
      <p:sp>
        <p:nvSpPr>
          <p:cNvPr id="11" name="Shape 8"/>
          <p:cNvSpPr/>
          <p:nvPr/>
        </p:nvSpPr>
        <p:spPr>
          <a:xfrm>
            <a:off x="7863840" y="2944368"/>
            <a:ext cx="320040" cy="320040"/>
          </a:xfrm>
          <a:prstGeom prst="ellipse">
            <a:avLst/>
          </a:prstGeom>
          <a:solidFill>
            <a:srgbClr val="E44D26"/>
          </a:solidFill>
          <a:ln/>
        </p:spPr>
      </p:sp>
      <p:pic>
        <p:nvPicPr>
          <p:cNvPr id="12" name="Image 1" descr="preencoded.png">    </p:cNvPr>
          <p:cNvPicPr>
            <a:picLocks noChangeAspect="1"/>
          </p:cNvPicPr>
          <p:nvPr/>
        </p:nvPicPr>
        <p:blipFill>
          <a:blip r:embed="rId2"/>
          <a:stretch>
            <a:fillRect/>
          </a:stretch>
        </p:blipFill>
        <p:spPr>
          <a:xfrm>
            <a:off x="7947050" y="3027578"/>
            <a:ext cx="153619" cy="153619"/>
          </a:xfrm>
          <a:prstGeom prst="rect">
            <a:avLst/>
          </a:prstGeom>
        </p:spPr>
      </p:pic>
      <p:sp>
        <p:nvSpPr>
          <p:cNvPr id="13" name="Text 9"/>
          <p:cNvSpPr txBox="1"/>
          <p:nvPr/>
        </p:nvSpPr>
        <p:spPr>
          <a:xfrm>
            <a:off x="8321040" y="2916936"/>
            <a:ext cx="3200400" cy="548640"/>
          </a:xfrm>
          <a:prstGeom prst="rect">
            <a:avLst/>
          </a:prstGeom>
          <a:noFill/>
          <a:ln/>
        </p:spPr>
        <p:txBody>
          <a:bodyPr wrap="square" lIns="0" tIns="0" rIns="0" bIns="0" rtlCol="0" anchor="ctr"/>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&lt;header&gt; &amp; &lt;footer&gt; dapat digunakan berulang di dalam &lt;article&gt;/&lt;section&gt;</a:t>
            </a:r>
            <a:endParaRPr lang="en-US" sz="1000" dirty="0"/>
          </a:p>
        </p:txBody>
      </p:sp>
      <p:sp>
        <p:nvSpPr>
          <p:cNvPr id="14" name="Shape 10"/>
          <p:cNvSpPr/>
          <p:nvPr/>
        </p:nvSpPr>
        <p:spPr>
          <a:xfrm>
            <a:off x="7863840" y="3602736"/>
            <a:ext cx="320040" cy="320040"/>
          </a:xfrm>
          <a:prstGeom prst="ellipse">
            <a:avLst/>
          </a:prstGeom>
          <a:solidFill>
            <a:srgbClr val="E44D26"/>
          </a:solidFill>
          <a:ln/>
        </p:spPr>
      </p:sp>
      <p:pic>
        <p:nvPicPr>
          <p:cNvPr id="15" name="Image 2" descr="preencoded.png">    </p:cNvPr>
          <p:cNvPicPr>
            <a:picLocks noChangeAspect="1"/>
          </p:cNvPicPr>
          <p:nvPr/>
        </p:nvPicPr>
        <p:blipFill>
          <a:blip r:embed="rId3"/>
          <a:stretch>
            <a:fillRect/>
          </a:stretch>
        </p:blipFill>
        <p:spPr>
          <a:xfrm>
            <a:off x="7947050" y="3685946"/>
            <a:ext cx="153619" cy="153619"/>
          </a:xfrm>
          <a:prstGeom prst="rect">
            <a:avLst/>
          </a:prstGeom>
        </p:spPr>
      </p:pic>
      <p:sp>
        <p:nvSpPr>
          <p:cNvPr id="16" name="Text 11"/>
          <p:cNvSpPr txBox="1"/>
          <p:nvPr/>
        </p:nvSpPr>
        <p:spPr>
          <a:xfrm>
            <a:off x="8321040" y="3575304"/>
            <a:ext cx="3200400" cy="548640"/>
          </a:xfrm>
          <a:prstGeom prst="rect">
            <a:avLst/>
          </a:prstGeom>
          <a:noFill/>
          <a:ln/>
        </p:spPr>
        <p:txBody>
          <a:bodyPr wrap="square" lIns="0" tIns="0" rIns="0" bIns="0" rtlCol="0" anchor="ctr"/>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&lt;nav&gt; membungkus tautan navigasi, bukan sembarang tautan</a:t>
            </a:r>
            <a:endParaRPr lang="en-US" sz="1000" dirty="0"/>
          </a:p>
        </p:txBody>
      </p:sp>
      <p:sp>
        <p:nvSpPr>
          <p:cNvPr id="17" name="Shape 12"/>
          <p:cNvSpPr/>
          <p:nvPr/>
        </p:nvSpPr>
        <p:spPr>
          <a:xfrm>
            <a:off x="7863840" y="4261104"/>
            <a:ext cx="320040" cy="320040"/>
          </a:xfrm>
          <a:prstGeom prst="ellipse">
            <a:avLst/>
          </a:prstGeom>
          <a:solidFill>
            <a:srgbClr val="E44D26"/>
          </a:solidFill>
          <a:ln/>
        </p:spPr>
      </p:sp>
      <p:pic>
        <p:nvPicPr>
          <p:cNvPr id="18" name="Image 3" descr="preencoded.png">    </p:cNvPr>
          <p:cNvPicPr>
            <a:picLocks noChangeAspect="1"/>
          </p:cNvPicPr>
          <p:nvPr/>
        </p:nvPicPr>
        <p:blipFill>
          <a:blip r:embed="rId4"/>
          <a:stretch>
            <a:fillRect/>
          </a:stretch>
        </p:blipFill>
        <p:spPr>
          <a:xfrm>
            <a:off x="7947050" y="4344314"/>
            <a:ext cx="153619" cy="153619"/>
          </a:xfrm>
          <a:prstGeom prst="rect">
            <a:avLst/>
          </a:prstGeom>
        </p:spPr>
      </p:pic>
      <p:sp>
        <p:nvSpPr>
          <p:cNvPr id="19" name="Text 13"/>
          <p:cNvSpPr txBox="1"/>
          <p:nvPr/>
        </p:nvSpPr>
        <p:spPr>
          <a:xfrm>
            <a:off x="8321040" y="4233672"/>
            <a:ext cx="3200400" cy="548640"/>
          </a:xfrm>
          <a:prstGeom prst="rect">
            <a:avLst/>
          </a:prstGeom>
          <a:noFill/>
          <a:ln/>
        </p:spPr>
        <p:txBody>
          <a:bodyPr wrap="square" lIns="0" tIns="0" rIns="0" bIns="0" rtlCol="0" anchor="ctr"/>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Hierarki heading (h1→h2→h3) berurutan &amp; logis</a:t>
            </a:r>
            <a:endParaRPr lang="en-US" sz="1000" dirty="0"/>
          </a:p>
        </p:txBody>
      </p:sp>
      <p:sp>
        <p:nvSpPr>
          <p:cNvPr id="20" name="Shape 14"/>
          <p:cNvSpPr/>
          <p:nvPr/>
        </p:nvSpPr>
        <p:spPr>
          <a:xfrm>
            <a:off x="7863840" y="4919472"/>
            <a:ext cx="320040" cy="320040"/>
          </a:xfrm>
          <a:prstGeom prst="ellipse">
            <a:avLst/>
          </a:prstGeom>
          <a:solidFill>
            <a:srgbClr val="E44D26"/>
          </a:solidFill>
          <a:ln/>
        </p:spPr>
      </p:sp>
      <p:pic>
        <p:nvPicPr>
          <p:cNvPr id="21" name="Image 4" descr="preencoded.png">    </p:cNvPr>
          <p:cNvPicPr>
            <a:picLocks noChangeAspect="1"/>
          </p:cNvPicPr>
          <p:nvPr/>
        </p:nvPicPr>
        <p:blipFill>
          <a:blip r:embed="rId5"/>
          <a:stretch>
            <a:fillRect/>
          </a:stretch>
        </p:blipFill>
        <p:spPr>
          <a:xfrm>
            <a:off x="7947050" y="5002682"/>
            <a:ext cx="153619" cy="153619"/>
          </a:xfrm>
          <a:prstGeom prst="rect">
            <a:avLst/>
          </a:prstGeom>
        </p:spPr>
      </p:pic>
      <p:sp>
        <p:nvSpPr>
          <p:cNvPr id="22" name="Text 15"/>
          <p:cNvSpPr txBox="1"/>
          <p:nvPr/>
        </p:nvSpPr>
        <p:spPr>
          <a:xfrm>
            <a:off x="8321040" y="4892040"/>
            <a:ext cx="3200400" cy="548640"/>
          </a:xfrm>
          <a:prstGeom prst="rect">
            <a:avLst/>
          </a:prstGeom>
          <a:noFill/>
          <a:ln/>
        </p:spPr>
        <p:txBody>
          <a:bodyPr wrap="square" lIns="0" tIns="0" rIns="0" bIns="0" rtlCol="0" anchor="ctr"/>
          <a:lstStyle/>
          <a:p>
            <a:pPr indent="0" marL="0">
              <a:lnSpc>
                <a:spcPct val="120000"/>
              </a:lnSpc>
              <a:buNone/>
            </a:pPr>
            <a:r>
              <a:rPr lang="en-US" sz="1000" dirty="0">
                <a:solidFill>
                  <a:srgbClr val="2B2B2B"/>
                </a:solidFill>
                <a:latin typeface="Calibri" pitchFamily="34" charset="0"/>
                <a:ea typeface="Calibri" pitchFamily="34" charset="-122"/>
                <a:cs typeface="Calibri" pitchFamily="34" charset="-120"/>
              </a:rPr>
              <a:t>Encoding UTF-8 selalu dideklarasikan di &lt;head&gt;</a:t>
            </a:r>
            <a:endParaRPr lang="en-US" sz="1000" dirty="0"/>
          </a:p>
        </p:txBody>
      </p:sp>
      <p:sp>
        <p:nvSpPr>
          <p:cNvPr id="23" name="Text 16"/>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24" name="Text 1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1B"/>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PENUTUP MATERI</a:t>
            </a:r>
            <a:endParaRPr lang="en-US" sz="1200" dirty="0"/>
          </a:p>
        </p:txBody>
      </p:sp>
      <p:sp>
        <p:nvSpPr>
          <p:cNvPr id="3" name="Text 1"/>
          <p:cNvSpPr txBox="1"/>
          <p:nvPr/>
        </p:nvSpPr>
        <p:spPr>
          <a:xfrm>
            <a:off x="548640" y="86868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Ringkasan Utama</a:t>
            </a:r>
            <a:endParaRPr lang="en-US" sz="3200" dirty="0"/>
          </a:p>
        </p:txBody>
      </p:sp>
      <p:sp>
        <p:nvSpPr>
          <p:cNvPr id="4" name="Shape 2"/>
          <p:cNvSpPr/>
          <p:nvPr/>
        </p:nvSpPr>
        <p:spPr>
          <a:xfrm>
            <a:off x="548640" y="1783080"/>
            <a:ext cx="566928" cy="566928"/>
          </a:xfrm>
          <a:prstGeom prst="ellipse">
            <a:avLst/>
          </a:prstGeom>
          <a:solidFill>
            <a:srgbClr val="E44D26"/>
          </a:solidFill>
          <a:ln/>
        </p:spPr>
      </p:sp>
      <p:pic>
        <p:nvPicPr>
          <p:cNvPr id="5" name="Image 0" descr="preencoded.png">    </p:cNvPr>
          <p:cNvPicPr>
            <a:picLocks noChangeAspect="1"/>
          </p:cNvPicPr>
          <p:nvPr/>
        </p:nvPicPr>
        <p:blipFill>
          <a:blip r:embed="rId1"/>
          <a:stretch>
            <a:fillRect/>
          </a:stretch>
        </p:blipFill>
        <p:spPr>
          <a:xfrm>
            <a:off x="696041" y="1930481"/>
            <a:ext cx="272125" cy="272125"/>
          </a:xfrm>
          <a:prstGeom prst="rect">
            <a:avLst/>
          </a:prstGeom>
        </p:spPr>
      </p:pic>
      <p:sp>
        <p:nvSpPr>
          <p:cNvPr id="6" name="Text 3"/>
          <p:cNvSpPr txBox="1"/>
          <p:nvPr/>
        </p:nvSpPr>
        <p:spPr>
          <a:xfrm>
            <a:off x="1325880" y="1764792"/>
            <a:ext cx="4297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HTML5 adalah revisi terbaru HTML</a:t>
            </a:r>
            <a:endParaRPr lang="en-US" sz="1300" dirty="0"/>
          </a:p>
        </p:txBody>
      </p:sp>
      <p:sp>
        <p:nvSpPr>
          <p:cNvPr id="7" name="Text 4"/>
          <p:cNvSpPr txBox="1"/>
          <p:nvPr/>
        </p:nvSpPr>
        <p:spPr>
          <a:xfrm>
            <a:off x="5806440" y="1764792"/>
            <a:ext cx="5852160" cy="594360"/>
          </a:xfrm>
          <a:prstGeom prst="rect">
            <a:avLst/>
          </a:prstGeom>
          <a:noFill/>
          <a:ln/>
        </p:spPr>
        <p:txBody>
          <a:bodyPr wrap="square" lIns="0" tIns="0" rIns="0" bIns="0" rtlCol="0" anchor="ctr"/>
          <a:lstStyle/>
          <a:p>
            <a:pPr indent="0" marL="0">
              <a:lnSpc>
                <a:spcPct val="120000"/>
              </a:lnSpc>
              <a:buNone/>
            </a:pPr>
            <a:r>
              <a:rPr lang="en-US" sz="1100" dirty="0">
                <a:solidFill>
                  <a:srgbClr val="BEBEBE"/>
                </a:solidFill>
                <a:latin typeface="Calibri" pitchFamily="34" charset="0"/>
                <a:ea typeface="Calibri" pitchFamily="34" charset="-122"/>
                <a:cs typeface="Calibri" pitchFamily="34" charset="-120"/>
              </a:rPr>
              <a:t>Distandardisasi penuh oleh W3C pada 2014, kini menjadi HTML Living Standard oleh WHATWG.</a:t>
            </a:r>
            <a:endParaRPr lang="en-US" sz="1100" dirty="0"/>
          </a:p>
        </p:txBody>
      </p:sp>
      <p:sp>
        <p:nvSpPr>
          <p:cNvPr id="8" name="Shape 5"/>
          <p:cNvSpPr/>
          <p:nvPr/>
        </p:nvSpPr>
        <p:spPr>
          <a:xfrm>
            <a:off x="548640" y="2624328"/>
            <a:ext cx="566928" cy="566928"/>
          </a:xfrm>
          <a:prstGeom prst="ellipse">
            <a:avLst/>
          </a:prstGeom>
          <a:solidFill>
            <a:srgbClr val="E44D26"/>
          </a:solidFill>
          <a:ln/>
        </p:spPr>
      </p:sp>
      <p:pic>
        <p:nvPicPr>
          <p:cNvPr id="9" name="Image 1" descr="preencoded.png">    </p:cNvPr>
          <p:cNvPicPr>
            <a:picLocks noChangeAspect="1"/>
          </p:cNvPicPr>
          <p:nvPr/>
        </p:nvPicPr>
        <p:blipFill>
          <a:blip r:embed="rId2"/>
          <a:stretch>
            <a:fillRect/>
          </a:stretch>
        </p:blipFill>
        <p:spPr>
          <a:xfrm>
            <a:off x="696041" y="2771729"/>
            <a:ext cx="272125" cy="272125"/>
          </a:xfrm>
          <a:prstGeom prst="rect">
            <a:avLst/>
          </a:prstGeom>
        </p:spPr>
      </p:pic>
      <p:sp>
        <p:nvSpPr>
          <p:cNvPr id="10" name="Text 6"/>
          <p:cNvSpPr txBox="1"/>
          <p:nvPr/>
        </p:nvSpPr>
        <p:spPr>
          <a:xfrm>
            <a:off x="1325880" y="2606040"/>
            <a:ext cx="4297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Elemen semantik memperjelas struktur</a:t>
            </a:r>
            <a:endParaRPr lang="en-US" sz="1300" dirty="0"/>
          </a:p>
        </p:txBody>
      </p:sp>
      <p:sp>
        <p:nvSpPr>
          <p:cNvPr id="11" name="Text 7"/>
          <p:cNvSpPr txBox="1"/>
          <p:nvPr/>
        </p:nvSpPr>
        <p:spPr>
          <a:xfrm>
            <a:off x="5806440" y="2606040"/>
            <a:ext cx="5852160" cy="594360"/>
          </a:xfrm>
          <a:prstGeom prst="rect">
            <a:avLst/>
          </a:prstGeom>
          <a:noFill/>
          <a:ln/>
        </p:spPr>
        <p:txBody>
          <a:bodyPr wrap="square" lIns="0" tIns="0" rIns="0" bIns="0" rtlCol="0" anchor="ctr"/>
          <a:lstStyle/>
          <a:p>
            <a:pPr indent="0" marL="0">
              <a:lnSpc>
                <a:spcPct val="120000"/>
              </a:lnSpc>
              <a:buNone/>
            </a:pPr>
            <a:r>
              <a:rPr lang="en-US" sz="1100" dirty="0">
                <a:solidFill>
                  <a:srgbClr val="BEBEBE"/>
                </a:solidFill>
                <a:latin typeface="Calibri" pitchFamily="34" charset="0"/>
                <a:ea typeface="Calibri" pitchFamily="34" charset="-122"/>
                <a:cs typeface="Calibri" pitchFamily="34" charset="-120"/>
              </a:rPr>
              <a:t>&lt;header&gt;, &lt;nav&gt;, &lt;main&gt;, &lt;article&gt;, &lt;section&gt;, &lt;aside&gt;, &lt;footer&gt; menggantikan &lt;div&gt; generik.</a:t>
            </a:r>
            <a:endParaRPr lang="en-US" sz="1100" dirty="0"/>
          </a:p>
        </p:txBody>
      </p:sp>
      <p:sp>
        <p:nvSpPr>
          <p:cNvPr id="12" name="Shape 8"/>
          <p:cNvSpPr/>
          <p:nvPr/>
        </p:nvSpPr>
        <p:spPr>
          <a:xfrm>
            <a:off x="548640" y="3465576"/>
            <a:ext cx="566928" cy="566928"/>
          </a:xfrm>
          <a:prstGeom prst="ellipse">
            <a:avLst/>
          </a:prstGeom>
          <a:solidFill>
            <a:srgbClr val="E44D26"/>
          </a:solidFill>
          <a:ln/>
        </p:spPr>
      </p:sp>
      <p:pic>
        <p:nvPicPr>
          <p:cNvPr id="13" name="Image 2" descr="preencoded.png">    </p:cNvPr>
          <p:cNvPicPr>
            <a:picLocks noChangeAspect="1"/>
          </p:cNvPicPr>
          <p:nvPr/>
        </p:nvPicPr>
        <p:blipFill>
          <a:blip r:embed="rId3"/>
          <a:stretch>
            <a:fillRect/>
          </a:stretch>
        </p:blipFill>
        <p:spPr>
          <a:xfrm>
            <a:off x="696041" y="3612977"/>
            <a:ext cx="272125" cy="272125"/>
          </a:xfrm>
          <a:prstGeom prst="rect">
            <a:avLst/>
          </a:prstGeom>
        </p:spPr>
      </p:pic>
      <p:sp>
        <p:nvSpPr>
          <p:cNvPr id="14" name="Text 9"/>
          <p:cNvSpPr txBox="1"/>
          <p:nvPr/>
        </p:nvSpPr>
        <p:spPr>
          <a:xfrm>
            <a:off x="1325880" y="3447288"/>
            <a:ext cx="4297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Multimedia &amp; grafis native</a:t>
            </a:r>
            <a:endParaRPr lang="en-US" sz="1300" dirty="0"/>
          </a:p>
        </p:txBody>
      </p:sp>
      <p:sp>
        <p:nvSpPr>
          <p:cNvPr id="15" name="Text 10"/>
          <p:cNvSpPr txBox="1"/>
          <p:nvPr/>
        </p:nvSpPr>
        <p:spPr>
          <a:xfrm>
            <a:off x="5806440" y="3447288"/>
            <a:ext cx="5852160" cy="594360"/>
          </a:xfrm>
          <a:prstGeom prst="rect">
            <a:avLst/>
          </a:prstGeom>
          <a:noFill/>
          <a:ln/>
        </p:spPr>
        <p:txBody>
          <a:bodyPr wrap="square" lIns="0" tIns="0" rIns="0" bIns="0" rtlCol="0" anchor="ctr"/>
          <a:lstStyle/>
          <a:p>
            <a:pPr indent="0" marL="0">
              <a:lnSpc>
                <a:spcPct val="120000"/>
              </a:lnSpc>
              <a:buNone/>
            </a:pPr>
            <a:r>
              <a:rPr lang="en-US" sz="1100" dirty="0">
                <a:solidFill>
                  <a:srgbClr val="BEBEBE"/>
                </a:solidFill>
                <a:latin typeface="Calibri" pitchFamily="34" charset="0"/>
                <a:ea typeface="Calibri" pitchFamily="34" charset="-122"/>
                <a:cs typeface="Calibri" pitchFamily="34" charset="-120"/>
              </a:rPr>
              <a:t>Elemen &lt;audio&gt;, &lt;video&gt;, &lt;canvas&gt;, dan SVG tanpa memerlukan plugin eksternal.</a:t>
            </a:r>
            <a:endParaRPr lang="en-US" sz="1100" dirty="0"/>
          </a:p>
        </p:txBody>
      </p:sp>
      <p:sp>
        <p:nvSpPr>
          <p:cNvPr id="16" name="Shape 11"/>
          <p:cNvSpPr/>
          <p:nvPr/>
        </p:nvSpPr>
        <p:spPr>
          <a:xfrm>
            <a:off x="548640" y="4306824"/>
            <a:ext cx="566928" cy="566928"/>
          </a:xfrm>
          <a:prstGeom prst="ellipse">
            <a:avLst/>
          </a:prstGeom>
          <a:solidFill>
            <a:srgbClr val="E44D26"/>
          </a:solidFill>
          <a:ln/>
        </p:spPr>
      </p:sp>
      <p:pic>
        <p:nvPicPr>
          <p:cNvPr id="17" name="Image 3" descr="preencoded.png">    </p:cNvPr>
          <p:cNvPicPr>
            <a:picLocks noChangeAspect="1"/>
          </p:cNvPicPr>
          <p:nvPr/>
        </p:nvPicPr>
        <p:blipFill>
          <a:blip r:embed="rId4"/>
          <a:stretch>
            <a:fillRect/>
          </a:stretch>
        </p:blipFill>
        <p:spPr>
          <a:xfrm>
            <a:off x="696041" y="4454225"/>
            <a:ext cx="272125" cy="272125"/>
          </a:xfrm>
          <a:prstGeom prst="rect">
            <a:avLst/>
          </a:prstGeom>
        </p:spPr>
      </p:pic>
      <p:sp>
        <p:nvSpPr>
          <p:cNvPr id="18" name="Text 12"/>
          <p:cNvSpPr txBox="1"/>
          <p:nvPr/>
        </p:nvSpPr>
        <p:spPr>
          <a:xfrm>
            <a:off x="1325880" y="4288536"/>
            <a:ext cx="4297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API modern memperluas fungsi web</a:t>
            </a:r>
            <a:endParaRPr lang="en-US" sz="1300" dirty="0"/>
          </a:p>
        </p:txBody>
      </p:sp>
      <p:sp>
        <p:nvSpPr>
          <p:cNvPr id="19" name="Text 13"/>
          <p:cNvSpPr txBox="1"/>
          <p:nvPr/>
        </p:nvSpPr>
        <p:spPr>
          <a:xfrm>
            <a:off x="5806440" y="4288536"/>
            <a:ext cx="5852160" cy="594360"/>
          </a:xfrm>
          <a:prstGeom prst="rect">
            <a:avLst/>
          </a:prstGeom>
          <a:noFill/>
          <a:ln/>
        </p:spPr>
        <p:txBody>
          <a:bodyPr wrap="square" lIns="0" tIns="0" rIns="0" bIns="0" rtlCol="0" anchor="ctr"/>
          <a:lstStyle/>
          <a:p>
            <a:pPr indent="0" marL="0">
              <a:lnSpc>
                <a:spcPct val="120000"/>
              </a:lnSpc>
              <a:buNone/>
            </a:pPr>
            <a:r>
              <a:rPr lang="en-US" sz="1100" dirty="0">
                <a:solidFill>
                  <a:srgbClr val="BEBEBE"/>
                </a:solidFill>
                <a:latin typeface="Calibri" pitchFamily="34" charset="0"/>
                <a:ea typeface="Calibri" pitchFamily="34" charset="-122"/>
                <a:cs typeface="Calibri" pitchFamily="34" charset="-120"/>
              </a:rPr>
              <a:t>Web Storage, Geolocation, Drag &amp; Drop, Web Workers, dan lainnya.</a:t>
            </a:r>
            <a:endParaRPr lang="en-US" sz="1100" dirty="0"/>
          </a:p>
        </p:txBody>
      </p:sp>
      <p:sp>
        <p:nvSpPr>
          <p:cNvPr id="20" name="Shape 14"/>
          <p:cNvSpPr/>
          <p:nvPr/>
        </p:nvSpPr>
        <p:spPr>
          <a:xfrm>
            <a:off x="548640" y="5148072"/>
            <a:ext cx="566928" cy="566928"/>
          </a:xfrm>
          <a:prstGeom prst="ellipse">
            <a:avLst/>
          </a:prstGeom>
          <a:solidFill>
            <a:srgbClr val="E44D26"/>
          </a:solidFill>
          <a:ln/>
        </p:spPr>
      </p:sp>
      <p:pic>
        <p:nvPicPr>
          <p:cNvPr id="21" name="Image 4" descr="preencoded.png">    </p:cNvPr>
          <p:cNvPicPr>
            <a:picLocks noChangeAspect="1"/>
          </p:cNvPicPr>
          <p:nvPr/>
        </p:nvPicPr>
        <p:blipFill>
          <a:blip r:embed="rId5"/>
          <a:stretch>
            <a:fillRect/>
          </a:stretch>
        </p:blipFill>
        <p:spPr>
          <a:xfrm>
            <a:off x="696041" y="5295473"/>
            <a:ext cx="272125" cy="272125"/>
          </a:xfrm>
          <a:prstGeom prst="rect">
            <a:avLst/>
          </a:prstGeom>
        </p:spPr>
      </p:pic>
      <p:sp>
        <p:nvSpPr>
          <p:cNvPr id="22" name="Text 15"/>
          <p:cNvSpPr txBox="1"/>
          <p:nvPr/>
        </p:nvSpPr>
        <p:spPr>
          <a:xfrm>
            <a:off x="1325880" y="5129784"/>
            <a:ext cx="4297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Mendukung aksesibilitas &amp; SEO</a:t>
            </a:r>
            <a:endParaRPr lang="en-US" sz="1300" dirty="0"/>
          </a:p>
        </p:txBody>
      </p:sp>
      <p:sp>
        <p:nvSpPr>
          <p:cNvPr id="23" name="Text 16"/>
          <p:cNvSpPr txBox="1"/>
          <p:nvPr/>
        </p:nvSpPr>
        <p:spPr>
          <a:xfrm>
            <a:off x="5806440" y="5129784"/>
            <a:ext cx="5852160" cy="594360"/>
          </a:xfrm>
          <a:prstGeom prst="rect">
            <a:avLst/>
          </a:prstGeom>
          <a:noFill/>
          <a:ln/>
        </p:spPr>
        <p:txBody>
          <a:bodyPr wrap="square" lIns="0" tIns="0" rIns="0" bIns="0" rtlCol="0" anchor="ctr"/>
          <a:lstStyle/>
          <a:p>
            <a:pPr indent="0" marL="0">
              <a:lnSpc>
                <a:spcPct val="120000"/>
              </a:lnSpc>
              <a:buNone/>
            </a:pPr>
            <a:r>
              <a:rPr lang="en-US" sz="1100" dirty="0">
                <a:solidFill>
                  <a:srgbClr val="BEBEBE"/>
                </a:solidFill>
                <a:latin typeface="Calibri" pitchFamily="34" charset="0"/>
                <a:ea typeface="Calibri" pitchFamily="34" charset="-122"/>
                <a:cs typeface="Calibri" pitchFamily="34" charset="-120"/>
              </a:rPr>
              <a:t>Struktur bermakna meningkatkan pengalaman pengguna dan visibilitas pencarian.</a:t>
            </a:r>
            <a:endParaRPr lang="en-US" sz="1100" dirty="0"/>
          </a:p>
        </p:txBody>
      </p:sp>
      <p:sp>
        <p:nvSpPr>
          <p:cNvPr id="24" name="Text 17"/>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B8B8B8"/>
                </a:solidFill>
                <a:latin typeface="Calibri" pitchFamily="34" charset="0"/>
                <a:ea typeface="Calibri" pitchFamily="34" charset="-122"/>
                <a:cs typeface="Calibri" pitchFamily="34" charset="-120"/>
              </a:rPr>
              <a:t>HTML5 — Fondasi Web Modern</a:t>
            </a:r>
            <a:endParaRPr lang="en-US" sz="900" dirty="0"/>
          </a:p>
        </p:txBody>
      </p:sp>
      <p:sp>
        <p:nvSpPr>
          <p:cNvPr id="25" name="Text 1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B8B8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E44D26"/>
                </a:solidFill>
                <a:latin typeface="Calibri" pitchFamily="34" charset="0"/>
                <a:ea typeface="Calibri" pitchFamily="34" charset="-122"/>
                <a:cs typeface="Calibri" pitchFamily="34" charset="-120"/>
              </a:rPr>
              <a:t>SUMBER BELAJAR</a:t>
            </a:r>
            <a:endParaRPr lang="en-US" sz="1200" dirty="0"/>
          </a:p>
        </p:txBody>
      </p:sp>
      <p:sp>
        <p:nvSpPr>
          <p:cNvPr id="3" name="Text 1"/>
          <p:cNvSpPr txBox="1"/>
          <p:nvPr/>
        </p:nvSpPr>
        <p:spPr>
          <a:xfrm>
            <a:off x="548640" y="713232"/>
            <a:ext cx="11064240" cy="731520"/>
          </a:xfrm>
          <a:prstGeom prst="rect">
            <a:avLst/>
          </a:prstGeom>
          <a:noFill/>
          <a:ln/>
        </p:spPr>
        <p:txBody>
          <a:bodyPr wrap="square" lIns="0" tIns="0" rIns="0" bIns="0" rtlCol="0" anchor="ctr"/>
          <a:lstStyle/>
          <a:p>
            <a:pPr indent="0" marL="0">
              <a:buNone/>
            </a:pPr>
            <a:r>
              <a:rPr lang="en-US" sz="3200" b="1" dirty="0">
                <a:solidFill>
                  <a:srgbClr val="2B2B2B"/>
                </a:solidFill>
                <a:latin typeface="Cambria" pitchFamily="34" charset="0"/>
                <a:ea typeface="Cambria" pitchFamily="34" charset="-122"/>
                <a:cs typeface="Cambria" pitchFamily="34" charset="-120"/>
              </a:rPr>
              <a:t>Referensi &amp; Bacaan Lanjutan</a:t>
            </a:r>
            <a:endParaRPr lang="en-US" sz="3200" dirty="0"/>
          </a:p>
        </p:txBody>
      </p:sp>
      <p:sp>
        <p:nvSpPr>
          <p:cNvPr id="4" name="Shape 2"/>
          <p:cNvSpPr/>
          <p:nvPr/>
        </p:nvSpPr>
        <p:spPr>
          <a:xfrm>
            <a:off x="548640" y="1691640"/>
            <a:ext cx="5440680" cy="1234440"/>
          </a:xfrm>
          <a:prstGeom prst="rect">
            <a:avLst/>
          </a:prstGeom>
          <a:solidFill>
            <a:srgbClr val="F7F6F4"/>
          </a:solidFill>
          <a:ln/>
        </p:spPr>
      </p:sp>
      <p:sp>
        <p:nvSpPr>
          <p:cNvPr id="5" name="Shape 3"/>
          <p:cNvSpPr/>
          <p:nvPr/>
        </p:nvSpPr>
        <p:spPr>
          <a:xfrm>
            <a:off x="731520" y="2034540"/>
            <a:ext cx="548640" cy="548640"/>
          </a:xfrm>
          <a:prstGeom prst="ellipse">
            <a:avLst/>
          </a:prstGeom>
          <a:solidFill>
            <a:srgbClr val="E44D26"/>
          </a:solidFill>
          <a:ln/>
        </p:spPr>
      </p:sp>
      <p:pic>
        <p:nvPicPr>
          <p:cNvPr id="6" name="Image 0" descr="preencoded.png">    </p:cNvPr>
          <p:cNvPicPr>
            <a:picLocks noChangeAspect="1"/>
          </p:cNvPicPr>
          <p:nvPr/>
        </p:nvPicPr>
        <p:blipFill>
          <a:blip r:embed="rId1"/>
          <a:stretch>
            <a:fillRect/>
          </a:stretch>
        </p:blipFill>
        <p:spPr>
          <a:xfrm>
            <a:off x="874166" y="2177186"/>
            <a:ext cx="263347" cy="263347"/>
          </a:xfrm>
          <a:prstGeom prst="rect">
            <a:avLst/>
          </a:prstGeom>
        </p:spPr>
      </p:pic>
      <p:sp>
        <p:nvSpPr>
          <p:cNvPr id="7" name="Text 4"/>
          <p:cNvSpPr txBox="1"/>
          <p:nvPr/>
        </p:nvSpPr>
        <p:spPr>
          <a:xfrm>
            <a:off x="1463040" y="1819656"/>
            <a:ext cx="4343400" cy="29260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MDN Web Docs</a:t>
            </a:r>
            <a:endParaRPr lang="en-US" sz="1250" dirty="0"/>
          </a:p>
        </p:txBody>
      </p:sp>
      <p:sp>
        <p:nvSpPr>
          <p:cNvPr id="8" name="Text 5"/>
          <p:cNvSpPr txBox="1"/>
          <p:nvPr/>
        </p:nvSpPr>
        <p:spPr>
          <a:xfrm>
            <a:off x="1463040" y="2112264"/>
            <a:ext cx="4343400" cy="256032"/>
          </a:xfrm>
          <a:prstGeom prst="rect">
            <a:avLst/>
          </a:prstGeom>
          <a:noFill/>
          <a:ln/>
        </p:spPr>
        <p:txBody>
          <a:bodyPr wrap="square" lIns="0" tIns="0" rIns="0" bIns="0" rtlCol="0" anchor="ctr"/>
          <a:lstStyle/>
          <a:p>
            <a:pPr indent="0" marL="0">
              <a:buNone/>
            </a:pPr>
            <a:r>
              <a:rPr lang="en-US" sz="950" dirty="0">
                <a:solidFill>
                  <a:srgbClr val="E44D26"/>
                </a:solidFill>
                <a:latin typeface="Courier New" pitchFamily="34" charset="0"/>
                <a:ea typeface="Courier New" pitchFamily="34" charset="-122"/>
                <a:cs typeface="Courier New" pitchFamily="34" charset="-120"/>
              </a:rPr>
              <a:t>developer.mozilla.org/id/docs/Web/HTML</a:t>
            </a:r>
            <a:endParaRPr lang="en-US" sz="950" dirty="0"/>
          </a:p>
        </p:txBody>
      </p:sp>
      <p:sp>
        <p:nvSpPr>
          <p:cNvPr id="9" name="Text 6"/>
          <p:cNvSpPr txBox="1"/>
          <p:nvPr/>
        </p:nvSpPr>
        <p:spPr>
          <a:xfrm>
            <a:off x="1463040" y="2377440"/>
            <a:ext cx="4343400" cy="457200"/>
          </a:xfrm>
          <a:prstGeom prst="rect">
            <a:avLst/>
          </a:prstGeom>
          <a:noFill/>
          <a:ln/>
        </p:spPr>
        <p:txBody>
          <a:bodyPr wrap="square" lIns="0" tIns="0" rIns="0" bIns="0" rtlCol="0" anchor="ctr"/>
          <a:lstStyle/>
          <a:p>
            <a:pPr indent="0" marL="0">
              <a:lnSpc>
                <a:spcPct val="115000"/>
              </a:lnSpc>
              <a:buNone/>
            </a:pPr>
            <a:r>
              <a:rPr lang="en-US" sz="900" dirty="0">
                <a:solidFill>
                  <a:srgbClr val="6B6B6B"/>
                </a:solidFill>
                <a:latin typeface="Calibri" pitchFamily="34" charset="0"/>
                <a:ea typeface="Calibri" pitchFamily="34" charset="-122"/>
                <a:cs typeface="Calibri" pitchFamily="34" charset="-120"/>
              </a:rPr>
              <a:t>Dokumentasi lengkap &amp; tutorial HTML5 dari Mozilla</a:t>
            </a:r>
            <a:endParaRPr lang="en-US" sz="900" dirty="0"/>
          </a:p>
        </p:txBody>
      </p:sp>
      <p:sp>
        <p:nvSpPr>
          <p:cNvPr id="10" name="Shape 7"/>
          <p:cNvSpPr/>
          <p:nvPr/>
        </p:nvSpPr>
        <p:spPr>
          <a:xfrm>
            <a:off x="6172200" y="1691640"/>
            <a:ext cx="5440680" cy="1234440"/>
          </a:xfrm>
          <a:prstGeom prst="rect">
            <a:avLst/>
          </a:prstGeom>
          <a:solidFill>
            <a:srgbClr val="F7F6F4"/>
          </a:solidFill>
          <a:ln/>
        </p:spPr>
      </p:sp>
      <p:pic>
        <p:nvPicPr>
          <p:cNvPr id="11" name="Image 1" descr="preencoded.png">    </p:cNvPr>
          <p:cNvPicPr>
            <a:picLocks noChangeAspect="1"/>
          </p:cNvPicPr>
          <p:nvPr/>
        </p:nvPicPr>
        <p:blipFill>
          <a:blip r:embed="rId2"/>
          <a:stretch>
            <a:fillRect/>
          </a:stretch>
        </p:blipFill>
        <p:spPr>
          <a:xfrm>
            <a:off x="6355080" y="2034540"/>
            <a:ext cx="548640" cy="548640"/>
          </a:xfrm>
          <a:prstGeom prst="rect">
            <a:avLst/>
          </a:prstGeom>
        </p:spPr>
      </p:pic>
      <p:sp>
        <p:nvSpPr>
          <p:cNvPr id="12" name="Text 8"/>
          <p:cNvSpPr txBox="1"/>
          <p:nvPr/>
        </p:nvSpPr>
        <p:spPr>
          <a:xfrm>
            <a:off x="7086600" y="1819656"/>
            <a:ext cx="4343400" cy="29260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W3C HTML Specification</a:t>
            </a:r>
            <a:endParaRPr lang="en-US" sz="1250" dirty="0"/>
          </a:p>
        </p:txBody>
      </p:sp>
      <p:sp>
        <p:nvSpPr>
          <p:cNvPr id="13" name="Text 9"/>
          <p:cNvSpPr txBox="1"/>
          <p:nvPr/>
        </p:nvSpPr>
        <p:spPr>
          <a:xfrm>
            <a:off x="7086600" y="2112264"/>
            <a:ext cx="4343400" cy="256032"/>
          </a:xfrm>
          <a:prstGeom prst="rect">
            <a:avLst/>
          </a:prstGeom>
          <a:noFill/>
          <a:ln/>
        </p:spPr>
        <p:txBody>
          <a:bodyPr wrap="square" lIns="0" tIns="0" rIns="0" bIns="0" rtlCol="0" anchor="ctr"/>
          <a:lstStyle/>
          <a:p>
            <a:pPr indent="0" marL="0">
              <a:buNone/>
            </a:pPr>
            <a:r>
              <a:rPr lang="en-US" sz="950" dirty="0">
                <a:solidFill>
                  <a:srgbClr val="E44D26"/>
                </a:solidFill>
                <a:latin typeface="Courier New" pitchFamily="34" charset="0"/>
                <a:ea typeface="Courier New" pitchFamily="34" charset="-122"/>
                <a:cs typeface="Courier New" pitchFamily="34" charset="-120"/>
              </a:rPr>
              <a:t>w3.org/TR/html52</a:t>
            </a:r>
            <a:endParaRPr lang="en-US" sz="950" dirty="0"/>
          </a:p>
        </p:txBody>
      </p:sp>
      <p:sp>
        <p:nvSpPr>
          <p:cNvPr id="14" name="Text 10"/>
          <p:cNvSpPr txBox="1"/>
          <p:nvPr/>
        </p:nvSpPr>
        <p:spPr>
          <a:xfrm>
            <a:off x="7086600" y="2377440"/>
            <a:ext cx="4343400" cy="457200"/>
          </a:xfrm>
          <a:prstGeom prst="rect">
            <a:avLst/>
          </a:prstGeom>
          <a:noFill/>
          <a:ln/>
        </p:spPr>
        <p:txBody>
          <a:bodyPr wrap="square" lIns="0" tIns="0" rIns="0" bIns="0" rtlCol="0" anchor="ctr"/>
          <a:lstStyle/>
          <a:p>
            <a:pPr indent="0" marL="0">
              <a:lnSpc>
                <a:spcPct val="115000"/>
              </a:lnSpc>
              <a:buNone/>
            </a:pPr>
            <a:r>
              <a:rPr lang="en-US" sz="900" dirty="0">
                <a:solidFill>
                  <a:srgbClr val="6B6B6B"/>
                </a:solidFill>
                <a:latin typeface="Calibri" pitchFamily="34" charset="0"/>
                <a:ea typeface="Calibri" pitchFamily="34" charset="-122"/>
                <a:cs typeface="Calibri" pitchFamily="34" charset="-120"/>
              </a:rPr>
              <a:t>Spesifikasi resmi HTML5 dari World Wide Web Consortium</a:t>
            </a:r>
            <a:endParaRPr lang="en-US" sz="900" dirty="0"/>
          </a:p>
        </p:txBody>
      </p:sp>
      <p:sp>
        <p:nvSpPr>
          <p:cNvPr id="15" name="Shape 11"/>
          <p:cNvSpPr/>
          <p:nvPr/>
        </p:nvSpPr>
        <p:spPr>
          <a:xfrm>
            <a:off x="548640" y="3108960"/>
            <a:ext cx="5440680" cy="1234440"/>
          </a:xfrm>
          <a:prstGeom prst="rect">
            <a:avLst/>
          </a:prstGeom>
          <a:solidFill>
            <a:srgbClr val="F7F6F4"/>
          </a:solidFill>
          <a:ln/>
        </p:spPr>
      </p:sp>
      <p:sp>
        <p:nvSpPr>
          <p:cNvPr id="16" name="Shape 12"/>
          <p:cNvSpPr/>
          <p:nvPr/>
        </p:nvSpPr>
        <p:spPr>
          <a:xfrm>
            <a:off x="731520" y="3451860"/>
            <a:ext cx="548640" cy="548640"/>
          </a:xfrm>
          <a:prstGeom prst="ellipse">
            <a:avLst/>
          </a:prstGeom>
          <a:solidFill>
            <a:srgbClr val="1B1B1B"/>
          </a:solidFill>
          <a:ln/>
        </p:spPr>
      </p:sp>
      <p:sp>
        <p:nvSpPr>
          <p:cNvPr id="17" name="Text 13"/>
          <p:cNvSpPr txBox="1"/>
          <p:nvPr/>
        </p:nvSpPr>
        <p:spPr>
          <a:xfrm>
            <a:off x="731520" y="3451860"/>
            <a:ext cx="548640" cy="548640"/>
          </a:xfrm>
          <a:prstGeom prst="rect">
            <a:avLst/>
          </a:prstGeom>
          <a:noFill/>
          <a:ln/>
        </p:spPr>
        <p:txBody>
          <a:bodyPr wrap="square" lIns="0" tIns="0" rIns="0" bIns="0" rtlCol="0" anchor="ctr"/>
          <a:lstStyle/>
          <a:p>
            <a:pPr algn="ctr" indent="0" marL="0">
              <a:buNone/>
            </a:pPr>
            <a:r>
              <a:rPr lang="en-US" sz="800" b="1" dirty="0">
                <a:solidFill>
                  <a:srgbClr val="FFFFFF"/>
                </a:solidFill>
                <a:latin typeface="Cambria" pitchFamily="34" charset="0"/>
                <a:ea typeface="Cambria" pitchFamily="34" charset="-122"/>
                <a:cs typeface="Cambria" pitchFamily="34" charset="-120"/>
              </a:rPr>
              <a:t>WHATWG</a:t>
            </a:r>
            <a:endParaRPr lang="en-US" sz="800" dirty="0"/>
          </a:p>
        </p:txBody>
      </p:sp>
      <p:sp>
        <p:nvSpPr>
          <p:cNvPr id="18" name="Text 14"/>
          <p:cNvSpPr txBox="1"/>
          <p:nvPr/>
        </p:nvSpPr>
        <p:spPr>
          <a:xfrm>
            <a:off x="1463040" y="3236976"/>
            <a:ext cx="4343400" cy="29260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WHATWG HTML Living Standard</a:t>
            </a:r>
            <a:endParaRPr lang="en-US" sz="1250" dirty="0"/>
          </a:p>
        </p:txBody>
      </p:sp>
      <p:sp>
        <p:nvSpPr>
          <p:cNvPr id="19" name="Text 15"/>
          <p:cNvSpPr txBox="1"/>
          <p:nvPr/>
        </p:nvSpPr>
        <p:spPr>
          <a:xfrm>
            <a:off x="1463040" y="3529584"/>
            <a:ext cx="4343400" cy="256032"/>
          </a:xfrm>
          <a:prstGeom prst="rect">
            <a:avLst/>
          </a:prstGeom>
          <a:noFill/>
          <a:ln/>
        </p:spPr>
        <p:txBody>
          <a:bodyPr wrap="square" lIns="0" tIns="0" rIns="0" bIns="0" rtlCol="0" anchor="ctr"/>
          <a:lstStyle/>
          <a:p>
            <a:pPr indent="0" marL="0">
              <a:buNone/>
            </a:pPr>
            <a:r>
              <a:rPr lang="en-US" sz="950" dirty="0">
                <a:solidFill>
                  <a:srgbClr val="E44D26"/>
                </a:solidFill>
                <a:latin typeface="Courier New" pitchFamily="34" charset="0"/>
                <a:ea typeface="Courier New" pitchFamily="34" charset="-122"/>
                <a:cs typeface="Courier New" pitchFamily="34" charset="-120"/>
              </a:rPr>
              <a:t>html.spec.whatwg.org</a:t>
            </a:r>
            <a:endParaRPr lang="en-US" sz="950" dirty="0"/>
          </a:p>
        </p:txBody>
      </p:sp>
      <p:sp>
        <p:nvSpPr>
          <p:cNvPr id="20" name="Text 16"/>
          <p:cNvSpPr txBox="1"/>
          <p:nvPr/>
        </p:nvSpPr>
        <p:spPr>
          <a:xfrm>
            <a:off x="1463040" y="3794760"/>
            <a:ext cx="4343400" cy="457200"/>
          </a:xfrm>
          <a:prstGeom prst="rect">
            <a:avLst/>
          </a:prstGeom>
          <a:noFill/>
          <a:ln/>
        </p:spPr>
        <p:txBody>
          <a:bodyPr wrap="square" lIns="0" tIns="0" rIns="0" bIns="0" rtlCol="0" anchor="ctr"/>
          <a:lstStyle/>
          <a:p>
            <a:pPr indent="0" marL="0">
              <a:lnSpc>
                <a:spcPct val="115000"/>
              </a:lnSpc>
              <a:buNone/>
            </a:pPr>
            <a:r>
              <a:rPr lang="en-US" sz="900" dirty="0">
                <a:solidFill>
                  <a:srgbClr val="6B6B6B"/>
                </a:solidFill>
                <a:latin typeface="Calibri" pitchFamily="34" charset="0"/>
                <a:ea typeface="Calibri" pitchFamily="34" charset="-122"/>
                <a:cs typeface="Calibri" pitchFamily="34" charset="-120"/>
              </a:rPr>
              <a:t>Standar HTML yang terus diperbarui oleh WHATWG</a:t>
            </a:r>
            <a:endParaRPr lang="en-US" sz="900" dirty="0"/>
          </a:p>
        </p:txBody>
      </p:sp>
      <p:sp>
        <p:nvSpPr>
          <p:cNvPr id="21" name="Shape 17"/>
          <p:cNvSpPr/>
          <p:nvPr/>
        </p:nvSpPr>
        <p:spPr>
          <a:xfrm>
            <a:off x="6172200" y="3108960"/>
            <a:ext cx="5440680" cy="1234440"/>
          </a:xfrm>
          <a:prstGeom prst="rect">
            <a:avLst/>
          </a:prstGeom>
          <a:solidFill>
            <a:srgbClr val="F7F6F4"/>
          </a:solidFill>
          <a:ln/>
        </p:spPr>
      </p:sp>
      <p:sp>
        <p:nvSpPr>
          <p:cNvPr id="22" name="Shape 18"/>
          <p:cNvSpPr/>
          <p:nvPr/>
        </p:nvSpPr>
        <p:spPr>
          <a:xfrm>
            <a:off x="6355080" y="3451860"/>
            <a:ext cx="548640" cy="548640"/>
          </a:xfrm>
          <a:prstGeom prst="ellipse">
            <a:avLst/>
          </a:prstGeom>
          <a:solidFill>
            <a:srgbClr val="E44D26"/>
          </a:solidFill>
          <a:ln/>
        </p:spPr>
      </p:sp>
      <p:pic>
        <p:nvPicPr>
          <p:cNvPr id="23" name="Image 2" descr="preencoded.png">    </p:cNvPr>
          <p:cNvPicPr>
            <a:picLocks noChangeAspect="1"/>
          </p:cNvPicPr>
          <p:nvPr/>
        </p:nvPicPr>
        <p:blipFill>
          <a:blip r:embed="rId3"/>
          <a:stretch>
            <a:fillRect/>
          </a:stretch>
        </p:blipFill>
        <p:spPr>
          <a:xfrm>
            <a:off x="6497726" y="3594506"/>
            <a:ext cx="263347" cy="263347"/>
          </a:xfrm>
          <a:prstGeom prst="rect">
            <a:avLst/>
          </a:prstGeom>
        </p:spPr>
      </p:pic>
      <p:sp>
        <p:nvSpPr>
          <p:cNvPr id="24" name="Text 19"/>
          <p:cNvSpPr txBox="1"/>
          <p:nvPr/>
        </p:nvSpPr>
        <p:spPr>
          <a:xfrm>
            <a:off x="7086600" y="3236976"/>
            <a:ext cx="4343400" cy="29260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W3Schools HTML5 Tutorial</a:t>
            </a:r>
            <a:endParaRPr lang="en-US" sz="1250" dirty="0"/>
          </a:p>
        </p:txBody>
      </p:sp>
      <p:sp>
        <p:nvSpPr>
          <p:cNvPr id="25" name="Text 20"/>
          <p:cNvSpPr txBox="1"/>
          <p:nvPr/>
        </p:nvSpPr>
        <p:spPr>
          <a:xfrm>
            <a:off x="7086600" y="3529584"/>
            <a:ext cx="4343400" cy="256032"/>
          </a:xfrm>
          <a:prstGeom prst="rect">
            <a:avLst/>
          </a:prstGeom>
          <a:noFill/>
          <a:ln/>
        </p:spPr>
        <p:txBody>
          <a:bodyPr wrap="square" lIns="0" tIns="0" rIns="0" bIns="0" rtlCol="0" anchor="ctr"/>
          <a:lstStyle/>
          <a:p>
            <a:pPr indent="0" marL="0">
              <a:buNone/>
            </a:pPr>
            <a:r>
              <a:rPr lang="en-US" sz="950" dirty="0">
                <a:solidFill>
                  <a:srgbClr val="E44D26"/>
                </a:solidFill>
                <a:latin typeface="Courier New" pitchFamily="34" charset="0"/>
                <a:ea typeface="Courier New" pitchFamily="34" charset="-122"/>
                <a:cs typeface="Courier New" pitchFamily="34" charset="-120"/>
              </a:rPr>
              <a:t>w3schools.com/html</a:t>
            </a:r>
            <a:endParaRPr lang="en-US" sz="950" dirty="0"/>
          </a:p>
        </p:txBody>
      </p:sp>
      <p:sp>
        <p:nvSpPr>
          <p:cNvPr id="26" name="Text 21"/>
          <p:cNvSpPr txBox="1"/>
          <p:nvPr/>
        </p:nvSpPr>
        <p:spPr>
          <a:xfrm>
            <a:off x="7086600" y="3794760"/>
            <a:ext cx="4343400" cy="457200"/>
          </a:xfrm>
          <a:prstGeom prst="rect">
            <a:avLst/>
          </a:prstGeom>
          <a:noFill/>
          <a:ln/>
        </p:spPr>
        <p:txBody>
          <a:bodyPr wrap="square" lIns="0" tIns="0" rIns="0" bIns="0" rtlCol="0" anchor="ctr"/>
          <a:lstStyle/>
          <a:p>
            <a:pPr indent="0" marL="0">
              <a:lnSpc>
                <a:spcPct val="115000"/>
              </a:lnSpc>
              <a:buNone/>
            </a:pPr>
            <a:r>
              <a:rPr lang="en-US" sz="900" dirty="0">
                <a:solidFill>
                  <a:srgbClr val="6B6B6B"/>
                </a:solidFill>
                <a:latin typeface="Calibri" pitchFamily="34" charset="0"/>
                <a:ea typeface="Calibri" pitchFamily="34" charset="-122"/>
                <a:cs typeface="Calibri" pitchFamily="34" charset="-120"/>
              </a:rPr>
              <a:t>Tutorial interaktif dengan contoh kode siap coba</a:t>
            </a:r>
            <a:endParaRPr lang="en-US" sz="900" dirty="0"/>
          </a:p>
        </p:txBody>
      </p:sp>
      <p:sp>
        <p:nvSpPr>
          <p:cNvPr id="27" name="Shape 22"/>
          <p:cNvSpPr/>
          <p:nvPr/>
        </p:nvSpPr>
        <p:spPr>
          <a:xfrm>
            <a:off x="548640" y="4526280"/>
            <a:ext cx="5440680" cy="1234440"/>
          </a:xfrm>
          <a:prstGeom prst="rect">
            <a:avLst/>
          </a:prstGeom>
          <a:solidFill>
            <a:srgbClr val="F7F6F4"/>
          </a:solidFill>
          <a:ln/>
        </p:spPr>
      </p:sp>
      <p:sp>
        <p:nvSpPr>
          <p:cNvPr id="28" name="Shape 23"/>
          <p:cNvSpPr/>
          <p:nvPr/>
        </p:nvSpPr>
        <p:spPr>
          <a:xfrm>
            <a:off x="731520" y="4869180"/>
            <a:ext cx="548640" cy="548640"/>
          </a:xfrm>
          <a:prstGeom prst="ellipse">
            <a:avLst/>
          </a:prstGeom>
          <a:solidFill>
            <a:srgbClr val="E44D26"/>
          </a:solidFill>
          <a:ln/>
        </p:spPr>
      </p:sp>
      <p:pic>
        <p:nvPicPr>
          <p:cNvPr id="29" name="Image 3" descr="preencoded.png">    </p:cNvPr>
          <p:cNvPicPr>
            <a:picLocks noChangeAspect="1"/>
          </p:cNvPicPr>
          <p:nvPr/>
        </p:nvPicPr>
        <p:blipFill>
          <a:blip r:embed="rId4"/>
          <a:stretch>
            <a:fillRect/>
          </a:stretch>
        </p:blipFill>
        <p:spPr>
          <a:xfrm>
            <a:off x="874166" y="5011826"/>
            <a:ext cx="263347" cy="263347"/>
          </a:xfrm>
          <a:prstGeom prst="rect">
            <a:avLst/>
          </a:prstGeom>
        </p:spPr>
      </p:pic>
      <p:sp>
        <p:nvSpPr>
          <p:cNvPr id="30" name="Text 24"/>
          <p:cNvSpPr txBox="1"/>
          <p:nvPr/>
        </p:nvSpPr>
        <p:spPr>
          <a:xfrm>
            <a:off x="1463040" y="4654296"/>
            <a:ext cx="4343400" cy="29260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Can I Use</a:t>
            </a:r>
            <a:endParaRPr lang="en-US" sz="1250" dirty="0"/>
          </a:p>
        </p:txBody>
      </p:sp>
      <p:sp>
        <p:nvSpPr>
          <p:cNvPr id="31" name="Text 25"/>
          <p:cNvSpPr txBox="1"/>
          <p:nvPr/>
        </p:nvSpPr>
        <p:spPr>
          <a:xfrm>
            <a:off x="1463040" y="4946904"/>
            <a:ext cx="4343400" cy="256032"/>
          </a:xfrm>
          <a:prstGeom prst="rect">
            <a:avLst/>
          </a:prstGeom>
          <a:noFill/>
          <a:ln/>
        </p:spPr>
        <p:txBody>
          <a:bodyPr wrap="square" lIns="0" tIns="0" rIns="0" bIns="0" rtlCol="0" anchor="ctr"/>
          <a:lstStyle/>
          <a:p>
            <a:pPr indent="0" marL="0">
              <a:buNone/>
            </a:pPr>
            <a:r>
              <a:rPr lang="en-US" sz="950" dirty="0">
                <a:solidFill>
                  <a:srgbClr val="E44D26"/>
                </a:solidFill>
                <a:latin typeface="Courier New" pitchFamily="34" charset="0"/>
                <a:ea typeface="Courier New" pitchFamily="34" charset="-122"/>
                <a:cs typeface="Courier New" pitchFamily="34" charset="-120"/>
              </a:rPr>
              <a:t>caniuse.com</a:t>
            </a:r>
            <a:endParaRPr lang="en-US" sz="950" dirty="0"/>
          </a:p>
        </p:txBody>
      </p:sp>
      <p:sp>
        <p:nvSpPr>
          <p:cNvPr id="32" name="Text 26"/>
          <p:cNvSpPr txBox="1"/>
          <p:nvPr/>
        </p:nvSpPr>
        <p:spPr>
          <a:xfrm>
            <a:off x="1463040" y="5212080"/>
            <a:ext cx="4343400" cy="457200"/>
          </a:xfrm>
          <a:prstGeom prst="rect">
            <a:avLst/>
          </a:prstGeom>
          <a:noFill/>
          <a:ln/>
        </p:spPr>
        <p:txBody>
          <a:bodyPr wrap="square" lIns="0" tIns="0" rIns="0" bIns="0" rtlCol="0" anchor="ctr"/>
          <a:lstStyle/>
          <a:p>
            <a:pPr indent="0" marL="0">
              <a:lnSpc>
                <a:spcPct val="115000"/>
              </a:lnSpc>
              <a:buNone/>
            </a:pPr>
            <a:r>
              <a:rPr lang="en-US" sz="900" dirty="0">
                <a:solidFill>
                  <a:srgbClr val="6B6B6B"/>
                </a:solidFill>
                <a:latin typeface="Calibri" pitchFamily="34" charset="0"/>
                <a:ea typeface="Calibri" pitchFamily="34" charset="-122"/>
                <a:cs typeface="Calibri" pitchFamily="34" charset="-120"/>
              </a:rPr>
              <a:t>Referensi kompatibilitas fitur HTML5 pada berbagai browser</a:t>
            </a:r>
            <a:endParaRPr lang="en-US" sz="900" dirty="0"/>
          </a:p>
        </p:txBody>
      </p:sp>
      <p:sp>
        <p:nvSpPr>
          <p:cNvPr id="33" name="Shape 27"/>
          <p:cNvSpPr/>
          <p:nvPr/>
        </p:nvSpPr>
        <p:spPr>
          <a:xfrm>
            <a:off x="6172200" y="4526280"/>
            <a:ext cx="5440680" cy="1234440"/>
          </a:xfrm>
          <a:prstGeom prst="rect">
            <a:avLst/>
          </a:prstGeom>
          <a:solidFill>
            <a:srgbClr val="F7F6F4"/>
          </a:solidFill>
          <a:ln/>
        </p:spPr>
      </p:sp>
      <p:pic>
        <p:nvPicPr>
          <p:cNvPr id="34" name="Image 4" descr="preencoded.png">    </p:cNvPr>
          <p:cNvPicPr>
            <a:picLocks noChangeAspect="1"/>
          </p:cNvPicPr>
          <p:nvPr/>
        </p:nvPicPr>
        <p:blipFill>
          <a:blip r:embed="rId5"/>
          <a:stretch>
            <a:fillRect/>
          </a:stretch>
        </p:blipFill>
        <p:spPr>
          <a:xfrm>
            <a:off x="6355080" y="4869180"/>
            <a:ext cx="548640" cy="548640"/>
          </a:xfrm>
          <a:prstGeom prst="rect">
            <a:avLst/>
          </a:prstGeom>
        </p:spPr>
      </p:pic>
      <p:sp>
        <p:nvSpPr>
          <p:cNvPr id="35" name="Text 28"/>
          <p:cNvSpPr txBox="1"/>
          <p:nvPr/>
        </p:nvSpPr>
        <p:spPr>
          <a:xfrm>
            <a:off x="7086600" y="4654296"/>
            <a:ext cx="4343400" cy="292608"/>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W3C Markup Validator</a:t>
            </a:r>
            <a:endParaRPr lang="en-US" sz="1250" dirty="0"/>
          </a:p>
        </p:txBody>
      </p:sp>
      <p:sp>
        <p:nvSpPr>
          <p:cNvPr id="36" name="Text 29"/>
          <p:cNvSpPr txBox="1"/>
          <p:nvPr/>
        </p:nvSpPr>
        <p:spPr>
          <a:xfrm>
            <a:off x="7086600" y="4946904"/>
            <a:ext cx="4343400" cy="256032"/>
          </a:xfrm>
          <a:prstGeom prst="rect">
            <a:avLst/>
          </a:prstGeom>
          <a:noFill/>
          <a:ln/>
        </p:spPr>
        <p:txBody>
          <a:bodyPr wrap="square" lIns="0" tIns="0" rIns="0" bIns="0" rtlCol="0" anchor="ctr"/>
          <a:lstStyle/>
          <a:p>
            <a:pPr indent="0" marL="0">
              <a:buNone/>
            </a:pPr>
            <a:r>
              <a:rPr lang="en-US" sz="950" dirty="0">
                <a:solidFill>
                  <a:srgbClr val="E44D26"/>
                </a:solidFill>
                <a:latin typeface="Courier New" pitchFamily="34" charset="0"/>
                <a:ea typeface="Courier New" pitchFamily="34" charset="-122"/>
                <a:cs typeface="Courier New" pitchFamily="34" charset="-120"/>
              </a:rPr>
              <a:t>validator.w3.org</a:t>
            </a:r>
            <a:endParaRPr lang="en-US" sz="950" dirty="0"/>
          </a:p>
        </p:txBody>
      </p:sp>
      <p:sp>
        <p:nvSpPr>
          <p:cNvPr id="37" name="Text 30"/>
          <p:cNvSpPr txBox="1"/>
          <p:nvPr/>
        </p:nvSpPr>
        <p:spPr>
          <a:xfrm>
            <a:off x="7086600" y="5212080"/>
            <a:ext cx="4343400" cy="457200"/>
          </a:xfrm>
          <a:prstGeom prst="rect">
            <a:avLst/>
          </a:prstGeom>
          <a:noFill/>
          <a:ln/>
        </p:spPr>
        <p:txBody>
          <a:bodyPr wrap="square" lIns="0" tIns="0" rIns="0" bIns="0" rtlCol="0" anchor="ctr"/>
          <a:lstStyle/>
          <a:p>
            <a:pPr indent="0" marL="0">
              <a:lnSpc>
                <a:spcPct val="115000"/>
              </a:lnSpc>
              <a:buNone/>
            </a:pPr>
            <a:r>
              <a:rPr lang="en-US" sz="900" dirty="0">
                <a:solidFill>
                  <a:srgbClr val="6B6B6B"/>
                </a:solidFill>
                <a:latin typeface="Calibri" pitchFamily="34" charset="0"/>
                <a:ea typeface="Calibri" pitchFamily="34" charset="-122"/>
                <a:cs typeface="Calibri" pitchFamily="34" charset="-120"/>
              </a:rPr>
              <a:t>Alat validasi struktur dokumen HTML secara daring</a:t>
            </a:r>
            <a:endParaRPr lang="en-US" sz="900" dirty="0"/>
          </a:p>
        </p:txBody>
      </p:sp>
      <p:sp>
        <p:nvSpPr>
          <p:cNvPr id="38" name="Text 31"/>
          <p:cNvSpPr txBox="1"/>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HTML5 — Fondasi Web Modern</a:t>
            </a:r>
            <a:endParaRPr lang="en-US" sz="900" dirty="0"/>
          </a:p>
        </p:txBody>
      </p:sp>
      <p:sp>
        <p:nvSpPr>
          <p:cNvPr id="39" name="Text 32"/>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1B"/>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E44D26"/>
          </a:solidFill>
          <a:ln/>
        </p:spPr>
      </p:sp>
      <p:sp>
        <p:nvSpPr>
          <p:cNvPr id="3" name="Shape 1"/>
          <p:cNvSpPr/>
          <p:nvPr/>
        </p:nvSpPr>
        <p:spPr>
          <a:xfrm>
            <a:off x="9601200" y="4114800"/>
            <a:ext cx="4114800" cy="4114800"/>
          </a:xfrm>
          <a:prstGeom prst="ellipse">
            <a:avLst/>
          </a:prstGeom>
          <a:solidFill>
            <a:srgbClr val="E44D26"/>
          </a:solidFill>
          <a:ln/>
        </p:spPr>
      </p:sp>
      <p:sp>
        <p:nvSpPr>
          <p:cNvPr id="4" name="Shape 2"/>
          <p:cNvSpPr/>
          <p:nvPr/>
        </p:nvSpPr>
        <p:spPr>
          <a:xfrm>
            <a:off x="5272888" y="1874520"/>
            <a:ext cx="1645920" cy="1645920"/>
          </a:xfrm>
          <a:prstGeom prst="ellipse">
            <a:avLst/>
          </a:prstGeom>
          <a:solidFill>
            <a:srgbClr val="E44D26"/>
          </a:solidFill>
          <a:ln/>
        </p:spPr>
      </p:sp>
      <p:pic>
        <p:nvPicPr>
          <p:cNvPr id="5" name="Image 0" descr="preencoded.png">    </p:cNvPr>
          <p:cNvPicPr>
            <a:picLocks noChangeAspect="1"/>
          </p:cNvPicPr>
          <p:nvPr/>
        </p:nvPicPr>
        <p:blipFill>
          <a:blip r:embed="rId1"/>
          <a:stretch>
            <a:fillRect/>
          </a:stretch>
        </p:blipFill>
        <p:spPr>
          <a:xfrm>
            <a:off x="5700827" y="2302459"/>
            <a:ext cx="790042" cy="790042"/>
          </a:xfrm>
          <a:prstGeom prst="rect">
            <a:avLst/>
          </a:prstGeom>
        </p:spPr>
      </p:pic>
      <p:sp>
        <p:nvSpPr>
          <p:cNvPr id="6" name="Text 3"/>
          <p:cNvSpPr txBox="1"/>
          <p:nvPr/>
        </p:nvSpPr>
        <p:spPr>
          <a:xfrm>
            <a:off x="0" y="3749040"/>
            <a:ext cx="12191695"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Terima Kasih</a:t>
            </a:r>
            <a:endParaRPr lang="en-US" sz="4000" dirty="0"/>
          </a:p>
        </p:txBody>
      </p:sp>
      <p:sp>
        <p:nvSpPr>
          <p:cNvPr id="7" name="Text 4"/>
          <p:cNvSpPr txBox="1"/>
          <p:nvPr/>
        </p:nvSpPr>
        <p:spPr>
          <a:xfrm>
            <a:off x="0" y="4480560"/>
            <a:ext cx="12191695" cy="457200"/>
          </a:xfrm>
          <a:prstGeom prst="rect">
            <a:avLst/>
          </a:prstGeom>
          <a:noFill/>
          <a:ln/>
        </p:spPr>
        <p:txBody>
          <a:bodyPr wrap="square" lIns="0" tIns="0" rIns="0" bIns="0" rtlCol="0" anchor="ctr"/>
          <a:lstStyle/>
          <a:p>
            <a:pPr algn="ctr" indent="0" marL="0">
              <a:buNone/>
            </a:pPr>
            <a:r>
              <a:rPr lang="en-US" sz="1500" dirty="0">
                <a:solidFill>
                  <a:srgbClr val="C9C9C9"/>
                </a:solidFill>
                <a:latin typeface="Calibri" pitchFamily="34" charset="0"/>
                <a:ea typeface="Calibri" pitchFamily="34" charset="-122"/>
                <a:cs typeface="Calibri" pitchFamily="34" charset="-120"/>
              </a:rPr>
              <a:t>Selamat belajar &amp; bereksperimen dengan HTML5</a:t>
            </a:r>
            <a:endParaRPr lang="en-US" sz="1500" dirty="0"/>
          </a:p>
        </p:txBody>
      </p:sp>
      <p:sp>
        <p:nvSpPr>
          <p:cNvPr id="8" name="Shape 5"/>
          <p:cNvSpPr/>
          <p:nvPr/>
        </p:nvSpPr>
        <p:spPr>
          <a:xfrm>
            <a:off x="4998568" y="5120640"/>
            <a:ext cx="2194560" cy="0"/>
          </a:xfrm>
          <a:prstGeom prst="line">
            <a:avLst/>
          </a:prstGeom>
          <a:noFill/>
          <a:ln w="25400">
            <a:solidFill>
              <a:srgbClr val="E44D26"/>
            </a:solidFill>
            <a:prstDash val="solid"/>
          </a:ln>
        </p:spPr>
      </p:sp>
      <p:sp>
        <p:nvSpPr>
          <p:cNvPr id="9" name="Text 6"/>
          <p:cNvSpPr txBox="1"/>
          <p:nvPr/>
        </p:nvSpPr>
        <p:spPr>
          <a:xfrm>
            <a:off x="0" y="6263640"/>
            <a:ext cx="12191695" cy="320040"/>
          </a:xfrm>
          <a:prstGeom prst="rect">
            <a:avLst/>
          </a:prstGeom>
          <a:noFill/>
          <a:ln/>
        </p:spPr>
        <p:txBody>
          <a:bodyPr wrap="square" lIns="0" tIns="0" rIns="0" bIns="0" rtlCol="0" anchor="ctr"/>
          <a:lstStyle/>
          <a:p>
            <a:pPr algn="ctr" indent="0" marL="0">
              <a:buNone/>
            </a:pPr>
            <a:r>
              <a:rPr lang="en-US" sz="1000" dirty="0">
                <a:solidFill>
                  <a:srgbClr val="7A7A7A"/>
                </a:solidFill>
                <a:latin typeface="Calibri" pitchFamily="34" charset="0"/>
                <a:ea typeface="Calibri" pitchFamily="34" charset="-122"/>
                <a:cs typeface="Calibri" pitchFamily="34" charset="-120"/>
              </a:rPr>
              <a:t>Materi Pembelajaran HTML5 — Bahan Ajar Komprehensif</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2026-09-01T07:12:15Z</dcterms:created>
  <dcterms:modified xsi:type="dcterms:W3CDTF">2026-09-01T07:12:15Z</dcterms:modified>
</cp:coreProperties>
</file>