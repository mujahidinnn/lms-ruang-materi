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861b9076-4a5c-87ed-1bf8-fd75353a4590}">
          <p14:sldIdLst>
            <p14:sldId id="256"/>
            <p14:sldId id="257"/>
          </p14:sldIdLst>
        </p14:section>
        <p14:section name="Apa itu Vibe Coding" id="{47016198-0988-6bac-fd7f-69033ede7800}">
          <p14:sldIdLst>
            <p14:sldId id="258"/>
            <p14:sldId id="259"/>
            <p14:sldId id="260"/>
            <p14:sldId id="261"/>
            <p14:sldId id="262"/>
          </p14:sldIdLst>
        </p14:section>
        <p14:section name="Cara Kerja" id="{3c48ab2d-d3de-2f89-63d3-25aa1f030b21}">
          <p14:sldIdLst>
            <p14:sldId id="263"/>
            <p14:sldId id="264"/>
            <p14:sldId id="265"/>
            <p14:sldId id="266"/>
          </p14:sldIdLst>
        </p14:section>
        <p14:section name="Ekosistem Tools" id="{4e737ef7-1462-a247-8b7f-56ff5facf577}">
          <p14:sldIdLst>
            <p14:sldId id="267"/>
            <p14:sldId id="268"/>
            <p14:sldId id="269"/>
          </p14:sldIdLst>
        </p14:section>
        <p14:section name="Praktik &amp; Workflow" id="{acff3249-83ea-4716-cd80-fd176bca1afb}">
          <p14:sldIdLst>
            <p14:sldId id="270"/>
            <p14:sldId id="271"/>
            <p14:sldId id="272"/>
            <p14:sldId id="273"/>
            <p14:sldId id="274"/>
          </p14:sldIdLst>
        </p14:section>
        <p14:section name="Risiko &amp; Keamanan" id="{57c6f00e-d55d-5eb1-be7e-fd88f7bfa4ab}">
          <p14:sldIdLst>
            <p14:sldId id="275"/>
            <p14:sldId id="276"/>
            <p14:sldId id="277"/>
            <p14:sldId id="278"/>
          </p14:sldIdLst>
        </p14:section>
        <p14:section name="Masa Depan &amp; Latihan" id="{87cea8dd-33e2-96a4-fac6-346babe66e2c}">
          <p14:sldIdLst>
            <p14:sldId id="279"/>
            <p14:sldId id="280"/>
            <p14:sldId id="281"/>
            <p14:sldId id="282"/>
            <p14:sldId id="283"/>
          </p14:sldIdLst>
        </p14:section>
        <p14:section name="Penutup" id="{d8e1a411-251f-52a4-b764-055a9a48fa6c}">
          <p14:sldIdLst>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Pembukaan. Perkenalkan topik: vibe coding adalah cara membangun software dengan mendeskripsikan keinginan kepada AI. Sesi ini membahas asal-usul, cara kerja, tools, praktik terbaik, risiko keamanan, dan latihan.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Gambaran enam bagian materi. Durasi ideal sekitar 60–90 menit termasuk latihan.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pertama: memahami konsep dasar sebelum masuk ke praktik.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Istilah ini diperkenalkan Andrej Karpathy (salah satu pendiri OpenAI, mantan direktur AI Tesla) pada 2 Februari 2025. Ia menggambarkan membangun proyek dengan berbicara ke AI, menerima perubahan tanpa membaca diff, dan menyebutnya cocok untuk proyek akhir pekan yang tidak kritis.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Feb 2025: unggahan Karpathy. Maret 2025: meme 'vibe coding is easy, vibe debugging is the hard part' menyebar. November 2025: Collins Dictionary memilih 'vibe coding' sebagai Word of the Year 2025. 2026: vibe coding menjadi arus utama, dan Karpathy memperkenalkan 'agentic engineering' sebagai evolusi yang lebih terstruktur.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Vibe coding adalah salah satu titik di spektrum, bukan pengganti semua cara coding. Glosarium OpenSSF menekankan: bila manusia memeriksa kode dengan sengaja, itu bukan lagi vibe coding. Agentic engineering adalah versi yang lebih matang: agen dengan tujuan terstruktur, konteks kaya, dan alur kerja yang jelas.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pendorong utama: kemampuan model, agen otonom, antarmuka suara/multimodal, dan kemudahan deploy. Kombinasi keempatnya membuat non-programmer pun bisa membuat aplikasi yang berfungsi.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kedua: bagaimana alur kerja vibe coding sehari-hari.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Siklus empat tahap. Kegagalan paling umum bukan AI yang buruk, melainkan konteks yang kurang. Semakin kecil langkahnya, semakin mudah melacak kalau ada yang rusak.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Analogi: dari tukang batu menjadi arsitek atau sutradara. Kemampuan memecah masalah, menulis spesifikasi, dan menilai kualitas menjadi lebih penting daripada hafal sintaks.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Lima elemen prompt: konteks, tujuan, batasan, contoh, kriteria selesai. Tidak semua prompt butuh kelimanya, tetapi untuk fitur baru, struktur ini sangat mengurangi bolak-balik revisi.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ketiga: tools. Ekosistem berubah sangat cepat, jadi fokus pada kategori, bukan merek.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Kategori: (1) AI code editor seperti Cursor dan Windsurf; (2) agen terminal seperti Claude Code dan OpenAI Codex; (3) app builder berbasis browser seperti Lovable, Bolt.new, Replit, v0 — cocok untuk non-coder karena hosting sudah termasuk; (4) ekstensi open source seperti Cline yang memakai API key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Gunakan tabel ini untuk membantu peserta memilih tool. Tekankan bahwa kebiasaan kerja lebih penting daripada merek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keempat: praktik nyata.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Tujuh langkah. Langkah 2 (spesifikasi singkat) sering dilewati padahal paling menghemat waktu. Langkah 6 (commit) adalah jaring pengaman saat AI membuat perubahan yang merusak.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percakapan nyata yang bisa didemokan langsung. Angka di sebelah kanan adalah ilustrasi tipikal, bukan hasil riset. Perhatikan pola: prompt awal jelas, error ditempel apa adanya, lalu peningkatan bertahap.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Delapan kebiasaan. Yang paling sering dilupakan: commit Git dan memulai sesi baru ketika konteks sudah terlalu panjang.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Vibe coding paling bernilai saat kode bersifat sementara, ruang lingkup sempit, atau polanya sudah umum. Untuk sistem kritis, gunakan pendekatan agentic engineering dengan review, tes, dan audit keamanan.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kelima: sisi gelap vibe coding. Penting untuk siapa pun yang merilis aplikasi ke publik.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Veracode 2025: dari 80 tugas coding yang diuji pada lebih dari 100 LLM, 45% sampel kode gagal uji keamanan terhadap OWASP Top 10. CSA (Juli 2025): 62% solusi kode AI mengandung cacat desain atau kerentanan. Wiz (dikutip Kaspersky): 20% aplikasi vibe-coded memiliki kerentanan serius atau salah konfigurasi.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insiden umum: AI membuat kode yang membaca dan menulis data ke database tetapi tidak mengatur kebijakan akses, sehingga data siapa pun bisa dibaca. Penelitian juga menunjukkan keamanan kode memburuk ketika direvisi berulang kali melalui prompt lanjutan.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Bagikan checklist ini kepada peserta. Poin terakhir di kotak ungu: instruksi keamanan sederhana di prompt sudah berdampak besar, tetapi tetap bukan pengganti scanner dan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terakhir: ke mana arah tren ini dan latihan untuk peserta.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Karpathy sendiri kemudian memperkenalkan istilah 'agentic engineering' sebagai evolusi yang lebih matang: AI bekerja dengan tujuan terstruktur, konteks kaya, dan alur kerja yang jelas. Skill manusia yang makin penting adalah yang berkaitan dengan menentukan arah dan menjamin mutu.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 peserta sesuai level. Tetapkan target hasil yang bisa didemokan di akhir sesi. Untuk level 3, sertakan checklist keamanan dari slide sebelumnya.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Lima poin utama untuk diingat peserta.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Daftar sumber yang dipakai dalam materi. Data statistik keamanan berasal dari laporan Veracode, CSA, dan studi Wiz yang dikutip Kaspersky.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Penutup.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SECTION-image-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CLOSING-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48840"/>
            <a:ext cx="6035040" cy="1371600"/>
          </a:xfrm>
          <a:prstGeom prst="rect">
            <a:avLst/>
          </a:prstGeom>
          <a:noFill/>
          <a:ln/>
        </p:spPr>
        <p:txBody>
          <a:bodyPr wrap="square" rtlCol="0"/>
          <a:lstStyle>
            <a:lvl1pPr algn="l" indent="0" marL="0">
              <a:buNone/>
              <a:defRPr lang="en-US" sz="5400" b="1" dirty="0">
                <a:solidFill>
                  <a:schemeClr val="bg1"/>
                </a:solidFill>
                <a:latin typeface="Arial" pitchFamily="34" charset="0"/>
                <a:ea typeface="Arial" pitchFamily="34" charset="-122"/>
                <a:cs typeface="Arial" pitchFamily="34" charset="-120"/>
              </a:defRPr>
            </a:lvl1pPr>
          </a:lstStyle>
          <a:p>
            <a:pPr algn="l" indent="0" marL="0">
              <a:buNone/>
            </a:pPr>
            <a:endParaRPr lang="en-US" sz="5400" dirty="0"/>
          </a:p>
        </p:txBody>
      </p:sp>
      <p:sp>
        <p:nvSpPr>
          <p:cNvPr id="3" name="Text 0"/>
          <p:cNvSpPr/>
          <p:nvPr>
            <p:ph idx="101" type="body" hasCustomPrompt="1"/>
          </p:nvPr>
        </p:nvSpPr>
        <p:spPr>
          <a:xfrm>
            <a:off x="548640" y="3657600"/>
            <a:ext cx="5669280" cy="1097280"/>
          </a:xfrm>
          <a:prstGeom prst="rect">
            <a:avLst/>
          </a:prstGeom>
          <a:noFill/>
          <a:ln/>
        </p:spPr>
        <p:txBody>
          <a:bodyPr wrap="square" rtlCol="0"/>
          <a:lstStyle>
            <a:lvl1pPr indent="0" marL="0">
              <a:buNone/>
              <a:defRPr lang="en-US" sz="2000" dirty="0">
                <a:solidFill>
                  <a:srgbClr val="D8CCFF"/>
                </a:solidFill>
                <a:latin typeface="Calibri" pitchFamily="34" charset="0"/>
                <a:ea typeface="Calibri" pitchFamily="34" charset="-122"/>
                <a:cs typeface="Calibri" pitchFamily="34" charset="-120"/>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651760"/>
            <a:ext cx="7498080" cy="1280160"/>
          </a:xfrm>
          <a:prstGeom prst="rect">
            <a:avLst/>
          </a:prstGeom>
          <a:noFill/>
          <a:ln/>
        </p:spPr>
        <p:txBody>
          <a:bodyPr wrap="square" rtlCol="0"/>
          <a:lstStyle>
            <a:lvl1pPr algn="l" indent="0" marL="0">
              <a:buNone/>
              <a:defRPr lang="en-US" sz="4400" b="1" dirty="0">
                <a:solidFill>
                  <a:schemeClr val="bg1"/>
                </a:solidFill>
                <a:latin typeface="Arial" pitchFamily="34" charset="0"/>
                <a:ea typeface="Arial" pitchFamily="34" charset="-122"/>
                <a:cs typeface="Arial" pitchFamily="34" charset="-120"/>
              </a:defRPr>
            </a:lvl1pPr>
          </a:lstStyle>
          <a:p>
            <a:pPr algn="l" indent="0" marL="0">
              <a:buNone/>
            </a:pPr>
            <a:endParaRPr lang="en-US" sz="4400" dirty="0"/>
          </a:p>
        </p:txBody>
      </p:sp>
      <p:sp>
        <p:nvSpPr>
          <p:cNvPr id="3" name="Text 0"/>
          <p:cNvSpPr/>
          <p:nvPr>
            <p:ph idx="101" type="body" hasCustomPrompt="1"/>
          </p:nvPr>
        </p:nvSpPr>
        <p:spPr>
          <a:xfrm>
            <a:off x="822960" y="3977640"/>
            <a:ext cx="6949440" cy="914400"/>
          </a:xfrm>
          <a:prstGeom prst="rect">
            <a:avLst/>
          </a:prstGeom>
          <a:noFill/>
          <a:ln/>
        </p:spPr>
        <p:txBody>
          <a:bodyPr wrap="square" rtlCol="0"/>
          <a:lstStyle>
            <a:lvl1pPr indent="0" marL="0">
              <a:buNone/>
              <a:defRPr lang="en-US" sz="1800" dirty="0">
                <a:solidFill>
                  <a:srgbClr val="D8CCFF"/>
                </a:solidFill>
                <a:latin typeface="Calibri" pitchFamily="34" charset="0"/>
                <a:ea typeface="Calibri" pitchFamily="34" charset="-122"/>
                <a:cs typeface="Calibri" pitchFamily="34" charset="-120"/>
              </a:defRPr>
            </a:lvl1pPr>
          </a:lstStyle>
          <a:p>
            <a:pPr indent="0" marL="0">
              <a:buNone/>
            </a:pPr>
            <a:endParaRPr lang="en-US" sz="1800" dirty="0"/>
          </a:p>
        </p:txBody>
      </p:sp>
      <p:pic>
        <p:nvPicPr>
          <p:cNvPr id="4" name="Image 0" descr="assets/logo_mark.png">    </p:cNvPr>
          <p:cNvPicPr>
            <a:picLocks noChangeAspect="1"/>
          </p:cNvPicPr>
          <p:nvPr/>
        </p:nvPicPr>
        <p:blipFill>
          <a:blip r:embed="rId1"/>
          <a:stretch>
            <a:fillRect/>
          </a:stretch>
        </p:blipFill>
        <p:spPr>
          <a:xfrm>
            <a:off x="822960" y="5989320"/>
            <a:ext cx="411480" cy="411480"/>
          </a:xfrm>
          <a:prstGeom prst="rect">
            <a:avLst/>
          </a:prstGeom>
        </p:spPr>
      </p:pic>
      <p:sp>
        <p:nvSpPr>
          <p:cNvPr id="5" name="Text 0"/>
          <p:cNvSpPr/>
          <p:nvPr/>
        </p:nvSpPr>
        <p:spPr>
          <a:xfrm>
            <a:off x="1325880" y="6035040"/>
            <a:ext cx="2743200" cy="320040"/>
          </a:xfrm>
          <a:prstGeom prst="rect">
            <a:avLst/>
          </a:prstGeom>
          <a:noFill/>
          <a:ln/>
        </p:spPr>
        <p:txBody>
          <a:bodyPr wrap="square" lIns="0" tIns="0" rIns="0" bIns="0" rtlCol="0" anchor="ctr"/>
          <a:lstStyle/>
          <a:p>
            <a:pPr indent="0" marL="0">
              <a:buNone/>
            </a:pPr>
            <a:r>
              <a:rPr lang="en-US" sz="1200" dirty="0">
                <a:solidFill>
                  <a:srgbClr val="D8CCFF"/>
                </a:solidFill>
                <a:latin typeface="Calibri" pitchFamily="34" charset="0"/>
                <a:ea typeface="Calibri" pitchFamily="34" charset="-122"/>
                <a:cs typeface="Calibri" pitchFamily="34" charset="-120"/>
              </a:rPr>
              <a:t>Vibe Coding</a:t>
            </a:r>
            <a:endParaRPr lang="en-US" sz="1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algn="l" indent="0" marL="0">
              <a:buNone/>
              <a:defRPr lang="en-US" sz="3200" b="1" dirty="0">
                <a:solidFill>
                  <a:schemeClr val="tx1"/>
                </a:solidFill>
                <a:latin typeface="Arial" pitchFamily="34" charset="0"/>
                <a:ea typeface="Arial" pitchFamily="34" charset="-122"/>
                <a:cs typeface="Arial" pitchFamily="34" charset="-120"/>
              </a:defRPr>
            </a:lvl1pPr>
          </a:lstStyle>
          <a:p>
            <a:pPr algn="l" indent="0" marL="0">
              <a:buNone/>
            </a:pPr>
            <a:endParaRPr lang="en-US" sz="3200" dirty="0"/>
          </a:p>
        </p:txBody>
      </p:sp>
      <p:pic>
        <p:nvPicPr>
          <p:cNvPr id="3" name="Image 0" descr="assets/logo_mark.png">    </p:cNvPr>
          <p:cNvPicPr>
            <a:picLocks noChangeAspect="1"/>
          </p:cNvPicPr>
          <p:nvPr/>
        </p:nvPicPr>
        <p:blipFill>
          <a:blip r:embed="rId1"/>
          <a:stretch>
            <a:fillRect/>
          </a:stretch>
        </p:blipFill>
        <p:spPr>
          <a:xfrm>
            <a:off x="548640" y="6355080"/>
            <a:ext cx="274320" cy="274320"/>
          </a:xfrm>
          <a:prstGeom prst="rect">
            <a:avLst/>
          </a:prstGeom>
        </p:spPr>
      </p:pic>
      <p:sp>
        <p:nvSpPr>
          <p:cNvPr id="4" name="Text 0"/>
          <p:cNvSpPr/>
          <p:nvPr/>
        </p:nvSpPr>
        <p:spPr>
          <a:xfrm>
            <a:off x="914400" y="6355080"/>
            <a:ext cx="4572000" cy="274320"/>
          </a:xfrm>
          <a:prstGeom prst="rect">
            <a:avLst/>
          </a:prstGeom>
          <a:noFill/>
          <a:ln/>
        </p:spPr>
        <p:txBody>
          <a:bodyPr wrap="square" lIns="0" tIns="0" rIns="0" bIns="0" rtlCol="0" anchor="ctr"/>
          <a:lstStyle/>
          <a:p>
            <a:pPr indent="0" marL="0">
              <a:buNone/>
            </a:pPr>
            <a:r>
              <a:rPr lang="en-US" sz="1000" dirty="0">
                <a:solidFill>
                  <a:srgbClr val="5B5677"/>
                </a:solidFill>
                <a:latin typeface="Calibri" pitchFamily="34" charset="0"/>
                <a:ea typeface="Calibri" pitchFamily="34" charset="-122"/>
                <a:cs typeface="Calibri" pitchFamily="34" charset="-120"/>
              </a:rPr>
              <a:t>Vibe Coding — Materi Lengkap</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5677"/>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914400" y="2377440"/>
            <a:ext cx="10360152" cy="1188720"/>
          </a:xfrm>
          <a:prstGeom prst="rect">
            <a:avLst/>
          </a:prstGeom>
          <a:noFill/>
          <a:ln/>
        </p:spPr>
        <p:txBody>
          <a:bodyPr wrap="square" rtlCol="0"/>
          <a:lstStyle>
            <a:lvl1pPr algn="ctr" indent="0" marL="0">
              <a:buNone/>
              <a:defRPr lang="en-US" sz="6000" b="1" dirty="0">
                <a:solidFill>
                  <a:schemeClr val="bg1"/>
                </a:solidFill>
                <a:latin typeface="Arial" pitchFamily="34" charset="0"/>
                <a:ea typeface="Arial" pitchFamily="34" charset="-122"/>
                <a:cs typeface="Arial" pitchFamily="34" charset="-120"/>
              </a:defRPr>
            </a:lvl1pPr>
          </a:lstStyle>
          <a:p>
            <a:pPr algn="ctr" indent="0" marL="0">
              <a:buNone/>
            </a:pPr>
            <a:endParaRPr lang="en-US" sz="6000" dirty="0"/>
          </a:p>
        </p:txBody>
      </p:sp>
      <p:sp>
        <p:nvSpPr>
          <p:cNvPr id="3" name="Text 0"/>
          <p:cNvSpPr/>
          <p:nvPr>
            <p:ph idx="101" type="body" hasCustomPrompt="1"/>
          </p:nvPr>
        </p:nvSpPr>
        <p:spPr>
          <a:xfrm>
            <a:off x="1371600" y="3611880"/>
            <a:ext cx="9445752" cy="731520"/>
          </a:xfrm>
          <a:prstGeom prst="rect">
            <a:avLst/>
          </a:prstGeom>
          <a:noFill/>
          <a:ln/>
        </p:spPr>
        <p:txBody>
          <a:bodyPr wrap="square" rtlCol="0"/>
          <a:lstStyle>
            <a:lvl1pPr algn="ctr" indent="0" marL="0">
              <a:buNone/>
              <a:defRPr lang="en-US" sz="2200" dirty="0">
                <a:solidFill>
                  <a:srgbClr val="D8CCFF"/>
                </a:solidFill>
                <a:latin typeface="Calibri" pitchFamily="34" charset="0"/>
                <a:ea typeface="Calibri" pitchFamily="34" charset="-122"/>
                <a:cs typeface="Calibri" pitchFamily="34" charset="-120"/>
              </a:defRPr>
            </a:lvl1pPr>
          </a:lstStyle>
          <a:p>
            <a:pPr algn="ctr" indent="0" marL="0">
              <a:buNone/>
            </a:pPr>
            <a:endParaRPr lang="en-US" sz="2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5677"/>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4.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4.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4.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slideLayout" Target="../slideLayouts/slideLayout4.xml"/><Relationship Id="rId1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4.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4.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4.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slideLayout" Target="../slideLayouts/slideLayout4.xml"/><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4.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slideLayout" Target="../slideLayouts/slideLayout4.xml"/><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slideLayout" Target="../slideLayouts/slideLayout4.xml"/><Relationship Id="rId11"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4.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4.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5.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logo_full_light.png">    </p:cNvPr>
          <p:cNvPicPr>
            <a:picLocks noChangeAspect="1"/>
          </p:cNvPicPr>
          <p:nvPr/>
        </p:nvPicPr>
        <p:blipFill>
          <a:blip r:embed="rId1"/>
          <a:stretch>
            <a:fillRect/>
          </a:stretch>
        </p:blipFill>
        <p:spPr>
          <a:xfrm>
            <a:off x="548640" y="502920"/>
            <a:ext cx="3200400" cy="822960"/>
          </a:xfrm>
          <a:prstGeom prst="rect">
            <a:avLst/>
          </a:prstGeom>
        </p:spPr>
      </p:pic>
      <p:sp>
        <p:nvSpPr>
          <p:cNvPr id="3" name="Text 0"/>
          <p:cNvSpPr/>
          <p:nvPr>
            <p:ph idx="100" type="title" hasCustomPrompt="1"/>
          </p:nvPr>
        </p:nvSpPr>
        <p:spPr>
          <a:xfrm>
            <a:off x="548640" y="2148840"/>
            <a:ext cx="6035040" cy="1371600"/>
          </a:xfrm>
          <a:prstGeom prst="rect">
            <a:avLst/>
          </a:prstGeom>
          <a:noFill/>
          <a:ln/>
        </p:spPr>
        <p:txBody>
          <a:bodyPr wrap="square" lIns="0" tIns="0" rIns="0" bIns="0" rtlCol="0" anchor="b"/>
          <a:lstStyle/>
          <a:p>
            <a:pPr algn="l" indent="0" marL="0">
              <a:buNone/>
            </a:pPr>
            <a:r>
              <a:rPr lang="en-US" sz="5400" b="1" dirty="0">
                <a:solidFill>
                  <a:schemeClr val="bg1"/>
                </a:solidFill>
                <a:latin typeface="Arial" pitchFamily="34" charset="0"/>
                <a:ea typeface="Arial" pitchFamily="34" charset="-122"/>
                <a:cs typeface="Arial" pitchFamily="34" charset="-120"/>
              </a:rPr>
              <a:t>Vibe Coding</a:t>
            </a:r>
            <a:endParaRPr lang="en-US" sz="5400" dirty="0"/>
          </a:p>
        </p:txBody>
      </p:sp>
      <p:sp>
        <p:nvSpPr>
          <p:cNvPr id="4" name="Text 0"/>
          <p:cNvSpPr/>
          <p:nvPr>
            <p:ph idx="101" type="body" hasCustomPrompt="1"/>
          </p:nvPr>
        </p:nvSpPr>
        <p:spPr>
          <a:xfrm>
            <a:off x="548640" y="3657600"/>
            <a:ext cx="5669280" cy="1097280"/>
          </a:xfrm>
          <a:prstGeom prst="rect">
            <a:avLst/>
          </a:prstGeom>
          <a:noFill/>
          <a:ln/>
        </p:spPr>
        <p:txBody>
          <a:bodyPr wrap="square" lIns="0" tIns="0" rIns="0" bIns="0" rtlCol="0" anchor="t"/>
          <a:lstStyle/>
          <a:p>
            <a:pPr indent="0" marL="0">
              <a:buNone/>
            </a:pPr>
            <a:r>
              <a:rPr lang="en-US" sz="2000" dirty="0">
                <a:solidFill>
                  <a:srgbClr val="D8CCFF"/>
                </a:solidFill>
                <a:latin typeface="Calibri" pitchFamily="34" charset="0"/>
                <a:ea typeface="Calibri" pitchFamily="34" charset="-122"/>
                <a:cs typeface="Calibri" pitchFamily="34" charset="-120"/>
              </a:rPr>
              <a:t>Membangun software dengan bahasa sehari-hari dan AI — dari ide sampai aplikasi yang aman dirilis</a:t>
            </a:r>
            <a:endParaRPr lang="en-US" sz="2000" dirty="0"/>
          </a:p>
        </p:txBody>
      </p:sp>
      <p:pic>
        <p:nvPicPr>
          <p:cNvPr id="5" name="Image 1" descr="assets/ill_hero.png">    </p:cNvPr>
          <p:cNvPicPr>
            <a:picLocks noChangeAspect="1"/>
          </p:cNvPicPr>
          <p:nvPr/>
        </p:nvPicPr>
        <p:blipFill>
          <a:blip r:embed="rId2"/>
          <a:stretch>
            <a:fillRect/>
          </a:stretch>
        </p:blipFill>
        <p:spPr>
          <a:xfrm>
            <a:off x="6400800" y="1143000"/>
            <a:ext cx="5394960" cy="43159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Agenda</a:t>
            </a:r>
            <a:endParaRPr lang="en-US" sz="3200" dirty="0"/>
          </a:p>
        </p:txBody>
      </p:sp>
      <p:sp>
        <p:nvSpPr>
          <p:cNvPr id="3" name="card-1"/>
          <p:cNvSpPr/>
          <p:nvPr/>
        </p:nvSpPr>
        <p:spPr>
          <a:xfrm>
            <a:off x="548640" y="1463040"/>
            <a:ext cx="3520440" cy="2148840"/>
          </a:xfrm>
          <a:prstGeom prst="roundRect">
            <a:avLst>
              <a:gd name="adj" fmla="val 6383"/>
            </a:avLst>
          </a:prstGeom>
          <a:solidFill>
            <a:schemeClr val="bg2"/>
          </a:solidFill>
          <a:ln/>
        </p:spPr>
      </p:sp>
      <p:sp>
        <p:nvSpPr>
          <p:cNvPr id="4" name="iconbg-2"/>
          <p:cNvSpPr/>
          <p:nvPr/>
        </p:nvSpPr>
        <p:spPr>
          <a:xfrm>
            <a:off x="868680" y="1783080"/>
            <a:ext cx="685800" cy="685800"/>
          </a:xfrm>
          <a:prstGeom prst="ellipse">
            <a:avLst/>
          </a:prstGeom>
          <a:solidFill>
            <a:schemeClr val="accent1"/>
          </a:solidFill>
          <a:ln/>
        </p:spPr>
      </p:sp>
      <p:pic>
        <p:nvPicPr>
          <p:cNvPr id="5" name="icon-3" descr="preencoded.png">    </p:cNvPr>
          <p:cNvPicPr>
            <a:picLocks noChangeAspect="1"/>
          </p:cNvPicPr>
          <p:nvPr/>
        </p:nvPicPr>
        <p:blipFill>
          <a:blip r:embed="rId1"/>
          <a:stretch>
            <a:fillRect/>
          </a:stretch>
        </p:blipFill>
        <p:spPr>
          <a:xfrm>
            <a:off x="1033272" y="1947672"/>
            <a:ext cx="356616" cy="356616"/>
          </a:xfrm>
          <a:prstGeom prst="rect">
            <a:avLst/>
          </a:prstGeom>
        </p:spPr>
      </p:pic>
      <p:sp>
        <p:nvSpPr>
          <p:cNvPr id="6" name="txt-4"/>
          <p:cNvSpPr txBox="1"/>
          <p:nvPr/>
        </p:nvSpPr>
        <p:spPr>
          <a:xfrm>
            <a:off x="3017520" y="1737360"/>
            <a:ext cx="731520" cy="548640"/>
          </a:xfrm>
          <a:prstGeom prst="rect">
            <a:avLst/>
          </a:prstGeom>
          <a:noFill/>
          <a:ln/>
        </p:spPr>
        <p:txBody>
          <a:bodyPr wrap="square" lIns="0" tIns="0" rIns="0" bIns="0" rtlCol="0" anchor="t"/>
          <a:lstStyle/>
          <a:p>
            <a:pPr algn="r" indent="0" marL="0">
              <a:buNone/>
            </a:pPr>
            <a:r>
              <a:rPr lang="en-US" sz="2800" b="1" dirty="0">
                <a:solidFill>
                  <a:srgbClr val="C4B5FD"/>
                </a:solidFill>
                <a:latin typeface="Arial" pitchFamily="34" charset="0"/>
                <a:ea typeface="Arial" pitchFamily="34" charset="-122"/>
                <a:cs typeface="Arial" pitchFamily="34" charset="-120"/>
              </a:rPr>
              <a:t>01</a:t>
            </a:r>
            <a:endParaRPr lang="en-US" sz="2800" dirty="0"/>
          </a:p>
        </p:txBody>
      </p:sp>
      <p:sp>
        <p:nvSpPr>
          <p:cNvPr id="7" name="txt-5"/>
          <p:cNvSpPr txBox="1"/>
          <p:nvPr/>
        </p:nvSpPr>
        <p:spPr>
          <a:xfrm>
            <a:off x="868680" y="2606040"/>
            <a:ext cx="288036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Apa itu Vibe Coding?</a:t>
            </a:r>
            <a:endParaRPr lang="en-US" sz="2000" dirty="0"/>
          </a:p>
        </p:txBody>
      </p:sp>
      <p:sp>
        <p:nvSpPr>
          <p:cNvPr id="8" name="txt-6"/>
          <p:cNvSpPr txBox="1"/>
          <p:nvPr/>
        </p:nvSpPr>
        <p:spPr>
          <a:xfrm>
            <a:off x="868680" y="3017520"/>
            <a:ext cx="2880360" cy="411480"/>
          </a:xfrm>
          <a:prstGeom prst="rect">
            <a:avLst/>
          </a:prstGeom>
          <a:noFill/>
          <a:ln/>
        </p:spPr>
        <p:txBody>
          <a:bodyPr wrap="square" lIns="0" tIns="0" rIns="0" bIns="0" rtlCol="0" anchor="t"/>
          <a:lstStyle/>
          <a:p>
            <a:pPr indent="0" marL="0">
              <a:buNone/>
            </a:pPr>
            <a:r>
              <a:rPr lang="en-US" sz="1400" dirty="0">
                <a:solidFill>
                  <a:srgbClr val="5B5677"/>
                </a:solidFill>
              </a:rPr>
              <a:t>Asal-usul, definisi, dan posisinya</a:t>
            </a:r>
            <a:endParaRPr lang="en-US" sz="1400" dirty="0"/>
          </a:p>
        </p:txBody>
      </p:sp>
      <p:sp>
        <p:nvSpPr>
          <p:cNvPr id="9" name="card-7"/>
          <p:cNvSpPr/>
          <p:nvPr/>
        </p:nvSpPr>
        <p:spPr>
          <a:xfrm>
            <a:off x="4325112" y="1463040"/>
            <a:ext cx="3520440" cy="2148840"/>
          </a:xfrm>
          <a:prstGeom prst="roundRect">
            <a:avLst>
              <a:gd name="adj" fmla="val 6383"/>
            </a:avLst>
          </a:prstGeom>
          <a:solidFill>
            <a:schemeClr val="bg2"/>
          </a:solidFill>
          <a:ln/>
        </p:spPr>
      </p:sp>
      <p:sp>
        <p:nvSpPr>
          <p:cNvPr id="10" name="iconbg-8"/>
          <p:cNvSpPr/>
          <p:nvPr/>
        </p:nvSpPr>
        <p:spPr>
          <a:xfrm>
            <a:off x="4645152" y="1783080"/>
            <a:ext cx="685800" cy="685800"/>
          </a:xfrm>
          <a:prstGeom prst="ellipse">
            <a:avLst/>
          </a:prstGeom>
          <a:solidFill>
            <a:schemeClr val="accent2"/>
          </a:solidFill>
          <a:ln/>
        </p:spPr>
      </p:sp>
      <p:pic>
        <p:nvPicPr>
          <p:cNvPr id="11" name="icon-9" descr="preencoded.png">    </p:cNvPr>
          <p:cNvPicPr>
            <a:picLocks noChangeAspect="1"/>
          </p:cNvPicPr>
          <p:nvPr/>
        </p:nvPicPr>
        <p:blipFill>
          <a:blip r:embed="rId2"/>
          <a:stretch>
            <a:fillRect/>
          </a:stretch>
        </p:blipFill>
        <p:spPr>
          <a:xfrm>
            <a:off x="4809744" y="1947672"/>
            <a:ext cx="356616" cy="356616"/>
          </a:xfrm>
          <a:prstGeom prst="rect">
            <a:avLst/>
          </a:prstGeom>
        </p:spPr>
      </p:pic>
      <p:sp>
        <p:nvSpPr>
          <p:cNvPr id="12" name="txt-10"/>
          <p:cNvSpPr txBox="1"/>
          <p:nvPr/>
        </p:nvSpPr>
        <p:spPr>
          <a:xfrm>
            <a:off x="6793992" y="1737360"/>
            <a:ext cx="731520" cy="548640"/>
          </a:xfrm>
          <a:prstGeom prst="rect">
            <a:avLst/>
          </a:prstGeom>
          <a:noFill/>
          <a:ln/>
        </p:spPr>
        <p:txBody>
          <a:bodyPr wrap="square" lIns="0" tIns="0" rIns="0" bIns="0" rtlCol="0" anchor="t"/>
          <a:lstStyle/>
          <a:p>
            <a:pPr algn="r" indent="0" marL="0">
              <a:buNone/>
            </a:pPr>
            <a:r>
              <a:rPr lang="en-US" sz="2800" b="1" dirty="0">
                <a:solidFill>
                  <a:srgbClr val="C4B5FD"/>
                </a:solidFill>
                <a:latin typeface="Arial" pitchFamily="34" charset="0"/>
                <a:ea typeface="Arial" pitchFamily="34" charset="-122"/>
                <a:cs typeface="Arial" pitchFamily="34" charset="-120"/>
              </a:rPr>
              <a:t>02</a:t>
            </a:r>
            <a:endParaRPr lang="en-US" sz="2800" dirty="0"/>
          </a:p>
        </p:txBody>
      </p:sp>
      <p:sp>
        <p:nvSpPr>
          <p:cNvPr id="13" name="txt-11"/>
          <p:cNvSpPr txBox="1"/>
          <p:nvPr/>
        </p:nvSpPr>
        <p:spPr>
          <a:xfrm>
            <a:off x="4645152" y="2606040"/>
            <a:ext cx="288036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Cara Kerja</a:t>
            </a:r>
            <a:endParaRPr lang="en-US" sz="2000" dirty="0"/>
          </a:p>
        </p:txBody>
      </p:sp>
      <p:sp>
        <p:nvSpPr>
          <p:cNvPr id="14" name="txt-12"/>
          <p:cNvSpPr txBox="1"/>
          <p:nvPr/>
        </p:nvSpPr>
        <p:spPr>
          <a:xfrm>
            <a:off x="4645152" y="3017520"/>
            <a:ext cx="2880360" cy="411480"/>
          </a:xfrm>
          <a:prstGeom prst="rect">
            <a:avLst/>
          </a:prstGeom>
          <a:noFill/>
          <a:ln/>
        </p:spPr>
        <p:txBody>
          <a:bodyPr wrap="square" lIns="0" tIns="0" rIns="0" bIns="0" rtlCol="0" anchor="t"/>
          <a:lstStyle/>
          <a:p>
            <a:pPr indent="0" marL="0">
              <a:buNone/>
            </a:pPr>
            <a:r>
              <a:rPr lang="en-US" sz="1400" dirty="0">
                <a:solidFill>
                  <a:srgbClr val="5B5677"/>
                </a:solidFill>
              </a:rPr>
              <a:t>Siklus, peran baru, dan anatomi prompt</a:t>
            </a:r>
            <a:endParaRPr lang="en-US" sz="1400" dirty="0"/>
          </a:p>
        </p:txBody>
      </p:sp>
      <p:sp>
        <p:nvSpPr>
          <p:cNvPr id="15" name="card-13"/>
          <p:cNvSpPr/>
          <p:nvPr/>
        </p:nvSpPr>
        <p:spPr>
          <a:xfrm>
            <a:off x="8101584" y="1463040"/>
            <a:ext cx="3520440" cy="2148840"/>
          </a:xfrm>
          <a:prstGeom prst="roundRect">
            <a:avLst>
              <a:gd name="adj" fmla="val 6383"/>
            </a:avLst>
          </a:prstGeom>
          <a:solidFill>
            <a:schemeClr val="bg2"/>
          </a:solidFill>
          <a:ln/>
        </p:spPr>
      </p:sp>
      <p:sp>
        <p:nvSpPr>
          <p:cNvPr id="16" name="iconbg-14"/>
          <p:cNvSpPr/>
          <p:nvPr/>
        </p:nvSpPr>
        <p:spPr>
          <a:xfrm>
            <a:off x="8421624" y="1783080"/>
            <a:ext cx="685800" cy="685800"/>
          </a:xfrm>
          <a:prstGeom prst="ellipse">
            <a:avLst/>
          </a:prstGeom>
          <a:solidFill>
            <a:schemeClr val="accent3"/>
          </a:solidFill>
          <a:ln/>
        </p:spPr>
      </p:sp>
      <p:pic>
        <p:nvPicPr>
          <p:cNvPr id="17" name="icon-15" descr="preencoded.png">    </p:cNvPr>
          <p:cNvPicPr>
            <a:picLocks noChangeAspect="1"/>
          </p:cNvPicPr>
          <p:nvPr/>
        </p:nvPicPr>
        <p:blipFill>
          <a:blip r:embed="rId3"/>
          <a:stretch>
            <a:fillRect/>
          </a:stretch>
        </p:blipFill>
        <p:spPr>
          <a:xfrm>
            <a:off x="8586216" y="1947672"/>
            <a:ext cx="356616" cy="356616"/>
          </a:xfrm>
          <a:prstGeom prst="rect">
            <a:avLst/>
          </a:prstGeom>
        </p:spPr>
      </p:pic>
      <p:sp>
        <p:nvSpPr>
          <p:cNvPr id="18" name="txt-16"/>
          <p:cNvSpPr txBox="1"/>
          <p:nvPr/>
        </p:nvSpPr>
        <p:spPr>
          <a:xfrm>
            <a:off x="10570464" y="1737360"/>
            <a:ext cx="731520" cy="548640"/>
          </a:xfrm>
          <a:prstGeom prst="rect">
            <a:avLst/>
          </a:prstGeom>
          <a:noFill/>
          <a:ln/>
        </p:spPr>
        <p:txBody>
          <a:bodyPr wrap="square" lIns="0" tIns="0" rIns="0" bIns="0" rtlCol="0" anchor="t"/>
          <a:lstStyle/>
          <a:p>
            <a:pPr algn="r" indent="0" marL="0">
              <a:buNone/>
            </a:pPr>
            <a:r>
              <a:rPr lang="en-US" sz="2800" b="1" dirty="0">
                <a:solidFill>
                  <a:srgbClr val="C4B5FD"/>
                </a:solidFill>
                <a:latin typeface="Arial" pitchFamily="34" charset="0"/>
                <a:ea typeface="Arial" pitchFamily="34" charset="-122"/>
                <a:cs typeface="Arial" pitchFamily="34" charset="-120"/>
              </a:rPr>
              <a:t>03</a:t>
            </a:r>
            <a:endParaRPr lang="en-US" sz="2800" dirty="0"/>
          </a:p>
        </p:txBody>
      </p:sp>
      <p:sp>
        <p:nvSpPr>
          <p:cNvPr id="19" name="txt-17"/>
          <p:cNvSpPr txBox="1"/>
          <p:nvPr/>
        </p:nvSpPr>
        <p:spPr>
          <a:xfrm>
            <a:off x="8421624" y="2606040"/>
            <a:ext cx="288036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Ekosistem Tools</a:t>
            </a:r>
            <a:endParaRPr lang="en-US" sz="2000" dirty="0"/>
          </a:p>
        </p:txBody>
      </p:sp>
      <p:sp>
        <p:nvSpPr>
          <p:cNvPr id="20" name="txt-18"/>
          <p:cNvSpPr txBox="1"/>
          <p:nvPr/>
        </p:nvSpPr>
        <p:spPr>
          <a:xfrm>
            <a:off x="8421624" y="3017520"/>
            <a:ext cx="2880360" cy="411480"/>
          </a:xfrm>
          <a:prstGeom prst="rect">
            <a:avLst/>
          </a:prstGeom>
          <a:noFill/>
          <a:ln/>
        </p:spPr>
        <p:txBody>
          <a:bodyPr wrap="square" lIns="0" tIns="0" rIns="0" bIns="0" rtlCol="0" anchor="t"/>
          <a:lstStyle/>
          <a:p>
            <a:pPr indent="0" marL="0">
              <a:buNone/>
            </a:pPr>
            <a:r>
              <a:rPr lang="en-US" sz="1400" dirty="0">
                <a:solidFill>
                  <a:srgbClr val="5B5677"/>
                </a:solidFill>
              </a:rPr>
              <a:t>Kategori tools dan cara memilih</a:t>
            </a:r>
            <a:endParaRPr lang="en-US" sz="1400" dirty="0"/>
          </a:p>
        </p:txBody>
      </p:sp>
      <p:sp>
        <p:nvSpPr>
          <p:cNvPr id="21" name="card-19"/>
          <p:cNvSpPr/>
          <p:nvPr/>
        </p:nvSpPr>
        <p:spPr>
          <a:xfrm>
            <a:off x="548640" y="3931920"/>
            <a:ext cx="3520440" cy="2148840"/>
          </a:xfrm>
          <a:prstGeom prst="roundRect">
            <a:avLst>
              <a:gd name="adj" fmla="val 6383"/>
            </a:avLst>
          </a:prstGeom>
          <a:solidFill>
            <a:schemeClr val="bg2"/>
          </a:solidFill>
          <a:ln/>
        </p:spPr>
      </p:sp>
      <p:sp>
        <p:nvSpPr>
          <p:cNvPr id="22" name="iconbg-20"/>
          <p:cNvSpPr/>
          <p:nvPr/>
        </p:nvSpPr>
        <p:spPr>
          <a:xfrm>
            <a:off x="868680" y="4251960"/>
            <a:ext cx="685800" cy="685800"/>
          </a:xfrm>
          <a:prstGeom prst="ellipse">
            <a:avLst/>
          </a:prstGeom>
          <a:solidFill>
            <a:schemeClr val="accent4"/>
          </a:solidFill>
          <a:ln/>
        </p:spPr>
      </p:sp>
      <p:pic>
        <p:nvPicPr>
          <p:cNvPr id="23" name="icon-21" descr="preencoded.png">    </p:cNvPr>
          <p:cNvPicPr>
            <a:picLocks noChangeAspect="1"/>
          </p:cNvPicPr>
          <p:nvPr/>
        </p:nvPicPr>
        <p:blipFill>
          <a:blip r:embed="rId4"/>
          <a:stretch>
            <a:fillRect/>
          </a:stretch>
        </p:blipFill>
        <p:spPr>
          <a:xfrm>
            <a:off x="1033272" y="4416552"/>
            <a:ext cx="356616" cy="356616"/>
          </a:xfrm>
          <a:prstGeom prst="rect">
            <a:avLst/>
          </a:prstGeom>
        </p:spPr>
      </p:pic>
      <p:sp>
        <p:nvSpPr>
          <p:cNvPr id="24" name="txt-22"/>
          <p:cNvSpPr txBox="1"/>
          <p:nvPr/>
        </p:nvSpPr>
        <p:spPr>
          <a:xfrm>
            <a:off x="3017520" y="4206240"/>
            <a:ext cx="731520" cy="548640"/>
          </a:xfrm>
          <a:prstGeom prst="rect">
            <a:avLst/>
          </a:prstGeom>
          <a:noFill/>
          <a:ln/>
        </p:spPr>
        <p:txBody>
          <a:bodyPr wrap="square" lIns="0" tIns="0" rIns="0" bIns="0" rtlCol="0" anchor="t"/>
          <a:lstStyle/>
          <a:p>
            <a:pPr algn="r" indent="0" marL="0">
              <a:buNone/>
            </a:pPr>
            <a:r>
              <a:rPr lang="en-US" sz="2800" b="1" dirty="0">
                <a:solidFill>
                  <a:srgbClr val="C4B5FD"/>
                </a:solidFill>
                <a:latin typeface="Arial" pitchFamily="34" charset="0"/>
                <a:ea typeface="Arial" pitchFamily="34" charset="-122"/>
                <a:cs typeface="Arial" pitchFamily="34" charset="-120"/>
              </a:rPr>
              <a:t>04</a:t>
            </a:r>
            <a:endParaRPr lang="en-US" sz="2800" dirty="0"/>
          </a:p>
        </p:txBody>
      </p:sp>
      <p:sp>
        <p:nvSpPr>
          <p:cNvPr id="25" name="txt-23"/>
          <p:cNvSpPr txBox="1"/>
          <p:nvPr/>
        </p:nvSpPr>
        <p:spPr>
          <a:xfrm>
            <a:off x="868680" y="5074920"/>
            <a:ext cx="288036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Praktik &amp; Workflow</a:t>
            </a:r>
            <a:endParaRPr lang="en-US" sz="2000" dirty="0"/>
          </a:p>
        </p:txBody>
      </p:sp>
      <p:sp>
        <p:nvSpPr>
          <p:cNvPr id="26" name="txt-24"/>
          <p:cNvSpPr txBox="1"/>
          <p:nvPr/>
        </p:nvSpPr>
        <p:spPr>
          <a:xfrm>
            <a:off x="868680" y="5486400"/>
            <a:ext cx="2880360" cy="411480"/>
          </a:xfrm>
          <a:prstGeom prst="rect">
            <a:avLst/>
          </a:prstGeom>
          <a:noFill/>
          <a:ln/>
        </p:spPr>
        <p:txBody>
          <a:bodyPr wrap="square" lIns="0" tIns="0" rIns="0" bIns="0" rtlCol="0" anchor="t"/>
          <a:lstStyle/>
          <a:p>
            <a:pPr indent="0" marL="0">
              <a:buNone/>
            </a:pPr>
            <a:r>
              <a:rPr lang="en-US" sz="1400" dirty="0">
                <a:solidFill>
                  <a:srgbClr val="5B5677"/>
                </a:solidFill>
              </a:rPr>
              <a:t>Langkah kerja, studi kasus, tips</a:t>
            </a:r>
            <a:endParaRPr lang="en-US" sz="1400" dirty="0"/>
          </a:p>
        </p:txBody>
      </p:sp>
      <p:sp>
        <p:nvSpPr>
          <p:cNvPr id="27" name="card-25"/>
          <p:cNvSpPr/>
          <p:nvPr/>
        </p:nvSpPr>
        <p:spPr>
          <a:xfrm>
            <a:off x="4325112" y="3931920"/>
            <a:ext cx="3520440" cy="2148840"/>
          </a:xfrm>
          <a:prstGeom prst="roundRect">
            <a:avLst>
              <a:gd name="adj" fmla="val 6383"/>
            </a:avLst>
          </a:prstGeom>
          <a:solidFill>
            <a:schemeClr val="bg2"/>
          </a:solidFill>
          <a:ln/>
        </p:spPr>
      </p:sp>
      <p:sp>
        <p:nvSpPr>
          <p:cNvPr id="28" name="iconbg-26"/>
          <p:cNvSpPr/>
          <p:nvPr/>
        </p:nvSpPr>
        <p:spPr>
          <a:xfrm>
            <a:off x="4645152" y="4251960"/>
            <a:ext cx="685800" cy="685800"/>
          </a:xfrm>
          <a:prstGeom prst="ellipse">
            <a:avLst/>
          </a:prstGeom>
          <a:solidFill>
            <a:schemeClr val="accent6"/>
          </a:solidFill>
          <a:ln/>
        </p:spPr>
      </p:sp>
      <p:pic>
        <p:nvPicPr>
          <p:cNvPr id="29" name="icon-27" descr="preencoded.png">    </p:cNvPr>
          <p:cNvPicPr>
            <a:picLocks noChangeAspect="1"/>
          </p:cNvPicPr>
          <p:nvPr/>
        </p:nvPicPr>
        <p:blipFill>
          <a:blip r:embed="rId5"/>
          <a:stretch>
            <a:fillRect/>
          </a:stretch>
        </p:blipFill>
        <p:spPr>
          <a:xfrm>
            <a:off x="4809744" y="4416552"/>
            <a:ext cx="356616" cy="356616"/>
          </a:xfrm>
          <a:prstGeom prst="rect">
            <a:avLst/>
          </a:prstGeom>
        </p:spPr>
      </p:pic>
      <p:sp>
        <p:nvSpPr>
          <p:cNvPr id="30" name="txt-28"/>
          <p:cNvSpPr txBox="1"/>
          <p:nvPr/>
        </p:nvSpPr>
        <p:spPr>
          <a:xfrm>
            <a:off x="6793992" y="4206240"/>
            <a:ext cx="731520" cy="548640"/>
          </a:xfrm>
          <a:prstGeom prst="rect">
            <a:avLst/>
          </a:prstGeom>
          <a:noFill/>
          <a:ln/>
        </p:spPr>
        <p:txBody>
          <a:bodyPr wrap="square" lIns="0" tIns="0" rIns="0" bIns="0" rtlCol="0" anchor="t"/>
          <a:lstStyle/>
          <a:p>
            <a:pPr algn="r" indent="0" marL="0">
              <a:buNone/>
            </a:pPr>
            <a:r>
              <a:rPr lang="en-US" sz="2800" b="1" dirty="0">
                <a:solidFill>
                  <a:srgbClr val="C4B5FD"/>
                </a:solidFill>
                <a:latin typeface="Arial" pitchFamily="34" charset="0"/>
                <a:ea typeface="Arial" pitchFamily="34" charset="-122"/>
                <a:cs typeface="Arial" pitchFamily="34" charset="-120"/>
              </a:rPr>
              <a:t>05</a:t>
            </a:r>
            <a:endParaRPr lang="en-US" sz="2800" dirty="0"/>
          </a:p>
        </p:txBody>
      </p:sp>
      <p:sp>
        <p:nvSpPr>
          <p:cNvPr id="31" name="txt-29"/>
          <p:cNvSpPr txBox="1"/>
          <p:nvPr/>
        </p:nvSpPr>
        <p:spPr>
          <a:xfrm>
            <a:off x="4645152" y="5074920"/>
            <a:ext cx="288036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Risiko &amp; Keamanan</a:t>
            </a:r>
            <a:endParaRPr lang="en-US" sz="2000" dirty="0"/>
          </a:p>
        </p:txBody>
      </p:sp>
      <p:sp>
        <p:nvSpPr>
          <p:cNvPr id="32" name="txt-30"/>
          <p:cNvSpPr txBox="1"/>
          <p:nvPr/>
        </p:nvSpPr>
        <p:spPr>
          <a:xfrm>
            <a:off x="4645152" y="5486400"/>
            <a:ext cx="2880360" cy="411480"/>
          </a:xfrm>
          <a:prstGeom prst="rect">
            <a:avLst/>
          </a:prstGeom>
          <a:noFill/>
          <a:ln/>
        </p:spPr>
        <p:txBody>
          <a:bodyPr wrap="square" lIns="0" tIns="0" rIns="0" bIns="0" rtlCol="0" anchor="t"/>
          <a:lstStyle/>
          <a:p>
            <a:pPr indent="0" marL="0">
              <a:buNone/>
            </a:pPr>
            <a:r>
              <a:rPr lang="en-US" sz="1400" dirty="0">
                <a:solidFill>
                  <a:srgbClr val="5B5677"/>
                </a:solidFill>
              </a:rPr>
              <a:t>Data riset dan checklist rilis</a:t>
            </a:r>
            <a:endParaRPr lang="en-US" sz="1400" dirty="0"/>
          </a:p>
        </p:txBody>
      </p:sp>
      <p:sp>
        <p:nvSpPr>
          <p:cNvPr id="33" name="card-31"/>
          <p:cNvSpPr/>
          <p:nvPr/>
        </p:nvSpPr>
        <p:spPr>
          <a:xfrm>
            <a:off x="8101584" y="3931920"/>
            <a:ext cx="3520440" cy="2148840"/>
          </a:xfrm>
          <a:prstGeom prst="roundRect">
            <a:avLst>
              <a:gd name="adj" fmla="val 6383"/>
            </a:avLst>
          </a:prstGeom>
          <a:solidFill>
            <a:schemeClr val="bg2"/>
          </a:solidFill>
          <a:ln/>
        </p:spPr>
      </p:sp>
      <p:sp>
        <p:nvSpPr>
          <p:cNvPr id="34" name="iconbg-32"/>
          <p:cNvSpPr/>
          <p:nvPr/>
        </p:nvSpPr>
        <p:spPr>
          <a:xfrm>
            <a:off x="8421624" y="4251960"/>
            <a:ext cx="685800" cy="685800"/>
          </a:xfrm>
          <a:prstGeom prst="ellipse">
            <a:avLst/>
          </a:prstGeom>
          <a:solidFill>
            <a:schemeClr val="accent5"/>
          </a:solidFill>
          <a:ln/>
        </p:spPr>
      </p:sp>
      <p:pic>
        <p:nvPicPr>
          <p:cNvPr id="35" name="icon-33" descr="preencoded.png">    </p:cNvPr>
          <p:cNvPicPr>
            <a:picLocks noChangeAspect="1"/>
          </p:cNvPicPr>
          <p:nvPr/>
        </p:nvPicPr>
        <p:blipFill>
          <a:blip r:embed="rId6"/>
          <a:stretch>
            <a:fillRect/>
          </a:stretch>
        </p:blipFill>
        <p:spPr>
          <a:xfrm>
            <a:off x="8586216" y="4416552"/>
            <a:ext cx="356616" cy="356616"/>
          </a:xfrm>
          <a:prstGeom prst="rect">
            <a:avLst/>
          </a:prstGeom>
        </p:spPr>
      </p:pic>
      <p:sp>
        <p:nvSpPr>
          <p:cNvPr id="36" name="txt-34"/>
          <p:cNvSpPr txBox="1"/>
          <p:nvPr/>
        </p:nvSpPr>
        <p:spPr>
          <a:xfrm>
            <a:off x="10570464" y="4206240"/>
            <a:ext cx="731520" cy="548640"/>
          </a:xfrm>
          <a:prstGeom prst="rect">
            <a:avLst/>
          </a:prstGeom>
          <a:noFill/>
          <a:ln/>
        </p:spPr>
        <p:txBody>
          <a:bodyPr wrap="square" lIns="0" tIns="0" rIns="0" bIns="0" rtlCol="0" anchor="t"/>
          <a:lstStyle/>
          <a:p>
            <a:pPr algn="r" indent="0" marL="0">
              <a:buNone/>
            </a:pPr>
            <a:r>
              <a:rPr lang="en-US" sz="2800" b="1" dirty="0">
                <a:solidFill>
                  <a:srgbClr val="C4B5FD"/>
                </a:solidFill>
                <a:latin typeface="Arial" pitchFamily="34" charset="0"/>
                <a:ea typeface="Arial" pitchFamily="34" charset="-122"/>
                <a:cs typeface="Arial" pitchFamily="34" charset="-120"/>
              </a:rPr>
              <a:t>06</a:t>
            </a:r>
            <a:endParaRPr lang="en-US" sz="2800" dirty="0"/>
          </a:p>
        </p:txBody>
      </p:sp>
      <p:sp>
        <p:nvSpPr>
          <p:cNvPr id="37" name="txt-35"/>
          <p:cNvSpPr txBox="1"/>
          <p:nvPr/>
        </p:nvSpPr>
        <p:spPr>
          <a:xfrm>
            <a:off x="8421624" y="5074920"/>
            <a:ext cx="288036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Masa Depan &amp; Latihan</a:t>
            </a:r>
            <a:endParaRPr lang="en-US" sz="2000" dirty="0"/>
          </a:p>
        </p:txBody>
      </p:sp>
      <p:sp>
        <p:nvSpPr>
          <p:cNvPr id="38" name="txt-36"/>
          <p:cNvSpPr txBox="1"/>
          <p:nvPr/>
        </p:nvSpPr>
        <p:spPr>
          <a:xfrm>
            <a:off x="8421624" y="5486400"/>
            <a:ext cx="2880360" cy="411480"/>
          </a:xfrm>
          <a:prstGeom prst="rect">
            <a:avLst/>
          </a:prstGeom>
          <a:noFill/>
          <a:ln/>
        </p:spPr>
        <p:txBody>
          <a:bodyPr wrap="square" lIns="0" tIns="0" rIns="0" bIns="0" rtlCol="0" anchor="t"/>
          <a:lstStyle/>
          <a:p>
            <a:pPr indent="0" marL="0">
              <a:buNone/>
            </a:pPr>
            <a:r>
              <a:rPr lang="en-US" sz="1400" dirty="0">
                <a:solidFill>
                  <a:srgbClr val="5B5677"/>
                </a:solidFill>
              </a:rPr>
              <a:t>Agentic engineering dan praktik langsung</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5677"/>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xt-37"/>
          <p:cNvSpPr txBox="1"/>
          <p:nvPr/>
        </p:nvSpPr>
        <p:spPr>
          <a:xfrm>
            <a:off x="822960" y="1463040"/>
            <a:ext cx="2743200" cy="1097280"/>
          </a:xfrm>
          <a:prstGeom prst="rect">
            <a:avLst/>
          </a:prstGeom>
          <a:noFill/>
          <a:ln/>
        </p:spPr>
        <p:txBody>
          <a:bodyPr wrap="square" lIns="0" tIns="0" rIns="0" bIns="0" rtlCol="0" anchor="b"/>
          <a:lstStyle/>
          <a:p>
            <a:pPr indent="0" marL="0">
              <a:buNone/>
            </a:pPr>
            <a:r>
              <a:rPr lang="en-US" sz="8000" b="1" dirty="0">
                <a:solidFill>
                  <a:srgbClr val="A78BFA"/>
                </a:solidFill>
                <a:latin typeface="Arial" pitchFamily="34" charset="0"/>
                <a:ea typeface="Arial" pitchFamily="34" charset="-122"/>
                <a:cs typeface="Arial" pitchFamily="34" charset="-120"/>
              </a:rPr>
              <a:t>01</a:t>
            </a:r>
            <a:endParaRPr lang="en-US" sz="8000" dirty="0"/>
          </a:p>
        </p:txBody>
      </p:sp>
      <p:sp>
        <p:nvSpPr>
          <p:cNvPr id="3" name="Text 0"/>
          <p:cNvSpPr/>
          <p:nvPr>
            <p:ph idx="100" type="title" hasCustomPrompt="1"/>
          </p:nvPr>
        </p:nvSpPr>
        <p:spPr>
          <a:xfrm>
            <a:off x="822960" y="2651760"/>
            <a:ext cx="7498080" cy="1280160"/>
          </a:xfrm>
          <a:prstGeom prst="rect">
            <a:avLst/>
          </a:prstGeom>
          <a:noFill/>
          <a:ln/>
        </p:spPr>
        <p:txBody>
          <a:bodyPr wrap="square" lIns="0" tIns="0" rIns="0" bIns="0" rtlCol="0" anchor="t"/>
          <a:lstStyle/>
          <a:p>
            <a:pPr algn="l" indent="0" marL="0">
              <a:buNone/>
            </a:pPr>
            <a:r>
              <a:rPr lang="en-US" sz="4400" b="1" dirty="0">
                <a:solidFill>
                  <a:schemeClr val="bg1"/>
                </a:solidFill>
                <a:latin typeface="Arial" pitchFamily="34" charset="0"/>
                <a:ea typeface="Arial" pitchFamily="34" charset="-122"/>
                <a:cs typeface="Arial" pitchFamily="34" charset="-120"/>
              </a:rPr>
              <a:t>Apa itu Vibe Coding?</a:t>
            </a:r>
            <a:endParaRPr lang="en-US" sz="4400" dirty="0"/>
          </a:p>
        </p:txBody>
      </p:sp>
      <p:sp>
        <p:nvSpPr>
          <p:cNvPr id="4" name="Text 0"/>
          <p:cNvSpPr/>
          <p:nvPr>
            <p:ph idx="101" type="body" hasCustomPrompt="1"/>
          </p:nvPr>
        </p:nvSpPr>
        <p:spPr>
          <a:xfrm>
            <a:off x="822960" y="3977640"/>
            <a:ext cx="6949440" cy="914400"/>
          </a:xfrm>
          <a:prstGeom prst="rect">
            <a:avLst/>
          </a:prstGeom>
          <a:noFill/>
          <a:ln/>
        </p:spPr>
        <p:txBody>
          <a:bodyPr wrap="square" lIns="0" tIns="0" rIns="0" bIns="0" rtlCol="0" anchor="t"/>
          <a:lstStyle/>
          <a:p>
            <a:pPr indent="0" marL="0">
              <a:buNone/>
            </a:pPr>
            <a:r>
              <a:rPr lang="en-US" sz="1800" dirty="0">
                <a:solidFill>
                  <a:srgbClr val="D8CCFF"/>
                </a:solidFill>
                <a:latin typeface="Calibri" pitchFamily="34" charset="0"/>
                <a:ea typeface="Calibri" pitchFamily="34" charset="-122"/>
                <a:cs typeface="Calibri" pitchFamily="34" charset="-120"/>
              </a:rPr>
              <a:t>Asal-usul istilah, definisi, dan posisinya dalam spektrum pengembangan software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Definisi: Anda mendeskripsikan, AI menulis kode</a:t>
            </a:r>
            <a:endParaRPr lang="en-US" sz="3200" dirty="0"/>
          </a:p>
        </p:txBody>
      </p:sp>
      <p:sp>
        <p:nvSpPr>
          <p:cNvPr id="3" name="card-38"/>
          <p:cNvSpPr/>
          <p:nvPr/>
        </p:nvSpPr>
        <p:spPr>
          <a:xfrm>
            <a:off x="548640" y="1463040"/>
            <a:ext cx="5760720" cy="4572000"/>
          </a:xfrm>
          <a:prstGeom prst="roundRect">
            <a:avLst>
              <a:gd name="adj" fmla="val 3000"/>
            </a:avLst>
          </a:prstGeom>
          <a:solidFill>
            <a:schemeClr val="tx2"/>
          </a:solidFill>
          <a:ln/>
        </p:spPr>
      </p:sp>
      <p:sp>
        <p:nvSpPr>
          <p:cNvPr id="4" name="txt-39"/>
          <p:cNvSpPr txBox="1"/>
          <p:nvPr/>
        </p:nvSpPr>
        <p:spPr>
          <a:xfrm>
            <a:off x="914400" y="1783080"/>
            <a:ext cx="5029200" cy="320040"/>
          </a:xfrm>
          <a:prstGeom prst="rect">
            <a:avLst/>
          </a:prstGeom>
          <a:noFill/>
          <a:ln/>
        </p:spPr>
        <p:txBody>
          <a:bodyPr wrap="square" lIns="0" tIns="0" rIns="0" bIns="0" rtlCol="0" anchor="t"/>
          <a:lstStyle/>
          <a:p>
            <a:pPr indent="0" marL="0">
              <a:buNone/>
            </a:pPr>
            <a:r>
              <a:rPr lang="en-US" sz="1400" b="1" spc="400" kern="0" dirty="0">
                <a:solidFill>
                  <a:srgbClr val="A78BFA"/>
                </a:solidFill>
              </a:rPr>
              <a:t>VIBE CODING</a:t>
            </a:r>
            <a:endParaRPr lang="en-US" sz="1400" dirty="0"/>
          </a:p>
        </p:txBody>
      </p:sp>
      <p:sp>
        <p:nvSpPr>
          <p:cNvPr id="5" name="txt-40"/>
          <p:cNvSpPr txBox="1"/>
          <p:nvPr/>
        </p:nvSpPr>
        <p:spPr>
          <a:xfrm>
            <a:off x="914400" y="2194560"/>
            <a:ext cx="5029200" cy="1737360"/>
          </a:xfrm>
          <a:prstGeom prst="rect">
            <a:avLst/>
          </a:prstGeom>
          <a:noFill/>
          <a:ln/>
        </p:spPr>
        <p:txBody>
          <a:bodyPr wrap="square" lIns="0" tIns="0" rIns="0" bIns="0" rtlCol="0" anchor="t"/>
          <a:lstStyle/>
          <a:p>
            <a:pPr indent="0" marL="0">
              <a:buNone/>
            </a:pPr>
            <a:r>
              <a:rPr lang="en-US" sz="2100" b="1" dirty="0">
                <a:solidFill>
                  <a:schemeClr val="bg1"/>
                </a:solidFill>
                <a:latin typeface="Arial" pitchFamily="34" charset="0"/>
                <a:ea typeface="Arial" pitchFamily="34" charset="-122"/>
                <a:cs typeface="Arial" pitchFamily="34" charset="-120"/>
              </a:rPr>
              <a:t>Membangun software dengan mendeskripsikan keinginan kepada AI dalam bahasa sehari-hari. AI menulis kodenya — Anda mengarahkan dan menilai hasilnya.</a:t>
            </a:r>
            <a:endParaRPr lang="en-US" sz="2100" dirty="0"/>
          </a:p>
        </p:txBody>
      </p:sp>
      <p:sp>
        <p:nvSpPr>
          <p:cNvPr id="6" name="Shape 4"/>
          <p:cNvSpPr/>
          <p:nvPr/>
        </p:nvSpPr>
        <p:spPr>
          <a:xfrm>
            <a:off x="914400" y="4160520"/>
            <a:ext cx="5029200" cy="1554480"/>
          </a:xfrm>
          <a:prstGeom prst="roundRect">
            <a:avLst>
              <a:gd name="adj" fmla="val 7059"/>
            </a:avLst>
          </a:prstGeom>
          <a:solidFill>
            <a:srgbClr val="FFFFFF">
              <a:alpha val="10000"/>
            </a:srgbClr>
          </a:solidFill>
          <a:ln/>
        </p:spPr>
      </p:sp>
      <p:sp>
        <p:nvSpPr>
          <p:cNvPr id="7" name="txt-41"/>
          <p:cNvSpPr txBox="1"/>
          <p:nvPr/>
        </p:nvSpPr>
        <p:spPr>
          <a:xfrm>
            <a:off x="1143000" y="4297680"/>
            <a:ext cx="4572000" cy="868680"/>
          </a:xfrm>
          <a:prstGeom prst="rect">
            <a:avLst/>
          </a:prstGeom>
          <a:noFill/>
          <a:ln/>
        </p:spPr>
        <p:txBody>
          <a:bodyPr wrap="square" lIns="0" tIns="0" rIns="0" bIns="0" rtlCol="0" anchor="t"/>
          <a:lstStyle/>
          <a:p>
            <a:pPr indent="0" marL="0">
              <a:buNone/>
            </a:pPr>
            <a:r>
              <a:rPr lang="en-US" sz="1500" i="1" dirty="0">
                <a:solidFill>
                  <a:srgbClr val="E9E5FF"/>
                </a:solidFill>
              </a:rPr>
              <a:t>“…fully give in to the vibes, embrace exponentials, and forget that the code even exists.”</a:t>
            </a:r>
            <a:endParaRPr lang="en-US" sz="1500" dirty="0"/>
          </a:p>
        </p:txBody>
      </p:sp>
      <p:sp>
        <p:nvSpPr>
          <p:cNvPr id="8" name="txt-42"/>
          <p:cNvSpPr txBox="1"/>
          <p:nvPr/>
        </p:nvSpPr>
        <p:spPr>
          <a:xfrm>
            <a:off x="1143000" y="5212080"/>
            <a:ext cx="4572000" cy="365760"/>
          </a:xfrm>
          <a:prstGeom prst="rect">
            <a:avLst/>
          </a:prstGeom>
          <a:noFill/>
          <a:ln/>
        </p:spPr>
        <p:txBody>
          <a:bodyPr wrap="square" lIns="0" tIns="0" rIns="0" bIns="0" rtlCol="0" anchor="t"/>
          <a:lstStyle/>
          <a:p>
            <a:pPr indent="0" marL="0">
              <a:buNone/>
            </a:pPr>
            <a:r>
              <a:rPr lang="en-US" sz="1200" dirty="0">
                <a:solidFill>
                  <a:srgbClr val="A78BFA"/>
                </a:solidFill>
              </a:rPr>
              <a:t>— Andrej Karpathy, unggahan di X, 2 Februari 2025</a:t>
            </a:r>
            <a:endParaRPr lang="en-US" sz="1200" dirty="0"/>
          </a:p>
        </p:txBody>
      </p:sp>
      <p:sp>
        <p:nvSpPr>
          <p:cNvPr id="9" name="iconbg-43"/>
          <p:cNvSpPr/>
          <p:nvPr/>
        </p:nvSpPr>
        <p:spPr>
          <a:xfrm>
            <a:off x="6675120" y="1554480"/>
            <a:ext cx="731520" cy="731520"/>
          </a:xfrm>
          <a:prstGeom prst="ellipse">
            <a:avLst/>
          </a:prstGeom>
          <a:solidFill>
            <a:schemeClr val="accent1"/>
          </a:solidFill>
          <a:ln/>
        </p:spPr>
      </p:sp>
      <p:pic>
        <p:nvPicPr>
          <p:cNvPr id="10" name="icon-44" descr="preencoded.png">    </p:cNvPr>
          <p:cNvPicPr>
            <a:picLocks noChangeAspect="1"/>
          </p:cNvPicPr>
          <p:nvPr/>
        </p:nvPicPr>
        <p:blipFill>
          <a:blip r:embed="rId1"/>
          <a:stretch>
            <a:fillRect/>
          </a:stretch>
        </p:blipFill>
        <p:spPr>
          <a:xfrm>
            <a:off x="6850685" y="1730045"/>
            <a:ext cx="380390" cy="380390"/>
          </a:xfrm>
          <a:prstGeom prst="rect">
            <a:avLst/>
          </a:prstGeom>
        </p:spPr>
      </p:pic>
      <p:sp>
        <p:nvSpPr>
          <p:cNvPr id="11" name="txt-45"/>
          <p:cNvSpPr txBox="1"/>
          <p:nvPr/>
        </p:nvSpPr>
        <p:spPr>
          <a:xfrm>
            <a:off x="7635240" y="1536192"/>
            <a:ext cx="4023360" cy="384048"/>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Bahasa natural jadi antarmuka</a:t>
            </a:r>
            <a:endParaRPr lang="en-US" sz="1800" dirty="0"/>
          </a:p>
        </p:txBody>
      </p:sp>
      <p:sp>
        <p:nvSpPr>
          <p:cNvPr id="12" name="txt-46"/>
          <p:cNvSpPr txBox="1"/>
          <p:nvPr/>
        </p:nvSpPr>
        <p:spPr>
          <a:xfrm>
            <a:off x="7635240" y="1938528"/>
            <a:ext cx="4023360" cy="777240"/>
          </a:xfrm>
          <a:prstGeom prst="rect">
            <a:avLst/>
          </a:prstGeom>
          <a:noFill/>
          <a:ln/>
        </p:spPr>
        <p:txBody>
          <a:bodyPr wrap="square" lIns="0" tIns="0" rIns="0" bIns="0" rtlCol="0" anchor="t"/>
          <a:lstStyle/>
          <a:p>
            <a:pPr indent="0" marL="0">
              <a:buNone/>
            </a:pPr>
            <a:r>
              <a:rPr lang="en-US" sz="1400" dirty="0">
                <a:solidFill>
                  <a:srgbClr val="5B5677"/>
                </a:solidFill>
              </a:rPr>
              <a:t>Instruksi ditulis atau diucapkan seperti berbicara dengan rekan kerja.</a:t>
            </a:r>
            <a:endParaRPr lang="en-US" sz="1400" dirty="0"/>
          </a:p>
        </p:txBody>
      </p:sp>
      <p:sp>
        <p:nvSpPr>
          <p:cNvPr id="13" name="iconbg-47"/>
          <p:cNvSpPr/>
          <p:nvPr/>
        </p:nvSpPr>
        <p:spPr>
          <a:xfrm>
            <a:off x="6675120" y="3035808"/>
            <a:ext cx="731520" cy="731520"/>
          </a:xfrm>
          <a:prstGeom prst="ellipse">
            <a:avLst/>
          </a:prstGeom>
          <a:solidFill>
            <a:schemeClr val="accent2"/>
          </a:solidFill>
          <a:ln/>
        </p:spPr>
      </p:sp>
      <p:pic>
        <p:nvPicPr>
          <p:cNvPr id="14" name="icon-48" descr="preencoded.png">    </p:cNvPr>
          <p:cNvPicPr>
            <a:picLocks noChangeAspect="1"/>
          </p:cNvPicPr>
          <p:nvPr/>
        </p:nvPicPr>
        <p:blipFill>
          <a:blip r:embed="rId2"/>
          <a:stretch>
            <a:fillRect/>
          </a:stretch>
        </p:blipFill>
        <p:spPr>
          <a:xfrm>
            <a:off x="6850685" y="3211373"/>
            <a:ext cx="380390" cy="380390"/>
          </a:xfrm>
          <a:prstGeom prst="rect">
            <a:avLst/>
          </a:prstGeom>
        </p:spPr>
      </p:pic>
      <p:sp>
        <p:nvSpPr>
          <p:cNvPr id="15" name="txt-49"/>
          <p:cNvSpPr txBox="1"/>
          <p:nvPr/>
        </p:nvSpPr>
        <p:spPr>
          <a:xfrm>
            <a:off x="7635240" y="3017520"/>
            <a:ext cx="4023360" cy="384048"/>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Validasi dengan menjalankan</a:t>
            </a:r>
            <a:endParaRPr lang="en-US" sz="1800" dirty="0"/>
          </a:p>
        </p:txBody>
      </p:sp>
      <p:sp>
        <p:nvSpPr>
          <p:cNvPr id="16" name="txt-50"/>
          <p:cNvSpPr txBox="1"/>
          <p:nvPr/>
        </p:nvSpPr>
        <p:spPr>
          <a:xfrm>
            <a:off x="7635240" y="3419856"/>
            <a:ext cx="4023360" cy="777240"/>
          </a:xfrm>
          <a:prstGeom prst="rect">
            <a:avLst/>
          </a:prstGeom>
          <a:noFill/>
          <a:ln/>
        </p:spPr>
        <p:txBody>
          <a:bodyPr wrap="square" lIns="0" tIns="0" rIns="0" bIns="0" rtlCol="0" anchor="t"/>
          <a:lstStyle/>
          <a:p>
            <a:pPr indent="0" marL="0">
              <a:buNone/>
            </a:pPr>
            <a:r>
              <a:rPr lang="en-US" sz="1400" dirty="0">
                <a:solidFill>
                  <a:srgbClr val="5B5677"/>
                </a:solidFill>
              </a:rPr>
              <a:t>Hasil dinilai dari apakah aplikasinya berfungsi, bukan dari membaca setiap baris kode.</a:t>
            </a:r>
            <a:endParaRPr lang="en-US" sz="1400" dirty="0"/>
          </a:p>
        </p:txBody>
      </p:sp>
      <p:sp>
        <p:nvSpPr>
          <p:cNvPr id="17" name="iconbg-51"/>
          <p:cNvSpPr/>
          <p:nvPr/>
        </p:nvSpPr>
        <p:spPr>
          <a:xfrm>
            <a:off x="6675120" y="4517136"/>
            <a:ext cx="731520" cy="731520"/>
          </a:xfrm>
          <a:prstGeom prst="ellipse">
            <a:avLst/>
          </a:prstGeom>
          <a:solidFill>
            <a:schemeClr val="accent3"/>
          </a:solidFill>
          <a:ln/>
        </p:spPr>
      </p:sp>
      <p:pic>
        <p:nvPicPr>
          <p:cNvPr id="18" name="icon-52" descr="preencoded.png">    </p:cNvPr>
          <p:cNvPicPr>
            <a:picLocks noChangeAspect="1"/>
          </p:cNvPicPr>
          <p:nvPr/>
        </p:nvPicPr>
        <p:blipFill>
          <a:blip r:embed="rId3"/>
          <a:stretch>
            <a:fillRect/>
          </a:stretch>
        </p:blipFill>
        <p:spPr>
          <a:xfrm>
            <a:off x="6850685" y="4692701"/>
            <a:ext cx="380390" cy="380390"/>
          </a:xfrm>
          <a:prstGeom prst="rect">
            <a:avLst/>
          </a:prstGeom>
        </p:spPr>
      </p:pic>
      <p:sp>
        <p:nvSpPr>
          <p:cNvPr id="19" name="txt-53"/>
          <p:cNvSpPr txBox="1"/>
          <p:nvPr/>
        </p:nvSpPr>
        <p:spPr>
          <a:xfrm>
            <a:off x="7635240" y="4498848"/>
            <a:ext cx="4023360" cy="384048"/>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Iterasi cepat lewat percakapan</a:t>
            </a:r>
            <a:endParaRPr lang="en-US" sz="1800" dirty="0"/>
          </a:p>
        </p:txBody>
      </p:sp>
      <p:sp>
        <p:nvSpPr>
          <p:cNvPr id="20" name="txt-54"/>
          <p:cNvSpPr txBox="1"/>
          <p:nvPr/>
        </p:nvSpPr>
        <p:spPr>
          <a:xfrm>
            <a:off x="7635240" y="4901184"/>
            <a:ext cx="4023360" cy="777240"/>
          </a:xfrm>
          <a:prstGeom prst="rect">
            <a:avLst/>
          </a:prstGeom>
          <a:noFill/>
          <a:ln/>
        </p:spPr>
        <p:txBody>
          <a:bodyPr wrap="square" lIns="0" tIns="0" rIns="0" bIns="0" rtlCol="0" anchor="t"/>
          <a:lstStyle/>
          <a:p>
            <a:pPr indent="0" marL="0">
              <a:buNone/>
            </a:pPr>
            <a:r>
              <a:rPr lang="en-US" sz="1400" dirty="0">
                <a:solidFill>
                  <a:srgbClr val="5B5677"/>
                </a:solidFill>
              </a:rPr>
              <a:t>Error ditempel ke AI, perbaikan diminta, lalu dicoba lagi — berulang hingga sesuai.</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5677"/>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Perjalanan singkat sebuah istilah</a:t>
            </a:r>
            <a:endParaRPr lang="en-US" sz="3200" dirty="0"/>
          </a:p>
        </p:txBody>
      </p:sp>
      <p:sp>
        <p:nvSpPr>
          <p:cNvPr id="3" name="Shape 1"/>
          <p:cNvSpPr/>
          <p:nvPr/>
        </p:nvSpPr>
        <p:spPr>
          <a:xfrm>
            <a:off x="1097280" y="2331720"/>
            <a:ext cx="10058400" cy="0"/>
          </a:xfrm>
          <a:prstGeom prst="line">
            <a:avLst/>
          </a:prstGeom>
          <a:noFill/>
          <a:ln w="38100">
            <a:solidFill>
              <a:srgbClr val="C4B5FD"/>
            </a:solidFill>
            <a:prstDash val="solid"/>
          </a:ln>
        </p:spPr>
      </p:sp>
      <p:sp>
        <p:nvSpPr>
          <p:cNvPr id="4" name="iconbg-55"/>
          <p:cNvSpPr/>
          <p:nvPr/>
        </p:nvSpPr>
        <p:spPr>
          <a:xfrm>
            <a:off x="1440180" y="1920240"/>
            <a:ext cx="822960" cy="822960"/>
          </a:xfrm>
          <a:prstGeom prst="ellipse">
            <a:avLst/>
          </a:prstGeom>
          <a:solidFill>
            <a:schemeClr val="accent1"/>
          </a:solidFill>
          <a:ln/>
        </p:spPr>
      </p:sp>
      <p:pic>
        <p:nvPicPr>
          <p:cNvPr id="5" name="icon-56" descr="preencoded.png">    </p:cNvPr>
          <p:cNvPicPr>
            <a:picLocks noChangeAspect="1"/>
          </p:cNvPicPr>
          <p:nvPr/>
        </p:nvPicPr>
        <p:blipFill>
          <a:blip r:embed="rId1"/>
          <a:stretch>
            <a:fillRect/>
          </a:stretch>
        </p:blipFill>
        <p:spPr>
          <a:xfrm>
            <a:off x="1637690" y="2117750"/>
            <a:ext cx="427939" cy="427939"/>
          </a:xfrm>
          <a:prstGeom prst="rect">
            <a:avLst/>
          </a:prstGeom>
        </p:spPr>
      </p:pic>
      <p:sp>
        <p:nvSpPr>
          <p:cNvPr id="6" name="txt-57"/>
          <p:cNvSpPr txBox="1"/>
          <p:nvPr/>
        </p:nvSpPr>
        <p:spPr>
          <a:xfrm>
            <a:off x="548640" y="1325880"/>
            <a:ext cx="2606040" cy="411480"/>
          </a:xfrm>
          <a:prstGeom prst="rect">
            <a:avLst/>
          </a:prstGeom>
          <a:noFill/>
          <a:ln/>
        </p:spPr>
        <p:txBody>
          <a:bodyPr wrap="square" lIns="0" tIns="0" rIns="0" bIns="0" rtlCol="0" anchor="t"/>
          <a:lstStyle/>
          <a:p>
            <a:pPr algn="ctr" indent="0" marL="0">
              <a:buNone/>
            </a:pPr>
            <a:r>
              <a:rPr lang="en-US" sz="1800" b="1" dirty="0">
                <a:solidFill>
                  <a:schemeClr val="accent1"/>
                </a:solidFill>
                <a:latin typeface="Arial" pitchFamily="34" charset="0"/>
                <a:ea typeface="Arial" pitchFamily="34" charset="-122"/>
                <a:cs typeface="Arial" pitchFamily="34" charset="-120"/>
              </a:rPr>
              <a:t>Feb 2025</a:t>
            </a:r>
            <a:endParaRPr lang="en-US" sz="1800" dirty="0"/>
          </a:p>
        </p:txBody>
      </p:sp>
      <p:sp>
        <p:nvSpPr>
          <p:cNvPr id="7" name="card-58"/>
          <p:cNvSpPr/>
          <p:nvPr/>
        </p:nvSpPr>
        <p:spPr>
          <a:xfrm>
            <a:off x="548640" y="3063240"/>
            <a:ext cx="2606040" cy="2880360"/>
          </a:xfrm>
          <a:prstGeom prst="roundRect">
            <a:avLst>
              <a:gd name="adj" fmla="val 5263"/>
            </a:avLst>
          </a:prstGeom>
          <a:solidFill>
            <a:schemeClr val="bg2"/>
          </a:solidFill>
          <a:ln/>
        </p:spPr>
      </p:sp>
      <p:sp>
        <p:nvSpPr>
          <p:cNvPr id="8" name="txt-59"/>
          <p:cNvSpPr txBox="1"/>
          <p:nvPr/>
        </p:nvSpPr>
        <p:spPr>
          <a:xfrm>
            <a:off x="777240" y="3291840"/>
            <a:ext cx="2148840" cy="45720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Istilah lahir</a:t>
            </a:r>
            <a:endParaRPr lang="en-US" sz="1800" dirty="0"/>
          </a:p>
        </p:txBody>
      </p:sp>
      <p:sp>
        <p:nvSpPr>
          <p:cNvPr id="9" name="txt-60"/>
          <p:cNvSpPr txBox="1"/>
          <p:nvPr/>
        </p:nvSpPr>
        <p:spPr>
          <a:xfrm>
            <a:off x="777240" y="3794760"/>
            <a:ext cx="2148840" cy="2011680"/>
          </a:xfrm>
          <a:prstGeom prst="rect">
            <a:avLst/>
          </a:prstGeom>
          <a:noFill/>
          <a:ln/>
        </p:spPr>
        <p:txBody>
          <a:bodyPr wrap="square" lIns="0" tIns="0" rIns="0" bIns="0" rtlCol="0" anchor="t"/>
          <a:lstStyle/>
          <a:p>
            <a:pPr indent="0" marL="0">
              <a:buNone/>
            </a:pPr>
            <a:r>
              <a:rPr lang="en-US" sz="1400" dirty="0">
                <a:solidFill>
                  <a:srgbClr val="5B5677"/>
                </a:solidFill>
              </a:rPr>
              <a:t>Karpathy memperkenalkan “vibe coding” lewat unggahan di X tentang cara barunya membangun aplikasi.</a:t>
            </a:r>
            <a:endParaRPr lang="en-US" sz="1400" dirty="0"/>
          </a:p>
        </p:txBody>
      </p:sp>
      <p:sp>
        <p:nvSpPr>
          <p:cNvPr id="10" name="iconbg-61"/>
          <p:cNvSpPr/>
          <p:nvPr/>
        </p:nvSpPr>
        <p:spPr>
          <a:xfrm>
            <a:off x="4229100" y="1920240"/>
            <a:ext cx="822960" cy="822960"/>
          </a:xfrm>
          <a:prstGeom prst="ellipse">
            <a:avLst/>
          </a:prstGeom>
          <a:solidFill>
            <a:schemeClr val="accent2"/>
          </a:solidFill>
          <a:ln/>
        </p:spPr>
      </p:sp>
      <p:pic>
        <p:nvPicPr>
          <p:cNvPr id="11" name="icon-62" descr="preencoded.png">    </p:cNvPr>
          <p:cNvPicPr>
            <a:picLocks noChangeAspect="1"/>
          </p:cNvPicPr>
          <p:nvPr/>
        </p:nvPicPr>
        <p:blipFill>
          <a:blip r:embed="rId2"/>
          <a:stretch>
            <a:fillRect/>
          </a:stretch>
        </p:blipFill>
        <p:spPr>
          <a:xfrm>
            <a:off x="4426610" y="2117750"/>
            <a:ext cx="427939" cy="427939"/>
          </a:xfrm>
          <a:prstGeom prst="rect">
            <a:avLst/>
          </a:prstGeom>
        </p:spPr>
      </p:pic>
      <p:sp>
        <p:nvSpPr>
          <p:cNvPr id="12" name="txt-63"/>
          <p:cNvSpPr txBox="1"/>
          <p:nvPr/>
        </p:nvSpPr>
        <p:spPr>
          <a:xfrm>
            <a:off x="3337560" y="1325880"/>
            <a:ext cx="2606040" cy="411480"/>
          </a:xfrm>
          <a:prstGeom prst="rect">
            <a:avLst/>
          </a:prstGeom>
          <a:noFill/>
          <a:ln/>
        </p:spPr>
        <p:txBody>
          <a:bodyPr wrap="square" lIns="0" tIns="0" rIns="0" bIns="0" rtlCol="0" anchor="t"/>
          <a:lstStyle/>
          <a:p>
            <a:pPr algn="ctr" indent="0" marL="0">
              <a:buNone/>
            </a:pPr>
            <a:r>
              <a:rPr lang="en-US" sz="1800" b="1" dirty="0">
                <a:solidFill>
                  <a:schemeClr val="accent1"/>
                </a:solidFill>
                <a:latin typeface="Arial" pitchFamily="34" charset="0"/>
                <a:ea typeface="Arial" pitchFamily="34" charset="-122"/>
                <a:cs typeface="Arial" pitchFamily="34" charset="-120"/>
              </a:rPr>
              <a:t>Mar 2025</a:t>
            </a:r>
            <a:endParaRPr lang="en-US" sz="1800" dirty="0"/>
          </a:p>
        </p:txBody>
      </p:sp>
      <p:sp>
        <p:nvSpPr>
          <p:cNvPr id="13" name="card-64"/>
          <p:cNvSpPr/>
          <p:nvPr/>
        </p:nvSpPr>
        <p:spPr>
          <a:xfrm>
            <a:off x="3337560" y="3063240"/>
            <a:ext cx="2606040" cy="2880360"/>
          </a:xfrm>
          <a:prstGeom prst="roundRect">
            <a:avLst>
              <a:gd name="adj" fmla="val 5263"/>
            </a:avLst>
          </a:prstGeom>
          <a:solidFill>
            <a:schemeClr val="bg2"/>
          </a:solidFill>
          <a:ln/>
        </p:spPr>
      </p:sp>
      <p:sp>
        <p:nvSpPr>
          <p:cNvPr id="14" name="txt-65"/>
          <p:cNvSpPr txBox="1"/>
          <p:nvPr/>
        </p:nvSpPr>
        <p:spPr>
          <a:xfrm>
            <a:off x="3566160" y="3291840"/>
            <a:ext cx="2148840" cy="45720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Viral di komunitas</a:t>
            </a:r>
            <a:endParaRPr lang="en-US" sz="1800" dirty="0"/>
          </a:p>
        </p:txBody>
      </p:sp>
      <p:sp>
        <p:nvSpPr>
          <p:cNvPr id="15" name="txt-66"/>
          <p:cNvSpPr txBox="1"/>
          <p:nvPr/>
        </p:nvSpPr>
        <p:spPr>
          <a:xfrm>
            <a:off x="3566160" y="3794760"/>
            <a:ext cx="2148840" cy="2011680"/>
          </a:xfrm>
          <a:prstGeom prst="rect">
            <a:avLst/>
          </a:prstGeom>
          <a:noFill/>
          <a:ln/>
        </p:spPr>
        <p:txBody>
          <a:bodyPr wrap="square" lIns="0" tIns="0" rIns="0" bIns="0" rtlCol="0" anchor="t"/>
          <a:lstStyle/>
          <a:p>
            <a:pPr indent="0" marL="0">
              <a:buNone/>
            </a:pPr>
            <a:r>
              <a:rPr lang="en-US" sz="1400" dirty="0">
                <a:solidFill>
                  <a:srgbClr val="5B5677"/>
                </a:solidFill>
              </a:rPr>
              <a:t>Meme bermunculan, termasuk sindiran bahwa vibe coding itu mudah, tetapi “vibe debugging” yang sulit.</a:t>
            </a:r>
            <a:endParaRPr lang="en-US" sz="1400" dirty="0"/>
          </a:p>
        </p:txBody>
      </p:sp>
      <p:sp>
        <p:nvSpPr>
          <p:cNvPr id="16" name="iconbg-67"/>
          <p:cNvSpPr/>
          <p:nvPr/>
        </p:nvSpPr>
        <p:spPr>
          <a:xfrm>
            <a:off x="7018020" y="1920240"/>
            <a:ext cx="822960" cy="822960"/>
          </a:xfrm>
          <a:prstGeom prst="ellipse">
            <a:avLst/>
          </a:prstGeom>
          <a:solidFill>
            <a:schemeClr val="accent4"/>
          </a:solidFill>
          <a:ln/>
        </p:spPr>
      </p:sp>
      <p:pic>
        <p:nvPicPr>
          <p:cNvPr id="17" name="icon-68" descr="preencoded.png">    </p:cNvPr>
          <p:cNvPicPr>
            <a:picLocks noChangeAspect="1"/>
          </p:cNvPicPr>
          <p:nvPr/>
        </p:nvPicPr>
        <p:blipFill>
          <a:blip r:embed="rId3"/>
          <a:stretch>
            <a:fillRect/>
          </a:stretch>
        </p:blipFill>
        <p:spPr>
          <a:xfrm>
            <a:off x="7215530" y="2117750"/>
            <a:ext cx="427939" cy="427939"/>
          </a:xfrm>
          <a:prstGeom prst="rect">
            <a:avLst/>
          </a:prstGeom>
        </p:spPr>
      </p:pic>
      <p:sp>
        <p:nvSpPr>
          <p:cNvPr id="18" name="txt-69"/>
          <p:cNvSpPr txBox="1"/>
          <p:nvPr/>
        </p:nvSpPr>
        <p:spPr>
          <a:xfrm>
            <a:off x="6126480" y="1325880"/>
            <a:ext cx="2606040" cy="411480"/>
          </a:xfrm>
          <a:prstGeom prst="rect">
            <a:avLst/>
          </a:prstGeom>
          <a:noFill/>
          <a:ln/>
        </p:spPr>
        <p:txBody>
          <a:bodyPr wrap="square" lIns="0" tIns="0" rIns="0" bIns="0" rtlCol="0" anchor="t"/>
          <a:lstStyle/>
          <a:p>
            <a:pPr algn="ctr" indent="0" marL="0">
              <a:buNone/>
            </a:pPr>
            <a:r>
              <a:rPr lang="en-US" sz="1800" b="1" dirty="0">
                <a:solidFill>
                  <a:schemeClr val="accent1"/>
                </a:solidFill>
                <a:latin typeface="Arial" pitchFamily="34" charset="0"/>
                <a:ea typeface="Arial" pitchFamily="34" charset="-122"/>
                <a:cs typeface="Arial" pitchFamily="34" charset="-120"/>
              </a:rPr>
              <a:t>Nov 2025</a:t>
            </a:r>
            <a:endParaRPr lang="en-US" sz="1800" dirty="0"/>
          </a:p>
        </p:txBody>
      </p:sp>
      <p:sp>
        <p:nvSpPr>
          <p:cNvPr id="19" name="card-70"/>
          <p:cNvSpPr/>
          <p:nvPr/>
        </p:nvSpPr>
        <p:spPr>
          <a:xfrm>
            <a:off x="6126480" y="3063240"/>
            <a:ext cx="2606040" cy="2880360"/>
          </a:xfrm>
          <a:prstGeom prst="roundRect">
            <a:avLst>
              <a:gd name="adj" fmla="val 5263"/>
            </a:avLst>
          </a:prstGeom>
          <a:solidFill>
            <a:schemeClr val="bg2"/>
          </a:solidFill>
          <a:ln/>
        </p:spPr>
      </p:sp>
      <p:sp>
        <p:nvSpPr>
          <p:cNvPr id="20" name="txt-71"/>
          <p:cNvSpPr txBox="1"/>
          <p:nvPr/>
        </p:nvSpPr>
        <p:spPr>
          <a:xfrm>
            <a:off x="6355080" y="3291840"/>
            <a:ext cx="2148840" cy="45720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Word of the Year</a:t>
            </a:r>
            <a:endParaRPr lang="en-US" sz="1800" dirty="0"/>
          </a:p>
        </p:txBody>
      </p:sp>
      <p:sp>
        <p:nvSpPr>
          <p:cNvPr id="21" name="txt-72"/>
          <p:cNvSpPr txBox="1"/>
          <p:nvPr/>
        </p:nvSpPr>
        <p:spPr>
          <a:xfrm>
            <a:off x="6355080" y="3794760"/>
            <a:ext cx="2148840" cy="2011680"/>
          </a:xfrm>
          <a:prstGeom prst="rect">
            <a:avLst/>
          </a:prstGeom>
          <a:noFill/>
          <a:ln/>
        </p:spPr>
        <p:txBody>
          <a:bodyPr wrap="square" lIns="0" tIns="0" rIns="0" bIns="0" rtlCol="0" anchor="t"/>
          <a:lstStyle/>
          <a:p>
            <a:pPr indent="0" marL="0">
              <a:buNone/>
            </a:pPr>
            <a:r>
              <a:rPr lang="en-US" sz="1400" dirty="0">
                <a:solidFill>
                  <a:srgbClr val="5B5677"/>
                </a:solidFill>
              </a:rPr>
              <a:t>Collins Dictionary menobatkan “vibe coding” sebagai Word of the Year 2025.</a:t>
            </a:r>
            <a:endParaRPr lang="en-US" sz="1400" dirty="0"/>
          </a:p>
        </p:txBody>
      </p:sp>
      <p:sp>
        <p:nvSpPr>
          <p:cNvPr id="22" name="iconbg-73"/>
          <p:cNvSpPr/>
          <p:nvPr/>
        </p:nvSpPr>
        <p:spPr>
          <a:xfrm>
            <a:off x="9806940" y="1920240"/>
            <a:ext cx="822960" cy="822960"/>
          </a:xfrm>
          <a:prstGeom prst="ellipse">
            <a:avLst/>
          </a:prstGeom>
          <a:solidFill>
            <a:schemeClr val="accent5"/>
          </a:solidFill>
          <a:ln/>
        </p:spPr>
      </p:sp>
      <p:pic>
        <p:nvPicPr>
          <p:cNvPr id="23" name="icon-74" descr="preencoded.png">    </p:cNvPr>
          <p:cNvPicPr>
            <a:picLocks noChangeAspect="1"/>
          </p:cNvPicPr>
          <p:nvPr/>
        </p:nvPicPr>
        <p:blipFill>
          <a:blip r:embed="rId4"/>
          <a:stretch>
            <a:fillRect/>
          </a:stretch>
        </p:blipFill>
        <p:spPr>
          <a:xfrm>
            <a:off x="10004450" y="2117750"/>
            <a:ext cx="427939" cy="427939"/>
          </a:xfrm>
          <a:prstGeom prst="rect">
            <a:avLst/>
          </a:prstGeom>
        </p:spPr>
      </p:pic>
      <p:sp>
        <p:nvSpPr>
          <p:cNvPr id="24" name="txt-75"/>
          <p:cNvSpPr txBox="1"/>
          <p:nvPr/>
        </p:nvSpPr>
        <p:spPr>
          <a:xfrm>
            <a:off x="8915400" y="1325880"/>
            <a:ext cx="2606040" cy="411480"/>
          </a:xfrm>
          <a:prstGeom prst="rect">
            <a:avLst/>
          </a:prstGeom>
          <a:noFill/>
          <a:ln/>
        </p:spPr>
        <p:txBody>
          <a:bodyPr wrap="square" lIns="0" tIns="0" rIns="0" bIns="0" rtlCol="0" anchor="t"/>
          <a:lstStyle/>
          <a:p>
            <a:pPr algn="ctr" indent="0" marL="0">
              <a:buNone/>
            </a:pPr>
            <a:r>
              <a:rPr lang="en-US" sz="1800" b="1" dirty="0">
                <a:solidFill>
                  <a:schemeClr val="accent1"/>
                </a:solidFill>
                <a:latin typeface="Arial" pitchFamily="34" charset="0"/>
                <a:ea typeface="Arial" pitchFamily="34" charset="-122"/>
                <a:cs typeface="Arial" pitchFamily="34" charset="-120"/>
              </a:rPr>
              <a:t>2026</a:t>
            </a:r>
            <a:endParaRPr lang="en-US" sz="1800" dirty="0"/>
          </a:p>
        </p:txBody>
      </p:sp>
      <p:sp>
        <p:nvSpPr>
          <p:cNvPr id="25" name="card-76"/>
          <p:cNvSpPr/>
          <p:nvPr/>
        </p:nvSpPr>
        <p:spPr>
          <a:xfrm>
            <a:off x="8915400" y="3063240"/>
            <a:ext cx="2606040" cy="2880360"/>
          </a:xfrm>
          <a:prstGeom prst="roundRect">
            <a:avLst>
              <a:gd name="adj" fmla="val 5263"/>
            </a:avLst>
          </a:prstGeom>
          <a:solidFill>
            <a:schemeClr val="bg2"/>
          </a:solidFill>
          <a:ln/>
        </p:spPr>
      </p:sp>
      <p:sp>
        <p:nvSpPr>
          <p:cNvPr id="26" name="txt-77"/>
          <p:cNvSpPr txBox="1"/>
          <p:nvPr/>
        </p:nvSpPr>
        <p:spPr>
          <a:xfrm>
            <a:off x="9144000" y="3291840"/>
            <a:ext cx="2148840" cy="45720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Menjadi arus utama</a:t>
            </a:r>
            <a:endParaRPr lang="en-US" sz="1800" dirty="0"/>
          </a:p>
        </p:txBody>
      </p:sp>
      <p:sp>
        <p:nvSpPr>
          <p:cNvPr id="27" name="txt-78"/>
          <p:cNvSpPr txBox="1"/>
          <p:nvPr/>
        </p:nvSpPr>
        <p:spPr>
          <a:xfrm>
            <a:off x="9144000" y="3794760"/>
            <a:ext cx="2148840" cy="2011680"/>
          </a:xfrm>
          <a:prstGeom prst="rect">
            <a:avLst/>
          </a:prstGeom>
          <a:noFill/>
          <a:ln/>
        </p:spPr>
        <p:txBody>
          <a:bodyPr wrap="square" lIns="0" tIns="0" rIns="0" bIns="0" rtlCol="0" anchor="t"/>
          <a:lstStyle/>
          <a:p>
            <a:pPr indent="0" marL="0">
              <a:buNone/>
            </a:pPr>
            <a:r>
              <a:rPr lang="en-US" sz="1400" dirty="0">
                <a:solidFill>
                  <a:srgbClr val="5B5677"/>
                </a:solidFill>
              </a:rPr>
              <a:t>Dipakai luas untuk prototipe; muncul pendekatan lebih matang yang disebut “agentic engineering”.</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5677"/>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Spektrum pengembangan software dengan AI</a:t>
            </a:r>
            <a:endParaRPr lang="en-US" sz="3200" dirty="0"/>
          </a:p>
        </p:txBody>
      </p:sp>
      <p:sp>
        <p:nvSpPr>
          <p:cNvPr id="3" name="chev-79"/>
          <p:cNvSpPr/>
          <p:nvPr/>
        </p:nvSpPr>
        <p:spPr>
          <a:xfrm>
            <a:off x="548640" y="1463040"/>
            <a:ext cx="2788920" cy="822960"/>
          </a:xfrm>
          <a:prstGeom prst="homePlate">
            <a:avLst/>
          </a:prstGeom>
          <a:solidFill>
            <a:srgbClr val="DDD6FE"/>
          </a:solidFill>
          <a:ln/>
        </p:spPr>
      </p:sp>
      <p:sp>
        <p:nvSpPr>
          <p:cNvPr id="4" name="txt-80"/>
          <p:cNvSpPr txBox="1"/>
          <p:nvPr/>
        </p:nvSpPr>
        <p:spPr>
          <a:xfrm>
            <a:off x="822960" y="1463040"/>
            <a:ext cx="2240280" cy="822960"/>
          </a:xfrm>
          <a:prstGeom prst="rect">
            <a:avLst/>
          </a:prstGeom>
          <a:noFill/>
          <a:ln/>
        </p:spPr>
        <p:txBody>
          <a:bodyPr wrap="square" lIns="0" tIns="0" rIns="0" bIns="0" rtlCol="0" anchor="ctr"/>
          <a:lstStyle/>
          <a:p>
            <a:pPr algn="ctr" indent="0" marL="0">
              <a:buNone/>
            </a:pPr>
            <a:r>
              <a:rPr lang="en-US" sz="1600" b="1" dirty="0">
                <a:solidFill>
                  <a:srgbClr val="1A1433"/>
                </a:solidFill>
                <a:latin typeface="Arial" pitchFamily="34" charset="0"/>
                <a:ea typeface="Arial" pitchFamily="34" charset="-122"/>
                <a:cs typeface="Arial" pitchFamily="34" charset="-120"/>
              </a:rPr>
              <a:t>Coding Manual</a:t>
            </a:r>
            <a:endParaRPr lang="en-US" sz="1600" dirty="0"/>
          </a:p>
        </p:txBody>
      </p:sp>
      <p:sp>
        <p:nvSpPr>
          <p:cNvPr id="5" name="card-81"/>
          <p:cNvSpPr/>
          <p:nvPr/>
        </p:nvSpPr>
        <p:spPr>
          <a:xfrm>
            <a:off x="548640" y="2560320"/>
            <a:ext cx="2697480" cy="2514600"/>
          </a:xfrm>
          <a:prstGeom prst="roundRect">
            <a:avLst>
              <a:gd name="adj" fmla="val 5455"/>
            </a:avLst>
          </a:prstGeom>
          <a:solidFill>
            <a:schemeClr val="bg2"/>
          </a:solidFill>
          <a:ln/>
        </p:spPr>
      </p:sp>
      <p:sp>
        <p:nvSpPr>
          <p:cNvPr id="6" name="iconbg-82"/>
          <p:cNvSpPr/>
          <p:nvPr/>
        </p:nvSpPr>
        <p:spPr>
          <a:xfrm>
            <a:off x="822960" y="2788920"/>
            <a:ext cx="594360" cy="594360"/>
          </a:xfrm>
          <a:prstGeom prst="ellipse">
            <a:avLst/>
          </a:prstGeom>
          <a:solidFill>
            <a:schemeClr val="accent1"/>
          </a:solidFill>
          <a:ln/>
        </p:spPr>
      </p:sp>
      <p:pic>
        <p:nvPicPr>
          <p:cNvPr id="7" name="icon-83" descr="preencoded.png">    </p:cNvPr>
          <p:cNvPicPr>
            <a:picLocks noChangeAspect="1"/>
          </p:cNvPicPr>
          <p:nvPr/>
        </p:nvPicPr>
        <p:blipFill>
          <a:blip r:embed="rId1"/>
          <a:stretch>
            <a:fillRect/>
          </a:stretch>
        </p:blipFill>
        <p:spPr>
          <a:xfrm>
            <a:off x="965606" y="2931566"/>
            <a:ext cx="309067" cy="309067"/>
          </a:xfrm>
          <a:prstGeom prst="rect">
            <a:avLst/>
          </a:prstGeom>
        </p:spPr>
      </p:pic>
      <p:sp>
        <p:nvSpPr>
          <p:cNvPr id="8" name="txt-84"/>
          <p:cNvSpPr txBox="1"/>
          <p:nvPr/>
        </p:nvSpPr>
        <p:spPr>
          <a:xfrm>
            <a:off x="822960" y="3520440"/>
            <a:ext cx="2148840" cy="1005840"/>
          </a:xfrm>
          <a:prstGeom prst="rect">
            <a:avLst/>
          </a:prstGeom>
          <a:noFill/>
          <a:ln/>
        </p:spPr>
        <p:txBody>
          <a:bodyPr wrap="square" lIns="0" tIns="0" rIns="0" bIns="0" rtlCol="0" anchor="t"/>
          <a:lstStyle/>
          <a:p>
            <a:pPr indent="0" marL="0">
              <a:buNone/>
            </a:pPr>
            <a:r>
              <a:rPr lang="en-US" sz="1400" dirty="0">
                <a:solidFill>
                  <a:srgbClr val="1A1433"/>
                </a:solidFill>
              </a:rPr>
              <a:t>Manusia menulis setiap baris; AI tidak terlibat.</a:t>
            </a:r>
            <a:endParaRPr lang="en-US" sz="1400" dirty="0"/>
          </a:p>
        </p:txBody>
      </p:sp>
      <p:sp>
        <p:nvSpPr>
          <p:cNvPr id="9" name="txt-85"/>
          <p:cNvSpPr txBox="1"/>
          <p:nvPr/>
        </p:nvSpPr>
        <p:spPr>
          <a:xfrm>
            <a:off x="822960" y="4526280"/>
            <a:ext cx="2148840" cy="365760"/>
          </a:xfrm>
          <a:prstGeom prst="rect">
            <a:avLst/>
          </a:prstGeom>
          <a:noFill/>
          <a:ln/>
        </p:spPr>
        <p:txBody>
          <a:bodyPr wrap="square" lIns="0" tIns="0" rIns="0" bIns="0" rtlCol="0" anchor="t"/>
          <a:lstStyle/>
          <a:p>
            <a:pPr indent="0" marL="0">
              <a:buNone/>
            </a:pPr>
            <a:r>
              <a:rPr lang="en-US" sz="1300" b="1" dirty="0">
                <a:solidFill>
                  <a:schemeClr val="accent1"/>
                </a:solidFill>
              </a:rPr>
              <a:t>Kontrol penuh, lambat</a:t>
            </a:r>
            <a:endParaRPr lang="en-US" sz="1300" dirty="0"/>
          </a:p>
        </p:txBody>
      </p:sp>
      <p:sp>
        <p:nvSpPr>
          <p:cNvPr id="10" name="chev-86"/>
          <p:cNvSpPr/>
          <p:nvPr/>
        </p:nvSpPr>
        <p:spPr>
          <a:xfrm>
            <a:off x="3337560" y="1463040"/>
            <a:ext cx="2788920" cy="822960"/>
          </a:xfrm>
          <a:prstGeom prst="chevron">
            <a:avLst/>
          </a:prstGeom>
          <a:solidFill>
            <a:srgbClr val="C4B5FD"/>
          </a:solidFill>
          <a:ln/>
        </p:spPr>
      </p:sp>
      <p:sp>
        <p:nvSpPr>
          <p:cNvPr id="11" name="txt-87"/>
          <p:cNvSpPr txBox="1"/>
          <p:nvPr/>
        </p:nvSpPr>
        <p:spPr>
          <a:xfrm>
            <a:off x="3611880" y="1463040"/>
            <a:ext cx="2240280" cy="822960"/>
          </a:xfrm>
          <a:prstGeom prst="rect">
            <a:avLst/>
          </a:prstGeom>
          <a:noFill/>
          <a:ln/>
        </p:spPr>
        <p:txBody>
          <a:bodyPr wrap="square" lIns="0" tIns="0" rIns="0" bIns="0" rtlCol="0" anchor="ctr"/>
          <a:lstStyle/>
          <a:p>
            <a:pPr algn="ctr" indent="0" marL="0">
              <a:buNone/>
            </a:pPr>
            <a:r>
              <a:rPr lang="en-US" sz="1600" b="1" dirty="0">
                <a:solidFill>
                  <a:srgbClr val="1A1433"/>
                </a:solidFill>
                <a:latin typeface="Arial" pitchFamily="34" charset="0"/>
                <a:ea typeface="Arial" pitchFamily="34" charset="-122"/>
                <a:cs typeface="Arial" pitchFamily="34" charset="-120"/>
              </a:rPr>
              <a:t>AI-Assisted</a:t>
            </a:r>
            <a:endParaRPr lang="en-US" sz="1600" dirty="0"/>
          </a:p>
        </p:txBody>
      </p:sp>
      <p:sp>
        <p:nvSpPr>
          <p:cNvPr id="12" name="card-88"/>
          <p:cNvSpPr/>
          <p:nvPr/>
        </p:nvSpPr>
        <p:spPr>
          <a:xfrm>
            <a:off x="3337560" y="2560320"/>
            <a:ext cx="2697480" cy="2514600"/>
          </a:xfrm>
          <a:prstGeom prst="roundRect">
            <a:avLst>
              <a:gd name="adj" fmla="val 5455"/>
            </a:avLst>
          </a:prstGeom>
          <a:solidFill>
            <a:schemeClr val="bg2"/>
          </a:solidFill>
          <a:ln/>
        </p:spPr>
      </p:sp>
      <p:sp>
        <p:nvSpPr>
          <p:cNvPr id="13" name="iconbg-89"/>
          <p:cNvSpPr/>
          <p:nvPr/>
        </p:nvSpPr>
        <p:spPr>
          <a:xfrm>
            <a:off x="3611880" y="2788920"/>
            <a:ext cx="594360" cy="594360"/>
          </a:xfrm>
          <a:prstGeom prst="ellipse">
            <a:avLst/>
          </a:prstGeom>
          <a:solidFill>
            <a:schemeClr val="accent1"/>
          </a:solidFill>
          <a:ln/>
        </p:spPr>
      </p:sp>
      <p:pic>
        <p:nvPicPr>
          <p:cNvPr id="14" name="icon-90" descr="preencoded.png">    </p:cNvPr>
          <p:cNvPicPr>
            <a:picLocks noChangeAspect="1"/>
          </p:cNvPicPr>
          <p:nvPr/>
        </p:nvPicPr>
        <p:blipFill>
          <a:blip r:embed="rId2"/>
          <a:stretch>
            <a:fillRect/>
          </a:stretch>
        </p:blipFill>
        <p:spPr>
          <a:xfrm>
            <a:off x="3754526" y="2931566"/>
            <a:ext cx="309067" cy="309067"/>
          </a:xfrm>
          <a:prstGeom prst="rect">
            <a:avLst/>
          </a:prstGeom>
        </p:spPr>
      </p:pic>
      <p:sp>
        <p:nvSpPr>
          <p:cNvPr id="15" name="txt-91"/>
          <p:cNvSpPr txBox="1"/>
          <p:nvPr/>
        </p:nvSpPr>
        <p:spPr>
          <a:xfrm>
            <a:off x="3611880" y="3520440"/>
            <a:ext cx="2148840" cy="1005840"/>
          </a:xfrm>
          <a:prstGeom prst="rect">
            <a:avLst/>
          </a:prstGeom>
          <a:noFill/>
          <a:ln/>
        </p:spPr>
        <p:txBody>
          <a:bodyPr wrap="square" lIns="0" tIns="0" rIns="0" bIns="0" rtlCol="0" anchor="t"/>
          <a:lstStyle/>
          <a:p>
            <a:pPr indent="0" marL="0">
              <a:buNone/>
            </a:pPr>
            <a:r>
              <a:rPr lang="en-US" sz="1400" dirty="0">
                <a:solidFill>
                  <a:srgbClr val="1A1433"/>
                </a:solidFill>
              </a:rPr>
              <a:t>Autocomplete dan chat membantu; manusia membaca dan memahami semua kode.</a:t>
            </a:r>
            <a:endParaRPr lang="en-US" sz="1400" dirty="0"/>
          </a:p>
        </p:txBody>
      </p:sp>
      <p:sp>
        <p:nvSpPr>
          <p:cNvPr id="16" name="txt-92"/>
          <p:cNvSpPr txBox="1"/>
          <p:nvPr/>
        </p:nvSpPr>
        <p:spPr>
          <a:xfrm>
            <a:off x="3611880" y="4526280"/>
            <a:ext cx="2148840" cy="365760"/>
          </a:xfrm>
          <a:prstGeom prst="rect">
            <a:avLst/>
          </a:prstGeom>
          <a:noFill/>
          <a:ln/>
        </p:spPr>
        <p:txBody>
          <a:bodyPr wrap="square" lIns="0" tIns="0" rIns="0" bIns="0" rtlCol="0" anchor="t"/>
          <a:lstStyle/>
          <a:p>
            <a:pPr indent="0" marL="0">
              <a:buNone/>
            </a:pPr>
            <a:r>
              <a:rPr lang="en-US" sz="1300" b="1" dirty="0">
                <a:solidFill>
                  <a:schemeClr val="accent1"/>
                </a:solidFill>
              </a:rPr>
              <a:t>Cepat, tetap terkendali</a:t>
            </a:r>
            <a:endParaRPr lang="en-US" sz="1300" dirty="0"/>
          </a:p>
        </p:txBody>
      </p:sp>
      <p:sp>
        <p:nvSpPr>
          <p:cNvPr id="17" name="chev-93"/>
          <p:cNvSpPr/>
          <p:nvPr/>
        </p:nvSpPr>
        <p:spPr>
          <a:xfrm>
            <a:off x="6126480" y="1463040"/>
            <a:ext cx="2788920" cy="822960"/>
          </a:xfrm>
          <a:prstGeom prst="chevron">
            <a:avLst/>
          </a:prstGeom>
          <a:solidFill>
            <a:srgbClr val="7C3AED"/>
          </a:solidFill>
          <a:ln/>
        </p:spPr>
      </p:sp>
      <p:sp>
        <p:nvSpPr>
          <p:cNvPr id="18" name="txt-94"/>
          <p:cNvSpPr txBox="1"/>
          <p:nvPr/>
        </p:nvSpPr>
        <p:spPr>
          <a:xfrm>
            <a:off x="6400800" y="1463040"/>
            <a:ext cx="224028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Vibe Coding</a:t>
            </a:r>
            <a:endParaRPr lang="en-US" sz="1600" dirty="0"/>
          </a:p>
        </p:txBody>
      </p:sp>
      <p:sp>
        <p:nvSpPr>
          <p:cNvPr id="19" name="card-95"/>
          <p:cNvSpPr/>
          <p:nvPr/>
        </p:nvSpPr>
        <p:spPr>
          <a:xfrm>
            <a:off x="6126480" y="2560320"/>
            <a:ext cx="2697480" cy="2514600"/>
          </a:xfrm>
          <a:prstGeom prst="roundRect">
            <a:avLst>
              <a:gd name="adj" fmla="val 5455"/>
            </a:avLst>
          </a:prstGeom>
          <a:solidFill>
            <a:schemeClr val="accent1"/>
          </a:solidFill>
          <a:ln/>
          <a:effectLst>
            <a:outerShdw sx="100000" sy="100000" kx="0" ky="0" algn="bl" rotWithShape="0" blurRad="127000" dist="38100" dir="5400000">
              <a:srgbClr val="1A1433">
                <a:alpha val="12000"/>
              </a:srgbClr>
            </a:outerShdw>
          </a:effectLst>
        </p:spPr>
      </p:sp>
      <p:sp>
        <p:nvSpPr>
          <p:cNvPr id="20" name="iconbg-96"/>
          <p:cNvSpPr/>
          <p:nvPr/>
        </p:nvSpPr>
        <p:spPr>
          <a:xfrm>
            <a:off x="6400800" y="2788920"/>
            <a:ext cx="594360" cy="594360"/>
          </a:xfrm>
          <a:prstGeom prst="ellipse">
            <a:avLst/>
          </a:prstGeom>
          <a:solidFill>
            <a:schemeClr val="bg1"/>
          </a:solidFill>
          <a:ln/>
        </p:spPr>
      </p:sp>
      <p:pic>
        <p:nvPicPr>
          <p:cNvPr id="21" name="icon-97" descr="preencoded.png">    </p:cNvPr>
          <p:cNvPicPr>
            <a:picLocks noChangeAspect="1"/>
          </p:cNvPicPr>
          <p:nvPr/>
        </p:nvPicPr>
        <p:blipFill>
          <a:blip r:embed="rId3"/>
          <a:stretch>
            <a:fillRect/>
          </a:stretch>
        </p:blipFill>
        <p:spPr>
          <a:xfrm>
            <a:off x="6543446" y="2931566"/>
            <a:ext cx="309067" cy="309067"/>
          </a:xfrm>
          <a:prstGeom prst="rect">
            <a:avLst/>
          </a:prstGeom>
        </p:spPr>
      </p:pic>
      <p:sp>
        <p:nvSpPr>
          <p:cNvPr id="22" name="txt-98"/>
          <p:cNvSpPr txBox="1"/>
          <p:nvPr/>
        </p:nvSpPr>
        <p:spPr>
          <a:xfrm>
            <a:off x="6400800" y="3520440"/>
            <a:ext cx="2148840" cy="1005840"/>
          </a:xfrm>
          <a:prstGeom prst="rect">
            <a:avLst/>
          </a:prstGeom>
          <a:noFill/>
          <a:ln/>
        </p:spPr>
        <p:txBody>
          <a:bodyPr wrap="square" lIns="0" tIns="0" rIns="0" bIns="0" rtlCol="0" anchor="t"/>
          <a:lstStyle/>
          <a:p>
            <a:pPr indent="0" marL="0">
              <a:buNone/>
            </a:pPr>
            <a:r>
              <a:rPr lang="en-US" sz="1400" dirty="0">
                <a:solidFill>
                  <a:srgbClr val="FFFFFF"/>
                </a:solidFill>
              </a:rPr>
              <a:t>AI menulis sebagian besar kode; manusia mengarahkan dan jarang membaca kode.</a:t>
            </a:r>
            <a:endParaRPr lang="en-US" sz="1400" dirty="0"/>
          </a:p>
        </p:txBody>
      </p:sp>
      <p:sp>
        <p:nvSpPr>
          <p:cNvPr id="23" name="txt-99"/>
          <p:cNvSpPr txBox="1"/>
          <p:nvPr/>
        </p:nvSpPr>
        <p:spPr>
          <a:xfrm>
            <a:off x="6400800" y="4526280"/>
            <a:ext cx="2148840" cy="365760"/>
          </a:xfrm>
          <a:prstGeom prst="rect">
            <a:avLst/>
          </a:prstGeom>
          <a:noFill/>
          <a:ln/>
        </p:spPr>
        <p:txBody>
          <a:bodyPr wrap="square" lIns="0" tIns="0" rIns="0" bIns="0" rtlCol="0" anchor="t"/>
          <a:lstStyle/>
          <a:p>
            <a:pPr indent="0" marL="0">
              <a:buNone/>
            </a:pPr>
            <a:r>
              <a:rPr lang="en-US" sz="1300" b="1" dirty="0">
                <a:solidFill>
                  <a:srgbClr val="FDE68A"/>
                </a:solidFill>
              </a:rPr>
              <a:t>Sangat cepat, risiko tinggi</a:t>
            </a:r>
            <a:endParaRPr lang="en-US" sz="1300" dirty="0"/>
          </a:p>
        </p:txBody>
      </p:sp>
      <p:sp>
        <p:nvSpPr>
          <p:cNvPr id="24" name="chev-100"/>
          <p:cNvSpPr/>
          <p:nvPr/>
        </p:nvSpPr>
        <p:spPr>
          <a:xfrm>
            <a:off x="8915400" y="1463040"/>
            <a:ext cx="2788920" cy="822960"/>
          </a:xfrm>
          <a:prstGeom prst="chevron">
            <a:avLst/>
          </a:prstGeom>
          <a:solidFill>
            <a:srgbClr val="1A1433"/>
          </a:solidFill>
          <a:ln/>
        </p:spPr>
      </p:sp>
      <p:sp>
        <p:nvSpPr>
          <p:cNvPr id="25" name="txt-101"/>
          <p:cNvSpPr txBox="1"/>
          <p:nvPr/>
        </p:nvSpPr>
        <p:spPr>
          <a:xfrm>
            <a:off x="9189720" y="1463040"/>
            <a:ext cx="224028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Agentic Engineering</a:t>
            </a:r>
            <a:endParaRPr lang="en-US" sz="1600" dirty="0"/>
          </a:p>
        </p:txBody>
      </p:sp>
      <p:sp>
        <p:nvSpPr>
          <p:cNvPr id="26" name="card-102"/>
          <p:cNvSpPr/>
          <p:nvPr/>
        </p:nvSpPr>
        <p:spPr>
          <a:xfrm>
            <a:off x="8915400" y="2560320"/>
            <a:ext cx="2697480" cy="2514600"/>
          </a:xfrm>
          <a:prstGeom prst="roundRect">
            <a:avLst>
              <a:gd name="adj" fmla="val 5455"/>
            </a:avLst>
          </a:prstGeom>
          <a:solidFill>
            <a:schemeClr val="bg2"/>
          </a:solidFill>
          <a:ln/>
        </p:spPr>
      </p:sp>
      <p:sp>
        <p:nvSpPr>
          <p:cNvPr id="27" name="iconbg-103"/>
          <p:cNvSpPr/>
          <p:nvPr/>
        </p:nvSpPr>
        <p:spPr>
          <a:xfrm>
            <a:off x="9189720" y="2788920"/>
            <a:ext cx="594360" cy="594360"/>
          </a:xfrm>
          <a:prstGeom prst="ellipse">
            <a:avLst/>
          </a:prstGeom>
          <a:solidFill>
            <a:schemeClr val="accent1"/>
          </a:solidFill>
          <a:ln/>
        </p:spPr>
      </p:sp>
      <p:pic>
        <p:nvPicPr>
          <p:cNvPr id="28" name="icon-104" descr="preencoded.png">    </p:cNvPr>
          <p:cNvPicPr>
            <a:picLocks noChangeAspect="1"/>
          </p:cNvPicPr>
          <p:nvPr/>
        </p:nvPicPr>
        <p:blipFill>
          <a:blip r:embed="rId4"/>
          <a:stretch>
            <a:fillRect/>
          </a:stretch>
        </p:blipFill>
        <p:spPr>
          <a:xfrm>
            <a:off x="9332366" y="2931566"/>
            <a:ext cx="309067" cy="309067"/>
          </a:xfrm>
          <a:prstGeom prst="rect">
            <a:avLst/>
          </a:prstGeom>
        </p:spPr>
      </p:pic>
      <p:sp>
        <p:nvSpPr>
          <p:cNvPr id="29" name="txt-105"/>
          <p:cNvSpPr txBox="1"/>
          <p:nvPr/>
        </p:nvSpPr>
        <p:spPr>
          <a:xfrm>
            <a:off x="9189720" y="3520440"/>
            <a:ext cx="2148840" cy="1005840"/>
          </a:xfrm>
          <a:prstGeom prst="rect">
            <a:avLst/>
          </a:prstGeom>
          <a:noFill/>
          <a:ln/>
        </p:spPr>
        <p:txBody>
          <a:bodyPr wrap="square" lIns="0" tIns="0" rIns="0" bIns="0" rtlCol="0" anchor="t"/>
          <a:lstStyle/>
          <a:p>
            <a:pPr indent="0" marL="0">
              <a:buNone/>
            </a:pPr>
            <a:r>
              <a:rPr lang="en-US" sz="1400" dirty="0">
                <a:solidFill>
                  <a:srgbClr val="1A1433"/>
                </a:solidFill>
              </a:rPr>
              <a:t>Agen AI bekerja dengan tujuan, konteks, tes, dan review yang terstruktur.</a:t>
            </a:r>
            <a:endParaRPr lang="en-US" sz="1400" dirty="0"/>
          </a:p>
        </p:txBody>
      </p:sp>
      <p:sp>
        <p:nvSpPr>
          <p:cNvPr id="30" name="txt-106"/>
          <p:cNvSpPr txBox="1"/>
          <p:nvPr/>
        </p:nvSpPr>
        <p:spPr>
          <a:xfrm>
            <a:off x="9189720" y="4526280"/>
            <a:ext cx="2148840" cy="365760"/>
          </a:xfrm>
          <a:prstGeom prst="rect">
            <a:avLst/>
          </a:prstGeom>
          <a:noFill/>
          <a:ln/>
        </p:spPr>
        <p:txBody>
          <a:bodyPr wrap="square" lIns="0" tIns="0" rIns="0" bIns="0" rtlCol="0" anchor="t"/>
          <a:lstStyle/>
          <a:p>
            <a:pPr indent="0" marL="0">
              <a:buNone/>
            </a:pPr>
            <a:r>
              <a:rPr lang="en-US" sz="1300" b="1" dirty="0">
                <a:solidFill>
                  <a:schemeClr val="accent1"/>
                </a:solidFill>
              </a:rPr>
              <a:t>Cepat dan disiplin</a:t>
            </a:r>
            <a:endParaRPr lang="en-US" sz="1300" dirty="0"/>
          </a:p>
        </p:txBody>
      </p:sp>
      <p:sp>
        <p:nvSpPr>
          <p:cNvPr id="31" name="txt-107"/>
          <p:cNvSpPr txBox="1"/>
          <p:nvPr/>
        </p:nvSpPr>
        <p:spPr>
          <a:xfrm>
            <a:off x="548640" y="5257800"/>
            <a:ext cx="11064240" cy="320040"/>
          </a:xfrm>
          <a:prstGeom prst="rect">
            <a:avLst/>
          </a:prstGeom>
          <a:noFill/>
          <a:ln/>
        </p:spPr>
        <p:txBody>
          <a:bodyPr wrap="square" lIns="0" tIns="0" rIns="0" bIns="0" rtlCol="0" anchor="t"/>
          <a:lstStyle/>
          <a:p>
            <a:pPr algn="ctr" indent="0" marL="0">
              <a:buNone/>
            </a:pPr>
            <a:r>
              <a:rPr lang="en-US" sz="1200" dirty="0">
                <a:solidFill>
                  <a:srgbClr val="5B5677"/>
                </a:solidFill>
              </a:rPr>
              <a:t>←  lebih banyak kontrol manusia                                                   lebih banyak otonomi AI  →</a:t>
            </a:r>
            <a:endParaRPr lang="en-US" sz="1200" dirty="0"/>
          </a:p>
        </p:txBody>
      </p:sp>
      <p:sp>
        <p:nvSpPr>
          <p:cNvPr id="32" name="card-108"/>
          <p:cNvSpPr/>
          <p:nvPr/>
        </p:nvSpPr>
        <p:spPr>
          <a:xfrm>
            <a:off x="548640" y="5623560"/>
            <a:ext cx="11064240" cy="548640"/>
          </a:xfrm>
          <a:prstGeom prst="roundRect">
            <a:avLst>
              <a:gd name="adj" fmla="val 16667"/>
            </a:avLst>
          </a:prstGeom>
          <a:solidFill>
            <a:srgbClr val="FEF3C7"/>
          </a:solidFill>
          <a:ln/>
        </p:spPr>
      </p:sp>
      <p:sp>
        <p:nvSpPr>
          <p:cNvPr id="33" name="txt-109"/>
          <p:cNvSpPr txBox="1"/>
          <p:nvPr/>
        </p:nvSpPr>
        <p:spPr>
          <a:xfrm>
            <a:off x="777240" y="5623560"/>
            <a:ext cx="10607040" cy="548640"/>
          </a:xfrm>
          <a:prstGeom prst="rect">
            <a:avLst/>
          </a:prstGeom>
          <a:noFill/>
          <a:ln/>
        </p:spPr>
        <p:txBody>
          <a:bodyPr wrap="square" lIns="0" tIns="0" rIns="0" bIns="0" rtlCol="0" anchor="ctr"/>
          <a:lstStyle/>
          <a:p>
            <a:pPr indent="0" marL="0">
              <a:buNone/>
            </a:pPr>
            <a:r>
              <a:rPr lang="en-US" sz="1300" dirty="0">
                <a:solidFill>
                  <a:srgbClr val="92400E"/>
                </a:solidFill>
              </a:rPr>
              <a:t>Catatan: begitu kode hasil AI ditinjau dan dipahami secara saksama oleh manusia, itu bukan lagi vibe coding murni — melainkan AI-assisted engineering.</a:t>
            </a:r>
            <a:endParaRPr lang="en-US" sz="13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5677"/>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Mengapa vibe coding muncul sekarang?</a:t>
            </a:r>
            <a:endParaRPr lang="en-US" sz="3200" dirty="0"/>
          </a:p>
        </p:txBody>
      </p:sp>
      <p:sp>
        <p:nvSpPr>
          <p:cNvPr id="3" name="card-110"/>
          <p:cNvSpPr/>
          <p:nvPr/>
        </p:nvSpPr>
        <p:spPr>
          <a:xfrm>
            <a:off x="548640" y="1463040"/>
            <a:ext cx="3246120" cy="2148840"/>
          </a:xfrm>
          <a:prstGeom prst="roundRect">
            <a:avLst>
              <a:gd name="adj" fmla="val 6383"/>
            </a:avLst>
          </a:prstGeom>
          <a:solidFill>
            <a:schemeClr val="bg1"/>
          </a:solidFill>
          <a:ln w="12700">
            <a:solidFill>
              <a:srgbClr val="E9E5FF"/>
            </a:solidFill>
            <a:prstDash val="solid"/>
          </a:ln>
          <a:effectLst>
            <a:outerShdw sx="100000" sy="100000" kx="0" ky="0" algn="bl" rotWithShape="0" blurRad="127000" dist="38100" dir="5400000">
              <a:srgbClr val="1A1433">
                <a:alpha val="12000"/>
              </a:srgbClr>
            </a:outerShdw>
          </a:effectLst>
        </p:spPr>
      </p:sp>
      <p:sp>
        <p:nvSpPr>
          <p:cNvPr id="4" name="iconbg-111"/>
          <p:cNvSpPr/>
          <p:nvPr/>
        </p:nvSpPr>
        <p:spPr>
          <a:xfrm>
            <a:off x="822960" y="1737360"/>
            <a:ext cx="640080" cy="640080"/>
          </a:xfrm>
          <a:prstGeom prst="ellipse">
            <a:avLst/>
          </a:prstGeom>
          <a:solidFill>
            <a:schemeClr val="accent1"/>
          </a:solidFill>
          <a:ln/>
        </p:spPr>
      </p:sp>
      <p:pic>
        <p:nvPicPr>
          <p:cNvPr id="5" name="icon-112" descr="preencoded.png">    </p:cNvPr>
          <p:cNvPicPr>
            <a:picLocks noChangeAspect="1"/>
          </p:cNvPicPr>
          <p:nvPr/>
        </p:nvPicPr>
        <p:blipFill>
          <a:blip r:embed="rId1"/>
          <a:stretch>
            <a:fillRect/>
          </a:stretch>
        </p:blipFill>
        <p:spPr>
          <a:xfrm>
            <a:off x="976579" y="1890979"/>
            <a:ext cx="332842" cy="332842"/>
          </a:xfrm>
          <a:prstGeom prst="rect">
            <a:avLst/>
          </a:prstGeom>
        </p:spPr>
      </p:pic>
      <p:sp>
        <p:nvSpPr>
          <p:cNvPr id="6" name="txt-113"/>
          <p:cNvSpPr txBox="1"/>
          <p:nvPr/>
        </p:nvSpPr>
        <p:spPr>
          <a:xfrm>
            <a:off x="822960" y="2468880"/>
            <a:ext cx="2697480" cy="365760"/>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Model AI makin cakap</a:t>
            </a:r>
            <a:endParaRPr lang="en-US" sz="1700" dirty="0"/>
          </a:p>
        </p:txBody>
      </p:sp>
      <p:sp>
        <p:nvSpPr>
          <p:cNvPr id="7" name="txt-114"/>
          <p:cNvSpPr txBox="1"/>
          <p:nvPr/>
        </p:nvSpPr>
        <p:spPr>
          <a:xfrm>
            <a:off x="822960" y="2834640"/>
            <a:ext cx="2697480" cy="731520"/>
          </a:xfrm>
          <a:prstGeom prst="rect">
            <a:avLst/>
          </a:prstGeom>
          <a:noFill/>
          <a:ln/>
        </p:spPr>
        <p:txBody>
          <a:bodyPr wrap="square" lIns="0" tIns="0" rIns="0" bIns="0" rtlCol="0" anchor="t"/>
          <a:lstStyle/>
          <a:p>
            <a:pPr indent="0" marL="0">
              <a:buNone/>
            </a:pPr>
            <a:r>
              <a:rPr lang="en-US" sz="1350" dirty="0">
                <a:solidFill>
                  <a:srgbClr val="5B5677"/>
                </a:solidFill>
              </a:rPr>
              <a:t>Model bahasa besar kini mampu menulis fitur utuh lintas banyak file dari satu deskripsi.</a:t>
            </a:r>
            <a:endParaRPr lang="en-US" sz="1350" dirty="0"/>
          </a:p>
        </p:txBody>
      </p:sp>
      <p:sp>
        <p:nvSpPr>
          <p:cNvPr id="8" name="card-115"/>
          <p:cNvSpPr/>
          <p:nvPr/>
        </p:nvSpPr>
        <p:spPr>
          <a:xfrm>
            <a:off x="4069080" y="1463040"/>
            <a:ext cx="3246120" cy="2148840"/>
          </a:xfrm>
          <a:prstGeom prst="roundRect">
            <a:avLst>
              <a:gd name="adj" fmla="val 6383"/>
            </a:avLst>
          </a:prstGeom>
          <a:solidFill>
            <a:schemeClr val="bg1"/>
          </a:solidFill>
          <a:ln w="12700">
            <a:solidFill>
              <a:srgbClr val="E9E5FF"/>
            </a:solidFill>
            <a:prstDash val="solid"/>
          </a:ln>
          <a:effectLst>
            <a:outerShdw sx="100000" sy="100000" kx="0" ky="0" algn="bl" rotWithShape="0" blurRad="127000" dist="38100" dir="5400000">
              <a:srgbClr val="1A1433">
                <a:alpha val="12000"/>
              </a:srgbClr>
            </a:outerShdw>
          </a:effectLst>
        </p:spPr>
      </p:sp>
      <p:sp>
        <p:nvSpPr>
          <p:cNvPr id="9" name="iconbg-116"/>
          <p:cNvSpPr/>
          <p:nvPr/>
        </p:nvSpPr>
        <p:spPr>
          <a:xfrm>
            <a:off x="4343400" y="1737360"/>
            <a:ext cx="640080" cy="640080"/>
          </a:xfrm>
          <a:prstGeom prst="ellipse">
            <a:avLst/>
          </a:prstGeom>
          <a:solidFill>
            <a:schemeClr val="accent2"/>
          </a:solidFill>
          <a:ln/>
        </p:spPr>
      </p:sp>
      <p:pic>
        <p:nvPicPr>
          <p:cNvPr id="10" name="icon-117" descr="preencoded.png">    </p:cNvPr>
          <p:cNvPicPr>
            <a:picLocks noChangeAspect="1"/>
          </p:cNvPicPr>
          <p:nvPr/>
        </p:nvPicPr>
        <p:blipFill>
          <a:blip r:embed="rId2"/>
          <a:stretch>
            <a:fillRect/>
          </a:stretch>
        </p:blipFill>
        <p:spPr>
          <a:xfrm>
            <a:off x="4497019" y="1890979"/>
            <a:ext cx="332842" cy="332842"/>
          </a:xfrm>
          <a:prstGeom prst="rect">
            <a:avLst/>
          </a:prstGeom>
        </p:spPr>
      </p:pic>
      <p:sp>
        <p:nvSpPr>
          <p:cNvPr id="11" name="txt-118"/>
          <p:cNvSpPr txBox="1"/>
          <p:nvPr/>
        </p:nvSpPr>
        <p:spPr>
          <a:xfrm>
            <a:off x="4343400" y="2468880"/>
            <a:ext cx="2697480" cy="365760"/>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Agen yang mandiri</a:t>
            </a:r>
            <a:endParaRPr lang="en-US" sz="1700" dirty="0"/>
          </a:p>
        </p:txBody>
      </p:sp>
      <p:sp>
        <p:nvSpPr>
          <p:cNvPr id="12" name="txt-119"/>
          <p:cNvSpPr txBox="1"/>
          <p:nvPr/>
        </p:nvSpPr>
        <p:spPr>
          <a:xfrm>
            <a:off x="4343400" y="2834640"/>
            <a:ext cx="2697480" cy="731520"/>
          </a:xfrm>
          <a:prstGeom prst="rect">
            <a:avLst/>
          </a:prstGeom>
          <a:noFill/>
          <a:ln/>
        </p:spPr>
        <p:txBody>
          <a:bodyPr wrap="square" lIns="0" tIns="0" rIns="0" bIns="0" rtlCol="0" anchor="t"/>
          <a:lstStyle/>
          <a:p>
            <a:pPr indent="0" marL="0">
              <a:buNone/>
            </a:pPr>
            <a:r>
              <a:rPr lang="en-US" sz="1350" dirty="0">
                <a:solidFill>
                  <a:srgbClr val="5B5677"/>
                </a:solidFill>
              </a:rPr>
              <a:t>AI bisa menjalankan perintah, membaca error, dan memperbaiki kodenya tanpa disuapi.</a:t>
            </a:r>
            <a:endParaRPr lang="en-US" sz="1350" dirty="0"/>
          </a:p>
        </p:txBody>
      </p:sp>
      <p:sp>
        <p:nvSpPr>
          <p:cNvPr id="13" name="card-120"/>
          <p:cNvSpPr/>
          <p:nvPr/>
        </p:nvSpPr>
        <p:spPr>
          <a:xfrm>
            <a:off x="548640" y="3886200"/>
            <a:ext cx="3246120" cy="2148840"/>
          </a:xfrm>
          <a:prstGeom prst="roundRect">
            <a:avLst>
              <a:gd name="adj" fmla="val 6383"/>
            </a:avLst>
          </a:prstGeom>
          <a:solidFill>
            <a:schemeClr val="bg1"/>
          </a:solidFill>
          <a:ln w="12700">
            <a:solidFill>
              <a:srgbClr val="E9E5FF"/>
            </a:solidFill>
            <a:prstDash val="solid"/>
          </a:ln>
          <a:effectLst>
            <a:outerShdw sx="100000" sy="100000" kx="0" ky="0" algn="bl" rotWithShape="0" blurRad="127000" dist="38100" dir="5400000">
              <a:srgbClr val="1A1433">
                <a:alpha val="12000"/>
              </a:srgbClr>
            </a:outerShdw>
          </a:effectLst>
        </p:spPr>
      </p:sp>
      <p:sp>
        <p:nvSpPr>
          <p:cNvPr id="14" name="iconbg-121"/>
          <p:cNvSpPr/>
          <p:nvPr/>
        </p:nvSpPr>
        <p:spPr>
          <a:xfrm>
            <a:off x="822960" y="4160520"/>
            <a:ext cx="640080" cy="640080"/>
          </a:xfrm>
          <a:prstGeom prst="ellipse">
            <a:avLst/>
          </a:prstGeom>
          <a:solidFill>
            <a:schemeClr val="accent3"/>
          </a:solidFill>
          <a:ln/>
        </p:spPr>
      </p:sp>
      <p:pic>
        <p:nvPicPr>
          <p:cNvPr id="15" name="icon-122" descr="preencoded.png">    </p:cNvPr>
          <p:cNvPicPr>
            <a:picLocks noChangeAspect="1"/>
          </p:cNvPicPr>
          <p:nvPr/>
        </p:nvPicPr>
        <p:blipFill>
          <a:blip r:embed="rId3"/>
          <a:stretch>
            <a:fillRect/>
          </a:stretch>
        </p:blipFill>
        <p:spPr>
          <a:xfrm>
            <a:off x="976579" y="4314139"/>
            <a:ext cx="332842" cy="332842"/>
          </a:xfrm>
          <a:prstGeom prst="rect">
            <a:avLst/>
          </a:prstGeom>
        </p:spPr>
      </p:pic>
      <p:sp>
        <p:nvSpPr>
          <p:cNvPr id="16" name="txt-123"/>
          <p:cNvSpPr txBox="1"/>
          <p:nvPr/>
        </p:nvSpPr>
        <p:spPr>
          <a:xfrm>
            <a:off x="822960" y="4892040"/>
            <a:ext cx="2697480" cy="365760"/>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Input suara &amp; multimodal</a:t>
            </a:r>
            <a:endParaRPr lang="en-US" sz="1700" dirty="0"/>
          </a:p>
        </p:txBody>
      </p:sp>
      <p:sp>
        <p:nvSpPr>
          <p:cNvPr id="17" name="txt-124"/>
          <p:cNvSpPr txBox="1"/>
          <p:nvPr/>
        </p:nvSpPr>
        <p:spPr>
          <a:xfrm>
            <a:off x="822960" y="5257800"/>
            <a:ext cx="2697480" cy="731520"/>
          </a:xfrm>
          <a:prstGeom prst="rect">
            <a:avLst/>
          </a:prstGeom>
          <a:noFill/>
          <a:ln/>
        </p:spPr>
        <p:txBody>
          <a:bodyPr wrap="square" lIns="0" tIns="0" rIns="0" bIns="0" rtlCol="0" anchor="t"/>
          <a:lstStyle/>
          <a:p>
            <a:pPr indent="0" marL="0">
              <a:buNone/>
            </a:pPr>
            <a:r>
              <a:rPr lang="en-US" sz="1350" dirty="0">
                <a:solidFill>
                  <a:srgbClr val="5B5677"/>
                </a:solidFill>
              </a:rPr>
              <a:t>Instruksi bisa diucapkan, atau berupa tangkapan layar dan sketsa desain.</a:t>
            </a:r>
            <a:endParaRPr lang="en-US" sz="1350" dirty="0"/>
          </a:p>
        </p:txBody>
      </p:sp>
      <p:sp>
        <p:nvSpPr>
          <p:cNvPr id="18" name="card-125"/>
          <p:cNvSpPr/>
          <p:nvPr/>
        </p:nvSpPr>
        <p:spPr>
          <a:xfrm>
            <a:off x="4069080" y="3886200"/>
            <a:ext cx="3246120" cy="2148840"/>
          </a:xfrm>
          <a:prstGeom prst="roundRect">
            <a:avLst>
              <a:gd name="adj" fmla="val 6383"/>
            </a:avLst>
          </a:prstGeom>
          <a:solidFill>
            <a:schemeClr val="bg1"/>
          </a:solidFill>
          <a:ln w="12700">
            <a:solidFill>
              <a:srgbClr val="E9E5FF"/>
            </a:solidFill>
            <a:prstDash val="solid"/>
          </a:ln>
          <a:effectLst>
            <a:outerShdw sx="100000" sy="100000" kx="0" ky="0" algn="bl" rotWithShape="0" blurRad="127000" dist="38100" dir="5400000">
              <a:srgbClr val="1A1433">
                <a:alpha val="12000"/>
              </a:srgbClr>
            </a:outerShdw>
          </a:effectLst>
        </p:spPr>
      </p:sp>
      <p:sp>
        <p:nvSpPr>
          <p:cNvPr id="19" name="iconbg-126"/>
          <p:cNvSpPr/>
          <p:nvPr/>
        </p:nvSpPr>
        <p:spPr>
          <a:xfrm>
            <a:off x="4343400" y="4160520"/>
            <a:ext cx="640080" cy="640080"/>
          </a:xfrm>
          <a:prstGeom prst="ellipse">
            <a:avLst/>
          </a:prstGeom>
          <a:solidFill>
            <a:schemeClr val="accent4"/>
          </a:solidFill>
          <a:ln/>
        </p:spPr>
      </p:sp>
      <p:pic>
        <p:nvPicPr>
          <p:cNvPr id="20" name="icon-127" descr="preencoded.png">    </p:cNvPr>
          <p:cNvPicPr>
            <a:picLocks noChangeAspect="1"/>
          </p:cNvPicPr>
          <p:nvPr/>
        </p:nvPicPr>
        <p:blipFill>
          <a:blip r:embed="rId4"/>
          <a:stretch>
            <a:fillRect/>
          </a:stretch>
        </p:blipFill>
        <p:spPr>
          <a:xfrm>
            <a:off x="4497019" y="4314139"/>
            <a:ext cx="332842" cy="332842"/>
          </a:xfrm>
          <a:prstGeom prst="rect">
            <a:avLst/>
          </a:prstGeom>
        </p:spPr>
      </p:pic>
      <p:sp>
        <p:nvSpPr>
          <p:cNvPr id="21" name="txt-128"/>
          <p:cNvSpPr txBox="1"/>
          <p:nvPr/>
        </p:nvSpPr>
        <p:spPr>
          <a:xfrm>
            <a:off x="4343400" y="4892040"/>
            <a:ext cx="2697480" cy="365760"/>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Deploy instan</a:t>
            </a:r>
            <a:endParaRPr lang="en-US" sz="1700" dirty="0"/>
          </a:p>
        </p:txBody>
      </p:sp>
      <p:sp>
        <p:nvSpPr>
          <p:cNvPr id="22" name="txt-129"/>
          <p:cNvSpPr txBox="1"/>
          <p:nvPr/>
        </p:nvSpPr>
        <p:spPr>
          <a:xfrm>
            <a:off x="4343400" y="5257800"/>
            <a:ext cx="2697480" cy="731520"/>
          </a:xfrm>
          <a:prstGeom prst="rect">
            <a:avLst/>
          </a:prstGeom>
          <a:noFill/>
          <a:ln/>
        </p:spPr>
        <p:txBody>
          <a:bodyPr wrap="square" lIns="0" tIns="0" rIns="0" bIns="0" rtlCol="0" anchor="t"/>
          <a:lstStyle/>
          <a:p>
            <a:pPr indent="0" marL="0">
              <a:buNone/>
            </a:pPr>
            <a:r>
              <a:rPr lang="en-US" sz="1350" dirty="0">
                <a:solidFill>
                  <a:srgbClr val="5B5677"/>
                </a:solidFill>
              </a:rPr>
              <a:t>Platform hosting modern membuat aplikasi langsung online tanpa urusan server.</a:t>
            </a:r>
            <a:endParaRPr lang="en-US" sz="1350" dirty="0"/>
          </a:p>
        </p:txBody>
      </p:sp>
      <p:sp>
        <p:nvSpPr>
          <p:cNvPr id="23" name="card-130"/>
          <p:cNvSpPr/>
          <p:nvPr/>
        </p:nvSpPr>
        <p:spPr>
          <a:xfrm>
            <a:off x="7635240" y="1463040"/>
            <a:ext cx="3977640" cy="4572000"/>
          </a:xfrm>
          <a:prstGeom prst="roundRect">
            <a:avLst>
              <a:gd name="adj" fmla="val 3448"/>
            </a:avLst>
          </a:prstGeom>
          <a:solidFill>
            <a:schemeClr val="tx2"/>
          </a:solidFill>
          <a:ln/>
        </p:spPr>
      </p:sp>
      <p:pic>
        <p:nvPicPr>
          <p:cNvPr id="24" name="Image 4" descr="assets/ill_idea.png">    </p:cNvPr>
          <p:cNvPicPr>
            <a:picLocks noChangeAspect="1"/>
          </p:cNvPicPr>
          <p:nvPr/>
        </p:nvPicPr>
        <p:blipFill>
          <a:blip r:embed="rId5"/>
          <a:stretch>
            <a:fillRect/>
          </a:stretch>
        </p:blipFill>
        <p:spPr>
          <a:xfrm>
            <a:off x="7818120" y="1828800"/>
            <a:ext cx="3611880" cy="2020824"/>
          </a:xfrm>
          <a:prstGeom prst="rect">
            <a:avLst/>
          </a:prstGeom>
        </p:spPr>
      </p:pic>
      <p:sp>
        <p:nvSpPr>
          <p:cNvPr id="25" name="txt-131"/>
          <p:cNvSpPr txBox="1"/>
          <p:nvPr/>
        </p:nvSpPr>
        <p:spPr>
          <a:xfrm>
            <a:off x="8001000" y="4160520"/>
            <a:ext cx="3291840" cy="41148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Dari ide ke aplikasi</a:t>
            </a:r>
            <a:endParaRPr lang="en-US" sz="2000" dirty="0"/>
          </a:p>
        </p:txBody>
      </p:sp>
      <p:sp>
        <p:nvSpPr>
          <p:cNvPr id="26" name="txt-132"/>
          <p:cNvSpPr txBox="1"/>
          <p:nvPr/>
        </p:nvSpPr>
        <p:spPr>
          <a:xfrm>
            <a:off x="8001000" y="4617720"/>
            <a:ext cx="3291840" cy="1188720"/>
          </a:xfrm>
          <a:prstGeom prst="rect">
            <a:avLst/>
          </a:prstGeom>
          <a:noFill/>
          <a:ln/>
        </p:spPr>
        <p:txBody>
          <a:bodyPr wrap="square" lIns="0" tIns="0" rIns="0" bIns="0" rtlCol="0" anchor="t"/>
          <a:lstStyle/>
          <a:p>
            <a:pPr indent="0" marL="0">
              <a:buNone/>
            </a:pPr>
            <a:r>
              <a:rPr lang="en-US" sz="1400" dirty="0">
                <a:solidFill>
                  <a:srgbClr val="D8CCFF"/>
                </a:solidFill>
              </a:rPr>
              <a:t>Jarak antara “saya punya ide” dan “ini tautannya” menyusut dari berminggu-minggu menjadi hitungan jam.</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5677"/>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xt-133"/>
          <p:cNvSpPr txBox="1"/>
          <p:nvPr/>
        </p:nvSpPr>
        <p:spPr>
          <a:xfrm>
            <a:off x="822960" y="1463040"/>
            <a:ext cx="2743200" cy="1097280"/>
          </a:xfrm>
          <a:prstGeom prst="rect">
            <a:avLst/>
          </a:prstGeom>
          <a:noFill/>
          <a:ln/>
        </p:spPr>
        <p:txBody>
          <a:bodyPr wrap="square" lIns="0" tIns="0" rIns="0" bIns="0" rtlCol="0" anchor="b"/>
          <a:lstStyle/>
          <a:p>
            <a:pPr indent="0" marL="0">
              <a:buNone/>
            </a:pPr>
            <a:r>
              <a:rPr lang="en-US" sz="8000" b="1" dirty="0">
                <a:solidFill>
                  <a:srgbClr val="A78BFA"/>
                </a:solidFill>
                <a:latin typeface="Arial" pitchFamily="34" charset="0"/>
                <a:ea typeface="Arial" pitchFamily="34" charset="-122"/>
                <a:cs typeface="Arial" pitchFamily="34" charset="-120"/>
              </a:rPr>
              <a:t>02</a:t>
            </a:r>
            <a:endParaRPr lang="en-US" sz="8000" dirty="0"/>
          </a:p>
        </p:txBody>
      </p:sp>
      <p:sp>
        <p:nvSpPr>
          <p:cNvPr id="3" name="Text 0"/>
          <p:cNvSpPr/>
          <p:nvPr>
            <p:ph idx="100" type="title" hasCustomPrompt="1"/>
          </p:nvPr>
        </p:nvSpPr>
        <p:spPr>
          <a:xfrm>
            <a:off x="822960" y="2651760"/>
            <a:ext cx="7498080" cy="1280160"/>
          </a:xfrm>
          <a:prstGeom prst="rect">
            <a:avLst/>
          </a:prstGeom>
          <a:noFill/>
          <a:ln/>
        </p:spPr>
        <p:txBody>
          <a:bodyPr wrap="square" lIns="0" tIns="0" rIns="0" bIns="0" rtlCol="0" anchor="t"/>
          <a:lstStyle/>
          <a:p>
            <a:pPr algn="l" indent="0" marL="0">
              <a:buNone/>
            </a:pPr>
            <a:r>
              <a:rPr lang="en-US" sz="4400" b="1" dirty="0">
                <a:solidFill>
                  <a:schemeClr val="bg1"/>
                </a:solidFill>
                <a:latin typeface="Arial" pitchFamily="34" charset="0"/>
                <a:ea typeface="Arial" pitchFamily="34" charset="-122"/>
                <a:cs typeface="Arial" pitchFamily="34" charset="-120"/>
              </a:rPr>
              <a:t>Cara Kerja Vibe Coding</a:t>
            </a:r>
            <a:endParaRPr lang="en-US" sz="4400" dirty="0"/>
          </a:p>
        </p:txBody>
      </p:sp>
      <p:sp>
        <p:nvSpPr>
          <p:cNvPr id="4" name="Text 0"/>
          <p:cNvSpPr/>
          <p:nvPr>
            <p:ph idx="101" type="body" hasCustomPrompt="1"/>
          </p:nvPr>
        </p:nvSpPr>
        <p:spPr>
          <a:xfrm>
            <a:off x="822960" y="3977640"/>
            <a:ext cx="6949440" cy="914400"/>
          </a:xfrm>
          <a:prstGeom prst="rect">
            <a:avLst/>
          </a:prstGeom>
          <a:noFill/>
          <a:ln/>
        </p:spPr>
        <p:txBody>
          <a:bodyPr wrap="square" lIns="0" tIns="0" rIns="0" bIns="0" rtlCol="0" anchor="t"/>
          <a:lstStyle/>
          <a:p>
            <a:pPr indent="0" marL="0">
              <a:buNone/>
            </a:pPr>
            <a:r>
              <a:rPr lang="en-US" sz="1800" dirty="0">
                <a:solidFill>
                  <a:srgbClr val="D8CCFF"/>
                </a:solidFill>
                <a:latin typeface="Calibri" pitchFamily="34" charset="0"/>
                <a:ea typeface="Calibri" pitchFamily="34" charset="-122"/>
                <a:cs typeface="Calibri" pitchFamily="34" charset="-120"/>
              </a:rPr>
              <a:t>Siklus kerja, peran baru manusia, dan cara menulis prompt yang efektif</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Siklus inti vibe coding</a:t>
            </a:r>
            <a:endParaRPr lang="en-US" sz="3200" dirty="0"/>
          </a:p>
        </p:txBody>
      </p:sp>
      <p:sp>
        <p:nvSpPr>
          <p:cNvPr id="3" name="card-134"/>
          <p:cNvSpPr/>
          <p:nvPr/>
        </p:nvSpPr>
        <p:spPr>
          <a:xfrm>
            <a:off x="548640" y="1600200"/>
            <a:ext cx="2468880" cy="2926080"/>
          </a:xfrm>
          <a:prstGeom prst="roundRect">
            <a:avLst>
              <a:gd name="adj" fmla="val 5556"/>
            </a:avLst>
          </a:prstGeom>
          <a:solidFill>
            <a:schemeClr val="bg1"/>
          </a:solidFill>
          <a:ln w="12700">
            <a:solidFill>
              <a:srgbClr val="E9E5FF"/>
            </a:solidFill>
            <a:prstDash val="solid"/>
          </a:ln>
          <a:effectLst>
            <a:outerShdw sx="100000" sy="100000" kx="0" ky="0" algn="bl" rotWithShape="0" blurRad="127000" dist="38100" dir="5400000">
              <a:srgbClr val="1A1433">
                <a:alpha val="12000"/>
              </a:srgbClr>
            </a:outerShdw>
          </a:effectLst>
        </p:spPr>
      </p:sp>
      <p:sp>
        <p:nvSpPr>
          <p:cNvPr id="4" name="iconbg-135"/>
          <p:cNvSpPr/>
          <p:nvPr/>
        </p:nvSpPr>
        <p:spPr>
          <a:xfrm>
            <a:off x="1325880" y="1874520"/>
            <a:ext cx="914400" cy="914400"/>
          </a:xfrm>
          <a:prstGeom prst="ellipse">
            <a:avLst/>
          </a:prstGeom>
          <a:solidFill>
            <a:schemeClr val="accent1"/>
          </a:solidFill>
          <a:ln/>
        </p:spPr>
      </p:sp>
      <p:pic>
        <p:nvPicPr>
          <p:cNvPr id="5" name="icon-136" descr="preencoded.png">    </p:cNvPr>
          <p:cNvPicPr>
            <a:picLocks noChangeAspect="1"/>
          </p:cNvPicPr>
          <p:nvPr/>
        </p:nvPicPr>
        <p:blipFill>
          <a:blip r:embed="rId1"/>
          <a:stretch>
            <a:fillRect/>
          </a:stretch>
        </p:blipFill>
        <p:spPr>
          <a:xfrm>
            <a:off x="1545336" y="2093976"/>
            <a:ext cx="475488" cy="475488"/>
          </a:xfrm>
          <a:prstGeom prst="rect">
            <a:avLst/>
          </a:prstGeom>
        </p:spPr>
      </p:pic>
      <p:sp>
        <p:nvSpPr>
          <p:cNvPr id="6" name="txt-137"/>
          <p:cNvSpPr txBox="1"/>
          <p:nvPr/>
        </p:nvSpPr>
        <p:spPr>
          <a:xfrm>
            <a:off x="731520" y="2926080"/>
            <a:ext cx="2103120" cy="411480"/>
          </a:xfrm>
          <a:prstGeom prst="rect">
            <a:avLst/>
          </a:prstGeom>
          <a:noFill/>
          <a:ln/>
        </p:spPr>
        <p:txBody>
          <a:bodyPr wrap="square" lIns="0" tIns="0" rIns="0" bIns="0" rtlCol="0" anchor="t"/>
          <a:lstStyle/>
          <a:p>
            <a:pPr algn="ctr" indent="0" marL="0">
              <a:buNone/>
            </a:pPr>
            <a:r>
              <a:rPr lang="en-US" sz="1800" b="1" dirty="0">
                <a:solidFill>
                  <a:schemeClr val="tx1"/>
                </a:solidFill>
                <a:latin typeface="Arial" pitchFamily="34" charset="0"/>
                <a:ea typeface="Arial" pitchFamily="34" charset="-122"/>
                <a:cs typeface="Arial" pitchFamily="34" charset="-120"/>
              </a:rPr>
              <a:t>1. Deskripsikan</a:t>
            </a:r>
            <a:endParaRPr lang="en-US" sz="1800" dirty="0"/>
          </a:p>
        </p:txBody>
      </p:sp>
      <p:sp>
        <p:nvSpPr>
          <p:cNvPr id="7" name="txt-138"/>
          <p:cNvSpPr txBox="1"/>
          <p:nvPr/>
        </p:nvSpPr>
        <p:spPr>
          <a:xfrm>
            <a:off x="777240" y="3383280"/>
            <a:ext cx="2011680" cy="1005840"/>
          </a:xfrm>
          <a:prstGeom prst="rect">
            <a:avLst/>
          </a:prstGeom>
          <a:noFill/>
          <a:ln/>
        </p:spPr>
        <p:txBody>
          <a:bodyPr wrap="square" lIns="0" tIns="0" rIns="0" bIns="0" rtlCol="0" anchor="t"/>
          <a:lstStyle/>
          <a:p>
            <a:pPr algn="ctr" indent="0" marL="0">
              <a:buNone/>
            </a:pPr>
            <a:r>
              <a:rPr lang="en-US" sz="1400" dirty="0">
                <a:solidFill>
                  <a:srgbClr val="5B5677"/>
                </a:solidFill>
              </a:rPr>
              <a:t>Jelaskan apa yang Anda inginkan: fitur, tampilan, perilaku.</a:t>
            </a:r>
            <a:endParaRPr lang="en-US" sz="1400" dirty="0"/>
          </a:p>
        </p:txBody>
      </p:sp>
      <p:pic>
        <p:nvPicPr>
          <p:cNvPr id="8" name="Image 1" descr="preencoded.png">    </p:cNvPr>
          <p:cNvPicPr>
            <a:picLocks noChangeAspect="1"/>
          </p:cNvPicPr>
          <p:nvPr/>
        </p:nvPicPr>
        <p:blipFill>
          <a:blip r:embed="rId2"/>
          <a:stretch>
            <a:fillRect/>
          </a:stretch>
        </p:blipFill>
        <p:spPr>
          <a:xfrm>
            <a:off x="3054096" y="2862072"/>
            <a:ext cx="320040" cy="320040"/>
          </a:xfrm>
          <a:prstGeom prst="rect">
            <a:avLst/>
          </a:prstGeom>
        </p:spPr>
      </p:pic>
      <p:sp>
        <p:nvSpPr>
          <p:cNvPr id="9" name="card-139"/>
          <p:cNvSpPr/>
          <p:nvPr/>
        </p:nvSpPr>
        <p:spPr>
          <a:xfrm>
            <a:off x="3410712" y="1600200"/>
            <a:ext cx="2468880" cy="2926080"/>
          </a:xfrm>
          <a:prstGeom prst="roundRect">
            <a:avLst>
              <a:gd name="adj" fmla="val 5556"/>
            </a:avLst>
          </a:prstGeom>
          <a:solidFill>
            <a:schemeClr val="bg1"/>
          </a:solidFill>
          <a:ln w="12700">
            <a:solidFill>
              <a:srgbClr val="E9E5FF"/>
            </a:solidFill>
            <a:prstDash val="solid"/>
          </a:ln>
          <a:effectLst>
            <a:outerShdw sx="100000" sy="100000" kx="0" ky="0" algn="bl" rotWithShape="0" blurRad="127000" dist="38100" dir="5400000">
              <a:srgbClr val="1A1433">
                <a:alpha val="12000"/>
              </a:srgbClr>
            </a:outerShdw>
          </a:effectLst>
        </p:spPr>
      </p:sp>
      <p:sp>
        <p:nvSpPr>
          <p:cNvPr id="10" name="iconbg-140"/>
          <p:cNvSpPr/>
          <p:nvPr/>
        </p:nvSpPr>
        <p:spPr>
          <a:xfrm>
            <a:off x="4187952" y="1874520"/>
            <a:ext cx="914400" cy="914400"/>
          </a:xfrm>
          <a:prstGeom prst="ellipse">
            <a:avLst/>
          </a:prstGeom>
          <a:solidFill>
            <a:schemeClr val="accent2"/>
          </a:solidFill>
          <a:ln/>
        </p:spPr>
      </p:sp>
      <p:pic>
        <p:nvPicPr>
          <p:cNvPr id="11" name="icon-141" descr="preencoded.png">    </p:cNvPr>
          <p:cNvPicPr>
            <a:picLocks noChangeAspect="1"/>
          </p:cNvPicPr>
          <p:nvPr/>
        </p:nvPicPr>
        <p:blipFill>
          <a:blip r:embed="rId3"/>
          <a:stretch>
            <a:fillRect/>
          </a:stretch>
        </p:blipFill>
        <p:spPr>
          <a:xfrm>
            <a:off x="4407408" y="2093976"/>
            <a:ext cx="475488" cy="475488"/>
          </a:xfrm>
          <a:prstGeom prst="rect">
            <a:avLst/>
          </a:prstGeom>
        </p:spPr>
      </p:pic>
      <p:sp>
        <p:nvSpPr>
          <p:cNvPr id="12" name="txt-142"/>
          <p:cNvSpPr txBox="1"/>
          <p:nvPr/>
        </p:nvSpPr>
        <p:spPr>
          <a:xfrm>
            <a:off x="3593592" y="2926080"/>
            <a:ext cx="2103120" cy="411480"/>
          </a:xfrm>
          <a:prstGeom prst="rect">
            <a:avLst/>
          </a:prstGeom>
          <a:noFill/>
          <a:ln/>
        </p:spPr>
        <p:txBody>
          <a:bodyPr wrap="square" lIns="0" tIns="0" rIns="0" bIns="0" rtlCol="0" anchor="t"/>
          <a:lstStyle/>
          <a:p>
            <a:pPr algn="ctr" indent="0" marL="0">
              <a:buNone/>
            </a:pPr>
            <a:r>
              <a:rPr lang="en-US" sz="1800" b="1" dirty="0">
                <a:solidFill>
                  <a:schemeClr val="tx1"/>
                </a:solidFill>
                <a:latin typeface="Arial" pitchFamily="34" charset="0"/>
                <a:ea typeface="Arial" pitchFamily="34" charset="-122"/>
                <a:cs typeface="Arial" pitchFamily="34" charset="-120"/>
              </a:rPr>
              <a:t>2. Hasilkan</a:t>
            </a:r>
            <a:endParaRPr lang="en-US" sz="1800" dirty="0"/>
          </a:p>
        </p:txBody>
      </p:sp>
      <p:sp>
        <p:nvSpPr>
          <p:cNvPr id="13" name="txt-143"/>
          <p:cNvSpPr txBox="1"/>
          <p:nvPr/>
        </p:nvSpPr>
        <p:spPr>
          <a:xfrm>
            <a:off x="3639312" y="3383280"/>
            <a:ext cx="2011680" cy="1005840"/>
          </a:xfrm>
          <a:prstGeom prst="rect">
            <a:avLst/>
          </a:prstGeom>
          <a:noFill/>
          <a:ln/>
        </p:spPr>
        <p:txBody>
          <a:bodyPr wrap="square" lIns="0" tIns="0" rIns="0" bIns="0" rtlCol="0" anchor="t"/>
          <a:lstStyle/>
          <a:p>
            <a:pPr algn="ctr" indent="0" marL="0">
              <a:buNone/>
            </a:pPr>
            <a:r>
              <a:rPr lang="en-US" sz="1400" dirty="0">
                <a:solidFill>
                  <a:srgbClr val="5B5677"/>
                </a:solidFill>
              </a:rPr>
              <a:t>AI menulis atau mengubah kode di banyak file sekaligus.</a:t>
            </a:r>
            <a:endParaRPr lang="en-US" sz="1400" dirty="0"/>
          </a:p>
        </p:txBody>
      </p:sp>
      <p:pic>
        <p:nvPicPr>
          <p:cNvPr id="14" name="Image 3" descr="preencoded.png">    </p:cNvPr>
          <p:cNvPicPr>
            <a:picLocks noChangeAspect="1"/>
          </p:cNvPicPr>
          <p:nvPr/>
        </p:nvPicPr>
        <p:blipFill>
          <a:blip r:embed="rId4"/>
          <a:stretch>
            <a:fillRect/>
          </a:stretch>
        </p:blipFill>
        <p:spPr>
          <a:xfrm>
            <a:off x="5916168" y="2862072"/>
            <a:ext cx="320040" cy="320040"/>
          </a:xfrm>
          <a:prstGeom prst="rect">
            <a:avLst/>
          </a:prstGeom>
        </p:spPr>
      </p:pic>
      <p:sp>
        <p:nvSpPr>
          <p:cNvPr id="15" name="card-144"/>
          <p:cNvSpPr/>
          <p:nvPr/>
        </p:nvSpPr>
        <p:spPr>
          <a:xfrm>
            <a:off x="6272784" y="1600200"/>
            <a:ext cx="2468880" cy="2926080"/>
          </a:xfrm>
          <a:prstGeom prst="roundRect">
            <a:avLst>
              <a:gd name="adj" fmla="val 5556"/>
            </a:avLst>
          </a:prstGeom>
          <a:solidFill>
            <a:schemeClr val="bg1"/>
          </a:solidFill>
          <a:ln w="12700">
            <a:solidFill>
              <a:srgbClr val="E9E5FF"/>
            </a:solidFill>
            <a:prstDash val="solid"/>
          </a:ln>
          <a:effectLst>
            <a:outerShdw sx="100000" sy="100000" kx="0" ky="0" algn="bl" rotWithShape="0" blurRad="127000" dist="38100" dir="5400000">
              <a:srgbClr val="1A1433">
                <a:alpha val="12000"/>
              </a:srgbClr>
            </a:outerShdw>
          </a:effectLst>
        </p:spPr>
      </p:sp>
      <p:sp>
        <p:nvSpPr>
          <p:cNvPr id="16" name="iconbg-145"/>
          <p:cNvSpPr/>
          <p:nvPr/>
        </p:nvSpPr>
        <p:spPr>
          <a:xfrm>
            <a:off x="7050024" y="1874520"/>
            <a:ext cx="914400" cy="914400"/>
          </a:xfrm>
          <a:prstGeom prst="ellipse">
            <a:avLst/>
          </a:prstGeom>
          <a:solidFill>
            <a:schemeClr val="accent3"/>
          </a:solidFill>
          <a:ln/>
        </p:spPr>
      </p:sp>
      <p:pic>
        <p:nvPicPr>
          <p:cNvPr id="17" name="icon-146" descr="preencoded.png">    </p:cNvPr>
          <p:cNvPicPr>
            <a:picLocks noChangeAspect="1"/>
          </p:cNvPicPr>
          <p:nvPr/>
        </p:nvPicPr>
        <p:blipFill>
          <a:blip r:embed="rId5"/>
          <a:stretch>
            <a:fillRect/>
          </a:stretch>
        </p:blipFill>
        <p:spPr>
          <a:xfrm>
            <a:off x="7269480" y="2093976"/>
            <a:ext cx="475488" cy="475488"/>
          </a:xfrm>
          <a:prstGeom prst="rect">
            <a:avLst/>
          </a:prstGeom>
        </p:spPr>
      </p:pic>
      <p:sp>
        <p:nvSpPr>
          <p:cNvPr id="18" name="txt-147"/>
          <p:cNvSpPr txBox="1"/>
          <p:nvPr/>
        </p:nvSpPr>
        <p:spPr>
          <a:xfrm>
            <a:off x="6455664" y="2926080"/>
            <a:ext cx="2103120" cy="411480"/>
          </a:xfrm>
          <a:prstGeom prst="rect">
            <a:avLst/>
          </a:prstGeom>
          <a:noFill/>
          <a:ln/>
        </p:spPr>
        <p:txBody>
          <a:bodyPr wrap="square" lIns="0" tIns="0" rIns="0" bIns="0" rtlCol="0" anchor="t"/>
          <a:lstStyle/>
          <a:p>
            <a:pPr algn="ctr" indent="0" marL="0">
              <a:buNone/>
            </a:pPr>
            <a:r>
              <a:rPr lang="en-US" sz="1800" b="1" dirty="0">
                <a:solidFill>
                  <a:schemeClr val="tx1"/>
                </a:solidFill>
                <a:latin typeface="Arial" pitchFamily="34" charset="0"/>
                <a:ea typeface="Arial" pitchFamily="34" charset="-122"/>
                <a:cs typeface="Arial" pitchFamily="34" charset="-120"/>
              </a:rPr>
              <a:t>3. Jalankan</a:t>
            </a:r>
            <a:endParaRPr lang="en-US" sz="1800" dirty="0"/>
          </a:p>
        </p:txBody>
      </p:sp>
      <p:sp>
        <p:nvSpPr>
          <p:cNvPr id="19" name="txt-148"/>
          <p:cNvSpPr txBox="1"/>
          <p:nvPr/>
        </p:nvSpPr>
        <p:spPr>
          <a:xfrm>
            <a:off x="6501384" y="3383280"/>
            <a:ext cx="2011680" cy="1005840"/>
          </a:xfrm>
          <a:prstGeom prst="rect">
            <a:avLst/>
          </a:prstGeom>
          <a:noFill/>
          <a:ln/>
        </p:spPr>
        <p:txBody>
          <a:bodyPr wrap="square" lIns="0" tIns="0" rIns="0" bIns="0" rtlCol="0" anchor="t"/>
          <a:lstStyle/>
          <a:p>
            <a:pPr algn="ctr" indent="0" marL="0">
              <a:buNone/>
            </a:pPr>
            <a:r>
              <a:rPr lang="en-US" sz="1400" dirty="0">
                <a:solidFill>
                  <a:srgbClr val="5B5677"/>
                </a:solidFill>
              </a:rPr>
              <a:t>Buka aplikasinya, klik, dan coba seperti pengguna sungguhan.</a:t>
            </a:r>
            <a:endParaRPr lang="en-US" sz="1400" dirty="0"/>
          </a:p>
        </p:txBody>
      </p:sp>
      <p:pic>
        <p:nvPicPr>
          <p:cNvPr id="20" name="Image 5" descr="preencoded.png">    </p:cNvPr>
          <p:cNvPicPr>
            <a:picLocks noChangeAspect="1"/>
          </p:cNvPicPr>
          <p:nvPr/>
        </p:nvPicPr>
        <p:blipFill>
          <a:blip r:embed="rId6"/>
          <a:stretch>
            <a:fillRect/>
          </a:stretch>
        </p:blipFill>
        <p:spPr>
          <a:xfrm>
            <a:off x="8778240" y="2862072"/>
            <a:ext cx="320040" cy="320040"/>
          </a:xfrm>
          <a:prstGeom prst="rect">
            <a:avLst/>
          </a:prstGeom>
        </p:spPr>
      </p:pic>
      <p:sp>
        <p:nvSpPr>
          <p:cNvPr id="21" name="card-149"/>
          <p:cNvSpPr/>
          <p:nvPr/>
        </p:nvSpPr>
        <p:spPr>
          <a:xfrm>
            <a:off x="9134856" y="1600200"/>
            <a:ext cx="2468880" cy="2926080"/>
          </a:xfrm>
          <a:prstGeom prst="roundRect">
            <a:avLst>
              <a:gd name="adj" fmla="val 5556"/>
            </a:avLst>
          </a:prstGeom>
          <a:solidFill>
            <a:schemeClr val="bg1"/>
          </a:solidFill>
          <a:ln w="12700">
            <a:solidFill>
              <a:srgbClr val="E9E5FF"/>
            </a:solidFill>
            <a:prstDash val="solid"/>
          </a:ln>
          <a:effectLst>
            <a:outerShdw sx="100000" sy="100000" kx="0" ky="0" algn="bl" rotWithShape="0" blurRad="127000" dist="38100" dir="5400000">
              <a:srgbClr val="1A1433">
                <a:alpha val="12000"/>
              </a:srgbClr>
            </a:outerShdw>
          </a:effectLst>
        </p:spPr>
      </p:sp>
      <p:sp>
        <p:nvSpPr>
          <p:cNvPr id="22" name="iconbg-150"/>
          <p:cNvSpPr/>
          <p:nvPr/>
        </p:nvSpPr>
        <p:spPr>
          <a:xfrm>
            <a:off x="9912096" y="1874520"/>
            <a:ext cx="914400" cy="914400"/>
          </a:xfrm>
          <a:prstGeom prst="ellipse">
            <a:avLst/>
          </a:prstGeom>
          <a:solidFill>
            <a:schemeClr val="accent4"/>
          </a:solidFill>
          <a:ln/>
        </p:spPr>
      </p:sp>
      <p:pic>
        <p:nvPicPr>
          <p:cNvPr id="23" name="icon-151" descr="preencoded.png">    </p:cNvPr>
          <p:cNvPicPr>
            <a:picLocks noChangeAspect="1"/>
          </p:cNvPicPr>
          <p:nvPr/>
        </p:nvPicPr>
        <p:blipFill>
          <a:blip r:embed="rId7"/>
          <a:stretch>
            <a:fillRect/>
          </a:stretch>
        </p:blipFill>
        <p:spPr>
          <a:xfrm>
            <a:off x="10131552" y="2093976"/>
            <a:ext cx="475488" cy="475488"/>
          </a:xfrm>
          <a:prstGeom prst="rect">
            <a:avLst/>
          </a:prstGeom>
        </p:spPr>
      </p:pic>
      <p:sp>
        <p:nvSpPr>
          <p:cNvPr id="24" name="txt-152"/>
          <p:cNvSpPr txBox="1"/>
          <p:nvPr/>
        </p:nvSpPr>
        <p:spPr>
          <a:xfrm>
            <a:off x="9317736" y="2926080"/>
            <a:ext cx="2103120" cy="411480"/>
          </a:xfrm>
          <a:prstGeom prst="rect">
            <a:avLst/>
          </a:prstGeom>
          <a:noFill/>
          <a:ln/>
        </p:spPr>
        <p:txBody>
          <a:bodyPr wrap="square" lIns="0" tIns="0" rIns="0" bIns="0" rtlCol="0" anchor="t"/>
          <a:lstStyle/>
          <a:p>
            <a:pPr algn="ctr" indent="0" marL="0">
              <a:buNone/>
            </a:pPr>
            <a:r>
              <a:rPr lang="en-US" sz="1800" b="1" dirty="0">
                <a:solidFill>
                  <a:schemeClr val="tx1"/>
                </a:solidFill>
                <a:latin typeface="Arial" pitchFamily="34" charset="0"/>
                <a:ea typeface="Arial" pitchFamily="34" charset="-122"/>
                <a:cs typeface="Arial" pitchFamily="34" charset="-120"/>
              </a:rPr>
              <a:t>4. Nilai &amp; Arahkan</a:t>
            </a:r>
            <a:endParaRPr lang="en-US" sz="1800" dirty="0"/>
          </a:p>
        </p:txBody>
      </p:sp>
      <p:sp>
        <p:nvSpPr>
          <p:cNvPr id="25" name="txt-153"/>
          <p:cNvSpPr txBox="1"/>
          <p:nvPr/>
        </p:nvSpPr>
        <p:spPr>
          <a:xfrm>
            <a:off x="9363456" y="3383280"/>
            <a:ext cx="2011680" cy="1005840"/>
          </a:xfrm>
          <a:prstGeom prst="rect">
            <a:avLst/>
          </a:prstGeom>
          <a:noFill/>
          <a:ln/>
        </p:spPr>
        <p:txBody>
          <a:bodyPr wrap="square" lIns="0" tIns="0" rIns="0" bIns="0" rtlCol="0" anchor="t"/>
          <a:lstStyle/>
          <a:p>
            <a:pPr algn="ctr" indent="0" marL="0">
              <a:buNone/>
            </a:pPr>
            <a:r>
              <a:rPr lang="en-US" sz="1400" dirty="0">
                <a:solidFill>
                  <a:srgbClr val="5B5677"/>
                </a:solidFill>
              </a:rPr>
              <a:t>Tempel error, minta revisi, atau lanjut ke fitur berikutnya.</a:t>
            </a:r>
            <a:endParaRPr lang="en-US" sz="1400" dirty="0"/>
          </a:p>
        </p:txBody>
      </p:sp>
      <p:sp>
        <p:nvSpPr>
          <p:cNvPr id="26" name="Shape 17"/>
          <p:cNvSpPr/>
          <p:nvPr/>
        </p:nvSpPr>
        <p:spPr>
          <a:xfrm>
            <a:off x="548640" y="4846320"/>
            <a:ext cx="11064240" cy="685800"/>
          </a:xfrm>
          <a:prstGeom prst="roundRect">
            <a:avLst>
              <a:gd name="adj" fmla="val 49333"/>
            </a:avLst>
          </a:prstGeom>
          <a:solidFill>
            <a:schemeClr val="bg2"/>
          </a:solidFill>
          <a:ln/>
        </p:spPr>
      </p:sp>
      <p:pic>
        <p:nvPicPr>
          <p:cNvPr id="27" name="Image 7" descr="preencoded.png">    </p:cNvPr>
          <p:cNvPicPr>
            <a:picLocks noChangeAspect="1"/>
          </p:cNvPicPr>
          <p:nvPr/>
        </p:nvPicPr>
        <p:blipFill>
          <a:blip r:embed="rId8"/>
          <a:stretch>
            <a:fillRect/>
          </a:stretch>
        </p:blipFill>
        <p:spPr>
          <a:xfrm>
            <a:off x="822960" y="4983480"/>
            <a:ext cx="411480" cy="411480"/>
          </a:xfrm>
          <a:prstGeom prst="rect">
            <a:avLst/>
          </a:prstGeom>
        </p:spPr>
      </p:pic>
      <p:sp>
        <p:nvSpPr>
          <p:cNvPr id="28" name="txt-154"/>
          <p:cNvSpPr txBox="1"/>
          <p:nvPr/>
        </p:nvSpPr>
        <p:spPr>
          <a:xfrm>
            <a:off x="1417320" y="4846320"/>
            <a:ext cx="9966960" cy="685800"/>
          </a:xfrm>
          <a:prstGeom prst="rect">
            <a:avLst/>
          </a:prstGeom>
          <a:noFill/>
          <a:ln/>
        </p:spPr>
        <p:txBody>
          <a:bodyPr wrap="square" lIns="0" tIns="0" rIns="0" bIns="0" rtlCol="0" anchor="ctr"/>
          <a:lstStyle/>
          <a:p>
            <a:pPr indent="0" marL="0">
              <a:buNone/>
            </a:pPr>
            <a:r>
              <a:rPr lang="en-US" sz="1600" b="1" dirty="0">
                <a:solidFill>
                  <a:schemeClr val="tx1"/>
                </a:solidFill>
              </a:rPr>
              <a:t>Ulangi dalam langkah kecil sampai hasilnya sesuai — satu putaran bisa hanya beberapa menit.</a:t>
            </a:r>
            <a:endParaRPr lang="en-US" sz="1600" dirty="0"/>
          </a:p>
        </p:txBody>
      </p:sp>
      <p:sp>
        <p:nvSpPr>
          <p:cNvPr id="29" name="txt-155"/>
          <p:cNvSpPr txBox="1"/>
          <p:nvPr/>
        </p:nvSpPr>
        <p:spPr>
          <a:xfrm>
            <a:off x="548640" y="5715000"/>
            <a:ext cx="11064240" cy="365760"/>
          </a:xfrm>
          <a:prstGeom prst="rect">
            <a:avLst/>
          </a:prstGeom>
          <a:noFill/>
          <a:ln/>
        </p:spPr>
        <p:txBody>
          <a:bodyPr wrap="square" lIns="0" tIns="0" rIns="0" bIns="0" rtlCol="0" anchor="t"/>
          <a:lstStyle/>
          <a:p>
            <a:pPr indent="0" marL="0">
              <a:buNone/>
            </a:pPr>
            <a:r>
              <a:rPr lang="en-US" sz="1400" i="1" dirty="0">
                <a:solidFill>
                  <a:schemeClr val="accent1"/>
                </a:solidFill>
              </a:rPr>
              <a:t>Kunci: hasil divalidasi dengan menjalankan, bukan dengan memeriksa kode baris demi baris.</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5677"/>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Peran Anda bergeser: dari penulis kode ke sutradara</a:t>
            </a:r>
            <a:endParaRPr lang="en-US" sz="3200" dirty="0"/>
          </a:p>
        </p:txBody>
      </p:sp>
      <p:sp>
        <p:nvSpPr>
          <p:cNvPr id="3" name="card-156"/>
          <p:cNvSpPr/>
          <p:nvPr/>
        </p:nvSpPr>
        <p:spPr>
          <a:xfrm>
            <a:off x="548640" y="1463040"/>
            <a:ext cx="5257800" cy="4617720"/>
          </a:xfrm>
          <a:prstGeom prst="roundRect">
            <a:avLst>
              <a:gd name="adj" fmla="val 2970"/>
            </a:avLst>
          </a:prstGeom>
          <a:solidFill>
            <a:schemeClr val="bg2"/>
          </a:solidFill>
          <a:ln/>
        </p:spPr>
      </p:sp>
      <p:sp>
        <p:nvSpPr>
          <p:cNvPr id="4" name="iconbg-157"/>
          <p:cNvSpPr/>
          <p:nvPr/>
        </p:nvSpPr>
        <p:spPr>
          <a:xfrm>
            <a:off x="868680" y="1737360"/>
            <a:ext cx="640080" cy="640080"/>
          </a:xfrm>
          <a:prstGeom prst="ellipse">
            <a:avLst/>
          </a:prstGeom>
          <a:solidFill>
            <a:srgbClr val="8B85A6"/>
          </a:solidFill>
          <a:ln/>
        </p:spPr>
      </p:sp>
      <p:pic>
        <p:nvPicPr>
          <p:cNvPr id="5" name="icon-158" descr="preencoded.png">    </p:cNvPr>
          <p:cNvPicPr>
            <a:picLocks noChangeAspect="1"/>
          </p:cNvPicPr>
          <p:nvPr/>
        </p:nvPicPr>
        <p:blipFill>
          <a:blip r:embed="rId1"/>
          <a:stretch>
            <a:fillRect/>
          </a:stretch>
        </p:blipFill>
        <p:spPr>
          <a:xfrm>
            <a:off x="1022299" y="1890979"/>
            <a:ext cx="332842" cy="332842"/>
          </a:xfrm>
          <a:prstGeom prst="rect">
            <a:avLst/>
          </a:prstGeom>
        </p:spPr>
      </p:pic>
      <p:sp>
        <p:nvSpPr>
          <p:cNvPr id="6" name="txt-159"/>
          <p:cNvSpPr txBox="1"/>
          <p:nvPr/>
        </p:nvSpPr>
        <p:spPr>
          <a:xfrm>
            <a:off x="1691640" y="1737360"/>
            <a:ext cx="3657600" cy="640080"/>
          </a:xfrm>
          <a:prstGeom prst="rect">
            <a:avLst/>
          </a:prstGeom>
          <a:noFill/>
          <a:ln/>
        </p:spPr>
        <p:txBody>
          <a:bodyPr wrap="square" lIns="0" tIns="0" rIns="0" bIns="0" rtlCol="0" anchor="ctr"/>
          <a:lstStyle/>
          <a:p>
            <a:pPr indent="0" marL="0">
              <a:buNone/>
            </a:pPr>
            <a:r>
              <a:rPr lang="en-US" sz="2200" b="1" dirty="0">
                <a:solidFill>
                  <a:schemeClr val="tx1"/>
                </a:solidFill>
                <a:latin typeface="Arial" pitchFamily="34" charset="0"/>
                <a:ea typeface="Arial" pitchFamily="34" charset="-122"/>
                <a:cs typeface="Arial" pitchFamily="34" charset="-120"/>
              </a:rPr>
              <a:t>Cara lama</a:t>
            </a:r>
            <a:endParaRPr lang="en-US" sz="2200" dirty="0"/>
          </a:p>
        </p:txBody>
      </p:sp>
      <p:sp>
        <p:nvSpPr>
          <p:cNvPr id="7" name="card-160"/>
          <p:cNvSpPr/>
          <p:nvPr/>
        </p:nvSpPr>
        <p:spPr>
          <a:xfrm>
            <a:off x="6355080" y="1463040"/>
            <a:ext cx="5257800" cy="4617720"/>
          </a:xfrm>
          <a:prstGeom prst="roundRect">
            <a:avLst>
              <a:gd name="adj" fmla="val 2970"/>
            </a:avLst>
          </a:prstGeom>
          <a:solidFill>
            <a:schemeClr val="accent1"/>
          </a:solidFill>
          <a:ln/>
          <a:effectLst>
            <a:outerShdw sx="100000" sy="100000" kx="0" ky="0" algn="bl" rotWithShape="0" blurRad="127000" dist="38100" dir="5400000">
              <a:srgbClr val="1A1433">
                <a:alpha val="12000"/>
              </a:srgbClr>
            </a:outerShdw>
          </a:effectLst>
        </p:spPr>
      </p:sp>
      <p:sp>
        <p:nvSpPr>
          <p:cNvPr id="8" name="iconbg-161"/>
          <p:cNvSpPr/>
          <p:nvPr/>
        </p:nvSpPr>
        <p:spPr>
          <a:xfrm>
            <a:off x="6675120" y="1737360"/>
            <a:ext cx="640080" cy="640080"/>
          </a:xfrm>
          <a:prstGeom prst="ellipse">
            <a:avLst/>
          </a:prstGeom>
          <a:solidFill>
            <a:schemeClr val="bg1"/>
          </a:solidFill>
          <a:ln/>
        </p:spPr>
      </p:sp>
      <p:pic>
        <p:nvPicPr>
          <p:cNvPr id="9" name="icon-162" descr="preencoded.png">    </p:cNvPr>
          <p:cNvPicPr>
            <a:picLocks noChangeAspect="1"/>
          </p:cNvPicPr>
          <p:nvPr/>
        </p:nvPicPr>
        <p:blipFill>
          <a:blip r:embed="rId2"/>
          <a:stretch>
            <a:fillRect/>
          </a:stretch>
        </p:blipFill>
        <p:spPr>
          <a:xfrm>
            <a:off x="6828739" y="1890979"/>
            <a:ext cx="332842" cy="332842"/>
          </a:xfrm>
          <a:prstGeom prst="rect">
            <a:avLst/>
          </a:prstGeom>
        </p:spPr>
      </p:pic>
      <p:sp>
        <p:nvSpPr>
          <p:cNvPr id="10" name="txt-163"/>
          <p:cNvSpPr txBox="1"/>
          <p:nvPr/>
        </p:nvSpPr>
        <p:spPr>
          <a:xfrm>
            <a:off x="7498080" y="1737360"/>
            <a:ext cx="3657600" cy="64008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Cara vibe coding</a:t>
            </a:r>
            <a:endParaRPr lang="en-US" sz="2200" dirty="0"/>
          </a:p>
        </p:txBody>
      </p:sp>
      <p:pic>
        <p:nvPicPr>
          <p:cNvPr id="11" name="Image 2" descr="preencoded.png">    </p:cNvPr>
          <p:cNvPicPr>
            <a:picLocks noChangeAspect="1"/>
          </p:cNvPicPr>
          <p:nvPr/>
        </p:nvPicPr>
        <p:blipFill>
          <a:blip r:embed="rId3"/>
          <a:stretch>
            <a:fillRect/>
          </a:stretch>
        </p:blipFill>
        <p:spPr>
          <a:xfrm>
            <a:off x="868680" y="2679192"/>
            <a:ext cx="292608" cy="292608"/>
          </a:xfrm>
          <a:prstGeom prst="rect">
            <a:avLst/>
          </a:prstGeom>
        </p:spPr>
      </p:pic>
      <p:sp>
        <p:nvSpPr>
          <p:cNvPr id="12" name="txt-164"/>
          <p:cNvSpPr txBox="1"/>
          <p:nvPr/>
        </p:nvSpPr>
        <p:spPr>
          <a:xfrm>
            <a:off x="1325880" y="2606040"/>
            <a:ext cx="4297680" cy="457200"/>
          </a:xfrm>
          <a:prstGeom prst="rect">
            <a:avLst/>
          </a:prstGeom>
          <a:noFill/>
          <a:ln/>
        </p:spPr>
        <p:txBody>
          <a:bodyPr wrap="square" lIns="0" tIns="0" rIns="0" bIns="0" rtlCol="0" anchor="ctr"/>
          <a:lstStyle/>
          <a:p>
            <a:pPr indent="0" marL="0">
              <a:buNone/>
            </a:pPr>
            <a:r>
              <a:rPr lang="en-US" sz="1500" dirty="0">
                <a:solidFill>
                  <a:srgbClr val="1A1433"/>
                </a:solidFill>
              </a:rPr>
              <a:t>Mengetik sintaks baris demi baris</a:t>
            </a:r>
            <a:endParaRPr lang="en-US" sz="1500" dirty="0"/>
          </a:p>
        </p:txBody>
      </p:sp>
      <p:pic>
        <p:nvPicPr>
          <p:cNvPr id="13" name="Image 3" descr="preencoded.png">    </p:cNvPr>
          <p:cNvPicPr>
            <a:picLocks noChangeAspect="1"/>
          </p:cNvPicPr>
          <p:nvPr/>
        </p:nvPicPr>
        <p:blipFill>
          <a:blip r:embed="rId4"/>
          <a:stretch>
            <a:fillRect/>
          </a:stretch>
        </p:blipFill>
        <p:spPr>
          <a:xfrm>
            <a:off x="6675120" y="2679192"/>
            <a:ext cx="292608" cy="292608"/>
          </a:xfrm>
          <a:prstGeom prst="rect">
            <a:avLst/>
          </a:prstGeom>
        </p:spPr>
      </p:pic>
      <p:sp>
        <p:nvSpPr>
          <p:cNvPr id="14" name="txt-165"/>
          <p:cNvSpPr txBox="1"/>
          <p:nvPr/>
        </p:nvSpPr>
        <p:spPr>
          <a:xfrm>
            <a:off x="7132320" y="2606040"/>
            <a:ext cx="4297680" cy="457200"/>
          </a:xfrm>
          <a:prstGeom prst="rect">
            <a:avLst/>
          </a:prstGeom>
          <a:noFill/>
          <a:ln/>
        </p:spPr>
        <p:txBody>
          <a:bodyPr wrap="square" lIns="0" tIns="0" rIns="0" bIns="0" rtlCol="0" anchor="ctr"/>
          <a:lstStyle/>
          <a:p>
            <a:pPr indent="0" marL="0">
              <a:buNone/>
            </a:pPr>
            <a:r>
              <a:rPr lang="en-US" sz="1500" dirty="0">
                <a:solidFill>
                  <a:srgbClr val="FFFFFF"/>
                </a:solidFill>
              </a:rPr>
              <a:t>Menjelaskan tujuan dan hasil yang diharapkan</a:t>
            </a:r>
            <a:endParaRPr lang="en-US" sz="1500" dirty="0"/>
          </a:p>
        </p:txBody>
      </p:sp>
      <p:pic>
        <p:nvPicPr>
          <p:cNvPr id="15" name="Image 4" descr="preencoded.png">    </p:cNvPr>
          <p:cNvPicPr>
            <a:picLocks noChangeAspect="1"/>
          </p:cNvPicPr>
          <p:nvPr/>
        </p:nvPicPr>
        <p:blipFill>
          <a:blip r:embed="rId5"/>
          <a:stretch>
            <a:fillRect/>
          </a:stretch>
        </p:blipFill>
        <p:spPr>
          <a:xfrm>
            <a:off x="868680" y="3355848"/>
            <a:ext cx="292608" cy="292608"/>
          </a:xfrm>
          <a:prstGeom prst="rect">
            <a:avLst/>
          </a:prstGeom>
        </p:spPr>
      </p:pic>
      <p:sp>
        <p:nvSpPr>
          <p:cNvPr id="16" name="txt-166"/>
          <p:cNvSpPr txBox="1"/>
          <p:nvPr/>
        </p:nvSpPr>
        <p:spPr>
          <a:xfrm>
            <a:off x="1325880" y="3282696"/>
            <a:ext cx="4297680" cy="457200"/>
          </a:xfrm>
          <a:prstGeom prst="rect">
            <a:avLst/>
          </a:prstGeom>
          <a:noFill/>
          <a:ln/>
        </p:spPr>
        <p:txBody>
          <a:bodyPr wrap="square" lIns="0" tIns="0" rIns="0" bIns="0" rtlCol="0" anchor="ctr"/>
          <a:lstStyle/>
          <a:p>
            <a:pPr indent="0" marL="0">
              <a:buNone/>
            </a:pPr>
            <a:r>
              <a:rPr lang="en-US" sz="1500" dirty="0">
                <a:solidFill>
                  <a:srgbClr val="1A1433"/>
                </a:solidFill>
              </a:rPr>
              <a:t>Mencari solusi di dokumentasi</a:t>
            </a:r>
            <a:endParaRPr lang="en-US" sz="1500" dirty="0"/>
          </a:p>
        </p:txBody>
      </p:sp>
      <p:pic>
        <p:nvPicPr>
          <p:cNvPr id="17" name="Image 5" descr="preencoded.png">    </p:cNvPr>
          <p:cNvPicPr>
            <a:picLocks noChangeAspect="1"/>
          </p:cNvPicPr>
          <p:nvPr/>
        </p:nvPicPr>
        <p:blipFill>
          <a:blip r:embed="rId6"/>
          <a:stretch>
            <a:fillRect/>
          </a:stretch>
        </p:blipFill>
        <p:spPr>
          <a:xfrm>
            <a:off x="6675120" y="3355848"/>
            <a:ext cx="292608" cy="292608"/>
          </a:xfrm>
          <a:prstGeom prst="rect">
            <a:avLst/>
          </a:prstGeom>
        </p:spPr>
      </p:pic>
      <p:sp>
        <p:nvSpPr>
          <p:cNvPr id="18" name="txt-167"/>
          <p:cNvSpPr txBox="1"/>
          <p:nvPr/>
        </p:nvSpPr>
        <p:spPr>
          <a:xfrm>
            <a:off x="7132320" y="3282696"/>
            <a:ext cx="4297680" cy="457200"/>
          </a:xfrm>
          <a:prstGeom prst="rect">
            <a:avLst/>
          </a:prstGeom>
          <a:noFill/>
          <a:ln/>
        </p:spPr>
        <p:txBody>
          <a:bodyPr wrap="square" lIns="0" tIns="0" rIns="0" bIns="0" rtlCol="0" anchor="ctr"/>
          <a:lstStyle/>
          <a:p>
            <a:pPr indent="0" marL="0">
              <a:buNone/>
            </a:pPr>
            <a:r>
              <a:rPr lang="en-US" sz="1500" dirty="0">
                <a:solidFill>
                  <a:srgbClr val="FFFFFF"/>
                </a:solidFill>
              </a:rPr>
              <a:t>Memberi AI konteks: file, contoh, dokumentasi</a:t>
            </a:r>
            <a:endParaRPr lang="en-US" sz="1500" dirty="0"/>
          </a:p>
        </p:txBody>
      </p:sp>
      <p:pic>
        <p:nvPicPr>
          <p:cNvPr id="19" name="Image 6" descr="preencoded.png">    </p:cNvPr>
          <p:cNvPicPr>
            <a:picLocks noChangeAspect="1"/>
          </p:cNvPicPr>
          <p:nvPr/>
        </p:nvPicPr>
        <p:blipFill>
          <a:blip r:embed="rId7"/>
          <a:stretch>
            <a:fillRect/>
          </a:stretch>
        </p:blipFill>
        <p:spPr>
          <a:xfrm>
            <a:off x="868680" y="4032504"/>
            <a:ext cx="292608" cy="292608"/>
          </a:xfrm>
          <a:prstGeom prst="rect">
            <a:avLst/>
          </a:prstGeom>
        </p:spPr>
      </p:pic>
      <p:sp>
        <p:nvSpPr>
          <p:cNvPr id="20" name="txt-168"/>
          <p:cNvSpPr txBox="1"/>
          <p:nvPr/>
        </p:nvSpPr>
        <p:spPr>
          <a:xfrm>
            <a:off x="1325880" y="3959352"/>
            <a:ext cx="4297680" cy="457200"/>
          </a:xfrm>
          <a:prstGeom prst="rect">
            <a:avLst/>
          </a:prstGeom>
          <a:noFill/>
          <a:ln/>
        </p:spPr>
        <p:txBody>
          <a:bodyPr wrap="square" lIns="0" tIns="0" rIns="0" bIns="0" rtlCol="0" anchor="ctr"/>
          <a:lstStyle/>
          <a:p>
            <a:pPr indent="0" marL="0">
              <a:buNone/>
            </a:pPr>
            <a:r>
              <a:rPr lang="en-US" sz="1500" dirty="0">
                <a:solidFill>
                  <a:srgbClr val="1A1433"/>
                </a:solidFill>
              </a:rPr>
              <a:t>Debug dengan membaca kode</a:t>
            </a:r>
            <a:endParaRPr lang="en-US" sz="1500" dirty="0"/>
          </a:p>
        </p:txBody>
      </p:sp>
      <p:pic>
        <p:nvPicPr>
          <p:cNvPr id="21" name="Image 7" descr="preencoded.png">    </p:cNvPr>
          <p:cNvPicPr>
            <a:picLocks noChangeAspect="1"/>
          </p:cNvPicPr>
          <p:nvPr/>
        </p:nvPicPr>
        <p:blipFill>
          <a:blip r:embed="rId8"/>
          <a:stretch>
            <a:fillRect/>
          </a:stretch>
        </p:blipFill>
        <p:spPr>
          <a:xfrm>
            <a:off x="6675120" y="4032504"/>
            <a:ext cx="292608" cy="292608"/>
          </a:xfrm>
          <a:prstGeom prst="rect">
            <a:avLst/>
          </a:prstGeom>
        </p:spPr>
      </p:pic>
      <p:sp>
        <p:nvSpPr>
          <p:cNvPr id="22" name="txt-169"/>
          <p:cNvSpPr txBox="1"/>
          <p:nvPr/>
        </p:nvSpPr>
        <p:spPr>
          <a:xfrm>
            <a:off x="7132320" y="3959352"/>
            <a:ext cx="4297680" cy="457200"/>
          </a:xfrm>
          <a:prstGeom prst="rect">
            <a:avLst/>
          </a:prstGeom>
          <a:noFill/>
          <a:ln/>
        </p:spPr>
        <p:txBody>
          <a:bodyPr wrap="square" lIns="0" tIns="0" rIns="0" bIns="0" rtlCol="0" anchor="ctr"/>
          <a:lstStyle/>
          <a:p>
            <a:pPr indent="0" marL="0">
              <a:buNone/>
            </a:pPr>
            <a:r>
              <a:rPr lang="en-US" sz="1500" dirty="0">
                <a:solidFill>
                  <a:srgbClr val="FFFFFF"/>
                </a:solidFill>
              </a:rPr>
              <a:t>Menempel error dan menguji perilaku aplikasi</a:t>
            </a:r>
            <a:endParaRPr lang="en-US" sz="1500" dirty="0"/>
          </a:p>
        </p:txBody>
      </p:sp>
      <p:pic>
        <p:nvPicPr>
          <p:cNvPr id="23" name="Image 8" descr="preencoded.png">    </p:cNvPr>
          <p:cNvPicPr>
            <a:picLocks noChangeAspect="1"/>
          </p:cNvPicPr>
          <p:nvPr/>
        </p:nvPicPr>
        <p:blipFill>
          <a:blip r:embed="rId9"/>
          <a:stretch>
            <a:fillRect/>
          </a:stretch>
        </p:blipFill>
        <p:spPr>
          <a:xfrm>
            <a:off x="868680" y="4709160"/>
            <a:ext cx="292608" cy="292608"/>
          </a:xfrm>
          <a:prstGeom prst="rect">
            <a:avLst/>
          </a:prstGeom>
        </p:spPr>
      </p:pic>
      <p:sp>
        <p:nvSpPr>
          <p:cNvPr id="24" name="txt-170"/>
          <p:cNvSpPr txBox="1"/>
          <p:nvPr/>
        </p:nvSpPr>
        <p:spPr>
          <a:xfrm>
            <a:off x="1325880" y="4636008"/>
            <a:ext cx="4297680" cy="457200"/>
          </a:xfrm>
          <a:prstGeom prst="rect">
            <a:avLst/>
          </a:prstGeom>
          <a:noFill/>
          <a:ln/>
        </p:spPr>
        <p:txBody>
          <a:bodyPr wrap="square" lIns="0" tIns="0" rIns="0" bIns="0" rtlCol="0" anchor="ctr"/>
          <a:lstStyle/>
          <a:p>
            <a:pPr indent="0" marL="0">
              <a:buNone/>
            </a:pPr>
            <a:r>
              <a:rPr lang="en-US" sz="1500" dirty="0">
                <a:solidFill>
                  <a:srgbClr val="1A1433"/>
                </a:solidFill>
              </a:rPr>
              <a:t>Fokus pada “bagaimana”</a:t>
            </a:r>
            <a:endParaRPr lang="en-US" sz="1500" dirty="0"/>
          </a:p>
        </p:txBody>
      </p:sp>
      <p:pic>
        <p:nvPicPr>
          <p:cNvPr id="25" name="Image 9" descr="preencoded.png">    </p:cNvPr>
          <p:cNvPicPr>
            <a:picLocks noChangeAspect="1"/>
          </p:cNvPicPr>
          <p:nvPr/>
        </p:nvPicPr>
        <p:blipFill>
          <a:blip r:embed="rId10"/>
          <a:stretch>
            <a:fillRect/>
          </a:stretch>
        </p:blipFill>
        <p:spPr>
          <a:xfrm>
            <a:off x="6675120" y="4709160"/>
            <a:ext cx="292608" cy="292608"/>
          </a:xfrm>
          <a:prstGeom prst="rect">
            <a:avLst/>
          </a:prstGeom>
        </p:spPr>
      </p:pic>
      <p:sp>
        <p:nvSpPr>
          <p:cNvPr id="26" name="txt-171"/>
          <p:cNvSpPr txBox="1"/>
          <p:nvPr/>
        </p:nvSpPr>
        <p:spPr>
          <a:xfrm>
            <a:off x="7132320" y="4636008"/>
            <a:ext cx="4297680" cy="457200"/>
          </a:xfrm>
          <a:prstGeom prst="rect">
            <a:avLst/>
          </a:prstGeom>
          <a:noFill/>
          <a:ln/>
        </p:spPr>
        <p:txBody>
          <a:bodyPr wrap="square" lIns="0" tIns="0" rIns="0" bIns="0" rtlCol="0" anchor="ctr"/>
          <a:lstStyle/>
          <a:p>
            <a:pPr indent="0" marL="0">
              <a:buNone/>
            </a:pPr>
            <a:r>
              <a:rPr lang="en-US" sz="1500" dirty="0">
                <a:solidFill>
                  <a:srgbClr val="FFFFFF"/>
                </a:solidFill>
              </a:rPr>
              <a:t>Fokus pada “apa” dan “mengapa”</a:t>
            </a:r>
            <a:endParaRPr lang="en-US" sz="1500" dirty="0"/>
          </a:p>
        </p:txBody>
      </p:sp>
      <p:pic>
        <p:nvPicPr>
          <p:cNvPr id="27" name="Image 10" descr="preencoded.png">    </p:cNvPr>
          <p:cNvPicPr>
            <a:picLocks noChangeAspect="1"/>
          </p:cNvPicPr>
          <p:nvPr/>
        </p:nvPicPr>
        <p:blipFill>
          <a:blip r:embed="rId11"/>
          <a:stretch>
            <a:fillRect/>
          </a:stretch>
        </p:blipFill>
        <p:spPr>
          <a:xfrm>
            <a:off x="868680" y="5385816"/>
            <a:ext cx="292608" cy="292608"/>
          </a:xfrm>
          <a:prstGeom prst="rect">
            <a:avLst/>
          </a:prstGeom>
        </p:spPr>
      </p:pic>
      <p:sp>
        <p:nvSpPr>
          <p:cNvPr id="28" name="txt-172"/>
          <p:cNvSpPr txBox="1"/>
          <p:nvPr/>
        </p:nvSpPr>
        <p:spPr>
          <a:xfrm>
            <a:off x="1325880" y="5312664"/>
            <a:ext cx="4297680" cy="457200"/>
          </a:xfrm>
          <a:prstGeom prst="rect">
            <a:avLst/>
          </a:prstGeom>
          <a:noFill/>
          <a:ln/>
        </p:spPr>
        <p:txBody>
          <a:bodyPr wrap="square" lIns="0" tIns="0" rIns="0" bIns="0" rtlCol="0" anchor="ctr"/>
          <a:lstStyle/>
          <a:p>
            <a:pPr indent="0" marL="0">
              <a:buNone/>
            </a:pPr>
            <a:r>
              <a:rPr lang="en-US" sz="1500" dirty="0">
                <a:solidFill>
                  <a:srgbClr val="1A1433"/>
                </a:solidFill>
              </a:rPr>
              <a:t>Keahlian utama: bahasa pemrograman</a:t>
            </a:r>
            <a:endParaRPr lang="en-US" sz="1500" dirty="0"/>
          </a:p>
        </p:txBody>
      </p:sp>
      <p:pic>
        <p:nvPicPr>
          <p:cNvPr id="29" name="Image 11" descr="preencoded.png">    </p:cNvPr>
          <p:cNvPicPr>
            <a:picLocks noChangeAspect="1"/>
          </p:cNvPicPr>
          <p:nvPr/>
        </p:nvPicPr>
        <p:blipFill>
          <a:blip r:embed="rId12"/>
          <a:stretch>
            <a:fillRect/>
          </a:stretch>
        </p:blipFill>
        <p:spPr>
          <a:xfrm>
            <a:off x="6675120" y="5385816"/>
            <a:ext cx="292608" cy="292608"/>
          </a:xfrm>
          <a:prstGeom prst="rect">
            <a:avLst/>
          </a:prstGeom>
        </p:spPr>
      </p:pic>
      <p:sp>
        <p:nvSpPr>
          <p:cNvPr id="30" name="txt-173"/>
          <p:cNvSpPr txBox="1"/>
          <p:nvPr/>
        </p:nvSpPr>
        <p:spPr>
          <a:xfrm>
            <a:off x="7132320" y="5312664"/>
            <a:ext cx="4297680" cy="457200"/>
          </a:xfrm>
          <a:prstGeom prst="rect">
            <a:avLst/>
          </a:prstGeom>
          <a:noFill/>
          <a:ln/>
        </p:spPr>
        <p:txBody>
          <a:bodyPr wrap="square" lIns="0" tIns="0" rIns="0" bIns="0" rtlCol="0" anchor="ctr"/>
          <a:lstStyle/>
          <a:p>
            <a:pPr indent="0" marL="0">
              <a:buNone/>
            </a:pPr>
            <a:r>
              <a:rPr lang="en-US" sz="1500" dirty="0">
                <a:solidFill>
                  <a:srgbClr val="FFFFFF"/>
                </a:solidFill>
              </a:rPr>
              <a:t>Keahlian utama: berpikir jernih &amp; menilai hasil</a:t>
            </a:r>
            <a:endParaRPr lang="en-US" sz="1500" dirty="0"/>
          </a:p>
        </p:txBody>
      </p:sp>
      <p:pic>
        <p:nvPicPr>
          <p:cNvPr id="31" name="Image 12" descr="preencoded.png">    </p:cNvPr>
          <p:cNvPicPr>
            <a:picLocks noChangeAspect="1"/>
          </p:cNvPicPr>
          <p:nvPr/>
        </p:nvPicPr>
        <p:blipFill>
          <a:blip r:embed="rId13"/>
          <a:stretch>
            <a:fillRect/>
          </a:stretch>
        </p:blipFill>
        <p:spPr>
          <a:xfrm>
            <a:off x="5879592" y="3566160"/>
            <a:ext cx="411480" cy="411480"/>
          </a:xfrm>
          <a:prstGeom prst="rect">
            <a:avLst/>
          </a:prstGeom>
        </p:spPr>
      </p:pic>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5677"/>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Anatomi prompt yang efektif</a:t>
            </a:r>
            <a:endParaRPr lang="en-US" sz="3200" dirty="0"/>
          </a:p>
        </p:txBody>
      </p:sp>
      <p:sp>
        <p:nvSpPr>
          <p:cNvPr id="3" name="Shape 1"/>
          <p:cNvSpPr/>
          <p:nvPr/>
        </p:nvSpPr>
        <p:spPr>
          <a:xfrm>
            <a:off x="548640" y="1463040"/>
            <a:ext cx="502920" cy="502920"/>
          </a:xfrm>
          <a:prstGeom prst="roundRect">
            <a:avLst>
              <a:gd name="adj" fmla="val 21818"/>
            </a:avLst>
          </a:prstGeom>
          <a:solidFill>
            <a:srgbClr val="7C3AED"/>
          </a:solidFill>
          <a:ln/>
        </p:spPr>
      </p:sp>
      <p:sp>
        <p:nvSpPr>
          <p:cNvPr id="4" name="txt-174"/>
          <p:cNvSpPr txBox="1"/>
          <p:nvPr/>
        </p:nvSpPr>
        <p:spPr>
          <a:xfrm>
            <a:off x="548640" y="14630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5" name="txt-175"/>
          <p:cNvSpPr txBox="1"/>
          <p:nvPr/>
        </p:nvSpPr>
        <p:spPr>
          <a:xfrm>
            <a:off x="1280160" y="1417320"/>
            <a:ext cx="3840480" cy="347472"/>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Konteks</a:t>
            </a:r>
            <a:endParaRPr lang="en-US" sz="1700" dirty="0"/>
          </a:p>
        </p:txBody>
      </p:sp>
      <p:sp>
        <p:nvSpPr>
          <p:cNvPr id="6" name="txt-176"/>
          <p:cNvSpPr txBox="1"/>
          <p:nvPr/>
        </p:nvSpPr>
        <p:spPr>
          <a:xfrm>
            <a:off x="1280160" y="1764792"/>
            <a:ext cx="4023360" cy="365760"/>
          </a:xfrm>
          <a:prstGeom prst="rect">
            <a:avLst/>
          </a:prstGeom>
          <a:noFill/>
          <a:ln/>
        </p:spPr>
        <p:txBody>
          <a:bodyPr wrap="square" lIns="0" tIns="0" rIns="0" bIns="0" rtlCol="0" anchor="t"/>
          <a:lstStyle/>
          <a:p>
            <a:pPr indent="0" marL="0">
              <a:buNone/>
            </a:pPr>
            <a:r>
              <a:rPr lang="en-US" sz="1400" dirty="0">
                <a:solidFill>
                  <a:srgbClr val="5B5677"/>
                </a:solidFill>
              </a:rPr>
              <a:t>Proyek apa, teknologi apa, siapa penggunanya</a:t>
            </a:r>
            <a:endParaRPr lang="en-US" sz="1400" dirty="0"/>
          </a:p>
        </p:txBody>
      </p:sp>
      <p:sp>
        <p:nvSpPr>
          <p:cNvPr id="7" name="Shape 5"/>
          <p:cNvSpPr/>
          <p:nvPr/>
        </p:nvSpPr>
        <p:spPr>
          <a:xfrm>
            <a:off x="548640" y="2377440"/>
            <a:ext cx="502920" cy="502920"/>
          </a:xfrm>
          <a:prstGeom prst="roundRect">
            <a:avLst>
              <a:gd name="adj" fmla="val 21818"/>
            </a:avLst>
          </a:prstGeom>
          <a:solidFill>
            <a:srgbClr val="EC4899"/>
          </a:solidFill>
          <a:ln/>
        </p:spPr>
      </p:sp>
      <p:sp>
        <p:nvSpPr>
          <p:cNvPr id="8" name="txt-177"/>
          <p:cNvSpPr txBox="1"/>
          <p:nvPr/>
        </p:nvSpPr>
        <p:spPr>
          <a:xfrm>
            <a:off x="548640" y="23774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9" name="txt-178"/>
          <p:cNvSpPr txBox="1"/>
          <p:nvPr/>
        </p:nvSpPr>
        <p:spPr>
          <a:xfrm>
            <a:off x="1280160" y="2331720"/>
            <a:ext cx="3840480" cy="347472"/>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Tujuan</a:t>
            </a:r>
            <a:endParaRPr lang="en-US" sz="1700" dirty="0"/>
          </a:p>
        </p:txBody>
      </p:sp>
      <p:sp>
        <p:nvSpPr>
          <p:cNvPr id="10" name="txt-179"/>
          <p:cNvSpPr txBox="1"/>
          <p:nvPr/>
        </p:nvSpPr>
        <p:spPr>
          <a:xfrm>
            <a:off x="1280160" y="2679192"/>
            <a:ext cx="4023360" cy="365760"/>
          </a:xfrm>
          <a:prstGeom prst="rect">
            <a:avLst/>
          </a:prstGeom>
          <a:noFill/>
          <a:ln/>
        </p:spPr>
        <p:txBody>
          <a:bodyPr wrap="square" lIns="0" tIns="0" rIns="0" bIns="0" rtlCol="0" anchor="t"/>
          <a:lstStyle/>
          <a:p>
            <a:pPr indent="0" marL="0">
              <a:buNone/>
            </a:pPr>
            <a:r>
              <a:rPr lang="en-US" sz="1400" dirty="0">
                <a:solidFill>
                  <a:srgbClr val="5B5677"/>
                </a:solidFill>
              </a:rPr>
              <a:t>Satu hal spesifik yang ingin dicapai sekarang</a:t>
            </a:r>
            <a:endParaRPr lang="en-US" sz="1400" dirty="0"/>
          </a:p>
        </p:txBody>
      </p:sp>
      <p:sp>
        <p:nvSpPr>
          <p:cNvPr id="11" name="Shape 9"/>
          <p:cNvSpPr/>
          <p:nvPr/>
        </p:nvSpPr>
        <p:spPr>
          <a:xfrm>
            <a:off x="548640" y="3291840"/>
            <a:ext cx="502920" cy="502920"/>
          </a:xfrm>
          <a:prstGeom prst="roundRect">
            <a:avLst>
              <a:gd name="adj" fmla="val 21818"/>
            </a:avLst>
          </a:prstGeom>
          <a:solidFill>
            <a:srgbClr val="0891B2"/>
          </a:solidFill>
          <a:ln/>
        </p:spPr>
      </p:sp>
      <p:sp>
        <p:nvSpPr>
          <p:cNvPr id="12" name="txt-180"/>
          <p:cNvSpPr txBox="1"/>
          <p:nvPr/>
        </p:nvSpPr>
        <p:spPr>
          <a:xfrm>
            <a:off x="548640" y="32918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3" name="txt-181"/>
          <p:cNvSpPr txBox="1"/>
          <p:nvPr/>
        </p:nvSpPr>
        <p:spPr>
          <a:xfrm>
            <a:off x="1280160" y="3246120"/>
            <a:ext cx="3840480" cy="347472"/>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Batasan</a:t>
            </a:r>
            <a:endParaRPr lang="en-US" sz="1700" dirty="0"/>
          </a:p>
        </p:txBody>
      </p:sp>
      <p:sp>
        <p:nvSpPr>
          <p:cNvPr id="14" name="txt-182"/>
          <p:cNvSpPr txBox="1"/>
          <p:nvPr/>
        </p:nvSpPr>
        <p:spPr>
          <a:xfrm>
            <a:off x="1280160" y="3593592"/>
            <a:ext cx="4023360" cy="365760"/>
          </a:xfrm>
          <a:prstGeom prst="rect">
            <a:avLst/>
          </a:prstGeom>
          <a:noFill/>
          <a:ln/>
        </p:spPr>
        <p:txBody>
          <a:bodyPr wrap="square" lIns="0" tIns="0" rIns="0" bIns="0" rtlCol="0" anchor="t"/>
          <a:lstStyle/>
          <a:p>
            <a:pPr indent="0" marL="0">
              <a:buNone/>
            </a:pPr>
            <a:r>
              <a:rPr lang="en-US" sz="1400" dirty="0">
                <a:solidFill>
                  <a:srgbClr val="5B5677"/>
                </a:solidFill>
              </a:rPr>
              <a:t>Apa yang tidak boleh diubah atau dipakai</a:t>
            </a:r>
            <a:endParaRPr lang="en-US" sz="1400" dirty="0"/>
          </a:p>
        </p:txBody>
      </p:sp>
      <p:sp>
        <p:nvSpPr>
          <p:cNvPr id="15" name="Shape 13"/>
          <p:cNvSpPr/>
          <p:nvPr/>
        </p:nvSpPr>
        <p:spPr>
          <a:xfrm>
            <a:off x="548640" y="4206240"/>
            <a:ext cx="502920" cy="502920"/>
          </a:xfrm>
          <a:prstGeom prst="roundRect">
            <a:avLst>
              <a:gd name="adj" fmla="val 21818"/>
            </a:avLst>
          </a:prstGeom>
          <a:solidFill>
            <a:srgbClr val="F59E0B"/>
          </a:solidFill>
          <a:ln/>
        </p:spPr>
      </p:sp>
      <p:sp>
        <p:nvSpPr>
          <p:cNvPr id="16" name="txt-183"/>
          <p:cNvSpPr txBox="1"/>
          <p:nvPr/>
        </p:nvSpPr>
        <p:spPr>
          <a:xfrm>
            <a:off x="548640" y="42062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7" name="txt-184"/>
          <p:cNvSpPr txBox="1"/>
          <p:nvPr/>
        </p:nvSpPr>
        <p:spPr>
          <a:xfrm>
            <a:off x="1280160" y="4160520"/>
            <a:ext cx="3840480" cy="347472"/>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Contoh</a:t>
            </a:r>
            <a:endParaRPr lang="en-US" sz="1700" dirty="0"/>
          </a:p>
        </p:txBody>
      </p:sp>
      <p:sp>
        <p:nvSpPr>
          <p:cNvPr id="18" name="txt-185"/>
          <p:cNvSpPr txBox="1"/>
          <p:nvPr/>
        </p:nvSpPr>
        <p:spPr>
          <a:xfrm>
            <a:off x="1280160" y="4507992"/>
            <a:ext cx="4023360" cy="365760"/>
          </a:xfrm>
          <a:prstGeom prst="rect">
            <a:avLst/>
          </a:prstGeom>
          <a:noFill/>
          <a:ln/>
        </p:spPr>
        <p:txBody>
          <a:bodyPr wrap="square" lIns="0" tIns="0" rIns="0" bIns="0" rtlCol="0" anchor="t"/>
          <a:lstStyle/>
          <a:p>
            <a:pPr indent="0" marL="0">
              <a:buNone/>
            </a:pPr>
            <a:r>
              <a:rPr lang="en-US" sz="1400" dirty="0">
                <a:solidFill>
                  <a:srgbClr val="5B5677"/>
                </a:solidFill>
              </a:rPr>
              <a:t>Gambaran perilaku atau tampilan yang diharapkan</a:t>
            </a:r>
            <a:endParaRPr lang="en-US" sz="1400" dirty="0"/>
          </a:p>
        </p:txBody>
      </p:sp>
      <p:sp>
        <p:nvSpPr>
          <p:cNvPr id="19" name="Shape 17"/>
          <p:cNvSpPr/>
          <p:nvPr/>
        </p:nvSpPr>
        <p:spPr>
          <a:xfrm>
            <a:off x="548640" y="5120640"/>
            <a:ext cx="502920" cy="502920"/>
          </a:xfrm>
          <a:prstGeom prst="roundRect">
            <a:avLst>
              <a:gd name="adj" fmla="val 21818"/>
            </a:avLst>
          </a:prstGeom>
          <a:solidFill>
            <a:srgbClr val="10B981"/>
          </a:solidFill>
          <a:ln/>
        </p:spPr>
      </p:sp>
      <p:sp>
        <p:nvSpPr>
          <p:cNvPr id="20" name="txt-186"/>
          <p:cNvSpPr txBox="1"/>
          <p:nvPr/>
        </p:nvSpPr>
        <p:spPr>
          <a:xfrm>
            <a:off x="548640" y="51206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1" name="txt-187"/>
          <p:cNvSpPr txBox="1"/>
          <p:nvPr/>
        </p:nvSpPr>
        <p:spPr>
          <a:xfrm>
            <a:off x="1280160" y="5074920"/>
            <a:ext cx="3840480" cy="347472"/>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Kriteria selesai</a:t>
            </a:r>
            <a:endParaRPr lang="en-US" sz="1700" dirty="0"/>
          </a:p>
        </p:txBody>
      </p:sp>
      <p:sp>
        <p:nvSpPr>
          <p:cNvPr id="22" name="txt-188"/>
          <p:cNvSpPr txBox="1"/>
          <p:nvPr/>
        </p:nvSpPr>
        <p:spPr>
          <a:xfrm>
            <a:off x="1280160" y="5422392"/>
            <a:ext cx="4023360" cy="365760"/>
          </a:xfrm>
          <a:prstGeom prst="rect">
            <a:avLst/>
          </a:prstGeom>
          <a:noFill/>
          <a:ln/>
        </p:spPr>
        <p:txBody>
          <a:bodyPr wrap="square" lIns="0" tIns="0" rIns="0" bIns="0" rtlCol="0" anchor="t"/>
          <a:lstStyle/>
          <a:p>
            <a:pPr indent="0" marL="0">
              <a:buNone/>
            </a:pPr>
            <a:r>
              <a:rPr lang="en-US" sz="1400" dirty="0">
                <a:solidFill>
                  <a:srgbClr val="5B5677"/>
                </a:solidFill>
              </a:rPr>
              <a:t>Cara mengecek bahwa hasilnya sudah benar</a:t>
            </a:r>
            <a:endParaRPr lang="en-US" sz="1400" dirty="0"/>
          </a:p>
        </p:txBody>
      </p:sp>
      <p:sp>
        <p:nvSpPr>
          <p:cNvPr id="23" name="card-189"/>
          <p:cNvSpPr/>
          <p:nvPr/>
        </p:nvSpPr>
        <p:spPr>
          <a:xfrm>
            <a:off x="5669280" y="1371600"/>
            <a:ext cx="5943600" cy="4709160"/>
          </a:xfrm>
          <a:prstGeom prst="roundRect">
            <a:avLst>
              <a:gd name="adj" fmla="val 2913"/>
            </a:avLst>
          </a:prstGeom>
          <a:solidFill>
            <a:srgbClr val="1A1433"/>
          </a:solidFill>
          <a:ln/>
        </p:spPr>
      </p:sp>
      <p:sp>
        <p:nvSpPr>
          <p:cNvPr id="24" name="Shape 22"/>
          <p:cNvSpPr/>
          <p:nvPr/>
        </p:nvSpPr>
        <p:spPr>
          <a:xfrm>
            <a:off x="5943600" y="1600200"/>
            <a:ext cx="146304" cy="146304"/>
          </a:xfrm>
          <a:prstGeom prst="ellipse">
            <a:avLst/>
          </a:prstGeom>
          <a:solidFill>
            <a:srgbClr val="FF5F57"/>
          </a:solidFill>
          <a:ln/>
        </p:spPr>
      </p:sp>
      <p:sp>
        <p:nvSpPr>
          <p:cNvPr id="25" name="Shape 23"/>
          <p:cNvSpPr/>
          <p:nvPr/>
        </p:nvSpPr>
        <p:spPr>
          <a:xfrm>
            <a:off x="6172200" y="1600200"/>
            <a:ext cx="146304" cy="146304"/>
          </a:xfrm>
          <a:prstGeom prst="ellipse">
            <a:avLst/>
          </a:prstGeom>
          <a:solidFill>
            <a:srgbClr val="FEBC2E"/>
          </a:solidFill>
          <a:ln/>
        </p:spPr>
      </p:sp>
      <p:sp>
        <p:nvSpPr>
          <p:cNvPr id="26" name="Shape 24"/>
          <p:cNvSpPr/>
          <p:nvPr/>
        </p:nvSpPr>
        <p:spPr>
          <a:xfrm>
            <a:off x="6400800" y="1600200"/>
            <a:ext cx="146304" cy="146304"/>
          </a:xfrm>
          <a:prstGeom prst="ellipse">
            <a:avLst/>
          </a:prstGeom>
          <a:solidFill>
            <a:srgbClr val="28C840"/>
          </a:solidFill>
          <a:ln/>
        </p:spPr>
      </p:sp>
      <p:sp>
        <p:nvSpPr>
          <p:cNvPr id="27" name="txt-190"/>
          <p:cNvSpPr txBox="1"/>
          <p:nvPr/>
        </p:nvSpPr>
        <p:spPr>
          <a:xfrm>
            <a:off x="6720840" y="1527048"/>
            <a:ext cx="2743200" cy="292608"/>
          </a:xfrm>
          <a:prstGeom prst="rect">
            <a:avLst/>
          </a:prstGeom>
          <a:noFill/>
          <a:ln/>
        </p:spPr>
        <p:txBody>
          <a:bodyPr wrap="square" lIns="0" tIns="0" rIns="0" bIns="0" rtlCol="0" anchor="ctr"/>
          <a:lstStyle/>
          <a:p>
            <a:pPr indent="0" marL="0">
              <a:buNone/>
            </a:pPr>
            <a:r>
              <a:rPr lang="en-US" sz="1100" dirty="0">
                <a:solidFill>
                  <a:srgbClr val="8B85A6"/>
                </a:solidFill>
                <a:latin typeface="Courier New" pitchFamily="34" charset="0"/>
                <a:ea typeface="Courier New" pitchFamily="34" charset="-122"/>
                <a:cs typeface="Courier New" pitchFamily="34" charset="-120"/>
              </a:rPr>
              <a:t>contoh-prompt.txt</a:t>
            </a:r>
            <a:endParaRPr lang="en-US" sz="1100" dirty="0"/>
          </a:p>
        </p:txBody>
      </p:sp>
      <p:sp>
        <p:nvSpPr>
          <p:cNvPr id="28" name="txt-191"/>
          <p:cNvSpPr txBox="1"/>
          <p:nvPr/>
        </p:nvSpPr>
        <p:spPr>
          <a:xfrm>
            <a:off x="5989320" y="2011680"/>
            <a:ext cx="5349240" cy="3840480"/>
          </a:xfrm>
          <a:prstGeom prst="rect">
            <a:avLst/>
          </a:prstGeom>
          <a:noFill/>
          <a:ln/>
        </p:spPr>
        <p:txBody>
          <a:bodyPr wrap="square" lIns="0" tIns="0" rIns="0" bIns="0" rtlCol="0" anchor="t"/>
          <a:lstStyle/>
          <a:p>
            <a:pPr indent="0" marL="0">
              <a:spcAft>
                <a:spcPts val="1200"/>
              </a:spcAft>
              <a:buNone/>
            </a:pPr>
            <a:r>
              <a:rPr lang="en-US" sz="1400" b="1" dirty="0">
                <a:solidFill>
                  <a:srgbClr val="A78BFA"/>
                </a:solidFill>
                <a:latin typeface="Courier New" pitchFamily="34" charset="0"/>
                <a:ea typeface="Courier New" pitchFamily="34" charset="-122"/>
                <a:cs typeface="Courier New" pitchFamily="34" charset="-120"/>
              </a:rPr>
              <a:t>Konteks: </a:t>
            </a:r>
            <a:pPr indent="0" marL="0">
              <a:spcAft>
                <a:spcPts val="1200"/>
              </a:spcAft>
              <a:buNone/>
            </a:pPr>
            <a:r>
              <a:rPr lang="en-US" sz="1400" dirty="0">
                <a:solidFill>
                  <a:srgbClr val="E9E5FF"/>
                </a:solidFill>
                <a:latin typeface="Courier New" pitchFamily="34" charset="0"/>
                <a:ea typeface="Courier New" pitchFamily="34" charset="-122"/>
                <a:cs typeface="Courier New" pitchFamily="34" charset="-120"/>
              </a:rPr>
              <a:t>Aplikasi web daftar belanja keluarga, React + Tailwind.</a:t>
            </a:r>
            <a:endParaRPr lang="en-US" sz="1400" dirty="0"/>
          </a:p>
          <a:p>
            <a:pPr indent="0" marL="0">
              <a:spcAft>
                <a:spcPts val="1200"/>
              </a:spcAft>
              <a:buNone/>
            </a:pPr>
            <a:r>
              <a:rPr lang="en-US" sz="1400" b="1" dirty="0">
                <a:solidFill>
                  <a:srgbClr val="F9A8D4"/>
                </a:solidFill>
                <a:latin typeface="Courier New" pitchFamily="34" charset="0"/>
                <a:ea typeface="Courier New" pitchFamily="34" charset="-122"/>
                <a:cs typeface="Courier New" pitchFamily="34" charset="-120"/>
              </a:rPr>
              <a:t>Tujuan: </a:t>
            </a:r>
            <a:pPr indent="0" marL="0">
              <a:spcAft>
                <a:spcPts val="1200"/>
              </a:spcAft>
              <a:buNone/>
            </a:pPr>
            <a:r>
              <a:rPr lang="en-US" sz="1400" dirty="0">
                <a:solidFill>
                  <a:srgbClr val="E9E5FF"/>
                </a:solidFill>
                <a:latin typeface="Courier New" pitchFamily="34" charset="0"/>
                <a:ea typeface="Courier New" pitchFamily="34" charset="-122"/>
                <a:cs typeface="Courier New" pitchFamily="34" charset="-120"/>
              </a:rPr>
              <a:t>Tambahkan fitur menandai barang yang sudah dibeli.</a:t>
            </a:r>
            <a:endParaRPr lang="en-US" sz="1400" dirty="0"/>
          </a:p>
          <a:p>
            <a:pPr indent="0" marL="0">
              <a:spcAft>
                <a:spcPts val="1200"/>
              </a:spcAft>
              <a:buNone/>
            </a:pPr>
            <a:r>
              <a:rPr lang="en-US" sz="1400" b="1" dirty="0">
                <a:solidFill>
                  <a:srgbClr val="67E8F9"/>
                </a:solidFill>
                <a:latin typeface="Courier New" pitchFamily="34" charset="0"/>
                <a:ea typeface="Courier New" pitchFamily="34" charset="-122"/>
                <a:cs typeface="Courier New" pitchFamily="34" charset="-120"/>
              </a:rPr>
              <a:t>Batasan: </a:t>
            </a:r>
            <a:pPr indent="0" marL="0">
              <a:spcAft>
                <a:spcPts val="1200"/>
              </a:spcAft>
              <a:buNone/>
            </a:pPr>
            <a:r>
              <a:rPr lang="en-US" sz="1400" dirty="0">
                <a:solidFill>
                  <a:srgbClr val="E9E5FF"/>
                </a:solidFill>
                <a:latin typeface="Courier New" pitchFamily="34" charset="0"/>
                <a:ea typeface="Courier New" pitchFamily="34" charset="-122"/>
                <a:cs typeface="Courier New" pitchFamily="34" charset="-120"/>
              </a:rPr>
              <a:t>Jangan ubah struktur data; simpan di localStorage.</a:t>
            </a:r>
            <a:endParaRPr lang="en-US" sz="1400" dirty="0"/>
          </a:p>
          <a:p>
            <a:pPr indent="0" marL="0">
              <a:spcAft>
                <a:spcPts val="1200"/>
              </a:spcAft>
              <a:buNone/>
            </a:pPr>
            <a:r>
              <a:rPr lang="en-US" sz="1400" b="1" dirty="0">
                <a:solidFill>
                  <a:srgbClr val="FCD34D"/>
                </a:solidFill>
                <a:latin typeface="Courier New" pitchFamily="34" charset="0"/>
                <a:ea typeface="Courier New" pitchFamily="34" charset="-122"/>
                <a:cs typeface="Courier New" pitchFamily="34" charset="-120"/>
              </a:rPr>
              <a:t>Contoh: </a:t>
            </a:r>
            <a:pPr indent="0" marL="0">
              <a:spcAft>
                <a:spcPts val="1200"/>
              </a:spcAft>
              <a:buNone/>
            </a:pPr>
            <a:r>
              <a:rPr lang="en-US" sz="1400" dirty="0">
                <a:solidFill>
                  <a:srgbClr val="E9E5FF"/>
                </a:solidFill>
                <a:latin typeface="Courier New" pitchFamily="34" charset="0"/>
                <a:ea typeface="Courier New" pitchFamily="34" charset="-122"/>
                <a:cs typeface="Courier New" pitchFamily="34" charset="-120"/>
              </a:rPr>
              <a:t>Barang yang dicentang dicoret dan pindah ke bawah daftar.</a:t>
            </a:r>
            <a:endParaRPr lang="en-US" sz="1400" dirty="0"/>
          </a:p>
          <a:p>
            <a:pPr indent="0" marL="0">
              <a:spcAft>
                <a:spcPts val="1200"/>
              </a:spcAft>
              <a:buNone/>
            </a:pPr>
            <a:r>
              <a:rPr lang="en-US" sz="1400" b="1" dirty="0">
                <a:solidFill>
                  <a:srgbClr val="6EE7B7"/>
                </a:solidFill>
                <a:latin typeface="Courier New" pitchFamily="34" charset="0"/>
                <a:ea typeface="Courier New" pitchFamily="34" charset="-122"/>
                <a:cs typeface="Courier New" pitchFamily="34" charset="-120"/>
              </a:rPr>
              <a:t>Selesai bila: </a:t>
            </a:r>
            <a:pPr indent="0" marL="0">
              <a:spcAft>
                <a:spcPts val="1200"/>
              </a:spcAft>
              <a:buNone/>
            </a:pPr>
            <a:r>
              <a:rPr lang="en-US" sz="1400" dirty="0">
                <a:solidFill>
                  <a:srgbClr val="E9E5FF"/>
                </a:solidFill>
                <a:latin typeface="Courier New" pitchFamily="34" charset="0"/>
                <a:ea typeface="Courier New" pitchFamily="34" charset="-122"/>
                <a:cs typeface="Courier New" pitchFamily="34" charset="-120"/>
              </a:rPr>
              <a:t>Bisa centang/batal, dan data tetap ada setelah refresh.</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5677"/>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xt-192"/>
          <p:cNvSpPr txBox="1"/>
          <p:nvPr/>
        </p:nvSpPr>
        <p:spPr>
          <a:xfrm>
            <a:off x="822960" y="1463040"/>
            <a:ext cx="2743200" cy="1097280"/>
          </a:xfrm>
          <a:prstGeom prst="rect">
            <a:avLst/>
          </a:prstGeom>
          <a:noFill/>
          <a:ln/>
        </p:spPr>
        <p:txBody>
          <a:bodyPr wrap="square" lIns="0" tIns="0" rIns="0" bIns="0" rtlCol="0" anchor="b"/>
          <a:lstStyle/>
          <a:p>
            <a:pPr indent="0" marL="0">
              <a:buNone/>
            </a:pPr>
            <a:r>
              <a:rPr lang="en-US" sz="8000" b="1" dirty="0">
                <a:solidFill>
                  <a:srgbClr val="A78BFA"/>
                </a:solidFill>
                <a:latin typeface="Arial" pitchFamily="34" charset="0"/>
                <a:ea typeface="Arial" pitchFamily="34" charset="-122"/>
                <a:cs typeface="Arial" pitchFamily="34" charset="-120"/>
              </a:rPr>
              <a:t>03</a:t>
            </a:r>
            <a:endParaRPr lang="en-US" sz="8000" dirty="0"/>
          </a:p>
        </p:txBody>
      </p:sp>
      <p:sp>
        <p:nvSpPr>
          <p:cNvPr id="3" name="Text 0"/>
          <p:cNvSpPr/>
          <p:nvPr>
            <p:ph idx="100" type="title" hasCustomPrompt="1"/>
          </p:nvPr>
        </p:nvSpPr>
        <p:spPr>
          <a:xfrm>
            <a:off x="822960" y="2651760"/>
            <a:ext cx="7498080" cy="1280160"/>
          </a:xfrm>
          <a:prstGeom prst="rect">
            <a:avLst/>
          </a:prstGeom>
          <a:noFill/>
          <a:ln/>
        </p:spPr>
        <p:txBody>
          <a:bodyPr wrap="square" lIns="0" tIns="0" rIns="0" bIns="0" rtlCol="0" anchor="t"/>
          <a:lstStyle/>
          <a:p>
            <a:pPr algn="l" indent="0" marL="0">
              <a:buNone/>
            </a:pPr>
            <a:r>
              <a:rPr lang="en-US" sz="4400" b="1" dirty="0">
                <a:solidFill>
                  <a:schemeClr val="bg1"/>
                </a:solidFill>
                <a:latin typeface="Arial" pitchFamily="34" charset="0"/>
                <a:ea typeface="Arial" pitchFamily="34" charset="-122"/>
                <a:cs typeface="Arial" pitchFamily="34" charset="-120"/>
              </a:rPr>
              <a:t>Ekosistem Tools</a:t>
            </a:r>
            <a:endParaRPr lang="en-US" sz="4400" dirty="0"/>
          </a:p>
        </p:txBody>
      </p:sp>
      <p:sp>
        <p:nvSpPr>
          <p:cNvPr id="4" name="Text 0"/>
          <p:cNvSpPr/>
          <p:nvPr>
            <p:ph idx="101" type="body" hasCustomPrompt="1"/>
          </p:nvPr>
        </p:nvSpPr>
        <p:spPr>
          <a:xfrm>
            <a:off x="822960" y="3977640"/>
            <a:ext cx="6949440" cy="914400"/>
          </a:xfrm>
          <a:prstGeom prst="rect">
            <a:avLst/>
          </a:prstGeom>
          <a:noFill/>
          <a:ln/>
        </p:spPr>
        <p:txBody>
          <a:bodyPr wrap="square" lIns="0" tIns="0" rIns="0" bIns="0" rtlCol="0" anchor="t"/>
          <a:lstStyle/>
          <a:p>
            <a:pPr indent="0" marL="0">
              <a:buNone/>
            </a:pPr>
            <a:r>
              <a:rPr lang="en-US" sz="1800" dirty="0">
                <a:solidFill>
                  <a:srgbClr val="D8CCFF"/>
                </a:solidFill>
                <a:latin typeface="Calibri" pitchFamily="34" charset="0"/>
                <a:ea typeface="Calibri" pitchFamily="34" charset="-122"/>
                <a:cs typeface="Calibri" pitchFamily="34" charset="-120"/>
              </a:rPr>
              <a:t>Empat kategori alat vibe coding dan cara memilih yang tepat untuk Anda</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Empat kategori tools vibe coding</a:t>
            </a:r>
            <a:endParaRPr lang="en-US" sz="3200" dirty="0"/>
          </a:p>
        </p:txBody>
      </p:sp>
      <p:sp>
        <p:nvSpPr>
          <p:cNvPr id="3" name="card-193"/>
          <p:cNvSpPr/>
          <p:nvPr/>
        </p:nvSpPr>
        <p:spPr>
          <a:xfrm>
            <a:off x="548640" y="1463040"/>
            <a:ext cx="2606040" cy="4343400"/>
          </a:xfrm>
          <a:prstGeom prst="roundRect">
            <a:avLst>
              <a:gd name="adj" fmla="val 5263"/>
            </a:avLst>
          </a:prstGeom>
          <a:solidFill>
            <a:schemeClr val="bg1"/>
          </a:solidFill>
          <a:ln w="12700">
            <a:solidFill>
              <a:srgbClr val="E9E5FF"/>
            </a:solidFill>
            <a:prstDash val="solid"/>
          </a:ln>
          <a:effectLst>
            <a:outerShdw sx="100000" sy="100000" kx="0" ky="0" algn="bl" rotWithShape="0" blurRad="127000" dist="38100" dir="5400000">
              <a:srgbClr val="1A1433">
                <a:alpha val="12000"/>
              </a:srgbClr>
            </a:outerShdw>
          </a:effectLst>
        </p:spPr>
      </p:sp>
      <p:sp>
        <p:nvSpPr>
          <p:cNvPr id="4" name="iconbg-194"/>
          <p:cNvSpPr/>
          <p:nvPr/>
        </p:nvSpPr>
        <p:spPr>
          <a:xfrm>
            <a:off x="822960" y="1737360"/>
            <a:ext cx="731520" cy="731520"/>
          </a:xfrm>
          <a:prstGeom prst="ellipse">
            <a:avLst/>
          </a:prstGeom>
          <a:solidFill>
            <a:schemeClr val="accent1"/>
          </a:solidFill>
          <a:ln/>
        </p:spPr>
      </p:sp>
      <p:pic>
        <p:nvPicPr>
          <p:cNvPr id="5" name="icon-195" descr="preencoded.png">    </p:cNvPr>
          <p:cNvPicPr>
            <a:picLocks noChangeAspect="1"/>
          </p:cNvPicPr>
          <p:nvPr/>
        </p:nvPicPr>
        <p:blipFill>
          <a:blip r:embed="rId1"/>
          <a:stretch>
            <a:fillRect/>
          </a:stretch>
        </p:blipFill>
        <p:spPr>
          <a:xfrm>
            <a:off x="998525" y="1912925"/>
            <a:ext cx="380390" cy="380390"/>
          </a:xfrm>
          <a:prstGeom prst="rect">
            <a:avLst/>
          </a:prstGeom>
        </p:spPr>
      </p:pic>
      <p:sp>
        <p:nvSpPr>
          <p:cNvPr id="6" name="txt-196"/>
          <p:cNvSpPr txBox="1"/>
          <p:nvPr/>
        </p:nvSpPr>
        <p:spPr>
          <a:xfrm>
            <a:off x="822960" y="2651760"/>
            <a:ext cx="2057400" cy="41148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AI Code Editor</a:t>
            </a:r>
            <a:endParaRPr lang="en-US" sz="1800" dirty="0"/>
          </a:p>
        </p:txBody>
      </p:sp>
      <p:sp>
        <p:nvSpPr>
          <p:cNvPr id="7" name="txt-197"/>
          <p:cNvSpPr txBox="1"/>
          <p:nvPr/>
        </p:nvSpPr>
        <p:spPr>
          <a:xfrm>
            <a:off x="822960" y="3090672"/>
            <a:ext cx="2057400" cy="1143000"/>
          </a:xfrm>
          <a:prstGeom prst="rect">
            <a:avLst/>
          </a:prstGeom>
          <a:noFill/>
          <a:ln/>
        </p:spPr>
        <p:txBody>
          <a:bodyPr wrap="square" lIns="0" tIns="0" rIns="0" bIns="0" rtlCol="0" anchor="t"/>
          <a:lstStyle/>
          <a:p>
            <a:pPr indent="0" marL="0">
              <a:buNone/>
            </a:pPr>
            <a:r>
              <a:rPr lang="en-US" sz="1350" dirty="0">
                <a:solidFill>
                  <a:srgbClr val="5B5677"/>
                </a:solidFill>
              </a:rPr>
              <a:t>Editor kode dengan AI terintegrasi: chat, edit multi-file, dan autocomplete cerdas.</a:t>
            </a:r>
            <a:endParaRPr lang="en-US" sz="1350" dirty="0"/>
          </a:p>
        </p:txBody>
      </p:sp>
      <p:sp>
        <p:nvSpPr>
          <p:cNvPr id="8" name="txt-198"/>
          <p:cNvSpPr txBox="1"/>
          <p:nvPr/>
        </p:nvSpPr>
        <p:spPr>
          <a:xfrm>
            <a:off x="822960" y="4206240"/>
            <a:ext cx="205740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CONTOH</a:t>
            </a:r>
            <a:endParaRPr lang="en-US" sz="1000" dirty="0"/>
          </a:p>
        </p:txBody>
      </p:sp>
      <p:sp>
        <p:nvSpPr>
          <p:cNvPr id="9" name="txt-199"/>
          <p:cNvSpPr txBox="1"/>
          <p:nvPr/>
        </p:nvSpPr>
        <p:spPr>
          <a:xfrm>
            <a:off x="822960" y="4434840"/>
            <a:ext cx="2057400" cy="548640"/>
          </a:xfrm>
          <a:prstGeom prst="rect">
            <a:avLst/>
          </a:prstGeom>
          <a:noFill/>
          <a:ln/>
        </p:spPr>
        <p:txBody>
          <a:bodyPr wrap="square" lIns="0" tIns="0" rIns="0" bIns="0" rtlCol="0" anchor="t"/>
          <a:lstStyle/>
          <a:p>
            <a:pPr indent="0" marL="0">
              <a:buNone/>
            </a:pPr>
            <a:r>
              <a:rPr lang="en-US" sz="1300" b="1" dirty="0">
                <a:solidFill>
                  <a:schemeClr val="tx1"/>
                </a:solidFill>
              </a:rPr>
              <a:t>Cursor • Windsurf • VS Code + GitHub Copilot</a:t>
            </a:r>
            <a:endParaRPr lang="en-US" sz="1300" dirty="0"/>
          </a:p>
        </p:txBody>
      </p:sp>
      <p:sp>
        <p:nvSpPr>
          <p:cNvPr id="10" name="Shape 7"/>
          <p:cNvSpPr/>
          <p:nvPr/>
        </p:nvSpPr>
        <p:spPr>
          <a:xfrm>
            <a:off x="822960" y="5120640"/>
            <a:ext cx="2057400" cy="457200"/>
          </a:xfrm>
          <a:prstGeom prst="roundRect">
            <a:avLst>
              <a:gd name="adj" fmla="val 20000"/>
            </a:avLst>
          </a:prstGeom>
          <a:solidFill>
            <a:schemeClr val="bg2"/>
          </a:solidFill>
          <a:ln/>
        </p:spPr>
      </p:sp>
      <p:sp>
        <p:nvSpPr>
          <p:cNvPr id="11" name="txt-200"/>
          <p:cNvSpPr txBox="1"/>
          <p:nvPr/>
        </p:nvSpPr>
        <p:spPr>
          <a:xfrm>
            <a:off x="914400" y="5120640"/>
            <a:ext cx="1874520" cy="457200"/>
          </a:xfrm>
          <a:prstGeom prst="rect">
            <a:avLst/>
          </a:prstGeom>
          <a:noFill/>
          <a:ln/>
        </p:spPr>
        <p:txBody>
          <a:bodyPr wrap="square" lIns="0" tIns="0" rIns="0" bIns="0" rtlCol="0" anchor="ctr"/>
          <a:lstStyle/>
          <a:p>
            <a:pPr indent="0" marL="0">
              <a:buNone/>
            </a:pPr>
            <a:r>
              <a:rPr lang="en-US" sz="1100" dirty="0">
                <a:solidFill>
                  <a:srgbClr val="1A1433"/>
                </a:solidFill>
              </a:rPr>
              <a:t>Developer yang ingin tetap melihat kode</a:t>
            </a:r>
            <a:endParaRPr lang="en-US" sz="1100" dirty="0"/>
          </a:p>
        </p:txBody>
      </p:sp>
      <p:sp>
        <p:nvSpPr>
          <p:cNvPr id="12" name="card-201"/>
          <p:cNvSpPr/>
          <p:nvPr/>
        </p:nvSpPr>
        <p:spPr>
          <a:xfrm>
            <a:off x="3367735" y="1463040"/>
            <a:ext cx="2606040" cy="4343400"/>
          </a:xfrm>
          <a:prstGeom prst="roundRect">
            <a:avLst>
              <a:gd name="adj" fmla="val 5263"/>
            </a:avLst>
          </a:prstGeom>
          <a:solidFill>
            <a:schemeClr val="bg1"/>
          </a:solidFill>
          <a:ln w="12700">
            <a:solidFill>
              <a:srgbClr val="E9E5FF"/>
            </a:solidFill>
            <a:prstDash val="solid"/>
          </a:ln>
          <a:effectLst>
            <a:outerShdw sx="100000" sy="100000" kx="0" ky="0" algn="bl" rotWithShape="0" blurRad="127000" dist="38100" dir="5400000">
              <a:srgbClr val="1A1433">
                <a:alpha val="12000"/>
              </a:srgbClr>
            </a:outerShdw>
          </a:effectLst>
        </p:spPr>
      </p:sp>
      <p:sp>
        <p:nvSpPr>
          <p:cNvPr id="13" name="iconbg-202"/>
          <p:cNvSpPr/>
          <p:nvPr/>
        </p:nvSpPr>
        <p:spPr>
          <a:xfrm>
            <a:off x="3642055" y="1737360"/>
            <a:ext cx="731520" cy="731520"/>
          </a:xfrm>
          <a:prstGeom prst="ellipse">
            <a:avLst/>
          </a:prstGeom>
          <a:solidFill>
            <a:schemeClr val="accent2"/>
          </a:solidFill>
          <a:ln/>
        </p:spPr>
      </p:sp>
      <p:pic>
        <p:nvPicPr>
          <p:cNvPr id="14" name="icon-203" descr="preencoded.png">    </p:cNvPr>
          <p:cNvPicPr>
            <a:picLocks noChangeAspect="1"/>
          </p:cNvPicPr>
          <p:nvPr/>
        </p:nvPicPr>
        <p:blipFill>
          <a:blip r:embed="rId2"/>
          <a:stretch>
            <a:fillRect/>
          </a:stretch>
        </p:blipFill>
        <p:spPr>
          <a:xfrm>
            <a:off x="3817620" y="1912925"/>
            <a:ext cx="380390" cy="380390"/>
          </a:xfrm>
          <a:prstGeom prst="rect">
            <a:avLst/>
          </a:prstGeom>
        </p:spPr>
      </p:pic>
      <p:sp>
        <p:nvSpPr>
          <p:cNvPr id="15" name="txt-204"/>
          <p:cNvSpPr txBox="1"/>
          <p:nvPr/>
        </p:nvSpPr>
        <p:spPr>
          <a:xfrm>
            <a:off x="3642055" y="2651760"/>
            <a:ext cx="2057400" cy="41148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Agen Terminal</a:t>
            </a:r>
            <a:endParaRPr lang="en-US" sz="1800" dirty="0"/>
          </a:p>
        </p:txBody>
      </p:sp>
      <p:sp>
        <p:nvSpPr>
          <p:cNvPr id="16" name="txt-205"/>
          <p:cNvSpPr txBox="1"/>
          <p:nvPr/>
        </p:nvSpPr>
        <p:spPr>
          <a:xfrm>
            <a:off x="3642055" y="3090672"/>
            <a:ext cx="2057400" cy="1143000"/>
          </a:xfrm>
          <a:prstGeom prst="rect">
            <a:avLst/>
          </a:prstGeom>
          <a:noFill/>
          <a:ln/>
        </p:spPr>
        <p:txBody>
          <a:bodyPr wrap="square" lIns="0" tIns="0" rIns="0" bIns="0" rtlCol="0" anchor="t"/>
          <a:lstStyle/>
          <a:p>
            <a:pPr indent="0" marL="0">
              <a:buNone/>
            </a:pPr>
            <a:r>
              <a:rPr lang="en-US" sz="1350" dirty="0">
                <a:solidFill>
                  <a:srgbClr val="5B5677"/>
                </a:solidFill>
              </a:rPr>
              <a:t>Agen yang bekerja langsung di repositori: menjalankan perintah, tes, dan git.</a:t>
            </a:r>
            <a:endParaRPr lang="en-US" sz="1350" dirty="0"/>
          </a:p>
        </p:txBody>
      </p:sp>
      <p:sp>
        <p:nvSpPr>
          <p:cNvPr id="17" name="txt-206"/>
          <p:cNvSpPr txBox="1"/>
          <p:nvPr/>
        </p:nvSpPr>
        <p:spPr>
          <a:xfrm>
            <a:off x="3642055" y="4206240"/>
            <a:ext cx="205740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CONTOH</a:t>
            </a:r>
            <a:endParaRPr lang="en-US" sz="1000" dirty="0"/>
          </a:p>
        </p:txBody>
      </p:sp>
      <p:sp>
        <p:nvSpPr>
          <p:cNvPr id="18" name="txt-207"/>
          <p:cNvSpPr txBox="1"/>
          <p:nvPr/>
        </p:nvSpPr>
        <p:spPr>
          <a:xfrm>
            <a:off x="3642055" y="4434840"/>
            <a:ext cx="2057400" cy="548640"/>
          </a:xfrm>
          <a:prstGeom prst="rect">
            <a:avLst/>
          </a:prstGeom>
          <a:noFill/>
          <a:ln/>
        </p:spPr>
        <p:txBody>
          <a:bodyPr wrap="square" lIns="0" tIns="0" rIns="0" bIns="0" rtlCol="0" anchor="t"/>
          <a:lstStyle/>
          <a:p>
            <a:pPr indent="0" marL="0">
              <a:buNone/>
            </a:pPr>
            <a:r>
              <a:rPr lang="en-US" sz="1300" b="1" dirty="0">
                <a:solidFill>
                  <a:schemeClr val="tx1"/>
                </a:solidFill>
              </a:rPr>
              <a:t>Claude Code • OpenAI Codex • Aider</a:t>
            </a:r>
            <a:endParaRPr lang="en-US" sz="1300" dirty="0"/>
          </a:p>
        </p:txBody>
      </p:sp>
      <p:sp>
        <p:nvSpPr>
          <p:cNvPr id="19" name="Shape 15"/>
          <p:cNvSpPr/>
          <p:nvPr/>
        </p:nvSpPr>
        <p:spPr>
          <a:xfrm>
            <a:off x="3642055" y="5120640"/>
            <a:ext cx="2057400" cy="457200"/>
          </a:xfrm>
          <a:prstGeom prst="roundRect">
            <a:avLst>
              <a:gd name="adj" fmla="val 20000"/>
            </a:avLst>
          </a:prstGeom>
          <a:solidFill>
            <a:schemeClr val="bg2"/>
          </a:solidFill>
          <a:ln/>
        </p:spPr>
      </p:sp>
      <p:sp>
        <p:nvSpPr>
          <p:cNvPr id="20" name="txt-208"/>
          <p:cNvSpPr txBox="1"/>
          <p:nvPr/>
        </p:nvSpPr>
        <p:spPr>
          <a:xfrm>
            <a:off x="3733495" y="5120640"/>
            <a:ext cx="1874520" cy="457200"/>
          </a:xfrm>
          <a:prstGeom prst="rect">
            <a:avLst/>
          </a:prstGeom>
          <a:noFill/>
          <a:ln/>
        </p:spPr>
        <p:txBody>
          <a:bodyPr wrap="square" lIns="0" tIns="0" rIns="0" bIns="0" rtlCol="0" anchor="ctr"/>
          <a:lstStyle/>
          <a:p>
            <a:pPr indent="0" marL="0">
              <a:buNone/>
            </a:pPr>
            <a:r>
              <a:rPr lang="en-US" sz="1100" dirty="0">
                <a:solidFill>
                  <a:srgbClr val="1A1433"/>
                </a:solidFill>
              </a:rPr>
              <a:t>Developer berpengalaman, proyek nyata</a:t>
            </a:r>
            <a:endParaRPr lang="en-US" sz="1100" dirty="0"/>
          </a:p>
        </p:txBody>
      </p:sp>
      <p:sp>
        <p:nvSpPr>
          <p:cNvPr id="21" name="card-209"/>
          <p:cNvSpPr/>
          <p:nvPr/>
        </p:nvSpPr>
        <p:spPr>
          <a:xfrm>
            <a:off x="6186830" y="1463040"/>
            <a:ext cx="2606040" cy="4343400"/>
          </a:xfrm>
          <a:prstGeom prst="roundRect">
            <a:avLst>
              <a:gd name="adj" fmla="val 5263"/>
            </a:avLst>
          </a:prstGeom>
          <a:solidFill>
            <a:schemeClr val="bg1"/>
          </a:solidFill>
          <a:ln w="12700">
            <a:solidFill>
              <a:srgbClr val="E9E5FF"/>
            </a:solidFill>
            <a:prstDash val="solid"/>
          </a:ln>
          <a:effectLst>
            <a:outerShdw sx="100000" sy="100000" kx="0" ky="0" algn="bl" rotWithShape="0" blurRad="127000" dist="38100" dir="5400000">
              <a:srgbClr val="1A1433">
                <a:alpha val="12000"/>
              </a:srgbClr>
            </a:outerShdw>
          </a:effectLst>
        </p:spPr>
      </p:sp>
      <p:sp>
        <p:nvSpPr>
          <p:cNvPr id="22" name="iconbg-210"/>
          <p:cNvSpPr/>
          <p:nvPr/>
        </p:nvSpPr>
        <p:spPr>
          <a:xfrm>
            <a:off x="6461150" y="1737360"/>
            <a:ext cx="731520" cy="731520"/>
          </a:xfrm>
          <a:prstGeom prst="ellipse">
            <a:avLst/>
          </a:prstGeom>
          <a:solidFill>
            <a:schemeClr val="accent3"/>
          </a:solidFill>
          <a:ln/>
        </p:spPr>
      </p:sp>
      <p:pic>
        <p:nvPicPr>
          <p:cNvPr id="23" name="icon-211" descr="preencoded.png">    </p:cNvPr>
          <p:cNvPicPr>
            <a:picLocks noChangeAspect="1"/>
          </p:cNvPicPr>
          <p:nvPr/>
        </p:nvPicPr>
        <p:blipFill>
          <a:blip r:embed="rId3"/>
          <a:stretch>
            <a:fillRect/>
          </a:stretch>
        </p:blipFill>
        <p:spPr>
          <a:xfrm>
            <a:off x="6636715" y="1912925"/>
            <a:ext cx="380390" cy="380390"/>
          </a:xfrm>
          <a:prstGeom prst="rect">
            <a:avLst/>
          </a:prstGeom>
        </p:spPr>
      </p:pic>
      <p:sp>
        <p:nvSpPr>
          <p:cNvPr id="24" name="txt-212"/>
          <p:cNvSpPr txBox="1"/>
          <p:nvPr/>
        </p:nvSpPr>
        <p:spPr>
          <a:xfrm>
            <a:off x="6461150" y="2651760"/>
            <a:ext cx="2057400" cy="41148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App Builder</a:t>
            </a:r>
            <a:endParaRPr lang="en-US" sz="1800" dirty="0"/>
          </a:p>
        </p:txBody>
      </p:sp>
      <p:sp>
        <p:nvSpPr>
          <p:cNvPr id="25" name="txt-213"/>
          <p:cNvSpPr txBox="1"/>
          <p:nvPr/>
        </p:nvSpPr>
        <p:spPr>
          <a:xfrm>
            <a:off x="6461150" y="3090672"/>
            <a:ext cx="2057400" cy="1143000"/>
          </a:xfrm>
          <a:prstGeom prst="rect">
            <a:avLst/>
          </a:prstGeom>
          <a:noFill/>
          <a:ln/>
        </p:spPr>
        <p:txBody>
          <a:bodyPr wrap="square" lIns="0" tIns="0" rIns="0" bIns="0" rtlCol="0" anchor="t"/>
          <a:lstStyle/>
          <a:p>
            <a:pPr indent="0" marL="0">
              <a:buNone/>
            </a:pPr>
            <a:r>
              <a:rPr lang="en-US" sz="1350" dirty="0">
                <a:solidFill>
                  <a:srgbClr val="5B5677"/>
                </a:solidFill>
              </a:rPr>
              <a:t>Deskripsikan aplikasi di browser, langsung jadi lengkap dengan hosting.</a:t>
            </a:r>
            <a:endParaRPr lang="en-US" sz="1350" dirty="0"/>
          </a:p>
        </p:txBody>
      </p:sp>
      <p:sp>
        <p:nvSpPr>
          <p:cNvPr id="26" name="txt-214"/>
          <p:cNvSpPr txBox="1"/>
          <p:nvPr/>
        </p:nvSpPr>
        <p:spPr>
          <a:xfrm>
            <a:off x="6461150" y="4206240"/>
            <a:ext cx="205740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CONTOH</a:t>
            </a:r>
            <a:endParaRPr lang="en-US" sz="1000" dirty="0"/>
          </a:p>
        </p:txBody>
      </p:sp>
      <p:sp>
        <p:nvSpPr>
          <p:cNvPr id="27" name="txt-215"/>
          <p:cNvSpPr txBox="1"/>
          <p:nvPr/>
        </p:nvSpPr>
        <p:spPr>
          <a:xfrm>
            <a:off x="6461150" y="4434840"/>
            <a:ext cx="2057400" cy="548640"/>
          </a:xfrm>
          <a:prstGeom prst="rect">
            <a:avLst/>
          </a:prstGeom>
          <a:noFill/>
          <a:ln/>
        </p:spPr>
        <p:txBody>
          <a:bodyPr wrap="square" lIns="0" tIns="0" rIns="0" bIns="0" rtlCol="0" anchor="t"/>
          <a:lstStyle/>
          <a:p>
            <a:pPr indent="0" marL="0">
              <a:buNone/>
            </a:pPr>
            <a:r>
              <a:rPr lang="en-US" sz="1300" b="1" dirty="0">
                <a:solidFill>
                  <a:schemeClr val="tx1"/>
                </a:solidFill>
              </a:rPr>
              <a:t>Lovable • Bolt.new • Replit • v0</a:t>
            </a:r>
            <a:endParaRPr lang="en-US" sz="1300" dirty="0"/>
          </a:p>
        </p:txBody>
      </p:sp>
      <p:sp>
        <p:nvSpPr>
          <p:cNvPr id="28" name="Shape 23"/>
          <p:cNvSpPr/>
          <p:nvPr/>
        </p:nvSpPr>
        <p:spPr>
          <a:xfrm>
            <a:off x="6461150" y="5120640"/>
            <a:ext cx="2057400" cy="457200"/>
          </a:xfrm>
          <a:prstGeom prst="roundRect">
            <a:avLst>
              <a:gd name="adj" fmla="val 20000"/>
            </a:avLst>
          </a:prstGeom>
          <a:solidFill>
            <a:schemeClr val="bg2"/>
          </a:solidFill>
          <a:ln/>
        </p:spPr>
      </p:sp>
      <p:sp>
        <p:nvSpPr>
          <p:cNvPr id="29" name="txt-216"/>
          <p:cNvSpPr txBox="1"/>
          <p:nvPr/>
        </p:nvSpPr>
        <p:spPr>
          <a:xfrm>
            <a:off x="6552590" y="5120640"/>
            <a:ext cx="1874520" cy="457200"/>
          </a:xfrm>
          <a:prstGeom prst="rect">
            <a:avLst/>
          </a:prstGeom>
          <a:noFill/>
          <a:ln/>
        </p:spPr>
        <p:txBody>
          <a:bodyPr wrap="square" lIns="0" tIns="0" rIns="0" bIns="0" rtlCol="0" anchor="ctr"/>
          <a:lstStyle/>
          <a:p>
            <a:pPr indent="0" marL="0">
              <a:buNone/>
            </a:pPr>
            <a:r>
              <a:rPr lang="en-US" sz="1100" dirty="0">
                <a:solidFill>
                  <a:srgbClr val="1A1433"/>
                </a:solidFill>
              </a:rPr>
              <a:t>Non-coder, prototipe, MVP cepat</a:t>
            </a:r>
            <a:endParaRPr lang="en-US" sz="1100" dirty="0"/>
          </a:p>
        </p:txBody>
      </p:sp>
      <p:sp>
        <p:nvSpPr>
          <p:cNvPr id="30" name="card-217"/>
          <p:cNvSpPr/>
          <p:nvPr/>
        </p:nvSpPr>
        <p:spPr>
          <a:xfrm>
            <a:off x="9005926" y="1463040"/>
            <a:ext cx="2606040" cy="4343400"/>
          </a:xfrm>
          <a:prstGeom prst="roundRect">
            <a:avLst>
              <a:gd name="adj" fmla="val 5263"/>
            </a:avLst>
          </a:prstGeom>
          <a:solidFill>
            <a:schemeClr val="bg1"/>
          </a:solidFill>
          <a:ln w="12700">
            <a:solidFill>
              <a:srgbClr val="E9E5FF"/>
            </a:solidFill>
            <a:prstDash val="solid"/>
          </a:ln>
          <a:effectLst>
            <a:outerShdw sx="100000" sy="100000" kx="0" ky="0" algn="bl" rotWithShape="0" blurRad="127000" dist="38100" dir="5400000">
              <a:srgbClr val="1A1433">
                <a:alpha val="12000"/>
              </a:srgbClr>
            </a:outerShdw>
          </a:effectLst>
        </p:spPr>
      </p:sp>
      <p:sp>
        <p:nvSpPr>
          <p:cNvPr id="31" name="iconbg-218"/>
          <p:cNvSpPr/>
          <p:nvPr/>
        </p:nvSpPr>
        <p:spPr>
          <a:xfrm>
            <a:off x="9280246" y="1737360"/>
            <a:ext cx="731520" cy="731520"/>
          </a:xfrm>
          <a:prstGeom prst="ellipse">
            <a:avLst/>
          </a:prstGeom>
          <a:solidFill>
            <a:schemeClr val="accent4"/>
          </a:solidFill>
          <a:ln/>
        </p:spPr>
      </p:sp>
      <p:pic>
        <p:nvPicPr>
          <p:cNvPr id="32" name="icon-219" descr="preencoded.png">    </p:cNvPr>
          <p:cNvPicPr>
            <a:picLocks noChangeAspect="1"/>
          </p:cNvPicPr>
          <p:nvPr/>
        </p:nvPicPr>
        <p:blipFill>
          <a:blip r:embed="rId4"/>
          <a:stretch>
            <a:fillRect/>
          </a:stretch>
        </p:blipFill>
        <p:spPr>
          <a:xfrm>
            <a:off x="9455810" y="1912925"/>
            <a:ext cx="380390" cy="380390"/>
          </a:xfrm>
          <a:prstGeom prst="rect">
            <a:avLst/>
          </a:prstGeom>
        </p:spPr>
      </p:pic>
      <p:sp>
        <p:nvSpPr>
          <p:cNvPr id="33" name="txt-220"/>
          <p:cNvSpPr txBox="1"/>
          <p:nvPr/>
        </p:nvSpPr>
        <p:spPr>
          <a:xfrm>
            <a:off x="9280246" y="2651760"/>
            <a:ext cx="2057400" cy="41148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Open Source</a:t>
            </a:r>
            <a:endParaRPr lang="en-US" sz="1800" dirty="0"/>
          </a:p>
        </p:txBody>
      </p:sp>
      <p:sp>
        <p:nvSpPr>
          <p:cNvPr id="34" name="txt-221"/>
          <p:cNvSpPr txBox="1"/>
          <p:nvPr/>
        </p:nvSpPr>
        <p:spPr>
          <a:xfrm>
            <a:off x="9280246" y="3090672"/>
            <a:ext cx="2057400" cy="1143000"/>
          </a:xfrm>
          <a:prstGeom prst="rect">
            <a:avLst/>
          </a:prstGeom>
          <a:noFill/>
          <a:ln/>
        </p:spPr>
        <p:txBody>
          <a:bodyPr wrap="square" lIns="0" tIns="0" rIns="0" bIns="0" rtlCol="0" anchor="t"/>
          <a:lstStyle/>
          <a:p>
            <a:pPr indent="0" marL="0">
              <a:buNone/>
            </a:pPr>
            <a:r>
              <a:rPr lang="en-US" sz="1350" dirty="0">
                <a:solidFill>
                  <a:srgbClr val="5B5677"/>
                </a:solidFill>
              </a:rPr>
              <a:t>Agen di dalam editor yang memakai API key Anda sendiri untuk model pilihan.</a:t>
            </a:r>
            <a:endParaRPr lang="en-US" sz="1350" dirty="0"/>
          </a:p>
        </p:txBody>
      </p:sp>
      <p:sp>
        <p:nvSpPr>
          <p:cNvPr id="35" name="txt-222"/>
          <p:cNvSpPr txBox="1"/>
          <p:nvPr/>
        </p:nvSpPr>
        <p:spPr>
          <a:xfrm>
            <a:off x="9280246" y="4206240"/>
            <a:ext cx="205740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CONTOH</a:t>
            </a:r>
            <a:endParaRPr lang="en-US" sz="1000" dirty="0"/>
          </a:p>
        </p:txBody>
      </p:sp>
      <p:sp>
        <p:nvSpPr>
          <p:cNvPr id="36" name="txt-223"/>
          <p:cNvSpPr txBox="1"/>
          <p:nvPr/>
        </p:nvSpPr>
        <p:spPr>
          <a:xfrm>
            <a:off x="9280246" y="4434840"/>
            <a:ext cx="2057400" cy="548640"/>
          </a:xfrm>
          <a:prstGeom prst="rect">
            <a:avLst/>
          </a:prstGeom>
          <a:noFill/>
          <a:ln/>
        </p:spPr>
        <p:txBody>
          <a:bodyPr wrap="square" lIns="0" tIns="0" rIns="0" bIns="0" rtlCol="0" anchor="t"/>
          <a:lstStyle/>
          <a:p>
            <a:pPr indent="0" marL="0">
              <a:buNone/>
            </a:pPr>
            <a:r>
              <a:rPr lang="en-US" sz="1300" b="1" dirty="0">
                <a:solidFill>
                  <a:schemeClr val="tx1"/>
                </a:solidFill>
              </a:rPr>
              <a:t>Cline • Continue</a:t>
            </a:r>
            <a:endParaRPr lang="en-US" sz="1300" dirty="0"/>
          </a:p>
        </p:txBody>
      </p:sp>
      <p:sp>
        <p:nvSpPr>
          <p:cNvPr id="37" name="Shape 31"/>
          <p:cNvSpPr/>
          <p:nvPr/>
        </p:nvSpPr>
        <p:spPr>
          <a:xfrm>
            <a:off x="9280246" y="5120640"/>
            <a:ext cx="2057400" cy="457200"/>
          </a:xfrm>
          <a:prstGeom prst="roundRect">
            <a:avLst>
              <a:gd name="adj" fmla="val 20000"/>
            </a:avLst>
          </a:prstGeom>
          <a:solidFill>
            <a:schemeClr val="bg2"/>
          </a:solidFill>
          <a:ln/>
        </p:spPr>
      </p:sp>
      <p:sp>
        <p:nvSpPr>
          <p:cNvPr id="38" name="txt-224"/>
          <p:cNvSpPr txBox="1"/>
          <p:nvPr/>
        </p:nvSpPr>
        <p:spPr>
          <a:xfrm>
            <a:off x="9371686" y="5120640"/>
            <a:ext cx="1874520" cy="457200"/>
          </a:xfrm>
          <a:prstGeom prst="rect">
            <a:avLst/>
          </a:prstGeom>
          <a:noFill/>
          <a:ln/>
        </p:spPr>
        <p:txBody>
          <a:bodyPr wrap="square" lIns="0" tIns="0" rIns="0" bIns="0" rtlCol="0" anchor="ctr"/>
          <a:lstStyle/>
          <a:p>
            <a:pPr indent="0" marL="0">
              <a:buNone/>
            </a:pPr>
            <a:r>
              <a:rPr lang="en-US" sz="1100" dirty="0">
                <a:solidFill>
                  <a:srgbClr val="1A1433"/>
                </a:solidFill>
              </a:rPr>
              <a:t>Kontrol biaya &amp; pilihan model</a:t>
            </a:r>
            <a:endParaRPr lang="en-US" sz="1100" dirty="0"/>
          </a:p>
        </p:txBody>
      </p:sp>
      <p:sp>
        <p:nvSpPr>
          <p:cNvPr id="39" name="txt-225"/>
          <p:cNvSpPr txBox="1"/>
          <p:nvPr/>
        </p:nvSpPr>
        <p:spPr>
          <a:xfrm>
            <a:off x="548640" y="5943600"/>
            <a:ext cx="11064240" cy="274320"/>
          </a:xfrm>
          <a:prstGeom prst="rect">
            <a:avLst/>
          </a:prstGeom>
          <a:noFill/>
          <a:ln/>
        </p:spPr>
        <p:txBody>
          <a:bodyPr wrap="square" lIns="0" tIns="0" rIns="0" bIns="0" rtlCol="0" anchor="t"/>
          <a:lstStyle/>
          <a:p>
            <a:pPr indent="0" marL="0">
              <a:buNone/>
            </a:pPr>
            <a:r>
              <a:rPr lang="en-US" sz="1100" i="1" dirty="0">
                <a:solidFill>
                  <a:srgbClr val="5B5677"/>
                </a:solidFill>
              </a:rPr>
              <a:t>Daftar per Oktober 2026 — ekosistem berubah sangat cepat; nama alat bisa bertambah atau berganti.</a:t>
            </a:r>
            <a:endParaRPr lang="en-US" sz="11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5677"/>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Memilih tool sesuai profil Anda</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3017520"/>
                <a:gridCol w="4023360"/>
                <a:gridCol w="4023360"/>
              </a:tblGrid>
              <a:tr h="658368">
                <a:tc>
                  <a:txBody>
                    <a:bodyPr/>
                    <a:lstStyle/>
                    <a:p>
                      <a:pPr indent="0" marL="0">
                        <a:buNone/>
                      </a:pPr>
                      <a:r>
                        <a:rPr lang="en-US" sz="1500" b="1" dirty="0">
                          <a:solidFill>
                            <a:srgbClr val="FFFFFF"/>
                          </a:solidFill>
                          <a:latin typeface="Arial" pitchFamily="34" charset="0"/>
                          <a:ea typeface="Arial" pitchFamily="34" charset="-122"/>
                          <a:cs typeface="Arial" pitchFamily="34" charset="-120"/>
                        </a:rPr>
                        <a:t>Profil</a:t>
                      </a:r>
                      <a:endParaRPr lang="en-US" sz="1500" dirty="0">
                        <a:latin typeface="Arial" charset="0"/>
                        <a:ea typeface="Arial" charset="0"/>
                        <a:cs typeface="Arial" charset="0"/>
                      </a:endParaRPr>
                    </a:p>
                  </a:txBody>
                  <a:tcPr marL="137160" marR="137160" marT="73152" marB="73152" anchor="ctr">
                    <a:lnL w="6350" cap="flat" cmpd="sng" algn="ctr">
                      <a:solidFill>
                        <a:srgbClr val="E9E5FF"/>
                      </a:solidFill>
                      <a:prstDash val="solid"/>
                      <a:round/>
                      <a:headEnd type="none" w="med" len="med"/>
                      <a:tailEnd type="none" w="med" len="med"/>
                    </a:lnL>
                    <a:lnR w="6350" cap="flat" cmpd="sng" algn="ctr">
                      <a:solidFill>
                        <a:srgbClr val="E9E5FF"/>
                      </a:solidFill>
                      <a:prstDash val="solid"/>
                      <a:round/>
                      <a:headEnd type="none" w="med" len="med"/>
                      <a:tailEnd type="none" w="med" len="med"/>
                    </a:lnR>
                    <a:lnT w="6350" cap="flat" cmpd="sng" algn="ctr">
                      <a:solidFill>
                        <a:srgbClr val="E9E5FF"/>
                      </a:solidFill>
                      <a:prstDash val="solid"/>
                      <a:round/>
                      <a:headEnd type="none" w="med" len="med"/>
                      <a:tailEnd type="none" w="med" len="med"/>
                    </a:lnT>
                    <a:lnB w="6350" cap="flat" cmpd="sng" algn="ctr">
                      <a:solidFill>
                        <a:srgbClr val="E9E5FF"/>
                      </a:solidFill>
                      <a:prstDash val="solid"/>
                      <a:round/>
                      <a:headEnd type="none" w="med" len="med"/>
                      <a:tailEnd type="none" w="med" len="med"/>
                    </a:lnB>
                    <a:solidFill>
                      <a:srgbClr val="1A1433"/>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Mulai dengan</a:t>
                      </a:r>
                      <a:endParaRPr lang="en-US" sz="1500" dirty="0">
                        <a:latin typeface="Arial" charset="0"/>
                        <a:ea typeface="Arial" charset="0"/>
                        <a:cs typeface="Arial" charset="0"/>
                      </a:endParaRPr>
                    </a:p>
                  </a:txBody>
                  <a:tcPr marL="137160" marR="137160" marT="73152" marB="73152" anchor="ctr">
                    <a:lnL w="6350" cap="flat" cmpd="sng" algn="ctr">
                      <a:solidFill>
                        <a:srgbClr val="E9E5FF"/>
                      </a:solidFill>
                      <a:prstDash val="solid"/>
                      <a:round/>
                      <a:headEnd type="none" w="med" len="med"/>
                      <a:tailEnd type="none" w="med" len="med"/>
                    </a:lnL>
                    <a:lnR w="6350" cap="flat" cmpd="sng" algn="ctr">
                      <a:solidFill>
                        <a:srgbClr val="E9E5FF"/>
                      </a:solidFill>
                      <a:prstDash val="solid"/>
                      <a:round/>
                      <a:headEnd type="none" w="med" len="med"/>
                      <a:tailEnd type="none" w="med" len="med"/>
                    </a:lnR>
                    <a:lnT w="6350" cap="flat" cmpd="sng" algn="ctr">
                      <a:solidFill>
                        <a:srgbClr val="E9E5FF"/>
                      </a:solidFill>
                      <a:prstDash val="solid"/>
                      <a:round/>
                      <a:headEnd type="none" w="med" len="med"/>
                      <a:tailEnd type="none" w="med" len="med"/>
                    </a:lnT>
                    <a:lnB w="6350" cap="flat" cmpd="sng" algn="ctr">
                      <a:solidFill>
                        <a:srgbClr val="E9E5FF"/>
                      </a:solidFill>
                      <a:prstDash val="solid"/>
                      <a:round/>
                      <a:headEnd type="none" w="med" len="med"/>
                      <a:tailEnd type="none" w="med" len="med"/>
                    </a:lnB>
                    <a:solidFill>
                      <a:srgbClr val="1A1433"/>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Alasan</a:t>
                      </a:r>
                      <a:endParaRPr lang="en-US" sz="1500" dirty="0">
                        <a:latin typeface="Arial" charset="0"/>
                        <a:ea typeface="Arial" charset="0"/>
                        <a:cs typeface="Arial" charset="0"/>
                      </a:endParaRPr>
                    </a:p>
                  </a:txBody>
                  <a:tcPr marL="137160" marR="137160" marT="73152" marB="73152" anchor="ctr">
                    <a:lnL w="6350" cap="flat" cmpd="sng" algn="ctr">
                      <a:solidFill>
                        <a:srgbClr val="E9E5FF"/>
                      </a:solidFill>
                      <a:prstDash val="solid"/>
                      <a:round/>
                      <a:headEnd type="none" w="med" len="med"/>
                      <a:tailEnd type="none" w="med" len="med"/>
                    </a:lnL>
                    <a:lnR w="6350" cap="flat" cmpd="sng" algn="ctr">
                      <a:solidFill>
                        <a:srgbClr val="E9E5FF"/>
                      </a:solidFill>
                      <a:prstDash val="solid"/>
                      <a:round/>
                      <a:headEnd type="none" w="med" len="med"/>
                      <a:tailEnd type="none" w="med" len="med"/>
                    </a:lnR>
                    <a:lnT w="6350" cap="flat" cmpd="sng" algn="ctr">
                      <a:solidFill>
                        <a:srgbClr val="E9E5FF"/>
                      </a:solidFill>
                      <a:prstDash val="solid"/>
                      <a:round/>
                      <a:headEnd type="none" w="med" len="med"/>
                      <a:tailEnd type="none" w="med" len="med"/>
                    </a:lnT>
                    <a:lnB w="6350" cap="flat" cmpd="sng" algn="ctr">
                      <a:solidFill>
                        <a:srgbClr val="E9E5FF"/>
                      </a:solidFill>
                      <a:prstDash val="solid"/>
                      <a:round/>
                      <a:headEnd type="none" w="med" len="med"/>
                      <a:tailEnd type="none" w="med" len="med"/>
                    </a:lnB>
                    <a:solidFill>
                      <a:srgbClr val="1A1433"/>
                    </a:solidFill>
                  </a:tcPr>
                </a:tc>
              </a:tr>
              <a:tr h="658368">
                <a:tc>
                  <a:txBody>
                    <a:bodyPr/>
                    <a:lstStyle/>
                    <a:p>
                      <a:pPr indent="0" marL="0">
                        <a:buNone/>
                      </a:pPr>
                      <a:r>
                        <a:rPr lang="en-US" sz="1400" b="1" dirty="0">
                          <a:solidFill>
                            <a:srgbClr val="1A1433"/>
                          </a:solidFill>
                          <a:latin typeface="Calibri" pitchFamily="34" charset="0"/>
                          <a:ea typeface="Calibri" pitchFamily="34" charset="-122"/>
                          <a:cs typeface="Calibri" pitchFamily="34" charset="-120"/>
                        </a:rPr>
                        <a:t>Pemula / non-coder</a:t>
                      </a:r>
                      <a:endParaRPr lang="en-US" sz="1400" dirty="0">
                        <a:latin typeface="Calibri" charset="0"/>
                        <a:ea typeface="Calibri" charset="0"/>
                        <a:cs typeface="Calibri" charset="0"/>
                      </a:endParaRPr>
                    </a:p>
                  </a:txBody>
                  <a:tcPr marL="137160" marR="137160" marT="73152" marB="73152" anchor="ctr">
                    <a:lnL w="6350" cap="flat" cmpd="sng" algn="ctr">
                      <a:solidFill>
                        <a:srgbClr val="E9E5FF"/>
                      </a:solidFill>
                      <a:prstDash val="solid"/>
                      <a:round/>
                      <a:headEnd type="none" w="med" len="med"/>
                      <a:tailEnd type="none" w="med" len="med"/>
                    </a:lnL>
                    <a:lnR w="6350" cap="flat" cmpd="sng" algn="ctr">
                      <a:solidFill>
                        <a:srgbClr val="E9E5FF"/>
                      </a:solidFill>
                      <a:prstDash val="solid"/>
                      <a:round/>
                      <a:headEnd type="none" w="med" len="med"/>
                      <a:tailEnd type="none" w="med" len="med"/>
                    </a:lnR>
                    <a:lnT w="6350" cap="flat" cmpd="sng" algn="ctr">
                      <a:solidFill>
                        <a:srgbClr val="E9E5FF"/>
                      </a:solidFill>
                      <a:prstDash val="solid"/>
                      <a:round/>
                      <a:headEnd type="none" w="med" len="med"/>
                      <a:tailEnd type="none" w="med" len="med"/>
                    </a:lnT>
                    <a:lnB w="6350" cap="flat" cmpd="sng" algn="ctr">
                      <a:solidFill>
                        <a:srgbClr val="E9E5FF"/>
                      </a:solidFill>
                      <a:prstDash val="solid"/>
                      <a:round/>
                      <a:headEnd type="none" w="med" len="med"/>
                      <a:tailEnd type="none" w="med" len="med"/>
                    </a:lnB>
                    <a:solidFill>
                      <a:srgbClr val="F3F0FF"/>
                    </a:solidFill>
                  </a:tcPr>
                </a:tc>
                <a:tc>
                  <a:txBody>
                    <a:bodyPr/>
                    <a:lstStyle/>
                    <a:p>
                      <a:pPr indent="0" marL="0">
                        <a:buNone/>
                      </a:pPr>
                      <a:r>
                        <a:rPr lang="en-US" sz="1400" dirty="0">
                          <a:solidFill>
                            <a:srgbClr val="1A1433"/>
                          </a:solidFill>
                          <a:latin typeface="Calibri" pitchFamily="34" charset="0"/>
                          <a:ea typeface="Calibri" pitchFamily="34" charset="-122"/>
                          <a:cs typeface="Calibri" pitchFamily="34" charset="-120"/>
                        </a:rPr>
                        <a:t>App builder (Lovable, Bolt.new, Replit)</a:t>
                      </a:r>
                      <a:endParaRPr lang="en-US" sz="1400" dirty="0">
                        <a:latin typeface="Calibri" charset="0"/>
                        <a:ea typeface="Calibri" charset="0"/>
                        <a:cs typeface="Calibri" charset="0"/>
                      </a:endParaRPr>
                    </a:p>
                  </a:txBody>
                  <a:tcPr marL="137160" marR="137160" marT="73152" marB="73152" anchor="ctr">
                    <a:lnL w="6350" cap="flat" cmpd="sng" algn="ctr">
                      <a:solidFill>
                        <a:srgbClr val="E9E5FF"/>
                      </a:solidFill>
                      <a:prstDash val="solid"/>
                      <a:round/>
                      <a:headEnd type="none" w="med" len="med"/>
                      <a:tailEnd type="none" w="med" len="med"/>
                    </a:lnL>
                    <a:lnR w="6350" cap="flat" cmpd="sng" algn="ctr">
                      <a:solidFill>
                        <a:srgbClr val="E9E5FF"/>
                      </a:solidFill>
                      <a:prstDash val="solid"/>
                      <a:round/>
                      <a:headEnd type="none" w="med" len="med"/>
                      <a:tailEnd type="none" w="med" len="med"/>
                    </a:lnR>
                    <a:lnT w="6350" cap="flat" cmpd="sng" algn="ctr">
                      <a:solidFill>
                        <a:srgbClr val="E9E5FF"/>
                      </a:solidFill>
                      <a:prstDash val="solid"/>
                      <a:round/>
                      <a:headEnd type="none" w="med" len="med"/>
                      <a:tailEnd type="none" w="med" len="med"/>
                    </a:lnT>
                    <a:lnB w="6350" cap="flat" cmpd="sng" algn="ctr">
                      <a:solidFill>
                        <a:srgbClr val="E9E5FF"/>
                      </a:solidFill>
                      <a:prstDash val="solid"/>
                      <a:round/>
                      <a:headEnd type="none" w="med" len="med"/>
                      <a:tailEnd type="none" w="med" len="med"/>
                    </a:lnB>
                    <a:solidFill>
                      <a:srgbClr val="F3F0FF"/>
                    </a:solidFill>
                  </a:tcPr>
                </a:tc>
                <a:tc>
                  <a:txBody>
                    <a:bodyPr/>
                    <a:lstStyle/>
                    <a:p>
                      <a:pPr indent="0" marL="0">
                        <a:buNone/>
                      </a:pPr>
                      <a:r>
                        <a:rPr lang="en-US" sz="1400" dirty="0">
                          <a:solidFill>
                            <a:srgbClr val="1A1433"/>
                          </a:solidFill>
                          <a:latin typeface="Calibri" pitchFamily="34" charset="0"/>
                          <a:ea typeface="Calibri" pitchFamily="34" charset="-122"/>
                          <a:cs typeface="Calibri" pitchFamily="34" charset="-120"/>
                        </a:rPr>
                        <a:t>Tanpa instalasi, aplikasi langsung online</a:t>
                      </a:r>
                      <a:endParaRPr lang="en-US" sz="1400" dirty="0">
                        <a:latin typeface="Calibri" charset="0"/>
                        <a:ea typeface="Calibri" charset="0"/>
                        <a:cs typeface="Calibri" charset="0"/>
                      </a:endParaRPr>
                    </a:p>
                  </a:txBody>
                  <a:tcPr marL="137160" marR="137160" marT="73152" marB="73152" anchor="ctr">
                    <a:lnL w="6350" cap="flat" cmpd="sng" algn="ctr">
                      <a:solidFill>
                        <a:srgbClr val="E9E5FF"/>
                      </a:solidFill>
                      <a:prstDash val="solid"/>
                      <a:round/>
                      <a:headEnd type="none" w="med" len="med"/>
                      <a:tailEnd type="none" w="med" len="med"/>
                    </a:lnL>
                    <a:lnR w="6350" cap="flat" cmpd="sng" algn="ctr">
                      <a:solidFill>
                        <a:srgbClr val="E9E5FF"/>
                      </a:solidFill>
                      <a:prstDash val="solid"/>
                      <a:round/>
                      <a:headEnd type="none" w="med" len="med"/>
                      <a:tailEnd type="none" w="med" len="med"/>
                    </a:lnR>
                    <a:lnT w="6350" cap="flat" cmpd="sng" algn="ctr">
                      <a:solidFill>
                        <a:srgbClr val="E9E5FF"/>
                      </a:solidFill>
                      <a:prstDash val="solid"/>
                      <a:round/>
                      <a:headEnd type="none" w="med" len="med"/>
                      <a:tailEnd type="none" w="med" len="med"/>
                    </a:lnT>
                    <a:lnB w="6350" cap="flat" cmpd="sng" algn="ctr">
                      <a:solidFill>
                        <a:srgbClr val="E9E5FF"/>
                      </a:solidFill>
                      <a:prstDash val="solid"/>
                      <a:round/>
                      <a:headEnd type="none" w="med" len="med"/>
                      <a:tailEnd type="none" w="med" len="med"/>
                    </a:lnB>
                    <a:solidFill>
                      <a:srgbClr val="F3F0FF"/>
                    </a:solidFill>
                  </a:tcPr>
                </a:tc>
              </a:tr>
              <a:tr h="658368">
                <a:tc>
                  <a:txBody>
                    <a:bodyPr/>
                    <a:lstStyle/>
                    <a:p>
                      <a:pPr indent="0" marL="0">
                        <a:buNone/>
                      </a:pPr>
                      <a:r>
                        <a:rPr lang="en-US" sz="1400" b="1" dirty="0">
                          <a:solidFill>
                            <a:srgbClr val="1A1433"/>
                          </a:solidFill>
                          <a:latin typeface="Calibri" pitchFamily="34" charset="0"/>
                          <a:ea typeface="Calibri" pitchFamily="34" charset="-122"/>
                          <a:cs typeface="Calibri" pitchFamily="34" charset="-120"/>
                        </a:rPr>
                        <a:t>Pelajar / developer junior</a:t>
                      </a:r>
                      <a:endParaRPr lang="en-US" sz="1400" dirty="0">
                        <a:latin typeface="Calibri" charset="0"/>
                        <a:ea typeface="Calibri" charset="0"/>
                        <a:cs typeface="Calibri" charset="0"/>
                      </a:endParaRPr>
                    </a:p>
                  </a:txBody>
                  <a:tcPr marL="137160" marR="137160" marT="73152" marB="73152" anchor="ctr">
                    <a:lnL w="6350" cap="flat" cmpd="sng" algn="ctr">
                      <a:solidFill>
                        <a:srgbClr val="E9E5FF"/>
                      </a:solidFill>
                      <a:prstDash val="solid"/>
                      <a:round/>
                      <a:headEnd type="none" w="med" len="med"/>
                      <a:tailEnd type="none" w="med" len="med"/>
                    </a:lnL>
                    <a:lnR w="6350" cap="flat" cmpd="sng" algn="ctr">
                      <a:solidFill>
                        <a:srgbClr val="E9E5FF"/>
                      </a:solidFill>
                      <a:prstDash val="solid"/>
                      <a:round/>
                      <a:headEnd type="none" w="med" len="med"/>
                      <a:tailEnd type="none" w="med" len="med"/>
                    </a:lnR>
                    <a:lnT w="6350" cap="flat" cmpd="sng" algn="ctr">
                      <a:solidFill>
                        <a:srgbClr val="E9E5FF"/>
                      </a:solidFill>
                      <a:prstDash val="solid"/>
                      <a:round/>
                      <a:headEnd type="none" w="med" len="med"/>
                      <a:tailEnd type="none" w="med" len="med"/>
                    </a:lnT>
                    <a:lnB w="6350" cap="flat" cmpd="sng" algn="ctr">
                      <a:solidFill>
                        <a:srgbClr val="E9E5FF"/>
                      </a:solidFill>
                      <a:prstDash val="solid"/>
                      <a:round/>
                      <a:headEnd type="none" w="med" len="med"/>
                      <a:tailEnd type="none" w="med" len="med"/>
                    </a:lnB>
                    <a:solidFill>
                      <a:srgbClr val="FFFFFF"/>
                    </a:solidFill>
                  </a:tcPr>
                </a:tc>
                <a:tc>
                  <a:txBody>
                    <a:bodyPr/>
                    <a:lstStyle/>
                    <a:p>
                      <a:pPr indent="0" marL="0">
                        <a:buNone/>
                      </a:pPr>
                      <a:r>
                        <a:rPr lang="en-US" sz="1400" dirty="0">
                          <a:solidFill>
                            <a:srgbClr val="1A1433"/>
                          </a:solidFill>
                          <a:latin typeface="Calibri" pitchFamily="34" charset="0"/>
                          <a:ea typeface="Calibri" pitchFamily="34" charset="-122"/>
                          <a:cs typeface="Calibri" pitchFamily="34" charset="-120"/>
                        </a:rPr>
                        <a:t>AI code editor (Cursor, Copilot)</a:t>
                      </a:r>
                      <a:endParaRPr lang="en-US" sz="1400" dirty="0">
                        <a:latin typeface="Calibri" charset="0"/>
                        <a:ea typeface="Calibri" charset="0"/>
                        <a:cs typeface="Calibri" charset="0"/>
                      </a:endParaRPr>
                    </a:p>
                  </a:txBody>
                  <a:tcPr marL="137160" marR="137160" marT="73152" marB="73152" anchor="ctr">
                    <a:lnL w="6350" cap="flat" cmpd="sng" algn="ctr">
                      <a:solidFill>
                        <a:srgbClr val="E9E5FF"/>
                      </a:solidFill>
                      <a:prstDash val="solid"/>
                      <a:round/>
                      <a:headEnd type="none" w="med" len="med"/>
                      <a:tailEnd type="none" w="med" len="med"/>
                    </a:lnL>
                    <a:lnR w="6350" cap="flat" cmpd="sng" algn="ctr">
                      <a:solidFill>
                        <a:srgbClr val="E9E5FF"/>
                      </a:solidFill>
                      <a:prstDash val="solid"/>
                      <a:round/>
                      <a:headEnd type="none" w="med" len="med"/>
                      <a:tailEnd type="none" w="med" len="med"/>
                    </a:lnR>
                    <a:lnT w="6350" cap="flat" cmpd="sng" algn="ctr">
                      <a:solidFill>
                        <a:srgbClr val="E9E5FF"/>
                      </a:solidFill>
                      <a:prstDash val="solid"/>
                      <a:round/>
                      <a:headEnd type="none" w="med" len="med"/>
                      <a:tailEnd type="none" w="med" len="med"/>
                    </a:lnT>
                    <a:lnB w="6350" cap="flat" cmpd="sng" algn="ctr">
                      <a:solidFill>
                        <a:srgbClr val="E9E5FF"/>
                      </a:solidFill>
                      <a:prstDash val="solid"/>
                      <a:round/>
                      <a:headEnd type="none" w="med" len="med"/>
                      <a:tailEnd type="none" w="med" len="med"/>
                    </a:lnB>
                    <a:solidFill>
                      <a:srgbClr val="FFFFFF"/>
                    </a:solidFill>
                  </a:tcPr>
                </a:tc>
                <a:tc>
                  <a:txBody>
                    <a:bodyPr/>
                    <a:lstStyle/>
                    <a:p>
                      <a:pPr indent="0" marL="0">
                        <a:buNone/>
                      </a:pPr>
                      <a:r>
                        <a:rPr lang="en-US" sz="1400" dirty="0">
                          <a:solidFill>
                            <a:srgbClr val="1A1433"/>
                          </a:solidFill>
                          <a:latin typeface="Calibri" pitchFamily="34" charset="0"/>
                          <a:ea typeface="Calibri" pitchFamily="34" charset="-122"/>
                          <a:cs typeface="Calibri" pitchFamily="34" charset="-120"/>
                        </a:rPr>
                        <a:t>Tetap melihat kode, sambil belajar</a:t>
                      </a:r>
                      <a:endParaRPr lang="en-US" sz="1400" dirty="0">
                        <a:latin typeface="Calibri" charset="0"/>
                        <a:ea typeface="Calibri" charset="0"/>
                        <a:cs typeface="Calibri" charset="0"/>
                      </a:endParaRPr>
                    </a:p>
                  </a:txBody>
                  <a:tcPr marL="137160" marR="137160" marT="73152" marB="73152" anchor="ctr">
                    <a:lnL w="6350" cap="flat" cmpd="sng" algn="ctr">
                      <a:solidFill>
                        <a:srgbClr val="E9E5FF"/>
                      </a:solidFill>
                      <a:prstDash val="solid"/>
                      <a:round/>
                      <a:headEnd type="none" w="med" len="med"/>
                      <a:tailEnd type="none" w="med" len="med"/>
                    </a:lnL>
                    <a:lnR w="6350" cap="flat" cmpd="sng" algn="ctr">
                      <a:solidFill>
                        <a:srgbClr val="E9E5FF"/>
                      </a:solidFill>
                      <a:prstDash val="solid"/>
                      <a:round/>
                      <a:headEnd type="none" w="med" len="med"/>
                      <a:tailEnd type="none" w="med" len="med"/>
                    </a:lnR>
                    <a:lnT w="6350" cap="flat" cmpd="sng" algn="ctr">
                      <a:solidFill>
                        <a:srgbClr val="E9E5FF"/>
                      </a:solidFill>
                      <a:prstDash val="solid"/>
                      <a:round/>
                      <a:headEnd type="none" w="med" len="med"/>
                      <a:tailEnd type="none" w="med" len="med"/>
                    </a:lnT>
                    <a:lnB w="6350" cap="flat" cmpd="sng" algn="ctr">
                      <a:solidFill>
                        <a:srgbClr val="E9E5FF"/>
                      </a:solidFill>
                      <a:prstDash val="solid"/>
                      <a:round/>
                      <a:headEnd type="none" w="med" len="med"/>
                      <a:tailEnd type="none" w="med" len="med"/>
                    </a:lnB>
                    <a:solidFill>
                      <a:srgbClr val="FFFFFF"/>
                    </a:solidFill>
                  </a:tcPr>
                </a:tc>
              </a:tr>
              <a:tr h="658368">
                <a:tc>
                  <a:txBody>
                    <a:bodyPr/>
                    <a:lstStyle/>
                    <a:p>
                      <a:pPr indent="0" marL="0">
                        <a:buNone/>
                      </a:pPr>
                      <a:r>
                        <a:rPr lang="en-US" sz="1400" b="1" dirty="0">
                          <a:solidFill>
                            <a:srgbClr val="1A1433"/>
                          </a:solidFill>
                          <a:latin typeface="Calibri" pitchFamily="34" charset="0"/>
                          <a:ea typeface="Calibri" pitchFamily="34" charset="-122"/>
                          <a:cs typeface="Calibri" pitchFamily="34" charset="-120"/>
                        </a:rPr>
                        <a:t>Developer profesional</a:t>
                      </a:r>
                      <a:endParaRPr lang="en-US" sz="1400" dirty="0">
                        <a:latin typeface="Calibri" charset="0"/>
                        <a:ea typeface="Calibri" charset="0"/>
                        <a:cs typeface="Calibri" charset="0"/>
                      </a:endParaRPr>
                    </a:p>
                  </a:txBody>
                  <a:tcPr marL="137160" marR="137160" marT="73152" marB="73152" anchor="ctr">
                    <a:lnL w="6350" cap="flat" cmpd="sng" algn="ctr">
                      <a:solidFill>
                        <a:srgbClr val="E9E5FF"/>
                      </a:solidFill>
                      <a:prstDash val="solid"/>
                      <a:round/>
                      <a:headEnd type="none" w="med" len="med"/>
                      <a:tailEnd type="none" w="med" len="med"/>
                    </a:lnL>
                    <a:lnR w="6350" cap="flat" cmpd="sng" algn="ctr">
                      <a:solidFill>
                        <a:srgbClr val="E9E5FF"/>
                      </a:solidFill>
                      <a:prstDash val="solid"/>
                      <a:round/>
                      <a:headEnd type="none" w="med" len="med"/>
                      <a:tailEnd type="none" w="med" len="med"/>
                    </a:lnR>
                    <a:lnT w="6350" cap="flat" cmpd="sng" algn="ctr">
                      <a:solidFill>
                        <a:srgbClr val="E9E5FF"/>
                      </a:solidFill>
                      <a:prstDash val="solid"/>
                      <a:round/>
                      <a:headEnd type="none" w="med" len="med"/>
                      <a:tailEnd type="none" w="med" len="med"/>
                    </a:lnT>
                    <a:lnB w="6350" cap="flat" cmpd="sng" algn="ctr">
                      <a:solidFill>
                        <a:srgbClr val="E9E5FF"/>
                      </a:solidFill>
                      <a:prstDash val="solid"/>
                      <a:round/>
                      <a:headEnd type="none" w="med" len="med"/>
                      <a:tailEnd type="none" w="med" len="med"/>
                    </a:lnB>
                    <a:solidFill>
                      <a:srgbClr val="F3F0FF"/>
                    </a:solidFill>
                  </a:tcPr>
                </a:tc>
                <a:tc>
                  <a:txBody>
                    <a:bodyPr/>
                    <a:lstStyle/>
                    <a:p>
                      <a:pPr indent="0" marL="0">
                        <a:buNone/>
                      </a:pPr>
                      <a:r>
                        <a:rPr lang="en-US" sz="1400" dirty="0">
                          <a:solidFill>
                            <a:srgbClr val="1A1433"/>
                          </a:solidFill>
                          <a:latin typeface="Calibri" pitchFamily="34" charset="0"/>
                          <a:ea typeface="Calibri" pitchFamily="34" charset="-122"/>
                          <a:cs typeface="Calibri" pitchFamily="34" charset="-120"/>
                        </a:rPr>
                        <a:t>Agen terminal (Claude Code, Codex)</a:t>
                      </a:r>
                      <a:endParaRPr lang="en-US" sz="1400" dirty="0">
                        <a:latin typeface="Calibri" charset="0"/>
                        <a:ea typeface="Calibri" charset="0"/>
                        <a:cs typeface="Calibri" charset="0"/>
                      </a:endParaRPr>
                    </a:p>
                  </a:txBody>
                  <a:tcPr marL="137160" marR="137160" marT="73152" marB="73152" anchor="ctr">
                    <a:lnL w="6350" cap="flat" cmpd="sng" algn="ctr">
                      <a:solidFill>
                        <a:srgbClr val="E9E5FF"/>
                      </a:solidFill>
                      <a:prstDash val="solid"/>
                      <a:round/>
                      <a:headEnd type="none" w="med" len="med"/>
                      <a:tailEnd type="none" w="med" len="med"/>
                    </a:lnL>
                    <a:lnR w="6350" cap="flat" cmpd="sng" algn="ctr">
                      <a:solidFill>
                        <a:srgbClr val="E9E5FF"/>
                      </a:solidFill>
                      <a:prstDash val="solid"/>
                      <a:round/>
                      <a:headEnd type="none" w="med" len="med"/>
                      <a:tailEnd type="none" w="med" len="med"/>
                    </a:lnR>
                    <a:lnT w="6350" cap="flat" cmpd="sng" algn="ctr">
                      <a:solidFill>
                        <a:srgbClr val="E9E5FF"/>
                      </a:solidFill>
                      <a:prstDash val="solid"/>
                      <a:round/>
                      <a:headEnd type="none" w="med" len="med"/>
                      <a:tailEnd type="none" w="med" len="med"/>
                    </a:lnT>
                    <a:lnB w="6350" cap="flat" cmpd="sng" algn="ctr">
                      <a:solidFill>
                        <a:srgbClr val="E9E5FF"/>
                      </a:solidFill>
                      <a:prstDash val="solid"/>
                      <a:round/>
                      <a:headEnd type="none" w="med" len="med"/>
                      <a:tailEnd type="none" w="med" len="med"/>
                    </a:lnB>
                    <a:solidFill>
                      <a:srgbClr val="F3F0FF"/>
                    </a:solidFill>
                  </a:tcPr>
                </a:tc>
                <a:tc>
                  <a:txBody>
                    <a:bodyPr/>
                    <a:lstStyle/>
                    <a:p>
                      <a:pPr indent="0" marL="0">
                        <a:buNone/>
                      </a:pPr>
                      <a:r>
                        <a:rPr lang="en-US" sz="1400" dirty="0">
                          <a:solidFill>
                            <a:srgbClr val="1A1433"/>
                          </a:solidFill>
                          <a:latin typeface="Calibri" pitchFamily="34" charset="0"/>
                          <a:ea typeface="Calibri" pitchFamily="34" charset="-122"/>
                          <a:cs typeface="Calibri" pitchFamily="34" charset="-120"/>
                        </a:rPr>
                        <a:t>Kerja lintas repo, menjalankan tes dan git</a:t>
                      </a:r>
                      <a:endParaRPr lang="en-US" sz="1400" dirty="0">
                        <a:latin typeface="Calibri" charset="0"/>
                        <a:ea typeface="Calibri" charset="0"/>
                        <a:cs typeface="Calibri" charset="0"/>
                      </a:endParaRPr>
                    </a:p>
                  </a:txBody>
                  <a:tcPr marL="137160" marR="137160" marT="73152" marB="73152" anchor="ctr">
                    <a:lnL w="6350" cap="flat" cmpd="sng" algn="ctr">
                      <a:solidFill>
                        <a:srgbClr val="E9E5FF"/>
                      </a:solidFill>
                      <a:prstDash val="solid"/>
                      <a:round/>
                      <a:headEnd type="none" w="med" len="med"/>
                      <a:tailEnd type="none" w="med" len="med"/>
                    </a:lnL>
                    <a:lnR w="6350" cap="flat" cmpd="sng" algn="ctr">
                      <a:solidFill>
                        <a:srgbClr val="E9E5FF"/>
                      </a:solidFill>
                      <a:prstDash val="solid"/>
                      <a:round/>
                      <a:headEnd type="none" w="med" len="med"/>
                      <a:tailEnd type="none" w="med" len="med"/>
                    </a:lnR>
                    <a:lnT w="6350" cap="flat" cmpd="sng" algn="ctr">
                      <a:solidFill>
                        <a:srgbClr val="E9E5FF"/>
                      </a:solidFill>
                      <a:prstDash val="solid"/>
                      <a:round/>
                      <a:headEnd type="none" w="med" len="med"/>
                      <a:tailEnd type="none" w="med" len="med"/>
                    </a:lnT>
                    <a:lnB w="6350" cap="flat" cmpd="sng" algn="ctr">
                      <a:solidFill>
                        <a:srgbClr val="E9E5FF"/>
                      </a:solidFill>
                      <a:prstDash val="solid"/>
                      <a:round/>
                      <a:headEnd type="none" w="med" len="med"/>
                      <a:tailEnd type="none" w="med" len="med"/>
                    </a:lnB>
                    <a:solidFill>
                      <a:srgbClr val="F3F0FF"/>
                    </a:solidFill>
                  </a:tcPr>
                </a:tc>
              </a:tr>
              <a:tr h="658368">
                <a:tc>
                  <a:txBody>
                    <a:bodyPr/>
                    <a:lstStyle/>
                    <a:p>
                      <a:pPr indent="0" marL="0">
                        <a:buNone/>
                      </a:pPr>
                      <a:r>
                        <a:rPr lang="en-US" sz="1400" b="1" dirty="0">
                          <a:solidFill>
                            <a:srgbClr val="1A1433"/>
                          </a:solidFill>
                          <a:latin typeface="Calibri" pitchFamily="34" charset="0"/>
                          <a:ea typeface="Calibri" pitchFamily="34" charset="-122"/>
                          <a:cs typeface="Calibri" pitchFamily="34" charset="-120"/>
                        </a:rPr>
                        <a:t>Tim / perusahaan</a:t>
                      </a:r>
                      <a:endParaRPr lang="en-US" sz="1400" dirty="0">
                        <a:latin typeface="Calibri" charset="0"/>
                        <a:ea typeface="Calibri" charset="0"/>
                        <a:cs typeface="Calibri" charset="0"/>
                      </a:endParaRPr>
                    </a:p>
                  </a:txBody>
                  <a:tcPr marL="137160" marR="137160" marT="73152" marB="73152" anchor="ctr">
                    <a:lnL w="6350" cap="flat" cmpd="sng" algn="ctr">
                      <a:solidFill>
                        <a:srgbClr val="E9E5FF"/>
                      </a:solidFill>
                      <a:prstDash val="solid"/>
                      <a:round/>
                      <a:headEnd type="none" w="med" len="med"/>
                      <a:tailEnd type="none" w="med" len="med"/>
                    </a:lnL>
                    <a:lnR w="6350" cap="flat" cmpd="sng" algn="ctr">
                      <a:solidFill>
                        <a:srgbClr val="E9E5FF"/>
                      </a:solidFill>
                      <a:prstDash val="solid"/>
                      <a:round/>
                      <a:headEnd type="none" w="med" len="med"/>
                      <a:tailEnd type="none" w="med" len="med"/>
                    </a:lnR>
                    <a:lnT w="6350" cap="flat" cmpd="sng" algn="ctr">
                      <a:solidFill>
                        <a:srgbClr val="E9E5FF"/>
                      </a:solidFill>
                      <a:prstDash val="solid"/>
                      <a:round/>
                      <a:headEnd type="none" w="med" len="med"/>
                      <a:tailEnd type="none" w="med" len="med"/>
                    </a:lnT>
                    <a:lnB w="6350" cap="flat" cmpd="sng" algn="ctr">
                      <a:solidFill>
                        <a:srgbClr val="E9E5FF"/>
                      </a:solidFill>
                      <a:prstDash val="solid"/>
                      <a:round/>
                      <a:headEnd type="none" w="med" len="med"/>
                      <a:tailEnd type="none" w="med" len="med"/>
                    </a:lnB>
                    <a:solidFill>
                      <a:srgbClr val="FFFFFF"/>
                    </a:solidFill>
                  </a:tcPr>
                </a:tc>
                <a:tc>
                  <a:txBody>
                    <a:bodyPr/>
                    <a:lstStyle/>
                    <a:p>
                      <a:pPr indent="0" marL="0">
                        <a:buNone/>
                      </a:pPr>
                      <a:r>
                        <a:rPr lang="en-US" sz="1400" dirty="0">
                          <a:solidFill>
                            <a:srgbClr val="1A1433"/>
                          </a:solidFill>
                          <a:latin typeface="Calibri" pitchFamily="34" charset="0"/>
                          <a:ea typeface="Calibri" pitchFamily="34" charset="-122"/>
                          <a:cs typeface="Calibri" pitchFamily="34" charset="-120"/>
                        </a:rPr>
                        <a:t>Agen + code review + CI/CD</a:t>
                      </a:r>
                      <a:endParaRPr lang="en-US" sz="1400" dirty="0">
                        <a:latin typeface="Calibri" charset="0"/>
                        <a:ea typeface="Calibri" charset="0"/>
                        <a:cs typeface="Calibri" charset="0"/>
                      </a:endParaRPr>
                    </a:p>
                  </a:txBody>
                  <a:tcPr marL="137160" marR="137160" marT="73152" marB="73152" anchor="ctr">
                    <a:lnL w="6350" cap="flat" cmpd="sng" algn="ctr">
                      <a:solidFill>
                        <a:srgbClr val="E9E5FF"/>
                      </a:solidFill>
                      <a:prstDash val="solid"/>
                      <a:round/>
                      <a:headEnd type="none" w="med" len="med"/>
                      <a:tailEnd type="none" w="med" len="med"/>
                    </a:lnL>
                    <a:lnR w="6350" cap="flat" cmpd="sng" algn="ctr">
                      <a:solidFill>
                        <a:srgbClr val="E9E5FF"/>
                      </a:solidFill>
                      <a:prstDash val="solid"/>
                      <a:round/>
                      <a:headEnd type="none" w="med" len="med"/>
                      <a:tailEnd type="none" w="med" len="med"/>
                    </a:lnR>
                    <a:lnT w="6350" cap="flat" cmpd="sng" algn="ctr">
                      <a:solidFill>
                        <a:srgbClr val="E9E5FF"/>
                      </a:solidFill>
                      <a:prstDash val="solid"/>
                      <a:round/>
                      <a:headEnd type="none" w="med" len="med"/>
                      <a:tailEnd type="none" w="med" len="med"/>
                    </a:lnT>
                    <a:lnB w="6350" cap="flat" cmpd="sng" algn="ctr">
                      <a:solidFill>
                        <a:srgbClr val="E9E5FF"/>
                      </a:solidFill>
                      <a:prstDash val="solid"/>
                      <a:round/>
                      <a:headEnd type="none" w="med" len="med"/>
                      <a:tailEnd type="none" w="med" len="med"/>
                    </a:lnB>
                    <a:solidFill>
                      <a:srgbClr val="FFFFFF"/>
                    </a:solidFill>
                  </a:tcPr>
                </a:tc>
                <a:tc>
                  <a:txBody>
                    <a:bodyPr/>
                    <a:lstStyle/>
                    <a:p>
                      <a:pPr indent="0" marL="0">
                        <a:buNone/>
                      </a:pPr>
                      <a:r>
                        <a:rPr lang="en-US" sz="1400" dirty="0">
                          <a:solidFill>
                            <a:srgbClr val="1A1433"/>
                          </a:solidFill>
                          <a:latin typeface="Calibri" pitchFamily="34" charset="0"/>
                          <a:ea typeface="Calibri" pitchFamily="34" charset="-122"/>
                          <a:cs typeface="Calibri" pitchFamily="34" charset="-120"/>
                        </a:rPr>
                        <a:t>Mutu, keamanan, dan jejak audit terjaga</a:t>
                      </a:r>
                      <a:endParaRPr lang="en-US" sz="1400" dirty="0">
                        <a:latin typeface="Calibri" charset="0"/>
                        <a:ea typeface="Calibri" charset="0"/>
                        <a:cs typeface="Calibri" charset="0"/>
                      </a:endParaRPr>
                    </a:p>
                  </a:txBody>
                  <a:tcPr marL="137160" marR="137160" marT="73152" marB="73152" anchor="ctr">
                    <a:lnL w="6350" cap="flat" cmpd="sng" algn="ctr">
                      <a:solidFill>
                        <a:srgbClr val="E9E5FF"/>
                      </a:solidFill>
                      <a:prstDash val="solid"/>
                      <a:round/>
                      <a:headEnd type="none" w="med" len="med"/>
                      <a:tailEnd type="none" w="med" len="med"/>
                    </a:lnL>
                    <a:lnR w="6350" cap="flat" cmpd="sng" algn="ctr">
                      <a:solidFill>
                        <a:srgbClr val="E9E5FF"/>
                      </a:solidFill>
                      <a:prstDash val="solid"/>
                      <a:round/>
                      <a:headEnd type="none" w="med" len="med"/>
                      <a:tailEnd type="none" w="med" len="med"/>
                    </a:lnR>
                    <a:lnT w="6350" cap="flat" cmpd="sng" algn="ctr">
                      <a:solidFill>
                        <a:srgbClr val="E9E5FF"/>
                      </a:solidFill>
                      <a:prstDash val="solid"/>
                      <a:round/>
                      <a:headEnd type="none" w="med" len="med"/>
                      <a:tailEnd type="none" w="med" len="med"/>
                    </a:lnT>
                    <a:lnB w="6350" cap="flat" cmpd="sng" algn="ctr">
                      <a:solidFill>
                        <a:srgbClr val="E9E5FF"/>
                      </a:solidFill>
                      <a:prstDash val="solid"/>
                      <a:round/>
                      <a:headEnd type="none" w="med" len="med"/>
                      <a:tailEnd type="none" w="med" len="med"/>
                    </a:lnB>
                    <a:solidFill>
                      <a:srgbClr val="FFFFFF"/>
                    </a:solidFill>
                  </a:tcPr>
                </a:tc>
              </a:tr>
            </a:tbl>
          </a:graphicData>
        </a:graphic>
      </p:graphicFrame>
      <p:sp>
        <p:nvSpPr>
          <p:cNvPr id="4" name="card-226"/>
          <p:cNvSpPr/>
          <p:nvPr/>
        </p:nvSpPr>
        <p:spPr>
          <a:xfrm>
            <a:off x="548640" y="5029200"/>
            <a:ext cx="11064240" cy="1005840"/>
          </a:xfrm>
          <a:prstGeom prst="roundRect">
            <a:avLst>
              <a:gd name="adj" fmla="val 13636"/>
            </a:avLst>
          </a:prstGeom>
          <a:solidFill>
            <a:schemeClr val="bg2"/>
          </a:solidFill>
          <a:ln/>
        </p:spPr>
      </p:sp>
      <p:sp>
        <p:nvSpPr>
          <p:cNvPr id="5" name="iconbg-227"/>
          <p:cNvSpPr/>
          <p:nvPr/>
        </p:nvSpPr>
        <p:spPr>
          <a:xfrm>
            <a:off x="777240" y="5212080"/>
            <a:ext cx="640080" cy="640080"/>
          </a:xfrm>
          <a:prstGeom prst="ellipse">
            <a:avLst/>
          </a:prstGeom>
          <a:solidFill>
            <a:schemeClr val="accent4"/>
          </a:solidFill>
          <a:ln/>
        </p:spPr>
      </p:sp>
      <p:pic>
        <p:nvPicPr>
          <p:cNvPr id="6" name="icon-228" descr="preencoded.png">    </p:cNvPr>
          <p:cNvPicPr>
            <a:picLocks noChangeAspect="1"/>
          </p:cNvPicPr>
          <p:nvPr/>
        </p:nvPicPr>
        <p:blipFill>
          <a:blip r:embed="rId1"/>
          <a:stretch>
            <a:fillRect/>
          </a:stretch>
        </p:blipFill>
        <p:spPr>
          <a:xfrm>
            <a:off x="930859" y="5365699"/>
            <a:ext cx="332842" cy="332842"/>
          </a:xfrm>
          <a:prstGeom prst="rect">
            <a:avLst/>
          </a:prstGeom>
        </p:spPr>
      </p:pic>
      <p:sp>
        <p:nvSpPr>
          <p:cNvPr id="7" name="txt-229"/>
          <p:cNvSpPr txBox="1"/>
          <p:nvPr/>
        </p:nvSpPr>
        <p:spPr>
          <a:xfrm>
            <a:off x="1600200" y="5029200"/>
            <a:ext cx="9784080" cy="1005840"/>
          </a:xfrm>
          <a:prstGeom prst="rect">
            <a:avLst/>
          </a:prstGeom>
          <a:noFill/>
          <a:ln/>
        </p:spPr>
        <p:txBody>
          <a:bodyPr wrap="square" lIns="0" tIns="0" rIns="0" bIns="0" rtlCol="0" anchor="ctr"/>
          <a:lstStyle/>
          <a:p>
            <a:pPr indent="0" marL="0">
              <a:buNone/>
            </a:pPr>
            <a:r>
              <a:rPr lang="en-US" sz="1500" b="1" dirty="0">
                <a:solidFill>
                  <a:srgbClr val="1A1433"/>
                </a:solidFill>
              </a:rPr>
              <a:t>Tips memilih: </a:t>
            </a:r>
            <a:pPr indent="0" marL="0">
              <a:buNone/>
            </a:pPr>
            <a:r>
              <a:rPr lang="en-US" sz="1500" dirty="0">
                <a:solidFill>
                  <a:srgbClr val="1A1433"/>
                </a:solidFill>
              </a:rPr>
              <a:t>mulai dari yang paling mudah dicoba hari ini. Tool bisa diganti kapan saja — yang bertahan adalah kebiasaan kerja yang baik: prompt jelas, langkah kecil, dan Git.</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5677"/>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xt-230"/>
          <p:cNvSpPr txBox="1"/>
          <p:nvPr/>
        </p:nvSpPr>
        <p:spPr>
          <a:xfrm>
            <a:off x="822960" y="1463040"/>
            <a:ext cx="2743200" cy="1097280"/>
          </a:xfrm>
          <a:prstGeom prst="rect">
            <a:avLst/>
          </a:prstGeom>
          <a:noFill/>
          <a:ln/>
        </p:spPr>
        <p:txBody>
          <a:bodyPr wrap="square" lIns="0" tIns="0" rIns="0" bIns="0" rtlCol="0" anchor="b"/>
          <a:lstStyle/>
          <a:p>
            <a:pPr indent="0" marL="0">
              <a:buNone/>
            </a:pPr>
            <a:r>
              <a:rPr lang="en-US" sz="8000" b="1" dirty="0">
                <a:solidFill>
                  <a:srgbClr val="A78BFA"/>
                </a:solidFill>
                <a:latin typeface="Arial" pitchFamily="34" charset="0"/>
                <a:ea typeface="Arial" pitchFamily="34" charset="-122"/>
                <a:cs typeface="Arial" pitchFamily="34" charset="-120"/>
              </a:rPr>
              <a:t>04</a:t>
            </a:r>
            <a:endParaRPr lang="en-US" sz="8000" dirty="0"/>
          </a:p>
        </p:txBody>
      </p:sp>
      <p:sp>
        <p:nvSpPr>
          <p:cNvPr id="3" name="Text 0"/>
          <p:cNvSpPr/>
          <p:nvPr>
            <p:ph idx="100" type="title" hasCustomPrompt="1"/>
          </p:nvPr>
        </p:nvSpPr>
        <p:spPr>
          <a:xfrm>
            <a:off x="822960" y="2651760"/>
            <a:ext cx="7498080" cy="1280160"/>
          </a:xfrm>
          <a:prstGeom prst="rect">
            <a:avLst/>
          </a:prstGeom>
          <a:noFill/>
          <a:ln/>
        </p:spPr>
        <p:txBody>
          <a:bodyPr wrap="square" lIns="0" tIns="0" rIns="0" bIns="0" rtlCol="0" anchor="t"/>
          <a:lstStyle/>
          <a:p>
            <a:pPr algn="l" indent="0" marL="0">
              <a:buNone/>
            </a:pPr>
            <a:r>
              <a:rPr lang="en-US" sz="4400" b="1" dirty="0">
                <a:solidFill>
                  <a:schemeClr val="bg1"/>
                </a:solidFill>
                <a:latin typeface="Arial" pitchFamily="34" charset="0"/>
                <a:ea typeface="Arial" pitchFamily="34" charset="-122"/>
                <a:cs typeface="Arial" pitchFamily="34" charset="-120"/>
              </a:rPr>
              <a:t>Praktik &amp; Workflow</a:t>
            </a:r>
            <a:endParaRPr lang="en-US" sz="4400" dirty="0"/>
          </a:p>
        </p:txBody>
      </p:sp>
      <p:sp>
        <p:nvSpPr>
          <p:cNvPr id="4" name="Text 0"/>
          <p:cNvSpPr/>
          <p:nvPr>
            <p:ph idx="101" type="body" hasCustomPrompt="1"/>
          </p:nvPr>
        </p:nvSpPr>
        <p:spPr>
          <a:xfrm>
            <a:off x="822960" y="3977640"/>
            <a:ext cx="6949440" cy="914400"/>
          </a:xfrm>
          <a:prstGeom prst="rect">
            <a:avLst/>
          </a:prstGeom>
          <a:noFill/>
          <a:ln/>
        </p:spPr>
        <p:txBody>
          <a:bodyPr wrap="square" lIns="0" tIns="0" rIns="0" bIns="0" rtlCol="0" anchor="t"/>
          <a:lstStyle/>
          <a:p>
            <a:pPr indent="0" marL="0">
              <a:buNone/>
            </a:pPr>
            <a:r>
              <a:rPr lang="en-US" sz="1800" dirty="0">
                <a:solidFill>
                  <a:srgbClr val="D8CCFF"/>
                </a:solidFill>
                <a:latin typeface="Calibri" pitchFamily="34" charset="0"/>
                <a:ea typeface="Calibri" pitchFamily="34" charset="-122"/>
                <a:cs typeface="Calibri" pitchFamily="34" charset="-120"/>
              </a:rPr>
              <a:t>Langkah kerja dari ide sampai rilis, studi kasus, dan tips terbaik</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Workflow 7 langkah dari ide sampai rilis</a:t>
            </a:r>
            <a:endParaRPr lang="en-US" sz="3200" dirty="0"/>
          </a:p>
        </p:txBody>
      </p:sp>
      <p:sp>
        <p:nvSpPr>
          <p:cNvPr id="3" name="Shape 1"/>
          <p:cNvSpPr/>
          <p:nvPr/>
        </p:nvSpPr>
        <p:spPr>
          <a:xfrm>
            <a:off x="1338943" y="2148840"/>
            <a:ext cx="9483634" cy="0"/>
          </a:xfrm>
          <a:prstGeom prst="line">
            <a:avLst/>
          </a:prstGeom>
          <a:noFill/>
          <a:ln w="38100">
            <a:solidFill>
              <a:srgbClr val="C4B5FD"/>
            </a:solidFill>
            <a:prstDash val="dash"/>
          </a:ln>
        </p:spPr>
      </p:sp>
      <p:sp>
        <p:nvSpPr>
          <p:cNvPr id="4" name="iconbg-231"/>
          <p:cNvSpPr/>
          <p:nvPr/>
        </p:nvSpPr>
        <p:spPr>
          <a:xfrm>
            <a:off x="881743" y="1691640"/>
            <a:ext cx="914400" cy="914400"/>
          </a:xfrm>
          <a:prstGeom prst="ellipse">
            <a:avLst/>
          </a:prstGeom>
          <a:solidFill>
            <a:schemeClr val="accent1"/>
          </a:solidFill>
          <a:ln/>
        </p:spPr>
      </p:sp>
      <p:pic>
        <p:nvPicPr>
          <p:cNvPr id="5" name="icon-232" descr="preencoded.png">    </p:cNvPr>
          <p:cNvPicPr>
            <a:picLocks noChangeAspect="1"/>
          </p:cNvPicPr>
          <p:nvPr/>
        </p:nvPicPr>
        <p:blipFill>
          <a:blip r:embed="rId1"/>
          <a:stretch>
            <a:fillRect/>
          </a:stretch>
        </p:blipFill>
        <p:spPr>
          <a:xfrm>
            <a:off x="1101199" y="1911096"/>
            <a:ext cx="475488" cy="475488"/>
          </a:xfrm>
          <a:prstGeom prst="rect">
            <a:avLst/>
          </a:prstGeom>
        </p:spPr>
      </p:pic>
      <p:sp>
        <p:nvSpPr>
          <p:cNvPr id="6" name="txt-233"/>
          <p:cNvSpPr txBox="1"/>
          <p:nvPr/>
        </p:nvSpPr>
        <p:spPr>
          <a:xfrm>
            <a:off x="1110343" y="2743200"/>
            <a:ext cx="457200" cy="365760"/>
          </a:xfrm>
          <a:prstGeom prst="rect">
            <a:avLst/>
          </a:prstGeom>
          <a:noFill/>
          <a:ln/>
        </p:spPr>
        <p:txBody>
          <a:bodyPr wrap="square" lIns="0" tIns="0" rIns="0" bIns="0" rtlCol="0" anchor="t"/>
          <a:lstStyle/>
          <a:p>
            <a:pPr algn="ctr" indent="0" marL="0">
              <a:buNone/>
            </a:pPr>
            <a:r>
              <a:rPr lang="en-US" sz="1600" b="1" dirty="0">
                <a:solidFill>
                  <a:schemeClr val="accent1"/>
                </a:solidFill>
              </a:rPr>
              <a:t>1</a:t>
            </a:r>
            <a:endParaRPr lang="en-US" sz="1600" dirty="0"/>
          </a:p>
        </p:txBody>
      </p:sp>
      <p:sp>
        <p:nvSpPr>
          <p:cNvPr id="7" name="txt-234"/>
          <p:cNvSpPr txBox="1"/>
          <p:nvPr/>
        </p:nvSpPr>
        <p:spPr>
          <a:xfrm>
            <a:off x="594360" y="3108960"/>
            <a:ext cx="1489166" cy="685800"/>
          </a:xfrm>
          <a:prstGeom prst="rect">
            <a:avLst/>
          </a:prstGeom>
          <a:noFill/>
          <a:ln/>
        </p:spPr>
        <p:txBody>
          <a:bodyPr wrap="square" lIns="0" tIns="0" rIns="0" bIns="0" rtlCol="0" anchor="t"/>
          <a:lstStyle/>
          <a:p>
            <a:pPr algn="ctr" indent="0" marL="0">
              <a:buNone/>
            </a:pPr>
            <a:r>
              <a:rPr lang="en-US" sz="1500" b="1" dirty="0">
                <a:solidFill>
                  <a:schemeClr val="tx1"/>
                </a:solidFill>
                <a:latin typeface="Arial" pitchFamily="34" charset="0"/>
                <a:ea typeface="Arial" pitchFamily="34" charset="-122"/>
                <a:cs typeface="Arial" pitchFamily="34" charset="-120"/>
              </a:rPr>
              <a:t>Ide &amp; tujuan</a:t>
            </a:r>
            <a:endParaRPr lang="en-US" sz="1500" dirty="0"/>
          </a:p>
        </p:txBody>
      </p:sp>
      <p:sp>
        <p:nvSpPr>
          <p:cNvPr id="8" name="txt-235"/>
          <p:cNvSpPr txBox="1"/>
          <p:nvPr/>
        </p:nvSpPr>
        <p:spPr>
          <a:xfrm>
            <a:off x="640080" y="3794760"/>
            <a:ext cx="1397726" cy="1005840"/>
          </a:xfrm>
          <a:prstGeom prst="rect">
            <a:avLst/>
          </a:prstGeom>
          <a:noFill/>
          <a:ln/>
        </p:spPr>
        <p:txBody>
          <a:bodyPr wrap="square" lIns="0" tIns="0" rIns="0" bIns="0" rtlCol="0" anchor="t"/>
          <a:lstStyle/>
          <a:p>
            <a:pPr algn="ctr" indent="0" marL="0">
              <a:buNone/>
            </a:pPr>
            <a:r>
              <a:rPr lang="en-US" sz="1250" dirty="0">
                <a:solidFill>
                  <a:srgbClr val="5B5677"/>
                </a:solidFill>
              </a:rPr>
              <a:t>Siapa penggunanya, masalah apa yang diselesaikan</a:t>
            </a:r>
            <a:endParaRPr lang="en-US" sz="1250" dirty="0"/>
          </a:p>
        </p:txBody>
      </p:sp>
      <p:sp>
        <p:nvSpPr>
          <p:cNvPr id="9" name="iconbg-236"/>
          <p:cNvSpPr/>
          <p:nvPr/>
        </p:nvSpPr>
        <p:spPr>
          <a:xfrm>
            <a:off x="2462349" y="1691640"/>
            <a:ext cx="914400" cy="914400"/>
          </a:xfrm>
          <a:prstGeom prst="ellipse">
            <a:avLst/>
          </a:prstGeom>
          <a:solidFill>
            <a:schemeClr val="accent1"/>
          </a:solidFill>
          <a:ln/>
        </p:spPr>
      </p:sp>
      <p:pic>
        <p:nvPicPr>
          <p:cNvPr id="10" name="icon-237" descr="preencoded.png">    </p:cNvPr>
          <p:cNvPicPr>
            <a:picLocks noChangeAspect="1"/>
          </p:cNvPicPr>
          <p:nvPr/>
        </p:nvPicPr>
        <p:blipFill>
          <a:blip r:embed="rId2"/>
          <a:stretch>
            <a:fillRect/>
          </a:stretch>
        </p:blipFill>
        <p:spPr>
          <a:xfrm>
            <a:off x="2681805" y="1911096"/>
            <a:ext cx="475488" cy="475488"/>
          </a:xfrm>
          <a:prstGeom prst="rect">
            <a:avLst/>
          </a:prstGeom>
        </p:spPr>
      </p:pic>
      <p:sp>
        <p:nvSpPr>
          <p:cNvPr id="11" name="txt-238"/>
          <p:cNvSpPr txBox="1"/>
          <p:nvPr/>
        </p:nvSpPr>
        <p:spPr>
          <a:xfrm>
            <a:off x="2690949" y="2743200"/>
            <a:ext cx="457200" cy="365760"/>
          </a:xfrm>
          <a:prstGeom prst="rect">
            <a:avLst/>
          </a:prstGeom>
          <a:noFill/>
          <a:ln/>
        </p:spPr>
        <p:txBody>
          <a:bodyPr wrap="square" lIns="0" tIns="0" rIns="0" bIns="0" rtlCol="0" anchor="t"/>
          <a:lstStyle/>
          <a:p>
            <a:pPr algn="ctr" indent="0" marL="0">
              <a:buNone/>
            </a:pPr>
            <a:r>
              <a:rPr lang="en-US" sz="1600" b="1" dirty="0">
                <a:solidFill>
                  <a:schemeClr val="accent1"/>
                </a:solidFill>
              </a:rPr>
              <a:t>2</a:t>
            </a:r>
            <a:endParaRPr lang="en-US" sz="1600" dirty="0"/>
          </a:p>
        </p:txBody>
      </p:sp>
      <p:sp>
        <p:nvSpPr>
          <p:cNvPr id="12" name="txt-239"/>
          <p:cNvSpPr txBox="1"/>
          <p:nvPr/>
        </p:nvSpPr>
        <p:spPr>
          <a:xfrm>
            <a:off x="2174966" y="3108960"/>
            <a:ext cx="1489166" cy="685800"/>
          </a:xfrm>
          <a:prstGeom prst="rect">
            <a:avLst/>
          </a:prstGeom>
          <a:noFill/>
          <a:ln/>
        </p:spPr>
        <p:txBody>
          <a:bodyPr wrap="square" lIns="0" tIns="0" rIns="0" bIns="0" rtlCol="0" anchor="t"/>
          <a:lstStyle/>
          <a:p>
            <a:pPr algn="ctr" indent="0" marL="0">
              <a:buNone/>
            </a:pPr>
            <a:r>
              <a:rPr lang="en-US" sz="1500" b="1" dirty="0">
                <a:solidFill>
                  <a:schemeClr val="tx1"/>
                </a:solidFill>
                <a:latin typeface="Arial" pitchFamily="34" charset="0"/>
                <a:ea typeface="Arial" pitchFamily="34" charset="-122"/>
                <a:cs typeface="Arial" pitchFamily="34" charset="-120"/>
              </a:rPr>
              <a:t>Spesifikasi singkat</a:t>
            </a:r>
            <a:endParaRPr lang="en-US" sz="1500" dirty="0"/>
          </a:p>
        </p:txBody>
      </p:sp>
      <p:sp>
        <p:nvSpPr>
          <p:cNvPr id="13" name="txt-240"/>
          <p:cNvSpPr txBox="1"/>
          <p:nvPr/>
        </p:nvSpPr>
        <p:spPr>
          <a:xfrm>
            <a:off x="2220686" y="3794760"/>
            <a:ext cx="1397726" cy="1005840"/>
          </a:xfrm>
          <a:prstGeom prst="rect">
            <a:avLst/>
          </a:prstGeom>
          <a:noFill/>
          <a:ln/>
        </p:spPr>
        <p:txBody>
          <a:bodyPr wrap="square" lIns="0" tIns="0" rIns="0" bIns="0" rtlCol="0" anchor="t"/>
          <a:lstStyle/>
          <a:p>
            <a:pPr algn="ctr" indent="0" marL="0">
              <a:buNone/>
            </a:pPr>
            <a:r>
              <a:rPr lang="en-US" sz="1250" dirty="0">
                <a:solidFill>
                  <a:srgbClr val="5B5677"/>
                </a:solidFill>
              </a:rPr>
              <a:t>PRD mini: fitur inti, layar, data</a:t>
            </a:r>
            <a:endParaRPr lang="en-US" sz="1250" dirty="0"/>
          </a:p>
        </p:txBody>
      </p:sp>
      <p:sp>
        <p:nvSpPr>
          <p:cNvPr id="14" name="iconbg-241"/>
          <p:cNvSpPr/>
          <p:nvPr/>
        </p:nvSpPr>
        <p:spPr>
          <a:xfrm>
            <a:off x="4042954" y="1691640"/>
            <a:ext cx="914400" cy="914400"/>
          </a:xfrm>
          <a:prstGeom prst="ellipse">
            <a:avLst/>
          </a:prstGeom>
          <a:solidFill>
            <a:schemeClr val="accent2"/>
          </a:solidFill>
          <a:ln/>
        </p:spPr>
      </p:sp>
      <p:pic>
        <p:nvPicPr>
          <p:cNvPr id="15" name="icon-242" descr="preencoded.png">    </p:cNvPr>
          <p:cNvPicPr>
            <a:picLocks noChangeAspect="1"/>
          </p:cNvPicPr>
          <p:nvPr/>
        </p:nvPicPr>
        <p:blipFill>
          <a:blip r:embed="rId3"/>
          <a:stretch>
            <a:fillRect/>
          </a:stretch>
        </p:blipFill>
        <p:spPr>
          <a:xfrm>
            <a:off x="4262410" y="1911096"/>
            <a:ext cx="475488" cy="475488"/>
          </a:xfrm>
          <a:prstGeom prst="rect">
            <a:avLst/>
          </a:prstGeom>
        </p:spPr>
      </p:pic>
      <p:sp>
        <p:nvSpPr>
          <p:cNvPr id="16" name="txt-243"/>
          <p:cNvSpPr txBox="1"/>
          <p:nvPr/>
        </p:nvSpPr>
        <p:spPr>
          <a:xfrm>
            <a:off x="4271554" y="2743200"/>
            <a:ext cx="457200" cy="365760"/>
          </a:xfrm>
          <a:prstGeom prst="rect">
            <a:avLst/>
          </a:prstGeom>
          <a:noFill/>
          <a:ln/>
        </p:spPr>
        <p:txBody>
          <a:bodyPr wrap="square" lIns="0" tIns="0" rIns="0" bIns="0" rtlCol="0" anchor="t"/>
          <a:lstStyle/>
          <a:p>
            <a:pPr algn="ctr" indent="0" marL="0">
              <a:buNone/>
            </a:pPr>
            <a:r>
              <a:rPr lang="en-US" sz="1600" b="1" dirty="0">
                <a:solidFill>
                  <a:schemeClr val="accent1"/>
                </a:solidFill>
              </a:rPr>
              <a:t>3</a:t>
            </a:r>
            <a:endParaRPr lang="en-US" sz="1600" dirty="0"/>
          </a:p>
        </p:txBody>
      </p:sp>
      <p:sp>
        <p:nvSpPr>
          <p:cNvPr id="17" name="txt-244"/>
          <p:cNvSpPr txBox="1"/>
          <p:nvPr/>
        </p:nvSpPr>
        <p:spPr>
          <a:xfrm>
            <a:off x="3755571" y="3108960"/>
            <a:ext cx="1489166" cy="685800"/>
          </a:xfrm>
          <a:prstGeom prst="rect">
            <a:avLst/>
          </a:prstGeom>
          <a:noFill/>
          <a:ln/>
        </p:spPr>
        <p:txBody>
          <a:bodyPr wrap="square" lIns="0" tIns="0" rIns="0" bIns="0" rtlCol="0" anchor="t"/>
          <a:lstStyle/>
          <a:p>
            <a:pPr algn="ctr" indent="0" marL="0">
              <a:buNone/>
            </a:pPr>
            <a:r>
              <a:rPr lang="en-US" sz="1500" b="1" dirty="0">
                <a:solidFill>
                  <a:schemeClr val="tx1"/>
                </a:solidFill>
                <a:latin typeface="Arial" pitchFamily="34" charset="0"/>
                <a:ea typeface="Arial" pitchFamily="34" charset="-122"/>
                <a:cs typeface="Arial" pitchFamily="34" charset="-120"/>
              </a:rPr>
              <a:t>Scaffold proyek</a:t>
            </a:r>
            <a:endParaRPr lang="en-US" sz="1500" dirty="0"/>
          </a:p>
        </p:txBody>
      </p:sp>
      <p:sp>
        <p:nvSpPr>
          <p:cNvPr id="18" name="txt-245"/>
          <p:cNvSpPr txBox="1"/>
          <p:nvPr/>
        </p:nvSpPr>
        <p:spPr>
          <a:xfrm>
            <a:off x="3801291" y="3794760"/>
            <a:ext cx="1397726" cy="1005840"/>
          </a:xfrm>
          <a:prstGeom prst="rect">
            <a:avLst/>
          </a:prstGeom>
          <a:noFill/>
          <a:ln/>
        </p:spPr>
        <p:txBody>
          <a:bodyPr wrap="square" lIns="0" tIns="0" rIns="0" bIns="0" rtlCol="0" anchor="t"/>
          <a:lstStyle/>
          <a:p>
            <a:pPr algn="ctr" indent="0" marL="0">
              <a:buNone/>
            </a:pPr>
            <a:r>
              <a:rPr lang="en-US" sz="1250" dirty="0">
                <a:solidFill>
                  <a:srgbClr val="5B5677"/>
                </a:solidFill>
              </a:rPr>
              <a:t>Minta AI membuat kerangka &amp; struktur</a:t>
            </a:r>
            <a:endParaRPr lang="en-US" sz="1250" dirty="0"/>
          </a:p>
        </p:txBody>
      </p:sp>
      <p:sp>
        <p:nvSpPr>
          <p:cNvPr id="19" name="iconbg-246"/>
          <p:cNvSpPr/>
          <p:nvPr/>
        </p:nvSpPr>
        <p:spPr>
          <a:xfrm>
            <a:off x="5623560" y="1691640"/>
            <a:ext cx="914400" cy="914400"/>
          </a:xfrm>
          <a:prstGeom prst="ellipse">
            <a:avLst/>
          </a:prstGeom>
          <a:solidFill>
            <a:schemeClr val="accent2"/>
          </a:solidFill>
          <a:ln/>
        </p:spPr>
      </p:sp>
      <p:pic>
        <p:nvPicPr>
          <p:cNvPr id="20" name="icon-247" descr="preencoded.png">    </p:cNvPr>
          <p:cNvPicPr>
            <a:picLocks noChangeAspect="1"/>
          </p:cNvPicPr>
          <p:nvPr/>
        </p:nvPicPr>
        <p:blipFill>
          <a:blip r:embed="rId4"/>
          <a:stretch>
            <a:fillRect/>
          </a:stretch>
        </p:blipFill>
        <p:spPr>
          <a:xfrm>
            <a:off x="5843016" y="1911096"/>
            <a:ext cx="475488" cy="475488"/>
          </a:xfrm>
          <a:prstGeom prst="rect">
            <a:avLst/>
          </a:prstGeom>
        </p:spPr>
      </p:pic>
      <p:sp>
        <p:nvSpPr>
          <p:cNvPr id="21" name="txt-248"/>
          <p:cNvSpPr txBox="1"/>
          <p:nvPr/>
        </p:nvSpPr>
        <p:spPr>
          <a:xfrm>
            <a:off x="5852160" y="2743200"/>
            <a:ext cx="457200" cy="365760"/>
          </a:xfrm>
          <a:prstGeom prst="rect">
            <a:avLst/>
          </a:prstGeom>
          <a:noFill/>
          <a:ln/>
        </p:spPr>
        <p:txBody>
          <a:bodyPr wrap="square" lIns="0" tIns="0" rIns="0" bIns="0" rtlCol="0" anchor="t"/>
          <a:lstStyle/>
          <a:p>
            <a:pPr algn="ctr" indent="0" marL="0">
              <a:buNone/>
            </a:pPr>
            <a:r>
              <a:rPr lang="en-US" sz="1600" b="1" dirty="0">
                <a:solidFill>
                  <a:schemeClr val="accent1"/>
                </a:solidFill>
              </a:rPr>
              <a:t>4</a:t>
            </a:r>
            <a:endParaRPr lang="en-US" sz="1600" dirty="0"/>
          </a:p>
        </p:txBody>
      </p:sp>
      <p:sp>
        <p:nvSpPr>
          <p:cNvPr id="22" name="txt-249"/>
          <p:cNvSpPr txBox="1"/>
          <p:nvPr/>
        </p:nvSpPr>
        <p:spPr>
          <a:xfrm>
            <a:off x="5336177" y="3108960"/>
            <a:ext cx="1489166" cy="685800"/>
          </a:xfrm>
          <a:prstGeom prst="rect">
            <a:avLst/>
          </a:prstGeom>
          <a:noFill/>
          <a:ln/>
        </p:spPr>
        <p:txBody>
          <a:bodyPr wrap="square" lIns="0" tIns="0" rIns="0" bIns="0" rtlCol="0" anchor="t"/>
          <a:lstStyle/>
          <a:p>
            <a:pPr algn="ctr" indent="0" marL="0">
              <a:buNone/>
            </a:pPr>
            <a:r>
              <a:rPr lang="en-US" sz="1500" b="1" dirty="0">
                <a:solidFill>
                  <a:schemeClr val="tx1"/>
                </a:solidFill>
                <a:latin typeface="Arial" pitchFamily="34" charset="0"/>
                <a:ea typeface="Arial" pitchFamily="34" charset="-122"/>
                <a:cs typeface="Arial" pitchFamily="34" charset="-120"/>
              </a:rPr>
              <a:t>Bangun per fitur</a:t>
            </a:r>
            <a:endParaRPr lang="en-US" sz="1500" dirty="0"/>
          </a:p>
        </p:txBody>
      </p:sp>
      <p:sp>
        <p:nvSpPr>
          <p:cNvPr id="23" name="txt-250"/>
          <p:cNvSpPr txBox="1"/>
          <p:nvPr/>
        </p:nvSpPr>
        <p:spPr>
          <a:xfrm>
            <a:off x="5381897" y="3794760"/>
            <a:ext cx="1397726" cy="1005840"/>
          </a:xfrm>
          <a:prstGeom prst="rect">
            <a:avLst/>
          </a:prstGeom>
          <a:noFill/>
          <a:ln/>
        </p:spPr>
        <p:txBody>
          <a:bodyPr wrap="square" lIns="0" tIns="0" rIns="0" bIns="0" rtlCol="0" anchor="t"/>
          <a:lstStyle/>
          <a:p>
            <a:pPr algn="ctr" indent="0" marL="0">
              <a:buNone/>
            </a:pPr>
            <a:r>
              <a:rPr lang="en-US" sz="1250" dirty="0">
                <a:solidFill>
                  <a:srgbClr val="5B5677"/>
                </a:solidFill>
              </a:rPr>
              <a:t>Satu fitur kecil per putaran</a:t>
            </a:r>
            <a:endParaRPr lang="en-US" sz="1250" dirty="0"/>
          </a:p>
        </p:txBody>
      </p:sp>
      <p:sp>
        <p:nvSpPr>
          <p:cNvPr id="24" name="iconbg-251"/>
          <p:cNvSpPr/>
          <p:nvPr/>
        </p:nvSpPr>
        <p:spPr>
          <a:xfrm>
            <a:off x="7204166" y="1691640"/>
            <a:ext cx="914400" cy="914400"/>
          </a:xfrm>
          <a:prstGeom prst="ellipse">
            <a:avLst/>
          </a:prstGeom>
          <a:solidFill>
            <a:schemeClr val="accent3"/>
          </a:solidFill>
          <a:ln/>
        </p:spPr>
      </p:sp>
      <p:pic>
        <p:nvPicPr>
          <p:cNvPr id="25" name="icon-252" descr="preencoded.png">    </p:cNvPr>
          <p:cNvPicPr>
            <a:picLocks noChangeAspect="1"/>
          </p:cNvPicPr>
          <p:nvPr/>
        </p:nvPicPr>
        <p:blipFill>
          <a:blip r:embed="rId5"/>
          <a:stretch>
            <a:fillRect/>
          </a:stretch>
        </p:blipFill>
        <p:spPr>
          <a:xfrm>
            <a:off x="7423622" y="1911096"/>
            <a:ext cx="475488" cy="475488"/>
          </a:xfrm>
          <a:prstGeom prst="rect">
            <a:avLst/>
          </a:prstGeom>
        </p:spPr>
      </p:pic>
      <p:sp>
        <p:nvSpPr>
          <p:cNvPr id="26" name="txt-253"/>
          <p:cNvSpPr txBox="1"/>
          <p:nvPr/>
        </p:nvSpPr>
        <p:spPr>
          <a:xfrm>
            <a:off x="7432766" y="2743200"/>
            <a:ext cx="457200" cy="365760"/>
          </a:xfrm>
          <a:prstGeom prst="rect">
            <a:avLst/>
          </a:prstGeom>
          <a:noFill/>
          <a:ln/>
        </p:spPr>
        <p:txBody>
          <a:bodyPr wrap="square" lIns="0" tIns="0" rIns="0" bIns="0" rtlCol="0" anchor="t"/>
          <a:lstStyle/>
          <a:p>
            <a:pPr algn="ctr" indent="0" marL="0">
              <a:buNone/>
            </a:pPr>
            <a:r>
              <a:rPr lang="en-US" sz="1600" b="1" dirty="0">
                <a:solidFill>
                  <a:schemeClr val="accent1"/>
                </a:solidFill>
              </a:rPr>
              <a:t>5</a:t>
            </a:r>
            <a:endParaRPr lang="en-US" sz="1600" dirty="0"/>
          </a:p>
        </p:txBody>
      </p:sp>
      <p:sp>
        <p:nvSpPr>
          <p:cNvPr id="27" name="txt-254"/>
          <p:cNvSpPr txBox="1"/>
          <p:nvPr/>
        </p:nvSpPr>
        <p:spPr>
          <a:xfrm>
            <a:off x="6916783" y="3108960"/>
            <a:ext cx="1489166" cy="685800"/>
          </a:xfrm>
          <a:prstGeom prst="rect">
            <a:avLst/>
          </a:prstGeom>
          <a:noFill/>
          <a:ln/>
        </p:spPr>
        <p:txBody>
          <a:bodyPr wrap="square" lIns="0" tIns="0" rIns="0" bIns="0" rtlCol="0" anchor="t"/>
          <a:lstStyle/>
          <a:p>
            <a:pPr algn="ctr" indent="0" marL="0">
              <a:buNone/>
            </a:pPr>
            <a:r>
              <a:rPr lang="en-US" sz="1500" b="1" dirty="0">
                <a:solidFill>
                  <a:schemeClr val="tx1"/>
                </a:solidFill>
                <a:latin typeface="Arial" pitchFamily="34" charset="0"/>
                <a:ea typeface="Arial" pitchFamily="34" charset="-122"/>
                <a:cs typeface="Arial" pitchFamily="34" charset="-120"/>
              </a:rPr>
              <a:t>Uji &amp; periksa</a:t>
            </a:r>
            <a:endParaRPr lang="en-US" sz="1500" dirty="0"/>
          </a:p>
        </p:txBody>
      </p:sp>
      <p:sp>
        <p:nvSpPr>
          <p:cNvPr id="28" name="txt-255"/>
          <p:cNvSpPr txBox="1"/>
          <p:nvPr/>
        </p:nvSpPr>
        <p:spPr>
          <a:xfrm>
            <a:off x="6962503" y="3794760"/>
            <a:ext cx="1397726" cy="1005840"/>
          </a:xfrm>
          <a:prstGeom prst="rect">
            <a:avLst/>
          </a:prstGeom>
          <a:noFill/>
          <a:ln/>
        </p:spPr>
        <p:txBody>
          <a:bodyPr wrap="square" lIns="0" tIns="0" rIns="0" bIns="0" rtlCol="0" anchor="t"/>
          <a:lstStyle/>
          <a:p>
            <a:pPr algn="ctr" indent="0" marL="0">
              <a:buNone/>
            </a:pPr>
            <a:r>
              <a:rPr lang="en-US" sz="1250" dirty="0">
                <a:solidFill>
                  <a:srgbClr val="5B5677"/>
                </a:solidFill>
              </a:rPr>
              <a:t>Coba manual, minta AI menulis tes</a:t>
            </a:r>
            <a:endParaRPr lang="en-US" sz="1250" dirty="0"/>
          </a:p>
        </p:txBody>
      </p:sp>
      <p:sp>
        <p:nvSpPr>
          <p:cNvPr id="29" name="iconbg-256"/>
          <p:cNvSpPr/>
          <p:nvPr/>
        </p:nvSpPr>
        <p:spPr>
          <a:xfrm>
            <a:off x="8784771" y="1691640"/>
            <a:ext cx="914400" cy="914400"/>
          </a:xfrm>
          <a:prstGeom prst="ellipse">
            <a:avLst/>
          </a:prstGeom>
          <a:solidFill>
            <a:schemeClr val="accent4"/>
          </a:solidFill>
          <a:ln/>
        </p:spPr>
      </p:sp>
      <p:pic>
        <p:nvPicPr>
          <p:cNvPr id="30" name="icon-257" descr="preencoded.png">    </p:cNvPr>
          <p:cNvPicPr>
            <a:picLocks noChangeAspect="1"/>
          </p:cNvPicPr>
          <p:nvPr/>
        </p:nvPicPr>
        <p:blipFill>
          <a:blip r:embed="rId6"/>
          <a:stretch>
            <a:fillRect/>
          </a:stretch>
        </p:blipFill>
        <p:spPr>
          <a:xfrm>
            <a:off x="9004227" y="1911096"/>
            <a:ext cx="475488" cy="475488"/>
          </a:xfrm>
          <a:prstGeom prst="rect">
            <a:avLst/>
          </a:prstGeom>
        </p:spPr>
      </p:pic>
      <p:sp>
        <p:nvSpPr>
          <p:cNvPr id="31" name="txt-258"/>
          <p:cNvSpPr txBox="1"/>
          <p:nvPr/>
        </p:nvSpPr>
        <p:spPr>
          <a:xfrm>
            <a:off x="9013371" y="2743200"/>
            <a:ext cx="457200" cy="365760"/>
          </a:xfrm>
          <a:prstGeom prst="rect">
            <a:avLst/>
          </a:prstGeom>
          <a:noFill/>
          <a:ln/>
        </p:spPr>
        <p:txBody>
          <a:bodyPr wrap="square" lIns="0" tIns="0" rIns="0" bIns="0" rtlCol="0" anchor="t"/>
          <a:lstStyle/>
          <a:p>
            <a:pPr algn="ctr" indent="0" marL="0">
              <a:buNone/>
            </a:pPr>
            <a:r>
              <a:rPr lang="en-US" sz="1600" b="1" dirty="0">
                <a:solidFill>
                  <a:schemeClr val="accent1"/>
                </a:solidFill>
              </a:rPr>
              <a:t>6</a:t>
            </a:r>
            <a:endParaRPr lang="en-US" sz="1600" dirty="0"/>
          </a:p>
        </p:txBody>
      </p:sp>
      <p:sp>
        <p:nvSpPr>
          <p:cNvPr id="32" name="txt-259"/>
          <p:cNvSpPr txBox="1"/>
          <p:nvPr/>
        </p:nvSpPr>
        <p:spPr>
          <a:xfrm>
            <a:off x="8497389" y="3108960"/>
            <a:ext cx="1489166" cy="685800"/>
          </a:xfrm>
          <a:prstGeom prst="rect">
            <a:avLst/>
          </a:prstGeom>
          <a:noFill/>
          <a:ln/>
        </p:spPr>
        <p:txBody>
          <a:bodyPr wrap="square" lIns="0" tIns="0" rIns="0" bIns="0" rtlCol="0" anchor="t"/>
          <a:lstStyle/>
          <a:p>
            <a:pPr algn="ctr" indent="0" marL="0">
              <a:buNone/>
            </a:pPr>
            <a:r>
              <a:rPr lang="en-US" sz="1500" b="1" dirty="0">
                <a:solidFill>
                  <a:schemeClr val="tx1"/>
                </a:solidFill>
                <a:latin typeface="Arial" pitchFamily="34" charset="0"/>
                <a:ea typeface="Arial" pitchFamily="34" charset="-122"/>
                <a:cs typeface="Arial" pitchFamily="34" charset="-120"/>
              </a:rPr>
              <a:t>Commit ke Git</a:t>
            </a:r>
            <a:endParaRPr lang="en-US" sz="1500" dirty="0"/>
          </a:p>
        </p:txBody>
      </p:sp>
      <p:sp>
        <p:nvSpPr>
          <p:cNvPr id="33" name="txt-260"/>
          <p:cNvSpPr txBox="1"/>
          <p:nvPr/>
        </p:nvSpPr>
        <p:spPr>
          <a:xfrm>
            <a:off x="8543109" y="3794760"/>
            <a:ext cx="1397726" cy="1005840"/>
          </a:xfrm>
          <a:prstGeom prst="rect">
            <a:avLst/>
          </a:prstGeom>
          <a:noFill/>
          <a:ln/>
        </p:spPr>
        <p:txBody>
          <a:bodyPr wrap="square" lIns="0" tIns="0" rIns="0" bIns="0" rtlCol="0" anchor="t"/>
          <a:lstStyle/>
          <a:p>
            <a:pPr algn="ctr" indent="0" marL="0">
              <a:buNone/>
            </a:pPr>
            <a:r>
              <a:rPr lang="en-US" sz="1250" dirty="0">
                <a:solidFill>
                  <a:srgbClr val="5B5677"/>
                </a:solidFill>
              </a:rPr>
              <a:t>Simpan titik aman setiap fitur jadi</a:t>
            </a:r>
            <a:endParaRPr lang="en-US" sz="1250" dirty="0"/>
          </a:p>
        </p:txBody>
      </p:sp>
      <p:sp>
        <p:nvSpPr>
          <p:cNvPr id="34" name="iconbg-261"/>
          <p:cNvSpPr/>
          <p:nvPr/>
        </p:nvSpPr>
        <p:spPr>
          <a:xfrm>
            <a:off x="10365377" y="1691640"/>
            <a:ext cx="914400" cy="914400"/>
          </a:xfrm>
          <a:prstGeom prst="ellipse">
            <a:avLst/>
          </a:prstGeom>
          <a:solidFill>
            <a:schemeClr val="accent5"/>
          </a:solidFill>
          <a:ln/>
        </p:spPr>
      </p:sp>
      <p:pic>
        <p:nvPicPr>
          <p:cNvPr id="35" name="icon-262" descr="preencoded.png">    </p:cNvPr>
          <p:cNvPicPr>
            <a:picLocks noChangeAspect="1"/>
          </p:cNvPicPr>
          <p:nvPr/>
        </p:nvPicPr>
        <p:blipFill>
          <a:blip r:embed="rId7"/>
          <a:stretch>
            <a:fillRect/>
          </a:stretch>
        </p:blipFill>
        <p:spPr>
          <a:xfrm>
            <a:off x="10584833" y="1911096"/>
            <a:ext cx="475488" cy="475488"/>
          </a:xfrm>
          <a:prstGeom prst="rect">
            <a:avLst/>
          </a:prstGeom>
        </p:spPr>
      </p:pic>
      <p:sp>
        <p:nvSpPr>
          <p:cNvPr id="36" name="txt-263"/>
          <p:cNvSpPr txBox="1"/>
          <p:nvPr/>
        </p:nvSpPr>
        <p:spPr>
          <a:xfrm>
            <a:off x="10593977" y="2743200"/>
            <a:ext cx="457200" cy="365760"/>
          </a:xfrm>
          <a:prstGeom prst="rect">
            <a:avLst/>
          </a:prstGeom>
          <a:noFill/>
          <a:ln/>
        </p:spPr>
        <p:txBody>
          <a:bodyPr wrap="square" lIns="0" tIns="0" rIns="0" bIns="0" rtlCol="0" anchor="t"/>
          <a:lstStyle/>
          <a:p>
            <a:pPr algn="ctr" indent="0" marL="0">
              <a:buNone/>
            </a:pPr>
            <a:r>
              <a:rPr lang="en-US" sz="1600" b="1" dirty="0">
                <a:solidFill>
                  <a:schemeClr val="accent1"/>
                </a:solidFill>
              </a:rPr>
              <a:t>7</a:t>
            </a:r>
            <a:endParaRPr lang="en-US" sz="1600" dirty="0"/>
          </a:p>
        </p:txBody>
      </p:sp>
      <p:sp>
        <p:nvSpPr>
          <p:cNvPr id="37" name="txt-264"/>
          <p:cNvSpPr txBox="1"/>
          <p:nvPr/>
        </p:nvSpPr>
        <p:spPr>
          <a:xfrm>
            <a:off x="10077994" y="3108960"/>
            <a:ext cx="1489166" cy="685800"/>
          </a:xfrm>
          <a:prstGeom prst="rect">
            <a:avLst/>
          </a:prstGeom>
          <a:noFill/>
          <a:ln/>
        </p:spPr>
        <p:txBody>
          <a:bodyPr wrap="square" lIns="0" tIns="0" rIns="0" bIns="0" rtlCol="0" anchor="t"/>
          <a:lstStyle/>
          <a:p>
            <a:pPr algn="ctr" indent="0" marL="0">
              <a:buNone/>
            </a:pPr>
            <a:r>
              <a:rPr lang="en-US" sz="1500" b="1" dirty="0">
                <a:solidFill>
                  <a:schemeClr val="tx1"/>
                </a:solidFill>
                <a:latin typeface="Arial" pitchFamily="34" charset="0"/>
                <a:ea typeface="Arial" pitchFamily="34" charset="-122"/>
                <a:cs typeface="Arial" pitchFamily="34" charset="-120"/>
              </a:rPr>
              <a:t>Deploy &amp; pantau</a:t>
            </a:r>
            <a:endParaRPr lang="en-US" sz="1500" dirty="0"/>
          </a:p>
        </p:txBody>
      </p:sp>
      <p:sp>
        <p:nvSpPr>
          <p:cNvPr id="38" name="txt-265"/>
          <p:cNvSpPr txBox="1"/>
          <p:nvPr/>
        </p:nvSpPr>
        <p:spPr>
          <a:xfrm>
            <a:off x="10123714" y="3794760"/>
            <a:ext cx="1397726" cy="1005840"/>
          </a:xfrm>
          <a:prstGeom prst="rect">
            <a:avLst/>
          </a:prstGeom>
          <a:noFill/>
          <a:ln/>
        </p:spPr>
        <p:txBody>
          <a:bodyPr wrap="square" lIns="0" tIns="0" rIns="0" bIns="0" rtlCol="0" anchor="t"/>
          <a:lstStyle/>
          <a:p>
            <a:pPr algn="ctr" indent="0" marL="0">
              <a:buNone/>
            </a:pPr>
            <a:r>
              <a:rPr lang="en-US" sz="1250" dirty="0">
                <a:solidFill>
                  <a:srgbClr val="5B5677"/>
                </a:solidFill>
              </a:rPr>
              <a:t>Rilis, kumpulkan masukan, ulangi</a:t>
            </a:r>
            <a:endParaRPr lang="en-US" sz="1250" dirty="0"/>
          </a:p>
        </p:txBody>
      </p:sp>
      <p:sp>
        <p:nvSpPr>
          <p:cNvPr id="39" name="card-266"/>
          <p:cNvSpPr/>
          <p:nvPr/>
        </p:nvSpPr>
        <p:spPr>
          <a:xfrm>
            <a:off x="548640" y="5029200"/>
            <a:ext cx="11064240" cy="1005840"/>
          </a:xfrm>
          <a:prstGeom prst="roundRect">
            <a:avLst>
              <a:gd name="adj" fmla="val 13636"/>
            </a:avLst>
          </a:prstGeom>
          <a:solidFill>
            <a:schemeClr val="tx2"/>
          </a:solidFill>
          <a:ln/>
        </p:spPr>
      </p:sp>
      <p:sp>
        <p:nvSpPr>
          <p:cNvPr id="40" name="txt-267"/>
          <p:cNvSpPr txBox="1"/>
          <p:nvPr/>
        </p:nvSpPr>
        <p:spPr>
          <a:xfrm>
            <a:off x="868680" y="5029200"/>
            <a:ext cx="10424160" cy="1005840"/>
          </a:xfrm>
          <a:prstGeom prst="rect">
            <a:avLst/>
          </a:prstGeom>
          <a:noFill/>
          <a:ln/>
        </p:spPr>
        <p:txBody>
          <a:bodyPr wrap="square" lIns="0" tIns="0" rIns="0" bIns="0" rtlCol="0" anchor="ctr"/>
          <a:lstStyle/>
          <a:p>
            <a:pPr indent="0" marL="0">
              <a:buNone/>
            </a:pPr>
            <a:r>
              <a:rPr lang="en-US" sz="1600" b="1" dirty="0">
                <a:solidFill>
                  <a:srgbClr val="FDE68A"/>
                </a:solidFill>
              </a:rPr>
              <a:t>Aturan emas: </a:t>
            </a:r>
            <a:pPr indent="0" marL="0">
              <a:buNone/>
            </a:pPr>
            <a:r>
              <a:rPr lang="en-US" sz="1600" dirty="0">
                <a:solidFill>
                  <a:srgbClr val="FFFFFF"/>
                </a:solidFill>
              </a:rPr>
              <a:t>Git adalah tombol undo Anda. Commit setiap kali sesuatu berfungsi, sehingga saat AI merusak sesuatu, Anda cukup kembali ke titik aman.</a:t>
            </a:r>
            <a:endParaRPr lang="en-US" sz="16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5677"/>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Studi kasus: aplikasi daftar belanja</a:t>
            </a:r>
            <a:endParaRPr lang="en-US" sz="3200" dirty="0"/>
          </a:p>
        </p:txBody>
      </p:sp>
      <p:sp>
        <p:nvSpPr>
          <p:cNvPr id="3" name="bubble-268"/>
          <p:cNvSpPr/>
          <p:nvPr/>
        </p:nvSpPr>
        <p:spPr>
          <a:xfrm>
            <a:off x="1280160" y="1371600"/>
            <a:ext cx="6035040" cy="841248"/>
          </a:xfrm>
          <a:prstGeom prst="roundRect">
            <a:avLst>
              <a:gd name="adj" fmla="val 19565"/>
            </a:avLst>
          </a:prstGeom>
          <a:solidFill>
            <a:srgbClr val="7C3AED"/>
          </a:solidFill>
          <a:ln/>
        </p:spPr>
      </p:sp>
      <p:pic>
        <p:nvPicPr>
          <p:cNvPr id="4" name="Image 0" descr="preencoded.png">    </p:cNvPr>
          <p:cNvPicPr>
            <a:picLocks noChangeAspect="1"/>
          </p:cNvPicPr>
          <p:nvPr/>
        </p:nvPicPr>
        <p:blipFill>
          <a:blip r:embed="rId1"/>
          <a:stretch>
            <a:fillRect/>
          </a:stretch>
        </p:blipFill>
        <p:spPr>
          <a:xfrm>
            <a:off x="1463040" y="1618488"/>
            <a:ext cx="347472" cy="347472"/>
          </a:xfrm>
          <a:prstGeom prst="rect">
            <a:avLst/>
          </a:prstGeom>
        </p:spPr>
      </p:pic>
      <p:sp>
        <p:nvSpPr>
          <p:cNvPr id="5" name="txt-269"/>
          <p:cNvSpPr txBox="1"/>
          <p:nvPr/>
        </p:nvSpPr>
        <p:spPr>
          <a:xfrm>
            <a:off x="1965960" y="1371600"/>
            <a:ext cx="5166360" cy="841248"/>
          </a:xfrm>
          <a:prstGeom prst="rect">
            <a:avLst/>
          </a:prstGeom>
          <a:noFill/>
          <a:ln/>
        </p:spPr>
        <p:txBody>
          <a:bodyPr wrap="square" lIns="0" tIns="0" rIns="0" bIns="0" rtlCol="0" anchor="ctr"/>
          <a:lstStyle/>
          <a:p>
            <a:pPr indent="0" marL="0">
              <a:buNone/>
            </a:pPr>
            <a:r>
              <a:rPr lang="en-US" sz="1350" dirty="0">
                <a:solidFill>
                  <a:srgbClr val="FFFFFF"/>
                </a:solidFill>
              </a:rPr>
              <a:t>Buat aplikasi web daftar belanja: tambah, hapus, dan kelompokkan barang per kategori. Pakai React dan Tailwind.</a:t>
            </a:r>
            <a:endParaRPr lang="en-US" sz="1350" dirty="0"/>
          </a:p>
        </p:txBody>
      </p:sp>
      <p:sp>
        <p:nvSpPr>
          <p:cNvPr id="6" name="bubble-270"/>
          <p:cNvSpPr/>
          <p:nvPr/>
        </p:nvSpPr>
        <p:spPr>
          <a:xfrm>
            <a:off x="548640" y="2322576"/>
            <a:ext cx="6035040" cy="841248"/>
          </a:xfrm>
          <a:prstGeom prst="roundRect">
            <a:avLst>
              <a:gd name="adj" fmla="val 19565"/>
            </a:avLst>
          </a:prstGeom>
          <a:solidFill>
            <a:srgbClr val="F3F0FF"/>
          </a:solidFill>
          <a:ln/>
        </p:spPr>
      </p:sp>
      <p:pic>
        <p:nvPicPr>
          <p:cNvPr id="7" name="Image 1" descr="preencoded.png">    </p:cNvPr>
          <p:cNvPicPr>
            <a:picLocks noChangeAspect="1"/>
          </p:cNvPicPr>
          <p:nvPr/>
        </p:nvPicPr>
        <p:blipFill>
          <a:blip r:embed="rId2"/>
          <a:stretch>
            <a:fillRect/>
          </a:stretch>
        </p:blipFill>
        <p:spPr>
          <a:xfrm>
            <a:off x="731520" y="2569464"/>
            <a:ext cx="347472" cy="347472"/>
          </a:xfrm>
          <a:prstGeom prst="rect">
            <a:avLst/>
          </a:prstGeom>
        </p:spPr>
      </p:pic>
      <p:sp>
        <p:nvSpPr>
          <p:cNvPr id="8" name="txt-271"/>
          <p:cNvSpPr txBox="1"/>
          <p:nvPr/>
        </p:nvSpPr>
        <p:spPr>
          <a:xfrm>
            <a:off x="1234440" y="2322576"/>
            <a:ext cx="5166360" cy="841248"/>
          </a:xfrm>
          <a:prstGeom prst="rect">
            <a:avLst/>
          </a:prstGeom>
          <a:noFill/>
          <a:ln/>
        </p:spPr>
        <p:txBody>
          <a:bodyPr wrap="square" lIns="0" tIns="0" rIns="0" bIns="0" rtlCol="0" anchor="ctr"/>
          <a:lstStyle/>
          <a:p>
            <a:pPr indent="0" marL="0">
              <a:buNone/>
            </a:pPr>
            <a:r>
              <a:rPr lang="en-US" sz="1350" dirty="0">
                <a:solidFill>
                  <a:srgbClr val="1A1433"/>
                </a:solidFill>
              </a:rPr>
              <a:t>Proyek dibuat (komponen, gaya, data contoh). Jalankan perintah dev untuk melihat hasilnya.</a:t>
            </a:r>
            <a:endParaRPr lang="en-US" sz="1350" dirty="0"/>
          </a:p>
        </p:txBody>
      </p:sp>
      <p:sp>
        <p:nvSpPr>
          <p:cNvPr id="9" name="bubble-272"/>
          <p:cNvSpPr/>
          <p:nvPr/>
        </p:nvSpPr>
        <p:spPr>
          <a:xfrm>
            <a:off x="1280160" y="3273552"/>
            <a:ext cx="6035040" cy="841248"/>
          </a:xfrm>
          <a:prstGeom prst="roundRect">
            <a:avLst>
              <a:gd name="adj" fmla="val 19565"/>
            </a:avLst>
          </a:prstGeom>
          <a:solidFill>
            <a:srgbClr val="7C3AED"/>
          </a:solidFill>
          <a:ln/>
        </p:spPr>
      </p:sp>
      <p:pic>
        <p:nvPicPr>
          <p:cNvPr id="10" name="Image 2" descr="preencoded.png">    </p:cNvPr>
          <p:cNvPicPr>
            <a:picLocks noChangeAspect="1"/>
          </p:cNvPicPr>
          <p:nvPr/>
        </p:nvPicPr>
        <p:blipFill>
          <a:blip r:embed="rId3"/>
          <a:stretch>
            <a:fillRect/>
          </a:stretch>
        </p:blipFill>
        <p:spPr>
          <a:xfrm>
            <a:off x="1463040" y="3520440"/>
            <a:ext cx="347472" cy="347472"/>
          </a:xfrm>
          <a:prstGeom prst="rect">
            <a:avLst/>
          </a:prstGeom>
        </p:spPr>
      </p:pic>
      <p:sp>
        <p:nvSpPr>
          <p:cNvPr id="11" name="txt-273"/>
          <p:cNvSpPr txBox="1"/>
          <p:nvPr/>
        </p:nvSpPr>
        <p:spPr>
          <a:xfrm>
            <a:off x="1965960" y="3273552"/>
            <a:ext cx="5166360" cy="841248"/>
          </a:xfrm>
          <a:prstGeom prst="rect">
            <a:avLst/>
          </a:prstGeom>
          <a:noFill/>
          <a:ln/>
        </p:spPr>
        <p:txBody>
          <a:bodyPr wrap="square" lIns="0" tIns="0" rIns="0" bIns="0" rtlCol="0" anchor="ctr"/>
          <a:lstStyle/>
          <a:p>
            <a:pPr indent="0" marL="0">
              <a:buNone/>
            </a:pPr>
            <a:r>
              <a:rPr lang="en-US" sz="1350" dirty="0">
                <a:solidFill>
                  <a:srgbClr val="FFFFFF"/>
                </a:solidFill>
              </a:rPr>
              <a:t>Saat item dihapus, muncul error ini: “TypeError: … undefined”. Tolong perbaiki.</a:t>
            </a:r>
            <a:endParaRPr lang="en-US" sz="1350" dirty="0"/>
          </a:p>
        </p:txBody>
      </p:sp>
      <p:sp>
        <p:nvSpPr>
          <p:cNvPr id="12" name="bubble-274"/>
          <p:cNvSpPr/>
          <p:nvPr/>
        </p:nvSpPr>
        <p:spPr>
          <a:xfrm>
            <a:off x="548640" y="4224528"/>
            <a:ext cx="6035040" cy="841248"/>
          </a:xfrm>
          <a:prstGeom prst="roundRect">
            <a:avLst>
              <a:gd name="adj" fmla="val 19565"/>
            </a:avLst>
          </a:prstGeom>
          <a:solidFill>
            <a:srgbClr val="F3F0FF"/>
          </a:solidFill>
          <a:ln/>
        </p:spPr>
      </p:sp>
      <p:pic>
        <p:nvPicPr>
          <p:cNvPr id="13" name="Image 3" descr="preencoded.png">    </p:cNvPr>
          <p:cNvPicPr>
            <a:picLocks noChangeAspect="1"/>
          </p:cNvPicPr>
          <p:nvPr/>
        </p:nvPicPr>
        <p:blipFill>
          <a:blip r:embed="rId4"/>
          <a:stretch>
            <a:fillRect/>
          </a:stretch>
        </p:blipFill>
        <p:spPr>
          <a:xfrm>
            <a:off x="731520" y="4471416"/>
            <a:ext cx="347472" cy="347472"/>
          </a:xfrm>
          <a:prstGeom prst="rect">
            <a:avLst/>
          </a:prstGeom>
        </p:spPr>
      </p:pic>
      <p:sp>
        <p:nvSpPr>
          <p:cNvPr id="14" name="txt-275"/>
          <p:cNvSpPr txBox="1"/>
          <p:nvPr/>
        </p:nvSpPr>
        <p:spPr>
          <a:xfrm>
            <a:off x="1234440" y="4224528"/>
            <a:ext cx="5166360" cy="841248"/>
          </a:xfrm>
          <a:prstGeom prst="rect">
            <a:avLst/>
          </a:prstGeom>
          <a:noFill/>
          <a:ln/>
        </p:spPr>
        <p:txBody>
          <a:bodyPr wrap="square" lIns="0" tIns="0" rIns="0" bIns="0" rtlCol="0" anchor="ctr"/>
          <a:lstStyle/>
          <a:p>
            <a:pPr indent="0" marL="0">
              <a:buNone/>
            </a:pPr>
            <a:r>
              <a:rPr lang="en-US" sz="1350" dirty="0">
                <a:solidFill>
                  <a:srgbClr val="1A1433"/>
                </a:solidFill>
              </a:rPr>
              <a:t>Penyebabnya ID ganda saat menambah item. Sudah saya perbaiki dan tambahkan tes.</a:t>
            </a:r>
            <a:endParaRPr lang="en-US" sz="1350" dirty="0"/>
          </a:p>
        </p:txBody>
      </p:sp>
      <p:sp>
        <p:nvSpPr>
          <p:cNvPr id="15" name="bubble-276"/>
          <p:cNvSpPr/>
          <p:nvPr/>
        </p:nvSpPr>
        <p:spPr>
          <a:xfrm>
            <a:off x="1280160" y="5175504"/>
            <a:ext cx="6035040" cy="841248"/>
          </a:xfrm>
          <a:prstGeom prst="roundRect">
            <a:avLst>
              <a:gd name="adj" fmla="val 19565"/>
            </a:avLst>
          </a:prstGeom>
          <a:solidFill>
            <a:srgbClr val="7C3AED"/>
          </a:solidFill>
          <a:ln/>
        </p:spPr>
      </p:sp>
      <p:pic>
        <p:nvPicPr>
          <p:cNvPr id="16" name="Image 4" descr="preencoded.png">    </p:cNvPr>
          <p:cNvPicPr>
            <a:picLocks noChangeAspect="1"/>
          </p:cNvPicPr>
          <p:nvPr/>
        </p:nvPicPr>
        <p:blipFill>
          <a:blip r:embed="rId5"/>
          <a:stretch>
            <a:fillRect/>
          </a:stretch>
        </p:blipFill>
        <p:spPr>
          <a:xfrm>
            <a:off x="1463040" y="5422392"/>
            <a:ext cx="347472" cy="347472"/>
          </a:xfrm>
          <a:prstGeom prst="rect">
            <a:avLst/>
          </a:prstGeom>
        </p:spPr>
      </p:pic>
      <p:sp>
        <p:nvSpPr>
          <p:cNvPr id="17" name="txt-277"/>
          <p:cNvSpPr txBox="1"/>
          <p:nvPr/>
        </p:nvSpPr>
        <p:spPr>
          <a:xfrm>
            <a:off x="1965960" y="5175504"/>
            <a:ext cx="5166360" cy="841248"/>
          </a:xfrm>
          <a:prstGeom prst="rect">
            <a:avLst/>
          </a:prstGeom>
          <a:noFill/>
          <a:ln/>
        </p:spPr>
        <p:txBody>
          <a:bodyPr wrap="square" lIns="0" tIns="0" rIns="0" bIns="0" rtlCol="0" anchor="ctr"/>
          <a:lstStyle/>
          <a:p>
            <a:pPr indent="0" marL="0">
              <a:buNone/>
            </a:pPr>
            <a:r>
              <a:rPr lang="en-US" sz="1350" dirty="0">
                <a:solidFill>
                  <a:srgbClr val="FFFFFF"/>
                </a:solidFill>
              </a:rPr>
              <a:t>Bagus. Tambahkan mode gelap dan siapkan untuk deploy.</a:t>
            </a:r>
            <a:endParaRPr lang="en-US" sz="1350" dirty="0"/>
          </a:p>
        </p:txBody>
      </p:sp>
      <p:sp>
        <p:nvSpPr>
          <p:cNvPr id="18" name="card-278"/>
          <p:cNvSpPr/>
          <p:nvPr/>
        </p:nvSpPr>
        <p:spPr>
          <a:xfrm>
            <a:off x="7818120" y="1371600"/>
            <a:ext cx="3794760" cy="4709160"/>
          </a:xfrm>
          <a:prstGeom prst="roundRect">
            <a:avLst>
              <a:gd name="adj" fmla="val 3614"/>
            </a:avLst>
          </a:prstGeom>
          <a:solidFill>
            <a:schemeClr val="tx2"/>
          </a:solidFill>
          <a:ln/>
        </p:spPr>
      </p:sp>
      <p:sp>
        <p:nvSpPr>
          <p:cNvPr id="19" name="txt-279"/>
          <p:cNvSpPr txBox="1"/>
          <p:nvPr/>
        </p:nvSpPr>
        <p:spPr>
          <a:xfrm>
            <a:off x="8138160" y="1645920"/>
            <a:ext cx="3200400" cy="274320"/>
          </a:xfrm>
          <a:prstGeom prst="rect">
            <a:avLst/>
          </a:prstGeom>
          <a:noFill/>
          <a:ln/>
        </p:spPr>
        <p:txBody>
          <a:bodyPr wrap="square" lIns="0" tIns="0" rIns="0" bIns="0" rtlCol="0" anchor="t"/>
          <a:lstStyle/>
          <a:p>
            <a:pPr indent="0" marL="0">
              <a:buNone/>
            </a:pPr>
            <a:r>
              <a:rPr lang="en-US" sz="1100" b="1" spc="200" kern="0" dirty="0">
                <a:solidFill>
                  <a:srgbClr val="A78BFA"/>
                </a:solidFill>
              </a:rPr>
              <a:t>HASIL SESI (ILUSTRASI)</a:t>
            </a:r>
            <a:endParaRPr lang="en-US" sz="1100" dirty="0"/>
          </a:p>
        </p:txBody>
      </p:sp>
      <p:sp>
        <p:nvSpPr>
          <p:cNvPr id="20" name="txt-280"/>
          <p:cNvSpPr txBox="1"/>
          <p:nvPr/>
        </p:nvSpPr>
        <p:spPr>
          <a:xfrm>
            <a:off x="8138160" y="2057400"/>
            <a:ext cx="3200400" cy="73152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5</a:t>
            </a:r>
            <a:endParaRPr lang="en-US" sz="4800" dirty="0"/>
          </a:p>
        </p:txBody>
      </p:sp>
      <p:sp>
        <p:nvSpPr>
          <p:cNvPr id="21" name="txt-281"/>
          <p:cNvSpPr txBox="1"/>
          <p:nvPr/>
        </p:nvSpPr>
        <p:spPr>
          <a:xfrm>
            <a:off x="8138160" y="2770632"/>
            <a:ext cx="3200400" cy="365760"/>
          </a:xfrm>
          <a:prstGeom prst="rect">
            <a:avLst/>
          </a:prstGeom>
          <a:noFill/>
          <a:ln/>
        </p:spPr>
        <p:txBody>
          <a:bodyPr wrap="square" lIns="0" tIns="0" rIns="0" bIns="0" rtlCol="0" anchor="t"/>
          <a:lstStyle/>
          <a:p>
            <a:pPr indent="0" marL="0">
              <a:buNone/>
            </a:pPr>
            <a:r>
              <a:rPr lang="en-US" sz="1400" dirty="0">
                <a:solidFill>
                  <a:srgbClr val="D8CCFF"/>
                </a:solidFill>
              </a:rPr>
              <a:t>prompt utama</a:t>
            </a:r>
            <a:endParaRPr lang="en-US" sz="1400" dirty="0"/>
          </a:p>
        </p:txBody>
      </p:sp>
      <p:sp>
        <p:nvSpPr>
          <p:cNvPr id="22" name="txt-282"/>
          <p:cNvSpPr txBox="1"/>
          <p:nvPr/>
        </p:nvSpPr>
        <p:spPr>
          <a:xfrm>
            <a:off x="8138160" y="3337560"/>
            <a:ext cx="3200400" cy="73152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±30</a:t>
            </a:r>
            <a:endParaRPr lang="en-US" sz="4800" dirty="0"/>
          </a:p>
        </p:txBody>
      </p:sp>
      <p:sp>
        <p:nvSpPr>
          <p:cNvPr id="23" name="txt-283"/>
          <p:cNvSpPr txBox="1"/>
          <p:nvPr/>
        </p:nvSpPr>
        <p:spPr>
          <a:xfrm>
            <a:off x="8138160" y="4050792"/>
            <a:ext cx="3200400" cy="365760"/>
          </a:xfrm>
          <a:prstGeom prst="rect">
            <a:avLst/>
          </a:prstGeom>
          <a:noFill/>
          <a:ln/>
        </p:spPr>
        <p:txBody>
          <a:bodyPr wrap="square" lIns="0" tIns="0" rIns="0" bIns="0" rtlCol="0" anchor="t"/>
          <a:lstStyle/>
          <a:p>
            <a:pPr indent="0" marL="0">
              <a:buNone/>
            </a:pPr>
            <a:r>
              <a:rPr lang="en-US" sz="1400" dirty="0">
                <a:solidFill>
                  <a:srgbClr val="D8CCFF"/>
                </a:solidFill>
              </a:rPr>
              <a:t>menit dari nol sampai online</a:t>
            </a:r>
            <a:endParaRPr lang="en-US" sz="1400" dirty="0"/>
          </a:p>
        </p:txBody>
      </p:sp>
      <p:sp>
        <p:nvSpPr>
          <p:cNvPr id="24" name="txt-284"/>
          <p:cNvSpPr txBox="1"/>
          <p:nvPr/>
        </p:nvSpPr>
        <p:spPr>
          <a:xfrm>
            <a:off x="8138160" y="4617720"/>
            <a:ext cx="3200400" cy="73152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0</a:t>
            </a:r>
            <a:endParaRPr lang="en-US" sz="4800" dirty="0"/>
          </a:p>
        </p:txBody>
      </p:sp>
      <p:sp>
        <p:nvSpPr>
          <p:cNvPr id="25" name="txt-285"/>
          <p:cNvSpPr txBox="1"/>
          <p:nvPr/>
        </p:nvSpPr>
        <p:spPr>
          <a:xfrm>
            <a:off x="8138160" y="5330952"/>
            <a:ext cx="3200400" cy="365760"/>
          </a:xfrm>
          <a:prstGeom prst="rect">
            <a:avLst/>
          </a:prstGeom>
          <a:noFill/>
          <a:ln/>
        </p:spPr>
        <p:txBody>
          <a:bodyPr wrap="square" lIns="0" tIns="0" rIns="0" bIns="0" rtlCol="0" anchor="t"/>
          <a:lstStyle/>
          <a:p>
            <a:pPr indent="0" marL="0">
              <a:buNone/>
            </a:pPr>
            <a:r>
              <a:rPr lang="en-US" sz="1400" dirty="0">
                <a:solidFill>
                  <a:srgbClr val="D8CCFF"/>
                </a:solidFill>
              </a:rPr>
              <a:t>baris kode diketik manual</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5677"/>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8 kebiasaan vibe coder yang efektif</a:t>
            </a:r>
            <a:endParaRPr lang="en-US" sz="3200" dirty="0"/>
          </a:p>
        </p:txBody>
      </p:sp>
      <p:sp>
        <p:nvSpPr>
          <p:cNvPr id="3" name="card-286"/>
          <p:cNvSpPr/>
          <p:nvPr/>
        </p:nvSpPr>
        <p:spPr>
          <a:xfrm>
            <a:off x="548640" y="1417320"/>
            <a:ext cx="2606040" cy="2148840"/>
          </a:xfrm>
          <a:prstGeom prst="roundRect">
            <a:avLst>
              <a:gd name="adj" fmla="val 6383"/>
            </a:avLst>
          </a:prstGeom>
          <a:solidFill>
            <a:schemeClr val="bg2"/>
          </a:solidFill>
          <a:ln/>
        </p:spPr>
      </p:sp>
      <p:sp>
        <p:nvSpPr>
          <p:cNvPr id="4" name="iconbg-287"/>
          <p:cNvSpPr/>
          <p:nvPr/>
        </p:nvSpPr>
        <p:spPr>
          <a:xfrm>
            <a:off x="777240" y="1645920"/>
            <a:ext cx="548640" cy="548640"/>
          </a:xfrm>
          <a:prstGeom prst="ellipse">
            <a:avLst/>
          </a:prstGeom>
          <a:solidFill>
            <a:schemeClr val="accent1"/>
          </a:solidFill>
          <a:ln/>
        </p:spPr>
      </p:sp>
      <p:pic>
        <p:nvPicPr>
          <p:cNvPr id="5" name="icon-288" descr="preencoded.png">    </p:cNvPr>
          <p:cNvPicPr>
            <a:picLocks noChangeAspect="1"/>
          </p:cNvPicPr>
          <p:nvPr/>
        </p:nvPicPr>
        <p:blipFill>
          <a:blip r:embed="rId1"/>
          <a:stretch>
            <a:fillRect/>
          </a:stretch>
        </p:blipFill>
        <p:spPr>
          <a:xfrm>
            <a:off x="908914" y="1777594"/>
            <a:ext cx="285293" cy="285293"/>
          </a:xfrm>
          <a:prstGeom prst="rect">
            <a:avLst/>
          </a:prstGeom>
        </p:spPr>
      </p:pic>
      <p:sp>
        <p:nvSpPr>
          <p:cNvPr id="6" name="txt-289"/>
          <p:cNvSpPr txBox="1"/>
          <p:nvPr/>
        </p:nvSpPr>
        <p:spPr>
          <a:xfrm>
            <a:off x="777240" y="2313432"/>
            <a:ext cx="2148840" cy="411480"/>
          </a:xfrm>
          <a:prstGeom prst="rect">
            <a:avLst/>
          </a:prstGeom>
          <a:noFill/>
          <a:ln/>
        </p:spPr>
        <p:txBody>
          <a:bodyPr wrap="square" lIns="0" tIns="0" rIns="0" bIns="0" rtlCol="0" anchor="t"/>
          <a:lstStyle/>
          <a:p>
            <a:pPr indent="0" marL="0">
              <a:buNone/>
            </a:pPr>
            <a:r>
              <a:rPr lang="en-US" sz="1550" b="1" dirty="0">
                <a:solidFill>
                  <a:schemeClr val="tx1"/>
                </a:solidFill>
                <a:latin typeface="Arial" pitchFamily="34" charset="0"/>
                <a:ea typeface="Arial" pitchFamily="34" charset="-122"/>
                <a:cs typeface="Arial" pitchFamily="34" charset="-120"/>
              </a:rPr>
              <a:t>Mulai dari spesifikasi</a:t>
            </a:r>
            <a:endParaRPr lang="en-US" sz="1550" dirty="0"/>
          </a:p>
        </p:txBody>
      </p:sp>
      <p:sp>
        <p:nvSpPr>
          <p:cNvPr id="7" name="txt-290"/>
          <p:cNvSpPr txBox="1"/>
          <p:nvPr/>
        </p:nvSpPr>
        <p:spPr>
          <a:xfrm>
            <a:off x="777240" y="2724912"/>
            <a:ext cx="2148840" cy="731520"/>
          </a:xfrm>
          <a:prstGeom prst="rect">
            <a:avLst/>
          </a:prstGeom>
          <a:noFill/>
          <a:ln/>
        </p:spPr>
        <p:txBody>
          <a:bodyPr wrap="square" lIns="0" tIns="0" rIns="0" bIns="0" rtlCol="0" anchor="t"/>
          <a:lstStyle/>
          <a:p>
            <a:pPr indent="0" marL="0">
              <a:buNone/>
            </a:pPr>
            <a:r>
              <a:rPr lang="en-US" sz="1300" dirty="0">
                <a:solidFill>
                  <a:srgbClr val="5B5677"/>
                </a:solidFill>
              </a:rPr>
              <a:t>Tulis tujuan dan fitur inti sebelum prompt pertama.</a:t>
            </a:r>
            <a:endParaRPr lang="en-US" sz="1300" dirty="0"/>
          </a:p>
        </p:txBody>
      </p:sp>
      <p:sp>
        <p:nvSpPr>
          <p:cNvPr id="8" name="card-291"/>
          <p:cNvSpPr/>
          <p:nvPr/>
        </p:nvSpPr>
        <p:spPr>
          <a:xfrm>
            <a:off x="3367735" y="1417320"/>
            <a:ext cx="2606040" cy="2148840"/>
          </a:xfrm>
          <a:prstGeom prst="roundRect">
            <a:avLst>
              <a:gd name="adj" fmla="val 6383"/>
            </a:avLst>
          </a:prstGeom>
          <a:solidFill>
            <a:schemeClr val="bg2"/>
          </a:solidFill>
          <a:ln/>
        </p:spPr>
      </p:sp>
      <p:sp>
        <p:nvSpPr>
          <p:cNvPr id="9" name="iconbg-292"/>
          <p:cNvSpPr/>
          <p:nvPr/>
        </p:nvSpPr>
        <p:spPr>
          <a:xfrm>
            <a:off x="3596335" y="1645920"/>
            <a:ext cx="548640" cy="548640"/>
          </a:xfrm>
          <a:prstGeom prst="ellipse">
            <a:avLst/>
          </a:prstGeom>
          <a:solidFill>
            <a:schemeClr val="accent2"/>
          </a:solidFill>
          <a:ln/>
        </p:spPr>
      </p:sp>
      <p:pic>
        <p:nvPicPr>
          <p:cNvPr id="10" name="icon-293" descr="preencoded.png">    </p:cNvPr>
          <p:cNvPicPr>
            <a:picLocks noChangeAspect="1"/>
          </p:cNvPicPr>
          <p:nvPr/>
        </p:nvPicPr>
        <p:blipFill>
          <a:blip r:embed="rId2"/>
          <a:stretch>
            <a:fillRect/>
          </a:stretch>
        </p:blipFill>
        <p:spPr>
          <a:xfrm>
            <a:off x="3728009" y="1777594"/>
            <a:ext cx="285293" cy="285293"/>
          </a:xfrm>
          <a:prstGeom prst="rect">
            <a:avLst/>
          </a:prstGeom>
        </p:spPr>
      </p:pic>
      <p:sp>
        <p:nvSpPr>
          <p:cNvPr id="11" name="txt-294"/>
          <p:cNvSpPr txBox="1"/>
          <p:nvPr/>
        </p:nvSpPr>
        <p:spPr>
          <a:xfrm>
            <a:off x="3596335" y="2313432"/>
            <a:ext cx="2148840" cy="411480"/>
          </a:xfrm>
          <a:prstGeom prst="rect">
            <a:avLst/>
          </a:prstGeom>
          <a:noFill/>
          <a:ln/>
        </p:spPr>
        <p:txBody>
          <a:bodyPr wrap="square" lIns="0" tIns="0" rIns="0" bIns="0" rtlCol="0" anchor="t"/>
          <a:lstStyle/>
          <a:p>
            <a:pPr indent="0" marL="0">
              <a:buNone/>
            </a:pPr>
            <a:r>
              <a:rPr lang="en-US" sz="1550" b="1" dirty="0">
                <a:solidFill>
                  <a:schemeClr val="tx1"/>
                </a:solidFill>
                <a:latin typeface="Arial" pitchFamily="34" charset="0"/>
                <a:ea typeface="Arial" pitchFamily="34" charset="-122"/>
                <a:cs typeface="Arial" pitchFamily="34" charset="-120"/>
              </a:rPr>
              <a:t>Langkah kecil</a:t>
            </a:r>
            <a:endParaRPr lang="en-US" sz="1550" dirty="0"/>
          </a:p>
        </p:txBody>
      </p:sp>
      <p:sp>
        <p:nvSpPr>
          <p:cNvPr id="12" name="txt-295"/>
          <p:cNvSpPr txBox="1"/>
          <p:nvPr/>
        </p:nvSpPr>
        <p:spPr>
          <a:xfrm>
            <a:off x="3596335" y="2724912"/>
            <a:ext cx="2148840" cy="731520"/>
          </a:xfrm>
          <a:prstGeom prst="rect">
            <a:avLst/>
          </a:prstGeom>
          <a:noFill/>
          <a:ln/>
        </p:spPr>
        <p:txBody>
          <a:bodyPr wrap="square" lIns="0" tIns="0" rIns="0" bIns="0" rtlCol="0" anchor="t"/>
          <a:lstStyle/>
          <a:p>
            <a:pPr indent="0" marL="0">
              <a:buNone/>
            </a:pPr>
            <a:r>
              <a:rPr lang="en-US" sz="1300" dirty="0">
                <a:solidFill>
                  <a:srgbClr val="5B5677"/>
                </a:solidFill>
              </a:rPr>
              <a:t>Satu fitur per prompt lebih mudah diuji dan diperbaiki.</a:t>
            </a:r>
            <a:endParaRPr lang="en-US" sz="1300" dirty="0"/>
          </a:p>
        </p:txBody>
      </p:sp>
      <p:sp>
        <p:nvSpPr>
          <p:cNvPr id="13" name="card-296"/>
          <p:cNvSpPr/>
          <p:nvPr/>
        </p:nvSpPr>
        <p:spPr>
          <a:xfrm>
            <a:off x="6186830" y="1417320"/>
            <a:ext cx="2606040" cy="2148840"/>
          </a:xfrm>
          <a:prstGeom prst="roundRect">
            <a:avLst>
              <a:gd name="adj" fmla="val 6383"/>
            </a:avLst>
          </a:prstGeom>
          <a:solidFill>
            <a:schemeClr val="bg2"/>
          </a:solidFill>
          <a:ln/>
        </p:spPr>
      </p:sp>
      <p:sp>
        <p:nvSpPr>
          <p:cNvPr id="14" name="iconbg-297"/>
          <p:cNvSpPr/>
          <p:nvPr/>
        </p:nvSpPr>
        <p:spPr>
          <a:xfrm>
            <a:off x="6415430" y="1645920"/>
            <a:ext cx="548640" cy="548640"/>
          </a:xfrm>
          <a:prstGeom prst="ellipse">
            <a:avLst/>
          </a:prstGeom>
          <a:solidFill>
            <a:schemeClr val="accent3"/>
          </a:solidFill>
          <a:ln/>
        </p:spPr>
      </p:sp>
      <p:pic>
        <p:nvPicPr>
          <p:cNvPr id="15" name="icon-298" descr="preencoded.png">    </p:cNvPr>
          <p:cNvPicPr>
            <a:picLocks noChangeAspect="1"/>
          </p:cNvPicPr>
          <p:nvPr/>
        </p:nvPicPr>
        <p:blipFill>
          <a:blip r:embed="rId3"/>
          <a:stretch>
            <a:fillRect/>
          </a:stretch>
        </p:blipFill>
        <p:spPr>
          <a:xfrm>
            <a:off x="6547104" y="1777594"/>
            <a:ext cx="285293" cy="285293"/>
          </a:xfrm>
          <a:prstGeom prst="rect">
            <a:avLst/>
          </a:prstGeom>
        </p:spPr>
      </p:pic>
      <p:sp>
        <p:nvSpPr>
          <p:cNvPr id="16" name="txt-299"/>
          <p:cNvSpPr txBox="1"/>
          <p:nvPr/>
        </p:nvSpPr>
        <p:spPr>
          <a:xfrm>
            <a:off x="6415430" y="2313432"/>
            <a:ext cx="2148840" cy="411480"/>
          </a:xfrm>
          <a:prstGeom prst="rect">
            <a:avLst/>
          </a:prstGeom>
          <a:noFill/>
          <a:ln/>
        </p:spPr>
        <p:txBody>
          <a:bodyPr wrap="square" lIns="0" tIns="0" rIns="0" bIns="0" rtlCol="0" anchor="t"/>
          <a:lstStyle/>
          <a:p>
            <a:pPr indent="0" marL="0">
              <a:buNone/>
            </a:pPr>
            <a:r>
              <a:rPr lang="en-US" sz="1550" b="1" dirty="0">
                <a:solidFill>
                  <a:schemeClr val="tx1"/>
                </a:solidFill>
                <a:latin typeface="Arial" pitchFamily="34" charset="0"/>
                <a:ea typeface="Arial" pitchFamily="34" charset="-122"/>
                <a:cs typeface="Arial" pitchFamily="34" charset="-120"/>
              </a:rPr>
              <a:t>Berikan konteks kaya</a:t>
            </a:r>
            <a:endParaRPr lang="en-US" sz="1550" dirty="0"/>
          </a:p>
        </p:txBody>
      </p:sp>
      <p:sp>
        <p:nvSpPr>
          <p:cNvPr id="17" name="txt-300"/>
          <p:cNvSpPr txBox="1"/>
          <p:nvPr/>
        </p:nvSpPr>
        <p:spPr>
          <a:xfrm>
            <a:off x="6415430" y="2724912"/>
            <a:ext cx="2148840" cy="731520"/>
          </a:xfrm>
          <a:prstGeom prst="rect">
            <a:avLst/>
          </a:prstGeom>
          <a:noFill/>
          <a:ln/>
        </p:spPr>
        <p:txBody>
          <a:bodyPr wrap="square" lIns="0" tIns="0" rIns="0" bIns="0" rtlCol="0" anchor="t"/>
          <a:lstStyle/>
          <a:p>
            <a:pPr indent="0" marL="0">
              <a:buNone/>
            </a:pPr>
            <a:r>
              <a:rPr lang="en-US" sz="1300" dirty="0">
                <a:solidFill>
                  <a:srgbClr val="5B5677"/>
                </a:solidFill>
              </a:rPr>
              <a:t>Sertakan file terkait, dokumentasi, dan contoh.</a:t>
            </a:r>
            <a:endParaRPr lang="en-US" sz="1300" dirty="0"/>
          </a:p>
        </p:txBody>
      </p:sp>
      <p:sp>
        <p:nvSpPr>
          <p:cNvPr id="18" name="card-301"/>
          <p:cNvSpPr/>
          <p:nvPr/>
        </p:nvSpPr>
        <p:spPr>
          <a:xfrm>
            <a:off x="9005926" y="1417320"/>
            <a:ext cx="2606040" cy="2148840"/>
          </a:xfrm>
          <a:prstGeom prst="roundRect">
            <a:avLst>
              <a:gd name="adj" fmla="val 6383"/>
            </a:avLst>
          </a:prstGeom>
          <a:solidFill>
            <a:schemeClr val="bg2"/>
          </a:solidFill>
          <a:ln/>
        </p:spPr>
      </p:sp>
      <p:sp>
        <p:nvSpPr>
          <p:cNvPr id="19" name="iconbg-302"/>
          <p:cNvSpPr/>
          <p:nvPr/>
        </p:nvSpPr>
        <p:spPr>
          <a:xfrm>
            <a:off x="9234526" y="1645920"/>
            <a:ext cx="548640" cy="548640"/>
          </a:xfrm>
          <a:prstGeom prst="ellipse">
            <a:avLst/>
          </a:prstGeom>
          <a:solidFill>
            <a:schemeClr val="accent4"/>
          </a:solidFill>
          <a:ln/>
        </p:spPr>
      </p:sp>
      <p:pic>
        <p:nvPicPr>
          <p:cNvPr id="20" name="icon-303" descr="preencoded.png">    </p:cNvPr>
          <p:cNvPicPr>
            <a:picLocks noChangeAspect="1"/>
          </p:cNvPicPr>
          <p:nvPr/>
        </p:nvPicPr>
        <p:blipFill>
          <a:blip r:embed="rId4"/>
          <a:stretch>
            <a:fillRect/>
          </a:stretch>
        </p:blipFill>
        <p:spPr>
          <a:xfrm>
            <a:off x="9366199" y="1777594"/>
            <a:ext cx="285293" cy="285293"/>
          </a:xfrm>
          <a:prstGeom prst="rect">
            <a:avLst/>
          </a:prstGeom>
        </p:spPr>
      </p:pic>
      <p:sp>
        <p:nvSpPr>
          <p:cNvPr id="21" name="txt-304"/>
          <p:cNvSpPr txBox="1"/>
          <p:nvPr/>
        </p:nvSpPr>
        <p:spPr>
          <a:xfrm>
            <a:off x="9234526" y="2313432"/>
            <a:ext cx="2148840" cy="411480"/>
          </a:xfrm>
          <a:prstGeom prst="rect">
            <a:avLst/>
          </a:prstGeom>
          <a:noFill/>
          <a:ln/>
        </p:spPr>
        <p:txBody>
          <a:bodyPr wrap="square" lIns="0" tIns="0" rIns="0" bIns="0" rtlCol="0" anchor="t"/>
          <a:lstStyle/>
          <a:p>
            <a:pPr indent="0" marL="0">
              <a:buNone/>
            </a:pPr>
            <a:r>
              <a:rPr lang="en-US" sz="1550" b="1" dirty="0">
                <a:solidFill>
                  <a:schemeClr val="tx1"/>
                </a:solidFill>
                <a:latin typeface="Arial" pitchFamily="34" charset="0"/>
                <a:ea typeface="Arial" pitchFamily="34" charset="-122"/>
                <a:cs typeface="Arial" pitchFamily="34" charset="-120"/>
              </a:rPr>
              <a:t>Sering commit</a:t>
            </a:r>
            <a:endParaRPr lang="en-US" sz="1550" dirty="0"/>
          </a:p>
        </p:txBody>
      </p:sp>
      <p:sp>
        <p:nvSpPr>
          <p:cNvPr id="22" name="txt-305"/>
          <p:cNvSpPr txBox="1"/>
          <p:nvPr/>
        </p:nvSpPr>
        <p:spPr>
          <a:xfrm>
            <a:off x="9234526" y="2724912"/>
            <a:ext cx="2148840" cy="731520"/>
          </a:xfrm>
          <a:prstGeom prst="rect">
            <a:avLst/>
          </a:prstGeom>
          <a:noFill/>
          <a:ln/>
        </p:spPr>
        <p:txBody>
          <a:bodyPr wrap="square" lIns="0" tIns="0" rIns="0" bIns="0" rtlCol="0" anchor="t"/>
          <a:lstStyle/>
          <a:p>
            <a:pPr indent="0" marL="0">
              <a:buNone/>
            </a:pPr>
            <a:r>
              <a:rPr lang="en-US" sz="1300" dirty="0">
                <a:solidFill>
                  <a:srgbClr val="5B5677"/>
                </a:solidFill>
              </a:rPr>
              <a:t>Titik aman membuat Anda berani bereksperimen.</a:t>
            </a:r>
            <a:endParaRPr lang="en-US" sz="1300" dirty="0"/>
          </a:p>
        </p:txBody>
      </p:sp>
      <p:sp>
        <p:nvSpPr>
          <p:cNvPr id="23" name="card-306"/>
          <p:cNvSpPr/>
          <p:nvPr/>
        </p:nvSpPr>
        <p:spPr>
          <a:xfrm>
            <a:off x="548640" y="3794760"/>
            <a:ext cx="2606040" cy="2148840"/>
          </a:xfrm>
          <a:prstGeom prst="roundRect">
            <a:avLst>
              <a:gd name="adj" fmla="val 6383"/>
            </a:avLst>
          </a:prstGeom>
          <a:solidFill>
            <a:schemeClr val="bg2"/>
          </a:solidFill>
          <a:ln/>
        </p:spPr>
      </p:sp>
      <p:sp>
        <p:nvSpPr>
          <p:cNvPr id="24" name="iconbg-307"/>
          <p:cNvSpPr/>
          <p:nvPr/>
        </p:nvSpPr>
        <p:spPr>
          <a:xfrm>
            <a:off x="777240" y="4023360"/>
            <a:ext cx="548640" cy="548640"/>
          </a:xfrm>
          <a:prstGeom prst="ellipse">
            <a:avLst/>
          </a:prstGeom>
          <a:solidFill>
            <a:schemeClr val="accent1"/>
          </a:solidFill>
          <a:ln/>
        </p:spPr>
      </p:sp>
      <p:pic>
        <p:nvPicPr>
          <p:cNvPr id="25" name="icon-308" descr="preencoded.png">    </p:cNvPr>
          <p:cNvPicPr>
            <a:picLocks noChangeAspect="1"/>
          </p:cNvPicPr>
          <p:nvPr/>
        </p:nvPicPr>
        <p:blipFill>
          <a:blip r:embed="rId5"/>
          <a:stretch>
            <a:fillRect/>
          </a:stretch>
        </p:blipFill>
        <p:spPr>
          <a:xfrm>
            <a:off x="908914" y="4155034"/>
            <a:ext cx="285293" cy="285293"/>
          </a:xfrm>
          <a:prstGeom prst="rect">
            <a:avLst/>
          </a:prstGeom>
        </p:spPr>
      </p:pic>
      <p:sp>
        <p:nvSpPr>
          <p:cNvPr id="26" name="txt-309"/>
          <p:cNvSpPr txBox="1"/>
          <p:nvPr/>
        </p:nvSpPr>
        <p:spPr>
          <a:xfrm>
            <a:off x="777240" y="4690872"/>
            <a:ext cx="2148840" cy="411480"/>
          </a:xfrm>
          <a:prstGeom prst="rect">
            <a:avLst/>
          </a:prstGeom>
          <a:noFill/>
          <a:ln/>
        </p:spPr>
        <p:txBody>
          <a:bodyPr wrap="square" lIns="0" tIns="0" rIns="0" bIns="0" rtlCol="0" anchor="t"/>
          <a:lstStyle/>
          <a:p>
            <a:pPr indent="0" marL="0">
              <a:buNone/>
            </a:pPr>
            <a:r>
              <a:rPr lang="en-US" sz="1550" b="1" dirty="0">
                <a:solidFill>
                  <a:schemeClr val="tx1"/>
                </a:solidFill>
                <a:latin typeface="Arial" pitchFamily="34" charset="0"/>
                <a:ea typeface="Arial" pitchFamily="34" charset="-122"/>
                <a:cs typeface="Arial" pitchFamily="34" charset="-120"/>
              </a:rPr>
              <a:t>Minta tes</a:t>
            </a:r>
            <a:endParaRPr lang="en-US" sz="1550" dirty="0"/>
          </a:p>
        </p:txBody>
      </p:sp>
      <p:sp>
        <p:nvSpPr>
          <p:cNvPr id="27" name="txt-310"/>
          <p:cNvSpPr txBox="1"/>
          <p:nvPr/>
        </p:nvSpPr>
        <p:spPr>
          <a:xfrm>
            <a:off x="777240" y="5102352"/>
            <a:ext cx="2148840" cy="731520"/>
          </a:xfrm>
          <a:prstGeom prst="rect">
            <a:avLst/>
          </a:prstGeom>
          <a:noFill/>
          <a:ln/>
        </p:spPr>
        <p:txBody>
          <a:bodyPr wrap="square" lIns="0" tIns="0" rIns="0" bIns="0" rtlCol="0" anchor="t"/>
          <a:lstStyle/>
          <a:p>
            <a:pPr indent="0" marL="0">
              <a:buNone/>
            </a:pPr>
            <a:r>
              <a:rPr lang="en-US" sz="1300" dirty="0">
                <a:solidFill>
                  <a:srgbClr val="5B5677"/>
                </a:solidFill>
              </a:rPr>
              <a:t>Minta AI menulis tes dan menjelaskan perubahannya.</a:t>
            </a:r>
            <a:endParaRPr lang="en-US" sz="1300" dirty="0"/>
          </a:p>
        </p:txBody>
      </p:sp>
      <p:sp>
        <p:nvSpPr>
          <p:cNvPr id="28" name="card-311"/>
          <p:cNvSpPr/>
          <p:nvPr/>
        </p:nvSpPr>
        <p:spPr>
          <a:xfrm>
            <a:off x="3367735" y="3794760"/>
            <a:ext cx="2606040" cy="2148840"/>
          </a:xfrm>
          <a:prstGeom prst="roundRect">
            <a:avLst>
              <a:gd name="adj" fmla="val 6383"/>
            </a:avLst>
          </a:prstGeom>
          <a:solidFill>
            <a:schemeClr val="bg2"/>
          </a:solidFill>
          <a:ln/>
        </p:spPr>
      </p:sp>
      <p:sp>
        <p:nvSpPr>
          <p:cNvPr id="29" name="iconbg-312"/>
          <p:cNvSpPr/>
          <p:nvPr/>
        </p:nvSpPr>
        <p:spPr>
          <a:xfrm>
            <a:off x="3596335" y="4023360"/>
            <a:ext cx="548640" cy="548640"/>
          </a:xfrm>
          <a:prstGeom prst="ellipse">
            <a:avLst/>
          </a:prstGeom>
          <a:solidFill>
            <a:schemeClr val="accent2"/>
          </a:solidFill>
          <a:ln/>
        </p:spPr>
      </p:sp>
      <p:pic>
        <p:nvPicPr>
          <p:cNvPr id="30" name="icon-313" descr="preencoded.png">    </p:cNvPr>
          <p:cNvPicPr>
            <a:picLocks noChangeAspect="1"/>
          </p:cNvPicPr>
          <p:nvPr/>
        </p:nvPicPr>
        <p:blipFill>
          <a:blip r:embed="rId6"/>
          <a:stretch>
            <a:fillRect/>
          </a:stretch>
        </p:blipFill>
        <p:spPr>
          <a:xfrm>
            <a:off x="3728009" y="4155034"/>
            <a:ext cx="285293" cy="285293"/>
          </a:xfrm>
          <a:prstGeom prst="rect">
            <a:avLst/>
          </a:prstGeom>
        </p:spPr>
      </p:pic>
      <p:sp>
        <p:nvSpPr>
          <p:cNvPr id="31" name="txt-314"/>
          <p:cNvSpPr txBox="1"/>
          <p:nvPr/>
        </p:nvSpPr>
        <p:spPr>
          <a:xfrm>
            <a:off x="3596335" y="4690872"/>
            <a:ext cx="2148840" cy="411480"/>
          </a:xfrm>
          <a:prstGeom prst="rect">
            <a:avLst/>
          </a:prstGeom>
          <a:noFill/>
          <a:ln/>
        </p:spPr>
        <p:txBody>
          <a:bodyPr wrap="square" lIns="0" tIns="0" rIns="0" bIns="0" rtlCol="0" anchor="t"/>
          <a:lstStyle/>
          <a:p>
            <a:pPr indent="0" marL="0">
              <a:buNone/>
            </a:pPr>
            <a:r>
              <a:rPr lang="en-US" sz="1550" b="1" dirty="0">
                <a:solidFill>
                  <a:schemeClr val="tx1"/>
                </a:solidFill>
                <a:latin typeface="Arial" pitchFamily="34" charset="0"/>
                <a:ea typeface="Arial" pitchFamily="34" charset="-122"/>
                <a:cs typeface="Arial" pitchFamily="34" charset="-120"/>
              </a:rPr>
              <a:t>Tempel error lengkap</a:t>
            </a:r>
            <a:endParaRPr lang="en-US" sz="1550" dirty="0"/>
          </a:p>
        </p:txBody>
      </p:sp>
      <p:sp>
        <p:nvSpPr>
          <p:cNvPr id="32" name="txt-315"/>
          <p:cNvSpPr txBox="1"/>
          <p:nvPr/>
        </p:nvSpPr>
        <p:spPr>
          <a:xfrm>
            <a:off x="3596335" y="5102352"/>
            <a:ext cx="2148840" cy="731520"/>
          </a:xfrm>
          <a:prstGeom prst="rect">
            <a:avLst/>
          </a:prstGeom>
          <a:noFill/>
          <a:ln/>
        </p:spPr>
        <p:txBody>
          <a:bodyPr wrap="square" lIns="0" tIns="0" rIns="0" bIns="0" rtlCol="0" anchor="t"/>
          <a:lstStyle/>
          <a:p>
            <a:pPr indent="0" marL="0">
              <a:buNone/>
            </a:pPr>
            <a:r>
              <a:rPr lang="en-US" sz="1300" dirty="0">
                <a:solidFill>
                  <a:srgbClr val="5B5677"/>
                </a:solidFill>
              </a:rPr>
              <a:t>Pesan error utuh lebih berguna daripada “tidak jalan”.</a:t>
            </a:r>
            <a:endParaRPr lang="en-US" sz="1300" dirty="0"/>
          </a:p>
        </p:txBody>
      </p:sp>
      <p:sp>
        <p:nvSpPr>
          <p:cNvPr id="33" name="card-316"/>
          <p:cNvSpPr/>
          <p:nvPr/>
        </p:nvSpPr>
        <p:spPr>
          <a:xfrm>
            <a:off x="6186830" y="3794760"/>
            <a:ext cx="2606040" cy="2148840"/>
          </a:xfrm>
          <a:prstGeom prst="roundRect">
            <a:avLst>
              <a:gd name="adj" fmla="val 6383"/>
            </a:avLst>
          </a:prstGeom>
          <a:solidFill>
            <a:schemeClr val="bg2"/>
          </a:solidFill>
          <a:ln/>
        </p:spPr>
      </p:sp>
      <p:sp>
        <p:nvSpPr>
          <p:cNvPr id="34" name="iconbg-317"/>
          <p:cNvSpPr/>
          <p:nvPr/>
        </p:nvSpPr>
        <p:spPr>
          <a:xfrm>
            <a:off x="6415430" y="4023360"/>
            <a:ext cx="548640" cy="548640"/>
          </a:xfrm>
          <a:prstGeom prst="ellipse">
            <a:avLst/>
          </a:prstGeom>
          <a:solidFill>
            <a:schemeClr val="accent3"/>
          </a:solidFill>
          <a:ln/>
        </p:spPr>
      </p:sp>
      <p:pic>
        <p:nvPicPr>
          <p:cNvPr id="35" name="icon-318" descr="preencoded.png">    </p:cNvPr>
          <p:cNvPicPr>
            <a:picLocks noChangeAspect="1"/>
          </p:cNvPicPr>
          <p:nvPr/>
        </p:nvPicPr>
        <p:blipFill>
          <a:blip r:embed="rId7"/>
          <a:stretch>
            <a:fillRect/>
          </a:stretch>
        </p:blipFill>
        <p:spPr>
          <a:xfrm>
            <a:off x="6547104" y="4155034"/>
            <a:ext cx="285293" cy="285293"/>
          </a:xfrm>
          <a:prstGeom prst="rect">
            <a:avLst/>
          </a:prstGeom>
        </p:spPr>
      </p:pic>
      <p:sp>
        <p:nvSpPr>
          <p:cNvPr id="36" name="txt-319"/>
          <p:cNvSpPr txBox="1"/>
          <p:nvPr/>
        </p:nvSpPr>
        <p:spPr>
          <a:xfrm>
            <a:off x="6415430" y="4690872"/>
            <a:ext cx="2148840" cy="411480"/>
          </a:xfrm>
          <a:prstGeom prst="rect">
            <a:avLst/>
          </a:prstGeom>
          <a:noFill/>
          <a:ln/>
        </p:spPr>
        <p:txBody>
          <a:bodyPr wrap="square" lIns="0" tIns="0" rIns="0" bIns="0" rtlCol="0" anchor="t"/>
          <a:lstStyle/>
          <a:p>
            <a:pPr indent="0" marL="0">
              <a:buNone/>
            </a:pPr>
            <a:r>
              <a:rPr lang="en-US" sz="1550" b="1" dirty="0">
                <a:solidFill>
                  <a:schemeClr val="tx1"/>
                </a:solidFill>
                <a:latin typeface="Arial" pitchFamily="34" charset="0"/>
                <a:ea typeface="Arial" pitchFamily="34" charset="-122"/>
                <a:cs typeface="Arial" pitchFamily="34" charset="-120"/>
              </a:rPr>
              <a:t>Mulai sesi baru</a:t>
            </a:r>
            <a:endParaRPr lang="en-US" sz="1550" dirty="0"/>
          </a:p>
        </p:txBody>
      </p:sp>
      <p:sp>
        <p:nvSpPr>
          <p:cNvPr id="37" name="txt-320"/>
          <p:cNvSpPr txBox="1"/>
          <p:nvPr/>
        </p:nvSpPr>
        <p:spPr>
          <a:xfrm>
            <a:off x="6415430" y="5102352"/>
            <a:ext cx="2148840" cy="731520"/>
          </a:xfrm>
          <a:prstGeom prst="rect">
            <a:avLst/>
          </a:prstGeom>
          <a:noFill/>
          <a:ln/>
        </p:spPr>
        <p:txBody>
          <a:bodyPr wrap="square" lIns="0" tIns="0" rIns="0" bIns="0" rtlCol="0" anchor="t"/>
          <a:lstStyle/>
          <a:p>
            <a:pPr indent="0" marL="0">
              <a:buNone/>
            </a:pPr>
            <a:r>
              <a:rPr lang="en-US" sz="1300" dirty="0">
                <a:solidFill>
                  <a:srgbClr val="5B5677"/>
                </a:solidFill>
              </a:rPr>
              <a:t>Jika AI berputar-putar, reset konteks dan ringkas ulang.</a:t>
            </a:r>
            <a:endParaRPr lang="en-US" sz="1300" dirty="0"/>
          </a:p>
        </p:txBody>
      </p:sp>
      <p:sp>
        <p:nvSpPr>
          <p:cNvPr id="38" name="card-321"/>
          <p:cNvSpPr/>
          <p:nvPr/>
        </p:nvSpPr>
        <p:spPr>
          <a:xfrm>
            <a:off x="9005926" y="3794760"/>
            <a:ext cx="2606040" cy="2148840"/>
          </a:xfrm>
          <a:prstGeom prst="roundRect">
            <a:avLst>
              <a:gd name="adj" fmla="val 6383"/>
            </a:avLst>
          </a:prstGeom>
          <a:solidFill>
            <a:schemeClr val="bg2"/>
          </a:solidFill>
          <a:ln/>
        </p:spPr>
      </p:sp>
      <p:sp>
        <p:nvSpPr>
          <p:cNvPr id="39" name="iconbg-322"/>
          <p:cNvSpPr/>
          <p:nvPr/>
        </p:nvSpPr>
        <p:spPr>
          <a:xfrm>
            <a:off x="9234526" y="4023360"/>
            <a:ext cx="548640" cy="548640"/>
          </a:xfrm>
          <a:prstGeom prst="ellipse">
            <a:avLst/>
          </a:prstGeom>
          <a:solidFill>
            <a:schemeClr val="accent4"/>
          </a:solidFill>
          <a:ln/>
        </p:spPr>
      </p:sp>
      <p:pic>
        <p:nvPicPr>
          <p:cNvPr id="40" name="icon-323" descr="preencoded.png">    </p:cNvPr>
          <p:cNvPicPr>
            <a:picLocks noChangeAspect="1"/>
          </p:cNvPicPr>
          <p:nvPr/>
        </p:nvPicPr>
        <p:blipFill>
          <a:blip r:embed="rId8"/>
          <a:stretch>
            <a:fillRect/>
          </a:stretch>
        </p:blipFill>
        <p:spPr>
          <a:xfrm>
            <a:off x="9366199" y="4155034"/>
            <a:ext cx="285293" cy="285293"/>
          </a:xfrm>
          <a:prstGeom prst="rect">
            <a:avLst/>
          </a:prstGeom>
        </p:spPr>
      </p:pic>
      <p:sp>
        <p:nvSpPr>
          <p:cNvPr id="41" name="txt-324"/>
          <p:cNvSpPr txBox="1"/>
          <p:nvPr/>
        </p:nvSpPr>
        <p:spPr>
          <a:xfrm>
            <a:off x="9234526" y="4690872"/>
            <a:ext cx="2148840" cy="411480"/>
          </a:xfrm>
          <a:prstGeom prst="rect">
            <a:avLst/>
          </a:prstGeom>
          <a:noFill/>
          <a:ln/>
        </p:spPr>
        <p:txBody>
          <a:bodyPr wrap="square" lIns="0" tIns="0" rIns="0" bIns="0" rtlCol="0" anchor="t"/>
          <a:lstStyle/>
          <a:p>
            <a:pPr indent="0" marL="0">
              <a:buNone/>
            </a:pPr>
            <a:r>
              <a:rPr lang="en-US" sz="1550" b="1" dirty="0">
                <a:solidFill>
                  <a:schemeClr val="tx1"/>
                </a:solidFill>
                <a:latin typeface="Arial" pitchFamily="34" charset="0"/>
                <a:ea typeface="Arial" pitchFamily="34" charset="-122"/>
                <a:cs typeface="Arial" pitchFamily="34" charset="-120"/>
              </a:rPr>
              <a:t>Minta keamanan</a:t>
            </a:r>
            <a:endParaRPr lang="en-US" sz="1550" dirty="0"/>
          </a:p>
        </p:txBody>
      </p:sp>
      <p:sp>
        <p:nvSpPr>
          <p:cNvPr id="42" name="txt-325"/>
          <p:cNvSpPr txBox="1"/>
          <p:nvPr/>
        </p:nvSpPr>
        <p:spPr>
          <a:xfrm>
            <a:off x="9234526" y="5102352"/>
            <a:ext cx="2148840" cy="731520"/>
          </a:xfrm>
          <a:prstGeom prst="rect">
            <a:avLst/>
          </a:prstGeom>
          <a:noFill/>
          <a:ln/>
        </p:spPr>
        <p:txBody>
          <a:bodyPr wrap="square" lIns="0" tIns="0" rIns="0" bIns="0" rtlCol="0" anchor="t"/>
          <a:lstStyle/>
          <a:p>
            <a:pPr indent="0" marL="0">
              <a:buNone/>
            </a:pPr>
            <a:r>
              <a:rPr lang="en-US" sz="1300" dirty="0">
                <a:solidFill>
                  <a:srgbClr val="5B5677"/>
                </a:solidFill>
              </a:rPr>
              <a:t>Sebutkan validasi input, otentikasi, dan rahasia.</a:t>
            </a:r>
            <a:endParaRPr lang="en-US" sz="13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5677"/>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Kapan vibe coding cocok — dan kapan harus hati-hati</a:t>
            </a:r>
            <a:endParaRPr lang="en-US" sz="3200" dirty="0"/>
          </a:p>
        </p:txBody>
      </p:sp>
      <p:sp>
        <p:nvSpPr>
          <p:cNvPr id="3" name="card-326"/>
          <p:cNvSpPr/>
          <p:nvPr/>
        </p:nvSpPr>
        <p:spPr>
          <a:xfrm>
            <a:off x="548640" y="1463040"/>
            <a:ext cx="5394960" cy="4617720"/>
          </a:xfrm>
          <a:prstGeom prst="roundRect">
            <a:avLst>
              <a:gd name="adj" fmla="val 2970"/>
            </a:avLst>
          </a:prstGeom>
          <a:solidFill>
            <a:srgbClr val="ECFDF5"/>
          </a:solidFill>
          <a:ln/>
        </p:spPr>
      </p:sp>
      <p:sp>
        <p:nvSpPr>
          <p:cNvPr id="4" name="iconbg-327"/>
          <p:cNvSpPr/>
          <p:nvPr/>
        </p:nvSpPr>
        <p:spPr>
          <a:xfrm>
            <a:off x="868680" y="1737360"/>
            <a:ext cx="685800" cy="685800"/>
          </a:xfrm>
          <a:prstGeom prst="ellipse">
            <a:avLst/>
          </a:prstGeom>
          <a:solidFill>
            <a:schemeClr val="accent5"/>
          </a:solidFill>
          <a:ln/>
        </p:spPr>
      </p:sp>
      <p:pic>
        <p:nvPicPr>
          <p:cNvPr id="5" name="icon-328" descr="preencoded.png">    </p:cNvPr>
          <p:cNvPicPr>
            <a:picLocks noChangeAspect="1"/>
          </p:cNvPicPr>
          <p:nvPr/>
        </p:nvPicPr>
        <p:blipFill>
          <a:blip r:embed="rId1"/>
          <a:stretch>
            <a:fillRect/>
          </a:stretch>
        </p:blipFill>
        <p:spPr>
          <a:xfrm>
            <a:off x="1033272" y="1901952"/>
            <a:ext cx="356616" cy="356616"/>
          </a:xfrm>
          <a:prstGeom prst="rect">
            <a:avLst/>
          </a:prstGeom>
        </p:spPr>
      </p:pic>
      <p:sp>
        <p:nvSpPr>
          <p:cNvPr id="6" name="txt-329"/>
          <p:cNvSpPr txBox="1"/>
          <p:nvPr/>
        </p:nvSpPr>
        <p:spPr>
          <a:xfrm>
            <a:off x="1737360" y="1737360"/>
            <a:ext cx="4023360" cy="685800"/>
          </a:xfrm>
          <a:prstGeom prst="rect">
            <a:avLst/>
          </a:prstGeom>
          <a:noFill/>
          <a:ln/>
        </p:spPr>
        <p:txBody>
          <a:bodyPr wrap="square" lIns="0" tIns="0" rIns="0" bIns="0" rtlCol="0" anchor="ctr"/>
          <a:lstStyle/>
          <a:p>
            <a:pPr indent="0" marL="0">
              <a:buNone/>
            </a:pPr>
            <a:r>
              <a:rPr lang="en-US" sz="2200" b="1" dirty="0">
                <a:solidFill>
                  <a:srgbClr val="065F46"/>
                </a:solidFill>
                <a:latin typeface="Arial" pitchFamily="34" charset="0"/>
                <a:ea typeface="Arial" pitchFamily="34" charset="-122"/>
                <a:cs typeface="Arial" pitchFamily="34" charset="-120"/>
              </a:rPr>
              <a:t>Cocok untuk</a:t>
            </a:r>
            <a:endParaRPr lang="en-US" sz="2200" dirty="0"/>
          </a:p>
        </p:txBody>
      </p:sp>
      <p:sp>
        <p:nvSpPr>
          <p:cNvPr id="7" name="txt-330"/>
          <p:cNvSpPr txBox="1"/>
          <p:nvPr/>
        </p:nvSpPr>
        <p:spPr>
          <a:xfrm>
            <a:off x="914400" y="2788920"/>
            <a:ext cx="4754880" cy="3108960"/>
          </a:xfrm>
          <a:prstGeom prst="rect">
            <a:avLst/>
          </a:prstGeom>
          <a:noFill/>
          <a:ln/>
        </p:spPr>
        <p:txBody>
          <a:bodyPr wrap="square" lIns="0" tIns="0" rIns="0" bIns="0" rtlCol="0" anchor="t"/>
          <a:lstStyle/>
          <a:p>
            <a:pPr marL="228600" indent="-228600">
              <a:spcAft>
                <a:spcPts val="2200"/>
              </a:spcAft>
              <a:buSzPct val="100000"/>
              <a:buChar char="•"/>
            </a:pPr>
            <a:r>
              <a:rPr lang="en-US" sz="1800" dirty="0">
                <a:solidFill>
                  <a:srgbClr val="1A1433"/>
                </a:solidFill>
              </a:rPr>
              <a:t>Prototipe dan MVP untuk menguji ide</a:t>
            </a:r>
            <a:endParaRPr lang="en-US" sz="1800" dirty="0"/>
          </a:p>
          <a:p>
            <a:pPr marL="228600" indent="-228600">
              <a:spcAft>
                <a:spcPts val="2200"/>
              </a:spcAft>
              <a:buSzPct val="100000"/>
              <a:buChar char="•"/>
            </a:pPr>
            <a:r>
              <a:rPr lang="en-US" sz="1800" dirty="0">
                <a:solidFill>
                  <a:srgbClr val="1A1433"/>
                </a:solidFill>
              </a:rPr>
              <a:t>Tools internal dan otomasi kecil</a:t>
            </a:r>
            <a:endParaRPr lang="en-US" sz="1800" dirty="0"/>
          </a:p>
          <a:p>
            <a:pPr marL="228600" indent="-228600">
              <a:spcAft>
                <a:spcPts val="2200"/>
              </a:spcAft>
              <a:buSzPct val="100000"/>
              <a:buChar char="•"/>
            </a:pPr>
            <a:r>
              <a:rPr lang="en-US" sz="1800" dirty="0">
                <a:solidFill>
                  <a:srgbClr val="1A1433"/>
                </a:solidFill>
              </a:rPr>
              <a:t>Proyek akhir pekan dan eksperimen</a:t>
            </a:r>
            <a:endParaRPr lang="en-US" sz="1800" dirty="0"/>
          </a:p>
          <a:p>
            <a:pPr marL="228600" indent="-228600">
              <a:spcAft>
                <a:spcPts val="2200"/>
              </a:spcAft>
              <a:buSzPct val="100000"/>
              <a:buChar char="•"/>
            </a:pPr>
            <a:r>
              <a:rPr lang="en-US" sz="1800" dirty="0">
                <a:solidFill>
                  <a:srgbClr val="1A1433"/>
                </a:solidFill>
              </a:rPr>
              <a:t>Belajar konsep dan teknologi baru</a:t>
            </a:r>
            <a:endParaRPr lang="en-US" sz="1800" dirty="0"/>
          </a:p>
          <a:p>
            <a:pPr marL="228600" indent="-228600">
              <a:spcAft>
                <a:spcPts val="2200"/>
              </a:spcAft>
              <a:buSzPct val="100000"/>
              <a:buChar char="•"/>
            </a:pPr>
            <a:r>
              <a:rPr lang="en-US" sz="1800" dirty="0">
                <a:solidFill>
                  <a:srgbClr val="1A1433"/>
                </a:solidFill>
              </a:rPr>
              <a:t>Mockup interaktif untuk presentasi</a:t>
            </a:r>
            <a:endParaRPr lang="en-US" sz="1800" dirty="0"/>
          </a:p>
        </p:txBody>
      </p:sp>
      <p:sp>
        <p:nvSpPr>
          <p:cNvPr id="8" name="card-331"/>
          <p:cNvSpPr/>
          <p:nvPr/>
        </p:nvSpPr>
        <p:spPr>
          <a:xfrm>
            <a:off x="6217920" y="1463040"/>
            <a:ext cx="5394960" cy="4617720"/>
          </a:xfrm>
          <a:prstGeom prst="roundRect">
            <a:avLst>
              <a:gd name="adj" fmla="val 2970"/>
            </a:avLst>
          </a:prstGeom>
          <a:solidFill>
            <a:srgbClr val="FEF2F2"/>
          </a:solidFill>
          <a:ln/>
        </p:spPr>
      </p:sp>
      <p:sp>
        <p:nvSpPr>
          <p:cNvPr id="9" name="iconbg-332"/>
          <p:cNvSpPr/>
          <p:nvPr/>
        </p:nvSpPr>
        <p:spPr>
          <a:xfrm>
            <a:off x="6537960" y="1737360"/>
            <a:ext cx="685800" cy="685800"/>
          </a:xfrm>
          <a:prstGeom prst="ellipse">
            <a:avLst/>
          </a:prstGeom>
          <a:solidFill>
            <a:schemeClr val="accent6"/>
          </a:solidFill>
          <a:ln/>
        </p:spPr>
      </p:sp>
      <p:pic>
        <p:nvPicPr>
          <p:cNvPr id="10" name="icon-333" descr="preencoded.png">    </p:cNvPr>
          <p:cNvPicPr>
            <a:picLocks noChangeAspect="1"/>
          </p:cNvPicPr>
          <p:nvPr/>
        </p:nvPicPr>
        <p:blipFill>
          <a:blip r:embed="rId2"/>
          <a:stretch>
            <a:fillRect/>
          </a:stretch>
        </p:blipFill>
        <p:spPr>
          <a:xfrm>
            <a:off x="6702552" y="1901952"/>
            <a:ext cx="356616" cy="356616"/>
          </a:xfrm>
          <a:prstGeom prst="rect">
            <a:avLst/>
          </a:prstGeom>
        </p:spPr>
      </p:pic>
      <p:sp>
        <p:nvSpPr>
          <p:cNvPr id="11" name="txt-334"/>
          <p:cNvSpPr txBox="1"/>
          <p:nvPr/>
        </p:nvSpPr>
        <p:spPr>
          <a:xfrm>
            <a:off x="7406640" y="1737360"/>
            <a:ext cx="4023360" cy="685800"/>
          </a:xfrm>
          <a:prstGeom prst="rect">
            <a:avLst/>
          </a:prstGeom>
          <a:noFill/>
          <a:ln/>
        </p:spPr>
        <p:txBody>
          <a:bodyPr wrap="square" lIns="0" tIns="0" rIns="0" bIns="0" rtlCol="0" anchor="ctr"/>
          <a:lstStyle/>
          <a:p>
            <a:pPr indent="0" marL="0">
              <a:buNone/>
            </a:pPr>
            <a:r>
              <a:rPr lang="en-US" sz="2200" b="1" dirty="0">
                <a:solidFill>
                  <a:srgbClr val="991B1B"/>
                </a:solidFill>
                <a:latin typeface="Arial" pitchFamily="34" charset="0"/>
                <a:ea typeface="Arial" pitchFamily="34" charset="-122"/>
                <a:cs typeface="Arial" pitchFamily="34" charset="-120"/>
              </a:rPr>
              <a:t>Hati-hati / perlu review ketat</a:t>
            </a:r>
            <a:endParaRPr lang="en-US" sz="2200" dirty="0"/>
          </a:p>
        </p:txBody>
      </p:sp>
      <p:sp>
        <p:nvSpPr>
          <p:cNvPr id="12" name="txt-335"/>
          <p:cNvSpPr txBox="1"/>
          <p:nvPr/>
        </p:nvSpPr>
        <p:spPr>
          <a:xfrm>
            <a:off x="6583680" y="2788920"/>
            <a:ext cx="4754880" cy="3108960"/>
          </a:xfrm>
          <a:prstGeom prst="rect">
            <a:avLst/>
          </a:prstGeom>
          <a:noFill/>
          <a:ln/>
        </p:spPr>
        <p:txBody>
          <a:bodyPr wrap="square" lIns="0" tIns="0" rIns="0" bIns="0" rtlCol="0" anchor="t"/>
          <a:lstStyle/>
          <a:p>
            <a:pPr marL="228600" indent="-228600">
              <a:spcAft>
                <a:spcPts val="2200"/>
              </a:spcAft>
              <a:buSzPct val="100000"/>
              <a:buChar char="•"/>
            </a:pPr>
            <a:r>
              <a:rPr lang="en-US" sz="1800" dirty="0">
                <a:solidFill>
                  <a:srgbClr val="1A1433"/>
                </a:solidFill>
              </a:rPr>
              <a:t>Sistem keuangan, kesehatan, atau infrastruktur kritis</a:t>
            </a:r>
            <a:endParaRPr lang="en-US" sz="1800" dirty="0"/>
          </a:p>
          <a:p>
            <a:pPr marL="228600" indent="-228600">
              <a:spcAft>
                <a:spcPts val="2200"/>
              </a:spcAft>
              <a:buSzPct val="100000"/>
              <a:buChar char="•"/>
            </a:pPr>
            <a:r>
              <a:rPr lang="en-US" sz="1800" dirty="0">
                <a:solidFill>
                  <a:srgbClr val="1A1433"/>
                </a:solidFill>
              </a:rPr>
              <a:t>Aplikasi yang menyimpan data pribadi pengguna</a:t>
            </a:r>
            <a:endParaRPr lang="en-US" sz="1800" dirty="0"/>
          </a:p>
          <a:p>
            <a:pPr marL="228600" indent="-228600">
              <a:spcAft>
                <a:spcPts val="2200"/>
              </a:spcAft>
              <a:buSzPct val="100000"/>
              <a:buChar char="•"/>
            </a:pPr>
            <a:r>
              <a:rPr lang="en-US" sz="1800" dirty="0">
                <a:solidFill>
                  <a:srgbClr val="1A1433"/>
                </a:solidFill>
              </a:rPr>
              <a:t>Produk skala besar yang dirawat bertahun-tahun</a:t>
            </a:r>
            <a:endParaRPr lang="en-US" sz="1800" dirty="0"/>
          </a:p>
          <a:p>
            <a:pPr marL="228600" indent="-228600">
              <a:spcAft>
                <a:spcPts val="2200"/>
              </a:spcAft>
              <a:buSzPct val="100000"/>
              <a:buChar char="•"/>
            </a:pPr>
            <a:r>
              <a:rPr lang="en-US" sz="1800" dirty="0">
                <a:solidFill>
                  <a:srgbClr val="1A1433"/>
                </a:solidFill>
              </a:rPr>
              <a:t>Kode keamanan tanpa review manusia</a:t>
            </a:r>
            <a:endParaRPr lang="en-US" sz="1800" dirty="0"/>
          </a:p>
          <a:p>
            <a:pPr marL="228600" indent="-228600">
              <a:spcAft>
                <a:spcPts val="2200"/>
              </a:spcAft>
              <a:buSzPct val="100000"/>
              <a:buChar char="•"/>
            </a:pPr>
            <a:r>
              <a:rPr lang="en-US" sz="1800" dirty="0">
                <a:solidFill>
                  <a:srgbClr val="1A1433"/>
                </a:solidFill>
              </a:rPr>
              <a:t>Sistem dengan kewajiban kepatuhan regulasi</a:t>
            </a:r>
            <a:endParaRPr lang="en-US" sz="18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5677"/>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xt-336"/>
          <p:cNvSpPr txBox="1"/>
          <p:nvPr/>
        </p:nvSpPr>
        <p:spPr>
          <a:xfrm>
            <a:off x="822960" y="1463040"/>
            <a:ext cx="2743200" cy="1097280"/>
          </a:xfrm>
          <a:prstGeom prst="rect">
            <a:avLst/>
          </a:prstGeom>
          <a:noFill/>
          <a:ln/>
        </p:spPr>
        <p:txBody>
          <a:bodyPr wrap="square" lIns="0" tIns="0" rIns="0" bIns="0" rtlCol="0" anchor="b"/>
          <a:lstStyle/>
          <a:p>
            <a:pPr indent="0" marL="0">
              <a:buNone/>
            </a:pPr>
            <a:r>
              <a:rPr lang="en-US" sz="8000" b="1" dirty="0">
                <a:solidFill>
                  <a:srgbClr val="A78BFA"/>
                </a:solidFill>
                <a:latin typeface="Arial" pitchFamily="34" charset="0"/>
                <a:ea typeface="Arial" pitchFamily="34" charset="-122"/>
                <a:cs typeface="Arial" pitchFamily="34" charset="-120"/>
              </a:rPr>
              <a:t>05</a:t>
            </a:r>
            <a:endParaRPr lang="en-US" sz="8000" dirty="0"/>
          </a:p>
        </p:txBody>
      </p:sp>
      <p:sp>
        <p:nvSpPr>
          <p:cNvPr id="3" name="Text 0"/>
          <p:cNvSpPr/>
          <p:nvPr>
            <p:ph idx="100" type="title" hasCustomPrompt="1"/>
          </p:nvPr>
        </p:nvSpPr>
        <p:spPr>
          <a:xfrm>
            <a:off x="822960" y="2651760"/>
            <a:ext cx="7498080" cy="1280160"/>
          </a:xfrm>
          <a:prstGeom prst="rect">
            <a:avLst/>
          </a:prstGeom>
          <a:noFill/>
          <a:ln/>
        </p:spPr>
        <p:txBody>
          <a:bodyPr wrap="square" lIns="0" tIns="0" rIns="0" bIns="0" rtlCol="0" anchor="t"/>
          <a:lstStyle/>
          <a:p>
            <a:pPr algn="l" indent="0" marL="0">
              <a:buNone/>
            </a:pPr>
            <a:r>
              <a:rPr lang="en-US" sz="4400" b="1" dirty="0">
                <a:solidFill>
                  <a:schemeClr val="bg1"/>
                </a:solidFill>
                <a:latin typeface="Arial" pitchFamily="34" charset="0"/>
                <a:ea typeface="Arial" pitchFamily="34" charset="-122"/>
                <a:cs typeface="Arial" pitchFamily="34" charset="-120"/>
              </a:rPr>
              <a:t>Risiko &amp; Keamanan</a:t>
            </a:r>
            <a:endParaRPr lang="en-US" sz="4400" dirty="0"/>
          </a:p>
        </p:txBody>
      </p:sp>
      <p:sp>
        <p:nvSpPr>
          <p:cNvPr id="4" name="Text 0"/>
          <p:cNvSpPr/>
          <p:nvPr>
            <p:ph idx="101" type="body" hasCustomPrompt="1"/>
          </p:nvPr>
        </p:nvSpPr>
        <p:spPr>
          <a:xfrm>
            <a:off x="822960" y="3977640"/>
            <a:ext cx="6949440" cy="914400"/>
          </a:xfrm>
          <a:prstGeom prst="rect">
            <a:avLst/>
          </a:prstGeom>
          <a:noFill/>
          <a:ln/>
        </p:spPr>
        <p:txBody>
          <a:bodyPr wrap="square" lIns="0" tIns="0" rIns="0" bIns="0" rtlCol="0" anchor="t"/>
          <a:lstStyle/>
          <a:p>
            <a:pPr indent="0" marL="0">
              <a:buNone/>
            </a:pPr>
            <a:r>
              <a:rPr lang="en-US" sz="1800" dirty="0">
                <a:solidFill>
                  <a:srgbClr val="D8CCFF"/>
                </a:solidFill>
                <a:latin typeface="Calibri" pitchFamily="34" charset="0"/>
                <a:ea typeface="Calibri" pitchFamily="34" charset="-122"/>
                <a:cs typeface="Calibri" pitchFamily="34" charset="-120"/>
              </a:rPr>
              <a:t>Apa kata riset tentang kode buatan AI, dan cara merilis aplikasi dengan aman</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Kode yang berjalan belum tentu aman</a:t>
            </a:r>
            <a:endParaRPr lang="en-US" sz="3200" dirty="0"/>
          </a:p>
        </p:txBody>
      </p:sp>
      <p:sp>
        <p:nvSpPr>
          <p:cNvPr id="3" name="card-337"/>
          <p:cNvSpPr/>
          <p:nvPr/>
        </p:nvSpPr>
        <p:spPr>
          <a:xfrm>
            <a:off x="548640" y="1463040"/>
            <a:ext cx="3520440" cy="3429000"/>
          </a:xfrm>
          <a:prstGeom prst="roundRect">
            <a:avLst>
              <a:gd name="adj" fmla="val 4000"/>
            </a:avLst>
          </a:prstGeom>
          <a:solidFill>
            <a:schemeClr val="bg1"/>
          </a:solidFill>
          <a:ln w="12700">
            <a:solidFill>
              <a:srgbClr val="E9E5FF"/>
            </a:solidFill>
            <a:prstDash val="solid"/>
          </a:ln>
          <a:effectLst>
            <a:outerShdw sx="100000" sy="100000" kx="0" ky="0" algn="bl" rotWithShape="0" blurRad="127000" dist="38100" dir="5400000">
              <a:srgbClr val="1A1433">
                <a:alpha val="12000"/>
              </a:srgbClr>
            </a:outerShdw>
          </a:effectLst>
        </p:spPr>
      </p:sp>
      <p:sp>
        <p:nvSpPr>
          <p:cNvPr id="4" name="txt-338"/>
          <p:cNvSpPr txBox="1"/>
          <p:nvPr/>
        </p:nvSpPr>
        <p:spPr>
          <a:xfrm>
            <a:off x="868680" y="1691640"/>
            <a:ext cx="2880360" cy="1143000"/>
          </a:xfrm>
          <a:prstGeom prst="rect">
            <a:avLst/>
          </a:prstGeom>
          <a:noFill/>
          <a:ln/>
        </p:spPr>
        <p:txBody>
          <a:bodyPr wrap="square" lIns="0" tIns="0" rIns="0" bIns="0" rtlCol="0" anchor="t"/>
          <a:lstStyle/>
          <a:p>
            <a:pPr indent="0" marL="0">
              <a:buNone/>
            </a:pPr>
            <a:r>
              <a:rPr lang="en-US" sz="6600" b="1" dirty="0">
                <a:solidFill>
                  <a:schemeClr val="accent6"/>
                </a:solidFill>
                <a:latin typeface="Arial" pitchFamily="34" charset="0"/>
                <a:ea typeface="Arial" pitchFamily="34" charset="-122"/>
                <a:cs typeface="Arial" pitchFamily="34" charset="-120"/>
              </a:rPr>
              <a:t>45%</a:t>
            </a:r>
            <a:endParaRPr lang="en-US" sz="6600" dirty="0"/>
          </a:p>
        </p:txBody>
      </p:sp>
      <p:sp>
        <p:nvSpPr>
          <p:cNvPr id="5" name="txt-339"/>
          <p:cNvSpPr txBox="1"/>
          <p:nvPr/>
        </p:nvSpPr>
        <p:spPr>
          <a:xfrm>
            <a:off x="868680" y="2880360"/>
            <a:ext cx="2880360" cy="1097280"/>
          </a:xfrm>
          <a:prstGeom prst="rect">
            <a:avLst/>
          </a:prstGeom>
          <a:noFill/>
          <a:ln/>
        </p:spPr>
        <p:txBody>
          <a:bodyPr wrap="square" lIns="0" tIns="0" rIns="0" bIns="0" rtlCol="0" anchor="t"/>
          <a:lstStyle/>
          <a:p>
            <a:pPr indent="0" marL="0">
              <a:buNone/>
            </a:pPr>
            <a:r>
              <a:rPr lang="en-US" sz="1600" b="1" dirty="0">
                <a:solidFill>
                  <a:schemeClr val="tx1"/>
                </a:solidFill>
              </a:rPr>
              <a:t>sampel kode buatan AI gagal uji keamanan OWASP Top 10</a:t>
            </a:r>
            <a:endParaRPr lang="en-US" sz="1600" dirty="0"/>
          </a:p>
        </p:txBody>
      </p:sp>
      <p:sp>
        <p:nvSpPr>
          <p:cNvPr id="6" name="txt-340"/>
          <p:cNvSpPr txBox="1"/>
          <p:nvPr/>
        </p:nvSpPr>
        <p:spPr>
          <a:xfrm>
            <a:off x="868680" y="4069080"/>
            <a:ext cx="2880360" cy="640080"/>
          </a:xfrm>
          <a:prstGeom prst="rect">
            <a:avLst/>
          </a:prstGeom>
          <a:noFill/>
          <a:ln/>
        </p:spPr>
        <p:txBody>
          <a:bodyPr wrap="square" lIns="0" tIns="0" rIns="0" bIns="0" rtlCol="0" anchor="t"/>
          <a:lstStyle/>
          <a:p>
            <a:pPr indent="0" marL="0">
              <a:buNone/>
            </a:pPr>
            <a:r>
              <a:rPr lang="en-US" sz="1100" dirty="0">
                <a:solidFill>
                  <a:srgbClr val="5B5677"/>
                </a:solidFill>
              </a:rPr>
              <a:t>Veracode GenAI Code Security Report 2025 — 100+ LLM, 80 tugas coding</a:t>
            </a:r>
            <a:endParaRPr lang="en-US" sz="1100" dirty="0"/>
          </a:p>
        </p:txBody>
      </p:sp>
      <p:sp>
        <p:nvSpPr>
          <p:cNvPr id="7" name="card-341"/>
          <p:cNvSpPr/>
          <p:nvPr/>
        </p:nvSpPr>
        <p:spPr>
          <a:xfrm>
            <a:off x="4320540" y="1463040"/>
            <a:ext cx="3520440" cy="3429000"/>
          </a:xfrm>
          <a:prstGeom prst="roundRect">
            <a:avLst>
              <a:gd name="adj" fmla="val 4000"/>
            </a:avLst>
          </a:prstGeom>
          <a:solidFill>
            <a:schemeClr val="bg1"/>
          </a:solidFill>
          <a:ln w="12700">
            <a:solidFill>
              <a:srgbClr val="E9E5FF"/>
            </a:solidFill>
            <a:prstDash val="solid"/>
          </a:ln>
          <a:effectLst>
            <a:outerShdw sx="100000" sy="100000" kx="0" ky="0" algn="bl" rotWithShape="0" blurRad="127000" dist="38100" dir="5400000">
              <a:srgbClr val="1A1433">
                <a:alpha val="12000"/>
              </a:srgbClr>
            </a:outerShdw>
          </a:effectLst>
        </p:spPr>
      </p:sp>
      <p:sp>
        <p:nvSpPr>
          <p:cNvPr id="8" name="txt-342"/>
          <p:cNvSpPr txBox="1"/>
          <p:nvPr/>
        </p:nvSpPr>
        <p:spPr>
          <a:xfrm>
            <a:off x="4640580" y="1691640"/>
            <a:ext cx="2880360" cy="1143000"/>
          </a:xfrm>
          <a:prstGeom prst="rect">
            <a:avLst/>
          </a:prstGeom>
          <a:noFill/>
          <a:ln/>
        </p:spPr>
        <p:txBody>
          <a:bodyPr wrap="square" lIns="0" tIns="0" rIns="0" bIns="0" rtlCol="0" anchor="t"/>
          <a:lstStyle/>
          <a:p>
            <a:pPr indent="0" marL="0">
              <a:buNone/>
            </a:pPr>
            <a:r>
              <a:rPr lang="en-US" sz="6600" b="1" dirty="0">
                <a:solidFill>
                  <a:schemeClr val="accent2"/>
                </a:solidFill>
                <a:latin typeface="Arial" pitchFamily="34" charset="0"/>
                <a:ea typeface="Arial" pitchFamily="34" charset="-122"/>
                <a:cs typeface="Arial" pitchFamily="34" charset="-120"/>
              </a:rPr>
              <a:t>62%</a:t>
            </a:r>
            <a:endParaRPr lang="en-US" sz="6600" dirty="0"/>
          </a:p>
        </p:txBody>
      </p:sp>
      <p:sp>
        <p:nvSpPr>
          <p:cNvPr id="9" name="txt-343"/>
          <p:cNvSpPr txBox="1"/>
          <p:nvPr/>
        </p:nvSpPr>
        <p:spPr>
          <a:xfrm>
            <a:off x="4640580" y="2880360"/>
            <a:ext cx="2880360" cy="1097280"/>
          </a:xfrm>
          <a:prstGeom prst="rect">
            <a:avLst/>
          </a:prstGeom>
          <a:noFill/>
          <a:ln/>
        </p:spPr>
        <p:txBody>
          <a:bodyPr wrap="square" lIns="0" tIns="0" rIns="0" bIns="0" rtlCol="0" anchor="t"/>
          <a:lstStyle/>
          <a:p>
            <a:pPr indent="0" marL="0">
              <a:buNone/>
            </a:pPr>
            <a:r>
              <a:rPr lang="en-US" sz="1600" b="1" dirty="0">
                <a:solidFill>
                  <a:schemeClr val="tx1"/>
                </a:solidFill>
              </a:rPr>
              <a:t>solusi kode buatan AI mengandung cacat desain atau kerentanan yang dikenal</a:t>
            </a:r>
            <a:endParaRPr lang="en-US" sz="1600" dirty="0"/>
          </a:p>
        </p:txBody>
      </p:sp>
      <p:sp>
        <p:nvSpPr>
          <p:cNvPr id="10" name="txt-344"/>
          <p:cNvSpPr txBox="1"/>
          <p:nvPr/>
        </p:nvSpPr>
        <p:spPr>
          <a:xfrm>
            <a:off x="4640580" y="4069080"/>
            <a:ext cx="2880360" cy="640080"/>
          </a:xfrm>
          <a:prstGeom prst="rect">
            <a:avLst/>
          </a:prstGeom>
          <a:noFill/>
          <a:ln/>
        </p:spPr>
        <p:txBody>
          <a:bodyPr wrap="square" lIns="0" tIns="0" rIns="0" bIns="0" rtlCol="0" anchor="t"/>
          <a:lstStyle/>
          <a:p>
            <a:pPr indent="0" marL="0">
              <a:buNone/>
            </a:pPr>
            <a:r>
              <a:rPr lang="en-US" sz="1100" dirty="0">
                <a:solidFill>
                  <a:srgbClr val="5B5677"/>
                </a:solidFill>
              </a:rPr>
              <a:t>Cloud Security Alliance, Juli 2025</a:t>
            </a:r>
            <a:endParaRPr lang="en-US" sz="1100" dirty="0"/>
          </a:p>
        </p:txBody>
      </p:sp>
      <p:sp>
        <p:nvSpPr>
          <p:cNvPr id="11" name="card-345"/>
          <p:cNvSpPr/>
          <p:nvPr/>
        </p:nvSpPr>
        <p:spPr>
          <a:xfrm>
            <a:off x="8092440" y="1463040"/>
            <a:ext cx="3520440" cy="3429000"/>
          </a:xfrm>
          <a:prstGeom prst="roundRect">
            <a:avLst>
              <a:gd name="adj" fmla="val 4000"/>
            </a:avLst>
          </a:prstGeom>
          <a:solidFill>
            <a:schemeClr val="bg1"/>
          </a:solidFill>
          <a:ln w="12700">
            <a:solidFill>
              <a:srgbClr val="E9E5FF"/>
            </a:solidFill>
            <a:prstDash val="solid"/>
          </a:ln>
          <a:effectLst>
            <a:outerShdw sx="100000" sy="100000" kx="0" ky="0" algn="bl" rotWithShape="0" blurRad="127000" dist="38100" dir="5400000">
              <a:srgbClr val="1A1433">
                <a:alpha val="12000"/>
              </a:srgbClr>
            </a:outerShdw>
          </a:effectLst>
        </p:spPr>
      </p:sp>
      <p:sp>
        <p:nvSpPr>
          <p:cNvPr id="12" name="txt-346"/>
          <p:cNvSpPr txBox="1"/>
          <p:nvPr/>
        </p:nvSpPr>
        <p:spPr>
          <a:xfrm>
            <a:off x="8412480" y="1691640"/>
            <a:ext cx="2880360" cy="1143000"/>
          </a:xfrm>
          <a:prstGeom prst="rect">
            <a:avLst/>
          </a:prstGeom>
          <a:noFill/>
          <a:ln/>
        </p:spPr>
        <p:txBody>
          <a:bodyPr wrap="square" lIns="0" tIns="0" rIns="0" bIns="0" rtlCol="0" anchor="t"/>
          <a:lstStyle/>
          <a:p>
            <a:pPr indent="0" marL="0">
              <a:buNone/>
            </a:pPr>
            <a:r>
              <a:rPr lang="en-US" sz="6600" b="1" dirty="0">
                <a:solidFill>
                  <a:schemeClr val="accent1"/>
                </a:solidFill>
                <a:latin typeface="Arial" pitchFamily="34" charset="0"/>
                <a:ea typeface="Arial" pitchFamily="34" charset="-122"/>
                <a:cs typeface="Arial" pitchFamily="34" charset="-120"/>
              </a:rPr>
              <a:t>20%</a:t>
            </a:r>
            <a:endParaRPr lang="en-US" sz="6600" dirty="0"/>
          </a:p>
        </p:txBody>
      </p:sp>
      <p:sp>
        <p:nvSpPr>
          <p:cNvPr id="13" name="txt-347"/>
          <p:cNvSpPr txBox="1"/>
          <p:nvPr/>
        </p:nvSpPr>
        <p:spPr>
          <a:xfrm>
            <a:off x="8412480" y="2880360"/>
            <a:ext cx="2880360" cy="1097280"/>
          </a:xfrm>
          <a:prstGeom prst="rect">
            <a:avLst/>
          </a:prstGeom>
          <a:noFill/>
          <a:ln/>
        </p:spPr>
        <p:txBody>
          <a:bodyPr wrap="square" lIns="0" tIns="0" rIns="0" bIns="0" rtlCol="0" anchor="t"/>
          <a:lstStyle/>
          <a:p>
            <a:pPr indent="0" marL="0">
              <a:buNone/>
            </a:pPr>
            <a:r>
              <a:rPr lang="en-US" sz="1600" b="1" dirty="0">
                <a:solidFill>
                  <a:schemeClr val="tx1"/>
                </a:solidFill>
              </a:rPr>
              <a:t>aplikasi hasil vibe coding memiliki kerentanan serius atau salah konfigurasi</a:t>
            </a:r>
            <a:endParaRPr lang="en-US" sz="1600" dirty="0"/>
          </a:p>
        </p:txBody>
      </p:sp>
      <p:sp>
        <p:nvSpPr>
          <p:cNvPr id="14" name="txt-348"/>
          <p:cNvSpPr txBox="1"/>
          <p:nvPr/>
        </p:nvSpPr>
        <p:spPr>
          <a:xfrm>
            <a:off x="8412480" y="4069080"/>
            <a:ext cx="2880360" cy="640080"/>
          </a:xfrm>
          <a:prstGeom prst="rect">
            <a:avLst/>
          </a:prstGeom>
          <a:noFill/>
          <a:ln/>
        </p:spPr>
        <p:txBody>
          <a:bodyPr wrap="square" lIns="0" tIns="0" rIns="0" bIns="0" rtlCol="0" anchor="t"/>
          <a:lstStyle/>
          <a:p>
            <a:pPr indent="0" marL="0">
              <a:buNone/>
            </a:pPr>
            <a:r>
              <a:rPr lang="en-US" sz="1100" dirty="0">
                <a:solidFill>
                  <a:srgbClr val="5B5677"/>
                </a:solidFill>
              </a:rPr>
              <a:t>Studi Wiz, dikutip Kaspersky</a:t>
            </a:r>
            <a:endParaRPr lang="en-US" sz="1100" dirty="0"/>
          </a:p>
        </p:txBody>
      </p:sp>
      <p:sp>
        <p:nvSpPr>
          <p:cNvPr id="15" name="card-349"/>
          <p:cNvSpPr/>
          <p:nvPr/>
        </p:nvSpPr>
        <p:spPr>
          <a:xfrm>
            <a:off x="548640" y="5166360"/>
            <a:ext cx="11064240" cy="914400"/>
          </a:xfrm>
          <a:prstGeom prst="roundRect">
            <a:avLst>
              <a:gd name="adj" fmla="val 15000"/>
            </a:avLst>
          </a:prstGeom>
          <a:solidFill>
            <a:schemeClr val="tx2"/>
          </a:solidFill>
          <a:ln/>
        </p:spPr>
      </p:sp>
      <p:sp>
        <p:nvSpPr>
          <p:cNvPr id="16" name="iconbg-350"/>
          <p:cNvSpPr/>
          <p:nvPr/>
        </p:nvSpPr>
        <p:spPr>
          <a:xfrm>
            <a:off x="777240" y="5303520"/>
            <a:ext cx="640080" cy="640080"/>
          </a:xfrm>
          <a:prstGeom prst="ellipse">
            <a:avLst/>
          </a:prstGeom>
          <a:solidFill>
            <a:schemeClr val="accent4"/>
          </a:solidFill>
          <a:ln/>
        </p:spPr>
      </p:sp>
      <p:pic>
        <p:nvPicPr>
          <p:cNvPr id="17" name="icon-351" descr="preencoded.png">    </p:cNvPr>
          <p:cNvPicPr>
            <a:picLocks noChangeAspect="1"/>
          </p:cNvPicPr>
          <p:nvPr/>
        </p:nvPicPr>
        <p:blipFill>
          <a:blip r:embed="rId1"/>
          <a:stretch>
            <a:fillRect/>
          </a:stretch>
        </p:blipFill>
        <p:spPr>
          <a:xfrm>
            <a:off x="930859" y="5457139"/>
            <a:ext cx="332842" cy="332842"/>
          </a:xfrm>
          <a:prstGeom prst="rect">
            <a:avLst/>
          </a:prstGeom>
        </p:spPr>
      </p:pic>
      <p:sp>
        <p:nvSpPr>
          <p:cNvPr id="18" name="txt-352"/>
          <p:cNvSpPr txBox="1"/>
          <p:nvPr/>
        </p:nvSpPr>
        <p:spPr>
          <a:xfrm>
            <a:off x="1600200" y="5166360"/>
            <a:ext cx="9784080" cy="914400"/>
          </a:xfrm>
          <a:prstGeom prst="rect">
            <a:avLst/>
          </a:prstGeom>
          <a:noFill/>
          <a:ln/>
        </p:spPr>
        <p:txBody>
          <a:bodyPr wrap="square" lIns="0" tIns="0" rIns="0" bIns="0" rtlCol="0" anchor="ctr"/>
          <a:lstStyle/>
          <a:p>
            <a:pPr indent="0" marL="0">
              <a:buNone/>
            </a:pPr>
            <a:r>
              <a:rPr lang="en-US" sz="1550" dirty="0">
                <a:solidFill>
                  <a:srgbClr val="FFFFFF"/>
                </a:solidFill>
              </a:rPr>
              <a:t>Masalahnya bukan AI menulis kode yang tidak jalan — melainkan kode yang jalan dengan baik namun membuka celah keamanan yang tidak terlihat.</a:t>
            </a:r>
            <a:endParaRPr lang="en-US" sz="155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5677"/>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Enam risiko utama yang perlu diwaspadai</a:t>
            </a:r>
            <a:endParaRPr lang="en-US" sz="3200" dirty="0"/>
          </a:p>
        </p:txBody>
      </p:sp>
      <p:sp>
        <p:nvSpPr>
          <p:cNvPr id="3" name="iconbg-353"/>
          <p:cNvSpPr/>
          <p:nvPr/>
        </p:nvSpPr>
        <p:spPr>
          <a:xfrm>
            <a:off x="548640" y="1463040"/>
            <a:ext cx="640080" cy="640080"/>
          </a:xfrm>
          <a:prstGeom prst="ellipse">
            <a:avLst/>
          </a:prstGeom>
          <a:solidFill>
            <a:schemeClr val="accent6"/>
          </a:solidFill>
          <a:ln/>
        </p:spPr>
      </p:sp>
      <p:pic>
        <p:nvPicPr>
          <p:cNvPr id="4" name="icon-354" descr="preencoded.png">    </p:cNvPr>
          <p:cNvPicPr>
            <a:picLocks noChangeAspect="1"/>
          </p:cNvPicPr>
          <p:nvPr/>
        </p:nvPicPr>
        <p:blipFill>
          <a:blip r:embed="rId1"/>
          <a:stretch>
            <a:fillRect/>
          </a:stretch>
        </p:blipFill>
        <p:spPr>
          <a:xfrm>
            <a:off x="702259" y="1616659"/>
            <a:ext cx="332842" cy="332842"/>
          </a:xfrm>
          <a:prstGeom prst="rect">
            <a:avLst/>
          </a:prstGeom>
        </p:spPr>
      </p:pic>
      <p:sp>
        <p:nvSpPr>
          <p:cNvPr id="5" name="txt-355"/>
          <p:cNvSpPr txBox="1"/>
          <p:nvPr/>
        </p:nvSpPr>
        <p:spPr>
          <a:xfrm>
            <a:off x="1371600" y="1417320"/>
            <a:ext cx="2697480"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Celah keamanan klasik</a:t>
            </a:r>
            <a:endParaRPr lang="en-US" sz="1700" dirty="0"/>
          </a:p>
        </p:txBody>
      </p:sp>
      <p:sp>
        <p:nvSpPr>
          <p:cNvPr id="6" name="txt-356"/>
          <p:cNvSpPr txBox="1"/>
          <p:nvPr/>
        </p:nvSpPr>
        <p:spPr>
          <a:xfrm>
            <a:off x="1371600" y="1801368"/>
            <a:ext cx="2697480" cy="822960"/>
          </a:xfrm>
          <a:prstGeom prst="rect">
            <a:avLst/>
          </a:prstGeom>
          <a:noFill/>
          <a:ln/>
        </p:spPr>
        <p:txBody>
          <a:bodyPr wrap="square" lIns="0" tIns="0" rIns="0" bIns="0" rtlCol="0" anchor="t"/>
          <a:lstStyle/>
          <a:p>
            <a:pPr indent="0" marL="0">
              <a:buNone/>
            </a:pPr>
            <a:r>
              <a:rPr lang="en-US" sz="1400" dirty="0">
                <a:solidFill>
                  <a:srgbClr val="5B5677"/>
                </a:solidFill>
              </a:rPr>
              <a:t>Injeksi SQL, XSS, dan input yang tidak divalidasi.</a:t>
            </a:r>
            <a:endParaRPr lang="en-US" sz="1400" dirty="0"/>
          </a:p>
        </p:txBody>
      </p:sp>
      <p:sp>
        <p:nvSpPr>
          <p:cNvPr id="7" name="iconbg-357"/>
          <p:cNvSpPr/>
          <p:nvPr/>
        </p:nvSpPr>
        <p:spPr>
          <a:xfrm>
            <a:off x="4343400" y="1463040"/>
            <a:ext cx="640080" cy="640080"/>
          </a:xfrm>
          <a:prstGeom prst="ellipse">
            <a:avLst/>
          </a:prstGeom>
          <a:solidFill>
            <a:schemeClr val="accent6"/>
          </a:solidFill>
          <a:ln/>
        </p:spPr>
      </p:sp>
      <p:pic>
        <p:nvPicPr>
          <p:cNvPr id="8" name="icon-358" descr="preencoded.png">    </p:cNvPr>
          <p:cNvPicPr>
            <a:picLocks noChangeAspect="1"/>
          </p:cNvPicPr>
          <p:nvPr/>
        </p:nvPicPr>
        <p:blipFill>
          <a:blip r:embed="rId2"/>
          <a:stretch>
            <a:fillRect/>
          </a:stretch>
        </p:blipFill>
        <p:spPr>
          <a:xfrm>
            <a:off x="4497019" y="1616659"/>
            <a:ext cx="332842" cy="332842"/>
          </a:xfrm>
          <a:prstGeom prst="rect">
            <a:avLst/>
          </a:prstGeom>
        </p:spPr>
      </p:pic>
      <p:sp>
        <p:nvSpPr>
          <p:cNvPr id="9" name="txt-359"/>
          <p:cNvSpPr txBox="1"/>
          <p:nvPr/>
        </p:nvSpPr>
        <p:spPr>
          <a:xfrm>
            <a:off x="5166360" y="1417320"/>
            <a:ext cx="2697480"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Kebocoran rahasia</a:t>
            </a:r>
            <a:endParaRPr lang="en-US" sz="1700" dirty="0"/>
          </a:p>
        </p:txBody>
      </p:sp>
      <p:sp>
        <p:nvSpPr>
          <p:cNvPr id="10" name="txt-360"/>
          <p:cNvSpPr txBox="1"/>
          <p:nvPr/>
        </p:nvSpPr>
        <p:spPr>
          <a:xfrm>
            <a:off x="5166360" y="1801368"/>
            <a:ext cx="2697480" cy="822960"/>
          </a:xfrm>
          <a:prstGeom prst="rect">
            <a:avLst/>
          </a:prstGeom>
          <a:noFill/>
          <a:ln/>
        </p:spPr>
        <p:txBody>
          <a:bodyPr wrap="square" lIns="0" tIns="0" rIns="0" bIns="0" rtlCol="0" anchor="t"/>
          <a:lstStyle/>
          <a:p>
            <a:pPr indent="0" marL="0">
              <a:buNone/>
            </a:pPr>
            <a:r>
              <a:rPr lang="en-US" sz="1400" dirty="0">
                <a:solidFill>
                  <a:srgbClr val="5B5677"/>
                </a:solidFill>
              </a:rPr>
              <a:t>API key atau password tertanam langsung di kode.</a:t>
            </a:r>
            <a:endParaRPr lang="en-US" sz="1400" dirty="0"/>
          </a:p>
        </p:txBody>
      </p:sp>
      <p:sp>
        <p:nvSpPr>
          <p:cNvPr id="11" name="iconbg-361"/>
          <p:cNvSpPr/>
          <p:nvPr/>
        </p:nvSpPr>
        <p:spPr>
          <a:xfrm>
            <a:off x="548640" y="3147365"/>
            <a:ext cx="640080" cy="640080"/>
          </a:xfrm>
          <a:prstGeom prst="ellipse">
            <a:avLst/>
          </a:prstGeom>
          <a:solidFill>
            <a:schemeClr val="accent6"/>
          </a:solidFill>
          <a:ln/>
        </p:spPr>
      </p:sp>
      <p:pic>
        <p:nvPicPr>
          <p:cNvPr id="12" name="icon-362" descr="preencoded.png">    </p:cNvPr>
          <p:cNvPicPr>
            <a:picLocks noChangeAspect="1"/>
          </p:cNvPicPr>
          <p:nvPr/>
        </p:nvPicPr>
        <p:blipFill>
          <a:blip r:embed="rId3"/>
          <a:stretch>
            <a:fillRect/>
          </a:stretch>
        </p:blipFill>
        <p:spPr>
          <a:xfrm>
            <a:off x="702259" y="3300984"/>
            <a:ext cx="332842" cy="332842"/>
          </a:xfrm>
          <a:prstGeom prst="rect">
            <a:avLst/>
          </a:prstGeom>
        </p:spPr>
      </p:pic>
      <p:sp>
        <p:nvSpPr>
          <p:cNvPr id="13" name="txt-363"/>
          <p:cNvSpPr txBox="1"/>
          <p:nvPr/>
        </p:nvSpPr>
        <p:spPr>
          <a:xfrm>
            <a:off x="1371600" y="3101645"/>
            <a:ext cx="2697480"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Aturan akses terlupa</a:t>
            </a:r>
            <a:endParaRPr lang="en-US" sz="1700" dirty="0"/>
          </a:p>
        </p:txBody>
      </p:sp>
      <p:sp>
        <p:nvSpPr>
          <p:cNvPr id="14" name="txt-364"/>
          <p:cNvSpPr txBox="1"/>
          <p:nvPr/>
        </p:nvSpPr>
        <p:spPr>
          <a:xfrm>
            <a:off x="1371600" y="3485693"/>
            <a:ext cx="2697480" cy="822960"/>
          </a:xfrm>
          <a:prstGeom prst="rect">
            <a:avLst/>
          </a:prstGeom>
          <a:noFill/>
          <a:ln/>
        </p:spPr>
        <p:txBody>
          <a:bodyPr wrap="square" lIns="0" tIns="0" rIns="0" bIns="0" rtlCol="0" anchor="t"/>
          <a:lstStyle/>
          <a:p>
            <a:pPr indent="0" marL="0">
              <a:buNone/>
            </a:pPr>
            <a:r>
              <a:rPr lang="en-US" sz="1400" dirty="0">
                <a:solidFill>
                  <a:srgbClr val="5B5677"/>
                </a:solidFill>
              </a:rPr>
              <a:t>Database terbuka karena otorisasi tidak dikonfigurasi.</a:t>
            </a:r>
            <a:endParaRPr lang="en-US" sz="1400" dirty="0"/>
          </a:p>
        </p:txBody>
      </p:sp>
      <p:sp>
        <p:nvSpPr>
          <p:cNvPr id="15" name="iconbg-365"/>
          <p:cNvSpPr/>
          <p:nvPr/>
        </p:nvSpPr>
        <p:spPr>
          <a:xfrm>
            <a:off x="4343400" y="3147365"/>
            <a:ext cx="640080" cy="640080"/>
          </a:xfrm>
          <a:prstGeom prst="ellipse">
            <a:avLst/>
          </a:prstGeom>
          <a:solidFill>
            <a:schemeClr val="accent4"/>
          </a:solidFill>
          <a:ln/>
        </p:spPr>
      </p:sp>
      <p:pic>
        <p:nvPicPr>
          <p:cNvPr id="16" name="icon-366" descr="preencoded.png">    </p:cNvPr>
          <p:cNvPicPr>
            <a:picLocks noChangeAspect="1"/>
          </p:cNvPicPr>
          <p:nvPr/>
        </p:nvPicPr>
        <p:blipFill>
          <a:blip r:embed="rId4"/>
          <a:stretch>
            <a:fillRect/>
          </a:stretch>
        </p:blipFill>
        <p:spPr>
          <a:xfrm>
            <a:off x="4497019" y="3300984"/>
            <a:ext cx="332842" cy="332842"/>
          </a:xfrm>
          <a:prstGeom prst="rect">
            <a:avLst/>
          </a:prstGeom>
        </p:spPr>
      </p:pic>
      <p:sp>
        <p:nvSpPr>
          <p:cNvPr id="17" name="txt-367"/>
          <p:cNvSpPr txBox="1"/>
          <p:nvPr/>
        </p:nvSpPr>
        <p:spPr>
          <a:xfrm>
            <a:off x="5166360" y="3101645"/>
            <a:ext cx="2697480"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Utang teknis</a:t>
            </a:r>
            <a:endParaRPr lang="en-US" sz="1700" dirty="0"/>
          </a:p>
        </p:txBody>
      </p:sp>
      <p:sp>
        <p:nvSpPr>
          <p:cNvPr id="18" name="txt-368"/>
          <p:cNvSpPr txBox="1"/>
          <p:nvPr/>
        </p:nvSpPr>
        <p:spPr>
          <a:xfrm>
            <a:off x="5166360" y="3485693"/>
            <a:ext cx="2697480" cy="822960"/>
          </a:xfrm>
          <a:prstGeom prst="rect">
            <a:avLst/>
          </a:prstGeom>
          <a:noFill/>
          <a:ln/>
        </p:spPr>
        <p:txBody>
          <a:bodyPr wrap="square" lIns="0" tIns="0" rIns="0" bIns="0" rtlCol="0" anchor="t"/>
          <a:lstStyle/>
          <a:p>
            <a:pPr indent="0" marL="0">
              <a:buNone/>
            </a:pPr>
            <a:r>
              <a:rPr lang="en-US" sz="1400" dirty="0">
                <a:solidFill>
                  <a:srgbClr val="5B5677"/>
                </a:solidFill>
              </a:rPr>
              <a:t>Kode menumpuk, sulit dipahami dan dirawat.</a:t>
            </a:r>
            <a:endParaRPr lang="en-US" sz="1400" dirty="0"/>
          </a:p>
        </p:txBody>
      </p:sp>
      <p:sp>
        <p:nvSpPr>
          <p:cNvPr id="19" name="iconbg-369"/>
          <p:cNvSpPr/>
          <p:nvPr/>
        </p:nvSpPr>
        <p:spPr>
          <a:xfrm>
            <a:off x="548640" y="4831690"/>
            <a:ext cx="640080" cy="640080"/>
          </a:xfrm>
          <a:prstGeom prst="ellipse">
            <a:avLst/>
          </a:prstGeom>
          <a:solidFill>
            <a:schemeClr val="accent4"/>
          </a:solidFill>
          <a:ln/>
        </p:spPr>
      </p:sp>
      <p:pic>
        <p:nvPicPr>
          <p:cNvPr id="20" name="icon-370" descr="preencoded.png">    </p:cNvPr>
          <p:cNvPicPr>
            <a:picLocks noChangeAspect="1"/>
          </p:cNvPicPr>
          <p:nvPr/>
        </p:nvPicPr>
        <p:blipFill>
          <a:blip r:embed="rId5"/>
          <a:stretch>
            <a:fillRect/>
          </a:stretch>
        </p:blipFill>
        <p:spPr>
          <a:xfrm>
            <a:off x="702259" y="4985309"/>
            <a:ext cx="332842" cy="332842"/>
          </a:xfrm>
          <a:prstGeom prst="rect">
            <a:avLst/>
          </a:prstGeom>
        </p:spPr>
      </p:pic>
      <p:sp>
        <p:nvSpPr>
          <p:cNvPr id="21" name="txt-371"/>
          <p:cNvSpPr txBox="1"/>
          <p:nvPr/>
        </p:nvSpPr>
        <p:spPr>
          <a:xfrm>
            <a:off x="1371600" y="4785970"/>
            <a:ext cx="2697480"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Revisi berulang</a:t>
            </a:r>
            <a:endParaRPr lang="en-US" sz="1700" dirty="0"/>
          </a:p>
        </p:txBody>
      </p:sp>
      <p:sp>
        <p:nvSpPr>
          <p:cNvPr id="22" name="txt-372"/>
          <p:cNvSpPr txBox="1"/>
          <p:nvPr/>
        </p:nvSpPr>
        <p:spPr>
          <a:xfrm>
            <a:off x="1371600" y="5170018"/>
            <a:ext cx="2697480" cy="822960"/>
          </a:xfrm>
          <a:prstGeom prst="rect">
            <a:avLst/>
          </a:prstGeom>
          <a:noFill/>
          <a:ln/>
        </p:spPr>
        <p:txBody>
          <a:bodyPr wrap="square" lIns="0" tIns="0" rIns="0" bIns="0" rtlCol="0" anchor="t"/>
          <a:lstStyle/>
          <a:p>
            <a:pPr indent="0" marL="0">
              <a:buNone/>
            </a:pPr>
            <a:r>
              <a:rPr lang="en-US" sz="1400" dirty="0">
                <a:solidFill>
                  <a:srgbClr val="5B5677"/>
                </a:solidFill>
              </a:rPr>
              <a:t>Keamanan cenderung menurun setelah banyak putaran prompt.</a:t>
            </a:r>
            <a:endParaRPr lang="en-US" sz="1400" dirty="0"/>
          </a:p>
        </p:txBody>
      </p:sp>
      <p:sp>
        <p:nvSpPr>
          <p:cNvPr id="23" name="iconbg-373"/>
          <p:cNvSpPr/>
          <p:nvPr/>
        </p:nvSpPr>
        <p:spPr>
          <a:xfrm>
            <a:off x="4343400" y="4831690"/>
            <a:ext cx="640080" cy="640080"/>
          </a:xfrm>
          <a:prstGeom prst="ellipse">
            <a:avLst/>
          </a:prstGeom>
          <a:solidFill>
            <a:schemeClr val="accent4"/>
          </a:solidFill>
          <a:ln/>
        </p:spPr>
      </p:sp>
      <p:pic>
        <p:nvPicPr>
          <p:cNvPr id="24" name="icon-374" descr="preencoded.png">    </p:cNvPr>
          <p:cNvPicPr>
            <a:picLocks noChangeAspect="1"/>
          </p:cNvPicPr>
          <p:nvPr/>
        </p:nvPicPr>
        <p:blipFill>
          <a:blip r:embed="rId6"/>
          <a:stretch>
            <a:fillRect/>
          </a:stretch>
        </p:blipFill>
        <p:spPr>
          <a:xfrm>
            <a:off x="4497019" y="4985309"/>
            <a:ext cx="332842" cy="332842"/>
          </a:xfrm>
          <a:prstGeom prst="rect">
            <a:avLst/>
          </a:prstGeom>
        </p:spPr>
      </p:pic>
      <p:sp>
        <p:nvSpPr>
          <p:cNvPr id="25" name="txt-375"/>
          <p:cNvSpPr txBox="1"/>
          <p:nvPr/>
        </p:nvSpPr>
        <p:spPr>
          <a:xfrm>
            <a:off x="5166360" y="4785970"/>
            <a:ext cx="2697480"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Biaya membengkak</a:t>
            </a:r>
            <a:endParaRPr lang="en-US" sz="1700" dirty="0"/>
          </a:p>
        </p:txBody>
      </p:sp>
      <p:sp>
        <p:nvSpPr>
          <p:cNvPr id="26" name="txt-376"/>
          <p:cNvSpPr txBox="1"/>
          <p:nvPr/>
        </p:nvSpPr>
        <p:spPr>
          <a:xfrm>
            <a:off x="5166360" y="5170018"/>
            <a:ext cx="2697480" cy="822960"/>
          </a:xfrm>
          <a:prstGeom prst="rect">
            <a:avLst/>
          </a:prstGeom>
          <a:noFill/>
          <a:ln/>
        </p:spPr>
        <p:txBody>
          <a:bodyPr wrap="square" lIns="0" tIns="0" rIns="0" bIns="0" rtlCol="0" anchor="t"/>
          <a:lstStyle/>
          <a:p>
            <a:pPr indent="0" marL="0">
              <a:buNone/>
            </a:pPr>
            <a:r>
              <a:rPr lang="en-US" sz="1400" dirty="0">
                <a:solidFill>
                  <a:srgbClr val="5B5677"/>
                </a:solidFill>
              </a:rPr>
              <a:t>Pemakaian token dan layanan cloud tanpa batas.</a:t>
            </a:r>
            <a:endParaRPr lang="en-US" sz="1400" dirty="0"/>
          </a:p>
        </p:txBody>
      </p:sp>
      <p:sp>
        <p:nvSpPr>
          <p:cNvPr id="27" name="card-377"/>
          <p:cNvSpPr/>
          <p:nvPr/>
        </p:nvSpPr>
        <p:spPr>
          <a:xfrm>
            <a:off x="8092440" y="1371600"/>
            <a:ext cx="3520440" cy="4709160"/>
          </a:xfrm>
          <a:prstGeom prst="roundRect">
            <a:avLst>
              <a:gd name="adj" fmla="val 3896"/>
            </a:avLst>
          </a:prstGeom>
          <a:solidFill>
            <a:schemeClr val="bg2"/>
          </a:solidFill>
          <a:ln/>
        </p:spPr>
      </p:sp>
      <p:pic>
        <p:nvPicPr>
          <p:cNvPr id="28" name="Image 6" descr="assets/ill_shield.png">    </p:cNvPr>
          <p:cNvPicPr>
            <a:picLocks noChangeAspect="1"/>
          </p:cNvPicPr>
          <p:nvPr/>
        </p:nvPicPr>
        <p:blipFill>
          <a:blip r:embed="rId7"/>
          <a:stretch>
            <a:fillRect/>
          </a:stretch>
        </p:blipFill>
        <p:spPr>
          <a:xfrm>
            <a:off x="8302752" y="1508760"/>
            <a:ext cx="3108960" cy="3108960"/>
          </a:xfrm>
          <a:prstGeom prst="rect">
            <a:avLst/>
          </a:prstGeom>
        </p:spPr>
      </p:pic>
      <p:sp>
        <p:nvSpPr>
          <p:cNvPr id="29" name="txt-378"/>
          <p:cNvSpPr txBox="1"/>
          <p:nvPr/>
        </p:nvSpPr>
        <p:spPr>
          <a:xfrm>
            <a:off x="8366760" y="4663440"/>
            <a:ext cx="2971800" cy="1280160"/>
          </a:xfrm>
          <a:prstGeom prst="rect">
            <a:avLst/>
          </a:prstGeom>
          <a:noFill/>
          <a:ln/>
        </p:spPr>
        <p:txBody>
          <a:bodyPr wrap="square" lIns="0" tIns="0" rIns="0" bIns="0" rtlCol="0" anchor="t"/>
          <a:lstStyle/>
          <a:p>
            <a:pPr algn="ctr" indent="0" marL="0">
              <a:buNone/>
            </a:pPr>
            <a:r>
              <a:rPr lang="en-US" sz="1350" dirty="0">
                <a:solidFill>
                  <a:srgbClr val="1A1433"/>
                </a:solidFill>
              </a:rPr>
              <a:t>Sebagian besar celah bisa dicegah dengan meminta keamanan secara eksplisit dan menjalankan pemeriksaan otomatis.</a:t>
            </a:r>
            <a:endParaRPr lang="en-US" sz="135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5677"/>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Checklist keamanan sebelum rilis</a:t>
            </a:r>
            <a:endParaRPr lang="en-US" sz="3200" dirty="0"/>
          </a:p>
        </p:txBody>
      </p:sp>
      <p:sp>
        <p:nvSpPr>
          <p:cNvPr id="3" name="card-379"/>
          <p:cNvSpPr/>
          <p:nvPr/>
        </p:nvSpPr>
        <p:spPr>
          <a:xfrm>
            <a:off x="548640" y="1417320"/>
            <a:ext cx="5440680" cy="713232"/>
          </a:xfrm>
          <a:prstGeom prst="roundRect">
            <a:avLst>
              <a:gd name="adj" fmla="val 12821"/>
            </a:avLst>
          </a:prstGeom>
          <a:solidFill>
            <a:schemeClr val="bg2"/>
          </a:solidFill>
          <a:ln/>
        </p:spPr>
      </p:sp>
      <p:pic>
        <p:nvPicPr>
          <p:cNvPr id="4" name="Image 0" descr="preencoded.png">    </p:cNvPr>
          <p:cNvPicPr>
            <a:picLocks noChangeAspect="1"/>
          </p:cNvPicPr>
          <p:nvPr/>
        </p:nvPicPr>
        <p:blipFill>
          <a:blip r:embed="rId1"/>
          <a:stretch>
            <a:fillRect/>
          </a:stretch>
        </p:blipFill>
        <p:spPr>
          <a:xfrm>
            <a:off x="749808" y="1591056"/>
            <a:ext cx="365760" cy="365760"/>
          </a:xfrm>
          <a:prstGeom prst="rect">
            <a:avLst/>
          </a:prstGeom>
        </p:spPr>
      </p:pic>
      <p:sp>
        <p:nvSpPr>
          <p:cNvPr id="5" name="txt-380"/>
          <p:cNvSpPr txBox="1"/>
          <p:nvPr/>
        </p:nvSpPr>
        <p:spPr>
          <a:xfrm>
            <a:off x="1280160" y="1417320"/>
            <a:ext cx="4572000" cy="713232"/>
          </a:xfrm>
          <a:prstGeom prst="rect">
            <a:avLst/>
          </a:prstGeom>
          <a:noFill/>
          <a:ln/>
        </p:spPr>
        <p:txBody>
          <a:bodyPr wrap="square" lIns="0" tIns="0" rIns="0" bIns="0" rtlCol="0" anchor="ctr"/>
          <a:lstStyle/>
          <a:p>
            <a:pPr indent="0" marL="0">
              <a:buNone/>
            </a:pPr>
            <a:r>
              <a:rPr lang="en-US" sz="1450" dirty="0">
                <a:solidFill>
                  <a:srgbClr val="1A1433"/>
                </a:solidFill>
              </a:rPr>
              <a:t>Rahasia disimpan di environment variable, bukan di kode</a:t>
            </a:r>
            <a:endParaRPr lang="en-US" sz="1450" dirty="0"/>
          </a:p>
        </p:txBody>
      </p:sp>
      <p:sp>
        <p:nvSpPr>
          <p:cNvPr id="6" name="card-381"/>
          <p:cNvSpPr/>
          <p:nvPr/>
        </p:nvSpPr>
        <p:spPr>
          <a:xfrm>
            <a:off x="6172200" y="1417320"/>
            <a:ext cx="5440680" cy="713232"/>
          </a:xfrm>
          <a:prstGeom prst="roundRect">
            <a:avLst>
              <a:gd name="adj" fmla="val 12821"/>
            </a:avLst>
          </a:prstGeom>
          <a:solidFill>
            <a:schemeClr val="bg2"/>
          </a:solidFill>
          <a:ln/>
        </p:spPr>
      </p:sp>
      <p:pic>
        <p:nvPicPr>
          <p:cNvPr id="7" name="Image 1" descr="preencoded.png">    </p:cNvPr>
          <p:cNvPicPr>
            <a:picLocks noChangeAspect="1"/>
          </p:cNvPicPr>
          <p:nvPr/>
        </p:nvPicPr>
        <p:blipFill>
          <a:blip r:embed="rId2"/>
          <a:stretch>
            <a:fillRect/>
          </a:stretch>
        </p:blipFill>
        <p:spPr>
          <a:xfrm>
            <a:off x="6373368" y="1591056"/>
            <a:ext cx="365760" cy="365760"/>
          </a:xfrm>
          <a:prstGeom prst="rect">
            <a:avLst/>
          </a:prstGeom>
        </p:spPr>
      </p:pic>
      <p:sp>
        <p:nvSpPr>
          <p:cNvPr id="8" name="txt-382"/>
          <p:cNvSpPr txBox="1"/>
          <p:nvPr/>
        </p:nvSpPr>
        <p:spPr>
          <a:xfrm>
            <a:off x="6903720" y="1417320"/>
            <a:ext cx="4572000" cy="713232"/>
          </a:xfrm>
          <a:prstGeom prst="rect">
            <a:avLst/>
          </a:prstGeom>
          <a:noFill/>
          <a:ln/>
        </p:spPr>
        <p:txBody>
          <a:bodyPr wrap="square" lIns="0" tIns="0" rIns="0" bIns="0" rtlCol="0" anchor="ctr"/>
          <a:lstStyle/>
          <a:p>
            <a:pPr indent="0" marL="0">
              <a:buNone/>
            </a:pPr>
            <a:r>
              <a:rPr lang="en-US" sz="1450" dirty="0">
                <a:solidFill>
                  <a:srgbClr val="1A1433"/>
                </a:solidFill>
              </a:rPr>
              <a:t>Otentikasi dan aturan akses data aktif (mis. row-level security)</a:t>
            </a:r>
            <a:endParaRPr lang="en-US" sz="1450" dirty="0"/>
          </a:p>
        </p:txBody>
      </p:sp>
      <p:sp>
        <p:nvSpPr>
          <p:cNvPr id="9" name="card-383"/>
          <p:cNvSpPr/>
          <p:nvPr/>
        </p:nvSpPr>
        <p:spPr>
          <a:xfrm>
            <a:off x="548640" y="2258568"/>
            <a:ext cx="5440680" cy="713232"/>
          </a:xfrm>
          <a:prstGeom prst="roundRect">
            <a:avLst>
              <a:gd name="adj" fmla="val 12821"/>
            </a:avLst>
          </a:prstGeom>
          <a:solidFill>
            <a:schemeClr val="bg2"/>
          </a:solidFill>
          <a:ln/>
        </p:spPr>
      </p:sp>
      <p:pic>
        <p:nvPicPr>
          <p:cNvPr id="10" name="Image 2" descr="preencoded.png">    </p:cNvPr>
          <p:cNvPicPr>
            <a:picLocks noChangeAspect="1"/>
          </p:cNvPicPr>
          <p:nvPr/>
        </p:nvPicPr>
        <p:blipFill>
          <a:blip r:embed="rId3"/>
          <a:stretch>
            <a:fillRect/>
          </a:stretch>
        </p:blipFill>
        <p:spPr>
          <a:xfrm>
            <a:off x="749808" y="2432304"/>
            <a:ext cx="365760" cy="365760"/>
          </a:xfrm>
          <a:prstGeom prst="rect">
            <a:avLst/>
          </a:prstGeom>
        </p:spPr>
      </p:pic>
      <p:sp>
        <p:nvSpPr>
          <p:cNvPr id="11" name="txt-384"/>
          <p:cNvSpPr txBox="1"/>
          <p:nvPr/>
        </p:nvSpPr>
        <p:spPr>
          <a:xfrm>
            <a:off x="1280160" y="2258568"/>
            <a:ext cx="4572000" cy="713232"/>
          </a:xfrm>
          <a:prstGeom prst="rect">
            <a:avLst/>
          </a:prstGeom>
          <a:noFill/>
          <a:ln/>
        </p:spPr>
        <p:txBody>
          <a:bodyPr wrap="square" lIns="0" tIns="0" rIns="0" bIns="0" rtlCol="0" anchor="ctr"/>
          <a:lstStyle/>
          <a:p>
            <a:pPr indent="0" marL="0">
              <a:buNone/>
            </a:pPr>
            <a:r>
              <a:rPr lang="en-US" sz="1450" dirty="0">
                <a:solidFill>
                  <a:srgbClr val="1A1433"/>
                </a:solidFill>
              </a:rPr>
              <a:t>Semua input pengguna divalidasi dan disanitasi</a:t>
            </a:r>
            <a:endParaRPr lang="en-US" sz="1450" dirty="0"/>
          </a:p>
        </p:txBody>
      </p:sp>
      <p:sp>
        <p:nvSpPr>
          <p:cNvPr id="12" name="card-385"/>
          <p:cNvSpPr/>
          <p:nvPr/>
        </p:nvSpPr>
        <p:spPr>
          <a:xfrm>
            <a:off x="6172200" y="2258568"/>
            <a:ext cx="5440680" cy="713232"/>
          </a:xfrm>
          <a:prstGeom prst="roundRect">
            <a:avLst>
              <a:gd name="adj" fmla="val 12821"/>
            </a:avLst>
          </a:prstGeom>
          <a:solidFill>
            <a:schemeClr val="bg2"/>
          </a:solidFill>
          <a:ln/>
        </p:spPr>
      </p:sp>
      <p:pic>
        <p:nvPicPr>
          <p:cNvPr id="13" name="Image 3" descr="preencoded.png">    </p:cNvPr>
          <p:cNvPicPr>
            <a:picLocks noChangeAspect="1"/>
          </p:cNvPicPr>
          <p:nvPr/>
        </p:nvPicPr>
        <p:blipFill>
          <a:blip r:embed="rId4"/>
          <a:stretch>
            <a:fillRect/>
          </a:stretch>
        </p:blipFill>
        <p:spPr>
          <a:xfrm>
            <a:off x="6373368" y="2432304"/>
            <a:ext cx="365760" cy="365760"/>
          </a:xfrm>
          <a:prstGeom prst="rect">
            <a:avLst/>
          </a:prstGeom>
        </p:spPr>
      </p:pic>
      <p:sp>
        <p:nvSpPr>
          <p:cNvPr id="14" name="txt-386"/>
          <p:cNvSpPr txBox="1"/>
          <p:nvPr/>
        </p:nvSpPr>
        <p:spPr>
          <a:xfrm>
            <a:off x="6903720" y="2258568"/>
            <a:ext cx="4572000" cy="713232"/>
          </a:xfrm>
          <a:prstGeom prst="rect">
            <a:avLst/>
          </a:prstGeom>
          <a:noFill/>
          <a:ln/>
        </p:spPr>
        <p:txBody>
          <a:bodyPr wrap="square" lIns="0" tIns="0" rIns="0" bIns="0" rtlCol="0" anchor="ctr"/>
          <a:lstStyle/>
          <a:p>
            <a:pPr indent="0" marL="0">
              <a:buNone/>
            </a:pPr>
            <a:r>
              <a:rPr lang="en-US" sz="1450" dirty="0">
                <a:solidFill>
                  <a:srgbClr val="1A1433"/>
                </a:solidFill>
              </a:rPr>
              <a:t>Scanner dijalankan: SAST, audit dependensi, deteksi rahasia</a:t>
            </a:r>
            <a:endParaRPr lang="en-US" sz="1450" dirty="0"/>
          </a:p>
        </p:txBody>
      </p:sp>
      <p:sp>
        <p:nvSpPr>
          <p:cNvPr id="15" name="card-387"/>
          <p:cNvSpPr/>
          <p:nvPr/>
        </p:nvSpPr>
        <p:spPr>
          <a:xfrm>
            <a:off x="548640" y="3099816"/>
            <a:ext cx="5440680" cy="713232"/>
          </a:xfrm>
          <a:prstGeom prst="roundRect">
            <a:avLst>
              <a:gd name="adj" fmla="val 12821"/>
            </a:avLst>
          </a:prstGeom>
          <a:solidFill>
            <a:schemeClr val="bg2"/>
          </a:solidFill>
          <a:ln/>
        </p:spPr>
      </p:sp>
      <p:pic>
        <p:nvPicPr>
          <p:cNvPr id="16" name="Image 4" descr="preencoded.png">    </p:cNvPr>
          <p:cNvPicPr>
            <a:picLocks noChangeAspect="1"/>
          </p:cNvPicPr>
          <p:nvPr/>
        </p:nvPicPr>
        <p:blipFill>
          <a:blip r:embed="rId5"/>
          <a:stretch>
            <a:fillRect/>
          </a:stretch>
        </p:blipFill>
        <p:spPr>
          <a:xfrm>
            <a:off x="749808" y="3273552"/>
            <a:ext cx="365760" cy="365760"/>
          </a:xfrm>
          <a:prstGeom prst="rect">
            <a:avLst/>
          </a:prstGeom>
        </p:spPr>
      </p:pic>
      <p:sp>
        <p:nvSpPr>
          <p:cNvPr id="17" name="txt-388"/>
          <p:cNvSpPr txBox="1"/>
          <p:nvPr/>
        </p:nvSpPr>
        <p:spPr>
          <a:xfrm>
            <a:off x="1280160" y="3099816"/>
            <a:ext cx="4572000" cy="713232"/>
          </a:xfrm>
          <a:prstGeom prst="rect">
            <a:avLst/>
          </a:prstGeom>
          <a:noFill/>
          <a:ln/>
        </p:spPr>
        <p:txBody>
          <a:bodyPr wrap="square" lIns="0" tIns="0" rIns="0" bIns="0" rtlCol="0" anchor="ctr"/>
          <a:lstStyle/>
          <a:p>
            <a:pPr indent="0" marL="0">
              <a:buNone/>
            </a:pPr>
            <a:r>
              <a:rPr lang="en-US" sz="1450" dirty="0">
                <a:solidFill>
                  <a:srgbClr val="1A1433"/>
                </a:solidFill>
              </a:rPr>
              <a:t>AI diminta meninjau kodenya sendiri untuk mencari celah</a:t>
            </a:r>
            <a:endParaRPr lang="en-US" sz="1450" dirty="0"/>
          </a:p>
        </p:txBody>
      </p:sp>
      <p:sp>
        <p:nvSpPr>
          <p:cNvPr id="18" name="card-389"/>
          <p:cNvSpPr/>
          <p:nvPr/>
        </p:nvSpPr>
        <p:spPr>
          <a:xfrm>
            <a:off x="6172200" y="3099816"/>
            <a:ext cx="5440680" cy="713232"/>
          </a:xfrm>
          <a:prstGeom prst="roundRect">
            <a:avLst>
              <a:gd name="adj" fmla="val 12821"/>
            </a:avLst>
          </a:prstGeom>
          <a:solidFill>
            <a:schemeClr val="bg2"/>
          </a:solidFill>
          <a:ln/>
        </p:spPr>
      </p:sp>
      <p:pic>
        <p:nvPicPr>
          <p:cNvPr id="19" name="Image 5" descr="preencoded.png">    </p:cNvPr>
          <p:cNvPicPr>
            <a:picLocks noChangeAspect="1"/>
          </p:cNvPicPr>
          <p:nvPr/>
        </p:nvPicPr>
        <p:blipFill>
          <a:blip r:embed="rId6"/>
          <a:stretch>
            <a:fillRect/>
          </a:stretch>
        </p:blipFill>
        <p:spPr>
          <a:xfrm>
            <a:off x="6373368" y="3273552"/>
            <a:ext cx="365760" cy="365760"/>
          </a:xfrm>
          <a:prstGeom prst="rect">
            <a:avLst/>
          </a:prstGeom>
        </p:spPr>
      </p:pic>
      <p:sp>
        <p:nvSpPr>
          <p:cNvPr id="20" name="txt-390"/>
          <p:cNvSpPr txBox="1"/>
          <p:nvPr/>
        </p:nvSpPr>
        <p:spPr>
          <a:xfrm>
            <a:off x="6903720" y="3099816"/>
            <a:ext cx="4572000" cy="713232"/>
          </a:xfrm>
          <a:prstGeom prst="rect">
            <a:avLst/>
          </a:prstGeom>
          <a:noFill/>
          <a:ln/>
        </p:spPr>
        <p:txBody>
          <a:bodyPr wrap="square" lIns="0" tIns="0" rIns="0" bIns="0" rtlCol="0" anchor="ctr"/>
          <a:lstStyle/>
          <a:p>
            <a:pPr indent="0" marL="0">
              <a:buNone/>
            </a:pPr>
            <a:r>
              <a:rPr lang="en-US" sz="1450" dirty="0">
                <a:solidFill>
                  <a:srgbClr val="1A1433"/>
                </a:solidFill>
              </a:rPr>
              <a:t>Tes otomatis untuk alur penting (login, pembayaran, data)</a:t>
            </a:r>
            <a:endParaRPr lang="en-US" sz="1450" dirty="0"/>
          </a:p>
        </p:txBody>
      </p:sp>
      <p:sp>
        <p:nvSpPr>
          <p:cNvPr id="21" name="card-391"/>
          <p:cNvSpPr/>
          <p:nvPr/>
        </p:nvSpPr>
        <p:spPr>
          <a:xfrm>
            <a:off x="548640" y="3941064"/>
            <a:ext cx="5440680" cy="713232"/>
          </a:xfrm>
          <a:prstGeom prst="roundRect">
            <a:avLst>
              <a:gd name="adj" fmla="val 12821"/>
            </a:avLst>
          </a:prstGeom>
          <a:solidFill>
            <a:schemeClr val="bg2"/>
          </a:solidFill>
          <a:ln/>
        </p:spPr>
      </p:sp>
      <p:pic>
        <p:nvPicPr>
          <p:cNvPr id="22" name="Image 6" descr="preencoded.png">    </p:cNvPr>
          <p:cNvPicPr>
            <a:picLocks noChangeAspect="1"/>
          </p:cNvPicPr>
          <p:nvPr/>
        </p:nvPicPr>
        <p:blipFill>
          <a:blip r:embed="rId7"/>
          <a:stretch>
            <a:fillRect/>
          </a:stretch>
        </p:blipFill>
        <p:spPr>
          <a:xfrm>
            <a:off x="749808" y="4114800"/>
            <a:ext cx="365760" cy="365760"/>
          </a:xfrm>
          <a:prstGeom prst="rect">
            <a:avLst/>
          </a:prstGeom>
        </p:spPr>
      </p:pic>
      <p:sp>
        <p:nvSpPr>
          <p:cNvPr id="23" name="txt-392"/>
          <p:cNvSpPr txBox="1"/>
          <p:nvPr/>
        </p:nvSpPr>
        <p:spPr>
          <a:xfrm>
            <a:off x="1280160" y="3941064"/>
            <a:ext cx="4572000" cy="713232"/>
          </a:xfrm>
          <a:prstGeom prst="rect">
            <a:avLst/>
          </a:prstGeom>
          <a:noFill/>
          <a:ln/>
        </p:spPr>
        <p:txBody>
          <a:bodyPr wrap="square" lIns="0" tIns="0" rIns="0" bIns="0" rtlCol="0" anchor="ctr"/>
          <a:lstStyle/>
          <a:p>
            <a:pPr indent="0" marL="0">
              <a:buNone/>
            </a:pPr>
            <a:r>
              <a:rPr lang="en-US" sz="1450" dirty="0">
                <a:solidFill>
                  <a:srgbClr val="1A1433"/>
                </a:solidFill>
              </a:rPr>
              <a:t>Review manusia untuk bagian yang sensitif</a:t>
            </a:r>
            <a:endParaRPr lang="en-US" sz="1450" dirty="0"/>
          </a:p>
        </p:txBody>
      </p:sp>
      <p:sp>
        <p:nvSpPr>
          <p:cNvPr id="24" name="card-393"/>
          <p:cNvSpPr/>
          <p:nvPr/>
        </p:nvSpPr>
        <p:spPr>
          <a:xfrm>
            <a:off x="6172200" y="3941064"/>
            <a:ext cx="5440680" cy="713232"/>
          </a:xfrm>
          <a:prstGeom prst="roundRect">
            <a:avLst>
              <a:gd name="adj" fmla="val 12821"/>
            </a:avLst>
          </a:prstGeom>
          <a:solidFill>
            <a:schemeClr val="bg2"/>
          </a:solidFill>
          <a:ln/>
        </p:spPr>
      </p:sp>
      <p:pic>
        <p:nvPicPr>
          <p:cNvPr id="25" name="Image 7" descr="preencoded.png">    </p:cNvPr>
          <p:cNvPicPr>
            <a:picLocks noChangeAspect="1"/>
          </p:cNvPicPr>
          <p:nvPr/>
        </p:nvPicPr>
        <p:blipFill>
          <a:blip r:embed="rId8"/>
          <a:stretch>
            <a:fillRect/>
          </a:stretch>
        </p:blipFill>
        <p:spPr>
          <a:xfrm>
            <a:off x="6373368" y="4114800"/>
            <a:ext cx="365760" cy="365760"/>
          </a:xfrm>
          <a:prstGeom prst="rect">
            <a:avLst/>
          </a:prstGeom>
        </p:spPr>
      </p:pic>
      <p:sp>
        <p:nvSpPr>
          <p:cNvPr id="26" name="txt-394"/>
          <p:cNvSpPr txBox="1"/>
          <p:nvPr/>
        </p:nvSpPr>
        <p:spPr>
          <a:xfrm>
            <a:off x="6903720" y="3941064"/>
            <a:ext cx="4572000" cy="713232"/>
          </a:xfrm>
          <a:prstGeom prst="rect">
            <a:avLst/>
          </a:prstGeom>
          <a:noFill/>
          <a:ln/>
        </p:spPr>
        <p:txBody>
          <a:bodyPr wrap="square" lIns="0" tIns="0" rIns="0" bIns="0" rtlCol="0" anchor="ctr"/>
          <a:lstStyle/>
          <a:p>
            <a:pPr indent="0" marL="0">
              <a:buNone/>
            </a:pPr>
            <a:r>
              <a:rPr lang="en-US" sz="1450" dirty="0">
                <a:solidFill>
                  <a:srgbClr val="1A1433"/>
                </a:solidFill>
              </a:rPr>
              <a:t>Log, pemantauan, dan rencana rollback sudah siap</a:t>
            </a:r>
            <a:endParaRPr lang="en-US" sz="1450" dirty="0"/>
          </a:p>
        </p:txBody>
      </p:sp>
      <p:sp>
        <p:nvSpPr>
          <p:cNvPr id="27" name="card-395"/>
          <p:cNvSpPr/>
          <p:nvPr/>
        </p:nvSpPr>
        <p:spPr>
          <a:xfrm>
            <a:off x="548640" y="4892040"/>
            <a:ext cx="11064240" cy="1188720"/>
          </a:xfrm>
          <a:prstGeom prst="roundRect">
            <a:avLst>
              <a:gd name="adj" fmla="val 11538"/>
            </a:avLst>
          </a:prstGeom>
          <a:solidFill>
            <a:schemeClr val="accent1"/>
          </a:solidFill>
          <a:ln/>
          <a:effectLst>
            <a:outerShdw sx="100000" sy="100000" kx="0" ky="0" algn="bl" rotWithShape="0" blurRad="127000" dist="38100" dir="5400000">
              <a:srgbClr val="1A1433">
                <a:alpha val="12000"/>
              </a:srgbClr>
            </a:outerShdw>
          </a:effectLst>
        </p:spPr>
      </p:sp>
      <p:sp>
        <p:nvSpPr>
          <p:cNvPr id="28" name="iconbg-396"/>
          <p:cNvSpPr/>
          <p:nvPr/>
        </p:nvSpPr>
        <p:spPr>
          <a:xfrm>
            <a:off x="822960" y="5166360"/>
            <a:ext cx="640080" cy="640080"/>
          </a:xfrm>
          <a:prstGeom prst="ellipse">
            <a:avLst/>
          </a:prstGeom>
          <a:solidFill>
            <a:schemeClr val="bg1"/>
          </a:solidFill>
          <a:ln/>
        </p:spPr>
      </p:sp>
      <p:pic>
        <p:nvPicPr>
          <p:cNvPr id="29" name="icon-397" descr="preencoded.png">    </p:cNvPr>
          <p:cNvPicPr>
            <a:picLocks noChangeAspect="1"/>
          </p:cNvPicPr>
          <p:nvPr/>
        </p:nvPicPr>
        <p:blipFill>
          <a:blip r:embed="rId9"/>
          <a:stretch>
            <a:fillRect/>
          </a:stretch>
        </p:blipFill>
        <p:spPr>
          <a:xfrm>
            <a:off x="976579" y="5319979"/>
            <a:ext cx="332842" cy="332842"/>
          </a:xfrm>
          <a:prstGeom prst="rect">
            <a:avLst/>
          </a:prstGeom>
        </p:spPr>
      </p:pic>
      <p:sp>
        <p:nvSpPr>
          <p:cNvPr id="30" name="txt-398"/>
          <p:cNvSpPr txBox="1"/>
          <p:nvPr/>
        </p:nvSpPr>
        <p:spPr>
          <a:xfrm>
            <a:off x="1691640" y="4892040"/>
            <a:ext cx="9692640" cy="1188720"/>
          </a:xfrm>
          <a:prstGeom prst="rect">
            <a:avLst/>
          </a:prstGeom>
          <a:noFill/>
          <a:ln/>
        </p:spPr>
        <p:txBody>
          <a:bodyPr wrap="square" lIns="0" tIns="0" rIns="0" bIns="0" rtlCol="0" anchor="ctr"/>
          <a:lstStyle/>
          <a:p>
            <a:pPr indent="0" marL="0">
              <a:buNone/>
            </a:pPr>
            <a:r>
              <a:rPr lang="en-US" sz="1500" b="1" dirty="0">
                <a:solidFill>
                  <a:srgbClr val="FDE68A"/>
                </a:solidFill>
              </a:rPr>
              <a:t>Trik murah tapi ampuh: </a:t>
            </a:r>
            <a:pPr indent="0" marL="0">
              <a:buNone/>
            </a:pPr>
            <a:r>
              <a:rPr lang="en-US" sz="1500" dirty="0">
                <a:solidFill>
                  <a:srgbClr val="FFFFFF"/>
                </a:solidFill>
              </a:rPr>
              <a:t>studi yang dikutip Kaspersky menemukan bahwa menambahkan instruksi umum seperti “pastikan kode mengikuti praktik keamanan terbaik” saja sudah memangkas tingkat kerentanan hingga separuhnya.</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5677"/>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xt-399"/>
          <p:cNvSpPr txBox="1"/>
          <p:nvPr/>
        </p:nvSpPr>
        <p:spPr>
          <a:xfrm>
            <a:off x="822960" y="1463040"/>
            <a:ext cx="2743200" cy="1097280"/>
          </a:xfrm>
          <a:prstGeom prst="rect">
            <a:avLst/>
          </a:prstGeom>
          <a:noFill/>
          <a:ln/>
        </p:spPr>
        <p:txBody>
          <a:bodyPr wrap="square" lIns="0" tIns="0" rIns="0" bIns="0" rtlCol="0" anchor="b"/>
          <a:lstStyle/>
          <a:p>
            <a:pPr indent="0" marL="0">
              <a:buNone/>
            </a:pPr>
            <a:r>
              <a:rPr lang="en-US" sz="8000" b="1" dirty="0">
                <a:solidFill>
                  <a:srgbClr val="A78BFA"/>
                </a:solidFill>
                <a:latin typeface="Arial" pitchFamily="34" charset="0"/>
                <a:ea typeface="Arial" pitchFamily="34" charset="-122"/>
                <a:cs typeface="Arial" pitchFamily="34" charset="-120"/>
              </a:rPr>
              <a:t>06</a:t>
            </a:r>
            <a:endParaRPr lang="en-US" sz="8000" dirty="0"/>
          </a:p>
        </p:txBody>
      </p:sp>
      <p:sp>
        <p:nvSpPr>
          <p:cNvPr id="3" name="Text 0"/>
          <p:cNvSpPr/>
          <p:nvPr>
            <p:ph idx="100" type="title" hasCustomPrompt="1"/>
          </p:nvPr>
        </p:nvSpPr>
        <p:spPr>
          <a:xfrm>
            <a:off x="822960" y="2651760"/>
            <a:ext cx="7498080" cy="1280160"/>
          </a:xfrm>
          <a:prstGeom prst="rect">
            <a:avLst/>
          </a:prstGeom>
          <a:noFill/>
          <a:ln/>
        </p:spPr>
        <p:txBody>
          <a:bodyPr wrap="square" lIns="0" tIns="0" rIns="0" bIns="0" rtlCol="0" anchor="t"/>
          <a:lstStyle/>
          <a:p>
            <a:pPr algn="l" indent="0" marL="0">
              <a:buNone/>
            </a:pPr>
            <a:r>
              <a:rPr lang="en-US" sz="4400" b="1" dirty="0">
                <a:solidFill>
                  <a:schemeClr val="bg1"/>
                </a:solidFill>
                <a:latin typeface="Arial" pitchFamily="34" charset="0"/>
                <a:ea typeface="Arial" pitchFamily="34" charset="-122"/>
                <a:cs typeface="Arial" pitchFamily="34" charset="-120"/>
              </a:rPr>
              <a:t>Masa Depan &amp; Latihan</a:t>
            </a:r>
            <a:endParaRPr lang="en-US" sz="4400" dirty="0"/>
          </a:p>
        </p:txBody>
      </p:sp>
      <p:sp>
        <p:nvSpPr>
          <p:cNvPr id="4" name="Text 0"/>
          <p:cNvSpPr/>
          <p:nvPr>
            <p:ph idx="101" type="body" hasCustomPrompt="1"/>
          </p:nvPr>
        </p:nvSpPr>
        <p:spPr>
          <a:xfrm>
            <a:off x="822960" y="3977640"/>
            <a:ext cx="6949440" cy="914400"/>
          </a:xfrm>
          <a:prstGeom prst="rect">
            <a:avLst/>
          </a:prstGeom>
          <a:noFill/>
          <a:ln/>
        </p:spPr>
        <p:txBody>
          <a:bodyPr wrap="square" lIns="0" tIns="0" rIns="0" bIns="0" rtlCol="0" anchor="t"/>
          <a:lstStyle/>
          <a:p>
            <a:pPr indent="0" marL="0">
              <a:buNone/>
            </a:pPr>
            <a:r>
              <a:rPr lang="en-US" sz="1800" dirty="0">
                <a:solidFill>
                  <a:srgbClr val="D8CCFF"/>
                </a:solidFill>
                <a:latin typeface="Calibri" pitchFamily="34" charset="0"/>
                <a:ea typeface="Calibri" pitchFamily="34" charset="-122"/>
                <a:cs typeface="Calibri" pitchFamily="34" charset="-120"/>
              </a:rPr>
              <a:t>Dari vibe coding menuju agentic engineering, skill yang dibutuhkan, dan latihan langsung</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Dari vibe coding menuju agentic engineering</a:t>
            </a:r>
            <a:endParaRPr lang="en-US" sz="3200" dirty="0"/>
          </a:p>
        </p:txBody>
      </p:sp>
      <p:sp>
        <p:nvSpPr>
          <p:cNvPr id="3" name="card-400"/>
          <p:cNvSpPr/>
          <p:nvPr/>
        </p:nvSpPr>
        <p:spPr>
          <a:xfrm>
            <a:off x="548640" y="1371600"/>
            <a:ext cx="4206240" cy="4709160"/>
          </a:xfrm>
          <a:prstGeom prst="roundRect">
            <a:avLst>
              <a:gd name="adj" fmla="val 3261"/>
            </a:avLst>
          </a:prstGeom>
          <a:solidFill>
            <a:schemeClr val="tx2"/>
          </a:solidFill>
          <a:ln/>
        </p:spPr>
      </p:sp>
      <p:pic>
        <p:nvPicPr>
          <p:cNvPr id="4" name="Image 0" descr="assets/ill_rocket.png">    </p:cNvPr>
          <p:cNvPicPr>
            <a:picLocks noChangeAspect="1"/>
          </p:cNvPicPr>
          <p:nvPr/>
        </p:nvPicPr>
        <p:blipFill>
          <a:blip r:embed="rId1"/>
          <a:stretch>
            <a:fillRect/>
          </a:stretch>
        </p:blipFill>
        <p:spPr>
          <a:xfrm>
            <a:off x="868680" y="1508760"/>
            <a:ext cx="3566160" cy="3566160"/>
          </a:xfrm>
          <a:prstGeom prst="rect">
            <a:avLst/>
          </a:prstGeom>
        </p:spPr>
      </p:pic>
      <p:sp>
        <p:nvSpPr>
          <p:cNvPr id="5" name="txt-401"/>
          <p:cNvSpPr txBox="1"/>
          <p:nvPr/>
        </p:nvSpPr>
        <p:spPr>
          <a:xfrm>
            <a:off x="868680" y="4937760"/>
            <a:ext cx="3566160" cy="1005840"/>
          </a:xfrm>
          <a:prstGeom prst="rect">
            <a:avLst/>
          </a:prstGeom>
          <a:noFill/>
          <a:ln/>
        </p:spPr>
        <p:txBody>
          <a:bodyPr wrap="square" lIns="0" tIns="0" rIns="0" bIns="0" rtlCol="0" anchor="t"/>
          <a:lstStyle/>
          <a:p>
            <a:pPr algn="ctr" indent="0" marL="0">
              <a:buNone/>
            </a:pPr>
            <a:r>
              <a:rPr lang="en-US" sz="1400" dirty="0">
                <a:solidFill>
                  <a:srgbClr val="D8CCFF"/>
                </a:solidFill>
              </a:rPr>
              <a:t>AI menulis makin banyak kode. Nilai manusia bergeser ke menentukan apa yang dibangun dan memastikan hasilnya benar.</a:t>
            </a:r>
            <a:endParaRPr lang="en-US" sz="1400" dirty="0"/>
          </a:p>
        </p:txBody>
      </p:sp>
      <p:sp>
        <p:nvSpPr>
          <p:cNvPr id="6" name="txt-402"/>
          <p:cNvSpPr txBox="1"/>
          <p:nvPr/>
        </p:nvSpPr>
        <p:spPr>
          <a:xfrm>
            <a:off x="5120640" y="1371600"/>
            <a:ext cx="6400800" cy="457200"/>
          </a:xfrm>
          <a:prstGeom prst="rect">
            <a:avLst/>
          </a:prstGeom>
          <a:noFill/>
          <a:ln/>
        </p:spPr>
        <p:txBody>
          <a:bodyPr wrap="square" lIns="0" tIns="0" rIns="0" bIns="0" rtlCol="0" anchor="t"/>
          <a:lstStyle/>
          <a:p>
            <a:pPr indent="0" marL="0">
              <a:buNone/>
            </a:pPr>
            <a:r>
              <a:rPr lang="en-US" sz="2000" b="1" dirty="0">
                <a:solidFill>
                  <a:schemeClr val="accent1"/>
                </a:solidFill>
                <a:latin typeface="Arial" pitchFamily="34" charset="0"/>
                <a:ea typeface="Arial" pitchFamily="34" charset="-122"/>
                <a:cs typeface="Arial" pitchFamily="34" charset="-120"/>
              </a:rPr>
              <a:t>Skill yang makin bernilai</a:t>
            </a:r>
            <a:endParaRPr lang="en-US" sz="2000" dirty="0"/>
          </a:p>
        </p:txBody>
      </p:sp>
      <p:sp>
        <p:nvSpPr>
          <p:cNvPr id="7" name="iconbg-403"/>
          <p:cNvSpPr/>
          <p:nvPr/>
        </p:nvSpPr>
        <p:spPr>
          <a:xfrm>
            <a:off x="5120640" y="1965960"/>
            <a:ext cx="566928" cy="566928"/>
          </a:xfrm>
          <a:prstGeom prst="ellipse">
            <a:avLst/>
          </a:prstGeom>
          <a:solidFill>
            <a:schemeClr val="accent1"/>
          </a:solidFill>
          <a:ln/>
        </p:spPr>
      </p:sp>
      <p:pic>
        <p:nvPicPr>
          <p:cNvPr id="8" name="icon-404" descr="preencoded.png">    </p:cNvPr>
          <p:cNvPicPr>
            <a:picLocks noChangeAspect="1"/>
          </p:cNvPicPr>
          <p:nvPr/>
        </p:nvPicPr>
        <p:blipFill>
          <a:blip r:embed="rId2"/>
          <a:stretch>
            <a:fillRect/>
          </a:stretch>
        </p:blipFill>
        <p:spPr>
          <a:xfrm>
            <a:off x="5256703" y="2102023"/>
            <a:ext cx="294803" cy="294803"/>
          </a:xfrm>
          <a:prstGeom prst="rect">
            <a:avLst/>
          </a:prstGeom>
        </p:spPr>
      </p:pic>
      <p:sp>
        <p:nvSpPr>
          <p:cNvPr id="9" name="txt-405"/>
          <p:cNvSpPr txBox="1"/>
          <p:nvPr/>
        </p:nvSpPr>
        <p:spPr>
          <a:xfrm>
            <a:off x="5897880" y="1920240"/>
            <a:ext cx="5669280" cy="347472"/>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Berpikir produk</a:t>
            </a:r>
            <a:endParaRPr lang="en-US" sz="1600" dirty="0"/>
          </a:p>
        </p:txBody>
      </p:sp>
      <p:sp>
        <p:nvSpPr>
          <p:cNvPr id="10" name="txt-406"/>
          <p:cNvSpPr txBox="1"/>
          <p:nvPr/>
        </p:nvSpPr>
        <p:spPr>
          <a:xfrm>
            <a:off x="5897880" y="2258568"/>
            <a:ext cx="5669280" cy="365760"/>
          </a:xfrm>
          <a:prstGeom prst="rect">
            <a:avLst/>
          </a:prstGeom>
          <a:noFill/>
          <a:ln/>
        </p:spPr>
        <p:txBody>
          <a:bodyPr wrap="square" lIns="0" tIns="0" rIns="0" bIns="0" rtlCol="0" anchor="t"/>
          <a:lstStyle/>
          <a:p>
            <a:pPr indent="0" marL="0">
              <a:buNone/>
            </a:pPr>
            <a:r>
              <a:rPr lang="en-US" sz="1400" dirty="0">
                <a:solidFill>
                  <a:srgbClr val="5B5677"/>
                </a:solidFill>
              </a:rPr>
              <a:t>Memahami masalah pengguna dan menulis spesifikasi yang jelas.</a:t>
            </a:r>
            <a:endParaRPr lang="en-US" sz="1400" dirty="0"/>
          </a:p>
        </p:txBody>
      </p:sp>
      <p:sp>
        <p:nvSpPr>
          <p:cNvPr id="11" name="iconbg-407"/>
          <p:cNvSpPr/>
          <p:nvPr/>
        </p:nvSpPr>
        <p:spPr>
          <a:xfrm>
            <a:off x="5120640" y="2788920"/>
            <a:ext cx="566928" cy="566928"/>
          </a:xfrm>
          <a:prstGeom prst="ellipse">
            <a:avLst/>
          </a:prstGeom>
          <a:solidFill>
            <a:schemeClr val="accent1"/>
          </a:solidFill>
          <a:ln/>
        </p:spPr>
      </p:sp>
      <p:pic>
        <p:nvPicPr>
          <p:cNvPr id="12" name="icon-408" descr="preencoded.png">    </p:cNvPr>
          <p:cNvPicPr>
            <a:picLocks noChangeAspect="1"/>
          </p:cNvPicPr>
          <p:nvPr/>
        </p:nvPicPr>
        <p:blipFill>
          <a:blip r:embed="rId3"/>
          <a:stretch>
            <a:fillRect/>
          </a:stretch>
        </p:blipFill>
        <p:spPr>
          <a:xfrm>
            <a:off x="5256703" y="2924983"/>
            <a:ext cx="294803" cy="294803"/>
          </a:xfrm>
          <a:prstGeom prst="rect">
            <a:avLst/>
          </a:prstGeom>
        </p:spPr>
      </p:pic>
      <p:sp>
        <p:nvSpPr>
          <p:cNvPr id="13" name="txt-409"/>
          <p:cNvSpPr txBox="1"/>
          <p:nvPr/>
        </p:nvSpPr>
        <p:spPr>
          <a:xfrm>
            <a:off x="5897880" y="2743200"/>
            <a:ext cx="5669280" cy="347472"/>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Arsitektur sistem</a:t>
            </a:r>
            <a:endParaRPr lang="en-US" sz="1600" dirty="0"/>
          </a:p>
        </p:txBody>
      </p:sp>
      <p:sp>
        <p:nvSpPr>
          <p:cNvPr id="14" name="txt-410"/>
          <p:cNvSpPr txBox="1"/>
          <p:nvPr/>
        </p:nvSpPr>
        <p:spPr>
          <a:xfrm>
            <a:off x="5897880" y="3081528"/>
            <a:ext cx="5669280" cy="365760"/>
          </a:xfrm>
          <a:prstGeom prst="rect">
            <a:avLst/>
          </a:prstGeom>
          <a:noFill/>
          <a:ln/>
        </p:spPr>
        <p:txBody>
          <a:bodyPr wrap="square" lIns="0" tIns="0" rIns="0" bIns="0" rtlCol="0" anchor="t"/>
          <a:lstStyle/>
          <a:p>
            <a:pPr indent="0" marL="0">
              <a:buNone/>
            </a:pPr>
            <a:r>
              <a:rPr lang="en-US" sz="1400" dirty="0">
                <a:solidFill>
                  <a:srgbClr val="5B5677"/>
                </a:solidFill>
              </a:rPr>
              <a:t>Merancang struktur yang bisa dirawat dan dikembangkan.</a:t>
            </a:r>
            <a:endParaRPr lang="en-US" sz="1400" dirty="0"/>
          </a:p>
        </p:txBody>
      </p:sp>
      <p:sp>
        <p:nvSpPr>
          <p:cNvPr id="15" name="iconbg-411"/>
          <p:cNvSpPr/>
          <p:nvPr/>
        </p:nvSpPr>
        <p:spPr>
          <a:xfrm>
            <a:off x="5120640" y="3611880"/>
            <a:ext cx="566928" cy="566928"/>
          </a:xfrm>
          <a:prstGeom prst="ellipse">
            <a:avLst/>
          </a:prstGeom>
          <a:solidFill>
            <a:schemeClr val="accent1"/>
          </a:solidFill>
          <a:ln/>
        </p:spPr>
      </p:sp>
      <p:pic>
        <p:nvPicPr>
          <p:cNvPr id="16" name="icon-412" descr="preencoded.png">    </p:cNvPr>
          <p:cNvPicPr>
            <a:picLocks noChangeAspect="1"/>
          </p:cNvPicPr>
          <p:nvPr/>
        </p:nvPicPr>
        <p:blipFill>
          <a:blip r:embed="rId4"/>
          <a:stretch>
            <a:fillRect/>
          </a:stretch>
        </p:blipFill>
        <p:spPr>
          <a:xfrm>
            <a:off x="5256703" y="3747943"/>
            <a:ext cx="294803" cy="294803"/>
          </a:xfrm>
          <a:prstGeom prst="rect">
            <a:avLst/>
          </a:prstGeom>
        </p:spPr>
      </p:pic>
      <p:sp>
        <p:nvSpPr>
          <p:cNvPr id="17" name="txt-413"/>
          <p:cNvSpPr txBox="1"/>
          <p:nvPr/>
        </p:nvSpPr>
        <p:spPr>
          <a:xfrm>
            <a:off x="5897880" y="3566160"/>
            <a:ext cx="5669280" cy="347472"/>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Review kode &amp; keamanan</a:t>
            </a:r>
            <a:endParaRPr lang="en-US" sz="1600" dirty="0"/>
          </a:p>
        </p:txBody>
      </p:sp>
      <p:sp>
        <p:nvSpPr>
          <p:cNvPr id="18" name="txt-414"/>
          <p:cNvSpPr txBox="1"/>
          <p:nvPr/>
        </p:nvSpPr>
        <p:spPr>
          <a:xfrm>
            <a:off x="5897880" y="3904488"/>
            <a:ext cx="5669280" cy="365760"/>
          </a:xfrm>
          <a:prstGeom prst="rect">
            <a:avLst/>
          </a:prstGeom>
          <a:noFill/>
          <a:ln/>
        </p:spPr>
        <p:txBody>
          <a:bodyPr wrap="square" lIns="0" tIns="0" rIns="0" bIns="0" rtlCol="0" anchor="t"/>
          <a:lstStyle/>
          <a:p>
            <a:pPr indent="0" marL="0">
              <a:buNone/>
            </a:pPr>
            <a:r>
              <a:rPr lang="en-US" sz="1400" dirty="0">
                <a:solidFill>
                  <a:srgbClr val="5B5677"/>
                </a:solidFill>
              </a:rPr>
              <a:t>Menilai hasil AI secara kritis sebelum dirilis.</a:t>
            </a:r>
            <a:endParaRPr lang="en-US" sz="1400" dirty="0"/>
          </a:p>
        </p:txBody>
      </p:sp>
      <p:sp>
        <p:nvSpPr>
          <p:cNvPr id="19" name="iconbg-415"/>
          <p:cNvSpPr/>
          <p:nvPr/>
        </p:nvSpPr>
        <p:spPr>
          <a:xfrm>
            <a:off x="5120640" y="4434840"/>
            <a:ext cx="566928" cy="566928"/>
          </a:xfrm>
          <a:prstGeom prst="ellipse">
            <a:avLst/>
          </a:prstGeom>
          <a:solidFill>
            <a:schemeClr val="accent1"/>
          </a:solidFill>
          <a:ln/>
        </p:spPr>
      </p:sp>
      <p:pic>
        <p:nvPicPr>
          <p:cNvPr id="20" name="icon-416" descr="preencoded.png">    </p:cNvPr>
          <p:cNvPicPr>
            <a:picLocks noChangeAspect="1"/>
          </p:cNvPicPr>
          <p:nvPr/>
        </p:nvPicPr>
        <p:blipFill>
          <a:blip r:embed="rId5"/>
          <a:stretch>
            <a:fillRect/>
          </a:stretch>
        </p:blipFill>
        <p:spPr>
          <a:xfrm>
            <a:off x="5256703" y="4570903"/>
            <a:ext cx="294803" cy="294803"/>
          </a:xfrm>
          <a:prstGeom prst="rect">
            <a:avLst/>
          </a:prstGeom>
        </p:spPr>
      </p:pic>
      <p:sp>
        <p:nvSpPr>
          <p:cNvPr id="21" name="txt-417"/>
          <p:cNvSpPr txBox="1"/>
          <p:nvPr/>
        </p:nvSpPr>
        <p:spPr>
          <a:xfrm>
            <a:off x="5897880" y="4389120"/>
            <a:ext cx="5669280" cy="347472"/>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Pengujian &amp; observability</a:t>
            </a:r>
            <a:endParaRPr lang="en-US" sz="1600" dirty="0"/>
          </a:p>
        </p:txBody>
      </p:sp>
      <p:sp>
        <p:nvSpPr>
          <p:cNvPr id="22" name="txt-418"/>
          <p:cNvSpPr txBox="1"/>
          <p:nvPr/>
        </p:nvSpPr>
        <p:spPr>
          <a:xfrm>
            <a:off x="5897880" y="4727448"/>
            <a:ext cx="5669280" cy="365760"/>
          </a:xfrm>
          <a:prstGeom prst="rect">
            <a:avLst/>
          </a:prstGeom>
          <a:noFill/>
          <a:ln/>
        </p:spPr>
        <p:txBody>
          <a:bodyPr wrap="square" lIns="0" tIns="0" rIns="0" bIns="0" rtlCol="0" anchor="t"/>
          <a:lstStyle/>
          <a:p>
            <a:pPr indent="0" marL="0">
              <a:buNone/>
            </a:pPr>
            <a:r>
              <a:rPr lang="en-US" sz="1400" dirty="0">
                <a:solidFill>
                  <a:srgbClr val="5B5677"/>
                </a:solidFill>
              </a:rPr>
              <a:t>Membuktikan aplikasi benar dan memantaunya setelah rilis.</a:t>
            </a:r>
            <a:endParaRPr lang="en-US" sz="1400" dirty="0"/>
          </a:p>
        </p:txBody>
      </p:sp>
      <p:sp>
        <p:nvSpPr>
          <p:cNvPr id="23" name="iconbg-419"/>
          <p:cNvSpPr/>
          <p:nvPr/>
        </p:nvSpPr>
        <p:spPr>
          <a:xfrm>
            <a:off x="5120640" y="5257800"/>
            <a:ext cx="566928" cy="566928"/>
          </a:xfrm>
          <a:prstGeom prst="ellipse">
            <a:avLst/>
          </a:prstGeom>
          <a:solidFill>
            <a:schemeClr val="accent1"/>
          </a:solidFill>
          <a:ln/>
        </p:spPr>
      </p:sp>
      <p:pic>
        <p:nvPicPr>
          <p:cNvPr id="24" name="icon-420" descr="preencoded.png">    </p:cNvPr>
          <p:cNvPicPr>
            <a:picLocks noChangeAspect="1"/>
          </p:cNvPicPr>
          <p:nvPr/>
        </p:nvPicPr>
        <p:blipFill>
          <a:blip r:embed="rId6"/>
          <a:stretch>
            <a:fillRect/>
          </a:stretch>
        </p:blipFill>
        <p:spPr>
          <a:xfrm>
            <a:off x="5256703" y="5393863"/>
            <a:ext cx="294803" cy="294803"/>
          </a:xfrm>
          <a:prstGeom prst="rect">
            <a:avLst/>
          </a:prstGeom>
        </p:spPr>
      </p:pic>
      <p:sp>
        <p:nvSpPr>
          <p:cNvPr id="25" name="txt-421"/>
          <p:cNvSpPr txBox="1"/>
          <p:nvPr/>
        </p:nvSpPr>
        <p:spPr>
          <a:xfrm>
            <a:off x="5897880" y="5212080"/>
            <a:ext cx="5669280" cy="347472"/>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Mengarahkan agen</a:t>
            </a:r>
            <a:endParaRPr lang="en-US" sz="1600" dirty="0"/>
          </a:p>
        </p:txBody>
      </p:sp>
      <p:sp>
        <p:nvSpPr>
          <p:cNvPr id="26" name="txt-422"/>
          <p:cNvSpPr txBox="1"/>
          <p:nvPr/>
        </p:nvSpPr>
        <p:spPr>
          <a:xfrm>
            <a:off x="5897880" y="5550408"/>
            <a:ext cx="5669280" cy="365760"/>
          </a:xfrm>
          <a:prstGeom prst="rect">
            <a:avLst/>
          </a:prstGeom>
          <a:noFill/>
          <a:ln/>
        </p:spPr>
        <p:txBody>
          <a:bodyPr wrap="square" lIns="0" tIns="0" rIns="0" bIns="0" rtlCol="0" anchor="t"/>
          <a:lstStyle/>
          <a:p>
            <a:pPr indent="0" marL="0">
              <a:buNone/>
            </a:pPr>
            <a:r>
              <a:rPr lang="en-US" sz="1400" dirty="0">
                <a:solidFill>
                  <a:srgbClr val="5B5677"/>
                </a:solidFill>
              </a:rPr>
              <a:t>Memberi konteks, batasan, dan tujuan yang tepat untuk AI.</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5677"/>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Latihan langsung: pilih level Anda</a:t>
            </a:r>
            <a:endParaRPr lang="en-US" sz="3200" dirty="0"/>
          </a:p>
        </p:txBody>
      </p:sp>
      <p:sp>
        <p:nvSpPr>
          <p:cNvPr id="3" name="card-423"/>
          <p:cNvSpPr/>
          <p:nvPr/>
        </p:nvSpPr>
        <p:spPr>
          <a:xfrm>
            <a:off x="548640" y="1417320"/>
            <a:ext cx="3520440" cy="4663440"/>
          </a:xfrm>
          <a:prstGeom prst="roundRect">
            <a:avLst>
              <a:gd name="adj" fmla="val 3896"/>
            </a:avLst>
          </a:prstGeom>
          <a:solidFill>
            <a:schemeClr val="bg1"/>
          </a:solidFill>
          <a:ln w="12700">
            <a:solidFill>
              <a:srgbClr val="E9E5FF"/>
            </a:solidFill>
            <a:prstDash val="solid"/>
          </a:ln>
          <a:effectLst>
            <a:outerShdw sx="100000" sy="100000" kx="0" ky="0" algn="bl" rotWithShape="0" blurRad="127000" dist="38100" dir="5400000">
              <a:srgbClr val="1A1433">
                <a:alpha val="12000"/>
              </a:srgbClr>
            </a:outerShdw>
          </a:effectLst>
        </p:spPr>
      </p:sp>
      <p:sp>
        <p:nvSpPr>
          <p:cNvPr id="4" name="Shape 2"/>
          <p:cNvSpPr/>
          <p:nvPr/>
        </p:nvSpPr>
        <p:spPr>
          <a:xfrm>
            <a:off x="822960" y="1691640"/>
            <a:ext cx="2971800" cy="1417320"/>
          </a:xfrm>
          <a:prstGeom prst="roundRect">
            <a:avLst>
              <a:gd name="adj" fmla="val 7742"/>
            </a:avLst>
          </a:prstGeom>
          <a:solidFill>
            <a:schemeClr val="accent5"/>
          </a:solidFill>
          <a:ln/>
        </p:spPr>
      </p:sp>
      <p:sp>
        <p:nvSpPr>
          <p:cNvPr id="5" name="txt-424"/>
          <p:cNvSpPr txBox="1"/>
          <p:nvPr/>
        </p:nvSpPr>
        <p:spPr>
          <a:xfrm>
            <a:off x="1051560" y="1828800"/>
            <a:ext cx="2514600" cy="274320"/>
          </a:xfrm>
          <a:prstGeom prst="rect">
            <a:avLst/>
          </a:prstGeom>
          <a:noFill/>
          <a:ln/>
        </p:spPr>
        <p:txBody>
          <a:bodyPr wrap="square" lIns="0" tIns="0" rIns="0" bIns="0" rtlCol="0" anchor="t"/>
          <a:lstStyle/>
          <a:p>
            <a:pPr indent="0" marL="0">
              <a:buNone/>
            </a:pPr>
            <a:r>
              <a:rPr lang="en-US" sz="1100" b="1" spc="200" kern="0" dirty="0">
                <a:solidFill>
                  <a:srgbClr val="FFFFFF"/>
                </a:solidFill>
              </a:rPr>
              <a:t>LEVEL 1 • PEMULA</a:t>
            </a:r>
            <a:endParaRPr lang="en-US" sz="1100" dirty="0"/>
          </a:p>
        </p:txBody>
      </p:sp>
      <p:sp>
        <p:nvSpPr>
          <p:cNvPr id="6" name="txt-425"/>
          <p:cNvSpPr txBox="1"/>
          <p:nvPr/>
        </p:nvSpPr>
        <p:spPr>
          <a:xfrm>
            <a:off x="1051560" y="2148840"/>
            <a:ext cx="1783080" cy="822960"/>
          </a:xfrm>
          <a:prstGeom prst="rect">
            <a:avLst/>
          </a:prstGeom>
          <a:noFill/>
          <a:ln/>
        </p:spPr>
        <p:txBody>
          <a:bodyPr wrap="square" lIns="0" tIns="0" rIns="0" bIns="0" rtlCol="0" anchor="t"/>
          <a:lstStyle/>
          <a:p>
            <a:pPr indent="0" marL="0">
              <a:buNone/>
            </a:pPr>
            <a:r>
              <a:rPr lang="en-US" sz="1900" b="1" dirty="0">
                <a:solidFill>
                  <a:srgbClr val="FFFFFF"/>
                </a:solidFill>
                <a:latin typeface="Arial" pitchFamily="34" charset="0"/>
                <a:ea typeface="Arial" pitchFamily="34" charset="-122"/>
                <a:cs typeface="Arial" pitchFamily="34" charset="-120"/>
              </a:rPr>
              <a:t>Landing page pribadi</a:t>
            </a:r>
            <a:endParaRPr lang="en-US" sz="1900" dirty="0"/>
          </a:p>
        </p:txBody>
      </p:sp>
      <p:pic>
        <p:nvPicPr>
          <p:cNvPr id="7" name="Image 0" descr="preencoded.png">    </p:cNvPr>
          <p:cNvPicPr>
            <a:picLocks noChangeAspect="1"/>
          </p:cNvPicPr>
          <p:nvPr/>
        </p:nvPicPr>
        <p:blipFill>
          <a:blip r:embed="rId1"/>
          <a:stretch>
            <a:fillRect/>
          </a:stretch>
        </p:blipFill>
        <p:spPr>
          <a:xfrm>
            <a:off x="3017520" y="2240280"/>
            <a:ext cx="548640" cy="548640"/>
          </a:xfrm>
          <a:prstGeom prst="rect">
            <a:avLst/>
          </a:prstGeom>
        </p:spPr>
      </p:pic>
      <p:pic>
        <p:nvPicPr>
          <p:cNvPr id="8" name="Image 1" descr="preencoded.png">    </p:cNvPr>
          <p:cNvPicPr>
            <a:picLocks noChangeAspect="1"/>
          </p:cNvPicPr>
          <p:nvPr/>
        </p:nvPicPr>
        <p:blipFill>
          <a:blip r:embed="rId2"/>
          <a:stretch>
            <a:fillRect/>
          </a:stretch>
        </p:blipFill>
        <p:spPr>
          <a:xfrm>
            <a:off x="822960" y="3337560"/>
            <a:ext cx="274320" cy="274320"/>
          </a:xfrm>
          <a:prstGeom prst="rect">
            <a:avLst/>
          </a:prstGeom>
        </p:spPr>
      </p:pic>
      <p:sp>
        <p:nvSpPr>
          <p:cNvPr id="9" name="txt-426"/>
          <p:cNvSpPr txBox="1"/>
          <p:nvPr/>
        </p:nvSpPr>
        <p:spPr>
          <a:xfrm>
            <a:off x="1188720" y="3291840"/>
            <a:ext cx="1828800" cy="365760"/>
          </a:xfrm>
          <a:prstGeom prst="rect">
            <a:avLst/>
          </a:prstGeom>
          <a:noFill/>
          <a:ln/>
        </p:spPr>
        <p:txBody>
          <a:bodyPr wrap="square" lIns="0" tIns="0" rIns="0" bIns="0" rtlCol="0" anchor="ctr"/>
          <a:lstStyle/>
          <a:p>
            <a:pPr indent="0" marL="0">
              <a:buNone/>
            </a:pPr>
            <a:r>
              <a:rPr lang="en-US" sz="1400" b="1" dirty="0">
                <a:solidFill>
                  <a:srgbClr val="5B5677"/>
                </a:solidFill>
              </a:rPr>
              <a:t>30 menit</a:t>
            </a:r>
            <a:endParaRPr lang="en-US" sz="1400" dirty="0"/>
          </a:p>
        </p:txBody>
      </p:sp>
      <p:sp>
        <p:nvSpPr>
          <p:cNvPr id="10" name="txt-427"/>
          <p:cNvSpPr txBox="1"/>
          <p:nvPr/>
        </p:nvSpPr>
        <p:spPr>
          <a:xfrm>
            <a:off x="822960" y="3794760"/>
            <a:ext cx="2971800" cy="1371600"/>
          </a:xfrm>
          <a:prstGeom prst="rect">
            <a:avLst/>
          </a:prstGeom>
          <a:noFill/>
          <a:ln/>
        </p:spPr>
        <p:txBody>
          <a:bodyPr wrap="square" lIns="0" tIns="0" rIns="0" bIns="0" rtlCol="0" anchor="t"/>
          <a:lstStyle/>
          <a:p>
            <a:pPr marL="203200" indent="-203200">
              <a:spcAft>
                <a:spcPts val="800"/>
              </a:spcAft>
              <a:buSzPct val="100000"/>
              <a:buChar char="•"/>
            </a:pPr>
            <a:r>
              <a:rPr lang="en-US" sz="1450" dirty="0">
                <a:solidFill>
                  <a:srgbClr val="1A1433"/>
                </a:solidFill>
              </a:rPr>
              <a:t>Gunakan app builder di browser</a:t>
            </a:r>
            <a:endParaRPr lang="en-US" sz="1450" dirty="0"/>
          </a:p>
          <a:p>
            <a:pPr marL="203200" indent="-203200">
              <a:spcAft>
                <a:spcPts val="800"/>
              </a:spcAft>
              <a:buSzPct val="100000"/>
              <a:buChar char="•"/>
            </a:pPr>
            <a:r>
              <a:rPr lang="en-US" sz="1450" dirty="0">
                <a:solidFill>
                  <a:srgbClr val="1A1433"/>
                </a:solidFill>
              </a:rPr>
              <a:t>Isi profil, portofolio, dan kontak</a:t>
            </a:r>
            <a:endParaRPr lang="en-US" sz="1450" dirty="0"/>
          </a:p>
          <a:p>
            <a:pPr marL="203200" indent="-203200">
              <a:spcAft>
                <a:spcPts val="800"/>
              </a:spcAft>
              <a:buSzPct val="100000"/>
              <a:buChar char="•"/>
            </a:pPr>
            <a:r>
              <a:rPr lang="en-US" sz="1450" dirty="0">
                <a:solidFill>
                  <a:srgbClr val="1A1433"/>
                </a:solidFill>
              </a:rPr>
              <a:t>Publikasikan dan bagikan tautannya</a:t>
            </a:r>
            <a:endParaRPr lang="en-US" sz="1450" dirty="0"/>
          </a:p>
        </p:txBody>
      </p:sp>
      <p:sp>
        <p:nvSpPr>
          <p:cNvPr id="11" name="Shape 7"/>
          <p:cNvSpPr/>
          <p:nvPr/>
        </p:nvSpPr>
        <p:spPr>
          <a:xfrm>
            <a:off x="822960" y="5166360"/>
            <a:ext cx="2971800" cy="731520"/>
          </a:xfrm>
          <a:prstGeom prst="roundRect">
            <a:avLst>
              <a:gd name="adj" fmla="val 12500"/>
            </a:avLst>
          </a:prstGeom>
          <a:solidFill>
            <a:schemeClr val="bg2"/>
          </a:solidFill>
          <a:ln/>
        </p:spPr>
      </p:sp>
      <p:sp>
        <p:nvSpPr>
          <p:cNvPr id="12" name="txt-428"/>
          <p:cNvSpPr txBox="1"/>
          <p:nvPr/>
        </p:nvSpPr>
        <p:spPr>
          <a:xfrm>
            <a:off x="960120" y="5166360"/>
            <a:ext cx="2697480" cy="731520"/>
          </a:xfrm>
          <a:prstGeom prst="rect">
            <a:avLst/>
          </a:prstGeom>
          <a:noFill/>
          <a:ln/>
        </p:spPr>
        <p:txBody>
          <a:bodyPr wrap="square" lIns="0" tIns="0" rIns="0" bIns="0" rtlCol="0" anchor="ctr"/>
          <a:lstStyle/>
          <a:p>
            <a:pPr indent="0" marL="0">
              <a:buNone/>
            </a:pPr>
            <a:r>
              <a:rPr lang="en-US" sz="1300" b="1" dirty="0">
                <a:solidFill>
                  <a:srgbClr val="7C3AED"/>
                </a:solidFill>
              </a:rPr>
              <a:t>Target: </a:t>
            </a:r>
            <a:pPr indent="0" marL="0">
              <a:buNone/>
            </a:pPr>
            <a:r>
              <a:rPr lang="en-US" sz="1300" dirty="0">
                <a:solidFill>
                  <a:srgbClr val="1A1433"/>
                </a:solidFill>
              </a:rPr>
              <a:t>Tautan publik yang bisa dibuka siapa saja</a:t>
            </a:r>
            <a:endParaRPr lang="en-US" sz="1300" dirty="0"/>
          </a:p>
        </p:txBody>
      </p:sp>
      <p:sp>
        <p:nvSpPr>
          <p:cNvPr id="13" name="card-429"/>
          <p:cNvSpPr/>
          <p:nvPr/>
        </p:nvSpPr>
        <p:spPr>
          <a:xfrm>
            <a:off x="4320540" y="1417320"/>
            <a:ext cx="3520440" cy="4663440"/>
          </a:xfrm>
          <a:prstGeom prst="roundRect">
            <a:avLst>
              <a:gd name="adj" fmla="val 3896"/>
            </a:avLst>
          </a:prstGeom>
          <a:solidFill>
            <a:schemeClr val="bg1"/>
          </a:solidFill>
          <a:ln w="12700">
            <a:solidFill>
              <a:srgbClr val="E9E5FF"/>
            </a:solidFill>
            <a:prstDash val="solid"/>
          </a:ln>
          <a:effectLst>
            <a:outerShdw sx="100000" sy="100000" kx="0" ky="0" algn="bl" rotWithShape="0" blurRad="127000" dist="38100" dir="5400000">
              <a:srgbClr val="1A1433">
                <a:alpha val="12000"/>
              </a:srgbClr>
            </a:outerShdw>
          </a:effectLst>
        </p:spPr>
      </p:sp>
      <p:sp>
        <p:nvSpPr>
          <p:cNvPr id="14" name="Shape 10"/>
          <p:cNvSpPr/>
          <p:nvPr/>
        </p:nvSpPr>
        <p:spPr>
          <a:xfrm>
            <a:off x="4594860" y="1691640"/>
            <a:ext cx="2971800" cy="1417320"/>
          </a:xfrm>
          <a:prstGeom prst="roundRect">
            <a:avLst>
              <a:gd name="adj" fmla="val 7742"/>
            </a:avLst>
          </a:prstGeom>
          <a:solidFill>
            <a:schemeClr val="accent1"/>
          </a:solidFill>
          <a:ln/>
        </p:spPr>
      </p:sp>
      <p:sp>
        <p:nvSpPr>
          <p:cNvPr id="15" name="txt-430"/>
          <p:cNvSpPr txBox="1"/>
          <p:nvPr/>
        </p:nvSpPr>
        <p:spPr>
          <a:xfrm>
            <a:off x="4823460" y="1828800"/>
            <a:ext cx="2514600" cy="274320"/>
          </a:xfrm>
          <a:prstGeom prst="rect">
            <a:avLst/>
          </a:prstGeom>
          <a:noFill/>
          <a:ln/>
        </p:spPr>
        <p:txBody>
          <a:bodyPr wrap="square" lIns="0" tIns="0" rIns="0" bIns="0" rtlCol="0" anchor="t"/>
          <a:lstStyle/>
          <a:p>
            <a:pPr indent="0" marL="0">
              <a:buNone/>
            </a:pPr>
            <a:r>
              <a:rPr lang="en-US" sz="1100" b="1" spc="200" kern="0" dirty="0">
                <a:solidFill>
                  <a:srgbClr val="FFFFFF"/>
                </a:solidFill>
              </a:rPr>
              <a:t>LEVEL 2 • MENENGAH</a:t>
            </a:r>
            <a:endParaRPr lang="en-US" sz="1100" dirty="0"/>
          </a:p>
        </p:txBody>
      </p:sp>
      <p:sp>
        <p:nvSpPr>
          <p:cNvPr id="16" name="txt-431"/>
          <p:cNvSpPr txBox="1"/>
          <p:nvPr/>
        </p:nvSpPr>
        <p:spPr>
          <a:xfrm>
            <a:off x="4823460" y="2148840"/>
            <a:ext cx="1783080" cy="822960"/>
          </a:xfrm>
          <a:prstGeom prst="rect">
            <a:avLst/>
          </a:prstGeom>
          <a:noFill/>
          <a:ln/>
        </p:spPr>
        <p:txBody>
          <a:bodyPr wrap="square" lIns="0" tIns="0" rIns="0" bIns="0" rtlCol="0" anchor="t"/>
          <a:lstStyle/>
          <a:p>
            <a:pPr indent="0" marL="0">
              <a:buNone/>
            </a:pPr>
            <a:r>
              <a:rPr lang="en-US" sz="1900" b="1" dirty="0">
                <a:solidFill>
                  <a:srgbClr val="FFFFFF"/>
                </a:solidFill>
                <a:latin typeface="Arial" pitchFamily="34" charset="0"/>
                <a:ea typeface="Arial" pitchFamily="34" charset="-122"/>
                <a:cs typeface="Arial" pitchFamily="34" charset="-120"/>
              </a:rPr>
              <a:t>Aplikasi to-do + login</a:t>
            </a:r>
            <a:endParaRPr lang="en-US" sz="1900" dirty="0"/>
          </a:p>
        </p:txBody>
      </p:sp>
      <p:pic>
        <p:nvPicPr>
          <p:cNvPr id="17" name="Image 2" descr="preencoded.png">    </p:cNvPr>
          <p:cNvPicPr>
            <a:picLocks noChangeAspect="1"/>
          </p:cNvPicPr>
          <p:nvPr/>
        </p:nvPicPr>
        <p:blipFill>
          <a:blip r:embed="rId3"/>
          <a:stretch>
            <a:fillRect/>
          </a:stretch>
        </p:blipFill>
        <p:spPr>
          <a:xfrm>
            <a:off x="6789420" y="2240280"/>
            <a:ext cx="548640" cy="548640"/>
          </a:xfrm>
          <a:prstGeom prst="rect">
            <a:avLst/>
          </a:prstGeom>
        </p:spPr>
      </p:pic>
      <p:pic>
        <p:nvPicPr>
          <p:cNvPr id="18" name="Image 3" descr="preencoded.png">    </p:cNvPr>
          <p:cNvPicPr>
            <a:picLocks noChangeAspect="1"/>
          </p:cNvPicPr>
          <p:nvPr/>
        </p:nvPicPr>
        <p:blipFill>
          <a:blip r:embed="rId4"/>
          <a:stretch>
            <a:fillRect/>
          </a:stretch>
        </p:blipFill>
        <p:spPr>
          <a:xfrm>
            <a:off x="4594860" y="3337560"/>
            <a:ext cx="274320" cy="274320"/>
          </a:xfrm>
          <a:prstGeom prst="rect">
            <a:avLst/>
          </a:prstGeom>
        </p:spPr>
      </p:pic>
      <p:sp>
        <p:nvSpPr>
          <p:cNvPr id="19" name="txt-432"/>
          <p:cNvSpPr txBox="1"/>
          <p:nvPr/>
        </p:nvSpPr>
        <p:spPr>
          <a:xfrm>
            <a:off x="4960620" y="3291840"/>
            <a:ext cx="1828800" cy="365760"/>
          </a:xfrm>
          <a:prstGeom prst="rect">
            <a:avLst/>
          </a:prstGeom>
          <a:noFill/>
          <a:ln/>
        </p:spPr>
        <p:txBody>
          <a:bodyPr wrap="square" lIns="0" tIns="0" rIns="0" bIns="0" rtlCol="0" anchor="ctr"/>
          <a:lstStyle/>
          <a:p>
            <a:pPr indent="0" marL="0">
              <a:buNone/>
            </a:pPr>
            <a:r>
              <a:rPr lang="en-US" sz="1400" b="1" dirty="0">
                <a:solidFill>
                  <a:srgbClr val="5B5677"/>
                </a:solidFill>
              </a:rPr>
              <a:t>60 menit</a:t>
            </a:r>
            <a:endParaRPr lang="en-US" sz="1400" dirty="0"/>
          </a:p>
        </p:txBody>
      </p:sp>
      <p:sp>
        <p:nvSpPr>
          <p:cNvPr id="20" name="txt-433"/>
          <p:cNvSpPr txBox="1"/>
          <p:nvPr/>
        </p:nvSpPr>
        <p:spPr>
          <a:xfrm>
            <a:off x="4594860" y="3794760"/>
            <a:ext cx="2971800" cy="1371600"/>
          </a:xfrm>
          <a:prstGeom prst="rect">
            <a:avLst/>
          </a:prstGeom>
          <a:noFill/>
          <a:ln/>
        </p:spPr>
        <p:txBody>
          <a:bodyPr wrap="square" lIns="0" tIns="0" rIns="0" bIns="0" rtlCol="0" anchor="t"/>
          <a:lstStyle/>
          <a:p>
            <a:pPr marL="203200" indent="-203200">
              <a:spcAft>
                <a:spcPts val="800"/>
              </a:spcAft>
              <a:buSzPct val="100000"/>
              <a:buChar char="•"/>
            </a:pPr>
            <a:r>
              <a:rPr lang="en-US" sz="1450" dirty="0">
                <a:solidFill>
                  <a:srgbClr val="1A1433"/>
                </a:solidFill>
              </a:rPr>
              <a:t>Gunakan AI code editor</a:t>
            </a:r>
            <a:endParaRPr lang="en-US" sz="1450" dirty="0"/>
          </a:p>
          <a:p>
            <a:pPr marL="203200" indent="-203200">
              <a:spcAft>
                <a:spcPts val="800"/>
              </a:spcAft>
              <a:buSzPct val="100000"/>
              <a:buChar char="•"/>
            </a:pPr>
            <a:r>
              <a:rPr lang="en-US" sz="1450" dirty="0">
                <a:solidFill>
                  <a:srgbClr val="1A1433"/>
                </a:solidFill>
              </a:rPr>
              <a:t>Tambahkan login dan database</a:t>
            </a:r>
            <a:endParaRPr lang="en-US" sz="1450" dirty="0"/>
          </a:p>
          <a:p>
            <a:pPr marL="203200" indent="-203200">
              <a:spcAft>
                <a:spcPts val="800"/>
              </a:spcAft>
              <a:buSzPct val="100000"/>
              <a:buChar char="•"/>
            </a:pPr>
            <a:r>
              <a:rPr lang="en-US" sz="1450" dirty="0">
                <a:solidFill>
                  <a:srgbClr val="1A1433"/>
                </a:solidFill>
              </a:rPr>
              <a:t>Commit Git di setiap fitur</a:t>
            </a:r>
            <a:endParaRPr lang="en-US" sz="1450" dirty="0"/>
          </a:p>
        </p:txBody>
      </p:sp>
      <p:sp>
        <p:nvSpPr>
          <p:cNvPr id="21" name="Shape 15"/>
          <p:cNvSpPr/>
          <p:nvPr/>
        </p:nvSpPr>
        <p:spPr>
          <a:xfrm>
            <a:off x="4594860" y="5166360"/>
            <a:ext cx="2971800" cy="731520"/>
          </a:xfrm>
          <a:prstGeom prst="roundRect">
            <a:avLst>
              <a:gd name="adj" fmla="val 12500"/>
            </a:avLst>
          </a:prstGeom>
          <a:solidFill>
            <a:schemeClr val="bg2"/>
          </a:solidFill>
          <a:ln/>
        </p:spPr>
      </p:sp>
      <p:sp>
        <p:nvSpPr>
          <p:cNvPr id="22" name="txt-434"/>
          <p:cNvSpPr txBox="1"/>
          <p:nvPr/>
        </p:nvSpPr>
        <p:spPr>
          <a:xfrm>
            <a:off x="4732020" y="5166360"/>
            <a:ext cx="2697480" cy="731520"/>
          </a:xfrm>
          <a:prstGeom prst="rect">
            <a:avLst/>
          </a:prstGeom>
          <a:noFill/>
          <a:ln/>
        </p:spPr>
        <p:txBody>
          <a:bodyPr wrap="square" lIns="0" tIns="0" rIns="0" bIns="0" rtlCol="0" anchor="ctr"/>
          <a:lstStyle/>
          <a:p>
            <a:pPr indent="0" marL="0">
              <a:buNone/>
            </a:pPr>
            <a:r>
              <a:rPr lang="en-US" sz="1300" b="1" dirty="0">
                <a:solidFill>
                  <a:srgbClr val="7C3AED"/>
                </a:solidFill>
              </a:rPr>
              <a:t>Target: </a:t>
            </a:r>
            <a:pPr indent="0" marL="0">
              <a:buNone/>
            </a:pPr>
            <a:r>
              <a:rPr lang="en-US" sz="1300" dirty="0">
                <a:solidFill>
                  <a:srgbClr val="1A1433"/>
                </a:solidFill>
              </a:rPr>
              <a:t>Data tiap pengguna tersimpan dan terpisah</a:t>
            </a:r>
            <a:endParaRPr lang="en-US" sz="1300" dirty="0"/>
          </a:p>
        </p:txBody>
      </p:sp>
      <p:sp>
        <p:nvSpPr>
          <p:cNvPr id="23" name="card-435"/>
          <p:cNvSpPr/>
          <p:nvPr/>
        </p:nvSpPr>
        <p:spPr>
          <a:xfrm>
            <a:off x="8092440" y="1417320"/>
            <a:ext cx="3520440" cy="4663440"/>
          </a:xfrm>
          <a:prstGeom prst="roundRect">
            <a:avLst>
              <a:gd name="adj" fmla="val 3896"/>
            </a:avLst>
          </a:prstGeom>
          <a:solidFill>
            <a:schemeClr val="bg1"/>
          </a:solidFill>
          <a:ln w="12700">
            <a:solidFill>
              <a:srgbClr val="E9E5FF"/>
            </a:solidFill>
            <a:prstDash val="solid"/>
          </a:ln>
          <a:effectLst>
            <a:outerShdw sx="100000" sy="100000" kx="0" ky="0" algn="bl" rotWithShape="0" blurRad="127000" dist="38100" dir="5400000">
              <a:srgbClr val="1A1433">
                <a:alpha val="12000"/>
              </a:srgbClr>
            </a:outerShdw>
          </a:effectLst>
        </p:spPr>
      </p:sp>
      <p:sp>
        <p:nvSpPr>
          <p:cNvPr id="24" name="Shape 18"/>
          <p:cNvSpPr/>
          <p:nvPr/>
        </p:nvSpPr>
        <p:spPr>
          <a:xfrm>
            <a:off x="8366760" y="1691640"/>
            <a:ext cx="2971800" cy="1417320"/>
          </a:xfrm>
          <a:prstGeom prst="roundRect">
            <a:avLst>
              <a:gd name="adj" fmla="val 7742"/>
            </a:avLst>
          </a:prstGeom>
          <a:solidFill>
            <a:schemeClr val="accent2"/>
          </a:solidFill>
          <a:ln/>
        </p:spPr>
      </p:sp>
      <p:sp>
        <p:nvSpPr>
          <p:cNvPr id="25" name="txt-436"/>
          <p:cNvSpPr txBox="1"/>
          <p:nvPr/>
        </p:nvSpPr>
        <p:spPr>
          <a:xfrm>
            <a:off x="8595360" y="1828800"/>
            <a:ext cx="2514600" cy="274320"/>
          </a:xfrm>
          <a:prstGeom prst="rect">
            <a:avLst/>
          </a:prstGeom>
          <a:noFill/>
          <a:ln/>
        </p:spPr>
        <p:txBody>
          <a:bodyPr wrap="square" lIns="0" tIns="0" rIns="0" bIns="0" rtlCol="0" anchor="t"/>
          <a:lstStyle/>
          <a:p>
            <a:pPr indent="0" marL="0">
              <a:buNone/>
            </a:pPr>
            <a:r>
              <a:rPr lang="en-US" sz="1100" b="1" spc="200" kern="0" dirty="0">
                <a:solidFill>
                  <a:srgbClr val="FFFFFF"/>
                </a:solidFill>
              </a:rPr>
              <a:t>LEVEL 3 • LANJUT</a:t>
            </a:r>
            <a:endParaRPr lang="en-US" sz="1100" dirty="0"/>
          </a:p>
        </p:txBody>
      </p:sp>
      <p:sp>
        <p:nvSpPr>
          <p:cNvPr id="26" name="txt-437"/>
          <p:cNvSpPr txBox="1"/>
          <p:nvPr/>
        </p:nvSpPr>
        <p:spPr>
          <a:xfrm>
            <a:off x="8595360" y="2148840"/>
            <a:ext cx="1783080" cy="822960"/>
          </a:xfrm>
          <a:prstGeom prst="rect">
            <a:avLst/>
          </a:prstGeom>
          <a:noFill/>
          <a:ln/>
        </p:spPr>
        <p:txBody>
          <a:bodyPr wrap="square" lIns="0" tIns="0" rIns="0" bIns="0" rtlCol="0" anchor="t"/>
          <a:lstStyle/>
          <a:p>
            <a:pPr indent="0" marL="0">
              <a:buNone/>
            </a:pPr>
            <a:r>
              <a:rPr lang="en-US" sz="1900" b="1" dirty="0">
                <a:solidFill>
                  <a:srgbClr val="FFFFFF"/>
                </a:solidFill>
                <a:latin typeface="Arial" pitchFamily="34" charset="0"/>
                <a:ea typeface="Arial" pitchFamily="34" charset="-122"/>
                <a:cs typeface="Arial" pitchFamily="34" charset="-120"/>
              </a:rPr>
              <a:t>Rilis yang aman</a:t>
            </a:r>
            <a:endParaRPr lang="en-US" sz="1900" dirty="0"/>
          </a:p>
        </p:txBody>
      </p:sp>
      <p:pic>
        <p:nvPicPr>
          <p:cNvPr id="27" name="Image 4" descr="preencoded.png">    </p:cNvPr>
          <p:cNvPicPr>
            <a:picLocks noChangeAspect="1"/>
          </p:cNvPicPr>
          <p:nvPr/>
        </p:nvPicPr>
        <p:blipFill>
          <a:blip r:embed="rId5"/>
          <a:stretch>
            <a:fillRect/>
          </a:stretch>
        </p:blipFill>
        <p:spPr>
          <a:xfrm>
            <a:off x="10561320" y="2240280"/>
            <a:ext cx="548640" cy="548640"/>
          </a:xfrm>
          <a:prstGeom prst="rect">
            <a:avLst/>
          </a:prstGeom>
        </p:spPr>
      </p:pic>
      <p:pic>
        <p:nvPicPr>
          <p:cNvPr id="28" name="Image 5" descr="preencoded.png">    </p:cNvPr>
          <p:cNvPicPr>
            <a:picLocks noChangeAspect="1"/>
          </p:cNvPicPr>
          <p:nvPr/>
        </p:nvPicPr>
        <p:blipFill>
          <a:blip r:embed="rId6"/>
          <a:stretch>
            <a:fillRect/>
          </a:stretch>
        </p:blipFill>
        <p:spPr>
          <a:xfrm>
            <a:off x="8366760" y="3337560"/>
            <a:ext cx="274320" cy="274320"/>
          </a:xfrm>
          <a:prstGeom prst="rect">
            <a:avLst/>
          </a:prstGeom>
        </p:spPr>
      </p:pic>
      <p:sp>
        <p:nvSpPr>
          <p:cNvPr id="29" name="txt-438"/>
          <p:cNvSpPr txBox="1"/>
          <p:nvPr/>
        </p:nvSpPr>
        <p:spPr>
          <a:xfrm>
            <a:off x="8732520" y="3291840"/>
            <a:ext cx="1828800" cy="365760"/>
          </a:xfrm>
          <a:prstGeom prst="rect">
            <a:avLst/>
          </a:prstGeom>
          <a:noFill/>
          <a:ln/>
        </p:spPr>
        <p:txBody>
          <a:bodyPr wrap="square" lIns="0" tIns="0" rIns="0" bIns="0" rtlCol="0" anchor="ctr"/>
          <a:lstStyle/>
          <a:p>
            <a:pPr indent="0" marL="0">
              <a:buNone/>
            </a:pPr>
            <a:r>
              <a:rPr lang="en-US" sz="1400" b="1" dirty="0">
                <a:solidFill>
                  <a:srgbClr val="5B5677"/>
                </a:solidFill>
              </a:rPr>
              <a:t>90 menit</a:t>
            </a:r>
            <a:endParaRPr lang="en-US" sz="1400" dirty="0"/>
          </a:p>
        </p:txBody>
      </p:sp>
      <p:sp>
        <p:nvSpPr>
          <p:cNvPr id="30" name="txt-439"/>
          <p:cNvSpPr txBox="1"/>
          <p:nvPr/>
        </p:nvSpPr>
        <p:spPr>
          <a:xfrm>
            <a:off x="8366760" y="3794760"/>
            <a:ext cx="2971800" cy="1371600"/>
          </a:xfrm>
          <a:prstGeom prst="rect">
            <a:avLst/>
          </a:prstGeom>
          <a:noFill/>
          <a:ln/>
        </p:spPr>
        <p:txBody>
          <a:bodyPr wrap="square" lIns="0" tIns="0" rIns="0" bIns="0" rtlCol="0" anchor="t"/>
          <a:lstStyle/>
          <a:p>
            <a:pPr marL="203200" indent="-203200">
              <a:spcAft>
                <a:spcPts val="800"/>
              </a:spcAft>
              <a:buSzPct val="100000"/>
              <a:buChar char="•"/>
            </a:pPr>
            <a:r>
              <a:rPr lang="en-US" sz="1450" dirty="0">
                <a:solidFill>
                  <a:srgbClr val="1A1433"/>
                </a:solidFill>
              </a:rPr>
              <a:t>Gunakan agen terminal</a:t>
            </a:r>
            <a:endParaRPr lang="en-US" sz="1450" dirty="0"/>
          </a:p>
          <a:p>
            <a:pPr marL="203200" indent="-203200">
              <a:spcAft>
                <a:spcPts val="800"/>
              </a:spcAft>
              <a:buSzPct val="100000"/>
              <a:buChar char="•"/>
            </a:pPr>
            <a:r>
              <a:rPr lang="en-US" sz="1450" dirty="0">
                <a:solidFill>
                  <a:srgbClr val="1A1433"/>
                </a:solidFill>
              </a:rPr>
              <a:t>Tulis tes otomatis dan audit keamanan</a:t>
            </a:r>
            <a:endParaRPr lang="en-US" sz="1450" dirty="0"/>
          </a:p>
          <a:p>
            <a:pPr marL="203200" indent="-203200">
              <a:spcAft>
                <a:spcPts val="800"/>
              </a:spcAft>
              <a:buSzPct val="100000"/>
              <a:buChar char="•"/>
            </a:pPr>
            <a:r>
              <a:rPr lang="en-US" sz="1450" dirty="0">
                <a:solidFill>
                  <a:srgbClr val="1A1433"/>
                </a:solidFill>
              </a:rPr>
              <a:t>Deploy dengan pipeline CI</a:t>
            </a:r>
            <a:endParaRPr lang="en-US" sz="1450" dirty="0"/>
          </a:p>
        </p:txBody>
      </p:sp>
      <p:sp>
        <p:nvSpPr>
          <p:cNvPr id="31" name="Shape 23"/>
          <p:cNvSpPr/>
          <p:nvPr/>
        </p:nvSpPr>
        <p:spPr>
          <a:xfrm>
            <a:off x="8366760" y="5166360"/>
            <a:ext cx="2971800" cy="731520"/>
          </a:xfrm>
          <a:prstGeom prst="roundRect">
            <a:avLst>
              <a:gd name="adj" fmla="val 12500"/>
            </a:avLst>
          </a:prstGeom>
          <a:solidFill>
            <a:schemeClr val="bg2"/>
          </a:solidFill>
          <a:ln/>
        </p:spPr>
      </p:sp>
      <p:sp>
        <p:nvSpPr>
          <p:cNvPr id="32" name="txt-440"/>
          <p:cNvSpPr txBox="1"/>
          <p:nvPr/>
        </p:nvSpPr>
        <p:spPr>
          <a:xfrm>
            <a:off x="8503920" y="5166360"/>
            <a:ext cx="2697480" cy="731520"/>
          </a:xfrm>
          <a:prstGeom prst="rect">
            <a:avLst/>
          </a:prstGeom>
          <a:noFill/>
          <a:ln/>
        </p:spPr>
        <p:txBody>
          <a:bodyPr wrap="square" lIns="0" tIns="0" rIns="0" bIns="0" rtlCol="0" anchor="ctr"/>
          <a:lstStyle/>
          <a:p>
            <a:pPr indent="0" marL="0">
              <a:buNone/>
            </a:pPr>
            <a:r>
              <a:rPr lang="en-US" sz="1300" b="1" dirty="0">
                <a:solidFill>
                  <a:srgbClr val="7C3AED"/>
                </a:solidFill>
              </a:rPr>
              <a:t>Target: </a:t>
            </a:r>
            <a:pPr indent="0" marL="0">
              <a:buNone/>
            </a:pPr>
            <a:r>
              <a:rPr lang="en-US" sz="1300" dirty="0">
                <a:solidFill>
                  <a:srgbClr val="1A1433"/>
                </a:solidFill>
              </a:rPr>
              <a:t>Semua tes lulus dan checklist keamanan terpenuhi</a:t>
            </a:r>
            <a:endParaRPr lang="en-US" sz="13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5677"/>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Rangkuman</a:t>
            </a:r>
            <a:endParaRPr lang="en-US" sz="3200" dirty="0"/>
          </a:p>
        </p:txBody>
      </p:sp>
      <p:sp>
        <p:nvSpPr>
          <p:cNvPr id="3" name="Shape 1"/>
          <p:cNvSpPr/>
          <p:nvPr/>
        </p:nvSpPr>
        <p:spPr>
          <a:xfrm>
            <a:off x="548640" y="1417320"/>
            <a:ext cx="685800" cy="685800"/>
          </a:xfrm>
          <a:prstGeom prst="ellipse">
            <a:avLst/>
          </a:prstGeom>
          <a:solidFill>
            <a:srgbClr val="7C3AED"/>
          </a:solidFill>
          <a:ln/>
        </p:spPr>
      </p:sp>
      <p:sp>
        <p:nvSpPr>
          <p:cNvPr id="4" name="txt-441"/>
          <p:cNvSpPr txBox="1"/>
          <p:nvPr/>
        </p:nvSpPr>
        <p:spPr>
          <a:xfrm>
            <a:off x="548640" y="141732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rPr>
              <a:t>1</a:t>
            </a:r>
            <a:endParaRPr lang="en-US" sz="2200" dirty="0"/>
          </a:p>
        </p:txBody>
      </p:sp>
      <p:sp>
        <p:nvSpPr>
          <p:cNvPr id="5" name="txt-442"/>
          <p:cNvSpPr txBox="1"/>
          <p:nvPr/>
        </p:nvSpPr>
        <p:spPr>
          <a:xfrm>
            <a:off x="1463040" y="1417320"/>
            <a:ext cx="6400800" cy="685800"/>
          </a:xfrm>
          <a:prstGeom prst="rect">
            <a:avLst/>
          </a:prstGeom>
          <a:noFill/>
          <a:ln/>
        </p:spPr>
        <p:txBody>
          <a:bodyPr wrap="square" lIns="0" tIns="0" rIns="0" bIns="0" rtlCol="0" anchor="ctr"/>
          <a:lstStyle/>
          <a:p>
            <a:pPr indent="0" marL="0">
              <a:buNone/>
            </a:pPr>
            <a:r>
              <a:rPr lang="en-US" sz="1700" b="1" dirty="0">
                <a:solidFill>
                  <a:srgbClr val="1A1433"/>
                </a:solidFill>
              </a:rPr>
              <a:t>Vibe coding </a:t>
            </a:r>
            <a:pPr indent="0" marL="0">
              <a:buNone/>
            </a:pPr>
            <a:r>
              <a:rPr lang="en-US" sz="1700" dirty="0">
                <a:solidFill>
                  <a:srgbClr val="5B5677"/>
                </a:solidFill>
              </a:rPr>
              <a:t>membangun software dengan mendeskripsikan keinginan kepada AI dalam bahasa natural.</a:t>
            </a:r>
            <a:endParaRPr lang="en-US" sz="1700" dirty="0"/>
          </a:p>
        </p:txBody>
      </p:sp>
      <p:sp>
        <p:nvSpPr>
          <p:cNvPr id="6" name="Shape 4"/>
          <p:cNvSpPr/>
          <p:nvPr/>
        </p:nvSpPr>
        <p:spPr>
          <a:xfrm>
            <a:off x="548640" y="2350008"/>
            <a:ext cx="685800" cy="685800"/>
          </a:xfrm>
          <a:prstGeom prst="ellipse">
            <a:avLst/>
          </a:prstGeom>
          <a:solidFill>
            <a:srgbClr val="EC4899"/>
          </a:solidFill>
          <a:ln/>
        </p:spPr>
      </p:sp>
      <p:sp>
        <p:nvSpPr>
          <p:cNvPr id="7" name="txt-443"/>
          <p:cNvSpPr txBox="1"/>
          <p:nvPr/>
        </p:nvSpPr>
        <p:spPr>
          <a:xfrm>
            <a:off x="548640" y="2350008"/>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rPr>
              <a:t>2</a:t>
            </a:r>
            <a:endParaRPr lang="en-US" sz="2200" dirty="0"/>
          </a:p>
        </p:txBody>
      </p:sp>
      <p:sp>
        <p:nvSpPr>
          <p:cNvPr id="8" name="txt-444"/>
          <p:cNvSpPr txBox="1"/>
          <p:nvPr/>
        </p:nvSpPr>
        <p:spPr>
          <a:xfrm>
            <a:off x="1463040" y="2350008"/>
            <a:ext cx="6400800" cy="685800"/>
          </a:xfrm>
          <a:prstGeom prst="rect">
            <a:avLst/>
          </a:prstGeom>
          <a:noFill/>
          <a:ln/>
        </p:spPr>
        <p:txBody>
          <a:bodyPr wrap="square" lIns="0" tIns="0" rIns="0" bIns="0" rtlCol="0" anchor="ctr"/>
          <a:lstStyle/>
          <a:p>
            <a:pPr indent="0" marL="0">
              <a:buNone/>
            </a:pPr>
            <a:r>
              <a:rPr lang="en-US" sz="1700" b="1" dirty="0">
                <a:solidFill>
                  <a:srgbClr val="1A1433"/>
                </a:solidFill>
              </a:rPr>
              <a:t>Siklusnya </a:t>
            </a:r>
            <a:pPr indent="0" marL="0">
              <a:buNone/>
            </a:pPr>
            <a:r>
              <a:rPr lang="en-US" sz="1700" dirty="0">
                <a:solidFill>
                  <a:srgbClr val="5B5677"/>
                </a:solidFill>
              </a:rPr>
              <a:t>sederhana: deskripsikan, hasilkan, jalankan, arahkan — dalam langkah kecil.</a:t>
            </a:r>
            <a:endParaRPr lang="en-US" sz="1700" dirty="0"/>
          </a:p>
        </p:txBody>
      </p:sp>
      <p:sp>
        <p:nvSpPr>
          <p:cNvPr id="9" name="Shape 7"/>
          <p:cNvSpPr/>
          <p:nvPr/>
        </p:nvSpPr>
        <p:spPr>
          <a:xfrm>
            <a:off x="548640" y="3282696"/>
            <a:ext cx="685800" cy="685800"/>
          </a:xfrm>
          <a:prstGeom prst="ellipse">
            <a:avLst/>
          </a:prstGeom>
          <a:solidFill>
            <a:srgbClr val="0891B2"/>
          </a:solidFill>
          <a:ln/>
        </p:spPr>
      </p:sp>
      <p:sp>
        <p:nvSpPr>
          <p:cNvPr id="10" name="txt-445"/>
          <p:cNvSpPr txBox="1"/>
          <p:nvPr/>
        </p:nvSpPr>
        <p:spPr>
          <a:xfrm>
            <a:off x="548640" y="3282696"/>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rPr>
              <a:t>3</a:t>
            </a:r>
            <a:endParaRPr lang="en-US" sz="2200" dirty="0"/>
          </a:p>
        </p:txBody>
      </p:sp>
      <p:sp>
        <p:nvSpPr>
          <p:cNvPr id="11" name="txt-446"/>
          <p:cNvSpPr txBox="1"/>
          <p:nvPr/>
        </p:nvSpPr>
        <p:spPr>
          <a:xfrm>
            <a:off x="1463040" y="3282696"/>
            <a:ext cx="6400800" cy="685800"/>
          </a:xfrm>
          <a:prstGeom prst="rect">
            <a:avLst/>
          </a:prstGeom>
          <a:noFill/>
          <a:ln/>
        </p:spPr>
        <p:txBody>
          <a:bodyPr wrap="square" lIns="0" tIns="0" rIns="0" bIns="0" rtlCol="0" anchor="ctr"/>
          <a:lstStyle/>
          <a:p>
            <a:pPr indent="0" marL="0">
              <a:buNone/>
            </a:pPr>
            <a:r>
              <a:rPr lang="en-US" sz="1700" b="1" dirty="0">
                <a:solidFill>
                  <a:srgbClr val="1A1433"/>
                </a:solidFill>
              </a:rPr>
              <a:t>Tool bisa berganti; </a:t>
            </a:r>
            <a:pPr indent="0" marL="0">
              <a:buNone/>
            </a:pPr>
            <a:r>
              <a:rPr lang="en-US" sz="1700" dirty="0">
                <a:solidFill>
                  <a:srgbClr val="5B5677"/>
                </a:solidFill>
              </a:rPr>
              <a:t>kebiasaan baik — prompt jelas, konteks kaya, dan Git — yang membuat Anda unggul.</a:t>
            </a:r>
            <a:endParaRPr lang="en-US" sz="1700" dirty="0"/>
          </a:p>
        </p:txBody>
      </p:sp>
      <p:sp>
        <p:nvSpPr>
          <p:cNvPr id="12" name="Shape 10"/>
          <p:cNvSpPr/>
          <p:nvPr/>
        </p:nvSpPr>
        <p:spPr>
          <a:xfrm>
            <a:off x="548640" y="4215384"/>
            <a:ext cx="685800" cy="685800"/>
          </a:xfrm>
          <a:prstGeom prst="ellipse">
            <a:avLst/>
          </a:prstGeom>
          <a:solidFill>
            <a:srgbClr val="EF4444"/>
          </a:solidFill>
          <a:ln/>
        </p:spPr>
      </p:sp>
      <p:sp>
        <p:nvSpPr>
          <p:cNvPr id="13" name="txt-447"/>
          <p:cNvSpPr txBox="1"/>
          <p:nvPr/>
        </p:nvSpPr>
        <p:spPr>
          <a:xfrm>
            <a:off x="548640" y="4215384"/>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rPr>
              <a:t>4</a:t>
            </a:r>
            <a:endParaRPr lang="en-US" sz="2200" dirty="0"/>
          </a:p>
        </p:txBody>
      </p:sp>
      <p:sp>
        <p:nvSpPr>
          <p:cNvPr id="14" name="txt-448"/>
          <p:cNvSpPr txBox="1"/>
          <p:nvPr/>
        </p:nvSpPr>
        <p:spPr>
          <a:xfrm>
            <a:off x="1463040" y="4215384"/>
            <a:ext cx="6400800" cy="685800"/>
          </a:xfrm>
          <a:prstGeom prst="rect">
            <a:avLst/>
          </a:prstGeom>
          <a:noFill/>
          <a:ln/>
        </p:spPr>
        <p:txBody>
          <a:bodyPr wrap="square" lIns="0" tIns="0" rIns="0" bIns="0" rtlCol="0" anchor="ctr"/>
          <a:lstStyle/>
          <a:p>
            <a:pPr indent="0" marL="0">
              <a:buNone/>
            </a:pPr>
            <a:r>
              <a:rPr lang="en-US" sz="1700" b="1" dirty="0">
                <a:solidFill>
                  <a:srgbClr val="1A1433"/>
                </a:solidFill>
              </a:rPr>
              <a:t>Cepat bukan berarti aman: </a:t>
            </a:r>
            <a:pPr indent="0" marL="0">
              <a:buNone/>
            </a:pPr>
            <a:r>
              <a:rPr lang="en-US" sz="1700" dirty="0">
                <a:solidFill>
                  <a:srgbClr val="5B5677"/>
                </a:solidFill>
              </a:rPr>
              <a:t>selalu jalankan checklist keamanan sebelum merilis ke publik.</a:t>
            </a:r>
            <a:endParaRPr lang="en-US" sz="1700" dirty="0"/>
          </a:p>
        </p:txBody>
      </p:sp>
      <p:sp>
        <p:nvSpPr>
          <p:cNvPr id="15" name="Shape 13"/>
          <p:cNvSpPr/>
          <p:nvPr/>
        </p:nvSpPr>
        <p:spPr>
          <a:xfrm>
            <a:off x="548640" y="5148072"/>
            <a:ext cx="685800" cy="685800"/>
          </a:xfrm>
          <a:prstGeom prst="ellipse">
            <a:avLst/>
          </a:prstGeom>
          <a:solidFill>
            <a:srgbClr val="10B981"/>
          </a:solidFill>
          <a:ln/>
        </p:spPr>
      </p:sp>
      <p:sp>
        <p:nvSpPr>
          <p:cNvPr id="16" name="txt-449"/>
          <p:cNvSpPr txBox="1"/>
          <p:nvPr/>
        </p:nvSpPr>
        <p:spPr>
          <a:xfrm>
            <a:off x="548640" y="5148072"/>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rPr>
              <a:t>5</a:t>
            </a:r>
            <a:endParaRPr lang="en-US" sz="2200" dirty="0"/>
          </a:p>
        </p:txBody>
      </p:sp>
      <p:sp>
        <p:nvSpPr>
          <p:cNvPr id="17" name="txt-450"/>
          <p:cNvSpPr txBox="1"/>
          <p:nvPr/>
        </p:nvSpPr>
        <p:spPr>
          <a:xfrm>
            <a:off x="1463040" y="5148072"/>
            <a:ext cx="6400800" cy="685800"/>
          </a:xfrm>
          <a:prstGeom prst="rect">
            <a:avLst/>
          </a:prstGeom>
          <a:noFill/>
          <a:ln/>
        </p:spPr>
        <p:txBody>
          <a:bodyPr wrap="square" lIns="0" tIns="0" rIns="0" bIns="0" rtlCol="0" anchor="ctr"/>
          <a:lstStyle/>
          <a:p>
            <a:pPr indent="0" marL="0">
              <a:buNone/>
            </a:pPr>
            <a:r>
              <a:rPr lang="en-US" sz="1700" b="1" dirty="0">
                <a:solidFill>
                  <a:srgbClr val="1A1433"/>
                </a:solidFill>
              </a:rPr>
              <a:t>Masa depan </a:t>
            </a:r>
            <a:pPr indent="0" marL="0">
              <a:buNone/>
            </a:pPr>
            <a:r>
              <a:rPr lang="en-US" sz="1700" dirty="0">
                <a:solidFill>
                  <a:srgbClr val="5B5677"/>
                </a:solidFill>
              </a:rPr>
              <a:t>milik mereka yang pandai menentukan apa yang dibangun dan menilai hasilnya.</a:t>
            </a:r>
            <a:endParaRPr lang="en-US" sz="1700" dirty="0"/>
          </a:p>
        </p:txBody>
      </p:sp>
      <p:pic>
        <p:nvPicPr>
          <p:cNvPr id="18" name="Image 0" descr="assets/logo_mark.png">    </p:cNvPr>
          <p:cNvPicPr>
            <a:picLocks noChangeAspect="1"/>
          </p:cNvPicPr>
          <p:nvPr/>
        </p:nvPicPr>
        <p:blipFill>
          <a:blip r:embed="rId1"/>
          <a:stretch>
            <a:fillRect/>
          </a:stretch>
        </p:blipFill>
        <p:spPr>
          <a:xfrm>
            <a:off x="8595360" y="1828800"/>
            <a:ext cx="2743200" cy="2743200"/>
          </a:xfrm>
          <a:prstGeom prst="rect">
            <a:avLst/>
          </a:prstGeom>
        </p:spPr>
      </p:pic>
      <p:sp>
        <p:nvSpPr>
          <p:cNvPr id="19" name="txt-451"/>
          <p:cNvSpPr txBox="1"/>
          <p:nvPr/>
        </p:nvSpPr>
        <p:spPr>
          <a:xfrm>
            <a:off x="7863840" y="4800600"/>
            <a:ext cx="4206240" cy="457200"/>
          </a:xfrm>
          <a:prstGeom prst="rect">
            <a:avLst/>
          </a:prstGeom>
          <a:noFill/>
          <a:ln/>
        </p:spPr>
        <p:txBody>
          <a:bodyPr wrap="square" lIns="0" tIns="0" rIns="0" bIns="0" rtlCol="0" anchor="t"/>
          <a:lstStyle/>
          <a:p>
            <a:pPr algn="ctr" indent="0" marL="0">
              <a:buNone/>
            </a:pPr>
            <a:r>
              <a:rPr lang="en-US" sz="1800" b="1" dirty="0">
                <a:solidFill>
                  <a:schemeClr val="accent1"/>
                </a:solidFill>
                <a:latin typeface="Arial" pitchFamily="34" charset="0"/>
                <a:ea typeface="Arial" pitchFamily="34" charset="-122"/>
                <a:cs typeface="Arial" pitchFamily="34" charset="-120"/>
              </a:rPr>
              <a:t>Deskripsikan • Bangun • Rilis</a:t>
            </a:r>
            <a:endParaRPr lang="en-US" sz="18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5677"/>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Referensi</a:t>
            </a:r>
            <a:endParaRPr lang="en-US" sz="3200" dirty="0"/>
          </a:p>
        </p:txBody>
      </p:sp>
      <p:sp>
        <p:nvSpPr>
          <p:cNvPr id="3" name="card-452"/>
          <p:cNvSpPr/>
          <p:nvPr/>
        </p:nvSpPr>
        <p:spPr>
          <a:xfrm>
            <a:off x="548640" y="1417320"/>
            <a:ext cx="11064240" cy="4663440"/>
          </a:xfrm>
          <a:prstGeom prst="roundRect">
            <a:avLst>
              <a:gd name="adj" fmla="val 2941"/>
            </a:avLst>
          </a:prstGeom>
          <a:solidFill>
            <a:schemeClr val="bg2"/>
          </a:solidFill>
          <a:ln/>
        </p:spPr>
      </p:sp>
      <p:sp>
        <p:nvSpPr>
          <p:cNvPr id="4" name="iconbg-453"/>
          <p:cNvSpPr/>
          <p:nvPr/>
        </p:nvSpPr>
        <p:spPr>
          <a:xfrm>
            <a:off x="868680" y="1691640"/>
            <a:ext cx="640080" cy="640080"/>
          </a:xfrm>
          <a:prstGeom prst="ellipse">
            <a:avLst/>
          </a:prstGeom>
          <a:solidFill>
            <a:schemeClr val="accent1"/>
          </a:solidFill>
          <a:ln/>
        </p:spPr>
      </p:sp>
      <p:pic>
        <p:nvPicPr>
          <p:cNvPr id="5" name="icon-454" descr="preencoded.png">    </p:cNvPr>
          <p:cNvPicPr>
            <a:picLocks noChangeAspect="1"/>
          </p:cNvPicPr>
          <p:nvPr/>
        </p:nvPicPr>
        <p:blipFill>
          <a:blip r:embed="rId1"/>
          <a:stretch>
            <a:fillRect/>
          </a:stretch>
        </p:blipFill>
        <p:spPr>
          <a:xfrm>
            <a:off x="1022299" y="1845259"/>
            <a:ext cx="332842" cy="332842"/>
          </a:xfrm>
          <a:prstGeom prst="rect">
            <a:avLst/>
          </a:prstGeom>
        </p:spPr>
      </p:pic>
      <p:sp>
        <p:nvSpPr>
          <p:cNvPr id="6" name="txt-455"/>
          <p:cNvSpPr txBox="1"/>
          <p:nvPr/>
        </p:nvSpPr>
        <p:spPr>
          <a:xfrm>
            <a:off x="1783080" y="1737360"/>
            <a:ext cx="9509760" cy="4206240"/>
          </a:xfrm>
          <a:prstGeom prst="rect">
            <a:avLst/>
          </a:prstGeom>
          <a:noFill/>
          <a:ln/>
        </p:spPr>
        <p:txBody>
          <a:bodyPr wrap="square" lIns="0" tIns="0" rIns="0" bIns="0" rtlCol="0" anchor="t"/>
          <a:lstStyle/>
          <a:p>
            <a:pPr indent="0" marL="0">
              <a:spcAft>
                <a:spcPts val="1800"/>
              </a:spcAft>
              <a:buNone/>
            </a:pPr>
            <a:r>
              <a:rPr lang="en-US" sz="1600" b="1" dirty="0">
                <a:solidFill>
                  <a:srgbClr val="1A1433"/>
                </a:solidFill>
              </a:rPr>
              <a:t>Karpathy, A. (2 Feb 2025).</a:t>
            </a:r>
            <a:pPr indent="0" marL="0">
              <a:spcAft>
                <a:spcPts val="1800"/>
              </a:spcAft>
              <a:buNone/>
            </a:pPr>
            <a:r>
              <a:rPr lang="en-US" sz="1600" dirty="0">
                <a:solidFill>
                  <a:srgbClr val="5B5677"/>
                </a:solidFill>
              </a:rPr>
              <a:t> Unggahan di X yang memperkenalkan istilah “vibe coding”.</a:t>
            </a:r>
            <a:endParaRPr lang="en-US" sz="1600" dirty="0"/>
          </a:p>
          <a:p>
            <a:pPr indent="0" marL="0">
              <a:spcAft>
                <a:spcPts val="1800"/>
              </a:spcAft>
              <a:buNone/>
            </a:pPr>
            <a:r>
              <a:rPr lang="en-US" sz="1600" b="1" dirty="0">
                <a:solidFill>
                  <a:srgbClr val="1A1433"/>
                </a:solidFill>
              </a:rPr>
              <a:t>Collins Dictionary (Nov 2025).</a:t>
            </a:r>
            <a:pPr indent="0" marL="0">
              <a:spcAft>
                <a:spcPts val="1800"/>
              </a:spcAft>
              <a:buNone/>
            </a:pPr>
            <a:r>
              <a:rPr lang="en-US" sz="1600" dirty="0">
                <a:solidFill>
                  <a:srgbClr val="5B5677"/>
                </a:solidFill>
              </a:rPr>
              <a:t> “Vibe coding” dinobatkan sebagai Word of the Year 2025.</a:t>
            </a:r>
            <a:endParaRPr lang="en-US" sz="1600" dirty="0"/>
          </a:p>
          <a:p>
            <a:pPr indent="0" marL="0">
              <a:spcAft>
                <a:spcPts val="1800"/>
              </a:spcAft>
              <a:buNone/>
            </a:pPr>
            <a:r>
              <a:rPr lang="en-US" sz="1600" b="1" dirty="0">
                <a:solidFill>
                  <a:srgbClr val="1A1433"/>
                </a:solidFill>
              </a:rPr>
              <a:t>Veracode (2025).</a:t>
            </a:r>
            <a:pPr indent="0" marL="0">
              <a:spcAft>
                <a:spcPts val="1800"/>
              </a:spcAft>
              <a:buNone/>
            </a:pPr>
            <a:r>
              <a:rPr lang="en-US" sz="1600" dirty="0">
                <a:solidFill>
                  <a:srgbClr val="5B5677"/>
                </a:solidFill>
              </a:rPr>
              <a:t> GenAI Code Security Report — via SD Times.</a:t>
            </a:r>
            <a:endParaRPr lang="en-US" sz="1600" dirty="0"/>
          </a:p>
          <a:p>
            <a:pPr indent="0" marL="0">
              <a:spcAft>
                <a:spcPts val="1800"/>
              </a:spcAft>
              <a:buNone/>
            </a:pPr>
            <a:r>
              <a:rPr lang="en-US" sz="1600" b="1" dirty="0">
                <a:solidFill>
                  <a:srgbClr val="1A1433"/>
                </a:solidFill>
              </a:rPr>
              <a:t>Cloud Security Alliance (2026).</a:t>
            </a:r>
            <a:pPr indent="0" marL="0">
              <a:spcAft>
                <a:spcPts val="1800"/>
              </a:spcAft>
              <a:buNone/>
            </a:pPr>
            <a:r>
              <a:rPr lang="en-US" sz="1600" dirty="0">
                <a:solidFill>
                  <a:srgbClr val="5B5677"/>
                </a:solidFill>
              </a:rPr>
              <a:t> Research note: Vibe Coding Security Debt &amp; AI-generated code security.</a:t>
            </a:r>
            <a:endParaRPr lang="en-US" sz="1600" dirty="0"/>
          </a:p>
          <a:p>
            <a:pPr indent="0" marL="0">
              <a:spcAft>
                <a:spcPts val="1800"/>
              </a:spcAft>
              <a:buNone/>
            </a:pPr>
            <a:r>
              <a:rPr lang="en-US" sz="1600" b="1" dirty="0">
                <a:solidFill>
                  <a:srgbClr val="1A1433"/>
                </a:solidFill>
              </a:rPr>
              <a:t>Kaspersky (2025).</a:t>
            </a:r>
            <a:pPr indent="0" marL="0">
              <a:spcAft>
                <a:spcPts val="1800"/>
              </a:spcAft>
              <a:buNone/>
            </a:pPr>
            <a:r>
              <a:rPr lang="en-US" sz="1600" dirty="0">
                <a:solidFill>
                  <a:srgbClr val="5B5677"/>
                </a:solidFill>
              </a:rPr>
              <a:t> The hidden dangers of AI coding — merangkum studi Wiz dan riset prompt keamanan.</a:t>
            </a:r>
            <a:endParaRPr lang="en-US" sz="1600" dirty="0"/>
          </a:p>
          <a:p>
            <a:pPr indent="0" marL="0">
              <a:spcAft>
                <a:spcPts val="1800"/>
              </a:spcAft>
              <a:buNone/>
            </a:pPr>
            <a:r>
              <a:rPr lang="en-US" sz="1600" b="1" dirty="0">
                <a:solidFill>
                  <a:srgbClr val="1A1433"/>
                </a:solidFill>
              </a:rPr>
              <a:t>Codegen (Mar 2026).</a:t>
            </a:r>
            <a:pPr indent="0" marL="0">
              <a:spcAft>
                <a:spcPts val="1800"/>
              </a:spcAft>
              <a:buNone/>
            </a:pPr>
            <a:r>
              <a:rPr lang="en-US" sz="1600" dirty="0">
                <a:solidFill>
                  <a:srgbClr val="5B5677"/>
                </a:solidFill>
              </a:rPr>
              <a:t> Glossary: Vibe Coding &amp; agentic engineering.</a:t>
            </a:r>
            <a:endParaRPr lang="en-US" sz="1600" dirty="0"/>
          </a:p>
          <a:p>
            <a:pPr indent="0" marL="0">
              <a:spcAft>
                <a:spcPts val="1800"/>
              </a:spcAft>
              <a:buNone/>
            </a:pPr>
            <a:r>
              <a:rPr lang="en-US" sz="1600" b="1" dirty="0">
                <a:solidFill>
                  <a:srgbClr val="1A1433"/>
                </a:solidFill>
              </a:rPr>
              <a:t>roadmap.sh (2026).</a:t>
            </a:r>
            <a:pPr indent="0" marL="0">
              <a:spcAft>
                <a:spcPts val="1800"/>
              </a:spcAft>
              <a:buNone/>
            </a:pPr>
            <a:r>
              <a:rPr lang="en-US" sz="1600" dirty="0">
                <a:solidFill>
                  <a:srgbClr val="5B5677"/>
                </a:solidFill>
              </a:rPr>
              <a:t> The best vibe coding tools in 2026.</a:t>
            </a:r>
            <a:endParaRPr lang="en-US" sz="16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5677"/>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assets/logo_mark.png">    </p:cNvPr>
          <p:cNvPicPr>
            <a:picLocks noChangeAspect="1"/>
          </p:cNvPicPr>
          <p:nvPr/>
        </p:nvPicPr>
        <p:blipFill>
          <a:blip r:embed="rId1"/>
          <a:stretch>
            <a:fillRect/>
          </a:stretch>
        </p:blipFill>
        <p:spPr>
          <a:xfrm>
            <a:off x="5501488" y="1005840"/>
            <a:ext cx="1188720" cy="1188720"/>
          </a:xfrm>
          <a:prstGeom prst="rect">
            <a:avLst/>
          </a:prstGeom>
        </p:spPr>
      </p:pic>
      <p:sp>
        <p:nvSpPr>
          <p:cNvPr id="3" name="Text 0"/>
          <p:cNvSpPr/>
          <p:nvPr>
            <p:ph idx="100" type="title" hasCustomPrompt="1"/>
          </p:nvPr>
        </p:nvSpPr>
        <p:spPr>
          <a:xfrm>
            <a:off x="914400" y="2377440"/>
            <a:ext cx="10360152" cy="1188720"/>
          </a:xfrm>
          <a:prstGeom prst="rect">
            <a:avLst/>
          </a:prstGeom>
          <a:noFill/>
          <a:ln/>
        </p:spPr>
        <p:txBody>
          <a:bodyPr wrap="square" lIns="0" tIns="0" rIns="0" bIns="0" rtlCol="0" anchor="ctr"/>
          <a:lstStyle/>
          <a:p>
            <a:pPr algn="ctr" indent="0" marL="0">
              <a:buNone/>
            </a:pPr>
            <a:r>
              <a:rPr lang="en-US" sz="6000" b="1" dirty="0">
                <a:solidFill>
                  <a:schemeClr val="bg1"/>
                </a:solidFill>
                <a:latin typeface="Arial" pitchFamily="34" charset="0"/>
                <a:ea typeface="Arial" pitchFamily="34" charset="-122"/>
                <a:cs typeface="Arial" pitchFamily="34" charset="-120"/>
              </a:rPr>
              <a:t>Terima kasih</a:t>
            </a:r>
            <a:endParaRPr lang="en-US" sz="6000" dirty="0"/>
          </a:p>
        </p:txBody>
      </p:sp>
      <p:sp>
        <p:nvSpPr>
          <p:cNvPr id="4" name="Text 0"/>
          <p:cNvSpPr/>
          <p:nvPr>
            <p:ph idx="101" type="body" hasCustomPrompt="1"/>
          </p:nvPr>
        </p:nvSpPr>
        <p:spPr>
          <a:xfrm>
            <a:off x="1371600" y="3611880"/>
            <a:ext cx="9445752" cy="731520"/>
          </a:xfrm>
          <a:prstGeom prst="rect">
            <a:avLst/>
          </a:prstGeom>
          <a:noFill/>
          <a:ln/>
        </p:spPr>
        <p:txBody>
          <a:bodyPr wrap="square" lIns="0" tIns="0" rIns="0" bIns="0" rtlCol="0" anchor="t"/>
          <a:lstStyle/>
          <a:p>
            <a:pPr algn="ctr" indent="0" marL="0">
              <a:buNone/>
            </a:pPr>
            <a:r>
              <a:rPr lang="en-US" sz="2200" dirty="0">
                <a:solidFill>
                  <a:srgbClr val="D8CCFF"/>
                </a:solidFill>
                <a:latin typeface="Calibri" pitchFamily="34" charset="0"/>
                <a:ea typeface="Calibri" pitchFamily="34" charset="-122"/>
                <a:cs typeface="Calibri" pitchFamily="34" charset="-120"/>
              </a:rPr>
              <a:t>Mulai dari satu prompt hari ini</a:t>
            </a:r>
            <a:endParaRPr lang="en-US" sz="2200" dirty="0"/>
          </a:p>
        </p:txBody>
      </p:sp>
      <p:sp>
        <p:nvSpPr>
          <p:cNvPr id="5" name="txt-456"/>
          <p:cNvSpPr txBox="1"/>
          <p:nvPr/>
        </p:nvSpPr>
        <p:spPr>
          <a:xfrm>
            <a:off x="914400" y="5120640"/>
            <a:ext cx="10360152" cy="457200"/>
          </a:xfrm>
          <a:prstGeom prst="rect">
            <a:avLst/>
          </a:prstGeom>
          <a:noFill/>
          <a:ln/>
        </p:spPr>
        <p:txBody>
          <a:bodyPr wrap="square" lIns="0" tIns="0" rIns="0" bIns="0" rtlCol="0" anchor="t"/>
          <a:lstStyle/>
          <a:p>
            <a:pPr algn="ctr" indent="0" marL="0">
              <a:buNone/>
            </a:pPr>
            <a:r>
              <a:rPr lang="en-US" sz="1600" b="1" spc="300" kern="0" dirty="0">
                <a:solidFill>
                  <a:srgbClr val="A78BFA"/>
                </a:solidFill>
              </a:rPr>
              <a:t>Deskripsikan  •  Bangun  •  Rilis</a:t>
            </a:r>
            <a:endParaRPr lang="en-US" sz="1600" dirty="0"/>
          </a:p>
        </p:txBody>
      </p:sp>
    </p:spTree>
  </p:cSld>
  <p:clrMapOvr>
    <a:masterClrMapping/>
  </p:clrMapOvr>
</p:sld>
</file>

<file path=ppt/theme/theme1.xml><?xml version="1.0" encoding="utf-8"?>
<a:theme xmlns:a="http://schemas.openxmlformats.org/drawingml/2006/main" name="Vibe Coding">
  <a:themeElements>
    <a:clrScheme name="Vibe Coding">
      <a:dk1>
        <a:srgbClr val="1A1433"/>
      </a:dk1>
      <a:lt1>
        <a:srgbClr val="FFFFFF"/>
      </a:lt1>
      <a:dk2>
        <a:srgbClr val="14102B"/>
      </a:dk2>
      <a:lt2>
        <a:srgbClr val="F3F0FF"/>
      </a:lt2>
      <a:accent1>
        <a:srgbClr val="7C3AED"/>
      </a:accent1>
      <a:accent2>
        <a:srgbClr val="EC4899"/>
      </a:accent2>
      <a:accent3>
        <a:srgbClr val="0891B2"/>
      </a:accent3>
      <a:accent4>
        <a:srgbClr val="F59E0B"/>
      </a:accent4>
      <a:accent5>
        <a:srgbClr val="10B981"/>
      </a:accent5>
      <a:accent6>
        <a:srgbClr val="EF4444"/>
      </a:accent6>
      <a:hlink>
        <a:srgbClr val="7C3AED"/>
      </a:hlink>
      <a:folHlink>
        <a:srgbClr val="6D28D9"/>
      </a:folHlink>
    </a:clrScheme>
    <a:fontScheme name="Vibe Coding">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Vibe Coding — Materi Lengkap</dc:title>
  <dc:subject>PptxGenJS Presentation</dc:subject>
  <dc:creator>Materi Pelatihan Vibe Coding</dc:creator>
  <cp:lastModifiedBy>Materi Pelatihan Vibe Coding</cp:lastModifiedBy>
  <cp:revision>1</cp:revision>
  <dcterms:created xsi:type="dcterms:W3CDTF">2026-10-21T03:54:36Z</dcterms:created>
  <dcterms:modified xsi:type="dcterms:W3CDTF">2026-10-21T03:54:36Z</dcterms:modified>
</cp:coreProperties>
</file>