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Perkenalkan tiga teknologi dan tekankan bahwa fokus utama materi ini adalah bagaimana ketiganya saling terhubung, bukan sekadar sintaks masing-masing.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peta materi. Enam bagian: fondasi, tiga arah koneksi, lalu praktik. Beri tahu peserta bahwa akan ada studi kasus di bagian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analogi rumah untuk peserta yang benar-benar baru. Tekankan kalimat kunci: file terpisah harus dihubungkan secara sengaja.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tanggung jawab tiap teknologi dan ekstensi filenya. Bandingkan sintaks ketiganya secara berdampingan.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Bedah dokumen HTML. Tunjuk langsung baris &lt;link&gt; dan &lt;script&gt; sebagai dua titik koneksi utama.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id, class, data-*, dan name. Tekankan bahwa tanpa penanda ini, CSS dan JS tidak punya cara menemukan elemen.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Uraikan struktur aturan CSS: selector, properti, nilai. Ingatkan pentingnya titik koma.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pekerjaan utama JavaScript. Tekankan bahwa tiga di antaranya berinteraksi langsung dengan HTML dan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inti. Bacakan matriks dari baris ke kolom. Poin penting: CSS tidak pernah memanggil JavaScript, arah komunikasi tidak simetris.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metode penyisipan CSS. Tegaskan bahwa external adalah standar industri, dan jelaskan urutan prioritas jika terjadi konflik.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penyebab paling umum CSS tidak jalan: jalur berkas. Ajak peserta membaca ulang struktur folder sebelum menyalahkan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Selector adalah jembatan sesungguhnya. Tunjukkan pemetaan satu per satu antara penanda di HTML dan selector di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empat posisi tag script. Jelaskan mengapa script di head tanpa defer menyebabkan hasil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konsep DOM sebagai pohon objek. Tekankan bahwa JavaScript mengubah pohon di memori, bukan berkas .html di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 kerja DOM: pilih dulu, simpan ke variabel, lalu ubah. Bahas perbedaan textContent dan innerHTML beserta risiko XSS.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element.style dengan classList. Rekomendasikan classList agar keputusan tampilan tetap berada di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adalah perekat interaksi. Telusuri alur lima langkah dari klik pengguna sampai tampilan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render browser: DOM, CSSOM, render tree, layout, paint. Kaitkan dengan alasan penempatan link dan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studi kasus mode gelap. Tunjukkan struktur folder dan empat koneksi yang akan dipakai.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Bedah index.html baris per baris. Tunjuk baris 6 dan baris 20 sebagai titik koneksi.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Bedah style.css. Tekankan bahwa kedua kondisi tampilan sudah disiapkan lebih dulu di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Bedah script.js. Poin kunci: JavaScript tidak menulis warna sama sekali, hanya memasang dan melepas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kesalahan koneksi paling umum beserta perbaikannya. Cocok dijadikan bahan latihan mencari kesalahan.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Prinsip separation of concerns. Gunakan daftar periksa sebagai penutup sesi praktik.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DevTools. Ajak peserta membuka F12 dan mencoba keempat panel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lanjutan lima tahap. Tekankan saran praktis: membangun ulang halaman favorit setiap selesai satu tahap.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Ulangi tiga poin rangkuman, lalu buka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035040" cy="6035040"/>
          </a:xfrm>
          <a:prstGeom prst="ellipse">
            <a:avLst/>
          </a:prstGeom>
          <a:solidFill>
            <a:srgbClr val="232B3D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754880"/>
            <a:ext cx="4023360" cy="4023360"/>
          </a:xfrm>
          <a:prstGeom prst="ellipse">
            <a:avLst/>
          </a:prstGeom>
          <a:solidFill>
            <a:srgbClr val="232B3D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PEMROGRAMAN WEB DASAR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101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Bagaimana Ketiganya Saling Terhubung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komprehensif dari struktur, tampilan, hingga interaksi — dilengkapi contoh kode, diagram alur, studi kasus, dan praktik terbaik.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2E3750"/>
          </a:solidFill>
          <a:ln w="12700">
            <a:solidFill>
              <a:srgbClr val="2E37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46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SLIDE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484632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2E3750"/>
          </a:solidFill>
          <a:ln w="12700">
            <a:solidFill>
              <a:srgbClr val="2E37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PEMULA → MENENGAH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730752" cy="1234440"/>
          </a:xfrm>
          <a:prstGeom prst="roundRect">
            <a:avLst>
              <a:gd name="adj" fmla="val 8889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0728" y="1595628"/>
            <a:ext cx="786384" cy="786384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9460" y="1784360"/>
            <a:ext cx="408920" cy="408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52560" y="1591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1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Konten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halaman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18120" y="2834640"/>
            <a:ext cx="3730752" cy="1234440"/>
          </a:xfrm>
          <a:prstGeom prst="roundRect">
            <a:avLst>
              <a:gd name="adj" fmla="val 8889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10728" y="3058668"/>
            <a:ext cx="786384" cy="786384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460" y="3247400"/>
            <a:ext cx="408920" cy="4089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052560" y="3054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9052560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B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Gaya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9052560" y="3639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Warna, tata letak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818120" y="4297680"/>
            <a:ext cx="3730752" cy="1234440"/>
          </a:xfrm>
          <a:prstGeom prst="roundRect">
            <a:avLst>
              <a:gd name="adj" fmla="val 8889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110728" y="4521708"/>
            <a:ext cx="786384" cy="786384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460" y="4710440"/>
            <a:ext cx="408920" cy="4089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052560" y="4517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9052560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&amp; Interaksi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9052560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Logika, event, DOM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Kita Pelajari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bagian yang membawa Anda dari konsep dasar sampai proyek nyata yang berjalan.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419856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975104"/>
            <a:ext cx="731520" cy="73152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2150669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267712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Tiga Pilar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926080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spesifik HTML, CSS, dan JavaScript serta batas tanggung jawab masing-masing.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79976" y="1719072"/>
            <a:ext cx="3419856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72584" y="1975104"/>
            <a:ext cx="731520" cy="73152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49" y="2150669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68696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568696" y="2267712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→ CSS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654296" y="2926080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metode penyisipan CSS, tag &lt;link&gt;, dan selector sebagai jembatan.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19872" y="1719072"/>
            <a:ext cx="3419856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2480" y="1975104"/>
            <a:ext cx="731520" cy="731520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2150669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08592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9308592" y="2267712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→ JavaScript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8394192" y="2926080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&lt;script&gt;, posisi penempatan, serta atribut defer dan async.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" y="4151376"/>
            <a:ext cx="3419856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2688" y="4407408"/>
            <a:ext cx="731520" cy="73152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3" y="4582973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82880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828800" y="4700016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→ DOM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14400" y="535838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JS membaca dan mengubah struktur HTML lewat Document Object Model.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379976" y="4151376"/>
            <a:ext cx="3419856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72584" y="4407408"/>
            <a:ext cx="731520" cy="73152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149" y="4582973"/>
            <a:ext cx="380390" cy="38039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568696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5568696" y="4700016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→ CSS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4654296" y="535838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gaya lewat properti style dan classList secara efisien.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119872" y="4151376"/>
            <a:ext cx="3419856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412480" y="4407408"/>
            <a:ext cx="731520" cy="731520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045" y="4582973"/>
            <a:ext cx="380390" cy="38039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308592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9308592" y="4700016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&amp; Studi Kasus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8394192" y="535838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tombol mode gelap, struktur folder, kesalahan umum, dan debugging.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Analogi: Web Itu Seperti Sebuah Rumah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termudah memahami pembagian tugas antara ketiga teknologi.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37944" y="1956816"/>
            <a:ext cx="1024128" cy="102412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3735" y="2202607"/>
            <a:ext cx="532547" cy="5325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31089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5643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Rumah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3803904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Pondasi, dinding, atap, pintu, dan jendela. Menentukan APA yang ada dan di mana letak strukturnya.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79976" y="1719072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1956816"/>
            <a:ext cx="1024128" cy="102412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631" y="2202607"/>
            <a:ext cx="532547" cy="53254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79976" y="31089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379976" y="345643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&amp; Dekorasi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4672584" y="3803904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dinding, jenis lantai, posisi perabot, ukuran ruangan. Menentukan BAGAIMANA tampilannya.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19872" y="1719072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17736" y="1956816"/>
            <a:ext cx="1024128" cy="102412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527" y="2202607"/>
            <a:ext cx="532547" cy="53254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19872" y="31089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119872" y="345643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Listrik &amp; Mekanik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3803904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Saklar lampu, lift, kunci otomatis, AC. Menentukan APA YANG TERJADI saat ada aksi.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" y="5120640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33095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08760" y="5266944"/>
            <a:ext cx="9720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pemahaman: ketiganya adalah file terpisah yang harus dihubungkan secara sengaja. Browser tidak otomatis tahu bahwa style.css dan script.js milik index.html — kita yang memberitahunya.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Pilar dan Tanggung Jawabnya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teknologi punya file, sintaks, dan tugas yang berbeda — inilah prinsip separation of concerns.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419856" cy="3657600"/>
          </a:xfrm>
          <a:prstGeom prst="roundRect">
            <a:avLst>
              <a:gd name="adj" fmla="val 3209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984248"/>
            <a:ext cx="841248" cy="84124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588" y="2186148"/>
            <a:ext cx="437449" cy="43744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938528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38528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.html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0175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346704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struktur &amp; makna konten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00507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SINTAKS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4279392"/>
            <a:ext cx="2871216" cy="9144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69848" y="44165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"judul"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Halo Dunia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79976" y="1719072"/>
            <a:ext cx="3419856" cy="3657600"/>
          </a:xfrm>
          <a:prstGeom prst="roundRect">
            <a:avLst>
              <a:gd name="adj" fmla="val 3209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72584" y="1984248"/>
            <a:ext cx="841248" cy="84124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484" y="2186148"/>
            <a:ext cx="437449" cy="43744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678424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5678424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.css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0175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346704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tampilan &amp; tata letak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00507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SINTAKS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54296" y="4279392"/>
            <a:ext cx="2871216" cy="9144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809744" y="44165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#judul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crimson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119872" y="1719072"/>
            <a:ext cx="3419856" cy="3657600"/>
          </a:xfrm>
          <a:prstGeom prst="roundRect">
            <a:avLst>
              <a:gd name="adj" fmla="val 3209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412480" y="1984248"/>
            <a:ext cx="841248" cy="84124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380" y="2186148"/>
            <a:ext cx="437449" cy="437449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418320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941832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8394192" y="30175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 Web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394192" y="3346704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logika &amp; interaksi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8394192" y="400507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SINTAKS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394192" y="4279392"/>
            <a:ext cx="2871216" cy="9144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549640" y="44165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judul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"Halo!"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640080" y="555955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emas: struktur di HTML, gaya di CSS, perilaku di JavaScript. Mencampur ketiganya membuat kode sulit dirawat.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Dokumen HTML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dua baris yang menjadi titik koneksi ke CSS dan JavaScript.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6537960" cy="3739896"/>
          </a:xfrm>
          <a:prstGeom prst="roundRect">
            <a:avLst>
              <a:gd name="adj" fmla="val 19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56232"/>
            <a:ext cx="622706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Halaman Saya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"css/style.css"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"judul"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 Dunia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"tombol"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Klik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"js/script.js"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719072"/>
            <a:ext cx="3959352" cy="914400"/>
          </a:xfrm>
          <a:prstGeom prst="roundRect">
            <a:avLst>
              <a:gd name="adj" fmla="val 10000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1544" y="1892808"/>
            <a:ext cx="566928" cy="566928"/>
          </a:xfrm>
          <a:prstGeom prst="ellipse">
            <a:avLst/>
          </a:prstGeom>
          <a:solidFill>
            <a:srgbClr val="6E7789"/>
          </a:solidFill>
          <a:ln w="12700">
            <a:solidFill>
              <a:srgbClr val="6E778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607" y="2028871"/>
            <a:ext cx="294803" cy="29480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449056" y="18562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Deklarasi &amp; metadata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49056" y="212140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&lt;!DOCTYPE html&gt; menandai HTML5; &lt;head&gt; berisi informasi yang tidak tampil.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2770632"/>
            <a:ext cx="3959352" cy="914400"/>
          </a:xfrm>
          <a:prstGeom prst="roundRect">
            <a:avLst>
              <a:gd name="adj" fmla="val 10000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81544" y="2944368"/>
            <a:ext cx="566928" cy="56692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607" y="3080431"/>
            <a:ext cx="294803" cy="29480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449056" y="29077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koneksi ke CSS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8449056" y="317296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rel="stylesheet" href="..."&gt; memuat berkas CSS eksternal.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589520" y="3822192"/>
            <a:ext cx="3959352" cy="914400"/>
          </a:xfrm>
          <a:prstGeom prst="roundRect">
            <a:avLst>
              <a:gd name="adj" fmla="val 10000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81544" y="3995928"/>
            <a:ext cx="566928" cy="56692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607" y="4131991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9056" y="395935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 untuk CSS &amp; JS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8449056" y="422452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id dan class menjadi alamat elemen agar bisa dipilih.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589520" y="4873752"/>
            <a:ext cx="3959352" cy="914400"/>
          </a:xfrm>
          <a:prstGeom prst="roundRect">
            <a:avLst>
              <a:gd name="adj" fmla="val 10000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781544" y="5047488"/>
            <a:ext cx="566928" cy="56692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607" y="5183551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449056" y="501091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koneksi ke JavaScript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8449056" y="527608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 src="..."&gt; memuat berkas JS, diletakkan sebelum &lt;/body&gt;.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 Penghubung: Alamat Sebuah Elemen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penanda ini, CSS dan JavaScript tidak tahu elemen mana yang harus disentuh.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266944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920240"/>
            <a:ext cx="658368" cy="65836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832" y="2078248"/>
            <a:ext cx="342351" cy="3423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19751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651760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unik — hanya boleh dipakai satu elemen dalam satu halaman. Cocok untuk elemen tunggal seperti header utama atau satu tombol khusus.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32735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5295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id="judul"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23744" y="32735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23744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35295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#judul { … }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133088" y="32735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33088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133088" y="35295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72784" y="1719072"/>
            <a:ext cx="5266944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920240"/>
            <a:ext cx="658368" cy="65836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536" y="2078248"/>
            <a:ext cx="342351" cy="342351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24344" y="19751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6547104" y="2651760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kelompok — boleh dipakai berulang oleh banyak elemen. Pilihan utama untuk memberi gaya pada sekumpulan elemen sejenis.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47104" y="32735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47104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6547104" y="35295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class="tombol"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8156448" y="32735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156448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8156448" y="35295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 { … }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9765792" y="32735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765792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9765792" y="35295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640080" y="4114800"/>
            <a:ext cx="5266944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77824" y="4315968"/>
            <a:ext cx="658368" cy="65836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" y="4473976"/>
            <a:ext cx="342351" cy="342351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691640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data-*</a:t>
            </a:r>
            <a:endParaRPr lang="en-US" sz="1900" dirty="0"/>
          </a:p>
        </p:txBody>
      </p:sp>
      <p:sp>
        <p:nvSpPr>
          <p:cNvPr id="39" name="Text 34"/>
          <p:cNvSpPr txBox="1"/>
          <p:nvPr/>
        </p:nvSpPr>
        <p:spPr>
          <a:xfrm>
            <a:off x="914400" y="5047488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khusus untuk menyimpan data tambahan pada elemen tanpa mengotori tampilan. Sangat berguna untuk JavaScript.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14400" y="5669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14400" y="5669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50" dirty="0"/>
          </a:p>
        </p:txBody>
      </p:sp>
      <p:sp>
        <p:nvSpPr>
          <p:cNvPr id="42" name="Text 37"/>
          <p:cNvSpPr txBox="1"/>
          <p:nvPr/>
        </p:nvSpPr>
        <p:spPr>
          <a:xfrm>
            <a:off x="914400" y="5925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data-id="7"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2523744" y="5669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523744" y="5669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50" dirty="0"/>
          </a:p>
        </p:txBody>
      </p:sp>
      <p:sp>
        <p:nvSpPr>
          <p:cNvPr id="45" name="Text 40"/>
          <p:cNvSpPr txBox="1"/>
          <p:nvPr/>
        </p:nvSpPr>
        <p:spPr>
          <a:xfrm>
            <a:off x="2523744" y="5925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[data-id] { … }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4133088" y="5669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4133088" y="5669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850" dirty="0"/>
          </a:p>
        </p:txBody>
      </p:sp>
      <p:sp>
        <p:nvSpPr>
          <p:cNvPr id="48" name="Text 43"/>
          <p:cNvSpPr txBox="1"/>
          <p:nvPr/>
        </p:nvSpPr>
        <p:spPr>
          <a:xfrm>
            <a:off x="4133088" y="5925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el.dataset.id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272784" y="4114800"/>
            <a:ext cx="5266944" cy="2121408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510528" y="4315968"/>
            <a:ext cx="658368" cy="65836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536" y="4473976"/>
            <a:ext cx="342351" cy="342351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7324344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900" dirty="0"/>
          </a:p>
        </p:txBody>
      </p:sp>
      <p:sp>
        <p:nvSpPr>
          <p:cNvPr id="53" name="Text 47"/>
          <p:cNvSpPr txBox="1"/>
          <p:nvPr/>
        </p:nvSpPr>
        <p:spPr>
          <a:xfrm>
            <a:off x="6547104" y="5047488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pada elemen formulir sebagai kunci pengiriman data ke server, sekaligus cara mengakses input dari JavaScript.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6547104" y="5669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6547104" y="5669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50" dirty="0"/>
          </a:p>
        </p:txBody>
      </p:sp>
      <p:sp>
        <p:nvSpPr>
          <p:cNvPr id="56" name="Text 50"/>
          <p:cNvSpPr txBox="1"/>
          <p:nvPr/>
        </p:nvSpPr>
        <p:spPr>
          <a:xfrm>
            <a:off x="6547104" y="5925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name="email"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8156448" y="5669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156448" y="5669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50" dirty="0"/>
          </a:p>
        </p:txBody>
      </p:sp>
      <p:sp>
        <p:nvSpPr>
          <p:cNvPr id="59" name="Text 53"/>
          <p:cNvSpPr txBox="1"/>
          <p:nvPr/>
        </p:nvSpPr>
        <p:spPr>
          <a:xfrm>
            <a:off x="8156448" y="5925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[name="email"] { … }</a:t>
            </a:r>
            <a:endParaRPr lang="en-US" sz="850" dirty="0"/>
          </a:p>
        </p:txBody>
      </p:sp>
      <p:sp>
        <p:nvSpPr>
          <p:cNvPr id="60" name="Shape 54"/>
          <p:cNvSpPr/>
          <p:nvPr/>
        </p:nvSpPr>
        <p:spPr>
          <a:xfrm>
            <a:off x="9765792" y="5669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9765792" y="5669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850" dirty="0"/>
          </a:p>
        </p:txBody>
      </p:sp>
      <p:sp>
        <p:nvSpPr>
          <p:cNvPr id="62" name="Text 56"/>
          <p:cNvSpPr txBox="1"/>
          <p:nvPr/>
        </p:nvSpPr>
        <p:spPr>
          <a:xfrm>
            <a:off x="9765792" y="5925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form.elements.x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Sebuah Aturan CSS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aturan CSS selalu terdiri dari selector dan blok deklarasi.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0908792" cy="2025396"/>
          </a:xfrm>
          <a:prstGeom prst="roundRect">
            <a:avLst>
              <a:gd name="adj" fmla="val 3612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56232"/>
            <a:ext cx="10597896" cy="175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background-color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#E34F26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 24px</a:t>
            </a:r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005072"/>
            <a:ext cx="3419856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197096"/>
            <a:ext cx="640080" cy="64008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4350715"/>
            <a:ext cx="332842" cy="3328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64208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64208" y="4572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74336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elemen HTML mana yang akan diberi gaya. Inilah jembatan CSS ke HTML.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79976" y="4005072"/>
            <a:ext cx="3419856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4197096"/>
            <a:ext cx="640080" cy="64008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4350715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04104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5404104" y="4572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654296" y="4974336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 tampilan yang ingin diubah: warna, ukuran, jarak, posisi, dan lainnya.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19872" y="4005072"/>
            <a:ext cx="3419856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48472" y="4197096"/>
            <a:ext cx="640080" cy="640080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1" y="4350715"/>
            <a:ext cx="332842" cy="33284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14400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0" y="4572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#E34F26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8394192" y="4974336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diberikan pada properti tersebut. Properti dan nilai dipisah titik dua.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"properti: nilai;" disebut deklarasi. Titik koma memisahkan antar deklarasi dan wajib ditulis.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Sebenarnya Dikerjakan JavaScript?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pekerjaan utama JS di sisi browser — tiga di antaranya menyentuh HTML dan CSS secara langsung.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892808"/>
            <a:ext cx="658368" cy="65836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832" y="2050816"/>
            <a:ext cx="342351" cy="3423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1901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Memanipulasi DOM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2203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Membaca, menambah, mengubah, dan menghapus elemen HTML setelah halaman dimuat.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95160" y="1865376"/>
            <a:ext cx="4416552" cy="713232"/>
          </a:xfrm>
          <a:prstGeom prst="roundRect">
            <a:avLst>
              <a:gd name="adj" fmla="val 102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50608" y="2002536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("#judul")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.textContent =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"Baru"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2871216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3044952"/>
            <a:ext cx="658368" cy="65836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32" y="3202960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37360" y="3054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Menangani Event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1737360" y="33558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Merespon aksi pengguna: klik, ketikan, gulir, kirim formulir, gerakan kursor.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995160" y="3017520"/>
            <a:ext cx="4416552" cy="713232"/>
          </a:xfrm>
          <a:prstGeom prst="roundRect">
            <a:avLst>
              <a:gd name="adj" fmla="val 102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50608" y="3154680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tombol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fungsiSaya);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0080" y="4023360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77824" y="4197096"/>
            <a:ext cx="658368" cy="65836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" y="4355104"/>
            <a:ext cx="342351" cy="34235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73736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&amp; Data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1737360" y="45079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nilai, melakukan perhitungan, percabangan kondisi, dan perulangan.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995160" y="4169664"/>
            <a:ext cx="4416552" cy="713232"/>
          </a:xfrm>
          <a:prstGeom prst="roundRect">
            <a:avLst>
              <a:gd name="adj" fmla="val 102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150608" y="4306824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(nilai &gt;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=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"Lulus"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40080" y="5175504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7824" y="5349240"/>
            <a:ext cx="658368" cy="65836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32" y="5507248"/>
            <a:ext cx="342351" cy="34235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737360" y="5358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Komunikasi Server</a:t>
            </a:r>
            <a:endParaRPr lang="en-US" sz="1450" dirty="0"/>
          </a:p>
        </p:txBody>
      </p:sp>
      <p:sp>
        <p:nvSpPr>
          <p:cNvPr id="32" name="Text 26"/>
          <p:cNvSpPr txBox="1"/>
          <p:nvPr/>
        </p:nvSpPr>
        <p:spPr>
          <a:xfrm>
            <a:off x="1737360" y="56601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atau mengirim data ke server tanpa memuat ulang halaman (AJAX / fetch).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995160" y="5321808"/>
            <a:ext cx="4416552" cy="713232"/>
          </a:xfrm>
          <a:prstGeom prst="roundRect">
            <a:avLst>
              <a:gd name="adj" fmla="val 102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150608" y="5458968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"/api/data"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 =&gt; r.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MATERI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Koneksi: Siapa Memanggil Siapa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dari baris ke kolom. Setiap sel menunjukkan mekanisme yang menghubungkan keduanya.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71907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719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HTML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0" y="171907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719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CSS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0" y="171907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1719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JavaScript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322576"/>
            <a:ext cx="182880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322576"/>
            <a:ext cx="1645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HTML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51760" y="232257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12938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9776" y="2322576"/>
            <a:ext cx="26243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C7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232257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7296" y="241401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rel="stylesheet"&gt;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atau &lt;style&gt; … &lt;/style&gt;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797296" y="305409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berkas gaya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0" y="232257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14816" y="241401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src="…"&gt;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atau &lt;script&gt; … &lt;/script&gt;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814816" y="305409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berkas skrip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511296"/>
            <a:ext cx="182880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511296"/>
            <a:ext cx="1645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CSS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651760" y="351129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79776" y="360273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Selector: tag, .class,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#id, [atribut]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779776" y="424281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elemen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51129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97296" y="360273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@import, variabel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 --warna: … }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797296" y="424281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antar berkas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0" y="351129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12938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14816" y="3511296"/>
            <a:ext cx="26243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C7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C7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(CSS tidak memanggil JS)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700016"/>
            <a:ext cx="182880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700016"/>
            <a:ext cx="1645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JavaScript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651760" y="470001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79776" y="479145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querySelector, innerHTML,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createElement, append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2779776" y="54315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0" y="470001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97296" y="479145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el.style.warna,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classList.add/toggle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797296" y="54315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gaya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86800" y="4700016"/>
            <a:ext cx="2880360" cy="1060704"/>
          </a:xfrm>
          <a:prstGeom prst="roundRect">
            <a:avLst>
              <a:gd name="adj" fmla="val 6897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14816" y="4791456"/>
            <a:ext cx="2624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/ export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 JavaScript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814816" y="54315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Memecah kode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8704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Perhatikan: CSS tidak pernah memanggil JavaScript. Arah komunikasi tidak simetris — JavaScript adalah satu-satunya yang bisa menjangkau keduanya.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1 · HTML → CSS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Cara Menyisipkan CSS ke HTML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bekerja, tetapi hanya satu yang layak dipakai untuk proyek sungguhan.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419856" cy="388620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197510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2257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style pada elemen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072384"/>
            <a:ext cx="2871216" cy="1298448"/>
          </a:xfrm>
          <a:prstGeom prst="roundRect">
            <a:avLst>
              <a:gd name="adj" fmla="val 5634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320954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"color:red;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font-size:20px"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Teks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17136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menempel pada satu elemen saja. Sulit dipakai ulang, sulit diubah massal, dan mencampur struktur dengan tampilan.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79976" y="1719072"/>
            <a:ext cx="3419856" cy="388620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54296" y="197510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32257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&lt;style&gt; di dalam &lt;head&gt;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54296" y="26517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4296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3072384"/>
            <a:ext cx="2871216" cy="1298448"/>
          </a:xfrm>
          <a:prstGeom prst="roundRect">
            <a:avLst>
              <a:gd name="adj" fmla="val 5634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20954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{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red; }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54296" y="4517136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untuk seluruh halaman itu saja. Berguna untuk halaman tunggal atau prototipe cepat, tidak untuk banyak halaman.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19872" y="1719072"/>
            <a:ext cx="3419856" cy="388620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94192" y="197510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232257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.css terpisah via &lt;link&gt;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94192" y="26517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94192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94192" y="3072384"/>
            <a:ext cx="2871216" cy="1298448"/>
          </a:xfrm>
          <a:prstGeom prst="roundRect">
            <a:avLst>
              <a:gd name="adj" fmla="val 5634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320954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href=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"css/style.css"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94192" y="4517136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berkas gaya dipakai banyak halaman, di-cache browser sehingga lebih cepat, dan memisahkan tampilan dari struktur.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742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prioritas jika terjadi konflik: inline mengalahkan internal, internal mengalahkan external (semakin dekat ke elemen, semakin kuat).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1 · HTML → CSS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&lt;link&gt; dan Jalur Berkas (Path)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nomor satu "CSS saya tidak jalan" adalah jalur berkas yang keliru.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 PROYEK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4937760" cy="1999996"/>
          </a:xfrm>
          <a:prstGeom prst="roundRect">
            <a:avLst>
              <a:gd name="adj" fmla="val 3658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167128"/>
            <a:ext cx="4626864" cy="172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proyek-web/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index.html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tentang.html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css/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\-- style.css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js/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\-- script.js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ditulis relatif terhadap berkas HTML yang sedang dibuka, bukan terhadap folder proyek.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4937760" cy="1481328"/>
          </a:xfrm>
          <a:prstGeom prst="roundRect">
            <a:avLst>
              <a:gd name="adj" fmla="val 6173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48828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 simbol jalur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517550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4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  →  folder css di lokasi sama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4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../css/style.css  →  naik satu folder dulu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4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/css/style.css  →  dihitung dari akar situs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1719072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PENULISANNYA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029968"/>
            <a:ext cx="5276088" cy="932688"/>
          </a:xfrm>
          <a:prstGeom prst="roundRect">
            <a:avLst>
              <a:gd name="adj" fmla="val 9804"/>
            </a:avLst>
          </a:prstGeom>
          <a:solidFill>
            <a:srgbClr val="EAF6EE"/>
          </a:solidFill>
          <a:ln w="12700">
            <a:solidFill>
              <a:srgbClr val="C8E4D2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2340864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958584" y="215798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href="css/style.css"&gt;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958584" y="246888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— dipanggil dari index.html yang sejajar dengan folder css.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72784" y="3081528"/>
            <a:ext cx="5276088" cy="932688"/>
          </a:xfrm>
          <a:prstGeom prst="roundRect">
            <a:avLst>
              <a:gd name="adj" fmla="val 9804"/>
            </a:avLst>
          </a:prstGeom>
          <a:solidFill>
            <a:srgbClr val="FBECEA"/>
          </a:solidFill>
          <a:ln w="12700">
            <a:solidFill>
              <a:srgbClr val="F0CFC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39242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958584" y="320954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href="style.css"&gt;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958584" y="352044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— atribut rel="stylesheet" hilang, browser tidak menganggapnya sebagai gaya.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72784" y="4133088"/>
            <a:ext cx="5276088" cy="932688"/>
          </a:xfrm>
          <a:prstGeom prst="roundRect">
            <a:avLst>
              <a:gd name="adj" fmla="val 9804"/>
            </a:avLst>
          </a:prstGeom>
          <a:solidFill>
            <a:srgbClr val="FBECEA"/>
          </a:solidFill>
          <a:ln w="12700">
            <a:solidFill>
              <a:srgbClr val="F0CFC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443984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958584" y="426110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958584" y="457200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— penulisan huruf besar/kecil berbeda. Server web bersifat case-sensitive.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72784" y="5184648"/>
            <a:ext cx="5276088" cy="932688"/>
          </a:xfrm>
          <a:prstGeom prst="roundRect">
            <a:avLst>
              <a:gd name="adj" fmla="val 9804"/>
            </a:avLst>
          </a:prstGeom>
          <a:solidFill>
            <a:srgbClr val="EAF6EE"/>
          </a:solidFill>
          <a:ln w="12700">
            <a:solidFill>
              <a:srgbClr val="C8E4D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5495544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958584" y="531266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href="../css/style.css"&gt;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58584" y="56235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— dipakai jika berkas HTML berada di dalam subfolder.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1 · HTML → CSS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Selector: Jembatan Nyata Antara CSS dan HTML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&lt;link&gt; menyambungkan berkasnya; selector-lah yang menyambungkan setiap aturan ke elemen.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276088" cy="1822196"/>
          </a:xfrm>
          <a:prstGeom prst="roundRect">
            <a:avLst>
              <a:gd name="adj" fmla="val 4014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" y="2240280"/>
            <a:ext cx="4965192" cy="154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"judul"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Toko Buku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Selamat datang.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Silakan pilih buku.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"tombol"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Beli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"tombol"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Simpan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71907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2784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2784" y="2103120"/>
            <a:ext cx="5276088" cy="1822196"/>
          </a:xfrm>
          <a:prstGeom prst="roundRect">
            <a:avLst>
              <a:gd name="adj" fmla="val 4014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2240280"/>
            <a:ext cx="4965192" cy="154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#judul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 elemen */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navy; 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semua &lt;p&gt; */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line-height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1.6; 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 elemen */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crimson;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white; 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96512"/>
            <a:ext cx="3419856" cy="178308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15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id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#judul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10912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satu elemen dengan atribut id yang sama persis. Diawali tanda pagar.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9976" y="4096512"/>
            <a:ext cx="3419856" cy="178308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4296" y="4315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54296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312664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class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312664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654296" y="5010912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semua elemen yang memiliki class tersebut. Diawali tanda titik.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19872" y="4096512"/>
            <a:ext cx="3419856" cy="178308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4192" y="4315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94192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tag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5010912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semua elemen dengan nama tag tersebut. Ditulis tanpa awalan.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97103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class dan id di CSS harus sama persis dengan di HTML — termasuk huruf besar dan kecilnya.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2 · HTML → JAVASCRIPT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&lt;script&gt; dan Posisi Pemuatannya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tag &lt;script&gt; menentukan apakah JavaScript menemukan elemen HTML atau justru error.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dalam &lt;head&gt;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9704" y="192024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BERISIKO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322576"/>
            <a:ext cx="4718304" cy="749808"/>
          </a:xfrm>
          <a:prstGeom prst="roundRect">
            <a:avLst>
              <a:gd name="adj" fmla="val 97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45973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"js/script.js"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163824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 dijalankan sebelum &lt;body&gt; dibuat. querySelector menghasilkan null karena elemennya belum 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719072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47104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&lt;/body&gt;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122408" y="192024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22408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47104" y="2322576"/>
            <a:ext cx="4718304" cy="749808"/>
          </a:xfrm>
          <a:prstGeom prst="roundRect">
            <a:avLst>
              <a:gd name="adj" fmla="val 97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2552" y="245973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Klik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"js/script.js"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47104" y="3163824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elemen sudah terbentuk saat skrip berjalan. Cara paling sederhana dan paling sering dipakai pemula.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133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di &lt;head&gt;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89704" y="413308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9704" y="41330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535424"/>
            <a:ext cx="4718304" cy="749808"/>
          </a:xfrm>
          <a:prstGeom prst="roundRect">
            <a:avLst>
              <a:gd name="adj" fmla="val 97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9848" y="4672584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"js/script.js"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37667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diunduh bersamaan dengan HTML tetapi dijalankan setelah dokumen selesai. Cepat dan tetap aman.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2784" y="3931920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47104" y="4133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di &lt;head&gt;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122408" y="413308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22408" y="41330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47104" y="4535424"/>
            <a:ext cx="4718304" cy="749808"/>
          </a:xfrm>
          <a:prstGeom prst="roundRect">
            <a:avLst>
              <a:gd name="adj" fmla="val 97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02552" y="4672584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"analitik.js"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547104" y="537667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begitu selesai diunduh, tanpa menunggu HTML. Hanya cocok untuk skrip mandiri seperti analitik.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350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lain: bungkus kode dalam document.addEventListener("DOMContentLoaded", ...) agar berjalan setelah struktur halaman siap.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3 · JAVASCRIPT → HTML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DOM: Halaman Berubah Menjadi Objek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menerjemahkan HTML menjadi pohon objek. JavaScript tidak mengedit berkas .html — ia mengedit pohon ini.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40680" y="18288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2030"/>
          </a:solidFill>
          <a:ln w="12700">
            <a:solidFill>
              <a:srgbClr val="1B20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331720"/>
            <a:ext cx="0" cy="4572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2788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329184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3520440"/>
            <a:ext cx="5120640" cy="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352044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352044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7490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036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37490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425196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480560"/>
            <a:ext cx="3017520" cy="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48056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448056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4709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4709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4709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0" y="4709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&lt;link&gt;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15400" y="425196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4480560"/>
            <a:ext cx="3017520" cy="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448056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4480560"/>
            <a:ext cx="0" cy="228600"/>
          </a:xfrm>
          <a:prstGeom prst="line">
            <a:avLst/>
          </a:prstGeom>
          <a:noFill/>
          <a:ln w="22225">
            <a:solidFill>
              <a:srgbClr val="D8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4709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4709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#judul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0" y="4709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0" y="4709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504688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5715000"/>
            <a:ext cx="292608" cy="292608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371600" y="56144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kotak adalah objek yang bisa dibaca dan diubah dari JavaScript, lengkap dengan properti dan metodenya.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72784" y="5504688"/>
            <a:ext cx="5276088" cy="713232"/>
          </a:xfrm>
          <a:prstGeom prst="roundRect">
            <a:avLst>
              <a:gd name="adj" fmla="val 1025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28232" y="5641848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"#judul"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menelusuri pohon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"Judul Baru"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mengubah node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3 · JAVASCRIPT → HTML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Memilih dan Mengubah Elemen lewat DOM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kerjanya selalu sama: pilih elemen terlebih dahulu, simpan ke variabel, baru ubah isinya.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943600" cy="3511296"/>
          </a:xfrm>
          <a:prstGeom prst="roundRect">
            <a:avLst>
              <a:gd name="adj" fmla="val 2083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56232"/>
            <a:ext cx="563270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MEMILIH elemen dari HTML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judul 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"#judul"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tombol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".tombol"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MENGUBAH isi teks (aman)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judul.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"Selamat Datang"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MENGUBAH isi berupa HTML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judul.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"&lt;em&gt;Halo&lt;/em&gt; Dunia"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MENAMBAH elemen baru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"Paragraf tambahan"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422392"/>
            <a:ext cx="5943600" cy="804672"/>
          </a:xfrm>
          <a:prstGeom prst="roundRect">
            <a:avLst>
              <a:gd name="adj" fmla="val 11364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567842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55778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tetap: pilih elemen, simpan ke variabel, lalu ubah. Jika hasil pemilihan bernilai null, berarti elemennya belum ada saat skrip dijalankan.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1719072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YANG PALING SERING DIPAKAI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03720" y="2048256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86600" y="210312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232257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elemen PERTAMA yang cocok dengan selector CSS.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03720" y="2670048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86600" y="272491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2944368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SEMUA elemen yang cocok, hasilnya berupa daftar.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3291840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86600" y="334670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356616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elemen berdasarkan id, ditulis tanpa tanda pagar.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03720" y="3913632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86600" y="396849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18795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teks murni. Pilihan paling aman dari serangan XSS.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03720" y="4535424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86600" y="4590288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4809744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isi termasuk tag HTML. Jangan diisi input pengguna.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03720" y="5157216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086600" y="521208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setAttribute()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543153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atribut elemen, misalnya src, href, atau disabled.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03720" y="5779008"/>
            <a:ext cx="4645152" cy="548640"/>
          </a:xfrm>
          <a:prstGeom prst="roundRect">
            <a:avLst>
              <a:gd name="adj" fmla="val 13333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86600" y="583387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6053328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elemen tersebut dari halaman.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4 · JAVASCRIPT → CSS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Cara JavaScript Mengubah Tampilan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sah, tetapi satu di antaranya jauh lebih rapi untuk dirawat.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190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1 · element.style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5276088" cy="1936496"/>
          </a:xfrm>
          <a:prstGeom prst="roundRect">
            <a:avLst>
              <a:gd name="adj" fmla="val 3778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" y="2276856"/>
            <a:ext cx="4965192" cy="166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kotak =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".kotak"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kotak.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"crimson"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kotak.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"20px"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kotak.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"none"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nama properti memakai camelCase: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background-color -&gt; backgroundColor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276088" cy="1325880"/>
          </a:xfrm>
          <a:prstGeom prst="roundRect">
            <a:avLst>
              <a:gd name="adj" fmla="val 6897"/>
            </a:avLst>
          </a:prstGeom>
          <a:solidFill>
            <a:srgbClr val="FBECEA"/>
          </a:solidFill>
          <a:ln w="12700">
            <a:solidFill>
              <a:srgbClr val="F0CF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4334256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608576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ditulis sebagai inline style, sulit ditimpa oleh CSS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tampilan tersebar di berkas JavaScript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Repot bila harus mengubah banyak properti sekaligus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719072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7190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2 · classList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2784" y="2139696"/>
            <a:ext cx="5276088" cy="1936496"/>
          </a:xfrm>
          <a:prstGeom prst="roundRect">
            <a:avLst>
              <a:gd name="adj" fmla="val 3778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8232" y="2276856"/>
            <a:ext cx="4965192" cy="166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.aktif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crimson; }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.sembunyi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none; }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kotak.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"aktif"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kotak.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"sembunyi"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kotak.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"aktif"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2784" y="4206240"/>
            <a:ext cx="5276088" cy="1325880"/>
          </a:xfrm>
          <a:prstGeom prst="roundRect">
            <a:avLst>
              <a:gd name="adj" fmla="val 6897"/>
            </a:avLst>
          </a:prstGeom>
          <a:solidFill>
            <a:srgbClr val="EAF6EE"/>
          </a:solidFill>
          <a:ln w="12700">
            <a:solidFill>
              <a:srgbClr val="C8E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28816" y="4334256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4608576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gaya tetap tinggal di berkas CSS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hanya menyalakan atau mematikan satu class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toggle() sangat praktis untuk fitur buka-tutup dan mode gelap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650992"/>
            <a:ext cx="10908792" cy="603504"/>
          </a:xfrm>
          <a:prstGeom prst="roundRect">
            <a:avLst>
              <a:gd name="adj" fmla="val 15152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815584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17320" y="5760720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gunakan classList. Simpan seluruh keputusan tampilan di CSS, dan biarkan JavaScript hanya mengatur kapan class itu dipasang.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PEREKAT INTERAKSI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Event: Saat Ketiganya Bekerja Bersamaan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adalah pemicu yang mengubah halaman statis menjadi aplikasi yang responsif.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719072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883664"/>
            <a:ext cx="676656" cy="676656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269" y="2046061"/>
            <a:ext cx="351861" cy="35186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" y="2679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beraksi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1363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di HTML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20848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825496" y="1719072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93008" y="1883664"/>
            <a:ext cx="676656" cy="676656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405" y="2046061"/>
            <a:ext cx="351861" cy="35186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35224" y="2679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kirim event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935224" y="31363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"click" terpicu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37176" y="20848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056632" y="1719072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24144" y="1883664"/>
            <a:ext cx="676656" cy="676656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541" y="2046061"/>
            <a:ext cx="351861" cy="35186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66360" y="2679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JS jalan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166360" y="31363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dijalankan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068312" y="20848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287768" y="1719072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955280" y="1883664"/>
            <a:ext cx="676656" cy="676656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77" y="2046061"/>
            <a:ext cx="351861" cy="35186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97496" y="2679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diperbarui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397496" y="31363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atau class berubah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299448" y="20848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9518904" y="1719072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186416" y="1883664"/>
            <a:ext cx="676656" cy="676656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8813" y="2046061"/>
            <a:ext cx="351861" cy="35186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28632" y="2679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berubah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628632" y="31363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CSS diterapkan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40080" y="3822192"/>
            <a:ext cx="6537960" cy="2139696"/>
          </a:xfrm>
          <a:prstGeom prst="roundRect">
            <a:avLst>
              <a:gd name="adj" fmla="val 3419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95528" y="3959352"/>
            <a:ext cx="622706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Pilih elemen HTML lewat class-nya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tombol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".tombol"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Pasang pendengar event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tombol.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judul.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"Tombol ditekan!"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ubah HTML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judul.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"aktif"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ubah CSS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7589520" y="382219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YANG SERING DIPAKAI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7589520" y="40965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9006840" y="4096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diklik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7589520" y="4443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050" dirty="0"/>
          </a:p>
        </p:txBody>
      </p:sp>
      <p:sp>
        <p:nvSpPr>
          <p:cNvPr id="42" name="Text 35"/>
          <p:cNvSpPr txBox="1"/>
          <p:nvPr/>
        </p:nvSpPr>
        <p:spPr>
          <a:xfrm>
            <a:off x="9006840" y="444398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berubah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7589520" y="4791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9006840" y="47914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dikirim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7589520" y="5138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050" dirty="0"/>
          </a:p>
        </p:txBody>
      </p:sp>
      <p:sp>
        <p:nvSpPr>
          <p:cNvPr id="46" name="Text 39"/>
          <p:cNvSpPr txBox="1"/>
          <p:nvPr/>
        </p:nvSpPr>
        <p:spPr>
          <a:xfrm>
            <a:off x="9006840" y="513892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keyboard ditekan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7589520" y="5486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</a:t>
            </a:r>
            <a:endParaRPr lang="en-US" sz="1050" dirty="0"/>
          </a:p>
        </p:txBody>
      </p:sp>
      <p:sp>
        <p:nvSpPr>
          <p:cNvPr id="48" name="Text 41"/>
          <p:cNvSpPr txBox="1"/>
          <p:nvPr/>
        </p:nvSpPr>
        <p:spPr>
          <a:xfrm>
            <a:off x="9006840" y="548640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digulir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7589520" y="5833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050" dirty="0"/>
          </a:p>
        </p:txBody>
      </p:sp>
      <p:sp>
        <p:nvSpPr>
          <p:cNvPr id="50" name="Text 43"/>
          <p:cNvSpPr txBox="1"/>
          <p:nvPr/>
        </p:nvSpPr>
        <p:spPr>
          <a:xfrm>
            <a:off x="9006840" y="58338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selesai dimuat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BALIK LAYAR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Browser Merakit Ketiganya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alur ini menjelaskan mengapa urutan pemuatan berkas begitu penting.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719072"/>
            <a:ext cx="2011680" cy="2057400"/>
          </a:xfrm>
          <a:prstGeom prst="roundRect">
            <a:avLst>
              <a:gd name="adj" fmla="val 5455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1892808"/>
            <a:ext cx="713232" cy="713232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60" y="2063984"/>
            <a:ext cx="370881" cy="37088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" y="272491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HTML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04495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HTML diambil dan dibaca baris per baris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210312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825496" y="1719072"/>
            <a:ext cx="2011680" cy="2057400"/>
          </a:xfrm>
          <a:prstGeom prst="roundRect">
            <a:avLst>
              <a:gd name="adj" fmla="val 5455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892808"/>
            <a:ext cx="713232" cy="713232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896" y="2063984"/>
            <a:ext cx="370881" cy="37088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35224" y="272491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DOM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2935224" y="304495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HTML menjadi pohon objek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37176" y="210312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056632" y="1719072"/>
            <a:ext cx="2011680" cy="2057400"/>
          </a:xfrm>
          <a:prstGeom prst="roundRect">
            <a:avLst>
              <a:gd name="adj" fmla="val 5455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05856" y="1892808"/>
            <a:ext cx="713232" cy="713232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032" y="2063984"/>
            <a:ext cx="370881" cy="37088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66360" y="272491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CSSOM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166360" y="304495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aturan CSS dikumpulkan menjadi pohon gaya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068312" y="210312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287768" y="1719072"/>
            <a:ext cx="2011680" cy="2057400"/>
          </a:xfrm>
          <a:prstGeom prst="roundRect">
            <a:avLst>
              <a:gd name="adj" fmla="val 5455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936992" y="1892808"/>
            <a:ext cx="713232" cy="713232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168" y="2063984"/>
            <a:ext cx="370881" cy="37088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97496" y="272491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Tree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7397496" y="304495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dan CSSOM digabung menjadi apa yang terlihat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299448" y="210312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9518904" y="1719072"/>
            <a:ext cx="2011680" cy="2057400"/>
          </a:xfrm>
          <a:prstGeom prst="roundRect">
            <a:avLst>
              <a:gd name="adj" fmla="val 5455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168128" y="1892808"/>
            <a:ext cx="713232" cy="713232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9304" y="2063984"/>
            <a:ext cx="370881" cy="37088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28632" y="272491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Paint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9628632" y="304495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dihitung, lalu piksel digambar ke layar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40080" y="4050792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2A3348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905256" y="4206240"/>
            <a:ext cx="658368" cy="65836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264" y="4364248"/>
            <a:ext cx="342351" cy="342351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783080" y="4206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menyela alur ini</a:t>
            </a:r>
            <a:endParaRPr lang="en-US" sz="1350" dirty="0"/>
          </a:p>
        </p:txBody>
      </p:sp>
      <p:sp>
        <p:nvSpPr>
          <p:cNvPr id="40" name="Text 32"/>
          <p:cNvSpPr txBox="1"/>
          <p:nvPr/>
        </p:nvSpPr>
        <p:spPr>
          <a:xfrm>
            <a:off x="1783080" y="4498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kali JS mengubah DOM atau gaya, browser harus menghitung ulang tata letak (reflow) dan menggambar ulang (repaint). Karena itu perubahan yang efisien — misalnya mengganti satu class, bukan puluhan properti style — membuat halaman terasa lebih ringan.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640080" y="5175504"/>
            <a:ext cx="3419856" cy="1097280"/>
          </a:xfrm>
          <a:prstGeom prst="roundRect">
            <a:avLst>
              <a:gd name="adj" fmla="val 8333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59536" y="53218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memblokir tampilan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859536" y="559612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tidak digambar sebelum CSS selesai diproses. Karena itu &lt;link&gt; diletakkan di &lt;head&gt;.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4379976" y="5175504"/>
            <a:ext cx="3419856" cy="1097280"/>
          </a:xfrm>
          <a:prstGeom prst="roundRect">
            <a:avLst>
              <a:gd name="adj" fmla="val 8333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4599432" y="53218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 memblokir pembacaan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4599432" y="559612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tanpa defer menghentikan pembacaan HTML sampai skrip selesai dijalankan.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8119872" y="5175504"/>
            <a:ext cx="3419856" cy="1097280"/>
          </a:xfrm>
          <a:prstGeom prst="roundRect">
            <a:avLst>
              <a:gd name="adj" fmla="val 8333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8339328" y="53218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menentukan hasil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8339328" y="559612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yang belum terbentuk tidak bisa dipilih oleh JavaScript.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Mini: Tombol Mode Gelap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proyek kecil yang memakai keempat koneksi sekaligus, dari awal sampai berjalan.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BERKAS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4937760" cy="1682496"/>
          </a:xfrm>
          <a:prstGeom prst="roundRect">
            <a:avLst>
              <a:gd name="adj" fmla="val 4348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167128"/>
            <a:ext cx="46268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mode-gelap/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index.html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 struktur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css/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\-- style.css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tampilan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js/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\-- script.js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perilaku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67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DIBANGUN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dengan judul, paragraf, dan satu tombol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terang sebagai tampilan bawaan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klik, seluruh halaman berubah menjadi gelap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tombol ikut berganti mengikuti mode aktif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719072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KONEKSI YANG DIPAKAI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2029968"/>
            <a:ext cx="5276088" cy="896112"/>
          </a:xfrm>
          <a:prstGeom prst="roundRect">
            <a:avLst>
              <a:gd name="adj" fmla="val 1020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194560"/>
            <a:ext cx="566928" cy="56692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2583" y="2330623"/>
            <a:ext cx="294803" cy="29480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114032" y="217627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memanggil CSS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114032" y="2450592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href="css/style.css"&gt;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72784" y="3054096"/>
            <a:ext cx="5276088" cy="896112"/>
          </a:xfrm>
          <a:prstGeom prst="roundRect">
            <a:avLst>
              <a:gd name="adj" fmla="val 1020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3218688"/>
            <a:ext cx="566928" cy="566928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83" y="3354751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114032" y="320040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memanggil JavaScript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114032" y="347472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9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src="js/script.js"&gt;&lt;/script&gt;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72784" y="4078224"/>
            <a:ext cx="5276088" cy="896112"/>
          </a:xfrm>
          <a:prstGeom prst="roundRect">
            <a:avLst>
              <a:gd name="adj" fmla="val 1020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46520" y="4242816"/>
            <a:ext cx="566928" cy="566928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83" y="4378879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114032" y="422452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membaca DOM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7114032" y="449884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document.querySelector(".tombol")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272784" y="5102352"/>
            <a:ext cx="5276088" cy="896112"/>
          </a:xfrm>
          <a:prstGeom prst="roundRect">
            <a:avLst>
              <a:gd name="adj" fmla="val 1020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46520" y="5266944"/>
            <a:ext cx="566928" cy="566928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83" y="5403007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114032" y="524865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mengganti class CSS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7114032" y="552297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body.classList.toggle("gelap")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BERKAS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— Struktur dan Titik Koneksi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baris bercetak tebal adalah satu-satunya tempat HTML memanggil berkas lain.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6903720" cy="4501896"/>
          </a:xfrm>
          <a:prstGeom prst="roundRect">
            <a:avLst>
              <a:gd name="adj" fmla="val 1625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56232"/>
            <a:ext cx="6592824" cy="422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lang=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Mode Gelap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"css/style.css"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"judul"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Halo, Dunia Web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"keterangan"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Klik tombol untuk mengganti tema halaman.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"tombol"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"saklar"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 Gelap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"js/script.js"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1907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PERLU DIPERHATIKAN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0" y="2048256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19456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65008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6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65008" y="2505456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Memanggil berkas CSS. Diletakkan di &lt;head&gt; agar gaya siap sebelum halaman digambar.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3127248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327355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65008" y="3273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10 &amp; 12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065008" y="3584448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id="judul" dan class="keterangan" menjadi alamat bagi CSS maupun JavaScript.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4206240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352544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5008" y="43525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16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65008" y="4663440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punya class untuk gaya dan id untuk dipilih JavaScript. Keduanya boleh bersamaan.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5285232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543153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65008" y="54315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20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065008" y="5742432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Memanggil berkas JS tepat sebelum &lt;/body&gt;, sehingga semua elemen sudah terbentuk.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BERKAS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 — Menemukan Elemen dan Memberinya Gaya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selector di sini menunjuk ke penanda yang sudah kita siapkan di HTML.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6903720" cy="4444746"/>
          </a:xfrm>
          <a:prstGeom prst="roundRect">
            <a:avLst>
              <a:gd name="adj" fmla="val 1646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56232"/>
            <a:ext cx="6592824" cy="417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gaya dasar: mode terang */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#1b2030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font-family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Arial, sans-serif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0.3s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#judul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32px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.keterangan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#e34f26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white;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 24px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pointer;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ini dipasang oleh JavaScript */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B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body.gelap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#1b2030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#f3f5fa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1907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YANG DIPAKAI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0" y="2048256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5008" y="219456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menyusul HTML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48716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#judul, .keterangan, dan .tombol dikenali karena penanda itu ada di berkas HTML.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3127248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65008" y="327355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kondisi disiapkan lebih dulu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56616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terang dan gelap sama-sama ditulis di CSS. JavaScript tinggal memilih salah satunya.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4206240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435254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body.gelap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464515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Artinya: berlaku hanya jika elemen body memiliki class gelap. Inilah saklarnya.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5285232"/>
            <a:ext cx="3685032" cy="960120"/>
          </a:xfrm>
          <a:prstGeom prst="roundRect">
            <a:avLst>
              <a:gd name="adj" fmla="val 9524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5008" y="543153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65008" y="5724144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perpindahan warna berlangsung halus selama 0,3 detik tanpa bantuan JavaScript.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BERKAS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— Menghubungkan Aksi dengan Tampilan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tidak menulis warna satu pun; ia hanya memasang dan melepas sebuah class.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6903720" cy="3866896"/>
          </a:xfrm>
          <a:prstGeom prst="roundRect">
            <a:avLst>
              <a:gd name="adj" fmla="val 1892"/>
            </a:avLst>
          </a:prstGeom>
          <a:solidFill>
            <a:srgbClr val="141A26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56232"/>
            <a:ext cx="6592824" cy="359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Ambil elemen dari DOM lewat penanda di HTML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saklar = 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"saklar"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badan  = 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Pasang pendengar event pada tombol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saklar.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Pasang / lepas class 'gelap' pada &lt;body&gt;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badan.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"gelap"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4E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6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4. Perbarui teks tombol sesuai kondisi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aktif = badan.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8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"gelap"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saklar.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9B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aktif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 Terang"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8B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 Gelap"</a:t>
            </a:r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1907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SAAT TOMBOL DIKLIK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0" y="2048256"/>
            <a:ext cx="3685032" cy="713232"/>
          </a:xfrm>
          <a:prstGeom prst="roundRect">
            <a:avLst>
              <a:gd name="adj" fmla="val 1282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2203704"/>
            <a:ext cx="402336" cy="402336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2" y="216712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terdeteksi pada elemen dengan id saklar.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2871216"/>
            <a:ext cx="3685032" cy="713232"/>
          </a:xfrm>
          <a:prstGeom prst="roundRect">
            <a:avLst>
              <a:gd name="adj" fmla="val 1282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026664"/>
            <a:ext cx="402336" cy="402336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3026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2" y="299008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handler dijalankan oleh browser.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3694176"/>
            <a:ext cx="3685032" cy="713232"/>
          </a:xfrm>
          <a:prstGeom prst="roundRect">
            <a:avLst>
              <a:gd name="adj" fmla="val 1282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3849624"/>
            <a:ext cx="402336" cy="402336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77072" y="381304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gelap dipasang atau dilepas dari &lt;body&gt;.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4517136"/>
            <a:ext cx="3685032" cy="713232"/>
          </a:xfrm>
          <a:prstGeom prst="roundRect">
            <a:avLst>
              <a:gd name="adj" fmla="val 1282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4672584"/>
            <a:ext cx="402336" cy="402336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4672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77072" y="463600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langsung menerapkan aturan body.gelap.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63840" y="5340096"/>
            <a:ext cx="3685032" cy="713232"/>
          </a:xfrm>
          <a:prstGeom prst="roundRect">
            <a:avLst>
              <a:gd name="adj" fmla="val 12821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5495544"/>
            <a:ext cx="402336" cy="402336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5495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577072" y="545896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tombol diperbarui lewat textContent.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61630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Perhatikan: seluruh keputusan warna tetap berada di style.css.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PEMECAHAN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Kesalahan Koneksi yang Paling Sering Terjadi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semua keluhan "kode saya tidak jalan" berasal dari salah satu daftar berikut.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266944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659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90195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berkas keliru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2194560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href="style.css" padahal berkas ada di dalam folder css.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060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8448" y="2596896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href="css/style.css" dan cek panel Network di DevTools.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72784" y="1719072"/>
            <a:ext cx="5266944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31152" y="190195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 rel tertinggal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931152" y="2194560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href="css/style.css"&gt; tanpa rel="stylesheet".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6060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31152" y="2596896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sertakan rel="stylesheet" pada tag link untuk CSS.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0080" y="3291840"/>
            <a:ext cx="5266944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53872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98448" y="347472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Skrip dijalankan terlalu awal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298448" y="376732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di &lt;head&gt; membuat querySelector menghasilkan null.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178808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98448" y="4169664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Pindahkan ke sebelum &lt;/body&gt; atau tambahkan atribut defer.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272784" y="3291840"/>
            <a:ext cx="5266944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3538728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931152" y="347472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penanda tidak sama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931152" y="376732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.Tombol di CSS sedangkan class="tombol" di HTML.</a:t>
            </a:r>
            <a:endParaRPr lang="en-US" sz="10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178808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931152" y="4169664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persis penulisannya; huruf besar dan kecil dibedakan.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640080" y="4864608"/>
            <a:ext cx="5266944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5111496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298448" y="504748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Lupa awalan selector</a:t>
            </a:r>
            <a:endParaRPr lang="en-US" sz="1300" dirty="0"/>
          </a:p>
        </p:txBody>
      </p:sp>
      <p:sp>
        <p:nvSpPr>
          <p:cNvPr id="34" name="Text 23"/>
          <p:cNvSpPr txBox="1"/>
          <p:nvPr/>
        </p:nvSpPr>
        <p:spPr>
          <a:xfrm>
            <a:off x="1298448" y="5340096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{ } padahal maksudnya class .tombol.</a:t>
            </a:r>
            <a:endParaRPr lang="en-US" sz="10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" y="5751576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298448" y="5742432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titik untuk class, pagar untuk id, tanpa awalan untuk tag.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6272784" y="4864608"/>
            <a:ext cx="5266944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5111496"/>
            <a:ext cx="274320" cy="27432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931152" y="504748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innerHTML untuk input pengguna</a:t>
            </a:r>
            <a:endParaRPr lang="en-US" sz="1300" dirty="0"/>
          </a:p>
        </p:txBody>
      </p:sp>
      <p:sp>
        <p:nvSpPr>
          <p:cNvPr id="40" name="Text 27"/>
          <p:cNvSpPr txBox="1"/>
          <p:nvPr/>
        </p:nvSpPr>
        <p:spPr>
          <a:xfrm>
            <a:off x="6931152" y="5340096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dari pengguna langsung dimasukkan sebagai HTML mentah.</a:t>
            </a:r>
            <a:endParaRPr lang="en-US" sz="10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9672" y="5751576"/>
            <a:ext cx="274320" cy="27432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931152" y="5742432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textContent agar aman dari penyisipan skrip (XSS).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 Satu Berkas, Satu Tugas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yang membuat proyek tetap mudah dibaca ketika ukurannya bertambah besar.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419856" cy="2377440"/>
          </a:xfrm>
          <a:prstGeom prst="roundRect">
            <a:avLst>
              <a:gd name="adj" fmla="val 461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20240"/>
            <a:ext cx="694944" cy="694944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323" y="2087027"/>
            <a:ext cx="361371" cy="36137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00784" y="199339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hanya berisi struktur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28163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atribut style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kode JavaScript di dalam tag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tag semantik: header, nav, main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9976" y="1719072"/>
            <a:ext cx="3419856" cy="2377440"/>
          </a:xfrm>
          <a:prstGeom prst="roundRect">
            <a:avLst>
              <a:gd name="adj" fmla="val 461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9432" y="1920240"/>
            <a:ext cx="694944" cy="694944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19" y="2087027"/>
            <a:ext cx="361371" cy="36137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40680" y="199339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hanya berisi tampilan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72584" y="28163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warna dan tata letak di sini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class untuk setiap kondisi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variabel CSS di :root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19872" y="1719072"/>
            <a:ext cx="3419856" cy="2377440"/>
          </a:xfrm>
          <a:prstGeom prst="roundRect">
            <a:avLst>
              <a:gd name="adj" fmla="val 461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39328" y="1920240"/>
            <a:ext cx="694944" cy="694944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115" y="2087027"/>
            <a:ext cx="361371" cy="36137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80576" y="199339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hanya berisi perilaku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28163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memasang dan melepas class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menulis HTML panjang di JS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fungsi untuk satu pekerjaan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325112"/>
            <a:ext cx="10908792" cy="1691640"/>
          </a:xfrm>
          <a:prstGeom prst="roundRect">
            <a:avLst>
              <a:gd name="adj" fmla="val 6486"/>
            </a:avLst>
          </a:prstGeom>
          <a:solidFill>
            <a:srgbClr val="1B2030"/>
          </a:solidFill>
          <a:ln w="12700">
            <a:solidFill>
              <a:srgbClr val="1B203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05840" y="454456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periksa sebelum menyatakan halaman selesai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0109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16736" y="4965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CSS dan JS berhasil dimuat (cek tab Network)</a:t>
            </a:r>
            <a:endParaRPr lang="en-US" sz="10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501091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37176" y="4965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pesan merah di Console</a:t>
            </a:r>
            <a:endParaRPr lang="en-US" sz="10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010912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357616" y="4965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class di CSS benar-benar dipakai di HTML</a:t>
            </a:r>
            <a:endParaRPr lang="en-US" sz="10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486400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316736" y="5440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berkas dan folder ditulis huruf kecil tanpa spasi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5486400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837176" y="5440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tetap terbaca meski JavaScript dimatikan</a:t>
            </a:r>
            <a:endParaRPr lang="en-US" sz="10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5486400"/>
            <a:ext cx="219456" cy="2194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357616" y="5440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dirapikan dengan indentasi yang konsisten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BANTU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Menelusuri Koneksi dengan Browser DevTools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F12 atau Ctrl + Shift + I. Empat panel ini menjawab hampir semua masalah koneksi.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920240"/>
            <a:ext cx="694944" cy="694944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323" y="2087027"/>
            <a:ext cx="361371" cy="36137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0482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27249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DOM yang sebenarnya terbentuk, termasuk perubahan yang dibuat JavaScript.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32688" y="3182112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0704" y="318211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Cek: apakah class gelap benar-benar terpasang pada &lt;body&gt;?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72784" y="1719072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1920240"/>
            <a:ext cx="694944" cy="6949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027" y="2087027"/>
            <a:ext cx="361371" cy="36137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70064" y="20482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565392" y="27249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pesan kesalahan JavaScript dan hasil dari console.log().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65392" y="3182112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93408" y="318211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Cek: apakah muncul "Cannot read properties of null"?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3931920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59536" y="4133088"/>
            <a:ext cx="694944" cy="694944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23" y="4299875"/>
            <a:ext cx="361371" cy="36137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737360" y="42611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932688" y="49377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seluruh berkas yang dimuat dan memungkinkan penghentian kode baris demi baris.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32688" y="539496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60704" y="539496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Cek: apakah script.js benar-benar berisi kode terbaru?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272784" y="3931920"/>
            <a:ext cx="52669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5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92240" y="4133088"/>
            <a:ext cx="694944" cy="694944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027" y="4299875"/>
            <a:ext cx="361371" cy="36137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370064" y="42611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6565392" y="49377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setiap berkas yang diminta browser beserta statusnya.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565392" y="539496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693408" y="539496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Cek: apakah style.css berstatus 200, bukan 404?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" y="5998464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yang baik: buka DevTools setiap kali menulis kode, jangan hanya ketika ada masalah.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Belajar Setelah Menguasai Koneksi Dasar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yang disarankan agar setiap tahap berdiri di atas fondasi yang sudah kuat.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2176272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56232"/>
            <a:ext cx="640080" cy="640080"/>
          </a:xfrm>
          <a:prstGeom prst="ellipse">
            <a:avLst/>
          </a:prstGeom>
          <a:solidFill>
            <a:srgbClr val="E34F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63347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889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Perkuat Dasar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3502152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semantik HTML5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dan validasi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CSS lanjutan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25496" y="2176272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1296" y="1856232"/>
            <a:ext cx="640080" cy="640080"/>
          </a:xfrm>
          <a:prstGeom prst="ellipse">
            <a:avLst/>
          </a:prstGeom>
          <a:solidFill>
            <a:srgbClr val="1572B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11296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935224" y="263347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2889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Letak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44952" y="3502152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dan Grid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responsif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56632" y="2176272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2432" y="1856232"/>
            <a:ext cx="640080" cy="640080"/>
          </a:xfrm>
          <a:prstGeom prst="ellipse">
            <a:avLst/>
          </a:prstGeom>
          <a:solidFill>
            <a:srgbClr val="C794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42432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63347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C7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29784" y="2889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Modern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76088" y="3502152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dan objek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panah, modul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await, fetch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87768" y="2176272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1856232"/>
            <a:ext cx="640080" cy="640080"/>
          </a:xfrm>
          <a:prstGeom prst="ellipse">
            <a:avLst/>
          </a:prstGeom>
          <a:solidFill>
            <a:srgbClr val="E34F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397496" y="263347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89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Bantu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507224" y="3502152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dan GitHub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dan bundler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dan ESLint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18904" y="2176272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4704" y="1856232"/>
            <a:ext cx="640080" cy="640080"/>
          </a:xfrm>
          <a:prstGeom prst="ellipse">
            <a:avLst/>
          </a:prstGeom>
          <a:solidFill>
            <a:srgbClr val="1572B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04704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628632" y="263347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592056" y="2889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Kerja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738360" y="3502152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atau Vue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backend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257800"/>
            <a:ext cx="10908792" cy="676656"/>
          </a:xfrm>
          <a:prstGeom prst="roundRect">
            <a:avLst>
              <a:gd name="adj" fmla="val 13514"/>
            </a:avLst>
          </a:prstGeom>
          <a:solidFill>
            <a:srgbClr val="E9EDF6"/>
          </a:solidFill>
          <a:ln w="12700">
            <a:solidFill>
              <a:srgbClr val="E9EDF6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5449824"/>
            <a:ext cx="292608" cy="292608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417320" y="5413248"/>
            <a:ext cx="9811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praktis: bangun ulang satu halaman favorit Anda dari nol setiap kali menyelesaikan satu tahap. Praktik mengalahkan teori.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120640" cy="5120640"/>
          </a:xfrm>
          <a:prstGeom prst="ellipse">
            <a:avLst/>
          </a:prstGeom>
          <a:solidFill>
            <a:srgbClr val="232B3D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232B3D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7772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789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Bahasa, Satu Halaman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19856" cy="2286000"/>
          </a:xfrm>
          <a:prstGeom prst="roundRect">
            <a:avLst>
              <a:gd name="adj" fmla="val 4800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5668" y="2235708"/>
            <a:ext cx="868680" cy="86868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151" y="2444191"/>
            <a:ext cx="451714" cy="4517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32004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adalah pusatnya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6210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koneksi bermula dari berkas HTML. Tag &lt;link&gt; memanggil CSS, tag &lt;script&gt; memanggil JavaScript.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9976" y="2011680"/>
            <a:ext cx="3419856" cy="2286000"/>
          </a:xfrm>
          <a:prstGeom prst="roundRect">
            <a:avLst>
              <a:gd name="adj" fmla="val 4800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55564" y="2235708"/>
            <a:ext cx="868680" cy="86868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047" y="2444191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44568" y="32004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Penanda adalah alamatnya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36210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id, class, dan data-* membuat sebuah elemen bisa ditemukan oleh CSS maupun JavaScript.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19872" y="2011680"/>
            <a:ext cx="3419856" cy="2286000"/>
          </a:xfrm>
          <a:prstGeom prst="roundRect">
            <a:avLst>
              <a:gd name="adj" fmla="val 4800"/>
            </a:avLst>
          </a:prstGeom>
          <a:solidFill>
            <a:srgbClr val="232B3D"/>
          </a:solidFill>
          <a:ln w="12700">
            <a:solidFill>
              <a:srgbClr val="343E5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95460" y="2235708"/>
            <a:ext cx="868680" cy="868680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943" y="2444191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84464" y="32004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adalah penggeraknya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75904" y="36210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DOM, JS mengubah struktur dan memasang class — sementara keputusan tampilan tetap di CSS.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" y="4617720"/>
            <a:ext cx="10908792" cy="1143000"/>
          </a:xfrm>
          <a:prstGeom prst="roundRect">
            <a:avLst>
              <a:gd name="adj" fmla="val 9600"/>
            </a:avLst>
          </a:prstGeom>
          <a:solidFill>
            <a:srgbClr val="2A3348"/>
          </a:solidFill>
          <a:ln w="12700">
            <a:solidFill>
              <a:srgbClr val="3A455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97280" y="4846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1097280" y="52669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bereksperimen — buka editor Anda dan hubungkan ketiganya sekarang.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326880" y="4818888"/>
            <a:ext cx="731520" cy="73152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5" y="4994453"/>
            <a:ext cx="380390" cy="38039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0195560" y="4818888"/>
            <a:ext cx="731520" cy="73152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1125" y="4994453"/>
            <a:ext cx="380390" cy="38039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1064240" y="4818888"/>
            <a:ext cx="731520" cy="731520"/>
          </a:xfrm>
          <a:prstGeom prst="ellipse">
            <a:avLst/>
          </a:prstGeom>
          <a:solidFill>
            <a:srgbClr val="C79400"/>
          </a:solidFill>
          <a:ln w="12700">
            <a:solidFill>
              <a:srgbClr val="C7940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805" y="4994453"/>
            <a:ext cx="380390" cy="38039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· Koneksi Antar Teknologi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0881360" y="638251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+ CSS + JavaScript — Koneksi Antar Teknologi</dc:title>
  <dc:subject>PptxGenJS Presentation</dc:subject>
  <dc:creator>Materi Pemrograman Web</dc:creator>
  <cp:lastModifiedBy>Materi Pemrograman Web</cp:lastModifiedBy>
  <cp:revision>1</cp:revision>
  <dcterms:created xsi:type="dcterms:W3CDTF">2026-09-02T07:41:37Z</dcterms:created>
  <dcterms:modified xsi:type="dcterms:W3CDTF">2026-09-02T07:41:37Z</dcterms:modified>
</cp:coreProperties>
</file>